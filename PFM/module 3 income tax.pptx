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98"/>
  </p:notesMasterIdLst>
  <p:sldIdLst>
    <p:sldId id="1191" r:id="rId5"/>
    <p:sldId id="256" r:id="rId6"/>
    <p:sldId id="332" r:id="rId7"/>
    <p:sldId id="262" r:id="rId8"/>
    <p:sldId id="333" r:id="rId9"/>
    <p:sldId id="334" r:id="rId10"/>
    <p:sldId id="335" r:id="rId11"/>
    <p:sldId id="1166" r:id="rId12"/>
    <p:sldId id="1195" r:id="rId13"/>
    <p:sldId id="1193" r:id="rId14"/>
    <p:sldId id="1194" r:id="rId15"/>
    <p:sldId id="1205" r:id="rId16"/>
    <p:sldId id="1202" r:id="rId17"/>
    <p:sldId id="1199" r:id="rId18"/>
    <p:sldId id="1214" r:id="rId19"/>
    <p:sldId id="1182" r:id="rId20"/>
    <p:sldId id="1198" r:id="rId21"/>
    <p:sldId id="1207" r:id="rId22"/>
    <p:sldId id="1208" r:id="rId23"/>
    <p:sldId id="1209" r:id="rId24"/>
    <p:sldId id="1211" r:id="rId25"/>
    <p:sldId id="1212" r:id="rId26"/>
    <p:sldId id="1218" r:id="rId27"/>
    <p:sldId id="1213" r:id="rId28"/>
    <p:sldId id="1210" r:id="rId29"/>
    <p:sldId id="1200" r:id="rId30"/>
    <p:sldId id="1201" r:id="rId31"/>
    <p:sldId id="1203" r:id="rId32"/>
    <p:sldId id="1217" r:id="rId33"/>
    <p:sldId id="1219" r:id="rId34"/>
    <p:sldId id="1223" r:id="rId35"/>
    <p:sldId id="1220" r:id="rId36"/>
    <p:sldId id="1224" r:id="rId37"/>
    <p:sldId id="1225" r:id="rId38"/>
    <p:sldId id="1226" r:id="rId39"/>
    <p:sldId id="1227" r:id="rId40"/>
    <p:sldId id="1228" r:id="rId41"/>
    <p:sldId id="1229" r:id="rId42"/>
    <p:sldId id="1230" r:id="rId43"/>
    <p:sldId id="1232" r:id="rId44"/>
    <p:sldId id="1233" r:id="rId45"/>
    <p:sldId id="1172" r:id="rId46"/>
    <p:sldId id="1222" r:id="rId47"/>
    <p:sldId id="1231" r:id="rId48"/>
    <p:sldId id="1234" r:id="rId49"/>
    <p:sldId id="1235" r:id="rId50"/>
    <p:sldId id="1174" r:id="rId51"/>
    <p:sldId id="1236" r:id="rId52"/>
    <p:sldId id="1237" r:id="rId53"/>
    <p:sldId id="1238" r:id="rId54"/>
    <p:sldId id="1239" r:id="rId55"/>
    <p:sldId id="1240" r:id="rId56"/>
    <p:sldId id="1175" r:id="rId57"/>
    <p:sldId id="1176" r:id="rId58"/>
    <p:sldId id="1177" r:id="rId59"/>
    <p:sldId id="1178" r:id="rId60"/>
    <p:sldId id="1179" r:id="rId61"/>
    <p:sldId id="1180" r:id="rId62"/>
    <p:sldId id="1181" r:id="rId63"/>
    <p:sldId id="1183" r:id="rId64"/>
    <p:sldId id="287" r:id="rId65"/>
    <p:sldId id="288" r:id="rId66"/>
    <p:sldId id="291" r:id="rId67"/>
    <p:sldId id="292" r:id="rId68"/>
    <p:sldId id="293" r:id="rId69"/>
    <p:sldId id="299" r:id="rId70"/>
    <p:sldId id="300" r:id="rId71"/>
    <p:sldId id="301" r:id="rId72"/>
    <p:sldId id="330" r:id="rId73"/>
    <p:sldId id="304" r:id="rId74"/>
    <p:sldId id="305" r:id="rId75"/>
    <p:sldId id="306" r:id="rId76"/>
    <p:sldId id="307" r:id="rId77"/>
    <p:sldId id="308" r:id="rId78"/>
    <p:sldId id="315" r:id="rId79"/>
    <p:sldId id="316" r:id="rId80"/>
    <p:sldId id="317" r:id="rId81"/>
    <p:sldId id="318" r:id="rId82"/>
    <p:sldId id="319" r:id="rId83"/>
    <p:sldId id="320" r:id="rId84"/>
    <p:sldId id="321" r:id="rId85"/>
    <p:sldId id="322" r:id="rId86"/>
    <p:sldId id="323" r:id="rId87"/>
    <p:sldId id="324" r:id="rId88"/>
    <p:sldId id="325" r:id="rId89"/>
    <p:sldId id="326" r:id="rId90"/>
    <p:sldId id="327" r:id="rId91"/>
    <p:sldId id="328" r:id="rId92"/>
    <p:sldId id="329" r:id="rId93"/>
    <p:sldId id="309" r:id="rId94"/>
    <p:sldId id="310" r:id="rId95"/>
    <p:sldId id="311" r:id="rId96"/>
    <p:sldId id="312"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CC00"/>
    <a:srgbClr val="66FF33"/>
    <a:srgbClr val="9687CB"/>
    <a:srgbClr val="E0FC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114" d="100"/>
          <a:sy n="114" d="100"/>
        </p:scale>
        <p:origin x="5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D99CFF-A19C-4A46-A4D1-A1508A4D3EA7}" type="datetimeFigureOut">
              <a:rPr lang="en-IN" smtClean="0"/>
              <a:t>14-11-2024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B6656-8809-46E5-A716-527604DBA500}" type="slidenum">
              <a:rPr lang="en-IN" smtClean="0"/>
              <a:t>‹#›</a:t>
            </a:fld>
            <a:endParaRPr lang="en-IN"/>
          </a:p>
        </p:txBody>
      </p:sp>
    </p:spTree>
    <p:extLst>
      <p:ext uri="{BB962C8B-B14F-4D97-AF65-F5344CB8AC3E}">
        <p14:creationId xmlns:p14="http://schemas.microsoft.com/office/powerpoint/2010/main" val="277829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D75C89-43AC-47B5-9B8F-8DC782EC2F92}" type="slidenum">
              <a:rPr lang="en-US" smtClean="0"/>
              <a:pPr/>
              <a:t>2</a:t>
            </a:fld>
            <a:endParaRPr lang="en-US" dirty="0"/>
          </a:p>
        </p:txBody>
      </p:sp>
    </p:spTree>
    <p:extLst>
      <p:ext uri="{BB962C8B-B14F-4D97-AF65-F5344CB8AC3E}">
        <p14:creationId xmlns:p14="http://schemas.microsoft.com/office/powerpoint/2010/main" val="2086641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4</a:t>
            </a:fld>
            <a:endParaRPr lang="en-IN"/>
          </a:p>
        </p:txBody>
      </p:sp>
    </p:spTree>
    <p:extLst>
      <p:ext uri="{BB962C8B-B14F-4D97-AF65-F5344CB8AC3E}">
        <p14:creationId xmlns:p14="http://schemas.microsoft.com/office/powerpoint/2010/main" val="689261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14</a:t>
            </a:fld>
            <a:endParaRPr lang="en-IN"/>
          </a:p>
        </p:txBody>
      </p:sp>
    </p:spTree>
    <p:extLst>
      <p:ext uri="{BB962C8B-B14F-4D97-AF65-F5344CB8AC3E}">
        <p14:creationId xmlns:p14="http://schemas.microsoft.com/office/powerpoint/2010/main" val="268631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15</a:t>
            </a:fld>
            <a:endParaRPr lang="en-IN"/>
          </a:p>
        </p:txBody>
      </p:sp>
    </p:spTree>
    <p:extLst>
      <p:ext uri="{BB962C8B-B14F-4D97-AF65-F5344CB8AC3E}">
        <p14:creationId xmlns:p14="http://schemas.microsoft.com/office/powerpoint/2010/main" val="749218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22</a:t>
            </a:fld>
            <a:endParaRPr lang="en-IN"/>
          </a:p>
        </p:txBody>
      </p:sp>
    </p:spTree>
    <p:extLst>
      <p:ext uri="{BB962C8B-B14F-4D97-AF65-F5344CB8AC3E}">
        <p14:creationId xmlns:p14="http://schemas.microsoft.com/office/powerpoint/2010/main" val="3077673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23</a:t>
            </a:fld>
            <a:endParaRPr lang="en-IN"/>
          </a:p>
        </p:txBody>
      </p:sp>
    </p:spTree>
    <p:extLst>
      <p:ext uri="{BB962C8B-B14F-4D97-AF65-F5344CB8AC3E}">
        <p14:creationId xmlns:p14="http://schemas.microsoft.com/office/powerpoint/2010/main" val="73883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24</a:t>
            </a:fld>
            <a:endParaRPr lang="en-IN"/>
          </a:p>
        </p:txBody>
      </p:sp>
    </p:spTree>
    <p:extLst>
      <p:ext uri="{BB962C8B-B14F-4D97-AF65-F5344CB8AC3E}">
        <p14:creationId xmlns:p14="http://schemas.microsoft.com/office/powerpoint/2010/main" val="1449502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26</a:t>
            </a:fld>
            <a:endParaRPr lang="en-IN"/>
          </a:p>
        </p:txBody>
      </p:sp>
    </p:spTree>
    <p:extLst>
      <p:ext uri="{BB962C8B-B14F-4D97-AF65-F5344CB8AC3E}">
        <p14:creationId xmlns:p14="http://schemas.microsoft.com/office/powerpoint/2010/main" val="2800428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27</a:t>
            </a:fld>
            <a:endParaRPr lang="en-IN"/>
          </a:p>
        </p:txBody>
      </p:sp>
    </p:spTree>
    <p:extLst>
      <p:ext uri="{BB962C8B-B14F-4D97-AF65-F5344CB8AC3E}">
        <p14:creationId xmlns:p14="http://schemas.microsoft.com/office/powerpoint/2010/main" val="4006106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28</a:t>
            </a:fld>
            <a:endParaRPr lang="en-IN"/>
          </a:p>
        </p:txBody>
      </p:sp>
    </p:spTree>
    <p:extLst>
      <p:ext uri="{BB962C8B-B14F-4D97-AF65-F5344CB8AC3E}">
        <p14:creationId xmlns:p14="http://schemas.microsoft.com/office/powerpoint/2010/main" val="2158084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29</a:t>
            </a:fld>
            <a:endParaRPr lang="en-IN"/>
          </a:p>
        </p:txBody>
      </p:sp>
    </p:spTree>
    <p:extLst>
      <p:ext uri="{BB962C8B-B14F-4D97-AF65-F5344CB8AC3E}">
        <p14:creationId xmlns:p14="http://schemas.microsoft.com/office/powerpoint/2010/main" val="2986304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30</a:t>
            </a:fld>
            <a:endParaRPr lang="en-IN"/>
          </a:p>
        </p:txBody>
      </p:sp>
    </p:spTree>
    <p:extLst>
      <p:ext uri="{BB962C8B-B14F-4D97-AF65-F5344CB8AC3E}">
        <p14:creationId xmlns:p14="http://schemas.microsoft.com/office/powerpoint/2010/main" val="2118718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31</a:t>
            </a:fld>
            <a:endParaRPr lang="en-IN"/>
          </a:p>
        </p:txBody>
      </p:sp>
    </p:spTree>
    <p:extLst>
      <p:ext uri="{BB962C8B-B14F-4D97-AF65-F5344CB8AC3E}">
        <p14:creationId xmlns:p14="http://schemas.microsoft.com/office/powerpoint/2010/main" val="1502320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32</a:t>
            </a:fld>
            <a:endParaRPr lang="en-IN"/>
          </a:p>
        </p:txBody>
      </p:sp>
    </p:spTree>
    <p:extLst>
      <p:ext uri="{BB962C8B-B14F-4D97-AF65-F5344CB8AC3E}">
        <p14:creationId xmlns:p14="http://schemas.microsoft.com/office/powerpoint/2010/main" val="1255283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33</a:t>
            </a:fld>
            <a:endParaRPr lang="en-IN"/>
          </a:p>
        </p:txBody>
      </p:sp>
    </p:spTree>
    <p:extLst>
      <p:ext uri="{BB962C8B-B14F-4D97-AF65-F5344CB8AC3E}">
        <p14:creationId xmlns:p14="http://schemas.microsoft.com/office/powerpoint/2010/main" val="2960722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34</a:t>
            </a:fld>
            <a:endParaRPr lang="en-IN"/>
          </a:p>
        </p:txBody>
      </p:sp>
    </p:spTree>
    <p:extLst>
      <p:ext uri="{BB962C8B-B14F-4D97-AF65-F5344CB8AC3E}">
        <p14:creationId xmlns:p14="http://schemas.microsoft.com/office/powerpoint/2010/main" val="2390271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35</a:t>
            </a:fld>
            <a:endParaRPr lang="en-IN"/>
          </a:p>
        </p:txBody>
      </p:sp>
    </p:spTree>
    <p:extLst>
      <p:ext uri="{BB962C8B-B14F-4D97-AF65-F5344CB8AC3E}">
        <p14:creationId xmlns:p14="http://schemas.microsoft.com/office/powerpoint/2010/main" val="3287850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36</a:t>
            </a:fld>
            <a:endParaRPr lang="en-IN"/>
          </a:p>
        </p:txBody>
      </p:sp>
    </p:spTree>
    <p:extLst>
      <p:ext uri="{BB962C8B-B14F-4D97-AF65-F5344CB8AC3E}">
        <p14:creationId xmlns:p14="http://schemas.microsoft.com/office/powerpoint/2010/main" val="2639614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37</a:t>
            </a:fld>
            <a:endParaRPr lang="en-IN"/>
          </a:p>
        </p:txBody>
      </p:sp>
    </p:spTree>
    <p:extLst>
      <p:ext uri="{BB962C8B-B14F-4D97-AF65-F5344CB8AC3E}">
        <p14:creationId xmlns:p14="http://schemas.microsoft.com/office/powerpoint/2010/main" val="7585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38</a:t>
            </a:fld>
            <a:endParaRPr lang="en-IN"/>
          </a:p>
        </p:txBody>
      </p:sp>
    </p:spTree>
    <p:extLst>
      <p:ext uri="{BB962C8B-B14F-4D97-AF65-F5344CB8AC3E}">
        <p14:creationId xmlns:p14="http://schemas.microsoft.com/office/powerpoint/2010/main" val="2435449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39</a:t>
            </a:fld>
            <a:endParaRPr lang="en-IN"/>
          </a:p>
        </p:txBody>
      </p:sp>
    </p:spTree>
    <p:extLst>
      <p:ext uri="{BB962C8B-B14F-4D97-AF65-F5344CB8AC3E}">
        <p14:creationId xmlns:p14="http://schemas.microsoft.com/office/powerpoint/2010/main" val="4114264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emf"/><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2047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757037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524695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667865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3273389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16218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83689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0323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813953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4168093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511587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06917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392019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079230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4220663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878753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48102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41"/>
          <p:cNvGrpSpPr/>
          <p:nvPr userDrawn="1"/>
        </p:nvGrpSpPr>
        <p:grpSpPr>
          <a:xfrm>
            <a:off x="0" y="37010"/>
            <a:ext cx="12192000" cy="6773242"/>
            <a:chOff x="0" y="37010"/>
            <a:chExt cx="9144000" cy="6773242"/>
          </a:xfrm>
        </p:grpSpPr>
        <p:graphicFrame>
          <p:nvGraphicFramePr>
            <p:cNvPr id="22" name="Object 2"/>
            <p:cNvGraphicFramePr>
              <a:graphicFrameLocks noChangeAspect="1"/>
            </p:cNvGraphicFramePr>
            <p:nvPr/>
          </p:nvGraphicFramePr>
          <p:xfrm>
            <a:off x="7256410" y="50074"/>
            <a:ext cx="1752599" cy="443559"/>
          </p:xfrm>
          <a:graphic>
            <a:graphicData uri="http://schemas.openxmlformats.org/presentationml/2006/ole">
              <mc:AlternateContent xmlns:mc="http://schemas.openxmlformats.org/markup-compatibility/2006">
                <mc:Choice xmlns:v="urn:schemas-microsoft-com:vml" Requires="v">
                  <p:oleObj r:id="rId2" imgW="4762119" imgH="1085469" progId="">
                    <p:embed/>
                  </p:oleObj>
                </mc:Choice>
                <mc:Fallback>
                  <p:oleObj r:id="rId2" imgW="4762119" imgH="1085469" progId="">
                    <p:embed/>
                    <p:pic>
                      <p:nvPicPr>
                        <p:cNvPr id="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6410" y="50074"/>
                          <a:ext cx="1752599" cy="443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Group 16"/>
            <p:cNvGrpSpPr/>
            <p:nvPr/>
          </p:nvGrpSpPr>
          <p:grpSpPr>
            <a:xfrm>
              <a:off x="122581" y="37010"/>
              <a:ext cx="1779767" cy="457199"/>
              <a:chOff x="3314869" y="1418203"/>
              <a:chExt cx="1779767" cy="491433"/>
            </a:xfrm>
          </p:grpSpPr>
          <p:pic>
            <p:nvPicPr>
              <p:cNvPr id="36" name="Picture 3"/>
              <p:cNvPicPr>
                <a:picLocks noChangeAspect="1" noChangeArrowheads="1"/>
              </p:cNvPicPr>
              <p:nvPr/>
            </p:nvPicPr>
            <p:blipFill>
              <a:blip r:embed="rId4" cstate="print"/>
              <a:srcRect/>
              <a:stretch>
                <a:fillRect/>
              </a:stretch>
            </p:blipFill>
            <p:spPr bwMode="auto">
              <a:xfrm>
                <a:off x="3886199" y="1418203"/>
                <a:ext cx="457201" cy="368415"/>
              </a:xfrm>
              <a:prstGeom prst="rect">
                <a:avLst/>
              </a:prstGeom>
              <a:noFill/>
              <a:ln w="9525">
                <a:noFill/>
                <a:miter lim="800000"/>
                <a:headEnd/>
                <a:tailEnd/>
              </a:ln>
            </p:spPr>
          </p:pic>
          <p:pic>
            <p:nvPicPr>
              <p:cNvPr id="37" name="Picture 5"/>
              <p:cNvPicPr>
                <a:picLocks noChangeAspect="1" noChangeArrowheads="1"/>
              </p:cNvPicPr>
              <p:nvPr/>
            </p:nvPicPr>
            <p:blipFill>
              <a:blip r:embed="rId5" cstate="print">
                <a:lum bright="5000"/>
              </a:blip>
              <a:srcRect/>
              <a:stretch>
                <a:fillRect/>
              </a:stretch>
            </p:blipFill>
            <p:spPr bwMode="auto">
              <a:xfrm>
                <a:off x="4262544" y="1574074"/>
                <a:ext cx="411781" cy="335562"/>
              </a:xfrm>
              <a:prstGeom prst="rect">
                <a:avLst/>
              </a:prstGeom>
              <a:noFill/>
              <a:ln w="9525">
                <a:noFill/>
                <a:miter lim="800000"/>
                <a:headEnd/>
                <a:tailEnd/>
              </a:ln>
            </p:spPr>
          </p:pic>
          <p:sp>
            <p:nvSpPr>
              <p:cNvPr id="38" name="Rectangle 37"/>
              <p:cNvSpPr/>
              <p:nvPr/>
            </p:nvSpPr>
            <p:spPr>
              <a:xfrm>
                <a:off x="3314869" y="1567190"/>
                <a:ext cx="1779767" cy="297740"/>
              </a:xfrm>
              <a:prstGeom prst="rect">
                <a:avLst/>
              </a:prstGeom>
            </p:spPr>
            <p:txBody>
              <a:bodyPr wrap="none">
                <a:spAutoFit/>
              </a:bodyPr>
              <a:lstStyle/>
              <a:p>
                <a:r>
                  <a:rPr lang="en-US" sz="1200" b="1" dirty="0">
                    <a:solidFill>
                      <a:srgbClr val="002060"/>
                    </a:solidFill>
                  </a:rPr>
                  <a:t>KOMATSU INDIA PRIVATE LIMITED</a:t>
                </a:r>
                <a:endParaRPr lang="en-US" sz="1200" b="1" dirty="0"/>
              </a:p>
            </p:txBody>
          </p:sp>
        </p:grpSp>
        <p:sp>
          <p:nvSpPr>
            <p:cNvPr id="24" name="Rectangle 23"/>
            <p:cNvSpPr/>
            <p:nvPr/>
          </p:nvSpPr>
          <p:spPr>
            <a:xfrm>
              <a:off x="34834" y="6450874"/>
              <a:ext cx="2416629" cy="3287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rgbClr val="002060"/>
                  </a:solidFill>
                  <a:latin typeface="Playbill" pitchFamily="82" charset="0"/>
                </a:rPr>
                <a:t> </a:t>
              </a:r>
              <a:r>
                <a:rPr lang="en-US" sz="2400" dirty="0">
                  <a:solidFill>
                    <a:srgbClr val="002060"/>
                  </a:solidFill>
                  <a:latin typeface="Playbill" pitchFamily="82" charset="0"/>
                </a:rPr>
                <a:t>ACCOUNTS DEPARTMENT  </a:t>
              </a:r>
              <a:endParaRPr lang="en-US" sz="2400" dirty="0">
                <a:solidFill>
                  <a:srgbClr val="002060"/>
                </a:solidFill>
              </a:endParaRPr>
            </a:p>
          </p:txBody>
        </p:sp>
        <p:grpSp>
          <p:nvGrpSpPr>
            <p:cNvPr id="25" name="Group 39"/>
            <p:cNvGrpSpPr/>
            <p:nvPr/>
          </p:nvGrpSpPr>
          <p:grpSpPr>
            <a:xfrm>
              <a:off x="2488529" y="6500463"/>
              <a:ext cx="3631419" cy="309789"/>
              <a:chOff x="2488529" y="6461274"/>
              <a:chExt cx="3631419" cy="309789"/>
            </a:xfrm>
          </p:grpSpPr>
          <p:pic>
            <p:nvPicPr>
              <p:cNvPr id="29" name="Picture 3"/>
              <p:cNvPicPr>
                <a:picLocks noChangeAspect="1" noChangeArrowheads="1"/>
              </p:cNvPicPr>
              <p:nvPr/>
            </p:nvPicPr>
            <p:blipFill>
              <a:blip r:embed="rId6" cstate="print"/>
              <a:srcRect/>
              <a:stretch>
                <a:fillRect/>
              </a:stretch>
            </p:blipFill>
            <p:spPr bwMode="auto">
              <a:xfrm>
                <a:off x="2488529" y="6477000"/>
                <a:ext cx="468995" cy="274484"/>
              </a:xfrm>
              <a:prstGeom prst="rect">
                <a:avLst/>
              </a:prstGeom>
              <a:noFill/>
              <a:ln w="9525">
                <a:noFill/>
                <a:miter lim="800000"/>
                <a:headEnd/>
                <a:tailEnd/>
              </a:ln>
            </p:spPr>
          </p:pic>
          <p:pic>
            <p:nvPicPr>
              <p:cNvPr id="30" name="Picture 4"/>
              <p:cNvPicPr>
                <a:picLocks noChangeAspect="1" noChangeArrowheads="1"/>
              </p:cNvPicPr>
              <p:nvPr/>
            </p:nvPicPr>
            <p:blipFill>
              <a:blip r:embed="rId7" cstate="print"/>
              <a:srcRect/>
              <a:stretch>
                <a:fillRect/>
              </a:stretch>
            </p:blipFill>
            <p:spPr bwMode="auto">
              <a:xfrm>
                <a:off x="3470362" y="6492419"/>
                <a:ext cx="416882" cy="248953"/>
              </a:xfrm>
              <a:prstGeom prst="rect">
                <a:avLst/>
              </a:prstGeom>
              <a:noFill/>
              <a:ln w="9525">
                <a:noFill/>
                <a:miter lim="800000"/>
                <a:headEnd/>
                <a:tailEnd/>
              </a:ln>
            </p:spPr>
          </p:pic>
          <p:pic>
            <p:nvPicPr>
              <p:cNvPr id="31" name="Picture 5"/>
              <p:cNvPicPr>
                <a:picLocks noChangeAspect="1" noChangeArrowheads="1"/>
              </p:cNvPicPr>
              <p:nvPr/>
            </p:nvPicPr>
            <p:blipFill>
              <a:blip r:embed="rId8" cstate="print"/>
              <a:srcRect/>
              <a:stretch>
                <a:fillRect/>
              </a:stretch>
            </p:blipFill>
            <p:spPr bwMode="auto">
              <a:xfrm>
                <a:off x="3962400" y="6490063"/>
                <a:ext cx="460438" cy="257490"/>
              </a:xfrm>
              <a:prstGeom prst="rect">
                <a:avLst/>
              </a:prstGeom>
              <a:noFill/>
              <a:ln w="9525">
                <a:noFill/>
                <a:miter lim="800000"/>
                <a:headEnd/>
                <a:tailEnd/>
              </a:ln>
            </p:spPr>
          </p:pic>
          <p:pic>
            <p:nvPicPr>
              <p:cNvPr id="32" name="Picture 6"/>
              <p:cNvPicPr>
                <a:picLocks noChangeAspect="1" noChangeArrowheads="1"/>
              </p:cNvPicPr>
              <p:nvPr/>
            </p:nvPicPr>
            <p:blipFill>
              <a:blip r:embed="rId9" cstate="print"/>
              <a:srcRect/>
              <a:stretch>
                <a:fillRect/>
              </a:stretch>
            </p:blipFill>
            <p:spPr bwMode="auto">
              <a:xfrm>
                <a:off x="5071409" y="6490063"/>
                <a:ext cx="452002" cy="251937"/>
              </a:xfrm>
              <a:prstGeom prst="rect">
                <a:avLst/>
              </a:prstGeom>
              <a:noFill/>
              <a:ln w="9525">
                <a:noFill/>
                <a:miter lim="800000"/>
                <a:headEnd/>
                <a:tailEnd/>
              </a:ln>
            </p:spPr>
          </p:pic>
          <p:pic>
            <p:nvPicPr>
              <p:cNvPr id="33" name="Picture 7"/>
              <p:cNvPicPr>
                <a:picLocks noChangeAspect="1" noChangeArrowheads="1"/>
              </p:cNvPicPr>
              <p:nvPr/>
            </p:nvPicPr>
            <p:blipFill>
              <a:blip r:embed="rId10" cstate="print"/>
              <a:srcRect/>
              <a:stretch>
                <a:fillRect/>
              </a:stretch>
            </p:blipFill>
            <p:spPr bwMode="auto">
              <a:xfrm>
                <a:off x="5594886" y="6463937"/>
                <a:ext cx="525062" cy="307126"/>
              </a:xfrm>
              <a:prstGeom prst="rect">
                <a:avLst/>
              </a:prstGeom>
              <a:noFill/>
              <a:ln w="9525">
                <a:noFill/>
                <a:miter lim="800000"/>
                <a:headEnd/>
                <a:tailEnd/>
              </a:ln>
            </p:spPr>
          </p:pic>
          <p:pic>
            <p:nvPicPr>
              <p:cNvPr id="34" name="Picture 8"/>
              <p:cNvPicPr>
                <a:picLocks noChangeAspect="1" noChangeArrowheads="1"/>
              </p:cNvPicPr>
              <p:nvPr/>
            </p:nvPicPr>
            <p:blipFill>
              <a:blip r:embed="rId11" cstate="print"/>
              <a:srcRect/>
              <a:stretch>
                <a:fillRect/>
              </a:stretch>
            </p:blipFill>
            <p:spPr bwMode="auto">
              <a:xfrm>
                <a:off x="4456611" y="6461274"/>
                <a:ext cx="544079" cy="279398"/>
              </a:xfrm>
              <a:prstGeom prst="rect">
                <a:avLst/>
              </a:prstGeom>
              <a:noFill/>
              <a:ln w="9525">
                <a:noFill/>
                <a:miter lim="800000"/>
                <a:headEnd/>
                <a:tailEnd/>
              </a:ln>
            </p:spPr>
          </p:pic>
          <p:pic>
            <p:nvPicPr>
              <p:cNvPr id="35" name="Picture 3"/>
              <p:cNvPicPr>
                <a:picLocks noChangeAspect="1" noChangeArrowheads="1"/>
              </p:cNvPicPr>
              <p:nvPr/>
            </p:nvPicPr>
            <p:blipFill>
              <a:blip r:embed="rId12" cstate="print"/>
              <a:srcRect/>
              <a:stretch>
                <a:fillRect/>
              </a:stretch>
            </p:blipFill>
            <p:spPr bwMode="auto">
              <a:xfrm>
                <a:off x="3015340" y="6487615"/>
                <a:ext cx="384235" cy="265881"/>
              </a:xfrm>
              <a:prstGeom prst="rect">
                <a:avLst/>
              </a:prstGeom>
              <a:noFill/>
              <a:ln w="9525">
                <a:noFill/>
                <a:miter lim="800000"/>
                <a:headEnd/>
                <a:tailEnd/>
              </a:ln>
            </p:spPr>
          </p:pic>
        </p:grpSp>
        <p:cxnSp>
          <p:nvCxnSpPr>
            <p:cNvPr id="26" name="Straight Connector 25"/>
            <p:cNvCxnSpPr/>
            <p:nvPr/>
          </p:nvCxnSpPr>
          <p:spPr>
            <a:xfrm>
              <a:off x="0" y="466549"/>
              <a:ext cx="9144000" cy="0"/>
            </a:xfrm>
            <a:prstGeom prst="line">
              <a:avLst/>
            </a:prstGeom>
            <a:ln w="3175" cmpd="thickThi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516239"/>
              <a:ext cx="9144000" cy="0"/>
            </a:xfrm>
            <a:prstGeom prst="line">
              <a:avLst/>
            </a:prstGeom>
            <a:ln w="28575" cmpd="thickThi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6463937"/>
              <a:ext cx="9144000" cy="0"/>
            </a:xfrm>
            <a:prstGeom prst="line">
              <a:avLst/>
            </a:prstGeom>
            <a:ln w="19050" cmpd="thickThin">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861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6000"/>
            <a:lum/>
          </a:blip>
          <a:srcRect/>
          <a:stretch>
            <a:fillRect l="20000" r="20000"/>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013DF8-6EF8-4A98-8821-E6468C17C0C3}" type="slidenum">
              <a:rPr lang="en-IN" smtClean="0"/>
              <a:t>‹#›</a:t>
            </a:fld>
            <a:endParaRPr lang="en-IN"/>
          </a:p>
        </p:txBody>
      </p:sp>
    </p:spTree>
    <p:extLst>
      <p:ext uri="{BB962C8B-B14F-4D97-AF65-F5344CB8AC3E}">
        <p14:creationId xmlns:p14="http://schemas.microsoft.com/office/powerpoint/2010/main" val="404843394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73" r:id="rId18"/>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jpeg"/><Relationship Id="rId9" Type="http://schemas.openxmlformats.org/officeDocument/2006/relationships/image" Target="../media/image24.pn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hyperlink" Target="Hyper%20link%20for%20SALARY%20income/Section%2010.docx"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hyperlink" Target="Hyper%20link%20for%20SALARY%20income/Section%2010.docx"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89934" y="2910254"/>
            <a:ext cx="4955699" cy="1143000"/>
          </a:xfrm>
        </p:spPr>
        <p:txBody>
          <a:bodyPr/>
          <a:lstStyle/>
          <a:p>
            <a:r>
              <a:rPr lang="en-US" b="1" dirty="0">
                <a:solidFill>
                  <a:srgbClr val="7030A0"/>
                </a:solidFill>
              </a:rPr>
              <a:t>Income Tax </a:t>
            </a:r>
            <a:endParaRPr lang="en-IN" dirty="0">
              <a:solidFill>
                <a:srgbClr val="7030A0"/>
              </a:solidFill>
            </a:endParaRPr>
          </a:p>
        </p:txBody>
      </p:sp>
    </p:spTree>
    <p:extLst>
      <p:ext uri="{BB962C8B-B14F-4D97-AF65-F5344CB8AC3E}">
        <p14:creationId xmlns:p14="http://schemas.microsoft.com/office/powerpoint/2010/main" val="250264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descr="Image result for individual taxation"/>
          <p:cNvSpPr>
            <a:spLocks noChangeAspect="1" noChangeArrowheads="1"/>
          </p:cNvSpPr>
          <p:nvPr/>
        </p:nvSpPr>
        <p:spPr bwMode="auto">
          <a:xfrm>
            <a:off x="1693429" y="2557174"/>
            <a:ext cx="851041" cy="8510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3"/>
          <a:stretch>
            <a:fillRect/>
          </a:stretch>
        </p:blipFill>
        <p:spPr>
          <a:xfrm>
            <a:off x="9698031" y="1354698"/>
            <a:ext cx="2493969" cy="3478430"/>
          </a:xfrm>
          <a:prstGeom prst="rect">
            <a:avLst/>
          </a:prstGeom>
        </p:spPr>
      </p:pic>
      <p:sp>
        <p:nvSpPr>
          <p:cNvPr id="2" name="Rectangle 3">
            <a:extLst>
              <a:ext uri="{FF2B5EF4-FFF2-40B4-BE49-F238E27FC236}">
                <a16:creationId xmlns:a16="http://schemas.microsoft.com/office/drawing/2014/main" id="{D0AB07E2-F985-C6C0-66A7-5E65B1447151}"/>
              </a:ext>
            </a:extLst>
          </p:cNvPr>
          <p:cNvSpPr txBox="1">
            <a:spLocks noChangeArrowheads="1"/>
          </p:cNvSpPr>
          <p:nvPr/>
        </p:nvSpPr>
        <p:spPr>
          <a:xfrm>
            <a:off x="1749508" y="1354698"/>
            <a:ext cx="7786378" cy="167153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Tx/>
              <a:buNone/>
            </a:pPr>
            <a:endParaRPr lang="en-US" altLang="en-US" sz="2400" dirty="0"/>
          </a:p>
        </p:txBody>
      </p:sp>
      <p:sp>
        <p:nvSpPr>
          <p:cNvPr id="3" name="Title 2">
            <a:extLst>
              <a:ext uri="{FF2B5EF4-FFF2-40B4-BE49-F238E27FC236}">
                <a16:creationId xmlns:a16="http://schemas.microsoft.com/office/drawing/2014/main" id="{6F63FC62-8A05-5842-FB95-848DD244B545}"/>
              </a:ext>
            </a:extLst>
          </p:cNvPr>
          <p:cNvSpPr>
            <a:spLocks noGrp="1"/>
          </p:cNvSpPr>
          <p:nvPr>
            <p:ph type="title"/>
          </p:nvPr>
        </p:nvSpPr>
        <p:spPr>
          <a:xfrm>
            <a:off x="293308" y="295729"/>
            <a:ext cx="9404723" cy="2334025"/>
          </a:xfrm>
        </p:spPr>
        <p:txBody>
          <a:bodyPr/>
          <a:lstStyle/>
          <a:p>
            <a:r>
              <a:rPr lang="en-US" altLang="en-US" sz="4400" dirty="0"/>
              <a:t>“In this world nothing can be said to be 	certain, except death and taxes.”</a:t>
            </a:r>
            <a:br>
              <a:rPr lang="en-US" altLang="en-US" sz="4400" dirty="0"/>
            </a:br>
            <a:r>
              <a:rPr lang="en-US" altLang="en-US" sz="4400" dirty="0"/>
              <a:t>	</a:t>
            </a:r>
            <a:r>
              <a:rPr lang="en-US" altLang="en-US" sz="3200" dirty="0"/>
              <a:t>Benjamin Franklin </a:t>
            </a:r>
            <a:br>
              <a:rPr lang="en-US" altLang="en-US" sz="3200" dirty="0"/>
            </a:br>
            <a:endParaRPr lang="en-IN" dirty="0"/>
          </a:p>
        </p:txBody>
      </p:sp>
      <p:sp>
        <p:nvSpPr>
          <p:cNvPr id="4" name="Content Placeholder 3">
            <a:extLst>
              <a:ext uri="{FF2B5EF4-FFF2-40B4-BE49-F238E27FC236}">
                <a16:creationId xmlns:a16="http://schemas.microsoft.com/office/drawing/2014/main" id="{804B5F17-2A27-E0A0-D63E-38FCA92A1A39}"/>
              </a:ext>
            </a:extLst>
          </p:cNvPr>
          <p:cNvSpPr>
            <a:spLocks noGrp="1"/>
          </p:cNvSpPr>
          <p:nvPr>
            <p:ph idx="1"/>
          </p:nvPr>
        </p:nvSpPr>
        <p:spPr>
          <a:xfrm>
            <a:off x="307355" y="2400156"/>
            <a:ext cx="9228531" cy="4093997"/>
          </a:xfrm>
        </p:spPr>
        <p:txBody>
          <a:bodyPr>
            <a:normAutofit lnSpcReduction="10000"/>
          </a:bodyPr>
          <a:lstStyle/>
          <a:p>
            <a:pPr>
              <a:lnSpc>
                <a:spcPct val="160000"/>
              </a:lnSpc>
              <a:buFont typeface="Wingdings" panose="05000000000000000000" pitchFamily="2" charset="2"/>
              <a:buChar char="Ø"/>
            </a:pPr>
            <a:r>
              <a:rPr lang="en-US" sz="2200" dirty="0">
                <a:solidFill>
                  <a:srgbClr val="000000"/>
                </a:solidFill>
              </a:rPr>
              <a:t>Tax is a mandatory liability for every citizen of the country. There are two types of tax in India </a:t>
            </a:r>
          </a:p>
          <a:p>
            <a:pPr marL="0" indent="0">
              <a:lnSpc>
                <a:spcPct val="160000"/>
              </a:lnSpc>
              <a:buNone/>
            </a:pPr>
            <a:r>
              <a:rPr lang="en-US" sz="2200" dirty="0">
                <a:solidFill>
                  <a:srgbClr val="000000"/>
                </a:solidFill>
              </a:rPr>
              <a:t>	i.e. </a:t>
            </a:r>
            <a:r>
              <a:rPr lang="en-US" sz="2200" b="1" dirty="0">
                <a:solidFill>
                  <a:srgbClr val="000000"/>
                </a:solidFill>
              </a:rPr>
              <a:t>Direct and Indirect </a:t>
            </a:r>
            <a:r>
              <a:rPr lang="en-US" sz="2200" dirty="0">
                <a:solidFill>
                  <a:srgbClr val="000000"/>
                </a:solidFill>
              </a:rPr>
              <a:t>(</a:t>
            </a:r>
            <a:r>
              <a:rPr lang="en-US" sz="2200" dirty="0">
                <a:solidFill>
                  <a:srgbClr val="FF0000"/>
                </a:solidFill>
              </a:rPr>
              <a:t>Direct taxes </a:t>
            </a:r>
            <a:r>
              <a:rPr lang="en-US" sz="2200" dirty="0">
                <a:solidFill>
                  <a:srgbClr val="000000"/>
                </a:solidFill>
              </a:rPr>
              <a:t>are levied on taxpayers income and profits; </a:t>
            </a:r>
            <a:r>
              <a:rPr lang="en-US" sz="2200" dirty="0">
                <a:solidFill>
                  <a:srgbClr val="FF0000"/>
                </a:solidFill>
              </a:rPr>
              <a:t>indirect taxes </a:t>
            </a:r>
            <a:r>
              <a:rPr lang="en-US" sz="2200" dirty="0">
                <a:solidFill>
                  <a:srgbClr val="000000"/>
                </a:solidFill>
              </a:rPr>
              <a:t>are charged on goods and services) </a:t>
            </a:r>
          </a:p>
          <a:p>
            <a:pPr>
              <a:lnSpc>
                <a:spcPct val="160000"/>
              </a:lnSpc>
              <a:buFont typeface="Wingdings" panose="05000000000000000000" pitchFamily="2" charset="2"/>
              <a:buChar char="Ø"/>
            </a:pPr>
            <a:r>
              <a:rPr lang="en-US" sz="2200" dirty="0">
                <a:solidFill>
                  <a:srgbClr val="000000"/>
                </a:solidFill>
              </a:rPr>
              <a:t>Taxation in India is rooted from the ancient period. Present Indian tax system is based on this ancient tax system which was based on the theory of maximum social welfare.</a:t>
            </a:r>
            <a:endParaRPr lang="en-IN" sz="2200" dirty="0"/>
          </a:p>
          <a:p>
            <a:pPr>
              <a:buFont typeface="Wingdings" panose="05000000000000000000" pitchFamily="2" charset="2"/>
              <a:buChar char="Ø"/>
            </a:pPr>
            <a:endParaRPr lang="en-IN" sz="2200" dirty="0"/>
          </a:p>
        </p:txBody>
      </p:sp>
      <p:sp>
        <p:nvSpPr>
          <p:cNvPr id="6" name="Slide Number Placeholder 5"/>
          <p:cNvSpPr>
            <a:spLocks noGrp="1"/>
          </p:cNvSpPr>
          <p:nvPr>
            <p:ph type="sldNum" sz="quarter" idx="12"/>
          </p:nvPr>
        </p:nvSpPr>
        <p:spPr/>
        <p:txBody>
          <a:bodyPr/>
          <a:lstStyle/>
          <a:p>
            <a:fld id="{94013DF8-6EF8-4A98-8821-E6468C17C0C3}" type="slidenum">
              <a:rPr lang="en-IN" smtClean="0"/>
              <a:t>2</a:t>
            </a:fld>
            <a:endParaRPr lang="en-IN"/>
          </a:p>
        </p:txBody>
      </p:sp>
    </p:spTree>
    <p:extLst>
      <p:ext uri="{BB962C8B-B14F-4D97-AF65-F5344CB8AC3E}">
        <p14:creationId xmlns:p14="http://schemas.microsoft.com/office/powerpoint/2010/main" val="240738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113BB-9999-E875-11DA-D481552F8454}"/>
              </a:ext>
            </a:extLst>
          </p:cNvPr>
          <p:cNvSpPr>
            <a:spLocks noGrp="1"/>
          </p:cNvSpPr>
          <p:nvPr>
            <p:ph type="title"/>
          </p:nvPr>
        </p:nvSpPr>
        <p:spPr>
          <a:xfrm>
            <a:off x="646111" y="452718"/>
            <a:ext cx="9404723" cy="990599"/>
          </a:xfrm>
        </p:spPr>
        <p:txBody>
          <a:bodyPr/>
          <a:lstStyle/>
          <a:p>
            <a:r>
              <a:rPr lang="en-US" dirty="0"/>
              <a:t>Brief History of Income Tax in India</a:t>
            </a:r>
            <a:endParaRPr lang="en-IN" dirty="0"/>
          </a:p>
        </p:txBody>
      </p:sp>
      <p:sp>
        <p:nvSpPr>
          <p:cNvPr id="3" name="Content Placeholder 2">
            <a:extLst>
              <a:ext uri="{FF2B5EF4-FFF2-40B4-BE49-F238E27FC236}">
                <a16:creationId xmlns:a16="http://schemas.microsoft.com/office/drawing/2014/main" id="{7A08611E-F6DE-7EDA-9858-569A4B0B8C18}"/>
              </a:ext>
            </a:extLst>
          </p:cNvPr>
          <p:cNvSpPr>
            <a:spLocks noGrp="1"/>
          </p:cNvSpPr>
          <p:nvPr>
            <p:ph idx="1"/>
          </p:nvPr>
        </p:nvSpPr>
        <p:spPr>
          <a:xfrm>
            <a:off x="314037" y="1183575"/>
            <a:ext cx="11009744" cy="4907641"/>
          </a:xfrm>
        </p:spPr>
        <p:txBody>
          <a:bodyPr>
            <a:noAutofit/>
          </a:bodyPr>
          <a:lstStyle/>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India, this </a:t>
            </a:r>
            <a:r>
              <a:rPr lang="en-US" sz="2300" dirty="0">
                <a:solidFill>
                  <a:srgbClr val="FF0000"/>
                </a:solidFill>
                <a:latin typeface="Cambria" panose="02040503050406030204" pitchFamily="18" charset="0"/>
                <a:ea typeface="Cambria" panose="02040503050406030204" pitchFamily="18" charset="0"/>
              </a:rPr>
              <a:t>tax was introduced for the first time in 1860</a:t>
            </a:r>
            <a:r>
              <a:rPr lang="en-US" sz="2300" dirty="0">
                <a:latin typeface="Cambria" panose="02040503050406030204" pitchFamily="18" charset="0"/>
                <a:ea typeface="Cambria" panose="02040503050406030204" pitchFamily="18" charset="0"/>
              </a:rPr>
              <a:t>, by </a:t>
            </a:r>
            <a:r>
              <a:rPr lang="en-US" sz="2300" b="1" i="1" dirty="0">
                <a:latin typeface="Cambria" panose="02040503050406030204" pitchFamily="18" charset="0"/>
                <a:ea typeface="Cambria" panose="02040503050406030204" pitchFamily="18" charset="0"/>
              </a:rPr>
              <a:t>Sir James Wilson </a:t>
            </a:r>
            <a:r>
              <a:rPr lang="en-US" sz="2300" dirty="0">
                <a:latin typeface="Cambria" panose="02040503050406030204" pitchFamily="18" charset="0"/>
                <a:ea typeface="Cambria" panose="02040503050406030204" pitchFamily="18" charset="0"/>
              </a:rPr>
              <a:t>in order to meet the losses sustained by the Government on account of the Military Mutiny of 1857.</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1918, a new income tax was passed and again it was replaced by another new act which was passed in 1922. This Act remained in force up to the assessment year 1961-62 with numerous amendments.</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consultation with the Ministry of Law finally the </a:t>
            </a:r>
            <a:r>
              <a:rPr lang="en-US" sz="2300" dirty="0">
                <a:solidFill>
                  <a:srgbClr val="FF0000"/>
                </a:solidFill>
                <a:latin typeface="Cambria" panose="02040503050406030204" pitchFamily="18" charset="0"/>
                <a:ea typeface="Cambria" panose="02040503050406030204" pitchFamily="18" charset="0"/>
              </a:rPr>
              <a:t>Income Tax Act, 1961 </a:t>
            </a:r>
            <a:r>
              <a:rPr lang="en-US" sz="2300" dirty="0">
                <a:latin typeface="Cambria" panose="02040503050406030204" pitchFamily="18" charset="0"/>
                <a:ea typeface="Cambria" panose="02040503050406030204" pitchFamily="18" charset="0"/>
              </a:rPr>
              <a:t>was passed. The Income Tax Act 1961 has been brought into force with 1 April 1962.</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Since 1962 several amendments of far-reaching nature have been made in the Income Tax Act by the Union Budget every year.</a:t>
            </a:r>
            <a:endParaRPr lang="en-IN" sz="23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581AC8AF-BB47-E0B4-C05D-BD4897838300}"/>
              </a:ext>
            </a:extLst>
          </p:cNvPr>
          <p:cNvSpPr>
            <a:spLocks noGrp="1"/>
          </p:cNvSpPr>
          <p:nvPr>
            <p:ph type="sldNum" sz="quarter" idx="12"/>
          </p:nvPr>
        </p:nvSpPr>
        <p:spPr/>
        <p:txBody>
          <a:bodyPr/>
          <a:lstStyle/>
          <a:p>
            <a:fld id="{94013DF8-6EF8-4A98-8821-E6468C17C0C3}" type="slidenum">
              <a:rPr lang="en-IN" smtClean="0"/>
              <a:t>3</a:t>
            </a:fld>
            <a:endParaRPr lang="en-IN"/>
          </a:p>
        </p:txBody>
      </p:sp>
    </p:spTree>
    <p:extLst>
      <p:ext uri="{BB962C8B-B14F-4D97-AF65-F5344CB8AC3E}">
        <p14:creationId xmlns:p14="http://schemas.microsoft.com/office/powerpoint/2010/main" val="147341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oud 8"/>
          <p:cNvSpPr/>
          <p:nvPr/>
        </p:nvSpPr>
        <p:spPr>
          <a:xfrm>
            <a:off x="1009026" y="2432791"/>
            <a:ext cx="2424546" cy="1856509"/>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7" name="Picture 16"/>
          <p:cNvPicPr>
            <a:picLocks noChangeAspect="1"/>
          </p:cNvPicPr>
          <p:nvPr/>
        </p:nvPicPr>
        <p:blipFill>
          <a:blip r:embed="rId3"/>
          <a:stretch>
            <a:fillRect/>
          </a:stretch>
        </p:blipFill>
        <p:spPr>
          <a:xfrm>
            <a:off x="1426414" y="2432791"/>
            <a:ext cx="1509429" cy="1004456"/>
          </a:xfrm>
          <a:prstGeom prst="ellipse">
            <a:avLst/>
          </a:prstGeom>
          <a:ln>
            <a:noFill/>
          </a:ln>
          <a:effectLst>
            <a:softEdge rad="112500"/>
          </a:effectLst>
        </p:spPr>
      </p:pic>
      <p:pic>
        <p:nvPicPr>
          <p:cNvPr id="4098" name="Picture 2" descr="Image result for foo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026" y="3258135"/>
            <a:ext cx="1589901" cy="8465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p:nvPicPr>
        <p:blipFill>
          <a:blip r:embed="rId5"/>
          <a:stretch>
            <a:fillRect/>
          </a:stretch>
        </p:blipFill>
        <p:spPr>
          <a:xfrm>
            <a:off x="2236554" y="2772013"/>
            <a:ext cx="1110044" cy="1080655"/>
          </a:xfrm>
          <a:prstGeom prst="ellipse">
            <a:avLst/>
          </a:prstGeom>
          <a:ln>
            <a:noFill/>
          </a:ln>
          <a:effectLst>
            <a:softEdge rad="112500"/>
          </a:effectLst>
        </p:spPr>
      </p:pic>
      <p:pic>
        <p:nvPicPr>
          <p:cNvPr id="19" name="Picture 18"/>
          <p:cNvPicPr>
            <a:picLocks noChangeAspect="1"/>
          </p:cNvPicPr>
          <p:nvPr/>
        </p:nvPicPr>
        <p:blipFill>
          <a:blip r:embed="rId6"/>
          <a:stretch>
            <a:fillRect/>
          </a:stretch>
        </p:blipFill>
        <p:spPr>
          <a:xfrm>
            <a:off x="4046039" y="1505222"/>
            <a:ext cx="2655469" cy="2042669"/>
          </a:xfrm>
          <a:prstGeom prst="rect">
            <a:avLst/>
          </a:prstGeom>
        </p:spPr>
      </p:pic>
      <p:pic>
        <p:nvPicPr>
          <p:cNvPr id="20" name="Picture 19"/>
          <p:cNvPicPr>
            <a:picLocks noChangeAspect="1"/>
          </p:cNvPicPr>
          <p:nvPr/>
        </p:nvPicPr>
        <p:blipFill>
          <a:blip r:embed="rId7"/>
          <a:stretch>
            <a:fillRect/>
          </a:stretch>
        </p:blipFill>
        <p:spPr>
          <a:xfrm>
            <a:off x="4712002" y="1769542"/>
            <a:ext cx="1663845" cy="1549590"/>
          </a:xfrm>
          <a:prstGeom prst="ellipse">
            <a:avLst/>
          </a:prstGeom>
          <a:ln>
            <a:noFill/>
          </a:ln>
          <a:effectLst>
            <a:softEdge rad="112500"/>
          </a:effectLst>
        </p:spPr>
      </p:pic>
      <p:pic>
        <p:nvPicPr>
          <p:cNvPr id="3" name="Picture 2"/>
          <p:cNvPicPr>
            <a:picLocks noChangeAspect="1"/>
          </p:cNvPicPr>
          <p:nvPr/>
        </p:nvPicPr>
        <p:blipFill>
          <a:blip r:embed="rId8"/>
          <a:stretch>
            <a:fillRect/>
          </a:stretch>
        </p:blipFill>
        <p:spPr>
          <a:xfrm rot="1787936">
            <a:off x="7747621" y="4045202"/>
            <a:ext cx="2658086" cy="2468002"/>
          </a:xfrm>
          <a:prstGeom prst="rect">
            <a:avLst/>
          </a:prstGeom>
        </p:spPr>
      </p:pic>
      <p:pic>
        <p:nvPicPr>
          <p:cNvPr id="4" name="Picture 3"/>
          <p:cNvPicPr>
            <a:picLocks noChangeAspect="1"/>
          </p:cNvPicPr>
          <p:nvPr/>
        </p:nvPicPr>
        <p:blipFill>
          <a:blip r:embed="rId6"/>
          <a:stretch>
            <a:fillRect/>
          </a:stretch>
        </p:blipFill>
        <p:spPr>
          <a:xfrm>
            <a:off x="7497737" y="1852183"/>
            <a:ext cx="2456901" cy="1889924"/>
          </a:xfrm>
          <a:prstGeom prst="rect">
            <a:avLst/>
          </a:prstGeom>
        </p:spPr>
      </p:pic>
      <p:sp>
        <p:nvSpPr>
          <p:cNvPr id="11" name="Cloud 10"/>
          <p:cNvSpPr/>
          <p:nvPr/>
        </p:nvSpPr>
        <p:spPr>
          <a:xfrm>
            <a:off x="968855" y="4818742"/>
            <a:ext cx="2424546" cy="1856509"/>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2" name="Picture 1"/>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rot="19971045">
            <a:off x="1205957" y="5156781"/>
            <a:ext cx="1727683" cy="91526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p:cNvPicPr>
            <a:picLocks noChangeAspect="1"/>
          </p:cNvPicPr>
          <p:nvPr/>
        </p:nvPicPr>
        <p:blipFill>
          <a:blip r:embed="rId10"/>
          <a:stretch>
            <a:fillRect/>
          </a:stretch>
        </p:blipFill>
        <p:spPr>
          <a:xfrm rot="21193281">
            <a:off x="7672965" y="2140424"/>
            <a:ext cx="1909494" cy="9547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p:cNvPicPr>
            <a:picLocks noChangeAspect="1"/>
          </p:cNvPicPr>
          <p:nvPr/>
        </p:nvPicPr>
        <p:blipFill>
          <a:blip r:embed="rId11"/>
          <a:stretch>
            <a:fillRect/>
          </a:stretch>
        </p:blipFill>
        <p:spPr>
          <a:xfrm rot="1094255">
            <a:off x="7836014" y="5040655"/>
            <a:ext cx="2352298" cy="1150177"/>
          </a:xfrm>
          <a:prstGeom prst="ellipse">
            <a:avLst/>
          </a:prstGeom>
          <a:ln>
            <a:noFill/>
          </a:ln>
          <a:effectLst>
            <a:softEdge rad="112500"/>
          </a:effectLst>
        </p:spPr>
      </p:pic>
      <p:pic>
        <p:nvPicPr>
          <p:cNvPr id="7" name="Picture 6"/>
          <p:cNvPicPr>
            <a:picLocks noChangeAspect="1"/>
          </p:cNvPicPr>
          <p:nvPr/>
        </p:nvPicPr>
        <p:blipFill>
          <a:blip r:embed="rId12"/>
          <a:stretch>
            <a:fillRect/>
          </a:stretch>
        </p:blipFill>
        <p:spPr>
          <a:xfrm>
            <a:off x="4783132" y="4200015"/>
            <a:ext cx="2143125" cy="2143125"/>
          </a:xfrm>
          <a:prstGeom prst="rect">
            <a:avLst/>
          </a:prstGeom>
        </p:spPr>
      </p:pic>
      <p:sp>
        <p:nvSpPr>
          <p:cNvPr id="21" name="Striped Right Arrow 20"/>
          <p:cNvSpPr/>
          <p:nvPr/>
        </p:nvSpPr>
        <p:spPr>
          <a:xfrm rot="20803296">
            <a:off x="3509367" y="5398526"/>
            <a:ext cx="1513767" cy="30105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p:cNvPicPr>
            <a:picLocks noChangeAspect="1"/>
          </p:cNvPicPr>
          <p:nvPr/>
        </p:nvPicPr>
        <p:blipFill>
          <a:blip r:embed="rId13"/>
          <a:stretch>
            <a:fillRect/>
          </a:stretch>
        </p:blipFill>
        <p:spPr>
          <a:xfrm rot="1883379">
            <a:off x="3300662" y="3825843"/>
            <a:ext cx="1563619" cy="366464"/>
          </a:xfrm>
          <a:prstGeom prst="rect">
            <a:avLst/>
          </a:prstGeom>
        </p:spPr>
      </p:pic>
      <p:pic>
        <p:nvPicPr>
          <p:cNvPr id="23" name="Picture 22"/>
          <p:cNvPicPr>
            <a:picLocks noChangeAspect="1"/>
          </p:cNvPicPr>
          <p:nvPr/>
        </p:nvPicPr>
        <p:blipFill>
          <a:blip r:embed="rId14"/>
          <a:stretch>
            <a:fillRect/>
          </a:stretch>
        </p:blipFill>
        <p:spPr>
          <a:xfrm rot="3169804">
            <a:off x="5402446" y="3464455"/>
            <a:ext cx="843673" cy="624498"/>
          </a:xfrm>
          <a:prstGeom prst="rect">
            <a:avLst/>
          </a:prstGeom>
        </p:spPr>
      </p:pic>
      <p:pic>
        <p:nvPicPr>
          <p:cNvPr id="24" name="Picture 23"/>
          <p:cNvPicPr>
            <a:picLocks noChangeAspect="1"/>
          </p:cNvPicPr>
          <p:nvPr/>
        </p:nvPicPr>
        <p:blipFill>
          <a:blip r:embed="rId14"/>
          <a:stretch>
            <a:fillRect/>
          </a:stretch>
        </p:blipFill>
        <p:spPr>
          <a:xfrm rot="6717152">
            <a:off x="6645894" y="3290142"/>
            <a:ext cx="1304657" cy="1268078"/>
          </a:xfrm>
          <a:prstGeom prst="rect">
            <a:avLst/>
          </a:prstGeom>
        </p:spPr>
      </p:pic>
      <p:pic>
        <p:nvPicPr>
          <p:cNvPr id="25" name="Picture 24"/>
          <p:cNvPicPr>
            <a:picLocks noChangeAspect="1"/>
          </p:cNvPicPr>
          <p:nvPr/>
        </p:nvPicPr>
        <p:blipFill>
          <a:blip r:embed="rId14"/>
          <a:stretch>
            <a:fillRect/>
          </a:stretch>
        </p:blipFill>
        <p:spPr>
          <a:xfrm rot="9503570">
            <a:off x="6659889" y="4849188"/>
            <a:ext cx="1039679" cy="951675"/>
          </a:xfrm>
          <a:prstGeom prst="rect">
            <a:avLst/>
          </a:prstGeom>
        </p:spPr>
      </p:pic>
      <p:pic>
        <p:nvPicPr>
          <p:cNvPr id="26" name="Picture 25"/>
          <p:cNvPicPr>
            <a:picLocks noChangeAspect="1"/>
          </p:cNvPicPr>
          <p:nvPr/>
        </p:nvPicPr>
        <p:blipFill>
          <a:blip r:embed="rId15"/>
          <a:stretch>
            <a:fillRect/>
          </a:stretch>
        </p:blipFill>
        <p:spPr>
          <a:xfrm rot="907527">
            <a:off x="8475774" y="4206445"/>
            <a:ext cx="1548211" cy="1140624"/>
          </a:xfrm>
          <a:prstGeom prst="ellipse">
            <a:avLst/>
          </a:prstGeom>
          <a:ln>
            <a:noFill/>
          </a:ln>
          <a:effectLst>
            <a:softEdge rad="112500"/>
          </a:effectLst>
        </p:spPr>
      </p:pic>
      <p:sp>
        <p:nvSpPr>
          <p:cNvPr id="48" name="Title 1">
            <a:extLst>
              <a:ext uri="{FF2B5EF4-FFF2-40B4-BE49-F238E27FC236}">
                <a16:creationId xmlns:a16="http://schemas.microsoft.com/office/drawing/2014/main" id="{388B9DFB-F7A2-B035-C094-874C362DE9B2}"/>
              </a:ext>
            </a:extLst>
          </p:cNvPr>
          <p:cNvSpPr txBox="1">
            <a:spLocks/>
          </p:cNvSpPr>
          <p:nvPr/>
        </p:nvSpPr>
        <p:spPr>
          <a:xfrm>
            <a:off x="646111" y="363151"/>
            <a:ext cx="9404723"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Paying</a:t>
            </a:r>
            <a:r>
              <a:rPr lang="en-US" sz="4400" b="1" dirty="0">
                <a:solidFill>
                  <a:srgbClr val="000000"/>
                </a:solidFill>
                <a:latin typeface="Times New Roman" panose="02020603050405020304" pitchFamily="18" charset="0"/>
              </a:rPr>
              <a:t> </a:t>
            </a:r>
            <a:r>
              <a:rPr lang="en-US" dirty="0"/>
              <a:t>tax almost everywhere!!!</a:t>
            </a:r>
            <a:endParaRPr lang="en-IN" dirty="0"/>
          </a:p>
        </p:txBody>
      </p:sp>
      <p:sp>
        <p:nvSpPr>
          <p:cNvPr id="10" name="Slide Number Placeholder 9"/>
          <p:cNvSpPr>
            <a:spLocks noGrp="1"/>
          </p:cNvSpPr>
          <p:nvPr>
            <p:ph type="sldNum" sz="quarter" idx="12"/>
          </p:nvPr>
        </p:nvSpPr>
        <p:spPr/>
        <p:txBody>
          <a:bodyPr/>
          <a:lstStyle/>
          <a:p>
            <a:fld id="{94013DF8-6EF8-4A98-8821-E6468C17C0C3}" type="slidenum">
              <a:rPr lang="en-IN" smtClean="0"/>
              <a:t>4</a:t>
            </a:fld>
            <a:endParaRPr lang="en-IN"/>
          </a:p>
        </p:txBody>
      </p:sp>
    </p:spTree>
    <p:extLst>
      <p:ext uri="{BB962C8B-B14F-4D97-AF65-F5344CB8AC3E}">
        <p14:creationId xmlns:p14="http://schemas.microsoft.com/office/powerpoint/2010/main" val="1327885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D2DC-A010-EDB1-73C4-ACED0150CBBA}"/>
              </a:ext>
            </a:extLst>
          </p:cNvPr>
          <p:cNvSpPr>
            <a:spLocks noGrp="1"/>
          </p:cNvSpPr>
          <p:nvPr>
            <p:ph type="title"/>
          </p:nvPr>
        </p:nvSpPr>
        <p:spPr>
          <a:xfrm>
            <a:off x="646111" y="363151"/>
            <a:ext cx="9404723" cy="1400530"/>
          </a:xfrm>
        </p:spPr>
        <p:txBody>
          <a:bodyPr/>
          <a:lstStyle/>
          <a:p>
            <a:r>
              <a:rPr lang="en-US" dirty="0"/>
              <a:t>Why should I pay tax?</a:t>
            </a:r>
            <a:endParaRPr lang="en-IN" dirty="0"/>
          </a:p>
        </p:txBody>
      </p:sp>
      <p:sp>
        <p:nvSpPr>
          <p:cNvPr id="3" name="Content Placeholder 2">
            <a:extLst>
              <a:ext uri="{FF2B5EF4-FFF2-40B4-BE49-F238E27FC236}">
                <a16:creationId xmlns:a16="http://schemas.microsoft.com/office/drawing/2014/main" id="{00EA14ED-5169-E5CC-1262-DB90204BBCCC}"/>
              </a:ext>
            </a:extLst>
          </p:cNvPr>
          <p:cNvSpPr>
            <a:spLocks noGrp="1"/>
          </p:cNvSpPr>
          <p:nvPr>
            <p:ph idx="1"/>
          </p:nvPr>
        </p:nvSpPr>
        <p:spPr>
          <a:xfrm>
            <a:off x="323274" y="1447800"/>
            <a:ext cx="10867466" cy="4800599"/>
          </a:xfrm>
        </p:spPr>
        <p:txBody>
          <a:bodyPr>
            <a:normAutofit/>
          </a:bodyPr>
          <a:lstStyle/>
          <a:p>
            <a:pPr algn="just">
              <a:lnSpc>
                <a:spcPct val="200000"/>
              </a:lnSpc>
              <a:buFont typeface="Wingdings" panose="05000000000000000000" pitchFamily="2" charset="2"/>
              <a:buChar char="Ø"/>
            </a:pPr>
            <a:r>
              <a:rPr lang="en-US" sz="2200" dirty="0">
                <a:solidFill>
                  <a:srgbClr val="000000"/>
                </a:solidFill>
                <a:latin typeface="Cambria" panose="02040503050406030204" pitchFamily="18" charset="0"/>
                <a:ea typeface="Cambria" panose="02040503050406030204" pitchFamily="18" charset="0"/>
              </a:rPr>
              <a:t>I have to pay for my food, for my house, for my travel, for my medical treatment, for owning a vehicle not only cost of vehicle but also vehicle tax and what not. </a:t>
            </a:r>
          </a:p>
          <a:p>
            <a:pPr algn="just">
              <a:lnSpc>
                <a:spcPct val="200000"/>
              </a:lnSpc>
              <a:buFont typeface="Wingdings" panose="05000000000000000000" pitchFamily="2" charset="2"/>
              <a:buChar char="Ø"/>
            </a:pPr>
            <a:r>
              <a:rPr lang="en-US" sz="2200" dirty="0">
                <a:solidFill>
                  <a:srgbClr val="000000"/>
                </a:solidFill>
                <a:latin typeface="Cambria" panose="02040503050406030204" pitchFamily="18" charset="0"/>
                <a:ea typeface="Cambria" panose="02040503050406030204" pitchFamily="18" charset="0"/>
              </a:rPr>
              <a:t> Even on many roads, one has to pay toll tax! They also say that if we compare with countries like USA and UK, the people get social security as also medical facilities virtually without any cost. But India does not offer such facilities.</a:t>
            </a:r>
            <a:endParaRPr lang="en-IN" sz="22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1AADF532-450B-F0B3-C386-17D246D10864}"/>
              </a:ext>
            </a:extLst>
          </p:cNvPr>
          <p:cNvSpPr>
            <a:spLocks noGrp="1"/>
          </p:cNvSpPr>
          <p:nvPr>
            <p:ph type="sldNum" sz="quarter" idx="12"/>
          </p:nvPr>
        </p:nvSpPr>
        <p:spPr/>
        <p:txBody>
          <a:bodyPr/>
          <a:lstStyle/>
          <a:p>
            <a:fld id="{94013DF8-6EF8-4A98-8821-E6468C17C0C3}" type="slidenum">
              <a:rPr lang="en-IN" smtClean="0"/>
              <a:t>5</a:t>
            </a:fld>
            <a:endParaRPr lang="en-IN"/>
          </a:p>
        </p:txBody>
      </p:sp>
      <p:pic>
        <p:nvPicPr>
          <p:cNvPr id="7" name="Picture 6">
            <a:extLst>
              <a:ext uri="{FF2B5EF4-FFF2-40B4-BE49-F238E27FC236}">
                <a16:creationId xmlns:a16="http://schemas.microsoft.com/office/drawing/2014/main" id="{D8331DAA-E68F-0E08-20BE-D13B8BD62F13}"/>
              </a:ext>
            </a:extLst>
          </p:cNvPr>
          <p:cNvPicPr>
            <a:picLocks noChangeAspect="1"/>
          </p:cNvPicPr>
          <p:nvPr/>
        </p:nvPicPr>
        <p:blipFill>
          <a:blip r:embed="rId2"/>
          <a:stretch>
            <a:fillRect/>
          </a:stretch>
        </p:blipFill>
        <p:spPr>
          <a:xfrm>
            <a:off x="9768254" y="4858167"/>
            <a:ext cx="2423746" cy="1999832"/>
          </a:xfrm>
          <a:prstGeom prst="rect">
            <a:avLst/>
          </a:prstGeom>
        </p:spPr>
      </p:pic>
    </p:spTree>
    <p:extLst>
      <p:ext uri="{BB962C8B-B14F-4D97-AF65-F5344CB8AC3E}">
        <p14:creationId xmlns:p14="http://schemas.microsoft.com/office/powerpoint/2010/main" val="3008556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0B45-4262-8041-891D-DB2DF220739A}"/>
              </a:ext>
            </a:extLst>
          </p:cNvPr>
          <p:cNvSpPr>
            <a:spLocks noGrp="1"/>
          </p:cNvSpPr>
          <p:nvPr>
            <p:ph type="title"/>
          </p:nvPr>
        </p:nvSpPr>
        <p:spPr>
          <a:xfrm>
            <a:off x="646111" y="452718"/>
            <a:ext cx="9404723" cy="990599"/>
          </a:xfrm>
        </p:spPr>
        <p:txBody>
          <a:bodyPr/>
          <a:lstStyle/>
          <a:p>
            <a:r>
              <a:rPr lang="en-US" dirty="0"/>
              <a:t>What Government Do from our TAX? </a:t>
            </a:r>
            <a:endParaRPr lang="en-IN" dirty="0"/>
          </a:p>
        </p:txBody>
      </p:sp>
      <p:sp>
        <p:nvSpPr>
          <p:cNvPr id="3" name="Content Placeholder 2">
            <a:extLst>
              <a:ext uri="{FF2B5EF4-FFF2-40B4-BE49-F238E27FC236}">
                <a16:creationId xmlns:a16="http://schemas.microsoft.com/office/drawing/2014/main" id="{2641626C-CF22-98FD-3A25-6325789D0CF1}"/>
              </a:ext>
            </a:extLst>
          </p:cNvPr>
          <p:cNvSpPr>
            <a:spLocks noGrp="1"/>
          </p:cNvSpPr>
          <p:nvPr>
            <p:ph idx="1"/>
          </p:nvPr>
        </p:nvSpPr>
        <p:spPr>
          <a:xfrm>
            <a:off x="646112" y="1665514"/>
            <a:ext cx="10544628" cy="4582885"/>
          </a:xfrm>
        </p:spPr>
        <p:txBody>
          <a:bodyPr>
            <a:normAutofit/>
          </a:bodyPr>
          <a:lstStyle/>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The Government provide </a:t>
            </a:r>
            <a:r>
              <a:rPr lang="en-US" sz="2200" dirty="0">
                <a:solidFill>
                  <a:srgbClr val="FF0000"/>
                </a:solidFill>
                <a:latin typeface="Cambria" panose="02040503050406030204" pitchFamily="18" charset="0"/>
              </a:rPr>
              <a:t>Health care </a:t>
            </a:r>
            <a:r>
              <a:rPr lang="en-US" sz="2200" dirty="0">
                <a:solidFill>
                  <a:srgbClr val="000000"/>
                </a:solidFill>
                <a:latin typeface="Cambria" panose="02040503050406030204" pitchFamily="18" charset="0"/>
              </a:rPr>
              <a:t>through Government hospitals (usually they offer service without any cost), Education (In Municipal and Government schools the fee is negligible). </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Of course the major expenditure of Government has to be incurred on </a:t>
            </a:r>
            <a:r>
              <a:rPr lang="en-US" sz="2200" dirty="0">
                <a:solidFill>
                  <a:srgbClr val="FF0000"/>
                </a:solidFill>
                <a:latin typeface="Cambria" panose="02040503050406030204" pitchFamily="18" charset="0"/>
              </a:rPr>
              <a:t>National Defense, Infrastructure Developments</a:t>
            </a:r>
            <a:r>
              <a:rPr lang="en-US" sz="2200" dirty="0">
                <a:solidFill>
                  <a:srgbClr val="000000"/>
                </a:solidFill>
                <a:latin typeface="Cambria" panose="02040503050406030204" pitchFamily="18" charset="0"/>
              </a:rPr>
              <a:t> etc.</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Taxes are used by the government for carrying out various </a:t>
            </a:r>
            <a:r>
              <a:rPr lang="en-US" sz="2200" dirty="0">
                <a:solidFill>
                  <a:srgbClr val="FF0000"/>
                </a:solidFill>
                <a:latin typeface="Cambria" panose="02040503050406030204" pitchFamily="18" charset="0"/>
              </a:rPr>
              <a:t>welfare schemes </a:t>
            </a:r>
            <a:r>
              <a:rPr lang="en-US" sz="2200" dirty="0">
                <a:solidFill>
                  <a:srgbClr val="000000"/>
                </a:solidFill>
                <a:latin typeface="Cambria" panose="02040503050406030204" pitchFamily="18" charset="0"/>
              </a:rPr>
              <a:t>including employment programs. </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There are Lakhs of employees in various departments and the administrative cost has to be borne by the Government. </a:t>
            </a:r>
          </a:p>
          <a:p>
            <a:pPr algn="just"/>
            <a:endParaRPr lang="en-IN" sz="2200" dirty="0"/>
          </a:p>
        </p:txBody>
      </p:sp>
      <p:sp>
        <p:nvSpPr>
          <p:cNvPr id="6" name="Slide Number Placeholder 5">
            <a:extLst>
              <a:ext uri="{FF2B5EF4-FFF2-40B4-BE49-F238E27FC236}">
                <a16:creationId xmlns:a16="http://schemas.microsoft.com/office/drawing/2014/main" id="{B8FB7D0D-3FDE-848E-331D-C1DEDD269D90}"/>
              </a:ext>
            </a:extLst>
          </p:cNvPr>
          <p:cNvSpPr>
            <a:spLocks noGrp="1"/>
          </p:cNvSpPr>
          <p:nvPr>
            <p:ph type="sldNum" sz="quarter" idx="12"/>
          </p:nvPr>
        </p:nvSpPr>
        <p:spPr/>
        <p:txBody>
          <a:bodyPr/>
          <a:lstStyle/>
          <a:p>
            <a:fld id="{94013DF8-6EF8-4A98-8821-E6468C17C0C3}" type="slidenum">
              <a:rPr lang="en-IN" smtClean="0"/>
              <a:t>6</a:t>
            </a:fld>
            <a:endParaRPr lang="en-IN"/>
          </a:p>
        </p:txBody>
      </p:sp>
    </p:spTree>
    <p:extLst>
      <p:ext uri="{BB962C8B-B14F-4D97-AF65-F5344CB8AC3E}">
        <p14:creationId xmlns:p14="http://schemas.microsoft.com/office/powerpoint/2010/main" val="3313261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43345" y="1763713"/>
            <a:ext cx="11388437" cy="4720213"/>
          </a:xfrm>
        </p:spPr>
        <p:txBody>
          <a:bodyPr>
            <a:noAutofit/>
          </a:bodyPr>
          <a:lstStyle/>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On </a:t>
            </a:r>
            <a:r>
              <a:rPr lang="en-US" sz="2400" dirty="0">
                <a:solidFill>
                  <a:srgbClr val="FF0000"/>
                </a:solidFill>
                <a:latin typeface="Cambria" panose="02040503050406030204" pitchFamily="18" charset="0"/>
              </a:rPr>
              <a:t>judicial system</a:t>
            </a:r>
            <a:r>
              <a:rPr lang="en-US" sz="2400" dirty="0">
                <a:solidFill>
                  <a:srgbClr val="000000"/>
                </a:solidFill>
                <a:latin typeface="Cambria" panose="02040503050406030204" pitchFamily="18" charset="0"/>
              </a:rPr>
              <a:t>:  the Salaries, perks of Judges, Magistrates and judicial staff has also to be paid by the Government. </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PM </a:t>
            </a:r>
            <a:r>
              <a:rPr lang="en-US" sz="2400" dirty="0">
                <a:solidFill>
                  <a:srgbClr val="FF0000"/>
                </a:solidFill>
                <a:latin typeface="Cambria" panose="02040503050406030204" pitchFamily="18" charset="0"/>
              </a:rPr>
              <a:t>Kisan yojana</a:t>
            </a:r>
            <a:r>
              <a:rPr lang="en-US" sz="2400" dirty="0">
                <a:solidFill>
                  <a:srgbClr val="000000"/>
                </a:solidFill>
                <a:latin typeface="Cambria" panose="02040503050406030204" pitchFamily="18" charset="0"/>
              </a:rPr>
              <a:t>: subsidy / pay-in  to farmers.</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The Government also provides </a:t>
            </a:r>
            <a:r>
              <a:rPr lang="en-US" sz="2400" dirty="0">
                <a:solidFill>
                  <a:srgbClr val="FF0000"/>
                </a:solidFill>
                <a:latin typeface="Cambria" panose="02040503050406030204" pitchFamily="18" charset="0"/>
              </a:rPr>
              <a:t>cooking gas </a:t>
            </a:r>
            <a:r>
              <a:rPr lang="en-US" sz="2400" dirty="0">
                <a:solidFill>
                  <a:srgbClr val="000000"/>
                </a:solidFill>
                <a:latin typeface="Cambria" panose="02040503050406030204" pitchFamily="18" charset="0"/>
              </a:rPr>
              <a:t>at concessional rate or gives subsidy. </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Government also provide support to </a:t>
            </a:r>
            <a:r>
              <a:rPr lang="en-US" sz="2400" dirty="0">
                <a:solidFill>
                  <a:srgbClr val="FF0000"/>
                </a:solidFill>
                <a:latin typeface="Cambria" panose="02040503050406030204" pitchFamily="18" charset="0"/>
              </a:rPr>
              <a:t>MSMEs</a:t>
            </a:r>
            <a:r>
              <a:rPr lang="en-US" sz="2400" dirty="0">
                <a:solidFill>
                  <a:srgbClr val="000000"/>
                </a:solidFill>
                <a:latin typeface="Cambria" panose="02040503050406030204" pitchFamily="18" charset="0"/>
              </a:rPr>
              <a:t> and small business in terms of subsidies.</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Thus on considering these various duties of the Government, </a:t>
            </a:r>
            <a:r>
              <a:rPr lang="en-US" sz="2400" dirty="0">
                <a:solidFill>
                  <a:srgbClr val="FF0000"/>
                </a:solidFill>
                <a:latin typeface="Cambria" panose="02040503050406030204" pitchFamily="18" charset="0"/>
              </a:rPr>
              <a:t>we need to appreciate that we must pay tax as per law</a:t>
            </a:r>
            <a:r>
              <a:rPr lang="en-US" sz="2400" dirty="0">
                <a:solidFill>
                  <a:srgbClr val="000000"/>
                </a:solidFill>
                <a:latin typeface="Cambria" panose="02040503050406030204" pitchFamily="18" charset="0"/>
              </a:rPr>
              <a:t>. We have to act like a responsible citizen.</a:t>
            </a: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What Government Do from our TAX? </a:t>
            </a:r>
            <a:br>
              <a:rPr lang="en-US" dirty="0"/>
            </a:br>
            <a:endParaRPr lang="en-IN" dirty="0"/>
          </a:p>
        </p:txBody>
      </p:sp>
    </p:spTree>
    <p:extLst>
      <p:ext uri="{BB962C8B-B14F-4D97-AF65-F5344CB8AC3E}">
        <p14:creationId xmlns:p14="http://schemas.microsoft.com/office/powerpoint/2010/main" val="188029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3FF0-2234-6D32-2B69-D84E23615303}"/>
              </a:ext>
            </a:extLst>
          </p:cNvPr>
          <p:cNvSpPr>
            <a:spLocks noGrp="1"/>
          </p:cNvSpPr>
          <p:nvPr>
            <p:ph type="title"/>
          </p:nvPr>
        </p:nvSpPr>
        <p:spPr>
          <a:xfrm>
            <a:off x="590693" y="2346173"/>
            <a:ext cx="9404723" cy="1400530"/>
          </a:xfrm>
        </p:spPr>
        <p:txBody>
          <a:bodyPr/>
          <a:lstStyle/>
          <a:p>
            <a:r>
              <a:rPr lang="en-US" sz="4400" dirty="0"/>
              <a:t>Direct Taxes</a:t>
            </a:r>
            <a:br>
              <a:rPr lang="en-US" sz="4400" dirty="0"/>
            </a:br>
            <a:r>
              <a:rPr lang="en-US" sz="4400" dirty="0"/>
              <a:t>Personal Taxation</a:t>
            </a:r>
            <a:br>
              <a:rPr lang="en-US" sz="4400" dirty="0"/>
            </a:br>
            <a:endParaRPr lang="en-IN" dirty="0"/>
          </a:p>
        </p:txBody>
      </p:sp>
      <p:sp>
        <p:nvSpPr>
          <p:cNvPr id="6" name="Slide Number Placeholder 5">
            <a:extLst>
              <a:ext uri="{FF2B5EF4-FFF2-40B4-BE49-F238E27FC236}">
                <a16:creationId xmlns:a16="http://schemas.microsoft.com/office/drawing/2014/main" id="{F9E80E95-8A24-8B7D-4D4C-190F392D740E}"/>
              </a:ext>
            </a:extLst>
          </p:cNvPr>
          <p:cNvSpPr>
            <a:spLocks noGrp="1"/>
          </p:cNvSpPr>
          <p:nvPr>
            <p:ph type="sldNum" sz="quarter" idx="12"/>
          </p:nvPr>
        </p:nvSpPr>
        <p:spPr/>
        <p:txBody>
          <a:bodyPr/>
          <a:lstStyle/>
          <a:p>
            <a:fld id="{94013DF8-6EF8-4A98-8821-E6468C17C0C3}" type="slidenum">
              <a:rPr lang="en-IN" smtClean="0"/>
              <a:t>8</a:t>
            </a:fld>
            <a:endParaRPr lang="en-IN"/>
          </a:p>
        </p:txBody>
      </p:sp>
    </p:spTree>
    <p:extLst>
      <p:ext uri="{BB962C8B-B14F-4D97-AF65-F5344CB8AC3E}">
        <p14:creationId xmlns:p14="http://schemas.microsoft.com/office/powerpoint/2010/main" val="178474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3FF0-2234-6D32-2B69-D84E23615303}"/>
              </a:ext>
            </a:extLst>
          </p:cNvPr>
          <p:cNvSpPr>
            <a:spLocks noGrp="1"/>
          </p:cNvSpPr>
          <p:nvPr>
            <p:ph type="title"/>
          </p:nvPr>
        </p:nvSpPr>
        <p:spPr>
          <a:xfrm>
            <a:off x="590693" y="2346173"/>
            <a:ext cx="9404723" cy="1400530"/>
          </a:xfrm>
        </p:spPr>
        <p:txBody>
          <a:bodyPr/>
          <a:lstStyle/>
          <a:p>
            <a:r>
              <a:rPr lang="en-US" sz="4400" dirty="0"/>
              <a:t>Financial Year (FY 24-25) </a:t>
            </a:r>
            <a:br>
              <a:rPr lang="en-US" sz="4400" dirty="0"/>
            </a:br>
            <a:br>
              <a:rPr lang="en-US" sz="4400" dirty="0"/>
            </a:br>
            <a:r>
              <a:rPr lang="en-US" sz="4400" dirty="0"/>
              <a:t>Assessment Year (AY 25-26)</a:t>
            </a:r>
            <a:br>
              <a:rPr lang="en-US" sz="4400" dirty="0"/>
            </a:br>
            <a:endParaRPr lang="en-IN" dirty="0"/>
          </a:p>
        </p:txBody>
      </p:sp>
      <p:sp>
        <p:nvSpPr>
          <p:cNvPr id="6" name="Slide Number Placeholder 5">
            <a:extLst>
              <a:ext uri="{FF2B5EF4-FFF2-40B4-BE49-F238E27FC236}">
                <a16:creationId xmlns:a16="http://schemas.microsoft.com/office/drawing/2014/main" id="{F9E80E95-8A24-8B7D-4D4C-190F392D740E}"/>
              </a:ext>
            </a:extLst>
          </p:cNvPr>
          <p:cNvSpPr>
            <a:spLocks noGrp="1"/>
          </p:cNvSpPr>
          <p:nvPr>
            <p:ph type="sldNum" sz="quarter" idx="12"/>
          </p:nvPr>
        </p:nvSpPr>
        <p:spPr/>
        <p:txBody>
          <a:bodyPr/>
          <a:lstStyle/>
          <a:p>
            <a:fld id="{94013DF8-6EF8-4A98-8821-E6468C17C0C3}" type="slidenum">
              <a:rPr lang="en-IN" smtClean="0"/>
              <a:t>9</a:t>
            </a:fld>
            <a:endParaRPr lang="en-IN"/>
          </a:p>
        </p:txBody>
      </p:sp>
    </p:spTree>
    <p:extLst>
      <p:ext uri="{BB962C8B-B14F-4D97-AF65-F5344CB8AC3E}">
        <p14:creationId xmlns:p14="http://schemas.microsoft.com/office/powerpoint/2010/main" val="154453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9749415" cy="4484686"/>
          </a:xfrm>
        </p:spPr>
        <p:txBody>
          <a:bodyPr>
            <a:normAutofit/>
          </a:bodyPr>
          <a:lstStyle/>
          <a:p>
            <a:pPr marL="252000" indent="-252000" algn="just">
              <a:lnSpc>
                <a:spcPct val="130000"/>
              </a:lnSpc>
              <a:buFont typeface="Wingdings" panose="05000000000000000000" pitchFamily="2" charset="2"/>
              <a:buChar char="§"/>
            </a:pPr>
            <a:r>
              <a:rPr lang="en-US" sz="2800" dirty="0">
                <a:solidFill>
                  <a:srgbClr val="000000"/>
                </a:solidFill>
                <a:latin typeface="Cambria" panose="02040503050406030204" pitchFamily="18" charset="0"/>
              </a:rPr>
              <a:t>Section 14 of the IT Act, 1961, specifies 5 heads of income</a:t>
            </a:r>
          </a:p>
          <a:p>
            <a:pPr marL="252000" indent="-252000" algn="just">
              <a:lnSpc>
                <a:spcPct val="130000"/>
              </a:lnSpc>
              <a:buFont typeface="Wingdings" panose="05000000000000000000" pitchFamily="2" charset="2"/>
              <a:buChar char="§"/>
            </a:pPr>
            <a:endParaRPr lang="en-US" sz="2800" dirty="0">
              <a:solidFill>
                <a:srgbClr val="000000"/>
              </a:solidFill>
              <a:latin typeface="Cambria" panose="02040503050406030204" pitchFamily="18" charset="0"/>
            </a:endParaRPr>
          </a:p>
          <a:p>
            <a:r>
              <a:rPr lang="en-US" sz="2800" dirty="0"/>
              <a:t>Income from Salary</a:t>
            </a:r>
          </a:p>
          <a:p>
            <a:r>
              <a:rPr lang="en-US" sz="2800" dirty="0"/>
              <a:t>Income from House Property</a:t>
            </a:r>
          </a:p>
          <a:p>
            <a:r>
              <a:rPr lang="en-US" sz="2800" dirty="0"/>
              <a:t>Income from Profits and Gains from Business or Profession</a:t>
            </a:r>
          </a:p>
          <a:p>
            <a:r>
              <a:rPr lang="en-US" sz="2800" dirty="0"/>
              <a:t>Income from Capital Gains</a:t>
            </a:r>
          </a:p>
          <a:p>
            <a:r>
              <a:rPr lang="en-US" sz="2800" dirty="0"/>
              <a:t>Income from Other Sources</a:t>
            </a:r>
          </a:p>
          <a:p>
            <a:pPr marL="252000" indent="-252000" algn="just">
              <a:lnSpc>
                <a:spcPct val="130000"/>
              </a:lnSpc>
              <a:buFont typeface="Wingdings" panose="05000000000000000000" pitchFamily="2" charset="2"/>
              <a:buChar char="§"/>
            </a:pPr>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a:t>
            </a:r>
            <a:endParaRPr lang="en-IN" dirty="0"/>
          </a:p>
        </p:txBody>
      </p:sp>
    </p:spTree>
    <p:extLst>
      <p:ext uri="{BB962C8B-B14F-4D97-AF65-F5344CB8AC3E}">
        <p14:creationId xmlns:p14="http://schemas.microsoft.com/office/powerpoint/2010/main" val="2569836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5" y="1283423"/>
            <a:ext cx="10488324" cy="4738686"/>
          </a:xfrm>
        </p:spPr>
        <p:txBody>
          <a:bodyPr>
            <a:noAutofit/>
          </a:bodyPr>
          <a:lstStyle/>
          <a:p>
            <a:pPr marL="252000" indent="-252000" algn="just">
              <a:lnSpc>
                <a:spcPct val="130000"/>
              </a:lnSpc>
              <a:buFont typeface="Wingdings" panose="05000000000000000000" pitchFamily="2" charset="2"/>
              <a:buChar char="§"/>
            </a:pPr>
            <a:r>
              <a:rPr lang="en-US" sz="2800" dirty="0">
                <a:solidFill>
                  <a:srgbClr val="FF0000"/>
                </a:solidFill>
              </a:rPr>
              <a:t>Income from Salary </a:t>
            </a:r>
            <a:r>
              <a:rPr lang="en-US" sz="2800" dirty="0"/>
              <a:t>(Section 15 to 17)</a:t>
            </a:r>
          </a:p>
          <a:p>
            <a:pPr marL="252000" indent="-252000" algn="just">
              <a:lnSpc>
                <a:spcPct val="130000"/>
              </a:lnSpc>
              <a:buFont typeface="Wingdings" panose="05000000000000000000" pitchFamily="2" charset="2"/>
              <a:buChar char="§"/>
            </a:pPr>
            <a:endParaRPr lang="en-US" sz="2800" dirty="0"/>
          </a:p>
          <a:p>
            <a:pPr algn="just"/>
            <a:r>
              <a:rPr lang="en-US" sz="2400" dirty="0">
                <a:solidFill>
                  <a:srgbClr val="FF0000"/>
                </a:solidFill>
              </a:rPr>
              <a:t>Section 15 </a:t>
            </a:r>
            <a:r>
              <a:rPr lang="en-US" sz="2400" dirty="0"/>
              <a:t>describes the taxability of income from Salary (between employee &amp; employer)</a:t>
            </a:r>
          </a:p>
          <a:p>
            <a:pPr algn="just"/>
            <a:r>
              <a:rPr lang="en-US" sz="2400" dirty="0">
                <a:solidFill>
                  <a:srgbClr val="FF0000"/>
                </a:solidFill>
              </a:rPr>
              <a:t>Section 16 </a:t>
            </a:r>
            <a:r>
              <a:rPr lang="en-US" sz="2400" dirty="0"/>
              <a:t>explains about deductions available under salaries</a:t>
            </a:r>
          </a:p>
          <a:p>
            <a:pPr algn="just"/>
            <a:r>
              <a:rPr lang="en-US" sz="2400" dirty="0">
                <a:solidFill>
                  <a:srgbClr val="FF0000"/>
                </a:solidFill>
              </a:rPr>
              <a:t>Section 17 </a:t>
            </a:r>
            <a:r>
              <a:rPr lang="en-US" sz="2400" dirty="0"/>
              <a:t>explains the components of the Salary like Monetary compensation, Perquisites, etc.</a:t>
            </a:r>
          </a:p>
          <a:p>
            <a:pPr marL="252000" indent="-252000" algn="just">
              <a:lnSpc>
                <a:spcPct val="130000"/>
              </a:lnSpc>
              <a:buFont typeface="Wingdings" panose="05000000000000000000" pitchFamily="2" charset="2"/>
              <a:buChar char="§"/>
            </a:pPr>
            <a:endParaRPr lang="en-IN" sz="2400" dirty="0">
              <a:latin typeface="Cambria" panose="02040503050406030204" pitchFamily="18" charset="0"/>
            </a:endParaRPr>
          </a:p>
          <a:p>
            <a:pPr marL="0" indent="0" algn="just">
              <a:lnSpc>
                <a:spcPct val="130000"/>
              </a:lnSpc>
              <a:buNone/>
            </a:pP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2313238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5" y="1283423"/>
            <a:ext cx="10488324" cy="4738686"/>
          </a:xfrm>
        </p:spPr>
        <p:txBody>
          <a:bodyPr>
            <a:noAutofit/>
          </a:bodyPr>
          <a:lstStyle/>
          <a:p>
            <a:pPr marL="252000" indent="-252000" algn="just">
              <a:lnSpc>
                <a:spcPct val="130000"/>
              </a:lnSpc>
              <a:buFont typeface="Wingdings" panose="05000000000000000000" pitchFamily="2" charset="2"/>
              <a:buChar char="§"/>
            </a:pPr>
            <a:r>
              <a:rPr lang="en-US" sz="2800" dirty="0">
                <a:solidFill>
                  <a:srgbClr val="FF0000"/>
                </a:solidFill>
              </a:rPr>
              <a:t>Income from Salary </a:t>
            </a:r>
            <a:r>
              <a:rPr lang="en-US" sz="2800" dirty="0"/>
              <a:t>(Section 15 to 17)</a:t>
            </a:r>
          </a:p>
          <a:p>
            <a:pPr marL="0" indent="0" algn="just">
              <a:buNone/>
            </a:pPr>
            <a:r>
              <a:rPr lang="en-US" sz="2400" dirty="0">
                <a:solidFill>
                  <a:srgbClr val="FF0000"/>
                </a:solidFill>
              </a:rPr>
              <a:t>Section 15 </a:t>
            </a:r>
            <a:r>
              <a:rPr lang="en-US" sz="2400" dirty="0"/>
              <a:t>describes the taxability of income from Salary (between employee &amp; employer)</a:t>
            </a:r>
          </a:p>
          <a:p>
            <a:pPr algn="just"/>
            <a:r>
              <a:rPr lang="en-US" dirty="0"/>
              <a:t>(</a:t>
            </a:r>
            <a:r>
              <a:rPr lang="en-US" i="1" dirty="0"/>
              <a:t>a</a:t>
            </a:r>
            <a:r>
              <a:rPr lang="en-US" dirty="0"/>
              <a:t>) any salary due from an employer or a former employer to an assesse in the previous year, whether paid or not;</a:t>
            </a:r>
          </a:p>
          <a:p>
            <a:pPr algn="just"/>
            <a:r>
              <a:rPr lang="en-US" dirty="0"/>
              <a:t>(</a:t>
            </a:r>
            <a:r>
              <a:rPr lang="en-US" i="1" dirty="0"/>
              <a:t>b</a:t>
            </a:r>
            <a:r>
              <a:rPr lang="en-US" dirty="0"/>
              <a:t>) any salary paid or allowed to him in the previous year by or on behalf of an employer or a former employer though not due or before it became due to him;</a:t>
            </a:r>
          </a:p>
          <a:p>
            <a:pPr algn="just"/>
            <a:r>
              <a:rPr lang="en-US" dirty="0"/>
              <a:t>(</a:t>
            </a:r>
            <a:r>
              <a:rPr lang="en-US" i="1" dirty="0"/>
              <a:t>c</a:t>
            </a:r>
            <a:r>
              <a:rPr lang="en-US" dirty="0"/>
              <a:t>) any </a:t>
            </a:r>
            <a:r>
              <a:rPr lang="en-US" dirty="0">
                <a:solidFill>
                  <a:srgbClr val="FF0000"/>
                </a:solidFill>
              </a:rPr>
              <a:t>arrears of salary </a:t>
            </a:r>
            <a:r>
              <a:rPr lang="en-US" dirty="0"/>
              <a:t>paid or allowed to him in the previous year by or on behalf of an employer or a former employer, If not charged to income-tax for any earlier previous year.</a:t>
            </a:r>
          </a:p>
          <a:p>
            <a:pPr algn="just"/>
            <a:r>
              <a:rPr lang="en-US" i="1" dirty="0"/>
              <a:t>Explanation.</a:t>
            </a:r>
            <a:r>
              <a:rPr lang="en-US" dirty="0"/>
              <a:t>—For the removal of doubts, it is hereby declared that where any </a:t>
            </a:r>
            <a:r>
              <a:rPr lang="en-US" dirty="0">
                <a:solidFill>
                  <a:srgbClr val="FF0000"/>
                </a:solidFill>
              </a:rPr>
              <a:t>salary paid in advance</a:t>
            </a:r>
            <a:r>
              <a:rPr lang="en-US" dirty="0"/>
              <a:t> is included in the total income of any person for any previous year it shall not be included again in the total income of the person when the salary becomes due.</a:t>
            </a:r>
          </a:p>
          <a:p>
            <a:pPr marL="252000" indent="-252000" algn="just">
              <a:lnSpc>
                <a:spcPct val="130000"/>
              </a:lnSpc>
              <a:buFont typeface="Wingdings" panose="05000000000000000000" pitchFamily="2" charset="2"/>
              <a:buChar char="§"/>
            </a:pPr>
            <a:endParaRPr lang="en-IN" sz="2400" dirty="0">
              <a:latin typeface="Cambria" panose="02040503050406030204" pitchFamily="18" charset="0"/>
            </a:endParaRPr>
          </a:p>
          <a:p>
            <a:pPr marL="0" indent="0" algn="just">
              <a:lnSpc>
                <a:spcPct val="130000"/>
              </a:lnSpc>
              <a:buNone/>
            </a:pP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319464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83423"/>
            <a:ext cx="11234431" cy="4738686"/>
          </a:xfrm>
        </p:spPr>
        <p:txBody>
          <a:bodyPr>
            <a:noAutofit/>
          </a:bodyPr>
          <a:lstStyle/>
          <a:p>
            <a:pPr marL="252000" indent="-252000" algn="just">
              <a:lnSpc>
                <a:spcPct val="130000"/>
              </a:lnSpc>
              <a:buFont typeface="Wingdings" panose="05000000000000000000" pitchFamily="2" charset="2"/>
              <a:buChar char="§"/>
            </a:pPr>
            <a:r>
              <a:rPr lang="en-US" sz="2400" dirty="0">
                <a:solidFill>
                  <a:srgbClr val="FF0000"/>
                </a:solidFill>
              </a:rPr>
              <a:t>Deductions &amp; Exemptions</a:t>
            </a:r>
            <a:endParaRPr lang="en-US" sz="2400" dirty="0"/>
          </a:p>
          <a:p>
            <a:pPr algn="just"/>
            <a:r>
              <a:rPr lang="en-US" sz="2200" dirty="0">
                <a:solidFill>
                  <a:srgbClr val="FF0000"/>
                </a:solidFill>
              </a:rPr>
              <a:t>Deduction</a:t>
            </a:r>
            <a:r>
              <a:rPr lang="en-US" sz="2200" dirty="0"/>
              <a:t> from salary in income tax refers to the amount subtracted from an individual’s gross salary to arrive at the taxable income. An </a:t>
            </a:r>
            <a:r>
              <a:rPr lang="en-US" sz="2200" dirty="0">
                <a:solidFill>
                  <a:srgbClr val="FF0000"/>
                </a:solidFill>
              </a:rPr>
              <a:t>exemption</a:t>
            </a:r>
            <a:r>
              <a:rPr lang="en-US" sz="2200" dirty="0"/>
              <a:t> refers to the deduction allowed by the law to reduce the amount of income that would otherwise be taxed. </a:t>
            </a:r>
          </a:p>
          <a:p>
            <a:pPr algn="just"/>
            <a:endParaRPr lang="en-US" sz="2200" dirty="0"/>
          </a:p>
          <a:p>
            <a:pPr algn="just"/>
            <a:r>
              <a:rPr lang="en-US" sz="2200" dirty="0">
                <a:solidFill>
                  <a:srgbClr val="FF0000"/>
                </a:solidFill>
              </a:rPr>
              <a:t>Deductions</a:t>
            </a:r>
            <a:r>
              <a:rPr lang="en-US" sz="2200" dirty="0"/>
              <a:t> reduce your taxable income, while </a:t>
            </a:r>
            <a:r>
              <a:rPr lang="en-US" sz="2200" dirty="0">
                <a:solidFill>
                  <a:srgbClr val="FF0000"/>
                </a:solidFill>
              </a:rPr>
              <a:t>exemptions (</a:t>
            </a:r>
            <a:r>
              <a:rPr lang="en-US" sz="2200" i="1" dirty="0">
                <a:solidFill>
                  <a:srgbClr val="7030A0"/>
                </a:solidFill>
              </a:rPr>
              <a:t>under section 10</a:t>
            </a:r>
            <a:r>
              <a:rPr lang="en-US" sz="2200" dirty="0">
                <a:solidFill>
                  <a:srgbClr val="FF0000"/>
                </a:solidFill>
              </a:rPr>
              <a:t>)</a:t>
            </a:r>
            <a:r>
              <a:rPr lang="en-US" sz="2200" dirty="0"/>
              <a:t> exclude certain types of income from taxation altogether.</a:t>
            </a:r>
          </a:p>
          <a:p>
            <a:pPr algn="just"/>
            <a:endParaRPr lang="en-US" sz="2200" dirty="0"/>
          </a:p>
          <a:p>
            <a:pPr algn="just"/>
            <a:r>
              <a:rPr lang="en-US" sz="2200" dirty="0">
                <a:solidFill>
                  <a:srgbClr val="FF0000"/>
                </a:solidFill>
              </a:rPr>
              <a:t>Tax deductions </a:t>
            </a:r>
            <a:r>
              <a:rPr lang="en-US" sz="2200" dirty="0"/>
              <a:t>are specific expenses or investments that reduce an individual’s taxable income, thus lowering the amount of income tax they are required to pay. The government allows these deductions to </a:t>
            </a:r>
            <a:r>
              <a:rPr lang="en-US" sz="2200" dirty="0">
                <a:solidFill>
                  <a:srgbClr val="FF0000"/>
                </a:solidFill>
              </a:rPr>
              <a:t>encourage individuals </a:t>
            </a:r>
            <a:r>
              <a:rPr lang="en-US" sz="2200" dirty="0"/>
              <a:t>to save and invest, purchase insurance policies, and contribute to specific funds and schemes.</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837189"/>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1440079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Exemptions</a:t>
            </a:r>
          </a:p>
          <a:p>
            <a:pPr algn="just"/>
            <a:r>
              <a:rPr lang="en-IN" sz="2400" dirty="0"/>
              <a:t>Exemption of Agriculture Income</a:t>
            </a:r>
          </a:p>
          <a:p>
            <a:pPr algn="just"/>
            <a:r>
              <a:rPr lang="en-US" sz="2400" dirty="0"/>
              <a:t>Exemption on the Income of a HUF (interest are taxable)</a:t>
            </a:r>
          </a:p>
          <a:p>
            <a:pPr algn="just"/>
            <a:r>
              <a:rPr lang="en-US" sz="2400" dirty="0"/>
              <a:t>Exemption on House Rent Allowance (HRA)</a:t>
            </a:r>
          </a:p>
          <a:p>
            <a:pPr algn="just"/>
            <a:r>
              <a:rPr lang="en-IN" sz="2400" dirty="0"/>
              <a:t>Exemption on allowances (Dearness Allowance, </a:t>
            </a:r>
            <a:r>
              <a:rPr lang="en-US" sz="2400" dirty="0"/>
              <a:t>Leave Travel Allowance (LTA) or Leave Travel Concession (LTC), Mobile Reimbursement, Books and Periodicals, Food Coupons, Relocation Allowance, Children Education Allowances, Children's Hostel Allowances, Leave Encashment, Helper, </a:t>
            </a:r>
            <a:r>
              <a:rPr lang="en-US" sz="2400" dirty="0" err="1"/>
              <a:t>etc</a:t>
            </a:r>
            <a:r>
              <a:rPr lang="en-IN" sz="2400" dirty="0"/>
              <a:t>)</a:t>
            </a:r>
          </a:p>
          <a:p>
            <a:pPr marL="0" indent="0" algn="just">
              <a:lnSpc>
                <a:spcPct val="130000"/>
              </a:lnSpc>
              <a:buNone/>
            </a:pPr>
            <a:endParaRPr lang="en-IN"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088013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9351390" y="2373314"/>
            <a:ext cx="2592371" cy="3424171"/>
          </a:xfrm>
        </p:spPr>
        <p:style>
          <a:lnRef idx="1">
            <a:schemeClr val="accent3"/>
          </a:lnRef>
          <a:fillRef idx="2">
            <a:schemeClr val="accent3"/>
          </a:fillRef>
          <a:effectRef idx="1">
            <a:schemeClr val="accent3"/>
          </a:effectRef>
          <a:fontRef idx="minor">
            <a:schemeClr val="dk1"/>
          </a:fontRef>
        </p:style>
        <p:txBody>
          <a:bodyPr>
            <a:normAutofit/>
          </a:bodyPr>
          <a:lstStyle/>
          <a:p>
            <a:pPr marL="252000" indent="-252000" algn="just">
              <a:lnSpc>
                <a:spcPct val="130000"/>
              </a:lnSpc>
              <a:buFont typeface="Wingdings" panose="05000000000000000000" pitchFamily="2" charset="2"/>
              <a:buChar char="§"/>
            </a:pPr>
            <a:r>
              <a:rPr lang="en-US" sz="2800" b="1" dirty="0"/>
              <a:t>Components of Salary</a:t>
            </a:r>
          </a:p>
          <a:p>
            <a:pPr algn="just"/>
            <a:r>
              <a:rPr lang="en-US" sz="2400" dirty="0">
                <a:solidFill>
                  <a:srgbClr val="FF0000"/>
                </a:solidFill>
              </a:rPr>
              <a:t>Basic</a:t>
            </a:r>
          </a:p>
          <a:p>
            <a:pPr algn="just"/>
            <a:r>
              <a:rPr lang="en-US" sz="2400" dirty="0">
                <a:solidFill>
                  <a:srgbClr val="FF0000"/>
                </a:solidFill>
              </a:rPr>
              <a:t>HRA</a:t>
            </a:r>
          </a:p>
          <a:p>
            <a:pPr algn="just"/>
            <a:r>
              <a:rPr lang="en-US" sz="2400" dirty="0">
                <a:solidFill>
                  <a:srgbClr val="FF0000"/>
                </a:solidFill>
                <a:latin typeface="Cambria" panose="02040503050406030204" pitchFamily="18" charset="0"/>
              </a:rPr>
              <a:t>Allowances, </a:t>
            </a:r>
            <a:r>
              <a:rPr lang="en-US" sz="2400" dirty="0" err="1">
                <a:solidFill>
                  <a:srgbClr val="FF0000"/>
                </a:solidFill>
                <a:latin typeface="Cambria" panose="02040503050406030204" pitchFamily="18" charset="0"/>
              </a:rPr>
              <a:t>etc</a:t>
            </a:r>
            <a:endParaRPr lang="en-IN"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
        <p:nvSpPr>
          <p:cNvPr id="5" name="Content Placeholder 2">
            <a:extLst>
              <a:ext uri="{FF2B5EF4-FFF2-40B4-BE49-F238E27FC236}">
                <a16:creationId xmlns:a16="http://schemas.microsoft.com/office/drawing/2014/main" id="{8F7EB8A7-C8B7-75B9-5DB4-2C321372CA13}"/>
              </a:ext>
            </a:extLst>
          </p:cNvPr>
          <p:cNvSpPr txBox="1">
            <a:spLocks/>
          </p:cNvSpPr>
          <p:nvPr/>
        </p:nvSpPr>
        <p:spPr>
          <a:xfrm>
            <a:off x="424439" y="1685204"/>
            <a:ext cx="8317779" cy="44846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252000" indent="-252000" algn="just">
              <a:lnSpc>
                <a:spcPct val="130000"/>
              </a:lnSpc>
              <a:buFont typeface="Wingdings" panose="05000000000000000000" pitchFamily="2" charset="2"/>
              <a:buChar char="§"/>
            </a:pPr>
            <a:r>
              <a:rPr lang="en-US" sz="2800" dirty="0"/>
              <a:t>List of Exemptions</a:t>
            </a:r>
          </a:p>
          <a:p>
            <a:pPr algn="just"/>
            <a:r>
              <a:rPr lang="en-US" sz="2400" dirty="0">
                <a:solidFill>
                  <a:srgbClr val="FF0000"/>
                </a:solidFill>
              </a:rPr>
              <a:t>Exemption on House Rent Allowance (HRA)</a:t>
            </a:r>
          </a:p>
          <a:p>
            <a:pPr algn="just">
              <a:buFont typeface="Wingdings" panose="05000000000000000000" pitchFamily="2" charset="2"/>
              <a:buChar char="v"/>
            </a:pPr>
            <a:r>
              <a:rPr lang="en-US" sz="2400" dirty="0"/>
              <a:t>If rent is actually being paid, the individual can get an exemption as per the House Rent Allowance and that will be the </a:t>
            </a:r>
            <a:r>
              <a:rPr lang="en-US" sz="2400" dirty="0">
                <a:solidFill>
                  <a:srgbClr val="FF0000"/>
                </a:solidFill>
              </a:rPr>
              <a:t>least of the following</a:t>
            </a:r>
            <a:r>
              <a:rPr lang="en-US" sz="2400" dirty="0"/>
              <a:t>:</a:t>
            </a:r>
          </a:p>
          <a:p>
            <a:pPr marL="457200" indent="-457200" algn="just">
              <a:buFont typeface="+mj-lt"/>
              <a:buAutoNum type="arabicParenR"/>
            </a:pPr>
            <a:r>
              <a:rPr lang="en-US" sz="2400" dirty="0"/>
              <a:t>Actual House Rent Allowance received </a:t>
            </a:r>
          </a:p>
          <a:p>
            <a:pPr marL="457200" indent="-457200" algn="just">
              <a:buFont typeface="+mj-lt"/>
              <a:buAutoNum type="arabicParenR"/>
            </a:pPr>
            <a:r>
              <a:rPr lang="en-US" sz="2400" dirty="0"/>
              <a:t>Actual Rent paid minus 10% of basic salary </a:t>
            </a:r>
          </a:p>
          <a:p>
            <a:pPr marL="457200" indent="-457200" algn="just">
              <a:buFont typeface="+mj-lt"/>
              <a:buAutoNum type="arabicParenR"/>
            </a:pPr>
            <a:r>
              <a:rPr lang="en-US" sz="2400" dirty="0"/>
              <a:t>40% of basic salary (50% in case of Mumbai, Chennai, Kolkata, Delhi)</a:t>
            </a:r>
            <a:endParaRPr lang="en-IN" dirty="0"/>
          </a:p>
          <a:p>
            <a:pPr marL="252000" indent="-252000" algn="just">
              <a:lnSpc>
                <a:spcPct val="130000"/>
              </a:lnSpc>
              <a:buFont typeface="Wingdings" panose="05000000000000000000" pitchFamily="2" charset="2"/>
              <a:buChar char="§"/>
            </a:pPr>
            <a:endParaRPr lang="en-IN" dirty="0">
              <a:latin typeface="Cambria" panose="02040503050406030204" pitchFamily="18" charset="0"/>
            </a:endParaRPr>
          </a:p>
        </p:txBody>
      </p:sp>
      <p:cxnSp>
        <p:nvCxnSpPr>
          <p:cNvPr id="4" name="Straight Connector 3"/>
          <p:cNvCxnSpPr/>
          <p:nvPr/>
        </p:nvCxnSpPr>
        <p:spPr>
          <a:xfrm>
            <a:off x="8861196" y="1923068"/>
            <a:ext cx="37707" cy="4572000"/>
          </a:xfrm>
          <a:prstGeom prst="line">
            <a:avLst/>
          </a:prstGeom>
          <a:ln w="3810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794731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EA6C-7881-BC64-CEB1-4D354DD52E80}"/>
              </a:ext>
            </a:extLst>
          </p:cNvPr>
          <p:cNvSpPr>
            <a:spLocks noGrp="1"/>
          </p:cNvSpPr>
          <p:nvPr>
            <p:ph type="title"/>
          </p:nvPr>
        </p:nvSpPr>
        <p:spPr/>
        <p:txBody>
          <a:bodyPr/>
          <a:lstStyle/>
          <a:p>
            <a:r>
              <a:rPr lang="en-IN" sz="2800" u="sng" dirty="0">
                <a:solidFill>
                  <a:srgbClr val="C00000"/>
                </a:solidFill>
                <a:effectLst>
                  <a:outerShdw blurRad="38100" dist="38100" dir="2700000" algn="tl">
                    <a:srgbClr val="000000">
                      <a:alpha val="43137"/>
                    </a:srgbClr>
                  </a:outerShdw>
                </a:effectLst>
                <a:latin typeface="Cambria" panose="02040503050406030204" pitchFamily="18" charset="0"/>
              </a:rPr>
              <a:t>Section 10(13A): House Rent Allowance(HRA)</a:t>
            </a:r>
            <a:br>
              <a:rPr lang="en-IN" sz="2800" dirty="0">
                <a:solidFill>
                  <a:srgbClr val="C00000"/>
                </a:solidFill>
              </a:rPr>
            </a:br>
            <a:endParaRPr lang="en-IN" sz="2800" dirty="0"/>
          </a:p>
        </p:txBody>
      </p:sp>
      <p:sp>
        <p:nvSpPr>
          <p:cNvPr id="6" name="Slide Number Placeholder 5">
            <a:extLst>
              <a:ext uri="{FF2B5EF4-FFF2-40B4-BE49-F238E27FC236}">
                <a16:creationId xmlns:a16="http://schemas.microsoft.com/office/drawing/2014/main" id="{4D3F6618-8874-A07A-ADEE-672FFC6A29AC}"/>
              </a:ext>
            </a:extLst>
          </p:cNvPr>
          <p:cNvSpPr>
            <a:spLocks noGrp="1"/>
          </p:cNvSpPr>
          <p:nvPr>
            <p:ph type="sldNum" sz="quarter" idx="12"/>
          </p:nvPr>
        </p:nvSpPr>
        <p:spPr/>
        <p:txBody>
          <a:bodyPr/>
          <a:lstStyle/>
          <a:p>
            <a:fld id="{94013DF8-6EF8-4A98-8821-E6468C17C0C3}" type="slidenum">
              <a:rPr lang="en-IN" smtClean="0"/>
              <a:t>16</a:t>
            </a:fld>
            <a:endParaRPr lang="en-IN"/>
          </a:p>
        </p:txBody>
      </p:sp>
      <p:graphicFrame>
        <p:nvGraphicFramePr>
          <p:cNvPr id="7" name="Table 6">
            <a:extLst>
              <a:ext uri="{FF2B5EF4-FFF2-40B4-BE49-F238E27FC236}">
                <a16:creationId xmlns:a16="http://schemas.microsoft.com/office/drawing/2014/main" id="{2E69356E-82E8-1C3D-376C-99670BBA5FF6}"/>
              </a:ext>
            </a:extLst>
          </p:cNvPr>
          <p:cNvGraphicFramePr>
            <a:graphicFrameLocks noGrp="1"/>
          </p:cNvGraphicFramePr>
          <p:nvPr>
            <p:extLst>
              <p:ext uri="{D42A27DB-BD31-4B8C-83A1-F6EECF244321}">
                <p14:modId xmlns:p14="http://schemas.microsoft.com/office/powerpoint/2010/main" val="3119873814"/>
              </p:ext>
            </p:extLst>
          </p:nvPr>
        </p:nvGraphicFramePr>
        <p:xfrm>
          <a:off x="568038" y="1101212"/>
          <a:ext cx="10622701" cy="4770850"/>
        </p:xfrm>
        <a:graphic>
          <a:graphicData uri="http://schemas.openxmlformats.org/drawingml/2006/table">
            <a:tbl>
              <a:tblPr/>
              <a:tblGrid>
                <a:gridCol w="4871697">
                  <a:extLst>
                    <a:ext uri="{9D8B030D-6E8A-4147-A177-3AD203B41FA5}">
                      <a16:colId xmlns:a16="http://schemas.microsoft.com/office/drawing/2014/main" val="4195446719"/>
                    </a:ext>
                  </a:extLst>
                </a:gridCol>
                <a:gridCol w="3024103">
                  <a:extLst>
                    <a:ext uri="{9D8B030D-6E8A-4147-A177-3AD203B41FA5}">
                      <a16:colId xmlns:a16="http://schemas.microsoft.com/office/drawing/2014/main" val="1760983539"/>
                    </a:ext>
                  </a:extLst>
                </a:gridCol>
                <a:gridCol w="2122882">
                  <a:extLst>
                    <a:ext uri="{9D8B030D-6E8A-4147-A177-3AD203B41FA5}">
                      <a16:colId xmlns:a16="http://schemas.microsoft.com/office/drawing/2014/main" val="1047752708"/>
                    </a:ext>
                  </a:extLst>
                </a:gridCol>
                <a:gridCol w="604019">
                  <a:extLst>
                    <a:ext uri="{9D8B030D-6E8A-4147-A177-3AD203B41FA5}">
                      <a16:colId xmlns:a16="http://schemas.microsoft.com/office/drawing/2014/main" val="3330869156"/>
                    </a:ext>
                  </a:extLst>
                </a:gridCol>
              </a:tblGrid>
              <a:tr h="325745">
                <a:tc>
                  <a:txBody>
                    <a:bodyPr/>
                    <a:lstStyle/>
                    <a:p>
                      <a:pPr algn="l" fontAlgn="b"/>
                      <a:r>
                        <a:rPr lang="en-IN" sz="1800" b="0" i="0" u="none" strike="noStrike" dirty="0">
                          <a:solidFill>
                            <a:srgbClr val="000000"/>
                          </a:solidFill>
                          <a:effectLst/>
                          <a:latin typeface="Cambria" panose="02040503050406030204" pitchFamily="18" charset="0"/>
                        </a:rPr>
                        <a:t>BASIC</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30,000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IN" sz="1600" b="0" i="0" u="none" strike="noStrike">
                          <a:solidFill>
                            <a:srgbClr val="000000"/>
                          </a:solidFill>
                          <a:effectLst/>
                          <a:latin typeface="Cambria" panose="02040503050406030204" pitchFamily="18" charset="0"/>
                        </a:rPr>
                        <a:t>PF</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600" b="0" i="0" u="none" strike="noStrike" dirty="0">
                          <a:solidFill>
                            <a:srgbClr val="000000"/>
                          </a:solidFill>
                          <a:effectLst/>
                          <a:latin typeface="Cambria" panose="02040503050406030204" pitchFamily="18" charset="0"/>
                        </a:rPr>
                        <a:t>2,000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23733770"/>
                  </a:ext>
                </a:extLst>
              </a:tr>
              <a:tr h="325745">
                <a:tc>
                  <a:txBody>
                    <a:bodyPr/>
                    <a:lstStyle/>
                    <a:p>
                      <a:pPr algn="l" fontAlgn="b"/>
                      <a:r>
                        <a:rPr lang="en-IN" sz="1800" b="0" i="0" u="none" strike="noStrike" dirty="0">
                          <a:solidFill>
                            <a:srgbClr val="000000"/>
                          </a:solidFill>
                          <a:effectLst/>
                          <a:latin typeface="Cambria" panose="02040503050406030204" pitchFamily="18" charset="0"/>
                        </a:rPr>
                        <a:t>HRA</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13,000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IN" sz="1600" b="0" i="0" u="none" strike="noStrike" dirty="0">
                          <a:solidFill>
                            <a:srgbClr val="000000"/>
                          </a:solidFill>
                          <a:effectLst/>
                          <a:latin typeface="Cambria" panose="02040503050406030204" pitchFamily="18" charset="0"/>
                        </a:rPr>
                        <a:t>Professional Tax</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600" b="0" i="0" u="none" strike="noStrike">
                          <a:solidFill>
                            <a:srgbClr val="000000"/>
                          </a:solidFill>
                          <a:effectLst/>
                          <a:latin typeface="Cambria" panose="02040503050406030204" pitchFamily="18" charset="0"/>
                        </a:rPr>
                        <a:t>200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55339337"/>
                  </a:ext>
                </a:extLst>
              </a:tr>
              <a:tr h="325745">
                <a:tc>
                  <a:txBody>
                    <a:bodyPr/>
                    <a:lstStyle/>
                    <a:p>
                      <a:pPr algn="l" fontAlgn="b"/>
                      <a:r>
                        <a:rPr lang="en-IN" sz="1800" b="0" i="0" u="none" strike="noStrike" dirty="0">
                          <a:solidFill>
                            <a:srgbClr val="000000"/>
                          </a:solidFill>
                          <a:effectLst/>
                          <a:latin typeface="Cambria" panose="02040503050406030204" pitchFamily="18" charset="0"/>
                        </a:rPr>
                        <a:t>CONVEYANCE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2,000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14575599"/>
                  </a:ext>
                </a:extLst>
              </a:tr>
              <a:tr h="325745">
                <a:tc>
                  <a:txBody>
                    <a:bodyPr/>
                    <a:lstStyle/>
                    <a:p>
                      <a:pPr algn="l" fontAlgn="b"/>
                      <a:r>
                        <a:rPr lang="en-IN" sz="1800" b="0" i="0" u="none" strike="noStrike" dirty="0">
                          <a:solidFill>
                            <a:srgbClr val="000000"/>
                          </a:solidFill>
                          <a:effectLst/>
                          <a:latin typeface="Cambria" panose="02040503050406030204" pitchFamily="18" charset="0"/>
                        </a:rPr>
                        <a:t>SPECIAL ALLOWANCE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3,000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2935617832"/>
                  </a:ext>
                </a:extLst>
              </a:tr>
              <a:tr h="325745">
                <a:tc>
                  <a:txBody>
                    <a:bodyPr/>
                    <a:lstStyle/>
                    <a:p>
                      <a:pPr algn="l" fontAlgn="b"/>
                      <a:r>
                        <a:rPr lang="en-IN" sz="1800" b="0" i="0" u="none" strike="noStrike" dirty="0">
                          <a:solidFill>
                            <a:srgbClr val="000000"/>
                          </a:solidFill>
                          <a:effectLst/>
                          <a:latin typeface="Cambria" panose="02040503050406030204" pitchFamily="18" charset="0"/>
                        </a:rPr>
                        <a:t>MEDICAL ALLOWANCE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1,250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3631458018"/>
                  </a:ext>
                </a:extLst>
              </a:tr>
              <a:tr h="325745">
                <a:tc>
                  <a:txBody>
                    <a:bodyPr/>
                    <a:lstStyle/>
                    <a:p>
                      <a:pPr algn="l" fontAlgn="b"/>
                      <a:r>
                        <a:rPr lang="en-IN" sz="1800" b="0" i="0" u="none" strike="noStrike" dirty="0">
                          <a:solidFill>
                            <a:srgbClr val="000000"/>
                          </a:solidFill>
                          <a:effectLst/>
                          <a:latin typeface="Cambria" panose="02040503050406030204" pitchFamily="18" charset="0"/>
                        </a:rPr>
                        <a:t>LTA</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5,000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1642181118"/>
                  </a:ext>
                </a:extLst>
              </a:tr>
              <a:tr h="355210">
                <a:tc>
                  <a:txBody>
                    <a:bodyPr/>
                    <a:lstStyle/>
                    <a:p>
                      <a:pPr algn="l" fontAlgn="b"/>
                      <a:r>
                        <a:rPr lang="en-IN" sz="1800" b="1" i="0" u="none" strike="noStrike" dirty="0">
                          <a:solidFill>
                            <a:srgbClr val="000000"/>
                          </a:solidFill>
                          <a:effectLst/>
                          <a:latin typeface="Cambria" panose="02040503050406030204" pitchFamily="18" charset="0"/>
                        </a:rPr>
                        <a:t>Total Earnings</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D3EBF3"/>
                    </a:solidFill>
                  </a:tcPr>
                </a:tc>
                <a:tc>
                  <a:txBody>
                    <a:bodyPr/>
                    <a:lstStyle/>
                    <a:p>
                      <a:pPr algn="r" fontAlgn="b"/>
                      <a:r>
                        <a:rPr lang="en-IN" sz="1800" b="1" i="0" u="none" strike="noStrike">
                          <a:solidFill>
                            <a:srgbClr val="000000"/>
                          </a:solidFill>
                          <a:effectLst/>
                          <a:latin typeface="Cambria" panose="02040503050406030204" pitchFamily="18" charset="0"/>
                        </a:rPr>
                        <a:t>54,250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D3EBF3"/>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589604724"/>
                  </a:ext>
                </a:extLst>
              </a:tr>
              <a:tr h="244727">
                <a:tc>
                  <a:txBody>
                    <a:bodyPr/>
                    <a:lstStyle/>
                    <a:p>
                      <a:pPr algn="l" fontAlgn="b"/>
                      <a:r>
                        <a:rPr lang="en-IN" sz="2000" b="0" i="0" u="none" strike="noStrike" dirty="0">
                          <a:solidFill>
                            <a:srgbClr val="000000"/>
                          </a:solidFill>
                          <a:effectLst/>
                          <a:latin typeface="Cambria" panose="02040503050406030204" pitchFamily="18" charset="0"/>
                        </a:rPr>
                        <a:t>Basic Salary (no commission &amp; DA)</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30,000*12 =3,60,000/-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3786098560"/>
                  </a:ext>
                </a:extLst>
              </a:tr>
              <a:tr h="244727">
                <a:tc>
                  <a:txBody>
                    <a:bodyPr/>
                    <a:lstStyle/>
                    <a:p>
                      <a:pPr algn="l" fontAlgn="b"/>
                      <a:r>
                        <a:rPr lang="en-IN" sz="2000" b="0" i="0" u="none" strike="noStrike" dirty="0">
                          <a:solidFill>
                            <a:srgbClr val="000000"/>
                          </a:solidFill>
                          <a:effectLst/>
                          <a:latin typeface="Cambria" panose="02040503050406030204" pitchFamily="18" charset="0"/>
                        </a:rPr>
                        <a:t>10% of Basic Salary</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3,60,000*10% =36,000/-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3188104722"/>
                  </a:ext>
                </a:extLst>
              </a:tr>
              <a:tr h="244727">
                <a:tc>
                  <a:txBody>
                    <a:bodyPr/>
                    <a:lstStyle/>
                    <a:p>
                      <a:pPr algn="l" fontAlgn="b"/>
                      <a:r>
                        <a:rPr lang="en-IN" sz="2000" b="0" i="0" u="none" strike="noStrike" dirty="0">
                          <a:solidFill>
                            <a:srgbClr val="FF0000"/>
                          </a:solidFill>
                          <a:effectLst/>
                          <a:latin typeface="Cambria" panose="02040503050406030204" pitchFamily="18" charset="0"/>
                        </a:rPr>
                        <a:t>Rent Paid per month</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10,000/-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698833479"/>
                  </a:ext>
                </a:extLst>
              </a:tr>
              <a:tr h="244727">
                <a:tc>
                  <a:txBody>
                    <a:bodyPr/>
                    <a:lstStyle/>
                    <a:p>
                      <a:pPr algn="l" fontAlgn="b"/>
                      <a:r>
                        <a:rPr lang="en-IN" sz="2000" b="1" i="0" u="none" strike="noStrike" dirty="0">
                          <a:solidFill>
                            <a:srgbClr val="FFFFFF"/>
                          </a:solidFill>
                          <a:effectLst/>
                          <a:latin typeface="Cambria" panose="02040503050406030204" pitchFamily="18" charset="0"/>
                        </a:rPr>
                        <a:t>Particulars</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r>
                        <a:rPr lang="en-IN" sz="2000" b="1" i="0" u="none" strike="noStrike" dirty="0">
                          <a:solidFill>
                            <a:srgbClr val="FFFFFF"/>
                          </a:solidFill>
                          <a:effectLst/>
                          <a:latin typeface="Cambria" panose="02040503050406030204" pitchFamily="18" charset="0"/>
                        </a:rPr>
                        <a:t>Calculation</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r>
                        <a:rPr lang="en-IN" sz="2000" b="1" i="0" u="none" strike="noStrike">
                          <a:solidFill>
                            <a:srgbClr val="FFFFFF"/>
                          </a:solidFill>
                          <a:effectLst/>
                          <a:latin typeface="Cambria" panose="02040503050406030204" pitchFamily="18" charset="0"/>
                        </a:rPr>
                        <a:t>Amount(INR)</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156780744"/>
                  </a:ext>
                </a:extLst>
              </a:tr>
              <a:tr h="244727">
                <a:tc>
                  <a:txBody>
                    <a:bodyPr/>
                    <a:lstStyle/>
                    <a:p>
                      <a:pPr algn="l" fontAlgn="b"/>
                      <a:r>
                        <a:rPr lang="en-IN" sz="2000" b="0" i="0" u="none" strike="noStrike" dirty="0">
                          <a:solidFill>
                            <a:srgbClr val="000000"/>
                          </a:solidFill>
                          <a:effectLst/>
                          <a:latin typeface="Cambria" panose="02040503050406030204" pitchFamily="18" charset="0"/>
                        </a:rPr>
                        <a:t>a)Actual HRA Received</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13,000*12</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1,56,000/-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144572318"/>
                  </a:ext>
                </a:extLst>
              </a:tr>
              <a:tr h="244727">
                <a:tc>
                  <a:txBody>
                    <a:bodyPr/>
                    <a:lstStyle/>
                    <a:p>
                      <a:pPr algn="l" fontAlgn="b"/>
                      <a:r>
                        <a:rPr lang="en-IN" sz="2000" b="0" i="0" u="none" strike="noStrike" dirty="0">
                          <a:solidFill>
                            <a:srgbClr val="000000"/>
                          </a:solidFill>
                          <a:effectLst/>
                          <a:latin typeface="Cambria" panose="02040503050406030204" pitchFamily="18" charset="0"/>
                        </a:rPr>
                        <a:t>b) 50% of Basic Salary (Mumbai region)</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3,60,000*50%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1,80,000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405481228"/>
                  </a:ext>
                </a:extLst>
              </a:tr>
              <a:tr h="244727">
                <a:tc>
                  <a:txBody>
                    <a:bodyPr/>
                    <a:lstStyle/>
                    <a:p>
                      <a:pPr algn="l" fontAlgn="b"/>
                      <a:r>
                        <a:rPr lang="en-US" sz="2000" b="0" i="0" u="none" strike="noStrike" dirty="0">
                          <a:solidFill>
                            <a:srgbClr val="000000"/>
                          </a:solidFill>
                          <a:effectLst/>
                          <a:latin typeface="Cambria" panose="02040503050406030204" pitchFamily="18" charset="0"/>
                        </a:rPr>
                        <a:t>c)Rent paid (-)10% of basic salary</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mbria" panose="02040503050406030204" pitchFamily="18" charset="0"/>
                        </a:rPr>
                        <a:t>(10,000*12)-36,000/-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a:t>
                      </a:r>
                      <a:r>
                        <a:rPr lang="en-IN" sz="2000" b="1" i="0" u="none" strike="noStrike" dirty="0">
                          <a:solidFill>
                            <a:srgbClr val="FF0000"/>
                          </a:solidFill>
                          <a:effectLst/>
                          <a:latin typeface="Cambria" panose="02040503050406030204" pitchFamily="18" charset="0"/>
                        </a:rPr>
                        <a:t>84,000/-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dirty="0">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342550775"/>
                  </a:ext>
                </a:extLst>
              </a:tr>
            </a:tbl>
          </a:graphicData>
        </a:graphic>
      </p:graphicFrame>
      <p:pic>
        <p:nvPicPr>
          <p:cNvPr id="8" name="Picture 6" descr="Image result for income from house property">
            <a:extLst>
              <a:ext uri="{FF2B5EF4-FFF2-40B4-BE49-F238E27FC236}">
                <a16:creationId xmlns:a16="http://schemas.microsoft.com/office/drawing/2014/main" id="{2F610F36-E179-4DDD-7DE4-04C35068E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414"/>
          <a:stretch/>
        </p:blipFill>
        <p:spPr bwMode="auto">
          <a:xfrm>
            <a:off x="10415308" y="5909858"/>
            <a:ext cx="1771370" cy="898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043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t>Standard deduction (</a:t>
            </a:r>
            <a:r>
              <a:rPr lang="en-US" sz="2400" dirty="0">
                <a:solidFill>
                  <a:srgbClr val="FF0000"/>
                </a:solidFill>
              </a:rPr>
              <a:t>Old Regime </a:t>
            </a:r>
            <a:r>
              <a:rPr lang="en-US" sz="2400" dirty="0"/>
              <a:t>- Rs 50,000 &amp; </a:t>
            </a:r>
            <a:r>
              <a:rPr lang="en-US" sz="2400" dirty="0">
                <a:solidFill>
                  <a:srgbClr val="FF0000"/>
                </a:solidFill>
              </a:rPr>
              <a:t>New Regime </a:t>
            </a:r>
            <a:r>
              <a:rPr lang="en-US" sz="2400" dirty="0"/>
              <a:t>- Rs 75,000)</a:t>
            </a:r>
          </a:p>
          <a:p>
            <a:pPr algn="just"/>
            <a:r>
              <a:rPr lang="en-US" sz="2400" dirty="0"/>
              <a:t>Income Tax Deduction under </a:t>
            </a:r>
            <a:r>
              <a:rPr lang="en-US" sz="2400" dirty="0">
                <a:solidFill>
                  <a:srgbClr val="FF0000"/>
                </a:solidFill>
              </a:rPr>
              <a:t>Section 80C </a:t>
            </a:r>
            <a:r>
              <a:rPr lang="en-US" sz="2400" dirty="0" err="1">
                <a:solidFill>
                  <a:srgbClr val="0070C0"/>
                </a:solidFill>
              </a:rPr>
              <a:t>upto</a:t>
            </a:r>
            <a:r>
              <a:rPr lang="en-US" sz="2400" dirty="0">
                <a:solidFill>
                  <a:srgbClr val="0070C0"/>
                </a:solidFill>
              </a:rPr>
              <a:t> Rs. 1.5 Lakhs </a:t>
            </a:r>
            <a:r>
              <a:rPr lang="en-US" sz="2400" dirty="0"/>
              <a:t>(includes Life insurance, Public Provident Fund, Employee Provident Fund, Equity Linked Savings Scheme, Tuition fees, Home loan repayment (Principal amount), National Savings Certificate, National Pension Schemes, Sukanya Samriddhi Yojana, Tax saving bank deposits and post office deposits, Post Office Senior Citizens Savings Scheme)</a:t>
            </a:r>
          </a:p>
          <a:p>
            <a:pPr marL="252000" indent="-252000" algn="just">
              <a:lnSpc>
                <a:spcPct val="130000"/>
              </a:lnSpc>
              <a:buFont typeface="Wingdings" panose="05000000000000000000" pitchFamily="2" charset="2"/>
              <a:buChar char="§"/>
            </a:pPr>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83293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644525" y="1763714"/>
            <a:ext cx="11113365" cy="4484686"/>
          </a:xfrm>
        </p:spPr>
        <p:txBody>
          <a:bodyPr>
            <a:normAutofit lnSpcReduction="10000"/>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b="1" i="1" dirty="0">
                <a:solidFill>
                  <a:srgbClr val="7030A0"/>
                </a:solidFill>
              </a:rPr>
              <a:t>Subsections of Section 80C</a:t>
            </a:r>
          </a:p>
          <a:p>
            <a:pPr algn="just"/>
            <a:r>
              <a:rPr lang="en-US" sz="2400" dirty="0">
                <a:solidFill>
                  <a:srgbClr val="FF0000"/>
                </a:solidFill>
              </a:rPr>
              <a:t>Section 80CCC </a:t>
            </a:r>
            <a:r>
              <a:rPr lang="en-US" sz="2400" dirty="0"/>
              <a:t>- Tax deduction to investments made in annuity plans of </a:t>
            </a:r>
            <a:r>
              <a:rPr lang="en-US" sz="2400" dirty="0">
                <a:solidFill>
                  <a:srgbClr val="FF0000"/>
                </a:solidFill>
              </a:rPr>
              <a:t>life insurance companies</a:t>
            </a:r>
            <a:r>
              <a:rPr lang="en-US" sz="2400" dirty="0"/>
              <a:t>.</a:t>
            </a:r>
          </a:p>
          <a:p>
            <a:pPr algn="just"/>
            <a:r>
              <a:rPr lang="en-US" sz="2400" dirty="0">
                <a:solidFill>
                  <a:srgbClr val="FF0000"/>
                </a:solidFill>
              </a:rPr>
              <a:t>Section 80CCD </a:t>
            </a:r>
            <a:r>
              <a:rPr lang="en-US" sz="2400" dirty="0"/>
              <a:t>- Tax deduction for investments made in government-based pension schemes such as the </a:t>
            </a:r>
            <a:r>
              <a:rPr lang="en-US" sz="2400" b="1" dirty="0">
                <a:solidFill>
                  <a:srgbClr val="7030A0"/>
                </a:solidFill>
              </a:rPr>
              <a:t>National Pension Scheme</a:t>
            </a:r>
            <a:r>
              <a:rPr lang="en-US" sz="2400" dirty="0"/>
              <a:t>.</a:t>
            </a:r>
          </a:p>
          <a:p>
            <a:pPr algn="just"/>
            <a:r>
              <a:rPr lang="en-US" sz="2400" dirty="0">
                <a:solidFill>
                  <a:srgbClr val="FF0000"/>
                </a:solidFill>
              </a:rPr>
              <a:t>Section 80CCF </a:t>
            </a:r>
            <a:r>
              <a:rPr lang="en-US" sz="2400" dirty="0"/>
              <a:t>- Tax deduction for investments made in </a:t>
            </a:r>
            <a:r>
              <a:rPr lang="en-US" sz="2400" dirty="0">
                <a:solidFill>
                  <a:srgbClr val="FF0000"/>
                </a:solidFill>
              </a:rPr>
              <a:t>long-term government infrastructure bonds</a:t>
            </a:r>
            <a:r>
              <a:rPr lang="en-US" sz="2400" dirty="0"/>
              <a:t>.</a:t>
            </a:r>
          </a:p>
          <a:p>
            <a:pPr algn="just"/>
            <a:r>
              <a:rPr lang="en-US" sz="2400" dirty="0">
                <a:solidFill>
                  <a:srgbClr val="FF0000"/>
                </a:solidFill>
              </a:rPr>
              <a:t>Section 80CCG </a:t>
            </a:r>
            <a:r>
              <a:rPr lang="en-US" sz="2400" dirty="0"/>
              <a:t>- Tax deduction for the investments made in </a:t>
            </a:r>
            <a:r>
              <a:rPr lang="en-US" sz="2400" dirty="0">
                <a:solidFill>
                  <a:srgbClr val="FF0000"/>
                </a:solidFill>
              </a:rPr>
              <a:t>equity savings schemes </a:t>
            </a:r>
            <a:r>
              <a:rPr lang="en-US" sz="2400" dirty="0"/>
              <a:t>approved by the government.</a:t>
            </a:r>
          </a:p>
          <a:p>
            <a:pPr algn="just"/>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12851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644525" y="1763714"/>
            <a:ext cx="11113365" cy="4484686"/>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b="1" i="1" dirty="0">
                <a:solidFill>
                  <a:srgbClr val="7030A0"/>
                </a:solidFill>
              </a:rPr>
              <a:t>Section 80CCD is further divided into Section 80CCD(1) and Section 80CCD(2)</a:t>
            </a:r>
          </a:p>
          <a:p>
            <a:pPr algn="just"/>
            <a:r>
              <a:rPr lang="en-US" dirty="0"/>
              <a:t>Under Section </a:t>
            </a:r>
            <a:r>
              <a:rPr lang="en-US" dirty="0">
                <a:solidFill>
                  <a:srgbClr val="FF0000"/>
                </a:solidFill>
              </a:rPr>
              <a:t>80CCD(1)</a:t>
            </a:r>
            <a:r>
              <a:rPr lang="en-US" dirty="0"/>
              <a:t>, the allowable tax deduction is 10% of an individual's salary or gross income and 20% of the total gross income for </a:t>
            </a:r>
            <a:r>
              <a:rPr lang="en-US" dirty="0">
                <a:solidFill>
                  <a:srgbClr val="FF0000"/>
                </a:solidFill>
              </a:rPr>
              <a:t>self-employed individuals</a:t>
            </a:r>
            <a:r>
              <a:rPr lang="en-US" dirty="0"/>
              <a:t>. </a:t>
            </a:r>
          </a:p>
          <a:p>
            <a:pPr algn="just"/>
            <a:r>
              <a:rPr lang="en-US" dirty="0"/>
              <a:t>A new amendment is made to this Section introducing Section </a:t>
            </a:r>
            <a:r>
              <a:rPr lang="en-US" dirty="0">
                <a:solidFill>
                  <a:srgbClr val="FF0000"/>
                </a:solidFill>
              </a:rPr>
              <a:t>80CCD(1B)</a:t>
            </a:r>
            <a:r>
              <a:rPr lang="en-US" dirty="0"/>
              <a:t>, allowing for a further </a:t>
            </a:r>
            <a:r>
              <a:rPr lang="en-US" dirty="0">
                <a:solidFill>
                  <a:srgbClr val="FF0000"/>
                </a:solidFill>
              </a:rPr>
              <a:t>deduction of up to ₹50,000</a:t>
            </a:r>
            <a:r>
              <a:rPr lang="en-US" dirty="0"/>
              <a:t>. </a:t>
            </a:r>
          </a:p>
          <a:p>
            <a:pPr algn="just"/>
            <a:r>
              <a:rPr lang="en-US" dirty="0"/>
              <a:t>Therefore, the </a:t>
            </a:r>
            <a:r>
              <a:rPr lang="en-US" dirty="0">
                <a:solidFill>
                  <a:srgbClr val="FF0000"/>
                </a:solidFill>
              </a:rPr>
              <a:t>total deduction applicable under Section 80C</a:t>
            </a:r>
            <a:r>
              <a:rPr lang="en-US" dirty="0"/>
              <a:t>, Section 80CCD(1) is ₹1,50,000 and an additional deduction of </a:t>
            </a:r>
            <a:r>
              <a:rPr lang="en-US" dirty="0" err="1"/>
              <a:t>upto</a:t>
            </a:r>
            <a:r>
              <a:rPr lang="en-US" dirty="0"/>
              <a:t> ₹50,000 under </a:t>
            </a:r>
            <a:r>
              <a:rPr lang="en-US" dirty="0">
                <a:solidFill>
                  <a:srgbClr val="0070C0"/>
                </a:solidFill>
              </a:rPr>
              <a:t>Section 80CCD(1B).</a:t>
            </a:r>
          </a:p>
          <a:p>
            <a:pPr algn="just"/>
            <a:r>
              <a:rPr lang="en-US" dirty="0"/>
              <a:t>Under Section </a:t>
            </a:r>
            <a:r>
              <a:rPr lang="en-US" dirty="0">
                <a:solidFill>
                  <a:srgbClr val="FF0000"/>
                </a:solidFill>
              </a:rPr>
              <a:t>80CCD(2)</a:t>
            </a:r>
            <a:r>
              <a:rPr lang="en-US" dirty="0"/>
              <a:t>, salaried individuals can additionally claim the amount contributed by the employer to the pension scheme or 10% of their salary. </a:t>
            </a:r>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19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475989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80D </a:t>
            </a:r>
            <a:r>
              <a:rPr lang="en-US" sz="2400" dirty="0"/>
              <a:t>provides a tax deduction for the amount paid as </a:t>
            </a:r>
            <a:r>
              <a:rPr lang="en-US" sz="2400" dirty="0">
                <a:solidFill>
                  <a:srgbClr val="7030A0"/>
                </a:solidFill>
              </a:rPr>
              <a:t>premiums for health insurance plans</a:t>
            </a:r>
            <a:r>
              <a:rPr lang="en-US" sz="2400" dirty="0"/>
              <a:t>. It can be for the health insurance plans for self, spouse, children and dependent parents. (The allowable tax deduction is ₹25,000 for self or family and ₹50,000 if you are a senior citizen, ₹50,000 for senior citizen parents)</a:t>
            </a:r>
          </a:p>
          <a:p>
            <a:pPr algn="just"/>
            <a:endParaRPr lang="en-US" sz="2400" dirty="0"/>
          </a:p>
          <a:p>
            <a:pPr algn="just"/>
            <a:r>
              <a:rPr lang="en-US" sz="2400" dirty="0">
                <a:solidFill>
                  <a:srgbClr val="FF0000"/>
                </a:solidFill>
              </a:rPr>
              <a:t>Section 80DD </a:t>
            </a:r>
            <a:r>
              <a:rPr lang="en-US" sz="2400" dirty="0"/>
              <a:t>provides deduction to </a:t>
            </a:r>
            <a:r>
              <a:rPr lang="en-US" sz="2400" dirty="0">
                <a:solidFill>
                  <a:srgbClr val="7030A0"/>
                </a:solidFill>
              </a:rPr>
              <a:t>families of disabled persons for the purpose of caring for a disabled dependent</a:t>
            </a:r>
            <a:r>
              <a:rPr lang="en-US" sz="2400" dirty="0"/>
              <a:t>. Deductions under Section-80DD can be claimed by families of disabled dependents and not the dependents themselves. (maximum deduction limit is Rs. 75,000 for medical expenses incurred on a dependent person with a disability. It can go as high as Rs. 1,25,000 for severe disability)</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184830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80DDB </a:t>
            </a:r>
            <a:r>
              <a:rPr lang="en-US" sz="2400" dirty="0"/>
              <a:t>provides for a deduction to Individuals for medical expenses incurred for the </a:t>
            </a:r>
            <a:r>
              <a:rPr lang="en-US" sz="2400" dirty="0">
                <a:solidFill>
                  <a:srgbClr val="7030A0"/>
                </a:solidFill>
              </a:rPr>
              <a:t>treatment of specified diseases or ailments</a:t>
            </a:r>
            <a:r>
              <a:rPr lang="en-US" sz="2400" dirty="0"/>
              <a:t>. Such expense is allowed as a deduction, subject to such conditions, and capped at such amount as specified. (The </a:t>
            </a:r>
            <a:r>
              <a:rPr lang="en-US" sz="2400" dirty="0">
                <a:solidFill>
                  <a:srgbClr val="FF0000"/>
                </a:solidFill>
              </a:rPr>
              <a:t>amount of the deduction depends on two factors </a:t>
            </a:r>
            <a:r>
              <a:rPr lang="en-US" sz="2400" dirty="0"/>
              <a:t>- the age of the patient and the actual amount of expenditure. The deduction is up to Rs. 40,000 or the actual amount paid (whichever is less) for patients under 60 years of age and Rs. 1 lakh or the actual amount (whichever is less) for patients above 60 years of age)</a:t>
            </a:r>
          </a:p>
          <a:p>
            <a:pPr algn="just"/>
            <a:r>
              <a:rPr lang="en-US" sz="2400" dirty="0">
                <a:latin typeface="Cambria" panose="02040503050406030204" pitchFamily="18" charset="0"/>
              </a:rPr>
              <a:t>List of diseases: Neurological Diseases, Malignant Cancers, Full blown Acquired </a:t>
            </a:r>
            <a:r>
              <a:rPr lang="en-US" sz="2400" dirty="0" err="1">
                <a:latin typeface="Cambria" panose="02040503050406030204" pitchFamily="18" charset="0"/>
              </a:rPr>
              <a:t>Immuno</a:t>
            </a:r>
            <a:r>
              <a:rPr lang="en-US" sz="2400" dirty="0">
                <a:latin typeface="Cambria" panose="02040503050406030204" pitchFamily="18" charset="0"/>
              </a:rPr>
              <a:t> Deficiency Syndrome, Chronic Renal Failure, Hematological Disorders.</a:t>
            </a: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323702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80E </a:t>
            </a:r>
            <a:r>
              <a:rPr lang="en-US" sz="2400" dirty="0"/>
              <a:t>allows you to claim a deduction for the </a:t>
            </a:r>
            <a:r>
              <a:rPr lang="en-US" sz="2400" dirty="0">
                <a:solidFill>
                  <a:srgbClr val="FF0000"/>
                </a:solidFill>
              </a:rPr>
              <a:t>education loan </a:t>
            </a:r>
            <a:r>
              <a:rPr lang="en-US" sz="2400" dirty="0"/>
              <a:t>taken from any financial institution or approved charitable institution. There is no maximum limit specified under Section 80E of the Income Tax Act for the deduction on the interest paid on education loans. The deduction is allowed for the actual interest amount paid.</a:t>
            </a:r>
          </a:p>
          <a:p>
            <a:pPr algn="just"/>
            <a:endParaRPr lang="en-US" sz="2400" dirty="0"/>
          </a:p>
          <a:p>
            <a:pPr algn="just"/>
            <a:r>
              <a:rPr lang="en-US" sz="2400" dirty="0">
                <a:solidFill>
                  <a:srgbClr val="FF0000"/>
                </a:solidFill>
              </a:rPr>
              <a:t>Section 80EE </a:t>
            </a:r>
            <a:r>
              <a:rPr lang="en-US" sz="2400" dirty="0"/>
              <a:t>of the Indian Income Tax law allows </a:t>
            </a:r>
            <a:r>
              <a:rPr lang="en-US" sz="2400" dirty="0">
                <a:solidFill>
                  <a:srgbClr val="FF0000"/>
                </a:solidFill>
              </a:rPr>
              <a:t>first-time home buyers </a:t>
            </a:r>
            <a:r>
              <a:rPr lang="en-US" sz="2400" dirty="0"/>
              <a:t>to get tax deductions on the interest they need to pay on a Home Loan. You can claim a deduction of up to ₹50,000 per financial year as per this section. You can continue to claim this deduction until you have fully repaid the loan.</a:t>
            </a:r>
          </a:p>
          <a:p>
            <a:pPr algn="just"/>
            <a:endParaRPr lang="en-US" sz="2200" dirty="0">
              <a:solidFill>
                <a:srgbClr val="FF0000"/>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1900146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80EEB </a:t>
            </a:r>
            <a:r>
              <a:rPr lang="en-US" sz="2400" dirty="0"/>
              <a:t>of the Income Tax Act allows you to claim tax savings of up to Rs. 1.5 lakh on interest paid on a loan made specifically to purchase an </a:t>
            </a:r>
            <a:r>
              <a:rPr lang="en-US" sz="2400" dirty="0">
                <a:solidFill>
                  <a:srgbClr val="FF0000"/>
                </a:solidFill>
              </a:rPr>
              <a:t>electric car</a:t>
            </a:r>
            <a:r>
              <a:rPr lang="en-US" sz="2400" dirty="0"/>
              <a:t>. </a:t>
            </a:r>
          </a:p>
          <a:p>
            <a:pPr algn="just"/>
            <a:r>
              <a:rPr lang="en-US" sz="2400" dirty="0"/>
              <a:t>The deduction under Section 80EEB is allowed on interest payments in all the subsequent years until the loan is fully paid. The deduction is only applicable for loans sanctioned between January 1, 2019, and March 31, 2023.</a:t>
            </a:r>
          </a:p>
          <a:p>
            <a:pPr algn="just"/>
            <a:endParaRPr lang="en-US" sz="2400" dirty="0"/>
          </a:p>
          <a:p>
            <a:pPr algn="just"/>
            <a:r>
              <a:rPr lang="en-US" sz="2400" dirty="0">
                <a:solidFill>
                  <a:srgbClr val="FF0000"/>
                </a:solidFill>
              </a:rPr>
              <a:t>Section 80G </a:t>
            </a:r>
            <a:r>
              <a:rPr lang="en-US" sz="2400" dirty="0"/>
              <a:t>offers income tax deduction to an assesse, who makes </a:t>
            </a:r>
            <a:r>
              <a:rPr lang="en-US" sz="2400" dirty="0">
                <a:solidFill>
                  <a:srgbClr val="FF0000"/>
                </a:solidFill>
              </a:rPr>
              <a:t>donations to charitable organizations</a:t>
            </a:r>
            <a:r>
              <a:rPr lang="en-US" sz="2400" dirty="0"/>
              <a:t>.</a:t>
            </a:r>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4224868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4606607"/>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24 </a:t>
            </a:r>
            <a:r>
              <a:rPr lang="en-US" sz="2400" dirty="0"/>
              <a:t>of the Income Tax Act lets homeowners claim a deduction of up to Rs. 2 lakhs on their </a:t>
            </a:r>
            <a:r>
              <a:rPr lang="en-US" sz="2400" dirty="0">
                <a:solidFill>
                  <a:srgbClr val="FF0000"/>
                </a:solidFill>
              </a:rPr>
              <a:t>home loan interest </a:t>
            </a:r>
            <a:r>
              <a:rPr lang="en-US" sz="2400" dirty="0"/>
              <a:t>if the owner or his family reside in the house property.</a:t>
            </a:r>
          </a:p>
          <a:p>
            <a:pPr algn="just"/>
            <a:endParaRPr lang="en-US" sz="2400" dirty="0"/>
          </a:p>
          <a:p>
            <a:pPr algn="just"/>
            <a:r>
              <a:rPr lang="en-US" sz="2400" dirty="0">
                <a:solidFill>
                  <a:srgbClr val="FF0000"/>
                </a:solidFill>
              </a:rPr>
              <a:t>Section 80TTA </a:t>
            </a:r>
            <a:r>
              <a:rPr lang="en-US" sz="2400" dirty="0"/>
              <a:t>offers a deduction of up to Rs 10,000 on </a:t>
            </a:r>
            <a:r>
              <a:rPr lang="en-US" sz="2400" dirty="0">
                <a:solidFill>
                  <a:srgbClr val="FF0000"/>
                </a:solidFill>
              </a:rPr>
              <a:t>income earned from savings account interest </a:t>
            </a:r>
            <a:r>
              <a:rPr lang="en-US" sz="2400" dirty="0"/>
              <a:t>made in a bank, co-operative society or post office.</a:t>
            </a:r>
          </a:p>
          <a:p>
            <a:pPr algn="just"/>
            <a:endParaRPr lang="en-US" sz="2400" dirty="0"/>
          </a:p>
          <a:p>
            <a:pPr algn="just"/>
            <a:r>
              <a:rPr lang="en-US" sz="2400" dirty="0">
                <a:solidFill>
                  <a:srgbClr val="FF0000"/>
                </a:solidFill>
              </a:rPr>
              <a:t>Section 80TTB </a:t>
            </a:r>
            <a:r>
              <a:rPr lang="en-US" sz="2400" dirty="0"/>
              <a:t>offers a deduction of up to Rs 50,000 on </a:t>
            </a:r>
            <a:r>
              <a:rPr lang="en-US" sz="2400" dirty="0">
                <a:solidFill>
                  <a:srgbClr val="FF0000"/>
                </a:solidFill>
              </a:rPr>
              <a:t>income earned from interest </a:t>
            </a:r>
            <a:r>
              <a:rPr lang="en-US" sz="2400" dirty="0"/>
              <a:t>on all kinds of deposits for </a:t>
            </a:r>
            <a:r>
              <a:rPr lang="en-US" sz="2400" dirty="0">
                <a:solidFill>
                  <a:srgbClr val="FF0000"/>
                </a:solidFill>
              </a:rPr>
              <a:t>senior citizens</a:t>
            </a:r>
            <a:r>
              <a:rPr lang="en-US" sz="2400" dirty="0"/>
              <a:t>.</a:t>
            </a:r>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518954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3200" b="1" dirty="0">
                <a:solidFill>
                  <a:schemeClr val="bg2">
                    <a:lumMod val="50000"/>
                  </a:schemeClr>
                </a:solidFill>
              </a:rPr>
              <a:t>NO DEDUCTIONS APPLICABLE UNDER NEW TAX REGIME (except standard deduction of Rs 75,000/-)</a:t>
            </a:r>
            <a:endParaRPr lang="en-IN" sz="3200" b="1" dirty="0">
              <a:solidFill>
                <a:schemeClr val="bg2">
                  <a:lumMod val="50000"/>
                </a:schemeClr>
              </a:solidFill>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952318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38125" cy="4484686"/>
          </a:xfrm>
        </p:spPr>
        <p:txBody>
          <a:bodyPr>
            <a:normAutofit/>
          </a:bodyPr>
          <a:lstStyle/>
          <a:p>
            <a:pPr marL="0" indent="0">
              <a:buNone/>
            </a:pPr>
            <a:r>
              <a:rPr lang="en-US" sz="2400" dirty="0">
                <a:solidFill>
                  <a:srgbClr val="FF0000"/>
                </a:solidFill>
              </a:rPr>
              <a:t>Section 17 </a:t>
            </a:r>
            <a:r>
              <a:rPr lang="en-US" sz="2400" dirty="0"/>
              <a:t>of the Act has mentioned the term ‘</a:t>
            </a:r>
            <a:r>
              <a:rPr lang="en-US" sz="2400" dirty="0">
                <a:solidFill>
                  <a:srgbClr val="FF0000"/>
                </a:solidFill>
              </a:rPr>
              <a:t>salary</a:t>
            </a:r>
            <a:r>
              <a:rPr lang="en-US" sz="2400" dirty="0"/>
              <a:t>’, which included-</a:t>
            </a:r>
          </a:p>
          <a:p>
            <a:r>
              <a:rPr lang="en-US" sz="2400" dirty="0"/>
              <a:t>Wages;</a:t>
            </a:r>
          </a:p>
          <a:p>
            <a:r>
              <a:rPr lang="en-US" sz="2400" dirty="0"/>
              <a:t>Any annuity or pension;</a:t>
            </a:r>
          </a:p>
          <a:p>
            <a:r>
              <a:rPr lang="en-US" sz="2400" dirty="0"/>
              <a:t>Any gratuity;</a:t>
            </a:r>
          </a:p>
          <a:p>
            <a:r>
              <a:rPr lang="en-US" sz="2400" dirty="0"/>
              <a:t>Any charges, commissions, perquisites or benefits in lieu of or notwithstanding any compensation or wages;</a:t>
            </a:r>
          </a:p>
          <a:p>
            <a:r>
              <a:rPr lang="en-US" sz="2400" dirty="0"/>
              <a:t>any advance of salary;</a:t>
            </a:r>
          </a:p>
          <a:p>
            <a:r>
              <a:rPr lang="en-US" sz="2400" dirty="0"/>
              <a:t>Any payment received by a worker in regard to any time of leave not availed by him;</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47978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4484686"/>
          </a:xfrm>
        </p:spPr>
        <p:txBody>
          <a:bodyPr>
            <a:noAutofit/>
          </a:bodyPr>
          <a:lstStyle/>
          <a:p>
            <a:pPr marL="0" indent="0" algn="just">
              <a:buNone/>
            </a:pPr>
            <a:r>
              <a:rPr lang="en-US" sz="2400" dirty="0">
                <a:solidFill>
                  <a:srgbClr val="FF0000"/>
                </a:solidFill>
              </a:rPr>
              <a:t>Section 17 </a:t>
            </a:r>
            <a:r>
              <a:rPr lang="en-US" sz="2400" dirty="0"/>
              <a:t>of the Act has mentioned the term ‘</a:t>
            </a:r>
            <a:r>
              <a:rPr lang="en-IN" sz="2400" dirty="0">
                <a:solidFill>
                  <a:srgbClr val="FF0000"/>
                </a:solidFill>
              </a:rPr>
              <a:t>perquisite</a:t>
            </a:r>
            <a:r>
              <a:rPr lang="en-US" sz="2400" dirty="0"/>
              <a:t>’ (something special like a privilege to which a person has a special right because of his social position), which included-</a:t>
            </a:r>
          </a:p>
          <a:p>
            <a:pPr marL="0" indent="0" algn="just">
              <a:buNone/>
            </a:pPr>
            <a:endParaRPr lang="en-US" sz="2400" dirty="0"/>
          </a:p>
          <a:p>
            <a:pPr algn="just"/>
            <a:r>
              <a:rPr lang="en-US" sz="2400" dirty="0"/>
              <a:t>In addition to their salary, the employees are often given some other benefits which may or may not be in cash form. For example, </a:t>
            </a:r>
            <a:r>
              <a:rPr lang="en-US" sz="2400" dirty="0">
                <a:solidFill>
                  <a:srgbClr val="0070C0"/>
                </a:solidFill>
              </a:rPr>
              <a:t>rent-free accommodation </a:t>
            </a:r>
            <a:r>
              <a:rPr lang="en-US" sz="2400" dirty="0">
                <a:solidFill>
                  <a:schemeClr val="bg1">
                    <a:lumMod val="50000"/>
                    <a:lumOff val="50000"/>
                  </a:schemeClr>
                </a:solidFill>
              </a:rPr>
              <a:t>or car </a:t>
            </a:r>
            <a:r>
              <a:rPr lang="en-US" sz="2400" dirty="0"/>
              <a:t>given by the employer to the employee.</a:t>
            </a:r>
          </a:p>
          <a:p>
            <a:pPr algn="just"/>
            <a:endParaRPr lang="en-US" sz="2400" dirty="0"/>
          </a:p>
          <a:p>
            <a:pPr algn="just"/>
            <a:r>
              <a:rPr lang="en-US" sz="2400" dirty="0"/>
              <a:t>Interest free loans, Movable assets, Educational expenses, Insurance premium paid on behalf of employees</a:t>
            </a:r>
          </a:p>
          <a:p>
            <a:pPr algn="just"/>
            <a:endParaRPr lang="en-US" sz="2400" dirty="0"/>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32149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4484686"/>
          </a:xfrm>
        </p:spPr>
        <p:txBody>
          <a:bodyPr>
            <a:noAutofit/>
          </a:bodyPr>
          <a:lstStyle/>
          <a:p>
            <a:pPr marL="0" indent="0" algn="just">
              <a:buNone/>
            </a:pPr>
            <a:r>
              <a:rPr lang="en-US" sz="2400" dirty="0">
                <a:solidFill>
                  <a:srgbClr val="FF0000"/>
                </a:solidFill>
              </a:rPr>
              <a:t>Section 17 </a:t>
            </a:r>
            <a:r>
              <a:rPr lang="en-US" sz="2400" dirty="0"/>
              <a:t>of the Act has mentioned the term ‘</a:t>
            </a:r>
            <a:r>
              <a:rPr lang="en-IN" sz="2400" dirty="0">
                <a:solidFill>
                  <a:srgbClr val="FF0000"/>
                </a:solidFill>
              </a:rPr>
              <a:t>profits in lieu of salary</a:t>
            </a:r>
            <a:r>
              <a:rPr lang="en-US" sz="2400" dirty="0"/>
              <a:t>’, which included-</a:t>
            </a:r>
          </a:p>
          <a:p>
            <a:pPr marL="0" indent="0" algn="just">
              <a:buNone/>
            </a:pPr>
            <a:endParaRPr lang="en-US" sz="2400" dirty="0"/>
          </a:p>
          <a:p>
            <a:pPr algn="just"/>
            <a:r>
              <a:rPr lang="en-US" sz="2400" dirty="0"/>
              <a:t>the amount of any compensation due to or received by an assesse from his employer or former employer at or in connection with the termination of his employment or the modification of the terms and conditions relating thereto</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623719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200" dirty="0"/>
              <a:t>The amount of tax calculated is directly deducted from your salary before crediting it to your account. This amount deducted by the employer is known as TDS (Tax Deducted at Source).</a:t>
            </a:r>
          </a:p>
          <a:p>
            <a:pPr algn="just" fontAlgn="base">
              <a:buFont typeface="Wingdings" panose="05000000000000000000" pitchFamily="2" charset="2"/>
              <a:buChar char="v"/>
            </a:pPr>
            <a:r>
              <a:rPr lang="en-US" sz="2200" b="1" dirty="0">
                <a:solidFill>
                  <a:srgbClr val="7030A0"/>
                </a:solidFill>
              </a:rPr>
              <a:t>Gross Salary</a:t>
            </a:r>
          </a:p>
          <a:p>
            <a:pPr algn="just" fontAlgn="base"/>
            <a:r>
              <a:rPr lang="en-US" sz="2200" dirty="0"/>
              <a:t>It is the total salary before accounting for various deductions. Gross salary can be arrived at by adding the basic salary, HRA, bonus, and allowances. </a:t>
            </a:r>
          </a:p>
          <a:p>
            <a:pPr algn="just" fontAlgn="base">
              <a:buFont typeface="Wingdings" panose="05000000000000000000" pitchFamily="2" charset="2"/>
              <a:buChar char="v"/>
            </a:pPr>
            <a:r>
              <a:rPr lang="en-US" sz="2200" b="1" dirty="0">
                <a:solidFill>
                  <a:srgbClr val="7030A0"/>
                </a:solidFill>
              </a:rPr>
              <a:t>In-hand or Take-Home Salary</a:t>
            </a:r>
          </a:p>
          <a:p>
            <a:pPr algn="just" fontAlgn="base"/>
            <a:r>
              <a:rPr lang="en-US" sz="2200" dirty="0"/>
              <a:t>The amount left after all the above adjustments are made is known as the in-hand or take-home salary. It is the salary that employees receive at the end of every month. In other words, it is the amount that is credited into employees’ bank accounts every month. </a:t>
            </a:r>
          </a:p>
          <a:p>
            <a:pPr algn="just" fontAlgn="base"/>
            <a:r>
              <a:rPr lang="en-US" sz="2200" dirty="0"/>
              <a:t>Here is the formula to calculate in-hand salary –</a:t>
            </a:r>
          </a:p>
          <a:p>
            <a:pPr algn="just" fontAlgn="base"/>
            <a:r>
              <a:rPr lang="en-US" sz="2200" b="1" dirty="0"/>
              <a:t>Net Salary = Basic Salary + Allowances – (Provident fund + Gratuity + TDS + Professional Tax)</a:t>
            </a:r>
            <a:endParaRPr lang="en-US" sz="22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29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SALARY</a:t>
            </a:r>
            <a:endParaRPr lang="en-IN" dirty="0">
              <a:solidFill>
                <a:srgbClr val="FF0000"/>
              </a:solidFill>
            </a:endParaRPr>
          </a:p>
        </p:txBody>
      </p:sp>
    </p:spTree>
    <p:extLst>
      <p:ext uri="{BB962C8B-B14F-4D97-AF65-F5344CB8AC3E}">
        <p14:creationId xmlns:p14="http://schemas.microsoft.com/office/powerpoint/2010/main" val="3900370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3" y="987860"/>
            <a:ext cx="11243667" cy="914831"/>
          </a:xfrm>
        </p:spPr>
        <p:txBody>
          <a:bodyPr>
            <a:noAutofit/>
          </a:bodyPr>
          <a:lstStyle/>
          <a:p>
            <a:pPr marL="0" indent="0" algn="ctr">
              <a:buNone/>
            </a:pPr>
            <a:r>
              <a:rPr lang="en-IN" sz="2400" b="1" dirty="0">
                <a:solidFill>
                  <a:srgbClr val="7030A0"/>
                </a:solidFill>
              </a:rPr>
              <a:t>FINANCIAL YEAR 2024-25 (A.Y. 2025-26)</a:t>
            </a:r>
          </a:p>
          <a:p>
            <a:pPr marL="0" indent="0" algn="ctr">
              <a:buNone/>
            </a:pPr>
            <a:r>
              <a:rPr lang="en-IN" sz="2400" b="1" dirty="0">
                <a:solidFill>
                  <a:srgbClr val="FF0000"/>
                </a:solidFill>
              </a:rPr>
              <a:t>NEW TAX REGIME</a:t>
            </a:r>
            <a:endParaRPr lang="en-US" sz="2400" b="1" dirty="0">
              <a:solidFill>
                <a:srgbClr val="FF0000"/>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TAX SLAB</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655856811"/>
              </p:ext>
            </p:extLst>
          </p:nvPr>
        </p:nvGraphicFramePr>
        <p:xfrm>
          <a:off x="375675" y="1902691"/>
          <a:ext cx="11058941" cy="4632960"/>
        </p:xfrm>
        <a:graphic>
          <a:graphicData uri="http://schemas.openxmlformats.org/drawingml/2006/table">
            <a:tbl>
              <a:tblPr>
                <a:tableStyleId>{93296810-A885-4BE3-A3E7-6D5BEEA58F35}</a:tableStyleId>
              </a:tblPr>
              <a:tblGrid>
                <a:gridCol w="2418325">
                  <a:extLst>
                    <a:ext uri="{9D8B030D-6E8A-4147-A177-3AD203B41FA5}">
                      <a16:colId xmlns:a16="http://schemas.microsoft.com/office/drawing/2014/main" val="3259599746"/>
                    </a:ext>
                  </a:extLst>
                </a:gridCol>
                <a:gridCol w="3129280">
                  <a:extLst>
                    <a:ext uri="{9D8B030D-6E8A-4147-A177-3AD203B41FA5}">
                      <a16:colId xmlns:a16="http://schemas.microsoft.com/office/drawing/2014/main" val="488731640"/>
                    </a:ext>
                  </a:extLst>
                </a:gridCol>
                <a:gridCol w="5511336">
                  <a:extLst>
                    <a:ext uri="{9D8B030D-6E8A-4147-A177-3AD203B41FA5}">
                      <a16:colId xmlns:a16="http://schemas.microsoft.com/office/drawing/2014/main" val="1583798346"/>
                    </a:ext>
                  </a:extLst>
                </a:gridCol>
              </a:tblGrid>
              <a:tr h="424697">
                <a:tc>
                  <a:txBody>
                    <a:bodyPr/>
                    <a:lstStyle/>
                    <a:p>
                      <a:pPr algn="ctr" fontAlgn="t">
                        <a:lnSpc>
                          <a:spcPct val="100000"/>
                        </a:lnSpc>
                      </a:pPr>
                      <a:r>
                        <a:rPr lang="en-IN" sz="1700" b="1" dirty="0">
                          <a:effectLst/>
                        </a:rPr>
                        <a:t>Income Range</a:t>
                      </a:r>
                    </a:p>
                  </a:txBody>
                  <a:tcPr marL="95250" marR="95250" marT="95250" marB="95250"/>
                </a:tc>
                <a:tc>
                  <a:txBody>
                    <a:bodyPr/>
                    <a:lstStyle/>
                    <a:p>
                      <a:pPr algn="ctr" fontAlgn="t">
                        <a:lnSpc>
                          <a:spcPct val="100000"/>
                        </a:lnSpc>
                      </a:pPr>
                      <a:r>
                        <a:rPr lang="en-IN" sz="1700" b="1" dirty="0">
                          <a:effectLst/>
                        </a:rPr>
                        <a:t>Tax Rate</a:t>
                      </a:r>
                    </a:p>
                  </a:txBody>
                  <a:tcPr marL="95250" marR="95250" marT="95250" marB="95250"/>
                </a:tc>
                <a:tc>
                  <a:txBody>
                    <a:bodyPr/>
                    <a:lstStyle/>
                    <a:p>
                      <a:pPr algn="just" fontAlgn="t">
                        <a:lnSpc>
                          <a:spcPct val="100000"/>
                        </a:lnSpc>
                      </a:pPr>
                      <a:endParaRPr lang="en-IN" sz="1700" b="0" dirty="0">
                        <a:effectLst/>
                      </a:endParaRPr>
                    </a:p>
                  </a:txBody>
                  <a:tcPr marL="95250" marR="95250" marT="95250" marB="95250"/>
                </a:tc>
                <a:extLst>
                  <a:ext uri="{0D108BD9-81ED-4DB2-BD59-A6C34878D82A}">
                    <a16:rowId xmlns:a16="http://schemas.microsoft.com/office/drawing/2014/main" val="3465161455"/>
                  </a:ext>
                </a:extLst>
              </a:tr>
              <a:tr h="424697">
                <a:tc>
                  <a:txBody>
                    <a:bodyPr/>
                    <a:lstStyle/>
                    <a:p>
                      <a:pPr algn="just" fontAlgn="t">
                        <a:lnSpc>
                          <a:spcPct val="100000"/>
                        </a:lnSpc>
                      </a:pPr>
                      <a:r>
                        <a:rPr lang="en-IN" sz="1700" dirty="0">
                          <a:effectLst/>
                        </a:rPr>
                        <a:t>0 - ₹3,00,000</a:t>
                      </a:r>
                    </a:p>
                  </a:txBody>
                  <a:tcPr marL="95250" marR="95250" marT="95250" marB="95250"/>
                </a:tc>
                <a:tc>
                  <a:txBody>
                    <a:bodyPr/>
                    <a:lstStyle/>
                    <a:p>
                      <a:pPr algn="ctr" fontAlgn="t">
                        <a:lnSpc>
                          <a:spcPct val="100000"/>
                        </a:lnSpc>
                      </a:pPr>
                      <a:r>
                        <a:rPr lang="en-IN" sz="1700" dirty="0">
                          <a:effectLst/>
                        </a:rPr>
                        <a:t>0%</a:t>
                      </a:r>
                    </a:p>
                  </a:txBody>
                  <a:tcPr marL="95250" marR="95250" marT="95250" marB="95250"/>
                </a:tc>
                <a:tc>
                  <a:txBody>
                    <a:bodyPr/>
                    <a:lstStyle/>
                    <a:p>
                      <a:pPr algn="just" fontAlgn="t">
                        <a:lnSpc>
                          <a:spcPct val="100000"/>
                        </a:lnSpc>
                      </a:pPr>
                      <a:r>
                        <a:rPr lang="en-IN" sz="1700" b="0" dirty="0">
                          <a:effectLst/>
                        </a:rPr>
                        <a:t>NIL</a:t>
                      </a:r>
                    </a:p>
                  </a:txBody>
                  <a:tcPr marL="95250" marR="95250" marT="95250" marB="95250"/>
                </a:tc>
                <a:extLst>
                  <a:ext uri="{0D108BD9-81ED-4DB2-BD59-A6C34878D82A}">
                    <a16:rowId xmlns:a16="http://schemas.microsoft.com/office/drawing/2014/main" val="3673737190"/>
                  </a:ext>
                </a:extLst>
              </a:tr>
              <a:tr h="663123">
                <a:tc>
                  <a:txBody>
                    <a:bodyPr/>
                    <a:lstStyle/>
                    <a:p>
                      <a:pPr algn="just" fontAlgn="t">
                        <a:lnSpc>
                          <a:spcPct val="100000"/>
                        </a:lnSpc>
                      </a:pPr>
                      <a:r>
                        <a:rPr lang="en-IN" sz="1700" dirty="0">
                          <a:effectLst/>
                        </a:rPr>
                        <a:t>₹3,00,001 - ₹7,00,000</a:t>
                      </a:r>
                    </a:p>
                  </a:txBody>
                  <a:tcPr marL="95250" marR="95250" marT="95250" marB="95250"/>
                </a:tc>
                <a:tc>
                  <a:txBody>
                    <a:bodyPr/>
                    <a:lstStyle/>
                    <a:p>
                      <a:pPr algn="ctr" fontAlgn="t">
                        <a:lnSpc>
                          <a:spcPct val="100000"/>
                        </a:lnSpc>
                      </a:pPr>
                      <a:r>
                        <a:rPr lang="en-IN" sz="1700" dirty="0">
                          <a:effectLst/>
                        </a:rPr>
                        <a:t>5% </a:t>
                      </a:r>
                    </a:p>
                    <a:p>
                      <a:pPr algn="ctr" fontAlgn="t">
                        <a:lnSpc>
                          <a:spcPct val="100000"/>
                        </a:lnSpc>
                      </a:pPr>
                      <a:r>
                        <a:rPr lang="en-IN" sz="1700" dirty="0">
                          <a:effectLst/>
                        </a:rPr>
                        <a:t>(</a:t>
                      </a:r>
                      <a:r>
                        <a:rPr lang="en-IN" sz="1700" b="1" i="1" dirty="0">
                          <a:solidFill>
                            <a:srgbClr val="FF0000"/>
                          </a:solidFill>
                          <a:effectLst/>
                        </a:rPr>
                        <a:t>tax rebate u/s 87A </a:t>
                      </a:r>
                      <a:r>
                        <a:rPr lang="en-IN" sz="1700" b="1" i="1" dirty="0" err="1">
                          <a:solidFill>
                            <a:srgbClr val="FF0000"/>
                          </a:solidFill>
                          <a:effectLst/>
                        </a:rPr>
                        <a:t>upto</a:t>
                      </a:r>
                      <a:r>
                        <a:rPr lang="en-IN" sz="1700" b="1" i="1" dirty="0">
                          <a:solidFill>
                            <a:srgbClr val="FF0000"/>
                          </a:solidFill>
                          <a:effectLst/>
                        </a:rPr>
                        <a:t> 7 lacs</a:t>
                      </a:r>
                      <a:r>
                        <a:rPr lang="en-IN" sz="1700" dirty="0">
                          <a:effectLst/>
                        </a:rPr>
                        <a:t>)</a:t>
                      </a:r>
                    </a:p>
                  </a:txBody>
                  <a:tcPr marL="95250" marR="95250" marT="95250" marB="95250"/>
                </a:tc>
                <a:tc>
                  <a:txBody>
                    <a:bodyPr/>
                    <a:lstStyle/>
                    <a:p>
                      <a:pPr algn="just" fontAlgn="t">
                        <a:lnSpc>
                          <a:spcPct val="100000"/>
                        </a:lnSpc>
                      </a:pPr>
                      <a:r>
                        <a:rPr lang="en-US" sz="1700" b="0" dirty="0">
                          <a:effectLst/>
                        </a:rPr>
                        <a:t>5% on income which exceeds Rs 3,00,000 (</a:t>
                      </a:r>
                      <a:r>
                        <a:rPr lang="en-US" sz="1700" b="1" dirty="0">
                          <a:effectLst/>
                        </a:rPr>
                        <a:t>Rs 20,000/-</a:t>
                      </a:r>
                      <a:r>
                        <a:rPr lang="en-US" sz="1700" b="0" dirty="0">
                          <a:effectLst/>
                        </a:rPr>
                        <a:t>)</a:t>
                      </a:r>
                    </a:p>
                    <a:p>
                      <a:pPr marL="0" marR="0" lvl="0" indent="0" algn="just" defTabSz="457200" rtl="0" eaLnBrk="1" fontAlgn="t" latinLnBrk="0" hangingPunct="1">
                        <a:lnSpc>
                          <a:spcPct val="100000"/>
                        </a:lnSpc>
                        <a:spcBef>
                          <a:spcPts val="0"/>
                        </a:spcBef>
                        <a:spcAft>
                          <a:spcPts val="0"/>
                        </a:spcAft>
                        <a:buClrTx/>
                        <a:buSzTx/>
                        <a:buFontTx/>
                        <a:buNone/>
                        <a:tabLst/>
                        <a:defRPr/>
                      </a:pPr>
                      <a:r>
                        <a:rPr lang="en-IN" sz="1700" dirty="0">
                          <a:effectLst/>
                        </a:rPr>
                        <a:t>(</a:t>
                      </a:r>
                      <a:r>
                        <a:rPr lang="en-IN" sz="1700" b="1" i="1" dirty="0">
                          <a:solidFill>
                            <a:srgbClr val="FF0000"/>
                          </a:solidFill>
                          <a:effectLst/>
                        </a:rPr>
                        <a:t>tax rebate u/s 87A </a:t>
                      </a:r>
                      <a:r>
                        <a:rPr lang="en-IN" sz="1700" b="1" i="1" dirty="0" err="1">
                          <a:solidFill>
                            <a:srgbClr val="FF0000"/>
                          </a:solidFill>
                          <a:effectLst/>
                        </a:rPr>
                        <a:t>upto</a:t>
                      </a:r>
                      <a:r>
                        <a:rPr lang="en-IN" sz="1700" b="1" i="1" dirty="0">
                          <a:solidFill>
                            <a:srgbClr val="FF0000"/>
                          </a:solidFill>
                          <a:effectLst/>
                        </a:rPr>
                        <a:t> 7 lacs</a:t>
                      </a:r>
                      <a:r>
                        <a:rPr lang="en-IN" sz="1700" dirty="0">
                          <a:effectLst/>
                        </a:rPr>
                        <a:t>)</a:t>
                      </a:r>
                    </a:p>
                  </a:txBody>
                  <a:tcPr marL="95250" marR="95250" marT="95250" marB="95250"/>
                </a:tc>
                <a:extLst>
                  <a:ext uri="{0D108BD9-81ED-4DB2-BD59-A6C34878D82A}">
                    <a16:rowId xmlns:a16="http://schemas.microsoft.com/office/drawing/2014/main" val="4163486681"/>
                  </a:ext>
                </a:extLst>
              </a:tr>
              <a:tr h="424697">
                <a:tc>
                  <a:txBody>
                    <a:bodyPr/>
                    <a:lstStyle/>
                    <a:p>
                      <a:pPr algn="just" fontAlgn="t">
                        <a:lnSpc>
                          <a:spcPct val="100000"/>
                        </a:lnSpc>
                      </a:pPr>
                      <a:r>
                        <a:rPr lang="en-IN" sz="1700" dirty="0">
                          <a:effectLst/>
                        </a:rPr>
                        <a:t>₹7,00,001 - ₹10,00,000</a:t>
                      </a:r>
                    </a:p>
                  </a:txBody>
                  <a:tcPr marL="95250" marR="95250" marT="95250" marB="95250"/>
                </a:tc>
                <a:tc>
                  <a:txBody>
                    <a:bodyPr/>
                    <a:lstStyle/>
                    <a:p>
                      <a:pPr algn="ctr" fontAlgn="t">
                        <a:lnSpc>
                          <a:spcPct val="100000"/>
                        </a:lnSpc>
                      </a:pPr>
                      <a:r>
                        <a:rPr lang="en-IN" sz="1700" dirty="0">
                          <a:effectLst/>
                        </a:rPr>
                        <a:t>10%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20,000 + 10% on income more than Rs 7,00,000 </a:t>
                      </a:r>
                      <a:r>
                        <a:rPr lang="en-US" sz="1700" b="0" dirty="0">
                          <a:effectLst/>
                        </a:rPr>
                        <a:t>(</a:t>
                      </a:r>
                      <a:r>
                        <a:rPr lang="en-US" sz="1700" b="1" dirty="0">
                          <a:effectLst/>
                        </a:rPr>
                        <a:t>Rs 50,000/-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3191942537"/>
                  </a:ext>
                </a:extLst>
              </a:tr>
              <a:tr h="424697">
                <a:tc>
                  <a:txBody>
                    <a:bodyPr/>
                    <a:lstStyle/>
                    <a:p>
                      <a:pPr algn="just" fontAlgn="t">
                        <a:lnSpc>
                          <a:spcPct val="100000"/>
                        </a:lnSpc>
                      </a:pPr>
                      <a:r>
                        <a:rPr lang="en-IN" sz="1700" dirty="0">
                          <a:effectLst/>
                        </a:rPr>
                        <a:t>₹10,00,001 - ₹12,00,000</a:t>
                      </a:r>
                    </a:p>
                  </a:txBody>
                  <a:tcPr marL="95250" marR="95250" marT="95250" marB="95250"/>
                </a:tc>
                <a:tc>
                  <a:txBody>
                    <a:bodyPr/>
                    <a:lstStyle/>
                    <a:p>
                      <a:pPr algn="ctr" fontAlgn="t">
                        <a:lnSpc>
                          <a:spcPct val="100000"/>
                        </a:lnSpc>
                      </a:pPr>
                      <a:r>
                        <a:rPr lang="en-IN" sz="1700" dirty="0">
                          <a:effectLst/>
                        </a:rPr>
                        <a:t>15%</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50,000 + 15% on income more than Rs 10,00,000 </a:t>
                      </a:r>
                      <a:r>
                        <a:rPr lang="en-US" sz="1700" b="0" dirty="0">
                          <a:effectLst/>
                        </a:rPr>
                        <a:t>(</a:t>
                      </a:r>
                      <a:r>
                        <a:rPr lang="en-US" sz="1700" b="1" dirty="0">
                          <a:effectLst/>
                        </a:rPr>
                        <a:t>Rs 80,000/-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3867720616"/>
                  </a:ext>
                </a:extLst>
              </a:tr>
              <a:tr h="424697">
                <a:tc>
                  <a:txBody>
                    <a:bodyPr/>
                    <a:lstStyle/>
                    <a:p>
                      <a:pPr algn="just" fontAlgn="t">
                        <a:lnSpc>
                          <a:spcPct val="100000"/>
                        </a:lnSpc>
                      </a:pPr>
                      <a:r>
                        <a:rPr lang="en-IN" sz="1700" dirty="0">
                          <a:effectLst/>
                        </a:rPr>
                        <a:t>₹12,00,001 - ₹15,00,000</a:t>
                      </a:r>
                    </a:p>
                  </a:txBody>
                  <a:tcPr marL="95250" marR="95250" marT="95250" marB="95250"/>
                </a:tc>
                <a:tc>
                  <a:txBody>
                    <a:bodyPr/>
                    <a:lstStyle/>
                    <a:p>
                      <a:pPr algn="ctr" fontAlgn="t">
                        <a:lnSpc>
                          <a:spcPct val="100000"/>
                        </a:lnSpc>
                      </a:pPr>
                      <a:r>
                        <a:rPr lang="en-IN" sz="1700" dirty="0">
                          <a:effectLst/>
                        </a:rPr>
                        <a:t>20%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80,000 + 20% on income more than Rs 12,00,000 </a:t>
                      </a:r>
                      <a:r>
                        <a:rPr lang="en-US" sz="1700" b="0" dirty="0">
                          <a:effectLst/>
                        </a:rPr>
                        <a:t>(</a:t>
                      </a:r>
                      <a:r>
                        <a:rPr lang="en-US" sz="1700" b="1" dirty="0">
                          <a:effectLst/>
                        </a:rPr>
                        <a:t>Rs 1,40,000/-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1793247135"/>
                  </a:ext>
                </a:extLst>
              </a:tr>
              <a:tr h="424697">
                <a:tc>
                  <a:txBody>
                    <a:bodyPr/>
                    <a:lstStyle/>
                    <a:p>
                      <a:pPr algn="just" fontAlgn="t">
                        <a:lnSpc>
                          <a:spcPct val="100000"/>
                        </a:lnSpc>
                      </a:pPr>
                      <a:r>
                        <a:rPr lang="en-IN" sz="1700">
                          <a:effectLst/>
                        </a:rPr>
                        <a:t>Above ₹15,00,000</a:t>
                      </a:r>
                    </a:p>
                  </a:txBody>
                  <a:tcPr marL="95250" marR="95250" marT="95250" marB="95250"/>
                </a:tc>
                <a:tc>
                  <a:txBody>
                    <a:bodyPr/>
                    <a:lstStyle/>
                    <a:p>
                      <a:pPr algn="ctr" fontAlgn="t">
                        <a:lnSpc>
                          <a:spcPct val="100000"/>
                        </a:lnSpc>
                      </a:pPr>
                      <a:r>
                        <a:rPr lang="en-IN" sz="1700" dirty="0">
                          <a:effectLst/>
                        </a:rPr>
                        <a:t>30%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1,40,000 + 30% on income more than Rs 15,00,000</a:t>
                      </a:r>
                      <a:endParaRPr lang="en-IN" sz="1700" b="0" dirty="0">
                        <a:effectLst/>
                      </a:endParaRPr>
                    </a:p>
                  </a:txBody>
                  <a:tcPr marL="95250" marR="95250" marT="95250" marB="95250"/>
                </a:tc>
                <a:extLst>
                  <a:ext uri="{0D108BD9-81ED-4DB2-BD59-A6C34878D82A}">
                    <a16:rowId xmlns:a16="http://schemas.microsoft.com/office/drawing/2014/main" val="321854111"/>
                  </a:ext>
                </a:extLst>
              </a:tr>
              <a:tr h="424697">
                <a:tc>
                  <a:txBody>
                    <a:bodyPr/>
                    <a:lstStyle/>
                    <a:p>
                      <a:pPr algn="just" fontAlgn="t">
                        <a:lnSpc>
                          <a:spcPct val="100000"/>
                        </a:lnSpc>
                      </a:pPr>
                      <a:r>
                        <a:rPr lang="en-IN" sz="1700" dirty="0">
                          <a:effectLst/>
                        </a:rPr>
                        <a:t>Cess</a:t>
                      </a:r>
                    </a:p>
                  </a:txBody>
                  <a:tcPr marL="95250" marR="95250" marT="95250" marB="95250"/>
                </a:tc>
                <a:tc>
                  <a:txBody>
                    <a:bodyPr/>
                    <a:lstStyle/>
                    <a:p>
                      <a:pPr algn="ctr" fontAlgn="t">
                        <a:lnSpc>
                          <a:spcPct val="100000"/>
                        </a:lnSpc>
                      </a:pPr>
                      <a:r>
                        <a:rPr lang="en-US" sz="1700" dirty="0">
                          <a:effectLst/>
                        </a:rPr>
                        <a:t>4% p.a. of Taxable Income</a:t>
                      </a:r>
                    </a:p>
                  </a:txBody>
                  <a:tcPr marL="95250" marR="95250" marT="95250" marB="95250"/>
                </a:tc>
                <a:tc>
                  <a:txBody>
                    <a:bodyPr/>
                    <a:lstStyle/>
                    <a:p>
                      <a:pPr algn="just" fontAlgn="t">
                        <a:lnSpc>
                          <a:spcPct val="100000"/>
                        </a:lnSpc>
                      </a:pPr>
                      <a:endParaRPr lang="en-US" sz="1700" b="0" dirty="0">
                        <a:effectLst/>
                      </a:endParaRPr>
                    </a:p>
                  </a:txBody>
                  <a:tcPr marL="95250" marR="95250" marT="95250" marB="95250"/>
                </a:tc>
                <a:extLst>
                  <a:ext uri="{0D108BD9-81ED-4DB2-BD59-A6C34878D82A}">
                    <a16:rowId xmlns:a16="http://schemas.microsoft.com/office/drawing/2014/main" val="23666444"/>
                  </a:ext>
                </a:extLst>
              </a:tr>
            </a:tbl>
          </a:graphicData>
        </a:graphic>
      </p:graphicFrame>
    </p:spTree>
    <p:extLst>
      <p:ext uri="{BB962C8B-B14F-4D97-AF65-F5344CB8AC3E}">
        <p14:creationId xmlns:p14="http://schemas.microsoft.com/office/powerpoint/2010/main" val="3978134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Example - </a:t>
            </a:r>
            <a:r>
              <a:rPr lang="en-IN" sz="4400" b="1" dirty="0">
                <a:solidFill>
                  <a:srgbClr val="FF0000"/>
                </a:solidFill>
              </a:rPr>
              <a:t>NEW TAX REGIME</a:t>
            </a:r>
            <a:br>
              <a:rPr lang="en-US" sz="4400" b="1" dirty="0">
                <a:solidFill>
                  <a:schemeClr val="bg2">
                    <a:lumMod val="50000"/>
                  </a:schemeClr>
                </a:solidFill>
              </a:rPr>
            </a:br>
            <a:r>
              <a:rPr lang="en-US" dirty="0"/>
              <a:t> </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266018458"/>
              </p:ext>
            </p:extLst>
          </p:nvPr>
        </p:nvGraphicFramePr>
        <p:xfrm>
          <a:off x="1013979" y="1956443"/>
          <a:ext cx="8947150" cy="2202740"/>
        </p:xfrm>
        <a:graphic>
          <a:graphicData uri="http://schemas.openxmlformats.org/drawingml/2006/table">
            <a:tbl>
              <a:tblPr/>
              <a:tblGrid>
                <a:gridCol w="5798502">
                  <a:extLst>
                    <a:ext uri="{9D8B030D-6E8A-4147-A177-3AD203B41FA5}">
                      <a16:colId xmlns:a16="http://schemas.microsoft.com/office/drawing/2014/main" val="771668158"/>
                    </a:ext>
                  </a:extLst>
                </a:gridCol>
                <a:gridCol w="3148648">
                  <a:extLst>
                    <a:ext uri="{9D8B030D-6E8A-4147-A177-3AD203B41FA5}">
                      <a16:colId xmlns:a16="http://schemas.microsoft.com/office/drawing/2014/main" val="893381468"/>
                    </a:ext>
                  </a:extLst>
                </a:gridCol>
              </a:tblGrid>
              <a:tr h="600000">
                <a:tc>
                  <a:txBody>
                    <a:bodyPr/>
                    <a:lstStyle/>
                    <a:p>
                      <a:pPr algn="ctr" fontAlgn="ctr">
                        <a:lnSpc>
                          <a:spcPct val="150000"/>
                        </a:lnSpc>
                      </a:pPr>
                      <a:r>
                        <a:rPr lang="en-IN" sz="2000" b="1" dirty="0">
                          <a:effectLst/>
                          <a:latin typeface="Cambria" panose="02040503050406030204" pitchFamily="18" charset="0"/>
                          <a:ea typeface="Cambria" panose="02040503050406030204" pitchFamily="18" charset="0"/>
                        </a:rPr>
                        <a:t>Particulars</a:t>
                      </a:r>
                      <a:endParaRPr lang="en-IN" sz="2000" b="0" dirty="0">
                        <a:effectLst/>
                        <a:latin typeface="Cambria" panose="02040503050406030204" pitchFamily="18" charset="0"/>
                        <a:ea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ctr" fontAlgn="ctr">
                        <a:lnSpc>
                          <a:spcPct val="150000"/>
                        </a:lnSpc>
                      </a:pPr>
                      <a:r>
                        <a:rPr lang="en-IN" sz="2000" b="1" dirty="0">
                          <a:effectLst/>
                          <a:latin typeface="Cambria" panose="02040503050406030204" pitchFamily="18" charset="0"/>
                          <a:ea typeface="Cambria" panose="02040503050406030204" pitchFamily="18" charset="0"/>
                        </a:rPr>
                        <a:t>Amount (In Rs)</a:t>
                      </a:r>
                      <a:endParaRPr lang="en-IN" sz="2000" b="0" dirty="0">
                        <a:effectLst/>
                        <a:latin typeface="Cambria" panose="02040503050406030204" pitchFamily="18" charset="0"/>
                        <a:ea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1972381456"/>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Gross total income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20,00,000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95854462"/>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Standard deduction from salary/pension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(75,000)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39556879"/>
                  </a:ext>
                </a:extLst>
              </a:tr>
              <a:tr h="300000">
                <a:tc>
                  <a:txBody>
                    <a:bodyPr/>
                    <a:lstStyle/>
                    <a:p>
                      <a:pPr algn="ctr" fontAlgn="base">
                        <a:lnSpc>
                          <a:spcPct val="150000"/>
                        </a:lnSpc>
                      </a:pPr>
                      <a:r>
                        <a:rPr lang="en-US" sz="2000" b="0" dirty="0">
                          <a:effectLst/>
                          <a:latin typeface="Cambria" panose="02040503050406030204" pitchFamily="18" charset="0"/>
                          <a:ea typeface="Cambria" panose="02040503050406030204" pitchFamily="18" charset="0"/>
                        </a:rPr>
                        <a:t>Deduction under section 80CCD (2)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(2,00,000)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58506540"/>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Net taxable income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17,25,000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93297301"/>
                  </a:ext>
                </a:extLst>
              </a:tr>
            </a:tbl>
          </a:graphicData>
        </a:graphic>
      </p:graphicFrame>
      <p:sp>
        <p:nvSpPr>
          <p:cNvPr id="5" name="Rectangle 4"/>
          <p:cNvSpPr/>
          <p:nvPr/>
        </p:nvSpPr>
        <p:spPr>
          <a:xfrm>
            <a:off x="505980" y="4808813"/>
            <a:ext cx="11335039" cy="1569660"/>
          </a:xfrm>
          <a:prstGeom prst="rect">
            <a:avLst/>
          </a:prstGeom>
        </p:spPr>
        <p:txBody>
          <a:bodyPr wrap="square">
            <a:spAutoFit/>
          </a:bodyPr>
          <a:lstStyle/>
          <a:p>
            <a:pPr marL="342900" indent="-342900">
              <a:buFont typeface="Wingdings" panose="05000000000000000000" pitchFamily="2" charset="2"/>
              <a:buChar char="Ø"/>
            </a:pPr>
            <a:r>
              <a:rPr lang="en-US" sz="2400" dirty="0"/>
              <a:t>Total </a:t>
            </a:r>
            <a:r>
              <a:rPr lang="en-US" sz="2400" dirty="0">
                <a:solidFill>
                  <a:srgbClr val="FF0000"/>
                </a:solidFill>
              </a:rPr>
              <a:t>income tax liability </a:t>
            </a:r>
            <a:r>
              <a:rPr lang="en-US" sz="2400" dirty="0"/>
              <a:t>Rs 2,07,500/-</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IN" sz="2400" dirty="0"/>
              <a:t>The </a:t>
            </a:r>
            <a:r>
              <a:rPr lang="en-IN" sz="2400" dirty="0">
                <a:solidFill>
                  <a:srgbClr val="FF0000"/>
                </a:solidFill>
              </a:rPr>
              <a:t>final tax payable </a:t>
            </a:r>
            <a:r>
              <a:rPr lang="en-IN" sz="2400" dirty="0"/>
              <a:t>on gross income of Rs 20 lakh is </a:t>
            </a:r>
            <a:r>
              <a:rPr lang="en-IN" sz="2400" dirty="0">
                <a:solidFill>
                  <a:srgbClr val="FF0000"/>
                </a:solidFill>
              </a:rPr>
              <a:t>Rs 2,15,800 (including 4% cess)</a:t>
            </a:r>
            <a:r>
              <a:rPr lang="en-IN" sz="2400" dirty="0"/>
              <a:t>, after claiming deductions of Rs 2.75 lakh. </a:t>
            </a:r>
          </a:p>
        </p:txBody>
      </p:sp>
    </p:spTree>
    <p:extLst>
      <p:ext uri="{BB962C8B-B14F-4D97-AF65-F5344CB8AC3E}">
        <p14:creationId xmlns:p14="http://schemas.microsoft.com/office/powerpoint/2010/main" val="3995878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a:p>
            <a:pPr marL="0" indent="0" algn="ctr">
              <a:buNone/>
            </a:pPr>
            <a:r>
              <a:rPr lang="en-IN" sz="2400" b="1" dirty="0">
                <a:solidFill>
                  <a:srgbClr val="FF0000"/>
                </a:solidFill>
              </a:rPr>
              <a:t>OLD TAX REGIME</a:t>
            </a:r>
            <a:r>
              <a:rPr lang="en-IN" sz="2400" b="1" dirty="0">
                <a:solidFill>
                  <a:schemeClr val="bg2">
                    <a:lumMod val="50000"/>
                  </a:schemeClr>
                </a:solidFill>
              </a:rPr>
              <a:t>*</a:t>
            </a:r>
            <a:endParaRPr lang="en-US" sz="2400" b="1" dirty="0">
              <a:solidFill>
                <a:schemeClr val="bg2">
                  <a:lumMod val="50000"/>
                </a:schemeClr>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TAX SLAB</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061765511"/>
              </p:ext>
            </p:extLst>
          </p:nvPr>
        </p:nvGraphicFramePr>
        <p:xfrm>
          <a:off x="2412971" y="2436734"/>
          <a:ext cx="7414518" cy="3337560"/>
        </p:xfrm>
        <a:graphic>
          <a:graphicData uri="http://schemas.openxmlformats.org/drawingml/2006/table">
            <a:tbl>
              <a:tblPr>
                <a:tableStyleId>{93296810-A885-4BE3-A3E7-6D5BEEA58F35}</a:tableStyleId>
              </a:tblPr>
              <a:tblGrid>
                <a:gridCol w="3707259">
                  <a:extLst>
                    <a:ext uri="{9D8B030D-6E8A-4147-A177-3AD203B41FA5}">
                      <a16:colId xmlns:a16="http://schemas.microsoft.com/office/drawing/2014/main" val="3259599746"/>
                    </a:ext>
                  </a:extLst>
                </a:gridCol>
                <a:gridCol w="3707259">
                  <a:extLst>
                    <a:ext uri="{9D8B030D-6E8A-4147-A177-3AD203B41FA5}">
                      <a16:colId xmlns:a16="http://schemas.microsoft.com/office/drawing/2014/main" val="488731640"/>
                    </a:ext>
                  </a:extLst>
                </a:gridCol>
              </a:tblGrid>
              <a:tr h="494354">
                <a:tc>
                  <a:txBody>
                    <a:bodyPr/>
                    <a:lstStyle/>
                    <a:p>
                      <a:pPr algn="l" fontAlgn="t"/>
                      <a:r>
                        <a:rPr lang="en-IN" sz="2400" b="1" dirty="0">
                          <a:effectLst/>
                        </a:rPr>
                        <a:t>Income Range</a:t>
                      </a:r>
                    </a:p>
                  </a:txBody>
                  <a:tcPr marL="95250" marR="95250" marT="95250" marB="95250"/>
                </a:tc>
                <a:tc>
                  <a:txBody>
                    <a:bodyPr/>
                    <a:lstStyle/>
                    <a:p>
                      <a:pPr algn="l" fontAlgn="t"/>
                      <a:r>
                        <a:rPr lang="en-IN" sz="2400" b="1" dirty="0">
                          <a:effectLst/>
                        </a:rPr>
                        <a:t>Tax Rate</a:t>
                      </a:r>
                    </a:p>
                  </a:txBody>
                  <a:tcPr marL="95250" marR="95250" marT="95250" marB="95250"/>
                </a:tc>
                <a:extLst>
                  <a:ext uri="{0D108BD9-81ED-4DB2-BD59-A6C34878D82A}">
                    <a16:rowId xmlns:a16="http://schemas.microsoft.com/office/drawing/2014/main" val="3465161455"/>
                  </a:ext>
                </a:extLst>
              </a:tr>
              <a:tr h="494354">
                <a:tc>
                  <a:txBody>
                    <a:bodyPr/>
                    <a:lstStyle/>
                    <a:p>
                      <a:pPr algn="l" fontAlgn="t"/>
                      <a:r>
                        <a:rPr lang="en-IN" sz="2400" dirty="0">
                          <a:effectLst/>
                        </a:rPr>
                        <a:t>0 - ₹2,50,000</a:t>
                      </a:r>
                    </a:p>
                  </a:txBody>
                  <a:tcPr marL="95250" marR="95250" marT="95250" marB="95250"/>
                </a:tc>
                <a:tc>
                  <a:txBody>
                    <a:bodyPr/>
                    <a:lstStyle/>
                    <a:p>
                      <a:pPr algn="l" fontAlgn="t"/>
                      <a:r>
                        <a:rPr lang="en-IN" sz="2400" dirty="0">
                          <a:effectLst/>
                        </a:rPr>
                        <a:t>0%</a:t>
                      </a:r>
                    </a:p>
                  </a:txBody>
                  <a:tcPr marL="95250" marR="95250" marT="95250" marB="95250"/>
                </a:tc>
                <a:extLst>
                  <a:ext uri="{0D108BD9-81ED-4DB2-BD59-A6C34878D82A}">
                    <a16:rowId xmlns:a16="http://schemas.microsoft.com/office/drawing/2014/main" val="3673737190"/>
                  </a:ext>
                </a:extLst>
              </a:tr>
              <a:tr h="494354">
                <a:tc>
                  <a:txBody>
                    <a:bodyPr/>
                    <a:lstStyle/>
                    <a:p>
                      <a:pPr algn="l" fontAlgn="t"/>
                      <a:r>
                        <a:rPr lang="en-IN" sz="2400" dirty="0">
                          <a:effectLst/>
                        </a:rPr>
                        <a:t>₹2,50,001 - ₹5,00,000</a:t>
                      </a:r>
                    </a:p>
                  </a:txBody>
                  <a:tcPr marL="95250" marR="95250" marT="95250" marB="95250"/>
                </a:tc>
                <a:tc>
                  <a:txBody>
                    <a:bodyPr/>
                    <a:lstStyle/>
                    <a:p>
                      <a:pPr algn="l" fontAlgn="t"/>
                      <a:r>
                        <a:rPr lang="en-IN" sz="2400" dirty="0">
                          <a:effectLst/>
                        </a:rPr>
                        <a:t>5%</a:t>
                      </a:r>
                    </a:p>
                  </a:txBody>
                  <a:tcPr marL="95250" marR="95250" marT="95250" marB="95250"/>
                </a:tc>
                <a:extLst>
                  <a:ext uri="{0D108BD9-81ED-4DB2-BD59-A6C34878D82A}">
                    <a16:rowId xmlns:a16="http://schemas.microsoft.com/office/drawing/2014/main" val="4163486681"/>
                  </a:ext>
                </a:extLst>
              </a:tr>
              <a:tr h="494354">
                <a:tc>
                  <a:txBody>
                    <a:bodyPr/>
                    <a:lstStyle/>
                    <a:p>
                      <a:pPr algn="l" fontAlgn="t"/>
                      <a:r>
                        <a:rPr lang="en-IN" sz="2400" dirty="0">
                          <a:effectLst/>
                        </a:rPr>
                        <a:t>₹5,00,001 - ₹10,00,000</a:t>
                      </a:r>
                    </a:p>
                  </a:txBody>
                  <a:tcPr marL="95250" marR="95250" marT="95250" marB="95250"/>
                </a:tc>
                <a:tc>
                  <a:txBody>
                    <a:bodyPr/>
                    <a:lstStyle/>
                    <a:p>
                      <a:pPr algn="l" fontAlgn="t"/>
                      <a:r>
                        <a:rPr lang="en-IN" sz="2400" dirty="0">
                          <a:effectLst/>
                        </a:rPr>
                        <a:t>20%</a:t>
                      </a:r>
                    </a:p>
                  </a:txBody>
                  <a:tcPr marL="95250" marR="95250" marT="95250" marB="95250"/>
                </a:tc>
                <a:extLst>
                  <a:ext uri="{0D108BD9-81ED-4DB2-BD59-A6C34878D82A}">
                    <a16:rowId xmlns:a16="http://schemas.microsoft.com/office/drawing/2014/main" val="3191942537"/>
                  </a:ext>
                </a:extLst>
              </a:tr>
              <a:tr h="494354">
                <a:tc>
                  <a:txBody>
                    <a:bodyPr/>
                    <a:lstStyle/>
                    <a:p>
                      <a:pPr algn="l" fontAlgn="t"/>
                      <a:r>
                        <a:rPr lang="en-IN" sz="2400" dirty="0">
                          <a:effectLst/>
                        </a:rPr>
                        <a:t>Above ₹10,00,001</a:t>
                      </a:r>
                    </a:p>
                  </a:txBody>
                  <a:tcPr marL="95250" marR="95250" marT="95250" marB="95250"/>
                </a:tc>
                <a:tc>
                  <a:txBody>
                    <a:bodyPr/>
                    <a:lstStyle/>
                    <a:p>
                      <a:pPr algn="l" fontAlgn="t"/>
                      <a:r>
                        <a:rPr lang="en-IN" sz="2400" dirty="0">
                          <a:effectLst/>
                        </a:rPr>
                        <a:t>30%</a:t>
                      </a:r>
                    </a:p>
                  </a:txBody>
                  <a:tcPr marL="95250" marR="95250" marT="95250" marB="95250"/>
                </a:tc>
                <a:extLst>
                  <a:ext uri="{0D108BD9-81ED-4DB2-BD59-A6C34878D82A}">
                    <a16:rowId xmlns:a16="http://schemas.microsoft.com/office/drawing/2014/main" val="3867720616"/>
                  </a:ext>
                </a:extLst>
              </a:tr>
              <a:tr h="494354">
                <a:tc>
                  <a:txBody>
                    <a:bodyPr/>
                    <a:lstStyle/>
                    <a:p>
                      <a:pPr algn="l" fontAlgn="t"/>
                      <a:r>
                        <a:rPr lang="en-IN" sz="2400" dirty="0">
                          <a:effectLst/>
                        </a:rPr>
                        <a:t>Cess</a:t>
                      </a:r>
                    </a:p>
                  </a:txBody>
                  <a:tcPr marL="95250" marR="95250" marT="95250" marB="95250"/>
                </a:tc>
                <a:tc>
                  <a:txBody>
                    <a:bodyPr/>
                    <a:lstStyle/>
                    <a:p>
                      <a:pPr marL="0" marR="0" lvl="0" indent="0" algn="l" defTabSz="457200" rtl="0" eaLnBrk="1" fontAlgn="t" latinLnBrk="0" hangingPunct="1">
                        <a:lnSpc>
                          <a:spcPct val="100000"/>
                        </a:lnSpc>
                        <a:spcBef>
                          <a:spcPts val="0"/>
                        </a:spcBef>
                        <a:spcAft>
                          <a:spcPts val="0"/>
                        </a:spcAft>
                        <a:buClrTx/>
                        <a:buSzTx/>
                        <a:buFontTx/>
                        <a:buNone/>
                        <a:tabLst/>
                        <a:defRPr/>
                      </a:pPr>
                      <a:r>
                        <a:rPr lang="en-US" sz="2400" dirty="0">
                          <a:effectLst/>
                        </a:rPr>
                        <a:t>4% p.a. of Taxable Income</a:t>
                      </a:r>
                    </a:p>
                  </a:txBody>
                  <a:tcPr marL="95250" marR="95250" marT="95250" marB="95250"/>
                </a:tc>
                <a:extLst>
                  <a:ext uri="{0D108BD9-81ED-4DB2-BD59-A6C34878D82A}">
                    <a16:rowId xmlns:a16="http://schemas.microsoft.com/office/drawing/2014/main" val="23666444"/>
                  </a:ext>
                </a:extLst>
              </a:tr>
            </a:tbl>
          </a:graphicData>
        </a:graphic>
      </p:graphicFrame>
      <p:sp>
        <p:nvSpPr>
          <p:cNvPr id="8" name="Content Placeholder 2">
            <a:extLst>
              <a:ext uri="{FF2B5EF4-FFF2-40B4-BE49-F238E27FC236}">
                <a16:creationId xmlns:a16="http://schemas.microsoft.com/office/drawing/2014/main" id="{8F7EB8A7-C8B7-75B9-5DB4-2C321372CA13}"/>
              </a:ext>
            </a:extLst>
          </p:cNvPr>
          <p:cNvSpPr txBox="1">
            <a:spLocks/>
          </p:cNvSpPr>
          <p:nvPr/>
        </p:nvSpPr>
        <p:spPr>
          <a:xfrm>
            <a:off x="644525" y="5774294"/>
            <a:ext cx="11243667" cy="91483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IN" sz="2400" b="1" dirty="0">
                <a:solidFill>
                  <a:schemeClr val="bg2">
                    <a:lumMod val="50000"/>
                  </a:schemeClr>
                </a:solidFill>
              </a:rPr>
              <a:t>*</a:t>
            </a:r>
            <a:r>
              <a:rPr lang="en-IN" sz="2400" b="1" dirty="0">
                <a:solidFill>
                  <a:srgbClr val="7030A0"/>
                </a:solidFill>
              </a:rPr>
              <a:t>APPLICABLE TO NON-SENIOR CITIZEN </a:t>
            </a:r>
            <a:endParaRPr lang="en-US" sz="2400" b="1" dirty="0">
              <a:solidFill>
                <a:srgbClr val="7030A0"/>
              </a:solidFill>
            </a:endParaRPr>
          </a:p>
        </p:txBody>
      </p:sp>
    </p:spTree>
    <p:extLst>
      <p:ext uri="{BB962C8B-B14F-4D97-AF65-F5344CB8AC3E}">
        <p14:creationId xmlns:p14="http://schemas.microsoft.com/office/powerpoint/2010/main" val="2246457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Example - </a:t>
            </a:r>
            <a:r>
              <a:rPr lang="en-IN" sz="4400" b="1" dirty="0">
                <a:solidFill>
                  <a:srgbClr val="FF0000"/>
                </a:solidFill>
              </a:rPr>
              <a:t>OLD TAX REGIME</a:t>
            </a:r>
            <a:br>
              <a:rPr lang="en-US" sz="4400" b="1" dirty="0">
                <a:solidFill>
                  <a:schemeClr val="bg2">
                    <a:lumMod val="50000"/>
                  </a:schemeClr>
                </a:solidFill>
              </a:rPr>
            </a:br>
            <a:r>
              <a:rPr lang="en-US" dirty="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714282"/>
              </p:ext>
            </p:extLst>
          </p:nvPr>
        </p:nvGraphicFramePr>
        <p:xfrm>
          <a:off x="1103313" y="1954978"/>
          <a:ext cx="8947150" cy="2575182"/>
        </p:xfrm>
        <a:graphic>
          <a:graphicData uri="http://schemas.openxmlformats.org/drawingml/2006/table">
            <a:tbl>
              <a:tblPr/>
              <a:tblGrid>
                <a:gridCol w="4473575">
                  <a:extLst>
                    <a:ext uri="{9D8B030D-6E8A-4147-A177-3AD203B41FA5}">
                      <a16:colId xmlns:a16="http://schemas.microsoft.com/office/drawing/2014/main" val="508977335"/>
                    </a:ext>
                  </a:extLst>
                </a:gridCol>
                <a:gridCol w="4473575">
                  <a:extLst>
                    <a:ext uri="{9D8B030D-6E8A-4147-A177-3AD203B41FA5}">
                      <a16:colId xmlns:a16="http://schemas.microsoft.com/office/drawing/2014/main" val="2196072715"/>
                    </a:ext>
                  </a:extLst>
                </a:gridCol>
              </a:tblGrid>
              <a:tr h="408415">
                <a:tc>
                  <a:txBody>
                    <a:bodyPr/>
                    <a:lstStyle/>
                    <a:p>
                      <a:pPr algn="ctr" fontAlgn="ctr">
                        <a:lnSpc>
                          <a:spcPct val="150000"/>
                        </a:lnSpc>
                      </a:pPr>
                      <a:r>
                        <a:rPr lang="en-IN" sz="1800" b="1" dirty="0">
                          <a:effectLst/>
                          <a:latin typeface="Cambria" panose="02040503050406030204" pitchFamily="18" charset="0"/>
                          <a:ea typeface="Cambria" panose="02040503050406030204" pitchFamily="18" charset="0"/>
                        </a:rPr>
                        <a:t>Particulars</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ctr" fontAlgn="ctr">
                        <a:lnSpc>
                          <a:spcPct val="150000"/>
                        </a:lnSpc>
                      </a:pPr>
                      <a:r>
                        <a:rPr lang="en-IN" sz="1800" b="1" dirty="0">
                          <a:effectLst/>
                          <a:latin typeface="Cambria" panose="02040503050406030204" pitchFamily="18" charset="0"/>
                          <a:ea typeface="Cambria" panose="02040503050406030204" pitchFamily="18" charset="0"/>
                        </a:rPr>
                        <a:t>Amount (in Rs)</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605337265"/>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Gross total income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17,00,000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08237532"/>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Section 80C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(1,50,000)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55235563"/>
                  </a:ext>
                </a:extLst>
              </a:tr>
              <a:tr h="357931">
                <a:tc>
                  <a:txBody>
                    <a:bodyPr/>
                    <a:lstStyle/>
                    <a:p>
                      <a:pPr algn="ctr" fontAlgn="base">
                        <a:lnSpc>
                          <a:spcPct val="150000"/>
                        </a:lnSpc>
                      </a:pPr>
                      <a:r>
                        <a:rPr lang="en-US" sz="1800" b="0" dirty="0">
                          <a:effectLst/>
                          <a:latin typeface="Cambria" panose="02040503050406030204" pitchFamily="18" charset="0"/>
                          <a:ea typeface="Cambria" panose="02040503050406030204" pitchFamily="18" charset="0"/>
                        </a:rPr>
                        <a:t>Section 80 CCD(1b) NPS investment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(50,000)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8458330"/>
                  </a:ext>
                </a:extLst>
              </a:tr>
              <a:tr h="357931">
                <a:tc>
                  <a:txBody>
                    <a:bodyPr/>
                    <a:lstStyle/>
                    <a:p>
                      <a:pPr algn="ctr" fontAlgn="base">
                        <a:lnSpc>
                          <a:spcPct val="150000"/>
                        </a:lnSpc>
                      </a:pPr>
                      <a:r>
                        <a:rPr lang="en-US" sz="1800" b="0" dirty="0">
                          <a:effectLst/>
                          <a:latin typeface="Cambria" panose="02040503050406030204" pitchFamily="18" charset="0"/>
                          <a:ea typeface="Cambria" panose="02040503050406030204" pitchFamily="18" charset="0"/>
                        </a:rPr>
                        <a:t>Section 80D – medical insurance premium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(25,000)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7490592"/>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Section 80TTA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53014088"/>
                  </a:ext>
                </a:extLst>
              </a:tr>
              <a:tr h="357931">
                <a:tc>
                  <a:txBody>
                    <a:bodyPr/>
                    <a:lstStyle/>
                    <a:p>
                      <a:pPr algn="ctr" fontAlgn="base">
                        <a:lnSpc>
                          <a:spcPct val="150000"/>
                        </a:lnSpc>
                      </a:pPr>
                      <a:r>
                        <a:rPr lang="en-IN" sz="1800" b="1" dirty="0">
                          <a:effectLst/>
                          <a:latin typeface="Cambria" panose="02040503050406030204" pitchFamily="18" charset="0"/>
                          <a:ea typeface="Cambria" panose="02040503050406030204" pitchFamily="18" charset="0"/>
                        </a:rPr>
                        <a:t>Net taxable income</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1" dirty="0">
                          <a:effectLst/>
                          <a:latin typeface="Cambria" panose="02040503050406030204" pitchFamily="18" charset="0"/>
                          <a:ea typeface="Cambria" panose="02040503050406030204" pitchFamily="18" charset="0"/>
                        </a:rPr>
                        <a:t>14,65,000</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14688649"/>
                  </a:ext>
                </a:extLst>
              </a:tr>
            </a:tbl>
          </a:graphicData>
        </a:graphic>
      </p:graphicFrame>
      <p:sp>
        <p:nvSpPr>
          <p:cNvPr id="8" name="Rectangle 7"/>
          <p:cNvSpPr/>
          <p:nvPr/>
        </p:nvSpPr>
        <p:spPr>
          <a:xfrm>
            <a:off x="459798" y="4993540"/>
            <a:ext cx="11335039" cy="1569660"/>
          </a:xfrm>
          <a:prstGeom prst="rect">
            <a:avLst/>
          </a:prstGeom>
        </p:spPr>
        <p:txBody>
          <a:bodyPr wrap="square">
            <a:spAutoFit/>
          </a:bodyPr>
          <a:lstStyle/>
          <a:p>
            <a:pPr marL="342900" indent="-342900">
              <a:buFont typeface="Wingdings" panose="05000000000000000000" pitchFamily="2" charset="2"/>
              <a:buChar char="Ø"/>
            </a:pPr>
            <a:r>
              <a:rPr lang="en-US" sz="2400" dirty="0"/>
              <a:t>Total </a:t>
            </a:r>
            <a:r>
              <a:rPr lang="en-US" sz="2400" dirty="0">
                <a:solidFill>
                  <a:srgbClr val="FF0000"/>
                </a:solidFill>
              </a:rPr>
              <a:t>income tax liability </a:t>
            </a:r>
            <a:r>
              <a:rPr lang="en-US" sz="2400" dirty="0"/>
              <a:t>Rs 2,52,000/-</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IN" sz="2400" dirty="0"/>
              <a:t>The </a:t>
            </a:r>
            <a:r>
              <a:rPr lang="en-IN" sz="2400" dirty="0">
                <a:solidFill>
                  <a:srgbClr val="FF0000"/>
                </a:solidFill>
              </a:rPr>
              <a:t>final tax payable </a:t>
            </a:r>
            <a:r>
              <a:rPr lang="en-IN" sz="2400" dirty="0"/>
              <a:t>on gross income of Rs 17 lakh is </a:t>
            </a:r>
            <a:r>
              <a:rPr lang="en-IN" sz="2400" dirty="0">
                <a:solidFill>
                  <a:srgbClr val="FF0000"/>
                </a:solidFill>
              </a:rPr>
              <a:t>Rs 2,62,080 (including 4% cess)</a:t>
            </a:r>
            <a:r>
              <a:rPr lang="en-IN" sz="2400" dirty="0"/>
              <a:t>, after claiming deductions of Rs 2.75 lakh. </a:t>
            </a:r>
          </a:p>
        </p:txBody>
      </p:sp>
    </p:spTree>
    <p:extLst>
      <p:ext uri="{BB962C8B-B14F-4D97-AF65-F5344CB8AC3E}">
        <p14:creationId xmlns:p14="http://schemas.microsoft.com/office/powerpoint/2010/main" val="3805527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800" dirty="0"/>
              <a:t>If an individual's net taxable income exceeds a specified level, then a surcharge is levied. </a:t>
            </a:r>
          </a:p>
          <a:p>
            <a:pPr algn="just" fontAlgn="base"/>
            <a:endParaRPr lang="en-US" sz="2800" dirty="0"/>
          </a:p>
          <a:p>
            <a:pPr algn="just" fontAlgn="base"/>
            <a:r>
              <a:rPr lang="en-US" sz="2800" dirty="0"/>
              <a:t>The </a:t>
            </a:r>
            <a:r>
              <a:rPr lang="en-US" sz="2800" b="1" dirty="0">
                <a:solidFill>
                  <a:srgbClr val="FF0000"/>
                </a:solidFill>
              </a:rPr>
              <a:t>surcharge is levied on the income tax payable </a:t>
            </a:r>
            <a:r>
              <a:rPr lang="en-US" sz="2800" dirty="0"/>
              <a:t>amount </a:t>
            </a:r>
            <a:r>
              <a:rPr lang="en-US" sz="2800" b="1" dirty="0">
                <a:solidFill>
                  <a:srgbClr val="FF0000"/>
                </a:solidFill>
              </a:rPr>
              <a:t>before</a:t>
            </a:r>
            <a:r>
              <a:rPr lang="en-US" sz="2800" dirty="0"/>
              <a:t> the levy of cess. </a:t>
            </a:r>
          </a:p>
          <a:p>
            <a:pPr algn="just" fontAlgn="base"/>
            <a:endParaRPr lang="en-US" sz="2800" dirty="0"/>
          </a:p>
          <a:p>
            <a:pPr algn="just" fontAlgn="base"/>
            <a:r>
              <a:rPr lang="en-US" sz="2800" dirty="0"/>
              <a:t>According to income tax laws, a surcharge is applicable if an individual's taxable income exceeds Rs 50 lakh.</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384859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673009657"/>
              </p:ext>
            </p:extLst>
          </p:nvPr>
        </p:nvGraphicFramePr>
        <p:xfrm>
          <a:off x="301787" y="1161607"/>
          <a:ext cx="8852373" cy="2382580"/>
        </p:xfrm>
        <a:graphic>
          <a:graphicData uri="http://schemas.openxmlformats.org/drawingml/2006/table">
            <a:tbl>
              <a:tblPr/>
              <a:tblGrid>
                <a:gridCol w="4866691">
                  <a:extLst>
                    <a:ext uri="{9D8B030D-6E8A-4147-A177-3AD203B41FA5}">
                      <a16:colId xmlns:a16="http://schemas.microsoft.com/office/drawing/2014/main" val="1743914519"/>
                    </a:ext>
                  </a:extLst>
                </a:gridCol>
                <a:gridCol w="3985682">
                  <a:extLst>
                    <a:ext uri="{9D8B030D-6E8A-4147-A177-3AD203B41FA5}">
                      <a16:colId xmlns:a16="http://schemas.microsoft.com/office/drawing/2014/main" val="3080721745"/>
                    </a:ext>
                  </a:extLst>
                </a:gridCol>
              </a:tblGrid>
              <a:tr h="239482">
                <a:tc gridSpan="2">
                  <a:txBody>
                    <a:bodyPr/>
                    <a:lstStyle/>
                    <a:p>
                      <a:pPr algn="l" fontAlgn="base"/>
                      <a:r>
                        <a:rPr lang="en-US" sz="1600" b="1" dirty="0">
                          <a:solidFill>
                            <a:srgbClr val="7030A0"/>
                          </a:solidFill>
                          <a:effectLst/>
                          <a:latin typeface="Cambria" panose="02040503050406030204" pitchFamily="18" charset="0"/>
                          <a:ea typeface="Cambria" panose="02040503050406030204" pitchFamily="18" charset="0"/>
                        </a:rPr>
                        <a:t>Surcharge rate from April 1, 2023 under </a:t>
                      </a:r>
                      <a:r>
                        <a:rPr lang="en-US" sz="1600" b="1" dirty="0">
                          <a:solidFill>
                            <a:srgbClr val="FF0000"/>
                          </a:solidFill>
                          <a:effectLst/>
                          <a:latin typeface="Cambria" panose="02040503050406030204" pitchFamily="18" charset="0"/>
                          <a:ea typeface="Cambria" panose="02040503050406030204" pitchFamily="18" charset="0"/>
                        </a:rPr>
                        <a:t>NEW TAX REGIME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2855359835"/>
                  </a:ext>
                </a:extLst>
              </a:tr>
              <a:tr h="420104">
                <a:tc>
                  <a:txBody>
                    <a:bodyPr/>
                    <a:lstStyle/>
                    <a:p>
                      <a:pPr algn="l" fontAlgn="ctr"/>
                      <a:r>
                        <a:rPr lang="en-IN" sz="1600" b="0" dirty="0">
                          <a:effectLst/>
                          <a:latin typeface="Cambria" panose="02040503050406030204" pitchFamily="18" charset="0"/>
                          <a:ea typeface="Cambria" panose="02040503050406030204" pitchFamily="18" charset="0"/>
                        </a:rPr>
                        <a:t>Income range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l" fontAlgn="ctr"/>
                      <a:r>
                        <a:rPr lang="en-IN" sz="1600" b="0">
                          <a:effectLst/>
                          <a:latin typeface="Cambria" panose="02040503050406030204" pitchFamily="18" charset="0"/>
                          <a:ea typeface="Cambria" panose="02040503050406030204" pitchFamily="18" charset="0"/>
                        </a:rPr>
                        <a:t>Surcharge rate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879892776"/>
                  </a:ext>
                </a:extLst>
              </a:tr>
              <a:tr h="420104">
                <a:tc>
                  <a:txBody>
                    <a:bodyPr/>
                    <a:lstStyle/>
                    <a:p>
                      <a:pPr fontAlgn="base"/>
                      <a:r>
                        <a:rPr lang="en-US" sz="1600" b="0" dirty="0">
                          <a:effectLst/>
                          <a:latin typeface="Cambria" panose="02040503050406030204" pitchFamily="18" charset="0"/>
                          <a:ea typeface="Cambria" panose="02040503050406030204" pitchFamily="18" charset="0"/>
                        </a:rPr>
                        <a:t>Up to Rs 50 lakh</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Nil</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1359861"/>
                  </a:ext>
                </a:extLst>
              </a:tr>
              <a:tr h="420104">
                <a:tc>
                  <a:txBody>
                    <a:bodyPr/>
                    <a:lstStyle/>
                    <a:p>
                      <a:pPr fontAlgn="base"/>
                      <a:r>
                        <a:rPr lang="en-US" sz="1600" b="0" dirty="0">
                          <a:effectLst/>
                          <a:latin typeface="Cambria" panose="02040503050406030204" pitchFamily="18" charset="0"/>
                          <a:ea typeface="Cambria" panose="02040503050406030204" pitchFamily="18" charset="0"/>
                        </a:rPr>
                        <a:t>More than Rs 50 lakh but up to Rs 1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10%</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82323040"/>
                  </a:ext>
                </a:extLst>
              </a:tr>
              <a:tr h="420104">
                <a:tc>
                  <a:txBody>
                    <a:bodyPr/>
                    <a:lstStyle/>
                    <a:p>
                      <a:pPr fontAlgn="base"/>
                      <a:r>
                        <a:rPr lang="en-US" sz="1600" b="0" dirty="0">
                          <a:effectLst/>
                          <a:latin typeface="Cambria" panose="02040503050406030204" pitchFamily="18" charset="0"/>
                          <a:ea typeface="Cambria" panose="02040503050406030204" pitchFamily="18" charset="0"/>
                        </a:rPr>
                        <a:t>More than Rs 1 crore but up to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15%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72837836"/>
                  </a:ext>
                </a:extLst>
              </a:tr>
              <a:tr h="420104">
                <a:tc>
                  <a:txBody>
                    <a:bodyPr/>
                    <a:lstStyle/>
                    <a:p>
                      <a:pPr fontAlgn="base"/>
                      <a:r>
                        <a:rPr lang="en-US" sz="1600" b="0" dirty="0">
                          <a:effectLst/>
                          <a:latin typeface="Cambria" panose="02040503050406030204" pitchFamily="18" charset="0"/>
                          <a:ea typeface="Cambria" panose="02040503050406030204" pitchFamily="18" charset="0"/>
                        </a:rPr>
                        <a:t>More than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25%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246896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748588619"/>
              </p:ext>
            </p:extLst>
          </p:nvPr>
        </p:nvGraphicFramePr>
        <p:xfrm>
          <a:off x="301787" y="3842806"/>
          <a:ext cx="8947150" cy="2810328"/>
        </p:xfrm>
        <a:graphic>
          <a:graphicData uri="http://schemas.openxmlformats.org/drawingml/2006/table">
            <a:tbl>
              <a:tblPr/>
              <a:tblGrid>
                <a:gridCol w="4935231">
                  <a:extLst>
                    <a:ext uri="{9D8B030D-6E8A-4147-A177-3AD203B41FA5}">
                      <a16:colId xmlns:a16="http://schemas.microsoft.com/office/drawing/2014/main" val="1096275435"/>
                    </a:ext>
                  </a:extLst>
                </a:gridCol>
                <a:gridCol w="4011919">
                  <a:extLst>
                    <a:ext uri="{9D8B030D-6E8A-4147-A177-3AD203B41FA5}">
                      <a16:colId xmlns:a16="http://schemas.microsoft.com/office/drawing/2014/main" val="123916468"/>
                    </a:ext>
                  </a:extLst>
                </a:gridCol>
              </a:tblGrid>
              <a:tr h="240514">
                <a:tc gridSpan="2">
                  <a:txBody>
                    <a:bodyPr/>
                    <a:lstStyle/>
                    <a:p>
                      <a:pPr algn="l" fontAlgn="base"/>
                      <a:r>
                        <a:rPr lang="en-US" sz="1600" b="1" dirty="0">
                          <a:solidFill>
                            <a:srgbClr val="7030A0"/>
                          </a:solidFill>
                          <a:effectLst/>
                          <a:latin typeface="Cambria" panose="02040503050406030204" pitchFamily="18" charset="0"/>
                          <a:ea typeface="Cambria" panose="02040503050406030204" pitchFamily="18" charset="0"/>
                        </a:rPr>
                        <a:t>Surcharge rate under </a:t>
                      </a:r>
                      <a:r>
                        <a:rPr lang="en-US" sz="1600" b="1" dirty="0">
                          <a:solidFill>
                            <a:srgbClr val="FF0000"/>
                          </a:solidFill>
                          <a:effectLst/>
                          <a:latin typeface="Cambria" panose="02040503050406030204" pitchFamily="18" charset="0"/>
                          <a:ea typeface="Cambria" panose="02040503050406030204" pitchFamily="18" charset="0"/>
                        </a:rPr>
                        <a:t>OLD TAX REGIME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2252691452"/>
                  </a:ext>
                </a:extLst>
              </a:tr>
              <a:tr h="421914">
                <a:tc>
                  <a:txBody>
                    <a:bodyPr/>
                    <a:lstStyle/>
                    <a:p>
                      <a:pPr algn="l" fontAlgn="ctr"/>
                      <a:r>
                        <a:rPr lang="en-IN" sz="1600" b="0" dirty="0">
                          <a:effectLst/>
                          <a:latin typeface="Cambria" panose="02040503050406030204" pitchFamily="18" charset="0"/>
                          <a:ea typeface="Cambria" panose="02040503050406030204" pitchFamily="18" charset="0"/>
                        </a:rPr>
                        <a:t>Income range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l" fontAlgn="ctr"/>
                      <a:r>
                        <a:rPr lang="en-IN" sz="1600" b="0">
                          <a:effectLst/>
                          <a:latin typeface="Cambria" panose="02040503050406030204" pitchFamily="18" charset="0"/>
                          <a:ea typeface="Cambria" panose="02040503050406030204" pitchFamily="18" charset="0"/>
                        </a:rPr>
                        <a:t>Surcharge rate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621966489"/>
                  </a:ext>
                </a:extLst>
              </a:tr>
              <a:tr h="421914">
                <a:tc>
                  <a:txBody>
                    <a:bodyPr/>
                    <a:lstStyle/>
                    <a:p>
                      <a:pPr fontAlgn="base"/>
                      <a:r>
                        <a:rPr lang="en-IN" sz="1600" b="0" dirty="0" err="1">
                          <a:effectLst/>
                          <a:latin typeface="Cambria" panose="02040503050406030204" pitchFamily="18" charset="0"/>
                          <a:ea typeface="Cambria" panose="02040503050406030204" pitchFamily="18" charset="0"/>
                        </a:rPr>
                        <a:t>Upto</a:t>
                      </a:r>
                      <a:r>
                        <a:rPr lang="en-IN" sz="1600" b="0" dirty="0">
                          <a:effectLst/>
                          <a:latin typeface="Cambria" panose="02040503050406030204" pitchFamily="18" charset="0"/>
                          <a:ea typeface="Cambria" panose="02040503050406030204" pitchFamily="18" charset="0"/>
                        </a:rPr>
                        <a:t> Rs 50 lakh</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Nil</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7202516"/>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50 lakh but up to Rs 1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10%</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3150631"/>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1 crore but up to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15%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62153804"/>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2 crore but up to Rs 5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25%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32311127"/>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5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37%</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31103714"/>
                  </a:ext>
                </a:extLst>
              </a:tr>
            </a:tbl>
          </a:graphicData>
        </a:graphic>
      </p:graphicFrame>
    </p:spTree>
    <p:extLst>
      <p:ext uri="{BB962C8B-B14F-4D97-AF65-F5344CB8AC3E}">
        <p14:creationId xmlns:p14="http://schemas.microsoft.com/office/powerpoint/2010/main" val="481334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0907425" cy="5357522"/>
          </a:xfrm>
        </p:spPr>
        <p:txBody>
          <a:bodyPr>
            <a:noAutofit/>
          </a:bodyPr>
          <a:lstStyle/>
          <a:p>
            <a:pPr algn="just" fontAlgn="base"/>
            <a:r>
              <a:rPr lang="en-US" sz="2800" dirty="0"/>
              <a:t>There are certain exceptions to the surcharge rates mentioned above. If an </a:t>
            </a:r>
            <a:r>
              <a:rPr lang="en-US" sz="2800" dirty="0">
                <a:solidFill>
                  <a:srgbClr val="FF0000"/>
                </a:solidFill>
              </a:rPr>
              <a:t>individual has earned income from </a:t>
            </a:r>
            <a:r>
              <a:rPr lang="en-US" sz="2800" dirty="0"/>
              <a:t>capital gains (short term or long term) through the sale of equity shares and equity mutual funds or dividend income, the surcharge will not exceed 15%, irrespective of the income range.</a:t>
            </a:r>
          </a:p>
          <a:p>
            <a:pPr algn="just" fontAlgn="base"/>
            <a:endParaRPr lang="en-US" sz="2800" dirty="0"/>
          </a:p>
          <a:p>
            <a:pPr algn="just" fontAlgn="base"/>
            <a:r>
              <a:rPr lang="en-US" sz="2800" dirty="0"/>
              <a:t>While understanding the concept of </a:t>
            </a:r>
            <a:r>
              <a:rPr lang="en-US" sz="2800" b="1" dirty="0">
                <a:solidFill>
                  <a:srgbClr val="FF0000"/>
                </a:solidFill>
              </a:rPr>
              <a:t>surcharge</a:t>
            </a:r>
            <a:r>
              <a:rPr lang="en-US" sz="2800" dirty="0"/>
              <a:t>, one must also know the term </a:t>
            </a:r>
            <a:r>
              <a:rPr lang="en-US" sz="2800" b="1" dirty="0">
                <a:solidFill>
                  <a:srgbClr val="FF0000"/>
                </a:solidFill>
              </a:rPr>
              <a:t>marginal relief</a:t>
            </a:r>
            <a:r>
              <a:rPr lang="en-US" sz="2800" dirty="0"/>
              <a:t>. The concept of marginal relief kicks in when the amount of surcharge on income tax payable exceeds the increase in income over the specified limit.</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671156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800" dirty="0"/>
              <a:t>Suppose an individual has a </a:t>
            </a:r>
            <a:r>
              <a:rPr lang="en-US" sz="2800" dirty="0">
                <a:solidFill>
                  <a:srgbClr val="FF0000"/>
                </a:solidFill>
              </a:rPr>
              <a:t>net taxable income of </a:t>
            </a:r>
            <a:r>
              <a:rPr lang="en-US" sz="2800" dirty="0"/>
              <a:t>Rs 51 lakh. As the income exceeds Rs 50 lakh, the surcharge will be applicable at the rate of 10%. </a:t>
            </a:r>
          </a:p>
          <a:p>
            <a:pPr algn="just" fontAlgn="base"/>
            <a:endParaRPr lang="en-US" sz="2800" dirty="0"/>
          </a:p>
          <a:p>
            <a:pPr algn="just" fontAlgn="base"/>
            <a:r>
              <a:rPr lang="en-US" sz="2800" dirty="0"/>
              <a:t>The tax payable on Rs 51 lakh (</a:t>
            </a:r>
            <a:r>
              <a:rPr lang="en-US" sz="2800" dirty="0">
                <a:solidFill>
                  <a:srgbClr val="FF0000"/>
                </a:solidFill>
              </a:rPr>
              <a:t>without surcharge) is Rs </a:t>
            </a:r>
            <a:r>
              <a:rPr lang="en-US" sz="2800" b="1" dirty="0">
                <a:solidFill>
                  <a:srgbClr val="7030A0"/>
                </a:solidFill>
              </a:rPr>
              <a:t>13,42,500</a:t>
            </a:r>
            <a:r>
              <a:rPr lang="en-US" sz="2800" dirty="0"/>
              <a:t>. The </a:t>
            </a:r>
            <a:r>
              <a:rPr lang="en-US" sz="2800" dirty="0">
                <a:solidFill>
                  <a:srgbClr val="FF0000"/>
                </a:solidFill>
              </a:rPr>
              <a:t>surcharge amount </a:t>
            </a:r>
            <a:r>
              <a:rPr lang="en-US" sz="2800" dirty="0"/>
              <a:t>will be Rs 1,34,250 (at 10% of tax payable).</a:t>
            </a:r>
          </a:p>
          <a:p>
            <a:pPr algn="just" fontAlgn="base"/>
            <a:endParaRPr lang="en-US" sz="2800" dirty="0"/>
          </a:p>
          <a:p>
            <a:pPr algn="just" fontAlgn="base"/>
            <a:r>
              <a:rPr lang="en-US" sz="2800" dirty="0"/>
              <a:t>Here the surcharge amount Rs 1,34,250 is higher than the additional income above Rs 50 lakh (Rs 1,00,000). This is where the concept of marginal relief kicks in.</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784538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797850" cy="5037020"/>
          </a:xfrm>
        </p:spPr>
        <p:txBody>
          <a:bodyPr>
            <a:noAutofit/>
          </a:bodyPr>
          <a:lstStyle/>
          <a:p>
            <a:pPr algn="just" fontAlgn="base"/>
            <a:r>
              <a:rPr lang="en-US" sz="2800" dirty="0"/>
              <a:t>To know the amount of </a:t>
            </a:r>
            <a:r>
              <a:rPr lang="en-US" sz="2800" b="1" dirty="0">
                <a:solidFill>
                  <a:srgbClr val="FF0000"/>
                </a:solidFill>
              </a:rPr>
              <a:t>marginal relief </a:t>
            </a:r>
            <a:r>
              <a:rPr lang="en-US" sz="2800" dirty="0"/>
              <a:t>that is applicable, one needs to calculate income tax payable on Rs 50 lakh. This is because no surcharge will be applicable till the income exceeds Rs 50 lakh. The income tax payable will be Rs 13,12,500. </a:t>
            </a:r>
          </a:p>
          <a:p>
            <a:pPr algn="just" fontAlgn="base"/>
            <a:endParaRPr lang="en-US" sz="2800" dirty="0"/>
          </a:p>
          <a:p>
            <a:pPr algn="just" fontAlgn="base"/>
            <a:r>
              <a:rPr lang="en-US" sz="2800" dirty="0"/>
              <a:t>Now add income above Rs 50 lakh (Rs 1 lakh) to the income tax payable amount. The </a:t>
            </a:r>
            <a:r>
              <a:rPr lang="en-US" sz="2800" dirty="0">
                <a:solidFill>
                  <a:srgbClr val="FF0000"/>
                </a:solidFill>
              </a:rPr>
              <a:t>tax payable amount under marginal relief will be Rs </a:t>
            </a:r>
            <a:r>
              <a:rPr lang="en-US" sz="2800" b="1" dirty="0">
                <a:solidFill>
                  <a:srgbClr val="7030A0"/>
                </a:solidFill>
              </a:rPr>
              <a:t>14,12,500</a:t>
            </a:r>
            <a:r>
              <a:rPr lang="en-US" sz="2800" dirty="0"/>
              <a:t>.</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536747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797850" cy="5357522"/>
          </a:xfrm>
        </p:spPr>
        <p:txBody>
          <a:bodyPr>
            <a:noAutofit/>
          </a:bodyPr>
          <a:lstStyle/>
          <a:p>
            <a:pPr algn="just" fontAlgn="base"/>
            <a:r>
              <a:rPr lang="en-US" sz="2800" dirty="0"/>
              <a:t>To ascertain the actual income tax payable with surcharge, </a:t>
            </a:r>
            <a:r>
              <a:rPr lang="en-US" sz="2800" b="1" dirty="0">
                <a:solidFill>
                  <a:srgbClr val="FF0000"/>
                </a:solidFill>
              </a:rPr>
              <a:t>compare</a:t>
            </a:r>
            <a:r>
              <a:rPr lang="en-US" sz="2800" dirty="0"/>
              <a:t> the normal tax liability (before surcharge and </a:t>
            </a:r>
            <a:r>
              <a:rPr lang="en-US" sz="2800" dirty="0" err="1"/>
              <a:t>cess</a:t>
            </a:r>
            <a:r>
              <a:rPr lang="en-US" sz="2800" dirty="0"/>
              <a:t>) and tax liability after marginal tax relief (without </a:t>
            </a:r>
            <a:r>
              <a:rPr lang="en-US" sz="2800" dirty="0" err="1"/>
              <a:t>cess</a:t>
            </a:r>
            <a:r>
              <a:rPr lang="en-US" sz="2800" dirty="0"/>
              <a:t>). </a:t>
            </a:r>
          </a:p>
          <a:p>
            <a:pPr algn="just" fontAlgn="base"/>
            <a:endParaRPr lang="en-US" sz="2800" dirty="0"/>
          </a:p>
          <a:p>
            <a:pPr algn="just" fontAlgn="base"/>
            <a:r>
              <a:rPr lang="en-US" sz="2800" dirty="0"/>
              <a:t>Normal tax liability is Rs 13,42,500 and tax liability after marginal tax relief is Rs 14,12,500. The </a:t>
            </a:r>
            <a:r>
              <a:rPr lang="en-US" sz="2800" dirty="0">
                <a:solidFill>
                  <a:srgbClr val="FF0000"/>
                </a:solidFill>
              </a:rPr>
              <a:t>surcharge that will be applicable </a:t>
            </a:r>
            <a:r>
              <a:rPr lang="en-US" sz="2800" dirty="0"/>
              <a:t>is Rs </a:t>
            </a:r>
            <a:r>
              <a:rPr lang="en-US" sz="2800" b="1" dirty="0">
                <a:solidFill>
                  <a:srgbClr val="7030A0"/>
                </a:solidFill>
              </a:rPr>
              <a:t>70,000</a:t>
            </a:r>
            <a:r>
              <a:rPr lang="en-US" sz="2800" dirty="0"/>
              <a:t> (Rs 14,12,500 - Rs 13,42,500).</a:t>
            </a:r>
          </a:p>
          <a:p>
            <a:pPr algn="just" fontAlgn="base"/>
            <a:endParaRPr lang="en-US" sz="2800" dirty="0"/>
          </a:p>
          <a:p>
            <a:pPr algn="just" fontAlgn="base"/>
            <a:r>
              <a:rPr lang="en-US" sz="2800" dirty="0"/>
              <a:t>The </a:t>
            </a:r>
            <a:r>
              <a:rPr lang="en-US" sz="2800" b="1" dirty="0">
                <a:solidFill>
                  <a:srgbClr val="FF0000"/>
                </a:solidFill>
              </a:rPr>
              <a:t>final tax payable amount </a:t>
            </a:r>
            <a:r>
              <a:rPr lang="en-US" sz="2800" dirty="0"/>
              <a:t>will be Rs 13,42,500 (Tax payable amount) + Rs 70,000 (Surcharge) + Rs 56,500 (</a:t>
            </a:r>
            <a:r>
              <a:rPr lang="en-US" sz="2800" dirty="0" err="1"/>
              <a:t>Cess</a:t>
            </a:r>
            <a:r>
              <a:rPr lang="en-US" sz="2800" dirty="0"/>
              <a:t> at 4% on Rs 14,12,500) = </a:t>
            </a:r>
            <a:r>
              <a:rPr lang="en-US" sz="2800" b="1" dirty="0">
                <a:solidFill>
                  <a:srgbClr val="FF0000"/>
                </a:solidFill>
              </a:rPr>
              <a:t>Rs 14,69,000.</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39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252495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40</a:t>
            </a:fld>
            <a:endParaRPr lang="en-IN"/>
          </a:p>
        </p:txBody>
      </p:sp>
      <p:graphicFrame>
        <p:nvGraphicFramePr>
          <p:cNvPr id="3" name="Table 2"/>
          <p:cNvGraphicFramePr>
            <a:graphicFrameLocks noGrp="1"/>
          </p:cNvGraphicFramePr>
          <p:nvPr>
            <p:extLst>
              <p:ext uri="{D42A27DB-BD31-4B8C-83A1-F6EECF244321}">
                <p14:modId xmlns:p14="http://schemas.microsoft.com/office/powerpoint/2010/main" val="3976056512"/>
              </p:ext>
            </p:extLst>
          </p:nvPr>
        </p:nvGraphicFramePr>
        <p:xfrm>
          <a:off x="506187" y="295731"/>
          <a:ext cx="11250384" cy="6235698"/>
        </p:xfrm>
        <a:graphic>
          <a:graphicData uri="http://schemas.openxmlformats.org/drawingml/2006/table">
            <a:tbl>
              <a:tblPr>
                <a:tableStyleId>{5C22544A-7EE6-4342-B048-85BDC9FD1C3A}</a:tableStyleId>
              </a:tblPr>
              <a:tblGrid>
                <a:gridCol w="989044">
                  <a:extLst>
                    <a:ext uri="{9D8B030D-6E8A-4147-A177-3AD203B41FA5}">
                      <a16:colId xmlns:a16="http://schemas.microsoft.com/office/drawing/2014/main" val="893430782"/>
                    </a:ext>
                  </a:extLst>
                </a:gridCol>
                <a:gridCol w="2518974">
                  <a:extLst>
                    <a:ext uri="{9D8B030D-6E8A-4147-A177-3AD203B41FA5}">
                      <a16:colId xmlns:a16="http://schemas.microsoft.com/office/drawing/2014/main" val="2146013997"/>
                    </a:ext>
                  </a:extLst>
                </a:gridCol>
                <a:gridCol w="1730828">
                  <a:extLst>
                    <a:ext uri="{9D8B030D-6E8A-4147-A177-3AD203B41FA5}">
                      <a16:colId xmlns:a16="http://schemas.microsoft.com/office/drawing/2014/main" val="522930059"/>
                    </a:ext>
                  </a:extLst>
                </a:gridCol>
                <a:gridCol w="989044">
                  <a:extLst>
                    <a:ext uri="{9D8B030D-6E8A-4147-A177-3AD203B41FA5}">
                      <a16:colId xmlns:a16="http://schemas.microsoft.com/office/drawing/2014/main" val="1355978143"/>
                    </a:ext>
                  </a:extLst>
                </a:gridCol>
                <a:gridCol w="989044">
                  <a:extLst>
                    <a:ext uri="{9D8B030D-6E8A-4147-A177-3AD203B41FA5}">
                      <a16:colId xmlns:a16="http://schemas.microsoft.com/office/drawing/2014/main" val="1785802660"/>
                    </a:ext>
                  </a:extLst>
                </a:gridCol>
                <a:gridCol w="2070813">
                  <a:extLst>
                    <a:ext uri="{9D8B030D-6E8A-4147-A177-3AD203B41FA5}">
                      <a16:colId xmlns:a16="http://schemas.microsoft.com/office/drawing/2014/main" val="3010098588"/>
                    </a:ext>
                  </a:extLst>
                </a:gridCol>
                <a:gridCol w="1962637">
                  <a:extLst>
                    <a:ext uri="{9D8B030D-6E8A-4147-A177-3AD203B41FA5}">
                      <a16:colId xmlns:a16="http://schemas.microsoft.com/office/drawing/2014/main" val="2957478443"/>
                    </a:ext>
                  </a:extLst>
                </a:gridCol>
              </a:tblGrid>
              <a:tr h="296938">
                <a:tc gridSpan="3">
                  <a:txBody>
                    <a:bodyPr/>
                    <a:lstStyle/>
                    <a:p>
                      <a:pPr algn="ctr" fontAlgn="ctr"/>
                      <a:r>
                        <a:rPr lang="en-IN" sz="1100" u="none" strike="noStrike">
                          <a:effectLst/>
                        </a:rPr>
                        <a:t>Surcharge without Marginal Relief</a:t>
                      </a:r>
                      <a:endParaRPr lang="en-IN" sz="1100" b="1" i="0" u="none" strike="noStrike">
                        <a:solidFill>
                          <a:srgbClr val="000000"/>
                        </a:solidFill>
                        <a:effectLst/>
                        <a:latin typeface="Calibri" panose="020F0502020204030204" pitchFamily="34" charset="0"/>
                      </a:endParaRPr>
                    </a:p>
                  </a:txBody>
                  <a:tcPr marL="7455" marR="7455" marT="7455" marB="0" anchor="ctr"/>
                </a:tc>
                <a:tc hMerge="1">
                  <a:txBody>
                    <a:bodyPr/>
                    <a:lstStyle/>
                    <a:p>
                      <a:endParaRPr lang="en-IN"/>
                    </a:p>
                  </a:txBody>
                  <a:tcPr/>
                </a:tc>
                <a:tc hMerge="1">
                  <a:txBody>
                    <a:bodyPr/>
                    <a:lstStyle/>
                    <a:p>
                      <a:endParaRPr lang="en-IN"/>
                    </a:p>
                  </a:txBody>
                  <a:tcP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gridSpan="3">
                  <a:txBody>
                    <a:bodyPr/>
                    <a:lstStyle/>
                    <a:p>
                      <a:pPr algn="ctr" fontAlgn="ctr"/>
                      <a:r>
                        <a:rPr lang="en-IN" sz="1100" u="none" strike="noStrike">
                          <a:effectLst/>
                        </a:rPr>
                        <a:t>Surcharge with Marginal Relief</a:t>
                      </a:r>
                      <a:endParaRPr lang="en-IN" sz="1100" b="1" i="0" u="none" strike="noStrike">
                        <a:solidFill>
                          <a:srgbClr val="000000"/>
                        </a:solidFill>
                        <a:effectLst/>
                        <a:latin typeface="Calibri" panose="020F0502020204030204" pitchFamily="34" charset="0"/>
                      </a:endParaRPr>
                    </a:p>
                  </a:txBody>
                  <a:tcPr marL="7455" marR="7455" marT="745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35291903"/>
                  </a:ext>
                </a:extLst>
              </a:tr>
              <a:tr h="296938">
                <a:tc>
                  <a:txBody>
                    <a:bodyPr/>
                    <a:lstStyle/>
                    <a:p>
                      <a:pPr algn="ctr" fontAlgn="ctr"/>
                      <a:r>
                        <a:rPr lang="en-IN" sz="1800" u="none" strike="noStrike" dirty="0">
                          <a:effectLst/>
                        </a:rPr>
                        <a:t>Tax</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Taxable Income</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51,00,000.00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Taxable Income</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50,00,000.00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091734699"/>
                  </a:ext>
                </a:extLst>
              </a:tr>
              <a:tr h="296938">
                <a:tc>
                  <a:txBody>
                    <a:bodyPr/>
                    <a:lstStyle/>
                    <a:p>
                      <a:pPr algn="ctr"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756944929"/>
                  </a:ext>
                </a:extLst>
              </a:tr>
              <a:tr h="296938">
                <a:tc>
                  <a:txBody>
                    <a:bodyPr/>
                    <a:lstStyle/>
                    <a:p>
                      <a:pPr algn="ctr" fontAlgn="ctr"/>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0 to 250000</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0 to 250000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618563151"/>
                  </a:ext>
                </a:extLst>
              </a:tr>
              <a:tr h="296938">
                <a:tc>
                  <a:txBody>
                    <a:bodyPr/>
                    <a:lstStyle/>
                    <a:p>
                      <a:pPr algn="ctr" fontAlgn="ctr"/>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250000 to 500000</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12,500.00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250000 to 500000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12,500.00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983917030"/>
                  </a:ext>
                </a:extLst>
              </a:tr>
              <a:tr h="296938">
                <a:tc>
                  <a:txBody>
                    <a:bodyPr/>
                    <a:lstStyle/>
                    <a:p>
                      <a:pPr algn="ctr" fontAlgn="ct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500000 to 1000000</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 ₹   1,00,000.00 </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500000 to 1000000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1,00,000.00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423388338"/>
                  </a:ext>
                </a:extLst>
              </a:tr>
              <a:tr h="296938">
                <a:tc>
                  <a:txBody>
                    <a:bodyPr/>
                    <a:lstStyle/>
                    <a:p>
                      <a:pPr algn="ctr" fontAlgn="ct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above 1000000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 ₹ 12,30,000.00 </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above 1000000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12,00,000.00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3933738926"/>
                  </a:ext>
                </a:extLst>
              </a:tr>
              <a:tr h="296938">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Total 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 ₹ 13,42,500.00 </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Total 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13,12,500.00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83658450"/>
                  </a:ext>
                </a:extLst>
              </a:tr>
              <a:tr h="296938">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Surcharge @10%</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1,34,250.00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add 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1,00,000.00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540724711"/>
                  </a:ext>
                </a:extLst>
              </a:tr>
              <a:tr h="296938">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Total 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14,76,750.00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Total tax</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14,12,500.00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4114461219"/>
                  </a:ext>
                </a:extLst>
              </a:tr>
              <a:tr h="296938">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CESS @4%</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59,070.00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CESS @4%</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56,500.00 </a:t>
                      </a:r>
                      <a:endParaRPr lang="en-IN" sz="1800" b="0" i="0" u="none" strike="noStrike">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487317568"/>
                  </a:ext>
                </a:extLst>
              </a:tr>
              <a:tr h="296938">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Tax Payable</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15,35,820.00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Tax Payable</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 </a:t>
                      </a:r>
                      <a:r>
                        <a:rPr lang="en-IN" sz="1800" u="none" strike="noStrike" dirty="0">
                          <a:solidFill>
                            <a:srgbClr val="FF0000"/>
                          </a:solidFill>
                          <a:effectLst/>
                        </a:rPr>
                        <a:t>₹     14,69,000.00 </a:t>
                      </a:r>
                      <a:endParaRPr lang="en-IN" sz="1800" b="0" i="0" u="none" strike="noStrike" dirty="0">
                        <a:solidFill>
                          <a:srgbClr val="FF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3656705014"/>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Benefit</a:t>
                      </a: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ctr" fontAlgn="ctr"/>
                      <a:r>
                        <a:rPr lang="en-IN" sz="1800" u="none" strike="noStrike" dirty="0">
                          <a:effectLst/>
                        </a:rPr>
                        <a:t> ₹    -66,820.00 </a:t>
                      </a: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3002181138"/>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563680435"/>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Tax Liability after MR</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14,12,500.00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226076101"/>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Normal Tax Liability</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13,42,500.00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880136638"/>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Surcharge Applicable</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70,000.00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329370645"/>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Total Tax</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14,12,500.00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1955249013"/>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CESS @4%</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 ₹      56,500.00 </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058138222"/>
                  </a:ext>
                </a:extLst>
              </a:tr>
              <a:tr h="296938">
                <a:tc>
                  <a:txBody>
                    <a:bodyPr/>
                    <a:lstStyle/>
                    <a:p>
                      <a:pPr algn="ctr"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a:effectLst/>
                        </a:rPr>
                        <a:t>Tax payable</a:t>
                      </a: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r>
                        <a:rPr lang="en-IN" sz="1800" u="none" strike="noStrike" dirty="0">
                          <a:effectLst/>
                        </a:rPr>
                        <a:t> </a:t>
                      </a:r>
                      <a:r>
                        <a:rPr lang="en-IN" sz="1800" u="none" strike="noStrike" dirty="0">
                          <a:solidFill>
                            <a:srgbClr val="FF0000"/>
                          </a:solidFill>
                          <a:effectLst/>
                        </a:rPr>
                        <a:t>₹ 14,69,000.00 </a:t>
                      </a:r>
                      <a:endParaRPr lang="en-IN" sz="1800" b="0" i="0" u="none" strike="noStrike" dirty="0">
                        <a:solidFill>
                          <a:srgbClr val="FF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18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2152130559"/>
                  </a:ext>
                </a:extLst>
              </a:tr>
              <a:tr h="296938">
                <a:tc>
                  <a:txBody>
                    <a:bodyPr/>
                    <a:lstStyle/>
                    <a:p>
                      <a:pPr algn="ctr"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a:solidFill>
                          <a:srgbClr val="000000"/>
                        </a:solidFill>
                        <a:effectLst/>
                        <a:latin typeface="Calibri" panose="020F0502020204030204" pitchFamily="34" charset="0"/>
                      </a:endParaRPr>
                    </a:p>
                  </a:txBody>
                  <a:tcPr marL="7455" marR="7455" marT="7455" marB="0" anchor="ctr"/>
                </a:tc>
                <a:tc>
                  <a:txBody>
                    <a:bodyPr/>
                    <a:lstStyle/>
                    <a:p>
                      <a:pPr algn="l" fontAlgn="ctr"/>
                      <a:endParaRPr lang="en-IN" sz="900" b="0" i="0" u="none" strike="noStrike" dirty="0">
                        <a:solidFill>
                          <a:srgbClr val="000000"/>
                        </a:solidFill>
                        <a:effectLst/>
                        <a:latin typeface="Calibri" panose="020F0502020204030204" pitchFamily="34" charset="0"/>
                      </a:endParaRPr>
                    </a:p>
                  </a:txBody>
                  <a:tcPr marL="7455" marR="7455" marT="7455" marB="0" anchor="ctr"/>
                </a:tc>
                <a:extLst>
                  <a:ext uri="{0D108BD9-81ED-4DB2-BD59-A6C34878D82A}">
                    <a16:rowId xmlns:a16="http://schemas.microsoft.com/office/drawing/2014/main" val="655673288"/>
                  </a:ext>
                </a:extLst>
              </a:tr>
            </a:tbl>
          </a:graphicData>
        </a:graphic>
      </p:graphicFrame>
    </p:spTree>
    <p:extLst>
      <p:ext uri="{BB962C8B-B14F-4D97-AF65-F5344CB8AC3E}">
        <p14:creationId xmlns:p14="http://schemas.microsoft.com/office/powerpoint/2010/main" val="1704144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41</a:t>
            </a:fld>
            <a:endParaRPr lang="en-IN"/>
          </a:p>
        </p:txBody>
      </p:sp>
      <p:sp>
        <p:nvSpPr>
          <p:cNvPr id="3" name="Rectangle 2"/>
          <p:cNvSpPr/>
          <p:nvPr/>
        </p:nvSpPr>
        <p:spPr>
          <a:xfrm>
            <a:off x="880843" y="832625"/>
            <a:ext cx="10377007" cy="5078313"/>
          </a:xfrm>
          <a:prstGeom prst="rect">
            <a:avLst/>
          </a:prstGeom>
        </p:spPr>
        <p:txBody>
          <a:bodyPr wrap="square">
            <a:spAutoFit/>
          </a:bodyPr>
          <a:lstStyle/>
          <a:p>
            <a:pPr algn="just">
              <a:lnSpc>
                <a:spcPct val="150000"/>
              </a:lnSpc>
            </a:pPr>
            <a:r>
              <a:rPr lang="en-US" sz="2400" b="1" dirty="0">
                <a:latin typeface="inter"/>
              </a:rPr>
              <a:t>Rules that Govern NRI Status</a:t>
            </a:r>
            <a:endParaRPr lang="en-US" sz="2400" dirty="0">
              <a:latin typeface="inter"/>
            </a:endParaRPr>
          </a:p>
          <a:p>
            <a:pPr algn="just">
              <a:lnSpc>
                <a:spcPct val="150000"/>
              </a:lnSpc>
            </a:pPr>
            <a:r>
              <a:rPr lang="en-US" sz="2400" dirty="0">
                <a:latin typeface="inter"/>
              </a:rPr>
              <a:t>Under the legislation in India, there exist two primary laws that establish and outline the regulations pertaining to Non-Resident Indians (NRIs) as follows:</a:t>
            </a:r>
          </a:p>
          <a:p>
            <a:pPr algn="just">
              <a:lnSpc>
                <a:spcPct val="150000"/>
              </a:lnSpc>
              <a:buFont typeface="+mj-lt"/>
              <a:buAutoNum type="arabicPeriod"/>
            </a:pPr>
            <a:r>
              <a:rPr lang="en-US" sz="2400" b="1" dirty="0">
                <a:solidFill>
                  <a:srgbClr val="343434"/>
                </a:solidFill>
                <a:latin typeface="inter"/>
              </a:rPr>
              <a:t>Income Tax Act</a:t>
            </a:r>
            <a:r>
              <a:rPr lang="en-US" sz="2400" dirty="0">
                <a:solidFill>
                  <a:srgbClr val="343434"/>
                </a:solidFill>
                <a:latin typeface="inter"/>
              </a:rPr>
              <a:t>: This law governs the obligations related to taxation for NRIs.</a:t>
            </a:r>
          </a:p>
          <a:p>
            <a:pPr algn="just">
              <a:lnSpc>
                <a:spcPct val="150000"/>
              </a:lnSpc>
              <a:buFont typeface="+mj-lt"/>
              <a:buAutoNum type="arabicPeriod"/>
            </a:pPr>
            <a:r>
              <a:rPr lang="en-US" sz="2400" b="1" dirty="0">
                <a:solidFill>
                  <a:srgbClr val="343434"/>
                </a:solidFill>
                <a:latin typeface="inter"/>
              </a:rPr>
              <a:t>Foreign Exchange and Management Act (FEMA)</a:t>
            </a:r>
            <a:r>
              <a:rPr lang="en-US" sz="2400" dirty="0">
                <a:solidFill>
                  <a:srgbClr val="343434"/>
                </a:solidFill>
                <a:latin typeface="inter"/>
              </a:rPr>
              <a:t>: This law regulates various aspects such as transactions, investments, the establishment of bank accounts, and more, concerning NRIs.</a:t>
            </a:r>
            <a:endParaRPr lang="en-US" sz="2400" b="0" i="0" dirty="0">
              <a:solidFill>
                <a:srgbClr val="343434"/>
              </a:solidFill>
              <a:effectLst/>
              <a:latin typeface="inter"/>
            </a:endParaRPr>
          </a:p>
        </p:txBody>
      </p:sp>
    </p:spTree>
    <p:extLst>
      <p:ext uri="{BB962C8B-B14F-4D97-AF65-F5344CB8AC3E}">
        <p14:creationId xmlns:p14="http://schemas.microsoft.com/office/powerpoint/2010/main" val="868061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FD20B-17FA-D62E-8628-DBADC34436B3}"/>
              </a:ext>
            </a:extLst>
          </p:cNvPr>
          <p:cNvSpPr>
            <a:spLocks noGrp="1"/>
          </p:cNvSpPr>
          <p:nvPr>
            <p:ph idx="1"/>
          </p:nvPr>
        </p:nvSpPr>
        <p:spPr>
          <a:xfrm>
            <a:off x="466003" y="1293091"/>
            <a:ext cx="10724736" cy="4918528"/>
          </a:xfrm>
        </p:spPr>
        <p:txBody>
          <a:bodyPr>
            <a:normAutofit/>
          </a:bodyPr>
          <a:lstStyle/>
          <a:p>
            <a:pPr marL="0" indent="0" algn="just">
              <a:buNone/>
            </a:pPr>
            <a:r>
              <a:rPr lang="en-US" sz="2800" b="1" dirty="0"/>
              <a:t>Residential Status</a:t>
            </a:r>
          </a:p>
          <a:p>
            <a:pPr marL="0" indent="0" algn="just">
              <a:buNone/>
            </a:pPr>
            <a:r>
              <a:rPr lang="en-US" sz="2800" b="1" dirty="0"/>
              <a:t>Resident </a:t>
            </a:r>
            <a:r>
              <a:rPr lang="en-US" sz="2800" dirty="0"/>
              <a:t>– World income is taxable in India</a:t>
            </a:r>
          </a:p>
          <a:p>
            <a:pPr marL="0" indent="0" algn="just">
              <a:buNone/>
            </a:pPr>
            <a:r>
              <a:rPr lang="en-US" sz="2800" b="1" dirty="0"/>
              <a:t>Non Resident Indian (NRI</a:t>
            </a:r>
            <a:r>
              <a:rPr lang="en-US" sz="2800" dirty="0"/>
              <a:t>) – Only income arising or accruing in India is taxable in India </a:t>
            </a:r>
          </a:p>
          <a:p>
            <a:pPr marL="0" indent="0" algn="just">
              <a:buNone/>
            </a:pPr>
            <a:endParaRPr lang="en-US" sz="2800" dirty="0"/>
          </a:p>
          <a:p>
            <a:pPr algn="just">
              <a:buFont typeface="Wingdings" panose="05000000000000000000" pitchFamily="2" charset="2"/>
              <a:buChar char="Ø"/>
            </a:pPr>
            <a:r>
              <a:rPr lang="en-US" sz="2800" dirty="0"/>
              <a:t>The </a:t>
            </a:r>
            <a:r>
              <a:rPr lang="en-US" sz="2800" b="1" dirty="0"/>
              <a:t>Reserve Bank of India </a:t>
            </a:r>
            <a:r>
              <a:rPr lang="en-US" sz="2800" dirty="0"/>
              <a:t>(RBI) and the </a:t>
            </a:r>
            <a:r>
              <a:rPr lang="en-US" sz="2800" b="1" dirty="0"/>
              <a:t>Income Tax Act </a:t>
            </a:r>
            <a:r>
              <a:rPr lang="en-US" sz="2800" dirty="0"/>
              <a:t>have </a:t>
            </a:r>
            <a:r>
              <a:rPr lang="en-US" sz="2800" dirty="0">
                <a:solidFill>
                  <a:srgbClr val="FF0000"/>
                </a:solidFill>
              </a:rPr>
              <a:t>distinct definitions of an NRI</a:t>
            </a:r>
            <a:r>
              <a:rPr lang="en-US" sz="2800" dirty="0"/>
              <a:t>. The definition of NRI as per RBI focuses on the intention of stay, whereas NRI status as per income tax is determined by the actual duration of stay in India.</a:t>
            </a:r>
          </a:p>
        </p:txBody>
      </p:sp>
      <p:sp>
        <p:nvSpPr>
          <p:cNvPr id="6" name="Slide Number Placeholder 5">
            <a:extLst>
              <a:ext uri="{FF2B5EF4-FFF2-40B4-BE49-F238E27FC236}">
                <a16:creationId xmlns:a16="http://schemas.microsoft.com/office/drawing/2014/main" id="{567BE266-D532-7423-C4E3-03791B7227AB}"/>
              </a:ext>
            </a:extLst>
          </p:cNvPr>
          <p:cNvSpPr>
            <a:spLocks noGrp="1"/>
          </p:cNvSpPr>
          <p:nvPr>
            <p:ph type="sldNum" sz="quarter" idx="12"/>
          </p:nvPr>
        </p:nvSpPr>
        <p:spPr/>
        <p:txBody>
          <a:bodyPr/>
          <a:lstStyle/>
          <a:p>
            <a:fld id="{94013DF8-6EF8-4A98-8821-E6468C17C0C3}" type="slidenum">
              <a:rPr lang="en-IN" smtClean="0"/>
              <a:t>42</a:t>
            </a:fld>
            <a:endParaRPr lang="en-IN"/>
          </a:p>
        </p:txBody>
      </p:sp>
      <p:sp>
        <p:nvSpPr>
          <p:cNvPr id="7" name="Title 1">
            <a:extLst>
              <a:ext uri="{FF2B5EF4-FFF2-40B4-BE49-F238E27FC236}">
                <a16:creationId xmlns:a16="http://schemas.microsoft.com/office/drawing/2014/main" id="{C0770AAB-2855-84CB-6032-7D911AD4884F}"/>
              </a:ext>
            </a:extLst>
          </p:cNvPr>
          <p:cNvSpPr>
            <a:spLocks noGrp="1"/>
          </p:cNvSpPr>
          <p:nvPr>
            <p:ph type="title"/>
          </p:nvPr>
        </p:nvSpPr>
        <p:spPr>
          <a:xfrm>
            <a:off x="645130" y="506451"/>
            <a:ext cx="9404723" cy="786640"/>
          </a:xfrm>
        </p:spPr>
        <p:txBody>
          <a:bodyPr/>
          <a:lstStyle/>
          <a:p>
            <a:r>
              <a:rPr lang="en-IN" dirty="0"/>
              <a:t>Important Terminologies</a:t>
            </a:r>
          </a:p>
        </p:txBody>
      </p:sp>
    </p:spTree>
    <p:extLst>
      <p:ext uri="{BB962C8B-B14F-4D97-AF65-F5344CB8AC3E}">
        <p14:creationId xmlns:p14="http://schemas.microsoft.com/office/powerpoint/2010/main" val="2533404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FD20B-17FA-D62E-8628-DBADC34436B3}"/>
              </a:ext>
            </a:extLst>
          </p:cNvPr>
          <p:cNvSpPr>
            <a:spLocks noGrp="1"/>
          </p:cNvSpPr>
          <p:nvPr>
            <p:ph idx="1"/>
          </p:nvPr>
        </p:nvSpPr>
        <p:spPr>
          <a:xfrm>
            <a:off x="466003" y="1570181"/>
            <a:ext cx="10724736" cy="4641437"/>
          </a:xfrm>
        </p:spPr>
        <p:txBody>
          <a:bodyPr>
            <a:normAutofit/>
          </a:bodyPr>
          <a:lstStyle/>
          <a:p>
            <a:pPr algn="just">
              <a:buFont typeface="Wingdings" panose="05000000000000000000" pitchFamily="2" charset="2"/>
              <a:buChar char="Ø"/>
            </a:pPr>
            <a:r>
              <a:rPr lang="en-US" sz="2800" b="1" dirty="0"/>
              <a:t>RBI's NRI Definition</a:t>
            </a:r>
            <a:r>
              <a:rPr lang="en-US" sz="2800" dirty="0"/>
              <a:t>: An individual is an NRI if they've not resided in India for more than 182 days during the relevant financial year.</a:t>
            </a:r>
          </a:p>
          <a:p>
            <a:pPr algn="just">
              <a:buFont typeface="Wingdings" panose="05000000000000000000" pitchFamily="2" charset="2"/>
              <a:buChar char="Ø"/>
            </a:pPr>
            <a:endParaRPr lang="en-US" sz="2800" dirty="0"/>
          </a:p>
          <a:p>
            <a:pPr algn="just">
              <a:buFont typeface="Wingdings" panose="05000000000000000000" pitchFamily="2" charset="2"/>
              <a:buChar char="Ø"/>
            </a:pPr>
            <a:r>
              <a:rPr lang="en-US" sz="2800" b="1" dirty="0"/>
              <a:t>Income Tax Act's NRI Definition</a:t>
            </a:r>
            <a:r>
              <a:rPr lang="en-US" sz="2800" dirty="0"/>
              <a:t>: An individual is an NRI if they've been in India for less than 182 days in the relevant financial year or if they've been in India for less than 60 days during the year and 365 days or less during the past four years.</a:t>
            </a:r>
          </a:p>
        </p:txBody>
      </p:sp>
      <p:sp>
        <p:nvSpPr>
          <p:cNvPr id="6" name="Slide Number Placeholder 5">
            <a:extLst>
              <a:ext uri="{FF2B5EF4-FFF2-40B4-BE49-F238E27FC236}">
                <a16:creationId xmlns:a16="http://schemas.microsoft.com/office/drawing/2014/main" id="{567BE266-D532-7423-C4E3-03791B7227AB}"/>
              </a:ext>
            </a:extLst>
          </p:cNvPr>
          <p:cNvSpPr>
            <a:spLocks noGrp="1"/>
          </p:cNvSpPr>
          <p:nvPr>
            <p:ph type="sldNum" sz="quarter" idx="12"/>
          </p:nvPr>
        </p:nvSpPr>
        <p:spPr/>
        <p:txBody>
          <a:bodyPr/>
          <a:lstStyle/>
          <a:p>
            <a:fld id="{94013DF8-6EF8-4A98-8821-E6468C17C0C3}" type="slidenum">
              <a:rPr lang="en-IN" smtClean="0"/>
              <a:t>43</a:t>
            </a:fld>
            <a:endParaRPr lang="en-IN"/>
          </a:p>
        </p:txBody>
      </p:sp>
      <p:sp>
        <p:nvSpPr>
          <p:cNvPr id="7" name="Title 1">
            <a:extLst>
              <a:ext uri="{FF2B5EF4-FFF2-40B4-BE49-F238E27FC236}">
                <a16:creationId xmlns:a16="http://schemas.microsoft.com/office/drawing/2014/main" id="{C0770AAB-2855-84CB-6032-7D911AD4884F}"/>
              </a:ext>
            </a:extLst>
          </p:cNvPr>
          <p:cNvSpPr>
            <a:spLocks noGrp="1"/>
          </p:cNvSpPr>
          <p:nvPr>
            <p:ph type="title"/>
          </p:nvPr>
        </p:nvSpPr>
        <p:spPr>
          <a:xfrm>
            <a:off x="645130" y="506451"/>
            <a:ext cx="9404723" cy="786640"/>
          </a:xfrm>
        </p:spPr>
        <p:txBody>
          <a:bodyPr/>
          <a:lstStyle/>
          <a:p>
            <a:r>
              <a:rPr lang="en-IN" dirty="0"/>
              <a:t>Important Terminologies</a:t>
            </a:r>
          </a:p>
        </p:txBody>
      </p:sp>
    </p:spTree>
    <p:extLst>
      <p:ext uri="{BB962C8B-B14F-4D97-AF65-F5344CB8AC3E}">
        <p14:creationId xmlns:p14="http://schemas.microsoft.com/office/powerpoint/2010/main" val="32079006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F664D8-6670-AC42-8C16-F3A33208B7A1}"/>
              </a:ext>
            </a:extLst>
          </p:cNvPr>
          <p:cNvSpPr>
            <a:spLocks noGrp="1"/>
          </p:cNvSpPr>
          <p:nvPr>
            <p:ph type="sldNum" sz="quarter" idx="12"/>
          </p:nvPr>
        </p:nvSpPr>
        <p:spPr/>
        <p:txBody>
          <a:bodyPr/>
          <a:lstStyle/>
          <a:p>
            <a:fld id="{94013DF8-6EF8-4A98-8821-E6468C17C0C3}" type="slidenum">
              <a:rPr lang="en-IN" smtClean="0"/>
              <a:t>44</a:t>
            </a:fld>
            <a:endParaRPr lang="en-IN"/>
          </a:p>
        </p:txBody>
      </p:sp>
      <p:pic>
        <p:nvPicPr>
          <p:cNvPr id="5" name="Picture 4">
            <a:extLst>
              <a:ext uri="{FF2B5EF4-FFF2-40B4-BE49-F238E27FC236}">
                <a16:creationId xmlns:a16="http://schemas.microsoft.com/office/drawing/2014/main" id="{DDB5B1D1-CE56-5EE4-7FE3-962530B86434}"/>
              </a:ext>
            </a:extLst>
          </p:cNvPr>
          <p:cNvPicPr>
            <a:picLocks noChangeAspect="1"/>
          </p:cNvPicPr>
          <p:nvPr/>
        </p:nvPicPr>
        <p:blipFill>
          <a:blip r:embed="rId2"/>
          <a:stretch>
            <a:fillRect/>
          </a:stretch>
        </p:blipFill>
        <p:spPr>
          <a:xfrm>
            <a:off x="2021840" y="295728"/>
            <a:ext cx="7538720" cy="6318431"/>
          </a:xfrm>
          <a:prstGeom prst="rect">
            <a:avLst/>
          </a:prstGeom>
        </p:spPr>
      </p:pic>
    </p:spTree>
    <p:extLst>
      <p:ext uri="{BB962C8B-B14F-4D97-AF65-F5344CB8AC3E}">
        <p14:creationId xmlns:p14="http://schemas.microsoft.com/office/powerpoint/2010/main" val="107977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45</a:t>
            </a:fld>
            <a:endParaRPr lang="en-IN"/>
          </a:p>
        </p:txBody>
      </p:sp>
      <p:sp>
        <p:nvSpPr>
          <p:cNvPr id="3" name="Rectangle 2"/>
          <p:cNvSpPr/>
          <p:nvPr/>
        </p:nvSpPr>
        <p:spPr>
          <a:xfrm>
            <a:off x="444616" y="546219"/>
            <a:ext cx="10838576" cy="6117829"/>
          </a:xfrm>
          <a:prstGeom prst="rect">
            <a:avLst/>
          </a:prstGeom>
        </p:spPr>
        <p:txBody>
          <a:bodyPr wrap="square">
            <a:spAutoFit/>
          </a:bodyPr>
          <a:lstStyle/>
          <a:p>
            <a:pPr algn="just">
              <a:lnSpc>
                <a:spcPct val="150000"/>
              </a:lnSpc>
            </a:pPr>
            <a:r>
              <a:rPr lang="en-US" sz="2400" b="1" dirty="0">
                <a:latin typeface="inter"/>
              </a:rPr>
              <a:t>New Rules to Determine NRI Status</a:t>
            </a:r>
            <a:endParaRPr lang="en-US" sz="2400" dirty="0">
              <a:latin typeface="inter"/>
            </a:endParaRPr>
          </a:p>
          <a:p>
            <a:pPr algn="just">
              <a:lnSpc>
                <a:spcPct val="150000"/>
              </a:lnSpc>
            </a:pPr>
            <a:r>
              <a:rPr lang="en-US" sz="2400" dirty="0">
                <a:latin typeface="inter"/>
              </a:rPr>
              <a:t>An Indian citizen is considered a resident for a financial year if he/she fulfills any of the basic conditions mentioned below: </a:t>
            </a:r>
          </a:p>
          <a:p>
            <a:pPr algn="just">
              <a:lnSpc>
                <a:spcPct val="150000"/>
              </a:lnSpc>
              <a:buFont typeface="Arial" panose="020B0604020202020204" pitchFamily="34" charset="0"/>
              <a:buChar char="•"/>
            </a:pPr>
            <a:r>
              <a:rPr lang="en-US" sz="2400" dirty="0">
                <a:solidFill>
                  <a:srgbClr val="212529"/>
                </a:solidFill>
                <a:latin typeface="inter"/>
              </a:rPr>
              <a:t>You should be physically present in India for 182 days or more during the relevant financial year. Or </a:t>
            </a:r>
          </a:p>
          <a:p>
            <a:pPr algn="just">
              <a:lnSpc>
                <a:spcPct val="150000"/>
              </a:lnSpc>
              <a:buFont typeface="Arial" panose="020B0604020202020204" pitchFamily="34" charset="0"/>
              <a:buChar char="•"/>
            </a:pPr>
            <a:r>
              <a:rPr lang="en-US" sz="2400" dirty="0">
                <a:solidFill>
                  <a:srgbClr val="212529"/>
                </a:solidFill>
                <a:latin typeface="inter"/>
              </a:rPr>
              <a:t>Your physical presence in India during the applicable financial year is 60 days or more and 365 days or more in the preceding four financial years. </a:t>
            </a:r>
          </a:p>
          <a:p>
            <a:pPr algn="just">
              <a:lnSpc>
                <a:spcPct val="150000"/>
              </a:lnSpc>
              <a:buFont typeface="Arial" panose="020B0604020202020204" pitchFamily="34" charset="0"/>
              <a:buChar char="•"/>
            </a:pPr>
            <a:r>
              <a:rPr lang="en-US" sz="2400" dirty="0">
                <a:solidFill>
                  <a:srgbClr val="212529"/>
                </a:solidFill>
                <a:latin typeface="inter"/>
              </a:rPr>
              <a:t>An Indian citizen having total income, excluding income from foreign sources, exceeding Rs. 15 lakh during the relevant financial year. He should not be liable to pay tax in any other country or territory by reason of his domicile or any other criteria of similar nature. </a:t>
            </a:r>
            <a:endParaRPr lang="en-US" sz="2400" b="0" i="0" dirty="0">
              <a:solidFill>
                <a:srgbClr val="212529"/>
              </a:solidFill>
              <a:effectLst/>
              <a:latin typeface="inter"/>
            </a:endParaRPr>
          </a:p>
        </p:txBody>
      </p:sp>
    </p:spTree>
    <p:extLst>
      <p:ext uri="{BB962C8B-B14F-4D97-AF65-F5344CB8AC3E}">
        <p14:creationId xmlns:p14="http://schemas.microsoft.com/office/powerpoint/2010/main" val="32821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46</a:t>
            </a:fld>
            <a:endParaRPr lang="en-IN"/>
          </a:p>
        </p:txBody>
      </p:sp>
      <p:sp>
        <p:nvSpPr>
          <p:cNvPr id="3" name="Rectangle 2"/>
          <p:cNvSpPr/>
          <p:nvPr/>
        </p:nvSpPr>
        <p:spPr>
          <a:xfrm>
            <a:off x="352338" y="1716889"/>
            <a:ext cx="11400638" cy="3903569"/>
          </a:xfrm>
          <a:prstGeom prst="rect">
            <a:avLst/>
          </a:prstGeom>
        </p:spPr>
        <p:txBody>
          <a:bodyPr wrap="square">
            <a:spAutoFit/>
          </a:bodyPr>
          <a:lstStyle/>
          <a:p>
            <a:pPr algn="just">
              <a:lnSpc>
                <a:spcPct val="150000"/>
              </a:lnSpc>
            </a:pPr>
            <a:r>
              <a:rPr lang="en-US" sz="2400" dirty="0">
                <a:latin typeface="inter"/>
              </a:rPr>
              <a:t>The condition of 60 days is extended to 182 days if the individual leaves India for employment abroad. </a:t>
            </a:r>
          </a:p>
          <a:p>
            <a:pPr algn="just">
              <a:lnSpc>
                <a:spcPct val="150000"/>
              </a:lnSpc>
            </a:pPr>
            <a:r>
              <a:rPr lang="en-US" sz="2400" dirty="0">
                <a:latin typeface="inter"/>
              </a:rPr>
              <a:t>For an Indian citizen or a person of Indian Origin (PIO) who resides outside India and visits India, the condition of 60 days is extended to 120 days, if the total income of such a person in India is more than Rs. 15 lakh. </a:t>
            </a:r>
          </a:p>
          <a:p>
            <a:pPr algn="just">
              <a:lnSpc>
                <a:spcPct val="150000"/>
              </a:lnSpc>
            </a:pPr>
            <a:r>
              <a:rPr lang="en-US" sz="2400" dirty="0">
                <a:latin typeface="inter"/>
              </a:rPr>
              <a:t>However, if the total income (excluding the income from foreign sources) is equal to or less than Rs. 15 lakh, the condition of 60 days is extended to 182 days.  </a:t>
            </a:r>
            <a:endParaRPr lang="en-IN" sz="2400" dirty="0"/>
          </a:p>
        </p:txBody>
      </p:sp>
    </p:spTree>
    <p:extLst>
      <p:ext uri="{BB962C8B-B14F-4D97-AF65-F5344CB8AC3E}">
        <p14:creationId xmlns:p14="http://schemas.microsoft.com/office/powerpoint/2010/main" val="3996413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EF6F-57FD-CD98-517F-2FF78239ABDC}"/>
              </a:ext>
            </a:extLst>
          </p:cNvPr>
          <p:cNvSpPr>
            <a:spLocks noGrp="1"/>
          </p:cNvSpPr>
          <p:nvPr>
            <p:ph type="title"/>
          </p:nvPr>
        </p:nvSpPr>
        <p:spPr/>
        <p:txBody>
          <a:bodyPr/>
          <a:lstStyle/>
          <a:p>
            <a:r>
              <a:rPr lang="en-IN" dirty="0"/>
              <a:t>HEADS OF INCOME</a:t>
            </a:r>
          </a:p>
        </p:txBody>
      </p:sp>
      <p:sp>
        <p:nvSpPr>
          <p:cNvPr id="3" name="Content Placeholder 2">
            <a:extLst>
              <a:ext uri="{FF2B5EF4-FFF2-40B4-BE49-F238E27FC236}">
                <a16:creationId xmlns:a16="http://schemas.microsoft.com/office/drawing/2014/main" id="{994251AE-8A65-19F8-C904-952A05E43FBE}"/>
              </a:ext>
            </a:extLst>
          </p:cNvPr>
          <p:cNvSpPr>
            <a:spLocks noGrp="1"/>
          </p:cNvSpPr>
          <p:nvPr>
            <p:ph idx="1"/>
          </p:nvPr>
        </p:nvSpPr>
        <p:spPr>
          <a:xfrm>
            <a:off x="1103312" y="1447800"/>
            <a:ext cx="10087427" cy="5114471"/>
          </a:xfrm>
        </p:spPr>
        <p:txBody>
          <a:bodyPr>
            <a:normAutofit fontScale="92500" lnSpcReduction="10000"/>
          </a:bodyPr>
          <a:lstStyle/>
          <a:p>
            <a:pPr marL="0" indent="0">
              <a:buNone/>
            </a:pPr>
            <a:r>
              <a:rPr lang="en-IN" sz="2800" dirty="0">
                <a:solidFill>
                  <a:srgbClr val="FF0000"/>
                </a:solidFill>
                <a:latin typeface="Algerian" panose="04020705040A02060702" pitchFamily="82" charset="0"/>
              </a:rPr>
              <a:t>Income From Salary </a:t>
            </a:r>
          </a:p>
          <a:p>
            <a:pPr marL="0" indent="0">
              <a:buNone/>
            </a:pPr>
            <a:r>
              <a:rPr lang="en-IN" sz="2400" b="1" i="1" dirty="0">
                <a:solidFill>
                  <a:srgbClr val="C00000"/>
                </a:solidFill>
                <a:latin typeface="Cambria" panose="02040503050406030204" pitchFamily="18" charset="0"/>
              </a:rPr>
              <a:t>Meaning of Salary:</a:t>
            </a:r>
          </a:p>
          <a:p>
            <a:pPr algn="just">
              <a:buFont typeface="Wingdings" panose="05000000000000000000" pitchFamily="2" charset="2"/>
              <a:buChar char="ü"/>
            </a:pPr>
            <a:r>
              <a:rPr lang="en-US" dirty="0">
                <a:latin typeface="Cambria" panose="02040503050406030204" pitchFamily="18" charset="0"/>
              </a:rPr>
              <a:t>	Wages</a:t>
            </a:r>
          </a:p>
          <a:p>
            <a:pPr algn="just">
              <a:buFont typeface="Wingdings" panose="05000000000000000000" pitchFamily="2" charset="2"/>
              <a:buChar char="ü"/>
            </a:pPr>
            <a:r>
              <a:rPr lang="en-US" dirty="0">
                <a:latin typeface="Cambria" panose="02040503050406030204" pitchFamily="18" charset="0"/>
              </a:rPr>
              <a:t>	Pension</a:t>
            </a:r>
          </a:p>
          <a:p>
            <a:pPr algn="just">
              <a:buFont typeface="Wingdings" panose="05000000000000000000" pitchFamily="2" charset="2"/>
              <a:buChar char="ü"/>
            </a:pPr>
            <a:r>
              <a:rPr lang="en-US" dirty="0">
                <a:latin typeface="Cambria" panose="02040503050406030204" pitchFamily="18" charset="0"/>
              </a:rPr>
              <a:t>	Annuity</a:t>
            </a:r>
          </a:p>
          <a:p>
            <a:pPr algn="just">
              <a:buFont typeface="Wingdings" panose="05000000000000000000" pitchFamily="2" charset="2"/>
              <a:buChar char="ü"/>
            </a:pPr>
            <a:r>
              <a:rPr lang="en-US" dirty="0">
                <a:latin typeface="Cambria" panose="02040503050406030204" pitchFamily="18" charset="0"/>
              </a:rPr>
              <a:t>	Gratuity</a:t>
            </a:r>
          </a:p>
          <a:p>
            <a:pPr algn="just">
              <a:buFont typeface="Wingdings" panose="05000000000000000000" pitchFamily="2" charset="2"/>
              <a:buChar char="ü"/>
            </a:pPr>
            <a:r>
              <a:rPr lang="en-US" dirty="0">
                <a:latin typeface="Cambria" panose="02040503050406030204" pitchFamily="18" charset="0"/>
              </a:rPr>
              <a:t>	Advance Salary paid</a:t>
            </a:r>
          </a:p>
          <a:p>
            <a:pPr algn="just">
              <a:buFont typeface="Wingdings" panose="05000000000000000000" pitchFamily="2" charset="2"/>
              <a:buChar char="ü"/>
            </a:pPr>
            <a:r>
              <a:rPr lang="en-US" dirty="0">
                <a:latin typeface="Cambria" panose="02040503050406030204" pitchFamily="18" charset="0"/>
              </a:rPr>
              <a:t>	Fees, Commission, Perquisites, Profits in lieu of or in addition to Salary or Wages</a:t>
            </a:r>
          </a:p>
          <a:p>
            <a:pPr algn="just">
              <a:buFont typeface="Wingdings" panose="05000000000000000000" pitchFamily="2" charset="2"/>
              <a:buChar char="ü"/>
            </a:pPr>
            <a:r>
              <a:rPr lang="en-US" dirty="0">
                <a:latin typeface="Cambria" panose="02040503050406030204" pitchFamily="18" charset="0"/>
              </a:rPr>
              <a:t>	Annual accretion to the balance of Recognized Provident Fund</a:t>
            </a:r>
          </a:p>
          <a:p>
            <a:pPr algn="just">
              <a:buFont typeface="Wingdings" panose="05000000000000000000" pitchFamily="2" charset="2"/>
              <a:buChar char="ü"/>
            </a:pPr>
            <a:r>
              <a:rPr lang="en-US" dirty="0">
                <a:latin typeface="Cambria" panose="02040503050406030204" pitchFamily="18" charset="0"/>
              </a:rPr>
              <a:t>	Leave Encashment</a:t>
            </a:r>
          </a:p>
          <a:p>
            <a:pPr algn="just">
              <a:buFont typeface="Wingdings" panose="05000000000000000000" pitchFamily="2" charset="2"/>
              <a:buChar char="ü"/>
            </a:pPr>
            <a:r>
              <a:rPr lang="en-US" dirty="0">
                <a:latin typeface="Cambria" panose="02040503050406030204" pitchFamily="18" charset="0"/>
              </a:rPr>
              <a:t>	Transferred balance in Recognized Provident Fund</a:t>
            </a:r>
          </a:p>
          <a:p>
            <a:pPr algn="just">
              <a:buFont typeface="Wingdings" panose="05000000000000000000" pitchFamily="2" charset="2"/>
              <a:buChar char="ü"/>
            </a:pPr>
            <a:r>
              <a:rPr lang="en-US" dirty="0">
                <a:latin typeface="Cambria" panose="02040503050406030204" pitchFamily="18" charset="0"/>
              </a:rPr>
              <a:t>	Contribution by Central Govt. or any other employer to Employees Pension A/c as 			referred in Sec. 80CCD.</a:t>
            </a:r>
          </a:p>
          <a:p>
            <a:endParaRPr lang="en-IN" dirty="0"/>
          </a:p>
        </p:txBody>
      </p:sp>
      <p:sp>
        <p:nvSpPr>
          <p:cNvPr id="6" name="Slide Number Placeholder 5">
            <a:extLst>
              <a:ext uri="{FF2B5EF4-FFF2-40B4-BE49-F238E27FC236}">
                <a16:creationId xmlns:a16="http://schemas.microsoft.com/office/drawing/2014/main" id="{FFCBAF37-D7F2-C74F-50D7-6BB9811321AC}"/>
              </a:ext>
            </a:extLst>
          </p:cNvPr>
          <p:cNvSpPr>
            <a:spLocks noGrp="1"/>
          </p:cNvSpPr>
          <p:nvPr>
            <p:ph type="sldNum" sz="quarter" idx="12"/>
          </p:nvPr>
        </p:nvSpPr>
        <p:spPr/>
        <p:txBody>
          <a:bodyPr/>
          <a:lstStyle/>
          <a:p>
            <a:fld id="{94013DF8-6EF8-4A98-8821-E6468C17C0C3}" type="slidenum">
              <a:rPr lang="en-IN" smtClean="0"/>
              <a:t>47</a:t>
            </a:fld>
            <a:endParaRPr lang="en-IN"/>
          </a:p>
        </p:txBody>
      </p:sp>
    </p:spTree>
    <p:extLst>
      <p:ext uri="{BB962C8B-B14F-4D97-AF65-F5344CB8AC3E}">
        <p14:creationId xmlns:p14="http://schemas.microsoft.com/office/powerpoint/2010/main" val="541696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48</a:t>
            </a:fld>
            <a:endParaRPr lang="en-IN"/>
          </a:p>
        </p:txBody>
      </p:sp>
      <p:sp>
        <p:nvSpPr>
          <p:cNvPr id="4" name="Rectangle 3"/>
          <p:cNvSpPr/>
          <p:nvPr/>
        </p:nvSpPr>
        <p:spPr>
          <a:xfrm>
            <a:off x="623582" y="1176568"/>
            <a:ext cx="10758207" cy="3000821"/>
          </a:xfrm>
          <a:prstGeom prst="rect">
            <a:avLst/>
          </a:prstGeom>
        </p:spPr>
        <p:txBody>
          <a:bodyPr wrap="square">
            <a:spAutoFit/>
          </a:bodyPr>
          <a:lstStyle/>
          <a:p>
            <a:pPr algn="just" fontAlgn="base">
              <a:lnSpc>
                <a:spcPct val="150000"/>
              </a:lnSpc>
            </a:pPr>
            <a:r>
              <a:rPr lang="en-US" b="1" dirty="0">
                <a:solidFill>
                  <a:srgbClr val="273239"/>
                </a:solidFill>
                <a:latin typeface="Nunito"/>
              </a:rPr>
              <a:t>What is CTC?</a:t>
            </a:r>
          </a:p>
          <a:p>
            <a:pPr algn="just" fontAlgn="base">
              <a:lnSpc>
                <a:spcPct val="150000"/>
              </a:lnSpc>
            </a:pPr>
            <a:r>
              <a:rPr lang="en-US" dirty="0">
                <a:solidFill>
                  <a:srgbClr val="273239"/>
                </a:solidFill>
                <a:latin typeface="Nunito"/>
              </a:rPr>
              <a:t>CTC stands for </a:t>
            </a:r>
            <a:r>
              <a:rPr lang="en-US" b="1" dirty="0">
                <a:solidFill>
                  <a:srgbClr val="273239"/>
                </a:solidFill>
                <a:latin typeface="Nunito"/>
              </a:rPr>
              <a:t>“Cost to Company”</a:t>
            </a:r>
            <a:r>
              <a:rPr lang="en-US" dirty="0">
                <a:solidFill>
                  <a:srgbClr val="273239"/>
                </a:solidFill>
                <a:latin typeface="Nunito"/>
              </a:rPr>
              <a:t>. It is a commonly used term in employment and jobs. CTC is defined as the total amount of money that the company is going to spend on an employee. It will include salary, bonuses, incentives, provident fund. It is the total amount that an employee can expect from the company in the form of different direct and indirect benefits. While salary is the most basic form of compensation that an employee receives from the company, CTC is made by adding up salary and other components.</a:t>
            </a:r>
          </a:p>
        </p:txBody>
      </p:sp>
      <p:sp>
        <p:nvSpPr>
          <p:cNvPr id="5" name="Rectangle 4"/>
          <p:cNvSpPr/>
          <p:nvPr/>
        </p:nvSpPr>
        <p:spPr>
          <a:xfrm>
            <a:off x="2954685" y="4351518"/>
            <a:ext cx="6096000" cy="369332"/>
          </a:xfrm>
          <a:prstGeom prst="rect">
            <a:avLst/>
          </a:prstGeom>
        </p:spPr>
        <p:txBody>
          <a:bodyPr>
            <a:spAutoFit/>
          </a:bodyPr>
          <a:lstStyle/>
          <a:p>
            <a:pPr algn="ctr" fontAlgn="base"/>
            <a:r>
              <a:rPr lang="en-US" b="1" i="1" dirty="0">
                <a:solidFill>
                  <a:srgbClr val="273239"/>
                </a:solidFill>
                <a:latin typeface="Nunito"/>
              </a:rPr>
              <a:t>CTC (Cost to Company) = Gross Salary + Benefits</a:t>
            </a:r>
            <a:endParaRPr lang="en-IN" dirty="0"/>
          </a:p>
        </p:txBody>
      </p:sp>
    </p:spTree>
    <p:extLst>
      <p:ext uri="{BB962C8B-B14F-4D97-AF65-F5344CB8AC3E}">
        <p14:creationId xmlns:p14="http://schemas.microsoft.com/office/powerpoint/2010/main" val="18242691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49</a:t>
            </a:fld>
            <a:endParaRPr lang="en-IN"/>
          </a:p>
        </p:txBody>
      </p:sp>
      <p:sp>
        <p:nvSpPr>
          <p:cNvPr id="3" name="Rectangle 2"/>
          <p:cNvSpPr/>
          <p:nvPr/>
        </p:nvSpPr>
        <p:spPr>
          <a:xfrm>
            <a:off x="352336" y="1225404"/>
            <a:ext cx="11081857" cy="4662815"/>
          </a:xfrm>
          <a:prstGeom prst="rect">
            <a:avLst/>
          </a:prstGeom>
        </p:spPr>
        <p:txBody>
          <a:bodyPr wrap="square">
            <a:spAutoFit/>
          </a:bodyPr>
          <a:lstStyle/>
          <a:p>
            <a:pPr algn="just" fontAlgn="base">
              <a:lnSpc>
                <a:spcPct val="150000"/>
              </a:lnSpc>
            </a:pPr>
            <a:r>
              <a:rPr lang="en-US" b="1" dirty="0">
                <a:solidFill>
                  <a:srgbClr val="273239"/>
                </a:solidFill>
                <a:latin typeface="Nunito"/>
              </a:rPr>
              <a:t>1. Basic Salary</a:t>
            </a:r>
            <a:r>
              <a:rPr lang="en-US" dirty="0">
                <a:solidFill>
                  <a:srgbClr val="273239"/>
                </a:solidFill>
                <a:latin typeface="Nunito"/>
              </a:rPr>
              <a:t>: It is a fixed amount of money on an employment contract that is mutually determined and provided monthly to an employee for their financial needs.</a:t>
            </a:r>
          </a:p>
          <a:p>
            <a:pPr algn="just" fontAlgn="base">
              <a:lnSpc>
                <a:spcPct val="150000"/>
              </a:lnSpc>
            </a:pPr>
            <a:r>
              <a:rPr lang="en-US" b="1" dirty="0">
                <a:solidFill>
                  <a:srgbClr val="273239"/>
                </a:solidFill>
                <a:latin typeface="Nunito"/>
              </a:rPr>
              <a:t>2. House Rent Allowance</a:t>
            </a:r>
            <a:r>
              <a:rPr lang="en-US" dirty="0">
                <a:solidFill>
                  <a:srgbClr val="273239"/>
                </a:solidFill>
                <a:latin typeface="Nunito"/>
              </a:rPr>
              <a:t>: Employee is eligible for this if they are living on rent. It is some part of the complete rent of the place where the employee lives.</a:t>
            </a:r>
          </a:p>
          <a:p>
            <a:pPr algn="just" fontAlgn="base">
              <a:lnSpc>
                <a:spcPct val="150000"/>
              </a:lnSpc>
            </a:pPr>
            <a:r>
              <a:rPr lang="en-US" b="1" dirty="0">
                <a:solidFill>
                  <a:srgbClr val="273239"/>
                </a:solidFill>
                <a:latin typeface="Nunito"/>
              </a:rPr>
              <a:t>3. Bonuses:</a:t>
            </a:r>
            <a:r>
              <a:rPr lang="en-US" dirty="0">
                <a:solidFill>
                  <a:srgbClr val="273239"/>
                </a:solidFill>
                <a:latin typeface="Nunito"/>
              </a:rPr>
              <a:t> Performance-based bonuses are also provided to employees in some companies.</a:t>
            </a:r>
          </a:p>
          <a:p>
            <a:pPr algn="just" fontAlgn="base">
              <a:lnSpc>
                <a:spcPct val="150000"/>
              </a:lnSpc>
            </a:pPr>
            <a:r>
              <a:rPr lang="en-US" b="1" dirty="0">
                <a:solidFill>
                  <a:srgbClr val="273239"/>
                </a:solidFill>
                <a:latin typeface="Nunito"/>
              </a:rPr>
              <a:t>4. Stock Options</a:t>
            </a:r>
            <a:r>
              <a:rPr lang="en-US" dirty="0">
                <a:solidFill>
                  <a:srgbClr val="273239"/>
                </a:solidFill>
                <a:latin typeface="Nunito"/>
              </a:rPr>
              <a:t>: Stock options mean employee gets the option to buy the company’s share at a predetermined price in the future.</a:t>
            </a:r>
          </a:p>
          <a:p>
            <a:pPr algn="just" fontAlgn="base">
              <a:lnSpc>
                <a:spcPct val="150000"/>
              </a:lnSpc>
            </a:pPr>
            <a:r>
              <a:rPr lang="en-US" b="1" dirty="0">
                <a:solidFill>
                  <a:srgbClr val="273239"/>
                </a:solidFill>
                <a:latin typeface="Nunito"/>
              </a:rPr>
              <a:t>5. Employee’s Benefits</a:t>
            </a:r>
            <a:r>
              <a:rPr lang="en-US" dirty="0">
                <a:solidFill>
                  <a:srgbClr val="273239"/>
                </a:solidFill>
                <a:latin typeface="Nunito"/>
              </a:rPr>
              <a:t>: Benefits paid to employees like health insurance, life insurance, retirement benefits, and any other perks the company offers.</a:t>
            </a:r>
          </a:p>
          <a:p>
            <a:pPr algn="just" fontAlgn="base">
              <a:lnSpc>
                <a:spcPct val="150000"/>
              </a:lnSpc>
            </a:pPr>
            <a:r>
              <a:rPr lang="en-US" b="1" dirty="0">
                <a:solidFill>
                  <a:srgbClr val="273239"/>
                </a:solidFill>
                <a:latin typeface="Nunito"/>
              </a:rPr>
              <a:t>6. Provident Fund (PF) and Gratuity</a:t>
            </a:r>
            <a:r>
              <a:rPr lang="en-US" dirty="0">
                <a:solidFill>
                  <a:srgbClr val="273239"/>
                </a:solidFill>
                <a:latin typeface="Nunito"/>
              </a:rPr>
              <a:t>: Employer contributions to the Employee Provident Fund (EPF) and gratuity, which is payable upon an employee’s retirement, are also part of the CTC.</a:t>
            </a:r>
            <a:endParaRPr lang="en-US" b="0" i="0" dirty="0">
              <a:solidFill>
                <a:srgbClr val="273239"/>
              </a:solidFill>
              <a:effectLst/>
              <a:latin typeface="Nunito"/>
            </a:endParaRPr>
          </a:p>
        </p:txBody>
      </p:sp>
    </p:spTree>
    <p:extLst>
      <p:ext uri="{BB962C8B-B14F-4D97-AF65-F5344CB8AC3E}">
        <p14:creationId xmlns:p14="http://schemas.microsoft.com/office/powerpoint/2010/main" val="3396037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50</a:t>
            </a:fld>
            <a:endParaRPr lang="en-IN"/>
          </a:p>
        </p:txBody>
      </p:sp>
      <p:sp>
        <p:nvSpPr>
          <p:cNvPr id="3" name="Rectangle 2"/>
          <p:cNvSpPr/>
          <p:nvPr/>
        </p:nvSpPr>
        <p:spPr>
          <a:xfrm>
            <a:off x="497747" y="295729"/>
            <a:ext cx="6096000" cy="4611519"/>
          </a:xfrm>
          <a:prstGeom prst="rect">
            <a:avLst/>
          </a:prstGeom>
        </p:spPr>
        <p:txBody>
          <a:bodyPr>
            <a:spAutoFit/>
          </a:bodyPr>
          <a:lstStyle/>
          <a:p>
            <a:pPr algn="just" fontAlgn="base">
              <a:lnSpc>
                <a:spcPct val="150000"/>
              </a:lnSpc>
            </a:pPr>
            <a:r>
              <a:rPr lang="en-US" b="1" dirty="0">
                <a:solidFill>
                  <a:srgbClr val="273239"/>
                </a:solidFill>
                <a:latin typeface="Nunito"/>
              </a:rPr>
              <a:t>Example of CTC Calculation</a:t>
            </a:r>
          </a:p>
          <a:p>
            <a:pPr algn="just" fontAlgn="base">
              <a:lnSpc>
                <a:spcPct val="150000"/>
              </a:lnSpc>
            </a:pPr>
            <a:r>
              <a:rPr lang="en-US" b="1" dirty="0">
                <a:solidFill>
                  <a:srgbClr val="273239"/>
                </a:solidFill>
                <a:latin typeface="Nunito"/>
              </a:rPr>
              <a:t>Example:</a:t>
            </a:r>
          </a:p>
          <a:p>
            <a:pPr algn="just" fontAlgn="base">
              <a:lnSpc>
                <a:spcPct val="150000"/>
              </a:lnSpc>
            </a:pPr>
            <a:r>
              <a:rPr lang="en-US" dirty="0">
                <a:solidFill>
                  <a:srgbClr val="273239"/>
                </a:solidFill>
                <a:latin typeface="Nunito"/>
              </a:rPr>
              <a:t>Suppose an employee has a basic salary of ₹40,000 per month, and receives the following allowances and incentives,</a:t>
            </a:r>
          </a:p>
          <a:p>
            <a:pPr algn="just" fontAlgn="base">
              <a:lnSpc>
                <a:spcPct val="150000"/>
              </a:lnSpc>
              <a:buFont typeface="Arial" panose="020B0604020202020204" pitchFamily="34" charset="0"/>
              <a:buChar char="•"/>
            </a:pPr>
            <a:r>
              <a:rPr lang="en-US" dirty="0">
                <a:solidFill>
                  <a:srgbClr val="273239"/>
                </a:solidFill>
                <a:latin typeface="Nunito"/>
              </a:rPr>
              <a:t>Dearness Allowance (DA) amounts to ₹4,000</a:t>
            </a:r>
          </a:p>
          <a:p>
            <a:pPr algn="just" fontAlgn="base">
              <a:lnSpc>
                <a:spcPct val="150000"/>
              </a:lnSpc>
              <a:buFont typeface="Arial" panose="020B0604020202020204" pitchFamily="34" charset="0"/>
              <a:buChar char="•"/>
            </a:pPr>
            <a:r>
              <a:rPr lang="en-US" dirty="0">
                <a:solidFill>
                  <a:srgbClr val="273239"/>
                </a:solidFill>
                <a:latin typeface="Nunito"/>
              </a:rPr>
              <a:t>House Rent Allowance (HRA) is ₹8,000</a:t>
            </a:r>
          </a:p>
          <a:p>
            <a:pPr algn="just" fontAlgn="base">
              <a:lnSpc>
                <a:spcPct val="150000"/>
              </a:lnSpc>
              <a:buFont typeface="Arial" panose="020B0604020202020204" pitchFamily="34" charset="0"/>
              <a:buChar char="•"/>
            </a:pPr>
            <a:r>
              <a:rPr lang="en-US" dirty="0">
                <a:solidFill>
                  <a:srgbClr val="273239"/>
                </a:solidFill>
                <a:latin typeface="Nunito"/>
              </a:rPr>
              <a:t>Conveyance Allowance is ₹1,000</a:t>
            </a:r>
          </a:p>
          <a:p>
            <a:pPr algn="just" fontAlgn="base">
              <a:lnSpc>
                <a:spcPct val="150000"/>
              </a:lnSpc>
              <a:buFont typeface="Arial" panose="020B0604020202020204" pitchFamily="34" charset="0"/>
              <a:buChar char="•"/>
            </a:pPr>
            <a:r>
              <a:rPr lang="en-US" dirty="0">
                <a:solidFill>
                  <a:srgbClr val="273239"/>
                </a:solidFill>
                <a:latin typeface="Nunito"/>
              </a:rPr>
              <a:t>Entertainment Allowance is ₹1,000</a:t>
            </a:r>
          </a:p>
          <a:p>
            <a:pPr algn="just" fontAlgn="base">
              <a:lnSpc>
                <a:spcPct val="150000"/>
              </a:lnSpc>
              <a:buFont typeface="Arial" panose="020B0604020202020204" pitchFamily="34" charset="0"/>
              <a:buChar char="•"/>
            </a:pPr>
            <a:r>
              <a:rPr lang="en-US" dirty="0">
                <a:solidFill>
                  <a:srgbClr val="273239"/>
                </a:solidFill>
                <a:latin typeface="Nunito"/>
              </a:rPr>
              <a:t>Overtime Allowance is ₹1,000</a:t>
            </a:r>
          </a:p>
          <a:p>
            <a:pPr algn="just" fontAlgn="base">
              <a:lnSpc>
                <a:spcPct val="150000"/>
              </a:lnSpc>
              <a:buFont typeface="Arial" panose="020B0604020202020204" pitchFamily="34" charset="0"/>
              <a:buChar char="•"/>
            </a:pPr>
            <a:r>
              <a:rPr lang="en-US" dirty="0">
                <a:solidFill>
                  <a:srgbClr val="273239"/>
                </a:solidFill>
                <a:latin typeface="Nunito"/>
              </a:rPr>
              <a:t>Medical Reimbursements are ₹1,250</a:t>
            </a:r>
            <a:endParaRPr lang="en-US" b="0" i="0" dirty="0">
              <a:solidFill>
                <a:srgbClr val="273239"/>
              </a:solidFill>
              <a:effectLst/>
              <a:latin typeface="Nunito"/>
            </a:endParaRPr>
          </a:p>
        </p:txBody>
      </p:sp>
      <p:sp>
        <p:nvSpPr>
          <p:cNvPr id="4" name="Rectangle 3"/>
          <p:cNvSpPr/>
          <p:nvPr/>
        </p:nvSpPr>
        <p:spPr>
          <a:xfrm>
            <a:off x="5318621" y="2241282"/>
            <a:ext cx="6727970" cy="3831818"/>
          </a:xfrm>
          <a:prstGeom prst="rect">
            <a:avLst/>
          </a:prstGeom>
        </p:spPr>
        <p:txBody>
          <a:bodyPr wrap="square">
            <a:spAutoFit/>
          </a:bodyPr>
          <a:lstStyle/>
          <a:p>
            <a:pPr algn="just" fontAlgn="base">
              <a:lnSpc>
                <a:spcPct val="150000"/>
              </a:lnSpc>
            </a:pPr>
            <a:r>
              <a:rPr lang="en-IN" b="1" dirty="0">
                <a:solidFill>
                  <a:srgbClr val="273239"/>
                </a:solidFill>
                <a:latin typeface="Nunito"/>
              </a:rPr>
              <a:t>Solution:</a:t>
            </a:r>
          </a:p>
          <a:p>
            <a:pPr algn="just" fontAlgn="base">
              <a:lnSpc>
                <a:spcPct val="150000"/>
              </a:lnSpc>
            </a:pPr>
            <a:r>
              <a:rPr lang="en-IN" dirty="0">
                <a:solidFill>
                  <a:srgbClr val="273239"/>
                </a:solidFill>
                <a:latin typeface="Nunito"/>
              </a:rPr>
              <a:t>The employee’s gross salary is calculated as follows:</a:t>
            </a:r>
          </a:p>
          <a:p>
            <a:pPr algn="just" fontAlgn="base">
              <a:lnSpc>
                <a:spcPct val="150000"/>
              </a:lnSpc>
            </a:pPr>
            <a:r>
              <a:rPr lang="en-IN" dirty="0">
                <a:solidFill>
                  <a:srgbClr val="273239"/>
                </a:solidFill>
                <a:latin typeface="Nunito"/>
              </a:rPr>
              <a:t>Gross Salary = Basic Salary + DA + HRA + Conveyance Allowance + Entertainment Allowance + Overtime Allowance + Medical Reimbursements</a:t>
            </a:r>
          </a:p>
          <a:p>
            <a:pPr algn="just" fontAlgn="base">
              <a:lnSpc>
                <a:spcPct val="150000"/>
              </a:lnSpc>
            </a:pPr>
            <a:r>
              <a:rPr lang="en-IN" b="1" dirty="0">
                <a:solidFill>
                  <a:srgbClr val="273239"/>
                </a:solidFill>
                <a:latin typeface="Nunito"/>
              </a:rPr>
              <a:t>Gross Salary = </a:t>
            </a:r>
          </a:p>
          <a:p>
            <a:pPr algn="just" fontAlgn="base">
              <a:lnSpc>
                <a:spcPct val="150000"/>
              </a:lnSpc>
            </a:pPr>
            <a:r>
              <a:rPr lang="en-IN" dirty="0">
                <a:solidFill>
                  <a:srgbClr val="273239"/>
                </a:solidFill>
                <a:latin typeface="Nunito"/>
              </a:rPr>
              <a:t>₹40,000 + ₹4,000 +₹8,000 + ₹1,000 + ₹1,000 + ₹1,000 + ₹1,250</a:t>
            </a:r>
          </a:p>
          <a:p>
            <a:pPr algn="just" fontAlgn="base">
              <a:lnSpc>
                <a:spcPct val="150000"/>
              </a:lnSpc>
            </a:pPr>
            <a:r>
              <a:rPr lang="en-IN" b="1" dirty="0">
                <a:solidFill>
                  <a:srgbClr val="273239"/>
                </a:solidFill>
                <a:latin typeface="Nunito"/>
              </a:rPr>
              <a:t>Gross Salary = ₹56,250 Per Month.</a:t>
            </a:r>
          </a:p>
          <a:p>
            <a:pPr algn="just" fontAlgn="base">
              <a:lnSpc>
                <a:spcPct val="150000"/>
              </a:lnSpc>
            </a:pPr>
            <a:r>
              <a:rPr lang="en-IN" b="1" dirty="0">
                <a:solidFill>
                  <a:srgbClr val="273239"/>
                </a:solidFill>
                <a:latin typeface="Nunito"/>
              </a:rPr>
              <a:t>Gross Salary = ₹6,75,000 Per Year</a:t>
            </a:r>
          </a:p>
        </p:txBody>
      </p:sp>
    </p:spTree>
    <p:extLst>
      <p:ext uri="{BB962C8B-B14F-4D97-AF65-F5344CB8AC3E}">
        <p14:creationId xmlns:p14="http://schemas.microsoft.com/office/powerpoint/2010/main" val="1324031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51</a:t>
            </a:fld>
            <a:endParaRPr lang="en-IN"/>
          </a:p>
        </p:txBody>
      </p:sp>
      <p:sp>
        <p:nvSpPr>
          <p:cNvPr id="3" name="Rectangle 2"/>
          <p:cNvSpPr/>
          <p:nvPr/>
        </p:nvSpPr>
        <p:spPr>
          <a:xfrm>
            <a:off x="833307" y="537992"/>
            <a:ext cx="9434818" cy="4662815"/>
          </a:xfrm>
          <a:prstGeom prst="rect">
            <a:avLst/>
          </a:prstGeom>
        </p:spPr>
        <p:txBody>
          <a:bodyPr wrap="square">
            <a:spAutoFit/>
          </a:bodyPr>
          <a:lstStyle/>
          <a:p>
            <a:pPr algn="just" fontAlgn="base">
              <a:lnSpc>
                <a:spcPct val="150000"/>
              </a:lnSpc>
            </a:pPr>
            <a:r>
              <a:rPr lang="en-US" dirty="0">
                <a:solidFill>
                  <a:srgbClr val="273239"/>
                </a:solidFill>
                <a:latin typeface="Nunito"/>
              </a:rPr>
              <a:t>Now, assuming the employer also provides the following additional benefits to the employee,</a:t>
            </a:r>
          </a:p>
          <a:p>
            <a:pPr algn="just" fontAlgn="base">
              <a:lnSpc>
                <a:spcPct val="150000"/>
              </a:lnSpc>
              <a:buFont typeface="Arial" panose="020B0604020202020204" pitchFamily="34" charset="0"/>
              <a:buChar char="•"/>
            </a:pPr>
            <a:r>
              <a:rPr lang="en-US" dirty="0">
                <a:solidFill>
                  <a:srgbClr val="273239"/>
                </a:solidFill>
                <a:latin typeface="Nunito"/>
              </a:rPr>
              <a:t>Medical Insurance is ₹2,000 per year.</a:t>
            </a:r>
          </a:p>
          <a:p>
            <a:pPr algn="just" fontAlgn="base">
              <a:lnSpc>
                <a:spcPct val="150000"/>
              </a:lnSpc>
              <a:buFont typeface="Arial" panose="020B0604020202020204" pitchFamily="34" charset="0"/>
              <a:buChar char="•"/>
            </a:pPr>
            <a:r>
              <a:rPr lang="en-US" dirty="0">
                <a:solidFill>
                  <a:srgbClr val="273239"/>
                </a:solidFill>
                <a:latin typeface="Nunito"/>
              </a:rPr>
              <a:t>The Provident Fund, which is 12% of the Basic Salary (i.e., 12% of ₹40,000 = ₹4,800 per month).</a:t>
            </a:r>
          </a:p>
          <a:p>
            <a:pPr algn="just" fontAlgn="base">
              <a:lnSpc>
                <a:spcPct val="150000"/>
              </a:lnSpc>
              <a:buFont typeface="Arial" panose="020B0604020202020204" pitchFamily="34" charset="0"/>
              <a:buChar char="•"/>
            </a:pPr>
            <a:r>
              <a:rPr lang="en-US" dirty="0">
                <a:solidFill>
                  <a:srgbClr val="273239"/>
                </a:solidFill>
                <a:latin typeface="Nunito"/>
              </a:rPr>
              <a:t>A Laptop is provided at a one-time expense of ₹50,000.</a:t>
            </a:r>
          </a:p>
          <a:p>
            <a:pPr algn="just" fontAlgn="base">
              <a:lnSpc>
                <a:spcPct val="150000"/>
              </a:lnSpc>
              <a:buFont typeface="Arial" panose="020B0604020202020204" pitchFamily="34" charset="0"/>
              <a:buChar char="•"/>
            </a:pPr>
            <a:r>
              <a:rPr lang="en-US" dirty="0">
                <a:solidFill>
                  <a:srgbClr val="273239"/>
                </a:solidFill>
                <a:latin typeface="Nunito"/>
              </a:rPr>
              <a:t>The gratuity is ₹2,000 per month.</a:t>
            </a:r>
          </a:p>
          <a:p>
            <a:pPr algn="just" fontAlgn="base">
              <a:lnSpc>
                <a:spcPct val="150000"/>
              </a:lnSpc>
            </a:pPr>
            <a:r>
              <a:rPr lang="en-US" dirty="0">
                <a:solidFill>
                  <a:srgbClr val="273239"/>
                </a:solidFill>
                <a:latin typeface="Nunito"/>
              </a:rPr>
              <a:t>So, the CTC will be the Sum of All Benefits and Salary</a:t>
            </a:r>
          </a:p>
          <a:p>
            <a:pPr algn="just" fontAlgn="base">
              <a:lnSpc>
                <a:spcPct val="150000"/>
              </a:lnSpc>
            </a:pPr>
            <a:r>
              <a:rPr lang="en-US" dirty="0">
                <a:solidFill>
                  <a:srgbClr val="273239"/>
                </a:solidFill>
                <a:latin typeface="Nunito"/>
              </a:rPr>
              <a:t>Sum of Benefits + Gross Salary Per Year = </a:t>
            </a:r>
          </a:p>
          <a:p>
            <a:pPr algn="just" fontAlgn="base">
              <a:lnSpc>
                <a:spcPct val="150000"/>
              </a:lnSpc>
            </a:pPr>
            <a:r>
              <a:rPr lang="en-US" dirty="0">
                <a:solidFill>
                  <a:srgbClr val="273239"/>
                </a:solidFill>
                <a:latin typeface="Nunito"/>
              </a:rPr>
              <a:t>₹2,000 + (₹4,800 x 12 months) + ₹50,000 + (₹2,000 x 12 months) + (₹56,250 x 12 months)</a:t>
            </a:r>
          </a:p>
          <a:p>
            <a:pPr algn="just" fontAlgn="base">
              <a:lnSpc>
                <a:spcPct val="150000"/>
              </a:lnSpc>
            </a:pPr>
            <a:r>
              <a:rPr lang="en-US" b="1" dirty="0">
                <a:solidFill>
                  <a:srgbClr val="273239"/>
                </a:solidFill>
                <a:latin typeface="Nunito"/>
              </a:rPr>
              <a:t>Cost to Company (CTC) = ₹8,08,600.</a:t>
            </a:r>
            <a:endParaRPr lang="en-US" b="0" i="0" dirty="0">
              <a:solidFill>
                <a:srgbClr val="273239"/>
              </a:solidFill>
              <a:effectLst/>
              <a:latin typeface="Nunito"/>
            </a:endParaRPr>
          </a:p>
        </p:txBody>
      </p:sp>
    </p:spTree>
    <p:extLst>
      <p:ext uri="{BB962C8B-B14F-4D97-AF65-F5344CB8AC3E}">
        <p14:creationId xmlns:p14="http://schemas.microsoft.com/office/powerpoint/2010/main" val="41897609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52</a:t>
            </a:fld>
            <a:endParaRPr lang="en-IN"/>
          </a:p>
        </p:txBody>
      </p:sp>
      <p:sp>
        <p:nvSpPr>
          <p:cNvPr id="5" name="Rectangle 4"/>
          <p:cNvSpPr/>
          <p:nvPr/>
        </p:nvSpPr>
        <p:spPr>
          <a:xfrm>
            <a:off x="917195" y="563970"/>
            <a:ext cx="7169791" cy="369332"/>
          </a:xfrm>
          <a:prstGeom prst="rect">
            <a:avLst/>
          </a:prstGeom>
        </p:spPr>
        <p:txBody>
          <a:bodyPr wrap="square">
            <a:spAutoFit/>
          </a:bodyPr>
          <a:lstStyle/>
          <a:p>
            <a:pPr fontAlgn="base"/>
            <a:r>
              <a:rPr lang="en-US" b="1" dirty="0">
                <a:solidFill>
                  <a:srgbClr val="273239"/>
                </a:solidFill>
                <a:latin typeface="Nunito"/>
              </a:rPr>
              <a:t>Difference between Cost to Company (CTC) and Salary </a:t>
            </a:r>
            <a:endParaRPr lang="en-US" b="1" i="0" dirty="0">
              <a:solidFill>
                <a:srgbClr val="273239"/>
              </a:solidFill>
              <a:effectLst/>
              <a:latin typeface="Nunito"/>
            </a:endParaRPr>
          </a:p>
        </p:txBody>
      </p:sp>
      <p:graphicFrame>
        <p:nvGraphicFramePr>
          <p:cNvPr id="6" name="Table 5"/>
          <p:cNvGraphicFramePr>
            <a:graphicFrameLocks noGrp="1"/>
          </p:cNvGraphicFramePr>
          <p:nvPr>
            <p:extLst>
              <p:ext uri="{D42A27DB-BD31-4B8C-83A1-F6EECF244321}">
                <p14:modId xmlns:p14="http://schemas.microsoft.com/office/powerpoint/2010/main" val="742397483"/>
              </p:ext>
            </p:extLst>
          </p:nvPr>
        </p:nvGraphicFramePr>
        <p:xfrm>
          <a:off x="1131318" y="1356352"/>
          <a:ext cx="7744233" cy="5258135"/>
        </p:xfrm>
        <a:graphic>
          <a:graphicData uri="http://schemas.openxmlformats.org/drawingml/2006/table">
            <a:tbl>
              <a:tblPr/>
              <a:tblGrid>
                <a:gridCol w="2581411">
                  <a:extLst>
                    <a:ext uri="{9D8B030D-6E8A-4147-A177-3AD203B41FA5}">
                      <a16:colId xmlns:a16="http://schemas.microsoft.com/office/drawing/2014/main" val="3293558030"/>
                    </a:ext>
                  </a:extLst>
                </a:gridCol>
                <a:gridCol w="2581411">
                  <a:extLst>
                    <a:ext uri="{9D8B030D-6E8A-4147-A177-3AD203B41FA5}">
                      <a16:colId xmlns:a16="http://schemas.microsoft.com/office/drawing/2014/main" val="1319522641"/>
                    </a:ext>
                  </a:extLst>
                </a:gridCol>
                <a:gridCol w="2581411">
                  <a:extLst>
                    <a:ext uri="{9D8B030D-6E8A-4147-A177-3AD203B41FA5}">
                      <a16:colId xmlns:a16="http://schemas.microsoft.com/office/drawing/2014/main" val="4280351722"/>
                    </a:ext>
                  </a:extLst>
                </a:gridCol>
              </a:tblGrid>
              <a:tr h="609023">
                <a:tc>
                  <a:txBody>
                    <a:bodyPr/>
                    <a:lstStyle/>
                    <a:p>
                      <a:pPr algn="ctr" rtl="0" fontAlgn="base"/>
                      <a:r>
                        <a:rPr lang="en-IN" sz="1300" b="1">
                          <a:effectLst/>
                        </a:rPr>
                        <a:t>Basis</a:t>
                      </a:r>
                    </a:p>
                  </a:txBody>
                  <a:tcPr marL="28372" marR="28372" marT="49424" marB="494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base"/>
                      <a:r>
                        <a:rPr lang="en-IN" sz="1300" b="1">
                          <a:effectLst/>
                        </a:rPr>
                        <a:t>Cost to Company (CTC)</a:t>
                      </a:r>
                    </a:p>
                  </a:txBody>
                  <a:tcPr marL="49424" marR="49424" marT="49424" marB="494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base"/>
                      <a:r>
                        <a:rPr lang="en-IN" sz="1300" b="1">
                          <a:effectLst/>
                        </a:rPr>
                        <a:t>Salary</a:t>
                      </a:r>
                    </a:p>
                  </a:txBody>
                  <a:tcPr marL="49424" marR="49424" marT="49424" marB="494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8175503"/>
                  </a:ext>
                </a:extLst>
              </a:tr>
              <a:tr h="749191">
                <a:tc>
                  <a:txBody>
                    <a:bodyPr/>
                    <a:lstStyle/>
                    <a:p>
                      <a:pPr algn="ctr" rtl="0" fontAlgn="base"/>
                      <a:r>
                        <a:rPr lang="en-IN" sz="1400" b="1" dirty="0">
                          <a:effectLst/>
                        </a:rPr>
                        <a:t>Definition</a:t>
                      </a:r>
                      <a:endParaRPr lang="en-IN" sz="1400" b="0" dirty="0">
                        <a:effectLst/>
                      </a:endParaRP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It is a total package including both salary and benefits offered by the managing company.</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a:effectLst/>
                        </a:rPr>
                        <a:t>The amount received by the employee as take-home pay.</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21257174"/>
                  </a:ext>
                </a:extLst>
              </a:tr>
              <a:tr h="919462">
                <a:tc>
                  <a:txBody>
                    <a:bodyPr/>
                    <a:lstStyle/>
                    <a:p>
                      <a:pPr algn="ctr" rtl="0" fontAlgn="base"/>
                      <a:r>
                        <a:rPr lang="en-IN" sz="1400" b="1">
                          <a:effectLst/>
                        </a:rPr>
                        <a:t>Components</a:t>
                      </a:r>
                      <a:endParaRPr lang="en-IN" sz="1400" b="0">
                        <a:effectLst/>
                      </a:endParaRP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Includes all monetary and non-monetary components, such as basic salary, allowances, bonuses, benefits, and more.</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Typically consists of the basic salary and allowances, which are the taxable components.</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1380502"/>
                  </a:ext>
                </a:extLst>
              </a:tr>
              <a:tr h="749191">
                <a:tc>
                  <a:txBody>
                    <a:bodyPr/>
                    <a:lstStyle/>
                    <a:p>
                      <a:pPr algn="ctr" rtl="0" fontAlgn="base"/>
                      <a:r>
                        <a:rPr lang="en-IN" sz="1400" b="1">
                          <a:effectLst/>
                        </a:rPr>
                        <a:t>Employee’s Perception</a:t>
                      </a:r>
                      <a:endParaRPr lang="en-IN" sz="1400" b="0">
                        <a:effectLst/>
                      </a:endParaRP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a:effectLst/>
                        </a:rPr>
                        <a:t>Can appear larger, but not all of it is available as take-home pay.</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Represents what an employee takes home and can budget with.</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46696474"/>
                  </a:ext>
                </a:extLst>
              </a:tr>
              <a:tr h="919462">
                <a:tc>
                  <a:txBody>
                    <a:bodyPr/>
                    <a:lstStyle/>
                    <a:p>
                      <a:pPr algn="ctr" rtl="0" fontAlgn="base"/>
                      <a:r>
                        <a:rPr lang="en-IN" sz="1400" b="1">
                          <a:effectLst/>
                        </a:rPr>
                        <a:t>Negotiation Tool</a:t>
                      </a:r>
                      <a:endParaRPr lang="en-IN" sz="1400" b="0">
                        <a:effectLst/>
                      </a:endParaRP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a:effectLst/>
                        </a:rPr>
                        <a:t>Often used as a negotiation tool during job offers and can be higher than the actual salary.</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It is for understanding the actual income an employee will receive and managing expenses.</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88497149"/>
                  </a:ext>
                </a:extLst>
              </a:tr>
              <a:tr h="1089731">
                <a:tc>
                  <a:txBody>
                    <a:bodyPr/>
                    <a:lstStyle/>
                    <a:p>
                      <a:pPr algn="ctr" rtl="0" fontAlgn="base"/>
                      <a:r>
                        <a:rPr lang="en-IN" sz="1400" b="1">
                          <a:effectLst/>
                        </a:rPr>
                        <a:t>Calculation</a:t>
                      </a:r>
                      <a:endParaRPr lang="en-IN" sz="1400" b="0">
                        <a:effectLst/>
                      </a:endParaRP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a:effectLst/>
                        </a:rPr>
                        <a:t>Calculated by summing up all the components that make up the total compensation package, often on an annual basis.</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1400" b="0" dirty="0">
                          <a:effectLst/>
                        </a:rPr>
                        <a:t>It is the actual money provided every month to employees.</a:t>
                      </a:r>
                    </a:p>
                  </a:txBody>
                  <a:tcPr marL="70930" marR="70930" marT="99302" marB="9930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9235833"/>
                  </a:ext>
                </a:extLst>
              </a:tr>
            </a:tbl>
          </a:graphicData>
        </a:graphic>
      </p:graphicFrame>
    </p:spTree>
    <p:extLst>
      <p:ext uri="{BB962C8B-B14F-4D97-AF65-F5344CB8AC3E}">
        <p14:creationId xmlns:p14="http://schemas.microsoft.com/office/powerpoint/2010/main" val="1160301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DF0DC1-886B-3FD5-D09F-8F654970CFE7}"/>
              </a:ext>
            </a:extLst>
          </p:cNvPr>
          <p:cNvSpPr>
            <a:spLocks noGrp="1"/>
          </p:cNvSpPr>
          <p:nvPr>
            <p:ph idx="1"/>
          </p:nvPr>
        </p:nvSpPr>
        <p:spPr>
          <a:xfrm>
            <a:off x="1103312" y="1632857"/>
            <a:ext cx="10087427" cy="5225143"/>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1. CTC</a:t>
            </a:r>
          </a:p>
          <a:p>
            <a:pPr marL="0" indent="0" algn="just">
              <a:buNone/>
            </a:pPr>
            <a:r>
              <a:rPr lang="en-US" sz="2400" dirty="0">
                <a:latin typeface="Cambria" panose="02040503050406030204" pitchFamily="18" charset="0"/>
                <a:ea typeface="Cambria" panose="02040503050406030204" pitchFamily="18" charset="0"/>
              </a:rPr>
              <a:t>2. Gross Salary</a:t>
            </a:r>
          </a:p>
          <a:p>
            <a:pPr marL="0" indent="0" algn="just">
              <a:buNone/>
            </a:pPr>
            <a:r>
              <a:rPr lang="en-US" sz="2400" dirty="0">
                <a:latin typeface="Cambria" panose="02040503050406030204" pitchFamily="18" charset="0"/>
                <a:ea typeface="Cambria" panose="02040503050406030204" pitchFamily="18" charset="0"/>
              </a:rPr>
              <a:t>-is </a:t>
            </a:r>
            <a:r>
              <a:rPr lang="en-US" sz="2400" dirty="0">
                <a:solidFill>
                  <a:srgbClr val="7030A0"/>
                </a:solidFill>
                <a:latin typeface="Cambria" panose="02040503050406030204" pitchFamily="18" charset="0"/>
                <a:ea typeface="Cambria" panose="02040503050406030204" pitchFamily="18" charset="0"/>
              </a:rPr>
              <a:t>employee provident fund </a:t>
            </a:r>
            <a:r>
              <a:rPr lang="en-US" sz="2400" dirty="0">
                <a:latin typeface="Cambria" panose="02040503050406030204" pitchFamily="18" charset="0"/>
                <a:ea typeface="Cambria" panose="02040503050406030204" pitchFamily="18" charset="0"/>
              </a:rPr>
              <a:t>(EPF) and gratuity subtracted from the </a:t>
            </a:r>
            <a:r>
              <a:rPr lang="en-US" sz="2400" dirty="0">
                <a:solidFill>
                  <a:srgbClr val="7030A0"/>
                </a:solidFill>
                <a:latin typeface="Cambria" panose="02040503050406030204" pitchFamily="18" charset="0"/>
                <a:ea typeface="Cambria" panose="02040503050406030204" pitchFamily="18" charset="0"/>
              </a:rPr>
              <a:t>Cost to Company </a:t>
            </a:r>
            <a:r>
              <a:rPr lang="en-US" sz="2400" dirty="0">
                <a:latin typeface="Cambria" panose="02040503050406030204" pitchFamily="18" charset="0"/>
                <a:ea typeface="Cambria" panose="02040503050406030204" pitchFamily="18" charset="0"/>
              </a:rPr>
              <a:t>(CTC). To put it in simpler terms, </a:t>
            </a:r>
            <a:r>
              <a:rPr lang="en-US" sz="2400" dirty="0">
                <a:solidFill>
                  <a:srgbClr val="FF0000"/>
                </a:solidFill>
                <a:latin typeface="Cambria" panose="02040503050406030204" pitchFamily="18" charset="0"/>
                <a:ea typeface="Cambria" panose="02040503050406030204" pitchFamily="18" charset="0"/>
              </a:rPr>
              <a:t>Gross Salary is the amount paid before deduction of taxes </a:t>
            </a:r>
            <a:r>
              <a:rPr lang="en-US" sz="2400" dirty="0">
                <a:latin typeface="Cambria" panose="02040503050406030204" pitchFamily="18" charset="0"/>
                <a:ea typeface="Cambria" panose="02040503050406030204" pitchFamily="18" charset="0"/>
              </a:rPr>
              <a:t>or other deductions and is inclusive of bonuses, over-time pay, holiday pay, and other differentials.</a:t>
            </a:r>
          </a:p>
          <a:p>
            <a:pPr marL="0" indent="0" algn="just">
              <a:buNone/>
            </a:pPr>
            <a:endParaRPr lang="en-US" sz="2400" dirty="0">
              <a:latin typeface="Cambria" panose="02040503050406030204" pitchFamily="18" charset="0"/>
              <a:ea typeface="Cambria" panose="02040503050406030204" pitchFamily="18" charset="0"/>
            </a:endParaRPr>
          </a:p>
          <a:p>
            <a:pPr marL="0" indent="0" algn="just">
              <a:buNone/>
            </a:pPr>
            <a:r>
              <a:rPr lang="en-US" sz="2400" dirty="0">
                <a:latin typeface="Cambria" panose="02040503050406030204" pitchFamily="18" charset="0"/>
                <a:ea typeface="Cambria" panose="02040503050406030204" pitchFamily="18" charset="0"/>
              </a:rPr>
              <a:t>For the same example listed above, let’s deduce Mr. A yearly salary by subtracting gratuity and Employee Provident Fund contributions.</a:t>
            </a:r>
          </a:p>
          <a:p>
            <a:pPr marL="0" indent="0" algn="just">
              <a:buNone/>
            </a:pPr>
            <a:r>
              <a:rPr lang="en-US" sz="2400" dirty="0">
                <a:latin typeface="Cambria" panose="02040503050406030204" pitchFamily="18" charset="0"/>
                <a:ea typeface="Cambria" panose="02040503050406030204" pitchFamily="18" charset="0"/>
              </a:rPr>
              <a:t>Rs. 4,00,000 - Rs. 21,600 - Rs. 18,326 = Rs. 3,60,074</a:t>
            </a:r>
            <a:endParaRPr lang="en-IN" sz="24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5139D16-6640-C9D3-188D-861BAB6B0A94}"/>
              </a:ext>
            </a:extLst>
          </p:cNvPr>
          <p:cNvSpPr>
            <a:spLocks noGrp="1"/>
          </p:cNvSpPr>
          <p:nvPr>
            <p:ph type="sldNum" sz="quarter" idx="12"/>
          </p:nvPr>
        </p:nvSpPr>
        <p:spPr/>
        <p:txBody>
          <a:bodyPr/>
          <a:lstStyle/>
          <a:p>
            <a:fld id="{94013DF8-6EF8-4A98-8821-E6468C17C0C3}" type="slidenum">
              <a:rPr lang="en-IN" smtClean="0"/>
              <a:t>53</a:t>
            </a:fld>
            <a:endParaRPr lang="en-IN"/>
          </a:p>
        </p:txBody>
      </p:sp>
      <p:sp>
        <p:nvSpPr>
          <p:cNvPr id="7" name="Title 1">
            <a:extLst>
              <a:ext uri="{FF2B5EF4-FFF2-40B4-BE49-F238E27FC236}">
                <a16:creationId xmlns:a16="http://schemas.microsoft.com/office/drawing/2014/main" id="{85D9F6A3-C76D-95B7-D49E-E98F1123110A}"/>
              </a:ext>
            </a:extLst>
          </p:cNvPr>
          <p:cNvSpPr>
            <a:spLocks noGrp="1"/>
          </p:cNvSpPr>
          <p:nvPr>
            <p:ph type="title"/>
          </p:nvPr>
        </p:nvSpPr>
        <p:spPr>
          <a:xfrm>
            <a:off x="1001261" y="452718"/>
            <a:ext cx="9049573" cy="973311"/>
          </a:xfrm>
        </p:spPr>
        <p:txBody>
          <a:bodyPr/>
          <a:lstStyle/>
          <a:p>
            <a:r>
              <a:rPr lang="en-IN" dirty="0"/>
              <a:t>Income From Salary </a:t>
            </a:r>
          </a:p>
        </p:txBody>
      </p:sp>
    </p:spTree>
    <p:extLst>
      <p:ext uri="{BB962C8B-B14F-4D97-AF65-F5344CB8AC3E}">
        <p14:creationId xmlns:p14="http://schemas.microsoft.com/office/powerpoint/2010/main" val="3250158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CB6E59-126E-F972-103E-CE19AE420831}"/>
              </a:ext>
            </a:extLst>
          </p:cNvPr>
          <p:cNvSpPr>
            <a:spLocks noGrp="1"/>
          </p:cNvSpPr>
          <p:nvPr>
            <p:ph type="sldNum" sz="quarter" idx="12"/>
          </p:nvPr>
        </p:nvSpPr>
        <p:spPr/>
        <p:txBody>
          <a:bodyPr/>
          <a:lstStyle/>
          <a:p>
            <a:fld id="{94013DF8-6EF8-4A98-8821-E6468C17C0C3}" type="slidenum">
              <a:rPr lang="en-IN" smtClean="0"/>
              <a:t>54</a:t>
            </a:fld>
            <a:endParaRPr lang="en-IN"/>
          </a:p>
        </p:txBody>
      </p:sp>
      <p:sp>
        <p:nvSpPr>
          <p:cNvPr id="7" name="Title 1">
            <a:extLst>
              <a:ext uri="{FF2B5EF4-FFF2-40B4-BE49-F238E27FC236}">
                <a16:creationId xmlns:a16="http://schemas.microsoft.com/office/drawing/2014/main" id="{7D050152-B92C-DBB5-48C2-F6DC24AA7C4D}"/>
              </a:ext>
            </a:extLst>
          </p:cNvPr>
          <p:cNvSpPr>
            <a:spLocks noGrp="1"/>
          </p:cNvSpPr>
          <p:nvPr>
            <p:ph type="title"/>
          </p:nvPr>
        </p:nvSpPr>
        <p:spPr>
          <a:xfrm>
            <a:off x="1001261" y="452718"/>
            <a:ext cx="9049573" cy="973311"/>
          </a:xfrm>
        </p:spPr>
        <p:txBody>
          <a:bodyPr/>
          <a:lstStyle/>
          <a:p>
            <a:r>
              <a:rPr lang="en-IN" dirty="0"/>
              <a:t>Income From Salary </a:t>
            </a:r>
          </a:p>
        </p:txBody>
      </p:sp>
      <p:graphicFrame>
        <p:nvGraphicFramePr>
          <p:cNvPr id="8" name="Table 7">
            <a:extLst>
              <a:ext uri="{FF2B5EF4-FFF2-40B4-BE49-F238E27FC236}">
                <a16:creationId xmlns:a16="http://schemas.microsoft.com/office/drawing/2014/main" id="{3AFE2F61-F403-4FBE-1993-0932CF6CC563}"/>
              </a:ext>
            </a:extLst>
          </p:cNvPr>
          <p:cNvGraphicFramePr>
            <a:graphicFrameLocks noGrp="1"/>
          </p:cNvGraphicFramePr>
          <p:nvPr>
            <p:extLst>
              <p:ext uri="{D42A27DB-BD31-4B8C-83A1-F6EECF244321}">
                <p14:modId xmlns:p14="http://schemas.microsoft.com/office/powerpoint/2010/main" val="22282079"/>
              </p:ext>
            </p:extLst>
          </p:nvPr>
        </p:nvGraphicFramePr>
        <p:xfrm>
          <a:off x="670561" y="1228341"/>
          <a:ext cx="9380273" cy="5497766"/>
        </p:xfrm>
        <a:graphic>
          <a:graphicData uri="http://schemas.openxmlformats.org/drawingml/2006/table">
            <a:tbl>
              <a:tblPr>
                <a:tableStyleId>{22838BEF-8BB2-4498-84A7-C5851F593DF1}</a:tableStyleId>
              </a:tblPr>
              <a:tblGrid>
                <a:gridCol w="6572719">
                  <a:extLst>
                    <a:ext uri="{9D8B030D-6E8A-4147-A177-3AD203B41FA5}">
                      <a16:colId xmlns:a16="http://schemas.microsoft.com/office/drawing/2014/main" val="1949391029"/>
                    </a:ext>
                  </a:extLst>
                </a:gridCol>
                <a:gridCol w="2807554">
                  <a:extLst>
                    <a:ext uri="{9D8B030D-6E8A-4147-A177-3AD203B41FA5}">
                      <a16:colId xmlns:a16="http://schemas.microsoft.com/office/drawing/2014/main" val="1052854170"/>
                    </a:ext>
                  </a:extLst>
                </a:gridCol>
              </a:tblGrid>
              <a:tr h="422927">
                <a:tc>
                  <a:txBody>
                    <a:bodyPr/>
                    <a:lstStyle/>
                    <a:p>
                      <a:pPr algn="ctr"/>
                      <a:r>
                        <a:rPr lang="en-IN" sz="1800" dirty="0">
                          <a:effectLst>
                            <a:outerShdw blurRad="38100" dist="38100" dir="2700000" algn="tl">
                              <a:srgbClr val="000000">
                                <a:alpha val="43137"/>
                              </a:srgbClr>
                            </a:outerShdw>
                          </a:effectLst>
                        </a:rPr>
                        <a:t>Particulars</a:t>
                      </a:r>
                      <a:endParaRPr lang="en-IN" sz="1800" b="0" dirty="0">
                        <a:solidFill>
                          <a:schemeClr val="tx1"/>
                        </a:solidFill>
                        <a:effectLst>
                          <a:outerShdw blurRad="38100" dist="38100" dir="2700000" algn="tl">
                            <a:srgbClr val="000000">
                              <a:alpha val="43137"/>
                            </a:srgbClr>
                          </a:outerShdw>
                        </a:effectLst>
                        <a:latin typeface="Roboto"/>
                      </a:endParaRPr>
                    </a:p>
                  </a:txBody>
                  <a:tcPr marL="122944" marR="122944" marT="122944" marB="122944" anchor="ctr">
                    <a:solidFill>
                      <a:schemeClr val="accent1">
                        <a:lumMod val="75000"/>
                      </a:schemeClr>
                    </a:solidFill>
                  </a:tcPr>
                </a:tc>
                <a:tc>
                  <a:txBody>
                    <a:bodyPr/>
                    <a:lstStyle/>
                    <a:p>
                      <a:pPr algn="ctr"/>
                      <a:r>
                        <a:rPr lang="en-IN" sz="1800" dirty="0">
                          <a:effectLst>
                            <a:outerShdw blurRad="38100" dist="38100" dir="2700000" algn="tl">
                              <a:srgbClr val="000000">
                                <a:alpha val="43137"/>
                              </a:srgbClr>
                            </a:outerShdw>
                          </a:effectLst>
                        </a:rPr>
                        <a:t>Amount</a:t>
                      </a:r>
                      <a:endParaRPr lang="en-IN" sz="1800" b="0" dirty="0">
                        <a:solidFill>
                          <a:schemeClr val="tx1"/>
                        </a:solidFill>
                        <a:effectLst>
                          <a:outerShdw blurRad="38100" dist="38100" dir="2700000" algn="tl">
                            <a:srgbClr val="000000">
                              <a:alpha val="43137"/>
                            </a:srgbClr>
                          </a:outerShdw>
                        </a:effectLst>
                        <a:latin typeface="Roboto"/>
                      </a:endParaRPr>
                    </a:p>
                  </a:txBody>
                  <a:tcPr marL="122944" marR="122944" marT="122944" marB="122944" anchor="ctr">
                    <a:solidFill>
                      <a:schemeClr val="accent1">
                        <a:lumMod val="75000"/>
                      </a:schemeClr>
                    </a:solidFill>
                  </a:tcPr>
                </a:tc>
                <a:extLst>
                  <a:ext uri="{0D108BD9-81ED-4DB2-BD59-A6C34878D82A}">
                    <a16:rowId xmlns:a16="http://schemas.microsoft.com/office/drawing/2014/main" val="4006213745"/>
                  </a:ext>
                </a:extLst>
              </a:tr>
              <a:tr h="299983">
                <a:tc>
                  <a:txBody>
                    <a:bodyPr/>
                    <a:lstStyle/>
                    <a:p>
                      <a:pPr algn="l"/>
                      <a:r>
                        <a:rPr lang="en-IN" sz="1800" dirty="0">
                          <a:effectLst/>
                        </a:rPr>
                        <a:t>Basic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835938624"/>
                  </a:ext>
                </a:extLst>
              </a:tr>
              <a:tr h="299983">
                <a:tc>
                  <a:txBody>
                    <a:bodyPr/>
                    <a:lstStyle/>
                    <a:p>
                      <a:pPr algn="l"/>
                      <a:r>
                        <a:rPr lang="en-IN" sz="1800" dirty="0">
                          <a:effectLst/>
                        </a:rPr>
                        <a:t>Add:</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306382736"/>
                  </a:ext>
                </a:extLst>
              </a:tr>
              <a:tr h="299983">
                <a:tc>
                  <a:txBody>
                    <a:bodyPr/>
                    <a:lstStyle/>
                    <a:p>
                      <a:pPr algn="l"/>
                      <a:r>
                        <a:rPr lang="en-US" sz="1800" dirty="0">
                          <a:effectLst/>
                        </a:rPr>
                        <a:t>1. Fees, Commission and Bonus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610966936"/>
                  </a:ext>
                </a:extLst>
              </a:tr>
              <a:tr h="299983">
                <a:tc>
                  <a:txBody>
                    <a:bodyPr/>
                    <a:lstStyle/>
                    <a:p>
                      <a:pPr algn="l"/>
                      <a:r>
                        <a:rPr lang="en-IN" sz="1800" dirty="0">
                          <a:effectLst/>
                        </a:rPr>
                        <a:t>2. Allowances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2343589142"/>
                  </a:ext>
                </a:extLst>
              </a:tr>
              <a:tr h="299983">
                <a:tc>
                  <a:txBody>
                    <a:bodyPr/>
                    <a:lstStyle/>
                    <a:p>
                      <a:pPr algn="l"/>
                      <a:r>
                        <a:rPr lang="en-IN" sz="1800" dirty="0">
                          <a:effectLst/>
                        </a:rPr>
                        <a:t>3. Perquisites (Company car, fuel reimbursement </a:t>
                      </a:r>
                      <a:r>
                        <a:rPr lang="en-IN" sz="1800" dirty="0" err="1">
                          <a:effectLst/>
                        </a:rPr>
                        <a:t>etc</a:t>
                      </a:r>
                      <a:r>
                        <a:rPr lang="en-IN" sz="1800" dirty="0">
                          <a:effectLst/>
                        </a:rPr>
                        <a:t>)</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546651043"/>
                  </a:ext>
                </a:extLst>
              </a:tr>
              <a:tr h="299983">
                <a:tc>
                  <a:txBody>
                    <a:bodyPr/>
                    <a:lstStyle/>
                    <a:p>
                      <a:pPr algn="l"/>
                      <a:r>
                        <a:rPr lang="en-IN" sz="1800" dirty="0">
                          <a:effectLst/>
                        </a:rPr>
                        <a:t>4. Retirement Benefits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336813936"/>
                  </a:ext>
                </a:extLst>
              </a:tr>
              <a:tr h="299983">
                <a:tc>
                  <a:txBody>
                    <a:bodyPr/>
                    <a:lstStyle/>
                    <a:p>
                      <a:pPr algn="l"/>
                      <a:r>
                        <a:rPr lang="en-US" sz="1800" dirty="0">
                          <a:effectLst/>
                        </a:rPr>
                        <a:t>5. Fees, Commission and Bonus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616620500"/>
                  </a:ext>
                </a:extLst>
              </a:tr>
              <a:tr h="299983">
                <a:tc>
                  <a:txBody>
                    <a:bodyPr/>
                    <a:lstStyle/>
                    <a:p>
                      <a:pPr algn="l"/>
                      <a:r>
                        <a:rPr lang="en-IN" sz="1800" b="1" dirty="0">
                          <a:effectLst/>
                        </a:rPr>
                        <a:t>Gross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643637765"/>
                  </a:ext>
                </a:extLst>
              </a:tr>
              <a:tr h="299983">
                <a:tc>
                  <a:txBody>
                    <a:bodyPr/>
                    <a:lstStyle/>
                    <a:p>
                      <a:pPr algn="l"/>
                      <a:r>
                        <a:rPr lang="en-IN" sz="1800" dirty="0">
                          <a:effectLst/>
                        </a:rPr>
                        <a:t>Less: Deductions from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438261019"/>
                  </a:ext>
                </a:extLst>
              </a:tr>
              <a:tr h="299983">
                <a:tc>
                  <a:txBody>
                    <a:bodyPr/>
                    <a:lstStyle/>
                    <a:p>
                      <a:pPr algn="l"/>
                      <a:r>
                        <a:rPr lang="en-US" sz="1800" dirty="0">
                          <a:effectLst/>
                        </a:rPr>
                        <a:t>1. Entertainment Allowance u/s 16</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407733903"/>
                  </a:ext>
                </a:extLst>
              </a:tr>
              <a:tr h="299983">
                <a:tc>
                  <a:txBody>
                    <a:bodyPr/>
                    <a:lstStyle/>
                    <a:p>
                      <a:pPr algn="l"/>
                      <a:r>
                        <a:rPr lang="en-IN" sz="1800" dirty="0">
                          <a:effectLst/>
                        </a:rPr>
                        <a:t>2. Professional Tax u/s 16</a:t>
                      </a:r>
                    </a:p>
                  </a:txBody>
                  <a:tcPr marL="122944" marR="122944" marT="61472" marB="61472" anchor="ctr"/>
                </a:tc>
                <a:tc>
                  <a:txBody>
                    <a:bodyPr/>
                    <a:lstStyle/>
                    <a:p>
                      <a:pPr algn="ctr"/>
                      <a:r>
                        <a:rPr lang="en-IN" sz="1800" dirty="0">
                          <a:effectLst/>
                        </a:rPr>
                        <a:t>—</a:t>
                      </a:r>
                    </a:p>
                  </a:txBody>
                  <a:tcPr marL="122944" marR="122944" marT="61472" marB="61472" anchor="ctr"/>
                </a:tc>
                <a:extLst>
                  <a:ext uri="{0D108BD9-81ED-4DB2-BD59-A6C34878D82A}">
                    <a16:rowId xmlns:a16="http://schemas.microsoft.com/office/drawing/2014/main" val="3374388799"/>
                  </a:ext>
                </a:extLst>
              </a:tr>
              <a:tr h="299983">
                <a:tc>
                  <a:txBody>
                    <a:bodyPr/>
                    <a:lstStyle/>
                    <a:p>
                      <a:pPr algn="l"/>
                      <a:r>
                        <a:rPr lang="en-IN" sz="1800" b="1" dirty="0">
                          <a:effectLst/>
                        </a:rPr>
                        <a:t>Net Salary</a:t>
                      </a:r>
                    </a:p>
                  </a:txBody>
                  <a:tcPr marL="122944" marR="122944" marT="61472" marB="614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effectLst/>
                        </a:rPr>
                        <a:t>—</a:t>
                      </a:r>
                    </a:p>
                    <a:p>
                      <a:endParaRPr lang="en-IN" sz="1800" dirty="0"/>
                    </a:p>
                  </a:txBody>
                  <a:tcPr marL="59013" marR="59013" marT="29507" marB="29507"/>
                </a:tc>
                <a:extLst>
                  <a:ext uri="{0D108BD9-81ED-4DB2-BD59-A6C34878D82A}">
                    <a16:rowId xmlns:a16="http://schemas.microsoft.com/office/drawing/2014/main" val="1932057835"/>
                  </a:ext>
                </a:extLst>
              </a:tr>
            </a:tbl>
          </a:graphicData>
        </a:graphic>
      </p:graphicFrame>
    </p:spTree>
    <p:extLst>
      <p:ext uri="{BB962C8B-B14F-4D97-AF65-F5344CB8AC3E}">
        <p14:creationId xmlns:p14="http://schemas.microsoft.com/office/powerpoint/2010/main" val="14352694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CEB114-B780-6261-EE2A-FF9CC5A05137}"/>
              </a:ext>
            </a:extLst>
          </p:cNvPr>
          <p:cNvSpPr>
            <a:spLocks noGrp="1"/>
          </p:cNvSpPr>
          <p:nvPr>
            <p:ph idx="1"/>
          </p:nvPr>
        </p:nvSpPr>
        <p:spPr>
          <a:xfrm>
            <a:off x="1103312" y="1516134"/>
            <a:ext cx="10087427" cy="4732265"/>
          </a:xfrm>
        </p:spPr>
        <p:txBody>
          <a:bodyPr>
            <a:normAutofit/>
          </a:bodyPr>
          <a:lstStyle/>
          <a:p>
            <a:pPr marL="0" indent="0">
              <a:buNone/>
            </a:pPr>
            <a:r>
              <a:rPr lang="en-IN" sz="3600" b="1" dirty="0">
                <a:solidFill>
                  <a:srgbClr val="FF0000"/>
                </a:solidFill>
              </a:rPr>
              <a:t>Deduction/Exemption</a:t>
            </a:r>
          </a:p>
          <a:p>
            <a:pPr marL="0" indent="0">
              <a:buNone/>
            </a:pPr>
            <a:r>
              <a:rPr lang="en-US" sz="2200" u="sng" dirty="0">
                <a:solidFill>
                  <a:srgbClr val="FF0000"/>
                </a:solidFill>
                <a:latin typeface="Cambria" panose="02040503050406030204" pitchFamily="18" charset="0"/>
                <a:ea typeface="Cambria" panose="02040503050406030204" pitchFamily="18" charset="0"/>
              </a:rPr>
              <a:t>What is the difference between Exemption and deduction?</a:t>
            </a:r>
          </a:p>
          <a:p>
            <a:pPr marL="0" indent="0" algn="just">
              <a:lnSpc>
                <a:spcPct val="150000"/>
              </a:lnSpc>
              <a:buNone/>
            </a:pPr>
            <a:r>
              <a:rPr lang="en-US" sz="2200" dirty="0">
                <a:latin typeface="Cambria" panose="02040503050406030204" pitchFamily="18" charset="0"/>
                <a:ea typeface="Cambria" panose="02040503050406030204" pitchFamily="18" charset="0"/>
              </a:rPr>
              <a:t>If an </a:t>
            </a:r>
            <a:r>
              <a:rPr lang="en-US" sz="2200" dirty="0">
                <a:solidFill>
                  <a:srgbClr val="7030A0"/>
                </a:solidFill>
                <a:latin typeface="Cambria" panose="02040503050406030204" pitchFamily="18" charset="0"/>
                <a:ea typeface="Cambria" panose="02040503050406030204" pitchFamily="18" charset="0"/>
              </a:rPr>
              <a:t>income is exempt </a:t>
            </a:r>
            <a:r>
              <a:rPr lang="en-US" sz="2200" dirty="0">
                <a:latin typeface="Cambria" panose="02040503050406030204" pitchFamily="18" charset="0"/>
                <a:ea typeface="Cambria" panose="02040503050406030204" pitchFamily="18" charset="0"/>
              </a:rPr>
              <a:t>from tax, then </a:t>
            </a:r>
            <a:r>
              <a:rPr lang="en-US" sz="2200" dirty="0">
                <a:solidFill>
                  <a:srgbClr val="7030A0"/>
                </a:solidFill>
                <a:latin typeface="Cambria" panose="02040503050406030204" pitchFamily="18" charset="0"/>
                <a:ea typeface="Cambria" panose="02040503050406030204" pitchFamily="18" charset="0"/>
              </a:rPr>
              <a:t>it is not included in the computation of income</a:t>
            </a:r>
            <a:r>
              <a:rPr lang="en-US" sz="2200" dirty="0">
                <a:latin typeface="Cambria" panose="02040503050406030204" pitchFamily="18" charset="0"/>
                <a:ea typeface="Cambria" panose="02040503050406030204" pitchFamily="18" charset="0"/>
              </a:rPr>
              <a:t>. However, the </a:t>
            </a:r>
            <a:r>
              <a:rPr lang="en-US" sz="2200" dirty="0">
                <a:solidFill>
                  <a:srgbClr val="0070C0"/>
                </a:solidFill>
                <a:latin typeface="Cambria" panose="02040503050406030204" pitchFamily="18" charset="0"/>
                <a:ea typeface="Cambria" panose="02040503050406030204" pitchFamily="18" charset="0"/>
              </a:rPr>
              <a:t>deduction is given from income chargeable to tax</a:t>
            </a:r>
            <a:r>
              <a:rPr lang="en-US" sz="2200" dirty="0">
                <a:latin typeface="Cambria" panose="02040503050406030204" pitchFamily="18" charset="0"/>
                <a:ea typeface="Cambria" panose="02040503050406030204" pitchFamily="18" charset="0"/>
              </a:rPr>
              <a:t>. Exempt income will never exceed the amount of income. However, the deduct may be less than or equal to or more than the amount of income. </a:t>
            </a:r>
          </a:p>
          <a:p>
            <a:pPr marL="457200" indent="-457200">
              <a:lnSpc>
                <a:spcPct val="150000"/>
              </a:lnSpc>
              <a:buFont typeface="Wingdings" panose="05000000000000000000" pitchFamily="2" charset="2"/>
              <a:buChar char="ü"/>
            </a:pPr>
            <a:r>
              <a:rPr lang="en-US" sz="2200" b="1" u="sng"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Exemption</a:t>
            </a:r>
            <a:r>
              <a:rPr lang="en-US" sz="22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200" dirty="0">
                <a:solidFill>
                  <a:srgbClr val="FF0000"/>
                </a:solidFill>
                <a:latin typeface="Cambria" panose="02040503050406030204" pitchFamily="18" charset="0"/>
                <a:ea typeface="Cambria" panose="02040503050406030204" pitchFamily="18" charset="0"/>
              </a:rPr>
              <a:t>Section 10 </a:t>
            </a:r>
            <a:r>
              <a:rPr lang="en-US" sz="2200" dirty="0">
                <a:latin typeface="Cambria" panose="02040503050406030204" pitchFamily="18" charset="0"/>
                <a:ea typeface="Cambria" panose="02040503050406030204" pitchFamily="18" charset="0"/>
              </a:rPr>
              <a:t>deals with </a:t>
            </a:r>
            <a:r>
              <a:rPr lang="en-US" sz="2200" dirty="0">
                <a:solidFill>
                  <a:srgbClr val="FF0000"/>
                </a:solidFill>
                <a:latin typeface="Cambria" panose="02040503050406030204" pitchFamily="18" charset="0"/>
                <a:ea typeface="Cambria" panose="02040503050406030204" pitchFamily="18" charset="0"/>
              </a:rPr>
              <a:t>exemptions</a:t>
            </a:r>
          </a:p>
          <a:p>
            <a:pPr marL="457200" indent="-457200">
              <a:lnSpc>
                <a:spcPct val="150000"/>
              </a:lnSpc>
              <a:buFont typeface="Wingdings" panose="05000000000000000000" pitchFamily="2" charset="2"/>
              <a:buChar char="ü"/>
            </a:pPr>
            <a:r>
              <a:rPr lang="en-US" sz="2200" b="1" u="sng"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Deduction</a:t>
            </a:r>
            <a:r>
              <a:rPr lang="en-US" sz="22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200" dirty="0">
                <a:solidFill>
                  <a:srgbClr val="FF0000"/>
                </a:solidFill>
                <a:latin typeface="Cambria" panose="02040503050406030204" pitchFamily="18" charset="0"/>
                <a:ea typeface="Cambria" panose="02040503050406030204" pitchFamily="18" charset="0"/>
              </a:rPr>
              <a:t>Section 80 C to 80 U </a:t>
            </a:r>
            <a:r>
              <a:rPr lang="en-US" sz="2200" dirty="0">
                <a:latin typeface="Cambria" panose="02040503050406030204" pitchFamily="18" charset="0"/>
                <a:ea typeface="Cambria" panose="02040503050406030204" pitchFamily="18" charset="0"/>
              </a:rPr>
              <a:t>deals with </a:t>
            </a:r>
            <a:r>
              <a:rPr lang="en-US" sz="2200" dirty="0">
                <a:solidFill>
                  <a:srgbClr val="FF0000"/>
                </a:solidFill>
                <a:latin typeface="Cambria" panose="02040503050406030204" pitchFamily="18" charset="0"/>
                <a:ea typeface="Cambria" panose="02040503050406030204" pitchFamily="18" charset="0"/>
              </a:rPr>
              <a:t>deduction</a:t>
            </a:r>
            <a:endParaRPr lang="en-US" sz="2200" u="sng" dirty="0">
              <a:solidFill>
                <a:srgbClr val="FF0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0B2210EF-2D01-71E2-363E-9567E8573E85}"/>
              </a:ext>
            </a:extLst>
          </p:cNvPr>
          <p:cNvSpPr>
            <a:spLocks noGrp="1"/>
          </p:cNvSpPr>
          <p:nvPr>
            <p:ph type="sldNum" sz="quarter" idx="12"/>
          </p:nvPr>
        </p:nvSpPr>
        <p:spPr/>
        <p:txBody>
          <a:bodyPr/>
          <a:lstStyle/>
          <a:p>
            <a:fld id="{94013DF8-6EF8-4A98-8821-E6468C17C0C3}" type="slidenum">
              <a:rPr lang="en-IN" smtClean="0"/>
              <a:t>55</a:t>
            </a:fld>
            <a:endParaRPr lang="en-IN"/>
          </a:p>
        </p:txBody>
      </p:sp>
      <p:sp>
        <p:nvSpPr>
          <p:cNvPr id="7" name="Title 1">
            <a:extLst>
              <a:ext uri="{FF2B5EF4-FFF2-40B4-BE49-F238E27FC236}">
                <a16:creationId xmlns:a16="http://schemas.microsoft.com/office/drawing/2014/main" id="{4ED427C1-6818-18F7-4D72-8D0851B80827}"/>
              </a:ext>
            </a:extLst>
          </p:cNvPr>
          <p:cNvSpPr>
            <a:spLocks noGrp="1"/>
          </p:cNvSpPr>
          <p:nvPr>
            <p:ph type="title"/>
          </p:nvPr>
        </p:nvSpPr>
        <p:spPr>
          <a:xfrm>
            <a:off x="1001261" y="452718"/>
            <a:ext cx="9049573" cy="973311"/>
          </a:xfrm>
        </p:spPr>
        <p:txBody>
          <a:bodyPr/>
          <a:lstStyle/>
          <a:p>
            <a:r>
              <a:rPr lang="en-IN" dirty="0"/>
              <a:t>Income From Salary </a:t>
            </a:r>
          </a:p>
        </p:txBody>
      </p:sp>
      <p:pic>
        <p:nvPicPr>
          <p:cNvPr id="8" name="Picture 2" descr="https://keydifferences.com/wp-content/uploads/2015/10/exemption-vs-deduction2.jpg">
            <a:extLst>
              <a:ext uri="{FF2B5EF4-FFF2-40B4-BE49-F238E27FC236}">
                <a16:creationId xmlns:a16="http://schemas.microsoft.com/office/drawing/2014/main" id="{182C5D84-7C8F-0C37-2F09-AACBD8F506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60385" y="0"/>
            <a:ext cx="2292155" cy="1366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545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fontScale="85000" lnSpcReduction="10000"/>
          </a:bodyPr>
          <a:lstStyle/>
          <a:p>
            <a:pPr marL="0" indent="0">
              <a:buNone/>
            </a:pPr>
            <a:r>
              <a:rPr lang="en-IN" sz="2400" u="sng" dirty="0">
                <a:solidFill>
                  <a:srgbClr val="FF0000"/>
                </a:solidFill>
                <a:effectLst>
                  <a:outerShdw blurRad="38100" dist="38100" dir="2700000" algn="tl">
                    <a:srgbClr val="000000">
                      <a:alpha val="43137"/>
                    </a:srgbClr>
                  </a:outerShdw>
                </a:effectLst>
                <a:latin typeface="Cambria" panose="02040503050406030204" pitchFamily="18" charset="0"/>
              </a:rPr>
              <a:t>Section 10(5)-Leave Travel Allowance</a:t>
            </a:r>
            <a:endParaRPr lang="en-IN" sz="4000" u="sng" dirty="0">
              <a:solidFill>
                <a:srgbClr val="9687CB"/>
              </a:solidFill>
              <a:effectLst>
                <a:outerShdw blurRad="38100" dist="38100" dir="2700000" algn="tl">
                  <a:srgbClr val="000000">
                    <a:alpha val="43137"/>
                  </a:srgbClr>
                </a:outerShdw>
              </a:effectLst>
              <a:latin typeface="Cambria" panose="02040503050406030204" pitchFamily="18" charset="0"/>
            </a:endParaRPr>
          </a:p>
          <a:p>
            <a:pPr marL="0" indent="0">
              <a:buNone/>
            </a:pPr>
            <a:r>
              <a:rPr lang="en-US" dirty="0">
                <a:solidFill>
                  <a:srgbClr val="00B0F0"/>
                </a:solidFill>
                <a:effectLst>
                  <a:outerShdw blurRad="38100" dist="38100" dir="2700000" algn="tl">
                    <a:srgbClr val="000000">
                      <a:alpha val="43137"/>
                    </a:srgbClr>
                  </a:outerShdw>
                </a:effectLst>
                <a:latin typeface="Cambria" panose="02040503050406030204" pitchFamily="18" charset="0"/>
              </a:rPr>
              <a:t>The bills for your travel against LTA can be claimed for exemption. It is allowed to be claimed twice in a block of four years. The current block is 2018 to 2022.</a:t>
            </a:r>
          </a:p>
          <a:p>
            <a:pPr marL="0" indent="0">
              <a:buNone/>
            </a:pPr>
            <a:r>
              <a:rPr lang="en-US" dirty="0">
                <a:latin typeface="Cambria" panose="02040503050406030204" pitchFamily="18" charset="0"/>
              </a:rPr>
              <a:t>Exempt from tax in the hands of employee as per following.</a:t>
            </a:r>
          </a:p>
          <a:p>
            <a:pPr marL="285750" indent="-285750">
              <a:buFont typeface="Wingdings" panose="05000000000000000000" pitchFamily="2" charset="2"/>
              <a:buChar char="ü"/>
            </a:pPr>
            <a:r>
              <a:rPr lang="en-US" dirty="0">
                <a:latin typeface="Cambria" panose="02040503050406030204" pitchFamily="18" charset="0"/>
              </a:rPr>
              <a:t>If journey by </a:t>
            </a:r>
            <a:r>
              <a:rPr lang="en-US" b="1" dirty="0">
                <a:solidFill>
                  <a:srgbClr val="002060"/>
                </a:solidFill>
                <a:latin typeface="Cambria" panose="02040503050406030204" pitchFamily="18" charset="0"/>
              </a:rPr>
              <a:t>Air</a:t>
            </a:r>
            <a:r>
              <a:rPr lang="en-US" dirty="0">
                <a:latin typeface="Cambria" panose="02040503050406030204" pitchFamily="18" charset="0"/>
              </a:rPr>
              <a:t> –</a:t>
            </a:r>
            <a:r>
              <a:rPr lang="en-US" dirty="0">
                <a:effectLst>
                  <a:outerShdw blurRad="38100" dist="38100" dir="2700000" algn="tl">
                    <a:srgbClr val="000000">
                      <a:alpha val="43137"/>
                    </a:srgbClr>
                  </a:outerShdw>
                </a:effectLst>
                <a:latin typeface="Cambria" panose="02040503050406030204" pitchFamily="18" charset="0"/>
              </a:rPr>
              <a:t>Economy class fare </a:t>
            </a:r>
            <a:r>
              <a:rPr lang="en-US" dirty="0">
                <a:latin typeface="Cambria" panose="02040503050406030204" pitchFamily="18" charset="0"/>
              </a:rPr>
              <a:t>of the national carrier( Air India) by shortest route or the </a:t>
            </a:r>
            <a:r>
              <a:rPr lang="en-US" dirty="0">
                <a:effectLst>
                  <a:outerShdw blurRad="38100" dist="38100" dir="2700000" algn="tl">
                    <a:srgbClr val="000000">
                      <a:alpha val="43137"/>
                    </a:srgbClr>
                  </a:outerShdw>
                </a:effectLst>
                <a:latin typeface="Cambria" panose="02040503050406030204" pitchFamily="18" charset="0"/>
              </a:rPr>
              <a:t>amount spent </a:t>
            </a:r>
            <a:r>
              <a:rPr lang="en-US" dirty="0">
                <a:solidFill>
                  <a:srgbClr val="FF0000"/>
                </a:solidFill>
                <a:latin typeface="Cambria" panose="02040503050406030204" pitchFamily="18" charset="0"/>
              </a:rPr>
              <a:t>whichever is less.</a:t>
            </a:r>
          </a:p>
          <a:p>
            <a:pPr marL="285750" indent="-285750">
              <a:buFont typeface="Wingdings" panose="05000000000000000000" pitchFamily="2" charset="2"/>
              <a:buChar char="ü"/>
            </a:pPr>
            <a:r>
              <a:rPr lang="en-US" dirty="0">
                <a:latin typeface="Cambria" panose="02040503050406030204" pitchFamily="18" charset="0"/>
              </a:rPr>
              <a:t>If journey by </a:t>
            </a:r>
            <a:r>
              <a:rPr lang="en-US" b="1" dirty="0">
                <a:solidFill>
                  <a:srgbClr val="002060"/>
                </a:solidFill>
                <a:latin typeface="Cambria" panose="02040503050406030204" pitchFamily="18" charset="0"/>
              </a:rPr>
              <a:t>Rail</a:t>
            </a:r>
            <a:r>
              <a:rPr lang="en-US" dirty="0">
                <a:latin typeface="Cambria" panose="02040503050406030204" pitchFamily="18" charset="0"/>
              </a:rPr>
              <a:t> – </a:t>
            </a:r>
            <a:r>
              <a:rPr lang="en-US" dirty="0">
                <a:effectLst>
                  <a:outerShdw blurRad="38100" dist="38100" dir="2700000" algn="tl">
                    <a:srgbClr val="000000">
                      <a:alpha val="43137"/>
                    </a:srgbClr>
                  </a:outerShdw>
                </a:effectLst>
                <a:latin typeface="Cambria" panose="02040503050406030204" pitchFamily="18" charset="0"/>
              </a:rPr>
              <a:t>AC First class </a:t>
            </a:r>
            <a:r>
              <a:rPr lang="en-US" dirty="0">
                <a:latin typeface="Cambria" panose="02040503050406030204" pitchFamily="18" charset="0"/>
              </a:rPr>
              <a:t>fare by shortest route or the </a:t>
            </a:r>
            <a:r>
              <a:rPr lang="en-US" dirty="0">
                <a:effectLst>
                  <a:outerShdw blurRad="38100" dist="38100" dir="2700000" algn="tl">
                    <a:srgbClr val="000000">
                      <a:alpha val="43137"/>
                    </a:srgbClr>
                  </a:outerShdw>
                </a:effectLst>
                <a:latin typeface="Cambria" panose="02040503050406030204" pitchFamily="18" charset="0"/>
              </a:rPr>
              <a:t>amount spent </a:t>
            </a:r>
            <a:r>
              <a:rPr lang="en-US" dirty="0">
                <a:latin typeface="Cambria" panose="02040503050406030204" pitchFamily="18" charset="0"/>
              </a:rPr>
              <a:t>whichever </a:t>
            </a:r>
            <a:r>
              <a:rPr lang="en-US" dirty="0">
                <a:solidFill>
                  <a:srgbClr val="FF0000"/>
                </a:solidFill>
                <a:latin typeface="Cambria" panose="02040503050406030204" pitchFamily="18" charset="0"/>
              </a:rPr>
              <a:t>is less</a:t>
            </a:r>
          </a:p>
          <a:p>
            <a:pPr marL="742950" lvl="1" indent="-285750">
              <a:buFont typeface="Wingdings" panose="05000000000000000000" pitchFamily="2" charset="2"/>
              <a:buChar char="q"/>
            </a:pPr>
            <a:r>
              <a:rPr lang="en-US" dirty="0">
                <a:latin typeface="Cambria" panose="02040503050406030204" pitchFamily="18" charset="0"/>
              </a:rPr>
              <a:t>Where places of origin of Journey and destination are connected by rail &amp; journey is performed by any other mode of transport- AC First class fare by shortest route or the amount spent whichever is less.</a:t>
            </a:r>
          </a:p>
          <a:p>
            <a:pPr marL="285750" indent="-285750">
              <a:buFont typeface="Wingdings" panose="05000000000000000000" pitchFamily="2" charset="2"/>
              <a:buChar char="ü"/>
            </a:pPr>
            <a:r>
              <a:rPr lang="en-US" dirty="0">
                <a:solidFill>
                  <a:srgbClr val="C00000"/>
                </a:solidFill>
                <a:latin typeface="Cambria" panose="02040503050406030204" pitchFamily="18" charset="0"/>
              </a:rPr>
              <a:t>Where places of origin of Journey and destination are not connected by rail,</a:t>
            </a:r>
          </a:p>
          <a:p>
            <a:pPr marL="742950" lvl="1" indent="-285750">
              <a:buFont typeface="Wingdings" panose="05000000000000000000" pitchFamily="2" charset="2"/>
              <a:buChar char="q"/>
            </a:pPr>
            <a:r>
              <a:rPr lang="en-US" dirty="0">
                <a:latin typeface="Cambria" panose="02040503050406030204" pitchFamily="18" charset="0"/>
              </a:rPr>
              <a:t>a)  Recognized public transport exists- First class or deluxe class fare by the shortest route or the amount spent, whichever is less.</a:t>
            </a:r>
          </a:p>
          <a:p>
            <a:pPr marL="742950" lvl="1" indent="-285750">
              <a:buFont typeface="Wingdings" panose="05000000000000000000" pitchFamily="2" charset="2"/>
              <a:buChar char="q"/>
            </a:pPr>
            <a:r>
              <a:rPr lang="en-US" dirty="0">
                <a:latin typeface="Cambria" panose="02040503050406030204" pitchFamily="18" charset="0"/>
              </a:rPr>
              <a:t> b) No recognized public transport exists - AC First class rail fare by Shortest route or the amount spent whichever is less</a:t>
            </a: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56</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US" sz="2800" dirty="0">
                <a:effectLst>
                  <a:outerShdw blurRad="38100" dist="38100" dir="2700000" algn="tl">
                    <a:srgbClr val="000000">
                      <a:alpha val="43137"/>
                    </a:srgbClr>
                  </a:outerShdw>
                </a:effectLst>
              </a:rPr>
              <a:t>Section 10(1) to Section 10(38) Deals with </a:t>
            </a:r>
            <a:r>
              <a:rPr lang="en-US" sz="2800" dirty="0">
                <a:effectLst>
                  <a:outerShdw blurRad="38100" dist="38100" dir="2700000" algn="tl">
                    <a:srgbClr val="000000">
                      <a:alpha val="43137"/>
                    </a:srgbClr>
                  </a:outerShdw>
                </a:effectLst>
                <a:hlinkClick r:id="rId2" action="ppaction://hlinkfile"/>
              </a:rPr>
              <a:t>exempt Income</a:t>
            </a:r>
            <a:endParaRPr lang="en-US" sz="2800" dirty="0"/>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743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a:bodyPr>
          <a:lstStyle/>
          <a:p>
            <a:pPr marL="0" indent="0">
              <a:buNone/>
            </a:pPr>
            <a:r>
              <a:rPr lang="en-IN" sz="2400" dirty="0">
                <a:solidFill>
                  <a:srgbClr val="FF0000"/>
                </a:solidFill>
                <a:latin typeface="Cambria" panose="02040503050406030204" pitchFamily="18" charset="0"/>
              </a:rPr>
              <a:t>Section 10(5)-Leave Travel Allowance Conditions:</a:t>
            </a:r>
            <a:endParaRPr lang="en-IN" sz="2400" dirty="0">
              <a:solidFill>
                <a:srgbClr val="9687CB"/>
              </a:solidFill>
              <a:latin typeface="Cambria" panose="02040503050406030204" pitchFamily="18" charset="0"/>
            </a:endParaRPr>
          </a:p>
          <a:p>
            <a:pPr algn="just">
              <a:buFont typeface="Wingdings" panose="05000000000000000000" pitchFamily="2" charset="2"/>
              <a:buChar char="ü"/>
            </a:pPr>
            <a:r>
              <a:rPr lang="en-US" sz="2000" dirty="0">
                <a:latin typeface="Cambria" panose="02040503050406030204" pitchFamily="18" charset="0"/>
              </a:rPr>
              <a:t>LTA should be uniform to all the employees</a:t>
            </a:r>
          </a:p>
          <a:p>
            <a:pPr algn="just">
              <a:buFont typeface="Wingdings" panose="05000000000000000000" pitchFamily="2" charset="2"/>
              <a:buChar char="ü"/>
            </a:pPr>
            <a:r>
              <a:rPr lang="en-US" dirty="0">
                <a:latin typeface="Cambria" panose="02040503050406030204" pitchFamily="18" charset="0"/>
              </a:rPr>
              <a:t>E</a:t>
            </a:r>
            <a:r>
              <a:rPr lang="en-US" sz="2000" dirty="0">
                <a:latin typeface="Cambria" panose="02040503050406030204" pitchFamily="18" charset="0"/>
              </a:rPr>
              <a:t>mployers need to collect and scrutinize the proof of travel (ticket etc.)</a:t>
            </a:r>
          </a:p>
          <a:p>
            <a:pPr algn="just">
              <a:buFont typeface="Wingdings" panose="05000000000000000000" pitchFamily="2" charset="2"/>
              <a:buChar char="ü"/>
            </a:pPr>
            <a:r>
              <a:rPr lang="en-US" sz="2000" dirty="0">
                <a:latin typeface="Cambria" panose="02040503050406030204" pitchFamily="18" charset="0"/>
              </a:rPr>
              <a:t>Limited to the actual expenses incurred</a:t>
            </a:r>
          </a:p>
          <a:p>
            <a:pPr algn="just">
              <a:buFont typeface="Wingdings" panose="05000000000000000000" pitchFamily="2" charset="2"/>
              <a:buChar char="ü"/>
            </a:pPr>
            <a:r>
              <a:rPr lang="en-US" sz="2000" dirty="0">
                <a:latin typeface="Cambria" panose="02040503050406030204" pitchFamily="18" charset="0"/>
              </a:rPr>
              <a:t>Any Leave </a:t>
            </a:r>
            <a:r>
              <a:rPr lang="en-US" sz="2000" dirty="0" err="1">
                <a:latin typeface="Cambria" panose="02040503050406030204" pitchFamily="18" charset="0"/>
              </a:rPr>
              <a:t>encashed</a:t>
            </a:r>
            <a:r>
              <a:rPr lang="en-US" sz="2000" dirty="0">
                <a:latin typeface="Cambria" panose="02040503050406030204" pitchFamily="18" charset="0"/>
              </a:rPr>
              <a:t> for the purpose of Leave travel or home travel concession is taxable.</a:t>
            </a:r>
          </a:p>
          <a:p>
            <a:pPr algn="just">
              <a:buFont typeface="Wingdings" panose="05000000000000000000" pitchFamily="2" charset="2"/>
              <a:buChar char="ü"/>
            </a:pPr>
            <a:r>
              <a:rPr lang="en-US" sz="2000" dirty="0">
                <a:latin typeface="Cambria" panose="02040503050406030204" pitchFamily="18" charset="0"/>
              </a:rPr>
              <a:t>Foreign Travel – The exemption is not available in case of Foreign Travel</a:t>
            </a:r>
          </a:p>
          <a:p>
            <a:pPr algn="just">
              <a:buFont typeface="Wingdings" panose="05000000000000000000" pitchFamily="2" charset="2"/>
              <a:buChar char="ü"/>
            </a:pPr>
            <a:r>
              <a:rPr lang="en-US" sz="2000" dirty="0">
                <a:latin typeface="Cambria" panose="02040503050406030204" pitchFamily="18" charset="0"/>
              </a:rPr>
              <a:t>The Exemption is not available to more than 2 surviving children of an individual born after 1.10.1998. However, this restriction is not there in respect of children born before 1.10.1998.</a:t>
            </a: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57</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US" sz="2800" dirty="0">
                <a:effectLst>
                  <a:outerShdw blurRad="38100" dist="38100" dir="2700000" algn="tl">
                    <a:srgbClr val="000000">
                      <a:alpha val="43137"/>
                    </a:srgbClr>
                  </a:outerShdw>
                </a:effectLst>
              </a:rPr>
              <a:t>Section 10(1) to Section 10(38) Deals with </a:t>
            </a:r>
            <a:r>
              <a:rPr lang="en-US" sz="2800" dirty="0">
                <a:effectLst>
                  <a:outerShdw blurRad="38100" dist="38100" dir="2700000" algn="tl">
                    <a:srgbClr val="000000">
                      <a:alpha val="43137"/>
                    </a:srgbClr>
                  </a:outerShdw>
                </a:effectLst>
                <a:hlinkClick r:id="rId2" action="ppaction://hlinkfile"/>
              </a:rPr>
              <a:t>exempt Income</a:t>
            </a:r>
            <a:endParaRPr lang="en-US" sz="2800" dirty="0"/>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59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58</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17117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pPr algn="ctr"/>
            <a:r>
              <a:rPr lang="en-US" sz="2800" dirty="0">
                <a:effectLst>
                  <a:outerShdw blurRad="38100" dist="38100" dir="2700000" algn="tl">
                    <a:srgbClr val="000000">
                      <a:alpha val="43137"/>
                    </a:srgbClr>
                  </a:outerShdw>
                </a:effectLst>
              </a:rPr>
              <a:t>Section 10(5)-Leave Travel Allowance</a:t>
            </a: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General rules to claim LTA exemption infographic">
            <a:extLst>
              <a:ext uri="{FF2B5EF4-FFF2-40B4-BE49-F238E27FC236}">
                <a16:creationId xmlns:a16="http://schemas.microsoft.com/office/drawing/2014/main" id="{17EA28D7-59DD-E815-0844-D71ABC683D0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5900"/>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1801091" y="2362729"/>
            <a:ext cx="8697481" cy="4415270"/>
          </a:xfrm>
          <a:prstGeom prst="rect">
            <a:avLst/>
          </a:prstGeom>
          <a:ln w="88900" cap="sq" cmpd="thickThin">
            <a:solidFill>
              <a:srgbClr val="000000"/>
            </a:solidFill>
            <a:prstDash val="solid"/>
            <a:miter lim="800000"/>
          </a:ln>
          <a:effectLst>
            <a:innerShdw blurRad="76200">
              <a:srgbClr val="000000"/>
            </a:innerShdw>
          </a:effectLst>
          <a:scene3d>
            <a:camera prst="orthographicFront"/>
            <a:lightRig rig="threePt" dir="t"/>
          </a:scene3d>
          <a:sp3d>
            <a:bevelT prst="slope"/>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399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a:bodyPr>
          <a:lstStyle/>
          <a:p>
            <a:pPr marL="0" indent="0" algn="just">
              <a:lnSpc>
                <a:spcPct val="150000"/>
              </a:lnSpc>
              <a:buNone/>
            </a:pPr>
            <a:r>
              <a:rPr lang="en-IN" sz="2000" dirty="0">
                <a:latin typeface="Cambria" panose="02040503050406030204" pitchFamily="18" charset="0"/>
              </a:rPr>
              <a:t>This is the famous exemption which is used by many salaried individuals. However, the </a:t>
            </a:r>
            <a:r>
              <a:rPr lang="en-IN" sz="2000" dirty="0">
                <a:solidFill>
                  <a:srgbClr val="FF0000"/>
                </a:solidFill>
                <a:latin typeface="Cambria" panose="02040503050406030204" pitchFamily="18" charset="0"/>
              </a:rPr>
              <a:t>wrong belief is that whatever the rent they pay is actually exempted from their income</a:t>
            </a:r>
            <a:r>
              <a:rPr lang="en-IN" sz="2000" dirty="0">
                <a:latin typeface="Cambria" panose="02040503050406030204" pitchFamily="18" charset="0"/>
              </a:rPr>
              <a:t>. The reality is different. The amount of exemption is least of the following.</a:t>
            </a:r>
          </a:p>
          <a:p>
            <a:pPr marL="0" indent="0" algn="just">
              <a:lnSpc>
                <a:spcPct val="150000"/>
              </a:lnSpc>
              <a:buNone/>
            </a:pPr>
            <a:endParaRPr lang="en-IN" sz="2000" dirty="0">
              <a:latin typeface="Cambria" panose="02040503050406030204" pitchFamily="18" charset="0"/>
            </a:endParaRPr>
          </a:p>
          <a:p>
            <a:pPr marL="0" indent="0">
              <a:buNone/>
            </a:pP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59</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IN" sz="2800" u="sng" dirty="0">
                <a:solidFill>
                  <a:srgbClr val="C00000"/>
                </a:solidFill>
                <a:effectLst>
                  <a:outerShdw blurRad="38100" dist="38100" dir="2700000" algn="tl">
                    <a:srgbClr val="000000">
                      <a:alpha val="43137"/>
                    </a:srgbClr>
                  </a:outerShdw>
                </a:effectLst>
                <a:latin typeface="Cambria" panose="02040503050406030204" pitchFamily="18" charset="0"/>
              </a:rPr>
              <a:t>Section 10(13A): House Rent Allowance(HRA)</a:t>
            </a:r>
            <a:endParaRPr lang="en-IN" sz="2800" dirty="0">
              <a:solidFill>
                <a:srgbClr val="C00000"/>
              </a:solidFill>
            </a:endParaRP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39745"/>
            <a:ext cx="1884218" cy="14113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6642026B-76EA-7A33-A2E4-93BD14572BBD}"/>
              </a:ext>
            </a:extLst>
          </p:cNvPr>
          <p:cNvGraphicFramePr>
            <a:graphicFrameLocks noGrp="1"/>
          </p:cNvGraphicFramePr>
          <p:nvPr>
            <p:extLst>
              <p:ext uri="{D42A27DB-BD31-4B8C-83A1-F6EECF244321}">
                <p14:modId xmlns:p14="http://schemas.microsoft.com/office/powerpoint/2010/main" val="3924472907"/>
              </p:ext>
            </p:extLst>
          </p:nvPr>
        </p:nvGraphicFramePr>
        <p:xfrm>
          <a:off x="1217222" y="4110016"/>
          <a:ext cx="9973517" cy="2345214"/>
        </p:xfrm>
        <a:graphic>
          <a:graphicData uri="http://schemas.openxmlformats.org/drawingml/2006/table">
            <a:tbl>
              <a:tblPr>
                <a:tableStyleId>{8A107856-5554-42FB-B03E-39F5DBC370BA}</a:tableStyleId>
              </a:tblPr>
              <a:tblGrid>
                <a:gridCol w="9973517">
                  <a:extLst>
                    <a:ext uri="{9D8B030D-6E8A-4147-A177-3AD203B41FA5}">
                      <a16:colId xmlns:a16="http://schemas.microsoft.com/office/drawing/2014/main" val="2800396521"/>
                    </a:ext>
                  </a:extLst>
                </a:gridCol>
              </a:tblGrid>
              <a:tr h="437884">
                <a:tc>
                  <a:txBody>
                    <a:bodyPr/>
                    <a:lstStyle/>
                    <a:p>
                      <a:pPr algn="l" fontAlgn="t"/>
                      <a:r>
                        <a:rPr lang="en-IN" sz="2400" u="none" strike="noStrike" dirty="0">
                          <a:effectLst/>
                        </a:rPr>
                        <a:t>a) Actual HRA Received</a:t>
                      </a:r>
                      <a:endParaRPr lang="en-IN"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355126726"/>
                  </a:ext>
                </a:extLst>
              </a:tr>
              <a:tr h="521338">
                <a:tc>
                  <a:txBody>
                    <a:bodyPr/>
                    <a:lstStyle/>
                    <a:p>
                      <a:pPr algn="l" fontAlgn="t"/>
                      <a:r>
                        <a:rPr lang="en-US" sz="2400" u="none" strike="noStrike" dirty="0">
                          <a:effectLst/>
                        </a:rPr>
                        <a:t>b) 40% of Salary (50%, if house situated in Metro Region)</a:t>
                      </a:r>
                      <a:endParaRPr lang="en-US"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005646614"/>
                  </a:ext>
                </a:extLst>
              </a:tr>
              <a:tr h="521338">
                <a:tc>
                  <a:txBody>
                    <a:bodyPr/>
                    <a:lstStyle/>
                    <a:p>
                      <a:pPr algn="l" fontAlgn="t"/>
                      <a:r>
                        <a:rPr lang="en-US" sz="2400" u="none" strike="noStrike" dirty="0">
                          <a:effectLst/>
                        </a:rPr>
                        <a:t>c) Rent paid minus 10% of salary</a:t>
                      </a:r>
                      <a:endParaRPr lang="en-US"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289024728"/>
                  </a:ext>
                </a:extLst>
              </a:tr>
              <a:tr h="864654">
                <a:tc>
                  <a:txBody>
                    <a:bodyPr/>
                    <a:lstStyle/>
                    <a:p>
                      <a:pPr algn="l" fontAlgn="t"/>
                      <a:r>
                        <a:rPr lang="en-US" sz="2000" u="none" strike="noStrike" dirty="0">
                          <a:effectLst/>
                        </a:rPr>
                        <a:t>(Salary = Basic + DA (if part of retirement benefit) + Turnover based Commission)</a:t>
                      </a:r>
                      <a:endParaRPr lang="en-US" sz="20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4114320379"/>
                  </a:ext>
                </a:extLst>
              </a:tr>
            </a:tbl>
          </a:graphicData>
        </a:graphic>
      </p:graphicFrame>
    </p:spTree>
    <p:extLst>
      <p:ext uri="{BB962C8B-B14F-4D97-AF65-F5344CB8AC3E}">
        <p14:creationId xmlns:p14="http://schemas.microsoft.com/office/powerpoint/2010/main" val="2956835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613655"/>
            <a:ext cx="10087426" cy="4331431"/>
          </a:xfrm>
        </p:spPr>
        <p:txBody>
          <a:bodyPr>
            <a:normAutofit/>
          </a:bodyPr>
          <a:lstStyle/>
          <a:p>
            <a:pPr>
              <a:buFont typeface="Wingdings" panose="05000000000000000000" pitchFamily="2" charset="2"/>
              <a:buChar char="ü"/>
            </a:pPr>
            <a:r>
              <a:rPr lang="en-IN" sz="2000" b="1" dirty="0"/>
              <a:t>Travelling Allowance</a:t>
            </a:r>
          </a:p>
          <a:p>
            <a:pPr>
              <a:buFont typeface="Wingdings" panose="05000000000000000000" pitchFamily="2" charset="2"/>
              <a:buChar char="ü"/>
            </a:pPr>
            <a:r>
              <a:rPr lang="en-IN" sz="2000" b="1" dirty="0"/>
              <a:t>Daily Allowance</a:t>
            </a:r>
          </a:p>
          <a:p>
            <a:pPr algn="just">
              <a:buFont typeface="Wingdings" panose="05000000000000000000" pitchFamily="2" charset="2"/>
              <a:buChar char="ü"/>
            </a:pPr>
            <a:r>
              <a:rPr lang="en-IN" sz="2000" b="1" dirty="0"/>
              <a:t>Conveyance Allowance:-</a:t>
            </a:r>
            <a:r>
              <a:rPr lang="en-US" sz="2000" dirty="0"/>
              <a:t>This is the different allowance than transport allowance. It is the expenditure granted to an employee to meet the expenses on conveyance in </a:t>
            </a:r>
            <a:r>
              <a:rPr lang="en-US" sz="2000" dirty="0">
                <a:solidFill>
                  <a:srgbClr val="FF0000"/>
                </a:solidFill>
              </a:rPr>
              <a:t>performing of his office duties. </a:t>
            </a:r>
          </a:p>
          <a:p>
            <a:pPr algn="just">
              <a:buFont typeface="Wingdings" panose="05000000000000000000" pitchFamily="2" charset="2"/>
              <a:buChar char="ü"/>
            </a:pPr>
            <a:r>
              <a:rPr lang="en-IN" sz="2000" b="1" dirty="0"/>
              <a:t>Helper Allowance</a:t>
            </a:r>
          </a:p>
          <a:p>
            <a:pPr algn="just">
              <a:buFont typeface="Wingdings" panose="05000000000000000000" pitchFamily="2" charset="2"/>
              <a:buChar char="ü"/>
            </a:pPr>
            <a:r>
              <a:rPr lang="en-IN" sz="2000" b="1" dirty="0"/>
              <a:t>Academic Allowance</a:t>
            </a:r>
            <a:r>
              <a:rPr lang="en-IN" sz="2000" dirty="0"/>
              <a:t>:- Allowance granted for encouraging </a:t>
            </a:r>
            <a:r>
              <a:rPr lang="en-IN" sz="2000" dirty="0">
                <a:solidFill>
                  <a:srgbClr val="FF0000"/>
                </a:solidFill>
              </a:rPr>
              <a:t>academic, research &amp; training </a:t>
            </a:r>
            <a:r>
              <a:rPr lang="en-IN" sz="2000" dirty="0"/>
              <a:t>pursuits in educational &amp; research Institutional.</a:t>
            </a:r>
          </a:p>
          <a:p>
            <a:pPr>
              <a:buFont typeface="Wingdings" panose="05000000000000000000" pitchFamily="2" charset="2"/>
              <a:buChar char="ü"/>
            </a:pPr>
            <a:r>
              <a:rPr lang="en-IN" sz="2000" b="1" dirty="0"/>
              <a:t>Uniform allowance</a:t>
            </a:r>
            <a:endParaRPr lang="en-IN" dirty="0"/>
          </a:p>
          <a:p>
            <a:pPr marL="0" indent="0" algn="just">
              <a:lnSpc>
                <a:spcPct val="150000"/>
              </a:lnSpc>
              <a:buNone/>
            </a:pPr>
            <a:endParaRPr lang="en-IN" sz="2000" dirty="0">
              <a:latin typeface="Cambria" panose="02040503050406030204" pitchFamily="18" charset="0"/>
            </a:endParaRPr>
          </a:p>
          <a:p>
            <a:pPr marL="0" indent="0">
              <a:buNone/>
            </a:pP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60</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IN" sz="2800" u="sng" dirty="0">
                <a:solidFill>
                  <a:srgbClr val="FF0000"/>
                </a:solidFill>
                <a:latin typeface="Cambria" panose="02040503050406030204" pitchFamily="18" charset="0"/>
              </a:rPr>
              <a:t>Allowances Exempt under Section 10(14)(I)-</a:t>
            </a:r>
            <a:r>
              <a:rPr lang="en-IN" sz="2800" u="sng" dirty="0">
                <a:solidFill>
                  <a:srgbClr val="7030A0"/>
                </a:solidFill>
                <a:latin typeface="Cambria" panose="02040503050406030204" pitchFamily="18" charset="0"/>
              </a:rPr>
              <a:t>No limit</a:t>
            </a:r>
            <a:endParaRPr lang="en-IN" sz="2800" u="sng" dirty="0">
              <a:solidFill>
                <a:srgbClr val="7030A0"/>
              </a:solidFill>
            </a:endParaRP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7086"/>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4411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4" name="Picture 3"/>
          <p:cNvPicPr>
            <a:picLocks noChangeAspect="1"/>
          </p:cNvPicPr>
          <p:nvPr/>
        </p:nvPicPr>
        <p:blipFill>
          <a:blip r:embed="rId2"/>
          <a:stretch>
            <a:fillRect/>
          </a:stretch>
        </p:blipFill>
        <p:spPr>
          <a:xfrm>
            <a:off x="0" y="489095"/>
            <a:ext cx="2743200" cy="1516064"/>
          </a:xfrm>
          <a:prstGeom prst="rect">
            <a:avLst/>
          </a:prstGeom>
          <a:ln>
            <a:noFill/>
          </a:ln>
          <a:effectLst>
            <a:softEdge rad="112500"/>
          </a:effectLst>
        </p:spPr>
      </p:pic>
      <p:sp>
        <p:nvSpPr>
          <p:cNvPr id="2" name="Rectangle 1"/>
          <p:cNvSpPr/>
          <p:nvPr/>
        </p:nvSpPr>
        <p:spPr>
          <a:xfrm>
            <a:off x="4455979" y="1358415"/>
            <a:ext cx="2858547"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80C</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189922" y="1888817"/>
            <a:ext cx="11709785" cy="4524315"/>
          </a:xfrm>
          <a:prstGeom prst="rect">
            <a:avLst/>
          </a:prstGeom>
          <a:solidFill>
            <a:srgbClr val="DDDDDD"/>
          </a:solidFill>
        </p:spPr>
        <p:style>
          <a:lnRef idx="1">
            <a:schemeClr val="dk1"/>
          </a:lnRef>
          <a:fillRef idx="2">
            <a:schemeClr val="dk1"/>
          </a:fillRef>
          <a:effectRef idx="1">
            <a:schemeClr val="dk1"/>
          </a:effectRef>
          <a:fontRef idx="minor">
            <a:schemeClr val="dk1"/>
          </a:fontRef>
        </p:style>
        <p:txBody>
          <a:bodyPr wrap="square" rtlCol="0">
            <a:spAutoFit/>
          </a:bodyPr>
          <a:lstStyle/>
          <a:p>
            <a:pPr marL="342900" indent="-342900">
              <a:buFont typeface="Wingdings" panose="05000000000000000000" pitchFamily="2" charset="2"/>
              <a:buChar char="q"/>
            </a:pPr>
            <a:r>
              <a:rPr lang="en-IN" dirty="0">
                <a:latin typeface="Cambria" panose="02040503050406030204" pitchFamily="18" charset="0"/>
              </a:rPr>
              <a:t>Maximum Limit- Rs.1,50,000/-</a:t>
            </a:r>
          </a:p>
          <a:p>
            <a:pPr marL="342900" indent="-342900">
              <a:buFont typeface="Wingdings" panose="05000000000000000000" pitchFamily="2" charset="2"/>
              <a:buChar char="q"/>
            </a:pPr>
            <a:r>
              <a:rPr lang="en-IN" dirty="0">
                <a:latin typeface="Cambria" panose="02040503050406030204" pitchFamily="18" charset="0"/>
              </a:rPr>
              <a:t>You can save tax on salary income from this section alone</a:t>
            </a:r>
          </a:p>
          <a:p>
            <a:pPr marL="342900" indent="-342900">
              <a:buFont typeface="Wingdings" panose="05000000000000000000" pitchFamily="2" charset="2"/>
              <a:buChar char="q"/>
            </a:pPr>
            <a:r>
              <a:rPr lang="en-IN" dirty="0">
                <a:latin typeface="Cambria" panose="02040503050406030204" pitchFamily="18" charset="0"/>
              </a:rPr>
              <a:t>Different Investment in this section includes</a:t>
            </a:r>
          </a:p>
          <a:p>
            <a:pPr marL="742950" lvl="1" indent="-285750">
              <a:buFont typeface="Wingdings" panose="05000000000000000000" pitchFamily="2" charset="2"/>
              <a:buChar char="ü"/>
            </a:pPr>
            <a:r>
              <a:rPr lang="en-IN" dirty="0">
                <a:latin typeface="Cambria" panose="02040503050406030204" pitchFamily="18" charset="0"/>
              </a:rPr>
              <a:t>	Life Insurance premium (Paid by an individual, spouse, and child. In the case of HUF, on the life of any member of HUF).</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EPF-Employee contribution can be claimed for deduction.</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Public Provident Fund (Paid by an individual, spouse, and child. In the case of HUF, on the life of any member of HUF).</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National Savings Certificate (NSC). </a:t>
            </a:r>
          </a:p>
          <a:p>
            <a:pPr marL="800100" lvl="1" indent="-342900">
              <a:buFont typeface="Wingdings" panose="05000000000000000000" pitchFamily="2" charset="2"/>
              <a:buChar char="ü"/>
            </a:pPr>
            <a:r>
              <a:rPr lang="en-IN" dirty="0" err="1">
                <a:latin typeface="Cambria" panose="02040503050406030204" pitchFamily="18" charset="0"/>
              </a:rPr>
              <a:t>Sukanya</a:t>
            </a:r>
            <a:r>
              <a:rPr lang="en-IN" dirty="0">
                <a:latin typeface="Cambria" panose="02040503050406030204" pitchFamily="18" charset="0"/>
              </a:rPr>
              <a:t> </a:t>
            </a:r>
            <a:r>
              <a:rPr lang="en-IN" dirty="0" err="1">
                <a:latin typeface="Cambria" panose="02040503050406030204" pitchFamily="18" charset="0"/>
              </a:rPr>
              <a:t>Samriddhi</a:t>
            </a:r>
            <a:r>
              <a:rPr lang="en-IN" dirty="0">
                <a:latin typeface="Cambria" panose="02040503050406030204" pitchFamily="18" charset="0"/>
              </a:rPr>
              <a:t> Account</a:t>
            </a:r>
          </a:p>
          <a:p>
            <a:pPr marL="800100" lvl="1" indent="-342900">
              <a:buFont typeface="Wingdings" panose="05000000000000000000" pitchFamily="2" charset="2"/>
              <a:buChar char="ü"/>
            </a:pPr>
            <a:r>
              <a:rPr lang="en-IN" dirty="0">
                <a:latin typeface="Cambria" panose="02040503050406030204" pitchFamily="18" charset="0"/>
              </a:rPr>
              <a:t>ELSS or Tax Saving Mutual Funds </a:t>
            </a:r>
          </a:p>
          <a:p>
            <a:pPr marL="800100" lvl="1" indent="-342900">
              <a:buFont typeface="Wingdings" panose="05000000000000000000" pitchFamily="2" charset="2"/>
              <a:buChar char="ü"/>
            </a:pPr>
            <a:r>
              <a:rPr lang="en-IN" dirty="0">
                <a:latin typeface="Cambria" panose="02040503050406030204" pitchFamily="18" charset="0"/>
              </a:rPr>
              <a:t>Senior Citizen Savings Scheme</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5-Years Post Office or Bank Deposits.</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Tuition fee of kids.</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Principal payment towards home loan.</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Stamp duty and registration cost of the house.</a:t>
            </a:r>
          </a:p>
        </p:txBody>
      </p:sp>
      <p:sp>
        <p:nvSpPr>
          <p:cNvPr id="7" name="Slide Number Placeholder 6"/>
          <p:cNvSpPr>
            <a:spLocks noGrp="1"/>
          </p:cNvSpPr>
          <p:nvPr>
            <p:ph type="sldNum" sz="quarter" idx="12"/>
          </p:nvPr>
        </p:nvSpPr>
        <p:spPr/>
        <p:txBody>
          <a:bodyPr/>
          <a:lstStyle/>
          <a:p>
            <a:fld id="{94013DF8-6EF8-4A98-8821-E6468C17C0C3}" type="slidenum">
              <a:rPr lang="en-IN" smtClean="0"/>
              <a:t>61</a:t>
            </a:fld>
            <a:endParaRPr lang="en-IN"/>
          </a:p>
        </p:txBody>
      </p:sp>
    </p:spTree>
    <p:extLst>
      <p:ext uri="{BB962C8B-B14F-4D97-AF65-F5344CB8AC3E}">
        <p14:creationId xmlns:p14="http://schemas.microsoft.com/office/powerpoint/2010/main" val="32353539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4455979" y="1358415"/>
            <a:ext cx="3551948" cy="553357"/>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80CCC</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5" name="Rectangle 4"/>
          <p:cNvSpPr/>
          <p:nvPr/>
        </p:nvSpPr>
        <p:spPr>
          <a:xfrm>
            <a:off x="1763760" y="2222077"/>
            <a:ext cx="9199419" cy="1676741"/>
          </a:xfrm>
          <a:prstGeom prst="rect">
            <a:avLst/>
          </a:prstGeom>
        </p:spPr>
        <p:txBody>
          <a:bodyPr wrap="square">
            <a:spAutoFit/>
          </a:bodyPr>
          <a:lstStyle/>
          <a:p>
            <a:pPr>
              <a:lnSpc>
                <a:spcPct val="107000"/>
              </a:lnSpc>
              <a:spcAft>
                <a:spcPts val="800"/>
              </a:spcAft>
            </a:pPr>
            <a:r>
              <a:rPr lang="en-IN" dirty="0">
                <a:solidFill>
                  <a:srgbClr val="333333"/>
                </a:solidFill>
                <a:latin typeface="Georgia" panose="02040502050405020303" pitchFamily="18" charset="0"/>
                <a:ea typeface="Times New Roman" panose="02020603050405020304" pitchFamily="18" charset="0"/>
                <a:cs typeface="Times New Roman" panose="02020603050405020304" pitchFamily="18" charset="0"/>
              </a:rPr>
              <a:t>Deduction under Sec.80CCC is available only for individuals. Contribution to an annuity plan of the LIC of India or any other insurer for receiving the pension. Do remember that the amount should be paid or deposited out of income chargeable to tax.</a:t>
            </a:r>
          </a:p>
          <a:p>
            <a:pPr>
              <a:lnSpc>
                <a:spcPct val="107000"/>
              </a:lnSpc>
              <a:spcAft>
                <a:spcPts val="800"/>
              </a:spcAft>
            </a:pPr>
            <a:r>
              <a:rPr lang="en-IN" b="1" dirty="0">
                <a:effectLst>
                  <a:outerShdw blurRad="38100" dist="38100" dir="2700000" algn="tl">
                    <a:srgbClr val="000000">
                      <a:alpha val="43137"/>
                    </a:srgbClr>
                  </a:outerShdw>
                </a:effectLst>
              </a:rPr>
              <a:t>Note:</a:t>
            </a:r>
            <a:r>
              <a:rPr lang="en-IN" dirty="0"/>
              <a:t>- </a:t>
            </a:r>
            <a:r>
              <a:rPr lang="en-IN" b="1" dirty="0">
                <a:solidFill>
                  <a:srgbClr val="C00000"/>
                </a:solidFill>
              </a:rPr>
              <a:t>this is also the part of the combined limit of Rs.1.5 lakh available under Sec.80C Sec.80CCC, and </a:t>
            </a:r>
            <a:r>
              <a:rPr lang="en-IN" b="1" u="sng" dirty="0">
                <a:solidFill>
                  <a:srgbClr val="C00000"/>
                </a:solidFill>
              </a:rPr>
              <a:t>Sec.80CCD(1)</a:t>
            </a:r>
            <a:endParaRPr lang="en-IN" sz="16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62</a:t>
            </a:fld>
            <a:endParaRPr lang="en-IN"/>
          </a:p>
        </p:txBody>
      </p:sp>
    </p:spTree>
    <p:extLst>
      <p:ext uri="{BB962C8B-B14F-4D97-AF65-F5344CB8AC3E}">
        <p14:creationId xmlns:p14="http://schemas.microsoft.com/office/powerpoint/2010/main" val="15658737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4109614" y="1389010"/>
            <a:ext cx="7167986"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6" name="Rectangle 5"/>
          <p:cNvSpPr/>
          <p:nvPr/>
        </p:nvSpPr>
        <p:spPr>
          <a:xfrm>
            <a:off x="471055" y="2164062"/>
            <a:ext cx="11610109" cy="1051122"/>
          </a:xfrm>
          <a:prstGeom prst="rect">
            <a:avLst/>
          </a:prstGeom>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An individual’s maximum 20% of annual income (Earlier it was 10% but after Budget 2017, it increased to 20%) or an employees (10% of </a:t>
            </a:r>
            <a:r>
              <a:rPr lang="en-IN" dirty="0" err="1">
                <a:solidFill>
                  <a:srgbClr val="333333"/>
                </a:solidFill>
                <a:latin typeface="Cambria" panose="02040503050406030204" pitchFamily="18" charset="0"/>
                <a:ea typeface="Times New Roman" panose="02020603050405020304" pitchFamily="18" charset="0"/>
                <a:cs typeface="Times New Roman" panose="02020603050405020304" pitchFamily="18" charset="0"/>
              </a:rPr>
              <a:t>Basic+DA</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contribution will be eligible for deduction.</a:t>
            </a:r>
          </a:p>
          <a:p>
            <a:pPr>
              <a:lnSpc>
                <a:spcPct val="107000"/>
              </a:lnSpc>
              <a:spcAft>
                <a:spcPts val="800"/>
              </a:spcAft>
              <a:buSzPts val="1000"/>
              <a:tabLst>
                <a:tab pos="457200" algn="l"/>
              </a:tabLst>
            </a:pPr>
            <a:r>
              <a:rPr lang="en-IN" sz="1600" b="1" dirty="0">
                <a:effectLst>
                  <a:outerShdw blurRad="38100" dist="38100" dir="2700000" algn="tl">
                    <a:srgbClr val="000000">
                      <a:alpha val="43137"/>
                    </a:srgbClr>
                  </a:outerShdw>
                </a:effectLst>
                <a:latin typeface="Cambria" panose="02040503050406030204" pitchFamily="18" charset="0"/>
              </a:rPr>
              <a:t>Note:</a:t>
            </a:r>
            <a:r>
              <a:rPr lang="en-IN" sz="1600" dirty="0">
                <a:latin typeface="Cambria" panose="02040503050406030204" pitchFamily="18" charset="0"/>
              </a:rPr>
              <a:t>- </a:t>
            </a:r>
            <a:r>
              <a:rPr lang="en-IN" sz="1600" b="1" dirty="0">
                <a:solidFill>
                  <a:srgbClr val="C00000"/>
                </a:solidFill>
                <a:latin typeface="Cambria" panose="02040503050406030204" pitchFamily="18" charset="0"/>
              </a:rPr>
              <a:t>this is also the part of the combined limit of Rs.1.5 lakh available under Sec.80C Sec.80CCC, and </a:t>
            </a:r>
            <a:r>
              <a:rPr lang="en-IN" sz="1600" b="1" u="sng" dirty="0">
                <a:solidFill>
                  <a:srgbClr val="C00000"/>
                </a:solidFill>
                <a:latin typeface="Cambria" panose="02040503050406030204" pitchFamily="18" charset="0"/>
              </a:rPr>
              <a:t>Sec.80CCD(1)</a:t>
            </a:r>
            <a:endParaRPr lang="en-IN" sz="1400" dirty="0">
              <a:solidFill>
                <a:srgbClr val="333333"/>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4109614" y="3212812"/>
            <a:ext cx="7167985"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80CCD2</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360218" y="3743214"/>
            <a:ext cx="11720946" cy="2679836"/>
          </a:xfrm>
          <a:prstGeom prst="rect">
            <a:avLst/>
          </a:prstGeom>
        </p:spPr>
        <p:txBody>
          <a:bodyPr wrap="square">
            <a:spAutoFit/>
          </a:bodyPr>
          <a:lstStyle/>
          <a:p>
            <a:pPr marL="342900" lvl="0" indent="-342900">
              <a:lnSpc>
                <a:spcPct val="107000"/>
              </a:lnSpc>
              <a:spcAft>
                <a:spcPts val="800"/>
              </a:spcAft>
              <a:buSzPts val="1000"/>
              <a:buFont typeface="Wingdings" panose="05000000000000000000" pitchFamily="2" charset="2"/>
              <a:buChar char="q"/>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There is a misconception among many that there is no upper limit for this section. However, the limit is least of 3 conditions. </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1) Amount contributed by an employer, </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2) 10% of </a:t>
            </a:r>
            <a:r>
              <a:rPr lang="en-IN" dirty="0" err="1">
                <a:solidFill>
                  <a:srgbClr val="333333"/>
                </a:solidFill>
                <a:latin typeface="Cambria" panose="02040503050406030204" pitchFamily="18" charset="0"/>
                <a:ea typeface="Times New Roman" panose="02020603050405020304" pitchFamily="18" charset="0"/>
                <a:cs typeface="Times New Roman" panose="02020603050405020304" pitchFamily="18" charset="0"/>
              </a:rPr>
              <a:t>Basic+DA</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and</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3) Gross Total Income.</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dirty="0">
                <a:solidFill>
                  <a:srgbClr val="7030A0"/>
                </a:solidFill>
                <a:effectLst>
                  <a:outerShdw blurRad="38100" dist="38100" dir="2700000" algn="tl">
                    <a:srgbClr val="000000">
                      <a:alpha val="43137"/>
                    </a:srgbClr>
                  </a:outerShdw>
                </a:effectLst>
                <a:latin typeface="Cambria" panose="02040503050406030204" pitchFamily="18" charset="0"/>
                <a:ea typeface="Times New Roman" panose="02020603050405020304" pitchFamily="18" charset="0"/>
                <a:cs typeface="Times New Roman" panose="02020603050405020304" pitchFamily="18" charset="0"/>
              </a:rPr>
              <a:t>This is additional deduction which will not form the part of Sec.80C limit.</a:t>
            </a:r>
            <a:endParaRPr lang="en-IN" sz="1600" dirty="0">
              <a:solidFill>
                <a:srgbClr val="7030A0"/>
              </a:solidFill>
              <a:effectLst>
                <a:outerShdw blurRad="38100" dist="38100" dir="2700000" algn="tl">
                  <a:srgbClr val="000000">
                    <a:alpha val="43137"/>
                  </a:srgbClr>
                </a:outerShdw>
              </a:effectLst>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Wingdings" panose="05000000000000000000" pitchFamily="2" charset="2"/>
              <a:buChar char="q"/>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The deduction under this section will not be eligible for self-employed.</a:t>
            </a:r>
            <a:endParaRPr lang="en-IN" sz="1600" dirty="0">
              <a:solidFill>
                <a:srgbClr val="333333"/>
              </a:solidFill>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94013DF8-6EF8-4A98-8821-E6468C17C0C3}" type="slidenum">
              <a:rPr lang="en-IN" smtClean="0"/>
              <a:t>63</a:t>
            </a:fld>
            <a:endParaRPr lang="en-IN"/>
          </a:p>
        </p:txBody>
      </p:sp>
    </p:spTree>
    <p:extLst>
      <p:ext uri="{BB962C8B-B14F-4D97-AF65-F5344CB8AC3E}">
        <p14:creationId xmlns:p14="http://schemas.microsoft.com/office/powerpoint/2010/main" val="36926884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3306050" y="1349984"/>
            <a:ext cx="7458931" cy="553357"/>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80CCD(1B)</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6" name="Rectangle 5"/>
          <p:cNvSpPr/>
          <p:nvPr/>
        </p:nvSpPr>
        <p:spPr>
          <a:xfrm>
            <a:off x="595746" y="2647343"/>
            <a:ext cx="11166764" cy="2627707"/>
          </a:xfrm>
          <a:prstGeom prst="rect">
            <a:avLst/>
          </a:prstGeom>
        </p:spPr>
        <p:txBody>
          <a:bodyPr wrap="square">
            <a:spAutoFit/>
          </a:bodyPr>
          <a:lstStyle/>
          <a:p>
            <a:pPr marL="34290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is the additional tax benefit of up to Rs.50,000 eligible for income tax deduction and was introduced in the Budget 2015, </a:t>
            </a:r>
            <a:r>
              <a:rPr lang="en-IN" sz="2400" dirty="0">
                <a:latin typeface="Cambria" panose="02040503050406030204" pitchFamily="18" charset="0"/>
              </a:rPr>
              <a:t>One can avail the benefit of this Sect.80CCD (1B) from FY 2015-16.</a:t>
            </a:r>
          </a:p>
          <a:p>
            <a:pPr marL="342900" lvl="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Both self-employed and employees are eligible for availing this deduction.</a:t>
            </a:r>
          </a:p>
          <a:p>
            <a:pPr marL="342900" lvl="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is over and above </a:t>
            </a:r>
            <a:r>
              <a:rPr lang="en-IN" sz="2400" dirty="0">
                <a:latin typeface="Cambria" panose="02040503050406030204" pitchFamily="18" charset="0"/>
              </a:rPr>
              <a:t>Sec.80CCD (1).</a:t>
            </a:r>
          </a:p>
          <a:p>
            <a:pPr marL="342900" lvl="0" indent="-342900">
              <a:lnSpc>
                <a:spcPct val="107000"/>
              </a:lnSpc>
              <a:spcAft>
                <a:spcPts val="800"/>
              </a:spcAft>
              <a:buSzPts val="1000"/>
              <a:buFont typeface="Symbol" panose="05050102010706020507" pitchFamily="18" charset="2"/>
              <a:buChar char=""/>
              <a:tabLst>
                <a:tab pos="457200" algn="l"/>
              </a:tabLst>
            </a:pPr>
            <a:endParaRPr lang="en-IN" sz="16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64</a:t>
            </a:fld>
            <a:endParaRPr lang="en-IN"/>
          </a:p>
        </p:txBody>
      </p:sp>
    </p:spTree>
    <p:extLst>
      <p:ext uri="{BB962C8B-B14F-4D97-AF65-F5344CB8AC3E}">
        <p14:creationId xmlns:p14="http://schemas.microsoft.com/office/powerpoint/2010/main" val="19283794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3306051" y="1467624"/>
            <a:ext cx="6433694" cy="467885"/>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4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Calibri" panose="020F0502020204030204" pitchFamily="34" charset="0"/>
                <a:cs typeface="Times New Roman" panose="02020603050405020304" pitchFamily="18" charset="0"/>
              </a:rPr>
              <a:t>NPS Tax Benefit Summary</a:t>
            </a:r>
            <a:endParaRPr lang="en-IN"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pic>
        <p:nvPicPr>
          <p:cNvPr id="6" name="Picture 5" descr="NPS Tax Benefits 20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274" y="1982202"/>
            <a:ext cx="9490362" cy="4307761"/>
          </a:xfrm>
          <a:prstGeom prst="rect">
            <a:avLst/>
          </a:prstGeom>
          <a:ln>
            <a:noFill/>
          </a:ln>
          <a:effectLst>
            <a:outerShdw blurRad="292100" dist="139700" dir="2700000" algn="tl" rotWithShape="0">
              <a:srgbClr val="333333">
                <a:alpha val="65000"/>
              </a:srgbClr>
            </a:outerShdw>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94013DF8-6EF8-4A98-8821-E6468C17C0C3}" type="slidenum">
              <a:rPr lang="en-IN" smtClean="0"/>
              <a:t>65</a:t>
            </a:fld>
            <a:endParaRPr lang="en-IN"/>
          </a:p>
        </p:txBody>
      </p:sp>
    </p:spTree>
    <p:extLst>
      <p:ext uri="{BB962C8B-B14F-4D97-AF65-F5344CB8AC3E}">
        <p14:creationId xmlns:p14="http://schemas.microsoft.com/office/powerpoint/2010/main" val="11073142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3" name="Picture 2"/>
          <p:cNvPicPr>
            <a:picLocks noChangeAspect="1"/>
          </p:cNvPicPr>
          <p:nvPr/>
        </p:nvPicPr>
        <p:blipFill>
          <a:blip r:embed="rId2"/>
          <a:stretch>
            <a:fillRect/>
          </a:stretch>
        </p:blipFill>
        <p:spPr>
          <a:xfrm>
            <a:off x="138426" y="606309"/>
            <a:ext cx="2743438" cy="1518036"/>
          </a:xfrm>
          <a:prstGeom prst="rect">
            <a:avLst/>
          </a:prstGeom>
        </p:spPr>
      </p:pic>
      <p:sp>
        <p:nvSpPr>
          <p:cNvPr id="4" name="Rectangle 3"/>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540326" y="2344888"/>
            <a:ext cx="11263746" cy="3693319"/>
          </a:xfrm>
          <a:prstGeom prst="rect">
            <a:avLst/>
          </a:prstGeom>
          <a:solidFill>
            <a:schemeClr val="accent3">
              <a:lumMod val="20000"/>
              <a:lumOff val="80000"/>
            </a:schemeClr>
          </a:solidFill>
          <a:scene3d>
            <a:camera prst="orthographicFront"/>
            <a:lightRig rig="threePt" dir="t"/>
          </a:scene3d>
          <a:sp3d>
            <a:bevelT/>
          </a:sp3d>
        </p:spPr>
        <p:txBody>
          <a:bodyPr wrap="square">
            <a:spAutoFit/>
          </a:bodyPr>
          <a:lstStyle/>
          <a:p>
            <a:pPr marL="285750" indent="-285750">
              <a:buFont typeface="Wingdings" panose="05000000000000000000" pitchFamily="2" charset="2"/>
              <a:buChar char="v"/>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section only applies to those who have not availed HRA in their salary or not claiming the deduction on their rent in any of the other sections of income </a:t>
            </a:r>
          </a:p>
          <a:p>
            <a:r>
              <a:rPr lang="en-IN" dirty="0">
                <a:solidFill>
                  <a:srgbClr val="333333"/>
                </a:solidFill>
                <a:latin typeface="Cambria" panose="02040503050406030204" pitchFamily="18" charset="0"/>
                <a:cs typeface="Times New Roman" panose="02020603050405020304" pitchFamily="18" charset="0"/>
              </a:rPr>
              <a:t>Conditions:</a:t>
            </a:r>
          </a:p>
          <a:p>
            <a:pPr marL="742950" lvl="1" indent="-285750">
              <a:buFont typeface="Wingdings" panose="05000000000000000000" pitchFamily="2" charset="2"/>
              <a:buChar char="Ø"/>
            </a:pPr>
            <a:r>
              <a:rPr lang="en-IN" dirty="0">
                <a:latin typeface="Cambria" panose="02040503050406030204" pitchFamily="18" charset="0"/>
              </a:rPr>
              <a:t>Applicable to Individual or HUF.</a:t>
            </a:r>
          </a:p>
          <a:p>
            <a:pPr marL="742950" lvl="1" indent="-285750">
              <a:buFont typeface="Wingdings" panose="05000000000000000000" pitchFamily="2" charset="2"/>
              <a:buChar char="Ø"/>
            </a:pPr>
            <a:r>
              <a:rPr lang="en-IN" dirty="0">
                <a:latin typeface="Cambria" panose="02040503050406030204" pitchFamily="18" charset="0"/>
              </a:rPr>
              <a:t>Tax Payer may be either salaried or a self-employed. However, must not be getting HRA.</a:t>
            </a:r>
          </a:p>
          <a:p>
            <a:pPr marL="742950" lvl="1" indent="-285750">
              <a:buFont typeface="Wingdings" panose="05000000000000000000" pitchFamily="2" charset="2"/>
              <a:buChar char="Ø"/>
            </a:pPr>
            <a:r>
              <a:rPr lang="en-IN" dirty="0">
                <a:latin typeface="Cambria" panose="02040503050406030204" pitchFamily="18" charset="0"/>
              </a:rPr>
              <a:t>Tax Payer himself or spouse/Minor Child/HUF of which he is a member should not own any accommodation at a place where he is doing a job or business</a:t>
            </a:r>
          </a:p>
          <a:p>
            <a:pPr marL="742950" lvl="1" indent="-285750">
              <a:buFont typeface="Wingdings" panose="05000000000000000000" pitchFamily="2" charset="2"/>
              <a:buChar char="Ø"/>
            </a:pPr>
            <a:r>
              <a:rPr lang="en-IN" dirty="0">
                <a:latin typeface="Cambria" panose="02040503050406030204" pitchFamily="18" charset="0"/>
              </a:rPr>
              <a:t>If Tax Payer owns a house at a place other than the place noted above, then the concession in respect of self-occupied property is not claimed by him [Under Section 23 (2) (a) or 23 (4) (a)].</a:t>
            </a:r>
          </a:p>
          <a:p>
            <a:pPr marL="742950" lvl="1" indent="-285750">
              <a:buFont typeface="Wingdings" panose="05000000000000000000" pitchFamily="2" charset="2"/>
              <a:buChar char="Ø"/>
            </a:pPr>
            <a:r>
              <a:rPr lang="en-IN" dirty="0">
                <a:latin typeface="Cambria" panose="02040503050406030204" pitchFamily="18" charset="0"/>
              </a:rPr>
              <a:t>Tax Payer has to file a declaration in </a:t>
            </a:r>
            <a:r>
              <a:rPr lang="en-IN" u="sng" dirty="0">
                <a:latin typeface="Cambria" panose="02040503050406030204" pitchFamily="18" charset="0"/>
              </a:rPr>
              <a:t>Form No.10BA</a:t>
            </a:r>
            <a:r>
              <a:rPr lang="en-IN" dirty="0">
                <a:latin typeface="Cambria" panose="02040503050406030204" pitchFamily="18" charset="0"/>
              </a:rPr>
              <a:t> regarding the expenditure incurred by him towards the payment of rent.</a:t>
            </a:r>
          </a:p>
          <a:p>
            <a:pPr marL="285750" indent="-285750">
              <a:buFont typeface="Wingdings" panose="05000000000000000000" pitchFamily="2" charset="2"/>
              <a:buChar char="Ø"/>
            </a:pPr>
            <a:endParaRPr lang="en-IN" dirty="0"/>
          </a:p>
          <a:p>
            <a:endParaRPr lang="en-IN" dirty="0"/>
          </a:p>
        </p:txBody>
      </p:sp>
      <p:sp>
        <p:nvSpPr>
          <p:cNvPr id="7" name="Slide Number Placeholder 6"/>
          <p:cNvSpPr>
            <a:spLocks noGrp="1"/>
          </p:cNvSpPr>
          <p:nvPr>
            <p:ph type="sldNum" sz="quarter" idx="12"/>
          </p:nvPr>
        </p:nvSpPr>
        <p:spPr/>
        <p:txBody>
          <a:bodyPr/>
          <a:lstStyle/>
          <a:p>
            <a:fld id="{94013DF8-6EF8-4A98-8821-E6468C17C0C3}" type="slidenum">
              <a:rPr lang="en-IN" smtClean="0"/>
              <a:t>66</a:t>
            </a:fld>
            <a:endParaRPr lang="en-IN"/>
          </a:p>
        </p:txBody>
      </p:sp>
    </p:spTree>
    <p:extLst>
      <p:ext uri="{BB962C8B-B14F-4D97-AF65-F5344CB8AC3E}">
        <p14:creationId xmlns:p14="http://schemas.microsoft.com/office/powerpoint/2010/main" val="3552646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3" name="Picture 2"/>
          <p:cNvPicPr>
            <a:picLocks noChangeAspect="1"/>
          </p:cNvPicPr>
          <p:nvPr/>
        </p:nvPicPr>
        <p:blipFill>
          <a:blip r:embed="rId2"/>
          <a:stretch>
            <a:fillRect/>
          </a:stretch>
        </p:blipFill>
        <p:spPr>
          <a:xfrm>
            <a:off x="138426" y="606309"/>
            <a:ext cx="2743438" cy="1518036"/>
          </a:xfrm>
          <a:prstGeom prst="rect">
            <a:avLst/>
          </a:prstGeom>
        </p:spPr>
      </p:pic>
      <p:sp>
        <p:nvSpPr>
          <p:cNvPr id="4" name="Rectangle 3"/>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756935" y="2440235"/>
            <a:ext cx="8534400" cy="2280881"/>
          </a:xfrm>
          <a:prstGeom prst="rect">
            <a:avLst/>
          </a:prstGeom>
        </p:spPr>
        <p:txBody>
          <a:bodyPr wrap="square">
            <a:spAutoFit/>
          </a:bodyPr>
          <a:lstStyle/>
          <a:p>
            <a:pPr algn="ctr">
              <a:lnSpc>
                <a:spcPct val="107000"/>
              </a:lnSpc>
              <a:spcAft>
                <a:spcPts val="800"/>
              </a:spcAft>
            </a:pPr>
            <a:r>
              <a:rPr lang="en-IN" b="1" u="sng" dirty="0">
                <a:solidFill>
                  <a:srgbClr val="7030A0"/>
                </a:solidFill>
                <a:effectLst>
                  <a:outerShdw blurRad="38100" dist="38100" dir="2700000" algn="tl">
                    <a:srgbClr val="000000">
                      <a:alpha val="43137"/>
                    </a:srgbClr>
                  </a:outerShdw>
                </a:effectLst>
                <a:latin typeface="Cambria" panose="02040503050406030204" pitchFamily="18" charset="0"/>
                <a:ea typeface="Times New Roman" panose="02020603050405020304" pitchFamily="18" charset="0"/>
                <a:cs typeface="Times New Roman" panose="02020603050405020304" pitchFamily="18" charset="0"/>
              </a:rPr>
              <a:t>How much amount of deduction one can avail under Sec. 80GG?</a:t>
            </a:r>
            <a:endParaRPr lang="en-IN" sz="1600" u="sng" dirty="0">
              <a:solidFill>
                <a:srgbClr val="7030A0"/>
              </a:solidFill>
              <a:effectLst>
                <a:outerShdw blurRad="38100" dist="38100" dir="2700000" algn="tl">
                  <a:srgbClr val="000000">
                    <a:alpha val="43137"/>
                  </a:srgbClr>
                </a:outerShdw>
              </a:effectLst>
              <a:latin typeface="Cambria" panose="020405030504060302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If the all five conditions are satisfied, the amount deductible under Section 80GG is </a:t>
            </a:r>
            <a:r>
              <a:rPr lang="en-IN" b="1"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LEAST OF THE FOLLOWING</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a:t>
            </a:r>
            <a:endParaRPr lang="en-IN" sz="1600" dirty="0">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Rs.5, 000 per month;</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25% of total income of taxpayer for the year; or</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Rent Paid less 10% of total income (Rent Paid-10% of Total Income).</a:t>
            </a:r>
            <a:endParaRPr lang="en-IN" sz="1600" dirty="0">
              <a:solidFill>
                <a:srgbClr val="333333"/>
              </a:solidFill>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67</a:t>
            </a:fld>
            <a:endParaRPr lang="en-IN"/>
          </a:p>
        </p:txBody>
      </p:sp>
    </p:spTree>
    <p:extLst>
      <p:ext uri="{BB962C8B-B14F-4D97-AF65-F5344CB8AC3E}">
        <p14:creationId xmlns:p14="http://schemas.microsoft.com/office/powerpoint/2010/main" val="2298377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p:cNvSpPr txBox="1"/>
          <p:nvPr/>
        </p:nvSpPr>
        <p:spPr>
          <a:xfrm>
            <a:off x="3111886" y="595743"/>
            <a:ext cx="6503168" cy="646331"/>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4" name="Picture 3"/>
          <p:cNvPicPr>
            <a:picLocks noChangeAspect="1"/>
          </p:cNvPicPr>
          <p:nvPr/>
        </p:nvPicPr>
        <p:blipFill>
          <a:blip r:embed="rId2"/>
          <a:stretch>
            <a:fillRect/>
          </a:stretch>
        </p:blipFill>
        <p:spPr>
          <a:xfrm>
            <a:off x="138426" y="606309"/>
            <a:ext cx="2743438" cy="1518036"/>
          </a:xfrm>
          <a:prstGeom prst="rect">
            <a:avLst/>
          </a:prstGeom>
        </p:spPr>
      </p:pic>
      <p:sp>
        <p:nvSpPr>
          <p:cNvPr id="5" name="TextBox 4"/>
          <p:cNvSpPr txBox="1"/>
          <p:nvPr/>
        </p:nvSpPr>
        <p:spPr>
          <a:xfrm>
            <a:off x="4087091" y="2123215"/>
            <a:ext cx="2327564" cy="461665"/>
          </a:xfrm>
          <a:prstGeom prst="rect">
            <a:avLst/>
          </a:prstGeom>
          <a:noFill/>
        </p:spPr>
        <p:txBody>
          <a:bodyPr wrap="square" rtlCol="0">
            <a:spAutoFit/>
          </a:bodyPr>
          <a:lstStyle/>
          <a:p>
            <a:pPr algn="ctr"/>
            <a:r>
              <a:rPr lang="en-IN" sz="2400" u="sng" dirty="0">
                <a:solidFill>
                  <a:srgbClr val="FF0000"/>
                </a:solidFill>
                <a:effectLst>
                  <a:outerShdw blurRad="38100" dist="38100" dir="2700000" algn="tl">
                    <a:srgbClr val="000000">
                      <a:alpha val="43137"/>
                    </a:srgbClr>
                  </a:outerShdw>
                </a:effectLst>
              </a:rPr>
              <a:t>Example:</a:t>
            </a:r>
          </a:p>
        </p:txBody>
      </p:sp>
      <p:sp>
        <p:nvSpPr>
          <p:cNvPr id="6" name="Rectangle 5"/>
          <p:cNvSpPr/>
          <p:nvPr/>
        </p:nvSpPr>
        <p:spPr>
          <a:xfrm>
            <a:off x="780190" y="2584880"/>
            <a:ext cx="9749266" cy="1200329"/>
          </a:xfrm>
          <a:prstGeom prst="rect">
            <a:avLst/>
          </a:prstGeom>
          <a:solidFill>
            <a:schemeClr val="accent3">
              <a:lumMod val="40000"/>
              <a:lumOff val="60000"/>
            </a:schemeClr>
          </a:solidFill>
          <a:scene3d>
            <a:camera prst="orthographicFront"/>
            <a:lightRig rig="threePt" dir="t"/>
          </a:scene3d>
          <a:sp3d>
            <a:bevelT/>
          </a:sp3d>
        </p:spPr>
        <p:txBody>
          <a:bodyPr wrap="square">
            <a:spAutoFit/>
          </a:bodyPr>
          <a:lstStyle/>
          <a:p>
            <a:pPr algn="ctr"/>
            <a:r>
              <a:rPr lang="en-US" b="1" dirty="0">
                <a:solidFill>
                  <a:srgbClr val="0000FF"/>
                </a:solidFill>
                <a:latin typeface="Cambria" panose="02040503050406030204" pitchFamily="18" charset="0"/>
              </a:rPr>
              <a:t>What is total income for the purpose of Sec. 80GG?</a:t>
            </a:r>
            <a:endParaRPr lang="en-US" dirty="0">
              <a:solidFill>
                <a:srgbClr val="333333"/>
              </a:solidFill>
              <a:latin typeface="Cambria" panose="02040503050406030204" pitchFamily="18" charset="0"/>
            </a:endParaRPr>
          </a:p>
          <a:p>
            <a:r>
              <a:rPr lang="en-US" dirty="0">
                <a:solidFill>
                  <a:srgbClr val="333333"/>
                </a:solidFill>
                <a:latin typeface="Cambria" panose="02040503050406030204" pitchFamily="18" charset="0"/>
              </a:rPr>
              <a:t>We can calculate it as below.</a:t>
            </a:r>
          </a:p>
          <a:p>
            <a:r>
              <a:rPr lang="en-US" dirty="0">
                <a:solidFill>
                  <a:srgbClr val="333333"/>
                </a:solidFill>
                <a:latin typeface="Cambria" panose="02040503050406030204" pitchFamily="18" charset="0"/>
              </a:rPr>
              <a:t>Total Income=Gross Total Income-LTCG-STCG-Income referred under the Sec.115A-Amount deductible under Sec.80C to 80U (except Section 80GG)</a:t>
            </a:r>
            <a:endParaRPr lang="en-US" b="0" i="0" u="none" strike="noStrike" dirty="0">
              <a:solidFill>
                <a:srgbClr val="333333"/>
              </a:solidFill>
              <a:effectLst/>
              <a:latin typeface="Cambria" panose="02040503050406030204" pitchFamily="18" charset="0"/>
            </a:endParaRPr>
          </a:p>
        </p:txBody>
      </p:sp>
      <p:sp>
        <p:nvSpPr>
          <p:cNvPr id="7" name="Rectangle 6"/>
          <p:cNvSpPr/>
          <p:nvPr/>
        </p:nvSpPr>
        <p:spPr>
          <a:xfrm>
            <a:off x="780190" y="3857923"/>
            <a:ext cx="10164902" cy="2031325"/>
          </a:xfrm>
          <a:prstGeom prst="rect">
            <a:avLst/>
          </a:prstGeom>
          <a:solidFill>
            <a:schemeClr val="accent3">
              <a:lumMod val="40000"/>
              <a:lumOff val="60000"/>
            </a:schemeClr>
          </a:solidFill>
          <a:scene3d>
            <a:camera prst="orthographicFront"/>
            <a:lightRig rig="threePt" dir="t"/>
          </a:scene3d>
          <a:sp3d>
            <a:bevelT/>
          </a:sp3d>
        </p:spPr>
        <p:txBody>
          <a:bodyPr wrap="square">
            <a:spAutoFit/>
          </a:bodyPr>
          <a:lstStyle/>
          <a:p>
            <a:pPr marL="285750" indent="-285750">
              <a:buFont typeface="Wingdings" panose="05000000000000000000" pitchFamily="2" charset="2"/>
              <a:buChar char="v"/>
            </a:pPr>
            <a:r>
              <a:rPr lang="en-US" b="1" dirty="0">
                <a:solidFill>
                  <a:srgbClr val="333333"/>
                </a:solidFill>
                <a:latin typeface="Cambria" panose="02040503050406030204" pitchFamily="18" charset="0"/>
              </a:rPr>
              <a:t>Mr. X’s total income (calculated as per above formula) is Rs.4, 00,000. He pays an annual rent of Rs.1, 50,000. Then least of the below will be applicable for deduction under Sec. 80GG.</a:t>
            </a:r>
          </a:p>
          <a:p>
            <a:pPr>
              <a:buFont typeface="Arial" panose="020B0604020202020204" pitchFamily="34" charset="0"/>
              <a:buChar char="•"/>
            </a:pPr>
            <a:r>
              <a:rPr lang="en-US" dirty="0">
                <a:solidFill>
                  <a:srgbClr val="333333"/>
                </a:solidFill>
                <a:latin typeface="Cambria" panose="02040503050406030204" pitchFamily="18" charset="0"/>
              </a:rPr>
              <a:t>Rs.60, 000 per year.</a:t>
            </a:r>
          </a:p>
          <a:p>
            <a:pPr>
              <a:buFont typeface="Arial" panose="020B0604020202020204" pitchFamily="34" charset="0"/>
              <a:buChar char="•"/>
            </a:pPr>
            <a:r>
              <a:rPr lang="en-US" dirty="0">
                <a:solidFill>
                  <a:srgbClr val="333333"/>
                </a:solidFill>
                <a:latin typeface="Cambria" panose="02040503050406030204" pitchFamily="18" charset="0"/>
              </a:rPr>
              <a:t>Rent Paid-10% of Total Income=Rs.1,50,000-Rs.40,000=Rs.1,10,000’-.</a:t>
            </a:r>
          </a:p>
          <a:p>
            <a:pPr>
              <a:buFont typeface="Arial" panose="020B0604020202020204" pitchFamily="34" charset="0"/>
              <a:buChar char="•"/>
            </a:pPr>
            <a:r>
              <a:rPr lang="en-US" dirty="0">
                <a:solidFill>
                  <a:srgbClr val="333333"/>
                </a:solidFill>
                <a:latin typeface="Cambria" panose="02040503050406030204" pitchFamily="18" charset="0"/>
              </a:rPr>
              <a:t>25% of Total Income i.e. Rs.1, 00,000/-.</a:t>
            </a:r>
          </a:p>
          <a:p>
            <a:r>
              <a:rPr lang="en-US" dirty="0">
                <a:solidFill>
                  <a:srgbClr val="333333"/>
                </a:solidFill>
                <a:latin typeface="Cambria" panose="02040503050406030204" pitchFamily="18" charset="0"/>
              </a:rPr>
              <a:t>So least of the above will be </a:t>
            </a:r>
            <a:r>
              <a:rPr lang="en-US" b="1" dirty="0">
                <a:solidFill>
                  <a:srgbClr val="333333"/>
                </a:solidFill>
                <a:latin typeface="Cambria" panose="02040503050406030204" pitchFamily="18" charset="0"/>
              </a:rPr>
              <a:t>Rs.60, 000/-</a:t>
            </a:r>
            <a:r>
              <a:rPr lang="en-US" dirty="0">
                <a:solidFill>
                  <a:srgbClr val="333333"/>
                </a:solidFill>
                <a:latin typeface="Cambria" panose="02040503050406030204" pitchFamily="18" charset="0"/>
              </a:rPr>
              <a:t>, which one can claim under Section 80GG for that particular FY.</a:t>
            </a:r>
            <a:endParaRPr lang="en-US" b="0" i="0" u="none" strike="noStrike" dirty="0">
              <a:solidFill>
                <a:srgbClr val="333333"/>
              </a:solidFill>
              <a:effectLst/>
              <a:latin typeface="Cambria" panose="02040503050406030204" pitchFamily="18" charset="0"/>
            </a:endParaRPr>
          </a:p>
        </p:txBody>
      </p:sp>
      <p:sp>
        <p:nvSpPr>
          <p:cNvPr id="9" name="Slide Number Placeholder 8"/>
          <p:cNvSpPr>
            <a:spLocks noGrp="1"/>
          </p:cNvSpPr>
          <p:nvPr>
            <p:ph type="sldNum" sz="quarter" idx="12"/>
          </p:nvPr>
        </p:nvSpPr>
        <p:spPr/>
        <p:txBody>
          <a:bodyPr/>
          <a:lstStyle/>
          <a:p>
            <a:fld id="{94013DF8-6EF8-4A98-8821-E6468C17C0C3}" type="slidenum">
              <a:rPr lang="en-IN" smtClean="0"/>
              <a:t>68</a:t>
            </a:fld>
            <a:endParaRPr lang="en-IN"/>
          </a:p>
        </p:txBody>
      </p:sp>
    </p:spTree>
    <p:extLst>
      <p:ext uri="{BB962C8B-B14F-4D97-AF65-F5344CB8AC3E}">
        <p14:creationId xmlns:p14="http://schemas.microsoft.com/office/powerpoint/2010/main" val="6697618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588385"/>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38" y="601547"/>
            <a:ext cx="1562389" cy="11953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5018" y="1953491"/>
            <a:ext cx="11402290" cy="4339650"/>
          </a:xfrm>
          <a:prstGeom prst="rect">
            <a:avLst/>
          </a:prstGeom>
          <a:solidFill>
            <a:schemeClr val="accent3">
              <a:lumMod val="40000"/>
              <a:lumOff val="60000"/>
            </a:schemeClr>
          </a:solidFill>
          <a:scene3d>
            <a:camera prst="orthographicFront"/>
            <a:lightRig rig="threePt" dir="t"/>
          </a:scene3d>
          <a:sp3d>
            <a:bevelT/>
          </a:sp3d>
        </p:spPr>
        <p:txBody>
          <a:bodyPr wrap="square" rtlCol="0">
            <a:spAutoFit/>
          </a:bodyPr>
          <a:lstStyle/>
          <a:p>
            <a:pPr algn="ctr"/>
            <a:r>
              <a:rPr lang="en-IN" dirty="0">
                <a:solidFill>
                  <a:srgbClr val="FF0000"/>
                </a:solidFill>
                <a:effectLst>
                  <a:outerShdw blurRad="38100" dist="38100" dir="2700000" algn="tl">
                    <a:srgbClr val="000000">
                      <a:alpha val="43137"/>
                    </a:srgbClr>
                  </a:outerShdw>
                </a:effectLst>
                <a:latin typeface="Cambria" panose="02040503050406030204" pitchFamily="18" charset="0"/>
              </a:rPr>
              <a:t>Total ITRs are – ITR 1 to ITR 7</a:t>
            </a:r>
          </a:p>
          <a:p>
            <a:r>
              <a:rPr lang="en-IN" sz="2400" u="sng" dirty="0">
                <a:effectLst>
                  <a:outerShdw blurRad="38100" dist="38100" dir="2700000" algn="tl">
                    <a:srgbClr val="000000">
                      <a:alpha val="43137"/>
                    </a:srgbClr>
                  </a:outerShdw>
                </a:effectLst>
                <a:latin typeface="Cambria" panose="02040503050406030204" pitchFamily="18" charset="0"/>
              </a:rPr>
              <a:t>ITR-1</a:t>
            </a:r>
          </a:p>
          <a:p>
            <a:endParaRPr lang="en-IN" dirty="0">
              <a:latin typeface="Cambria" panose="02040503050406030204" pitchFamily="18" charset="0"/>
            </a:endParaRPr>
          </a:p>
          <a:p>
            <a:r>
              <a:rPr lang="en-US" dirty="0" err="1">
                <a:latin typeface="Cambria" panose="02040503050406030204" pitchFamily="18" charset="0"/>
              </a:rPr>
              <a:t>i</a:t>
            </a:r>
            <a:r>
              <a:rPr lang="en-US" dirty="0">
                <a:latin typeface="Cambria" panose="02040503050406030204" pitchFamily="18" charset="0"/>
              </a:rPr>
              <a:t>. Earlier ITR-1 was applicable for both Residents, Residents Not ordinarily resident (RNOR) and also Non-residents. Now, this form has been made applicable only for resident individuals </a:t>
            </a:r>
            <a:br>
              <a:rPr lang="en-US" dirty="0">
                <a:latin typeface="Cambria" panose="02040503050406030204" pitchFamily="18" charset="0"/>
              </a:rPr>
            </a:br>
            <a:br>
              <a:rPr lang="en-US" dirty="0">
                <a:latin typeface="Cambria" panose="02040503050406030204" pitchFamily="18" charset="0"/>
              </a:rPr>
            </a:br>
            <a:r>
              <a:rPr lang="en-US" dirty="0">
                <a:latin typeface="Cambria" panose="02040503050406030204" pitchFamily="18" charset="0"/>
              </a:rPr>
              <a:t>ii. The condition of the individual having income from salaries, one house property, other income and having total income up to Rs 50 lakhs continues </a:t>
            </a:r>
            <a:br>
              <a:rPr lang="en-US" dirty="0">
                <a:latin typeface="Cambria" panose="02040503050406030204" pitchFamily="18" charset="0"/>
              </a:rPr>
            </a:br>
            <a:br>
              <a:rPr lang="en-US" dirty="0">
                <a:latin typeface="Cambria" panose="02040503050406030204" pitchFamily="18" charset="0"/>
              </a:rPr>
            </a:br>
            <a:r>
              <a:rPr lang="en-US" dirty="0">
                <a:latin typeface="Cambria" panose="02040503050406030204" pitchFamily="18" charset="0"/>
              </a:rPr>
              <a:t>iii. There is a requirement to furnish a break-up of salary. Until now, these details would appear only in Form 16 and the requirement to disclose them in the return had never arisen </a:t>
            </a:r>
            <a:br>
              <a:rPr lang="en-US" dirty="0">
                <a:latin typeface="Cambria" panose="02040503050406030204" pitchFamily="18" charset="0"/>
              </a:rPr>
            </a:br>
            <a:br>
              <a:rPr lang="en-US" dirty="0">
                <a:latin typeface="Cambria" panose="02040503050406030204" pitchFamily="18" charset="0"/>
              </a:rPr>
            </a:br>
            <a:r>
              <a:rPr lang="en-US" dirty="0">
                <a:latin typeface="Cambria" panose="02040503050406030204" pitchFamily="18" charset="0"/>
              </a:rPr>
              <a:t>iv. There is also a requirement to furnish a break up of Income under House Property which was earlier mandatory only for ITR -2 and other forms </a:t>
            </a:r>
            <a:br>
              <a:rPr lang="en-US" dirty="0"/>
            </a:br>
            <a:endParaRPr lang="en-IN" dirty="0"/>
          </a:p>
        </p:txBody>
      </p:sp>
      <p:sp>
        <p:nvSpPr>
          <p:cNvPr id="6" name="Slide Number Placeholder 5"/>
          <p:cNvSpPr>
            <a:spLocks noGrp="1"/>
          </p:cNvSpPr>
          <p:nvPr>
            <p:ph type="sldNum" sz="quarter" idx="12"/>
          </p:nvPr>
        </p:nvSpPr>
        <p:spPr/>
        <p:txBody>
          <a:bodyPr/>
          <a:lstStyle/>
          <a:p>
            <a:fld id="{94013DF8-6EF8-4A98-8821-E6468C17C0C3}" type="slidenum">
              <a:rPr lang="en-IN" smtClean="0"/>
              <a:t>69</a:t>
            </a:fld>
            <a:endParaRPr lang="en-IN"/>
          </a:p>
        </p:txBody>
      </p:sp>
    </p:spTree>
    <p:extLst>
      <p:ext uri="{BB962C8B-B14F-4D97-AF65-F5344CB8AC3E}">
        <p14:creationId xmlns:p14="http://schemas.microsoft.com/office/powerpoint/2010/main" val="10887277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588385"/>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122"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866" y="724533"/>
            <a:ext cx="1298516" cy="9934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1474413" y="1246909"/>
            <a:ext cx="9539952" cy="5096884"/>
          </a:xfrm>
          <a:prstGeom prst="rect">
            <a:avLst/>
          </a:prstGeom>
        </p:spPr>
      </p:pic>
      <p:sp>
        <p:nvSpPr>
          <p:cNvPr id="4" name="Slide Number Placeholder 3"/>
          <p:cNvSpPr>
            <a:spLocks noGrp="1"/>
          </p:cNvSpPr>
          <p:nvPr>
            <p:ph type="sldNum" sz="quarter" idx="12"/>
          </p:nvPr>
        </p:nvSpPr>
        <p:spPr/>
        <p:txBody>
          <a:bodyPr/>
          <a:lstStyle/>
          <a:p>
            <a:fld id="{94013DF8-6EF8-4A98-8821-E6468C17C0C3}" type="slidenum">
              <a:rPr lang="en-IN" smtClean="0"/>
              <a:t>70</a:t>
            </a:fld>
            <a:endParaRPr lang="en-IN"/>
          </a:p>
        </p:txBody>
      </p:sp>
    </p:spTree>
    <p:extLst>
      <p:ext uri="{BB962C8B-B14F-4D97-AF65-F5344CB8AC3E}">
        <p14:creationId xmlns:p14="http://schemas.microsoft.com/office/powerpoint/2010/main" val="1678056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76642" y="1343891"/>
            <a:ext cx="8841256" cy="4970779"/>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71</a:t>
            </a:fld>
            <a:endParaRPr lang="en-IN"/>
          </a:p>
        </p:txBody>
      </p:sp>
    </p:spTree>
    <p:extLst>
      <p:ext uri="{BB962C8B-B14F-4D97-AF65-F5344CB8AC3E}">
        <p14:creationId xmlns:p14="http://schemas.microsoft.com/office/powerpoint/2010/main" val="32470922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597026"/>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38274" y="1233054"/>
            <a:ext cx="9223597" cy="5185741"/>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72</a:t>
            </a:fld>
            <a:endParaRPr lang="en-IN"/>
          </a:p>
        </p:txBody>
      </p:sp>
    </p:spTree>
    <p:extLst>
      <p:ext uri="{BB962C8B-B14F-4D97-AF65-F5344CB8AC3E}">
        <p14:creationId xmlns:p14="http://schemas.microsoft.com/office/powerpoint/2010/main" val="16571370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366750" y="1316093"/>
            <a:ext cx="9093335" cy="5112505"/>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73</a:t>
            </a:fld>
            <a:endParaRPr lang="en-IN"/>
          </a:p>
        </p:txBody>
      </p:sp>
    </p:spTree>
    <p:extLst>
      <p:ext uri="{BB962C8B-B14F-4D97-AF65-F5344CB8AC3E}">
        <p14:creationId xmlns:p14="http://schemas.microsoft.com/office/powerpoint/2010/main" val="36675753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188556" y="1330036"/>
            <a:ext cx="9698643" cy="5043055"/>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74</a:t>
            </a:fld>
            <a:endParaRPr lang="en-IN"/>
          </a:p>
        </p:txBody>
      </p:sp>
    </p:spTree>
    <p:extLst>
      <p:ext uri="{BB962C8B-B14F-4D97-AF65-F5344CB8AC3E}">
        <p14:creationId xmlns:p14="http://schemas.microsoft.com/office/powerpoint/2010/main" val="40452868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58291" y="1284366"/>
            <a:ext cx="9421091" cy="5116434"/>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75</a:t>
            </a:fld>
            <a:endParaRPr lang="en-IN"/>
          </a:p>
        </p:txBody>
      </p:sp>
    </p:spTree>
    <p:extLst>
      <p:ext uri="{BB962C8B-B14F-4D97-AF65-F5344CB8AC3E}">
        <p14:creationId xmlns:p14="http://schemas.microsoft.com/office/powerpoint/2010/main" val="6846826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590694" y="1312749"/>
            <a:ext cx="8937435" cy="5024854"/>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76</a:t>
            </a:fld>
            <a:endParaRPr lang="en-IN"/>
          </a:p>
        </p:txBody>
      </p:sp>
    </p:spTree>
    <p:extLst>
      <p:ext uri="{BB962C8B-B14F-4D97-AF65-F5344CB8AC3E}">
        <p14:creationId xmlns:p14="http://schemas.microsoft.com/office/powerpoint/2010/main" val="39002500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327563" y="1312749"/>
            <a:ext cx="8883122" cy="4994317"/>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77</a:t>
            </a:fld>
            <a:endParaRPr lang="en-IN"/>
          </a:p>
        </p:txBody>
      </p:sp>
    </p:spTree>
    <p:extLst>
      <p:ext uri="{BB962C8B-B14F-4D97-AF65-F5344CB8AC3E}">
        <p14:creationId xmlns:p14="http://schemas.microsoft.com/office/powerpoint/2010/main" val="2959708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404252" y="1274617"/>
            <a:ext cx="9247474" cy="5199166"/>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78</a:t>
            </a:fld>
            <a:endParaRPr lang="en-IN"/>
          </a:p>
        </p:txBody>
      </p:sp>
    </p:spTree>
    <p:extLst>
      <p:ext uri="{BB962C8B-B14F-4D97-AF65-F5344CB8AC3E}">
        <p14:creationId xmlns:p14="http://schemas.microsoft.com/office/powerpoint/2010/main" val="41203976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133600" y="1302327"/>
            <a:ext cx="9698182" cy="5121718"/>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79</a:t>
            </a:fld>
            <a:endParaRPr lang="en-IN"/>
          </a:p>
        </p:txBody>
      </p:sp>
    </p:spTree>
    <p:extLst>
      <p:ext uri="{BB962C8B-B14F-4D97-AF65-F5344CB8AC3E}">
        <p14:creationId xmlns:p14="http://schemas.microsoft.com/office/powerpoint/2010/main" val="34465485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72145" y="1285040"/>
            <a:ext cx="9538909" cy="5160968"/>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80</a:t>
            </a:fld>
            <a:endParaRPr lang="en-IN"/>
          </a:p>
        </p:txBody>
      </p:sp>
    </p:spTree>
    <p:extLst>
      <p:ext uri="{BB962C8B-B14F-4D97-AF65-F5344CB8AC3E}">
        <p14:creationId xmlns:p14="http://schemas.microsoft.com/office/powerpoint/2010/main" val="14776749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86000" y="1312748"/>
            <a:ext cx="9019309" cy="5005251"/>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81</a:t>
            </a:fld>
            <a:endParaRPr lang="en-IN"/>
          </a:p>
        </p:txBody>
      </p:sp>
    </p:spTree>
    <p:extLst>
      <p:ext uri="{BB962C8B-B14F-4D97-AF65-F5344CB8AC3E}">
        <p14:creationId xmlns:p14="http://schemas.microsoft.com/office/powerpoint/2010/main" val="842376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72145" y="1280477"/>
            <a:ext cx="9647580" cy="5139491"/>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82</a:t>
            </a:fld>
            <a:endParaRPr lang="en-IN"/>
          </a:p>
        </p:txBody>
      </p:sp>
    </p:spTree>
    <p:extLst>
      <p:ext uri="{BB962C8B-B14F-4D97-AF65-F5344CB8AC3E}">
        <p14:creationId xmlns:p14="http://schemas.microsoft.com/office/powerpoint/2010/main" val="2735081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86000" y="1281728"/>
            <a:ext cx="9247961" cy="4965758"/>
          </a:xfrm>
          <a:prstGeom prst="rect">
            <a:avLst/>
          </a:prstGeom>
        </p:spPr>
      </p:pic>
      <p:sp>
        <p:nvSpPr>
          <p:cNvPr id="5" name="TextBox 4"/>
          <p:cNvSpPr txBox="1"/>
          <p:nvPr/>
        </p:nvSpPr>
        <p:spPr>
          <a:xfrm>
            <a:off x="152400" y="2507673"/>
            <a:ext cx="2410691" cy="369332"/>
          </a:xfrm>
          <a:prstGeom prst="rect">
            <a:avLst/>
          </a:prstGeom>
          <a:noFill/>
        </p:spPr>
        <p:txBody>
          <a:bodyPr wrap="square" rtlCol="0">
            <a:spAutoFit/>
          </a:bodyPr>
          <a:lstStyle/>
          <a:p>
            <a:r>
              <a:rPr lang="en-IN" b="1" dirty="0">
                <a:ln w="13462">
                  <a:noFill/>
                  <a:prstDash val="solid"/>
                </a:ln>
                <a:solidFill>
                  <a:srgbClr val="7030A0"/>
                </a:solidFill>
                <a:effectLst>
                  <a:outerShdw dist="38100" dir="2700000" algn="bl" rotWithShape="0">
                    <a:schemeClr val="accent5"/>
                  </a:outerShdw>
                </a:effectLst>
              </a:rPr>
              <a:t>Limit- </a:t>
            </a:r>
            <a:r>
              <a:rPr lang="en-IN" b="1" dirty="0" err="1">
                <a:ln w="13462">
                  <a:noFill/>
                  <a:prstDash val="solid"/>
                </a:ln>
                <a:solidFill>
                  <a:srgbClr val="7030A0"/>
                </a:solidFill>
                <a:effectLst>
                  <a:outerShdw dist="38100" dir="2700000" algn="bl" rotWithShape="0">
                    <a:schemeClr val="accent5"/>
                  </a:outerShdw>
                </a:effectLst>
              </a:rPr>
              <a:t>Rs</a:t>
            </a:r>
            <a:r>
              <a:rPr lang="en-IN" b="1" dirty="0">
                <a:ln w="13462">
                  <a:noFill/>
                  <a:prstDash val="solid"/>
                </a:ln>
                <a:solidFill>
                  <a:srgbClr val="7030A0"/>
                </a:solidFill>
                <a:effectLst>
                  <a:outerShdw dist="38100" dir="2700000" algn="bl" rotWithShape="0">
                    <a:schemeClr val="accent5"/>
                  </a:outerShdw>
                </a:effectLst>
              </a:rPr>
              <a:t>. 1,50,000/-</a:t>
            </a:r>
          </a:p>
        </p:txBody>
      </p:sp>
      <p:sp>
        <p:nvSpPr>
          <p:cNvPr id="7" name="Slide Number Placeholder 6"/>
          <p:cNvSpPr>
            <a:spLocks noGrp="1"/>
          </p:cNvSpPr>
          <p:nvPr>
            <p:ph type="sldNum" sz="quarter" idx="12"/>
          </p:nvPr>
        </p:nvSpPr>
        <p:spPr/>
        <p:txBody>
          <a:bodyPr/>
          <a:lstStyle/>
          <a:p>
            <a:fld id="{94013DF8-6EF8-4A98-8821-E6468C17C0C3}" type="slidenum">
              <a:rPr lang="en-IN" smtClean="0"/>
              <a:t>83</a:t>
            </a:fld>
            <a:endParaRPr lang="en-IN"/>
          </a:p>
        </p:txBody>
      </p:sp>
    </p:spTree>
    <p:extLst>
      <p:ext uri="{BB962C8B-B14F-4D97-AF65-F5344CB8AC3E}">
        <p14:creationId xmlns:p14="http://schemas.microsoft.com/office/powerpoint/2010/main" val="3542323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133601" y="1316182"/>
            <a:ext cx="9899126" cy="5143146"/>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84</a:t>
            </a:fld>
            <a:endParaRPr lang="en-IN"/>
          </a:p>
        </p:txBody>
      </p:sp>
    </p:spTree>
    <p:extLst>
      <p:ext uri="{BB962C8B-B14F-4D97-AF65-F5344CB8AC3E}">
        <p14:creationId xmlns:p14="http://schemas.microsoft.com/office/powerpoint/2010/main" val="32734662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30582" y="1273657"/>
            <a:ext cx="9705161" cy="5183860"/>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85</a:t>
            </a:fld>
            <a:endParaRPr lang="en-IN"/>
          </a:p>
        </p:txBody>
      </p:sp>
    </p:spTree>
    <p:extLst>
      <p:ext uri="{BB962C8B-B14F-4D97-AF65-F5344CB8AC3E}">
        <p14:creationId xmlns:p14="http://schemas.microsoft.com/office/powerpoint/2010/main" val="18472628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313708" y="1280988"/>
            <a:ext cx="9531928" cy="5098178"/>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86</a:t>
            </a:fld>
            <a:endParaRPr lang="en-IN"/>
          </a:p>
        </p:txBody>
      </p:sp>
    </p:spTree>
    <p:extLst>
      <p:ext uri="{BB962C8B-B14F-4D97-AF65-F5344CB8AC3E}">
        <p14:creationId xmlns:p14="http://schemas.microsoft.com/office/powerpoint/2010/main" val="29705449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563091" y="1174205"/>
            <a:ext cx="9462654" cy="5112545"/>
          </a:xfrm>
          <a:prstGeom prst="rect">
            <a:avLst/>
          </a:prstGeom>
        </p:spPr>
      </p:pic>
      <p:sp>
        <p:nvSpPr>
          <p:cNvPr id="6" name="TextBox 5"/>
          <p:cNvSpPr txBox="1"/>
          <p:nvPr/>
        </p:nvSpPr>
        <p:spPr>
          <a:xfrm>
            <a:off x="152400" y="2507673"/>
            <a:ext cx="2410691" cy="923330"/>
          </a:xfrm>
          <a:prstGeom prst="rect">
            <a:avLst/>
          </a:prstGeom>
          <a:noFill/>
        </p:spPr>
        <p:txBody>
          <a:bodyPr wrap="square" rtlCol="0">
            <a:spAutoFit/>
          </a:bodyPr>
          <a:lstStyle/>
          <a:p>
            <a:r>
              <a:rPr lang="en-IN" b="1" dirty="0">
                <a:ln w="13462">
                  <a:noFill/>
                  <a:prstDash val="solid"/>
                </a:ln>
                <a:solidFill>
                  <a:srgbClr val="7030A0"/>
                </a:solidFill>
                <a:effectLst>
                  <a:outerShdw dist="38100" dir="2700000" algn="bl" rotWithShape="0">
                    <a:schemeClr val="accent5"/>
                  </a:outerShdw>
                </a:effectLst>
              </a:rPr>
              <a:t>Rebate u/s 87A</a:t>
            </a:r>
          </a:p>
          <a:p>
            <a:r>
              <a:rPr lang="en-IN" b="1" dirty="0">
                <a:ln w="13462">
                  <a:noFill/>
                  <a:prstDash val="solid"/>
                </a:ln>
                <a:solidFill>
                  <a:srgbClr val="7030A0"/>
                </a:solidFill>
                <a:effectLst>
                  <a:outerShdw dist="38100" dir="2700000" algn="bl" rotWithShape="0">
                    <a:schemeClr val="accent5"/>
                  </a:outerShdw>
                </a:effectLst>
              </a:rPr>
              <a:t>Limit- Taxable Income-Rs.3,50,000/-</a:t>
            </a:r>
          </a:p>
        </p:txBody>
      </p:sp>
      <p:sp>
        <p:nvSpPr>
          <p:cNvPr id="7" name="Slide Number Placeholder 6"/>
          <p:cNvSpPr>
            <a:spLocks noGrp="1"/>
          </p:cNvSpPr>
          <p:nvPr>
            <p:ph type="sldNum" sz="quarter" idx="12"/>
          </p:nvPr>
        </p:nvSpPr>
        <p:spPr/>
        <p:txBody>
          <a:bodyPr/>
          <a:lstStyle/>
          <a:p>
            <a:fld id="{94013DF8-6EF8-4A98-8821-E6468C17C0C3}" type="slidenum">
              <a:rPr lang="en-IN" smtClean="0"/>
              <a:t>87</a:t>
            </a:fld>
            <a:endParaRPr lang="en-IN"/>
          </a:p>
        </p:txBody>
      </p:sp>
    </p:spTree>
    <p:extLst>
      <p:ext uri="{BB962C8B-B14F-4D97-AF65-F5344CB8AC3E}">
        <p14:creationId xmlns:p14="http://schemas.microsoft.com/office/powerpoint/2010/main" val="1464310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85999" y="1312749"/>
            <a:ext cx="9615055" cy="5069935"/>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88</a:t>
            </a:fld>
            <a:endParaRPr lang="en-IN"/>
          </a:p>
        </p:txBody>
      </p:sp>
    </p:spTree>
    <p:extLst>
      <p:ext uri="{BB962C8B-B14F-4D97-AF65-F5344CB8AC3E}">
        <p14:creationId xmlns:p14="http://schemas.microsoft.com/office/powerpoint/2010/main" val="28580411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30583" y="1271186"/>
            <a:ext cx="9788288" cy="5160493"/>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89</a:t>
            </a:fld>
            <a:endParaRPr lang="en-IN"/>
          </a:p>
        </p:txBody>
      </p:sp>
    </p:spTree>
    <p:extLst>
      <p:ext uri="{BB962C8B-B14F-4D97-AF65-F5344CB8AC3E}">
        <p14:creationId xmlns:p14="http://schemas.microsoft.com/office/powerpoint/2010/main" val="12656628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2299855" y="1271186"/>
            <a:ext cx="9628909" cy="4977214"/>
          </a:xfrm>
          <a:prstGeom prst="rect">
            <a:avLst/>
          </a:prstGeom>
        </p:spPr>
      </p:pic>
      <p:sp>
        <p:nvSpPr>
          <p:cNvPr id="5" name="Slide Number Placeholder 4"/>
          <p:cNvSpPr>
            <a:spLocks noGrp="1"/>
          </p:cNvSpPr>
          <p:nvPr>
            <p:ph type="sldNum" sz="quarter" idx="12"/>
          </p:nvPr>
        </p:nvSpPr>
        <p:spPr/>
        <p:txBody>
          <a:bodyPr/>
          <a:lstStyle/>
          <a:p>
            <a:fld id="{94013DF8-6EF8-4A98-8821-E6468C17C0C3}" type="slidenum">
              <a:rPr lang="en-IN" smtClean="0"/>
              <a:t>90</a:t>
            </a:fld>
            <a:endParaRPr lang="en-IN"/>
          </a:p>
        </p:txBody>
      </p:sp>
    </p:spTree>
    <p:extLst>
      <p:ext uri="{BB962C8B-B14F-4D97-AF65-F5344CB8AC3E}">
        <p14:creationId xmlns:p14="http://schemas.microsoft.com/office/powerpoint/2010/main" val="29722085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341418" y="1174205"/>
            <a:ext cx="9628909" cy="5182531"/>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91</a:t>
            </a:fld>
            <a:endParaRPr lang="en-IN"/>
          </a:p>
        </p:txBody>
      </p:sp>
    </p:spTree>
    <p:extLst>
      <p:ext uri="{BB962C8B-B14F-4D97-AF65-F5344CB8AC3E}">
        <p14:creationId xmlns:p14="http://schemas.microsoft.com/office/powerpoint/2010/main" val="42778592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286000" y="1333292"/>
            <a:ext cx="9719017" cy="5004705"/>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92</a:t>
            </a:fld>
            <a:endParaRPr lang="en-IN"/>
          </a:p>
        </p:txBody>
      </p:sp>
    </p:spTree>
    <p:extLst>
      <p:ext uri="{BB962C8B-B14F-4D97-AF65-F5344CB8AC3E}">
        <p14:creationId xmlns:p14="http://schemas.microsoft.com/office/powerpoint/2010/main" val="28550876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3144" y="643803"/>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mage result for Income Tax E-Filing ( IT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12" y="527604"/>
            <a:ext cx="1867188" cy="12932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327564" y="1346010"/>
            <a:ext cx="9767454" cy="4971663"/>
          </a:xfrm>
          <a:prstGeom prst="rect">
            <a:avLst/>
          </a:prstGeom>
        </p:spPr>
      </p:pic>
      <p:sp>
        <p:nvSpPr>
          <p:cNvPr id="6" name="Slide Number Placeholder 5"/>
          <p:cNvSpPr>
            <a:spLocks noGrp="1"/>
          </p:cNvSpPr>
          <p:nvPr>
            <p:ph type="sldNum" sz="quarter" idx="12"/>
          </p:nvPr>
        </p:nvSpPr>
        <p:spPr/>
        <p:txBody>
          <a:bodyPr/>
          <a:lstStyle/>
          <a:p>
            <a:fld id="{94013DF8-6EF8-4A98-8821-E6468C17C0C3}" type="slidenum">
              <a:rPr lang="en-IN" smtClean="0"/>
              <a:t>93</a:t>
            </a:fld>
            <a:endParaRPr lang="en-IN"/>
          </a:p>
        </p:txBody>
      </p:sp>
    </p:spTree>
    <p:extLst>
      <p:ext uri="{BB962C8B-B14F-4D97-AF65-F5344CB8AC3E}">
        <p14:creationId xmlns:p14="http://schemas.microsoft.com/office/powerpoint/2010/main" val="20735092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Custom 5">
      <a:dk1>
        <a:sysClr val="windowText" lastClr="000000"/>
      </a:dk1>
      <a:lt1>
        <a:srgbClr val="002060"/>
      </a:lt1>
      <a:dk2>
        <a:srgbClr val="1E5155"/>
      </a:dk2>
      <a:lt2>
        <a:srgbClr val="B01513"/>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Amit">
      <a:majorFont>
        <a:latin typeface="Times New Roman"/>
        <a:ea typeface=""/>
        <a:cs typeface=""/>
      </a:majorFont>
      <a:minorFont>
        <a:latin typeface="Times New Roman"/>
        <a:ea typeface=""/>
        <a:cs typeface=""/>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AF94F30A80A547A0A9DF8D665C8EAD" ma:contentTypeVersion="4" ma:contentTypeDescription="Create a new document." ma:contentTypeScope="" ma:versionID="a9ec2a32c0568b44b00ccb9df673238d">
  <xsd:schema xmlns:xsd="http://www.w3.org/2001/XMLSchema" xmlns:xs="http://www.w3.org/2001/XMLSchema" xmlns:p="http://schemas.microsoft.com/office/2006/metadata/properties" xmlns:ns2="1e389609-3559-4768-9a16-5272d0a7aad1" targetNamespace="http://schemas.microsoft.com/office/2006/metadata/properties" ma:root="true" ma:fieldsID="deab556f259a2451ee901d7c45641b2e" ns2:_="">
    <xsd:import namespace="1e389609-3559-4768-9a16-5272d0a7aa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389609-3559-4768-9a16-5272d0a7aa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4CA6AE-81F4-42B9-B503-D9DDB26EE8A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7B6AB3B-E08F-45A1-A6C5-A3D86DFC9D0D}">
  <ds:schemaRefs>
    <ds:schemaRef ds:uri="http://schemas.microsoft.com/sharepoint/v3/contenttype/forms"/>
  </ds:schemaRefs>
</ds:datastoreItem>
</file>

<file path=customXml/itemProps3.xml><?xml version="1.0" encoding="utf-8"?>
<ds:datastoreItem xmlns:ds="http://schemas.openxmlformats.org/officeDocument/2006/customXml" ds:itemID="{30F47FFF-3B96-444F-80EA-C55D94CFA6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389609-3559-4768-9a16-5272d0a7aa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2074</TotalTime>
  <Words>5525</Words>
  <Application>Microsoft Office PowerPoint</Application>
  <PresentationFormat>Widescreen</PresentationFormat>
  <Paragraphs>787</Paragraphs>
  <Slides>93</Slides>
  <Notes>21</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Ion</vt:lpstr>
      <vt:lpstr>Income Tax </vt:lpstr>
      <vt:lpstr>“In this world nothing can be said to be  certain, except death and taxes.”  Benjamin Franklin  </vt:lpstr>
      <vt:lpstr>Brief History of Income Tax in India</vt:lpstr>
      <vt:lpstr>PowerPoint Presentation</vt:lpstr>
      <vt:lpstr>Why should I pay tax?</vt:lpstr>
      <vt:lpstr>What Government Do from our TAX? </vt:lpstr>
      <vt:lpstr>What Government Do from our TAX?  </vt:lpstr>
      <vt:lpstr>Direct Taxes Personal Taxation </vt:lpstr>
      <vt:lpstr>Financial Year (FY 24-25)   Assessment Year (AY 25-26) </vt:lpstr>
      <vt:lpstr>Heads of Income</vt:lpstr>
      <vt:lpstr>Heads of Income - Income from Salary </vt:lpstr>
      <vt:lpstr>Heads of Income - Income from Salary </vt:lpstr>
      <vt:lpstr>Heads of Income - Income from Salary </vt:lpstr>
      <vt:lpstr>Heads of Income - Income from Salary </vt:lpstr>
      <vt:lpstr>Heads of Income - Income from Salary </vt:lpstr>
      <vt:lpstr>Section 10(13A): House Rent Allowance(HRA)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SALARY</vt:lpstr>
      <vt:lpstr>TAX SLAB</vt:lpstr>
      <vt:lpstr>Example - NEW TAX REGIME  </vt:lpstr>
      <vt:lpstr>TAX SLAB</vt:lpstr>
      <vt:lpstr>Example - OLD TAX REGIME  </vt:lpstr>
      <vt:lpstr>SURCHARGE</vt:lpstr>
      <vt:lpstr>SURCHARGE</vt:lpstr>
      <vt:lpstr>SURCHARGE</vt:lpstr>
      <vt:lpstr>SURCHARGE</vt:lpstr>
      <vt:lpstr>SURCHARGE</vt:lpstr>
      <vt:lpstr>SURCHARGE</vt:lpstr>
      <vt:lpstr>PowerPoint Presentation</vt:lpstr>
      <vt:lpstr>PowerPoint Presentation</vt:lpstr>
      <vt:lpstr>Important Terminologies</vt:lpstr>
      <vt:lpstr>Important Terminologies</vt:lpstr>
      <vt:lpstr>PowerPoint Presentation</vt:lpstr>
      <vt:lpstr>PowerPoint Presentation</vt:lpstr>
      <vt:lpstr>PowerPoint Presentation</vt:lpstr>
      <vt:lpstr>HEADS OF INCOME</vt:lpstr>
      <vt:lpstr>PowerPoint Presentation</vt:lpstr>
      <vt:lpstr>PowerPoint Presentation</vt:lpstr>
      <vt:lpstr>PowerPoint Presentation</vt:lpstr>
      <vt:lpstr>PowerPoint Presentation</vt:lpstr>
      <vt:lpstr>PowerPoint Presentation</vt:lpstr>
      <vt:lpstr>Income From Salary </vt:lpstr>
      <vt:lpstr>Income From Salary </vt:lpstr>
      <vt:lpstr>Income From Salary </vt:lpstr>
      <vt:lpstr>Income From Salary </vt:lpstr>
      <vt:lpstr>Income From Salary </vt:lpstr>
      <vt:lpstr>Income From Salary </vt:lpstr>
      <vt:lpstr>Income From Salary </vt:lpstr>
      <vt:lpstr>Income From Salary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Sharda_S</dc:creator>
  <cp:lastModifiedBy>Avadhut Samant</cp:lastModifiedBy>
  <cp:revision>352</cp:revision>
  <dcterms:created xsi:type="dcterms:W3CDTF">2018-08-03T02:39:05Z</dcterms:created>
  <dcterms:modified xsi:type="dcterms:W3CDTF">2024-11-14T14:31:19Z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0x010100ECAF94F30A80A547A0A9DF8D665C8EAD</vt:lpwstr>
  </property>
</Properties>
</file>