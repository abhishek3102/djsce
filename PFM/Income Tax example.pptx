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82" r:id="rId5"/>
    <p:sldId id="263" r:id="rId6"/>
    <p:sldId id="264" r:id="rId7"/>
    <p:sldId id="265" r:id="rId8"/>
    <p:sldId id="266" r:id="rId9"/>
    <p:sldId id="267" r:id="rId10"/>
    <p:sldId id="268" r:id="rId11"/>
    <p:sldId id="269" r:id="rId12"/>
    <p:sldId id="270" r:id="rId13"/>
    <p:sldId id="271" r:id="rId14"/>
    <p:sldId id="272" r:id="rId15"/>
    <p:sldId id="278" r:id="rId16"/>
    <p:sldId id="273" r:id="rId17"/>
    <p:sldId id="279" r:id="rId18"/>
    <p:sldId id="274" r:id="rId19"/>
    <p:sldId id="275" r:id="rId20"/>
    <p:sldId id="276" r:id="rId21"/>
    <p:sldId id="277" r:id="rId22"/>
    <p:sldId id="280" r:id="rId23"/>
    <p:sldId id="281" r:id="rId24"/>
    <p:sldId id="256" r:id="rId25"/>
    <p:sldId id="257" r:id="rId26"/>
    <p:sldId id="258" r:id="rId27"/>
    <p:sldId id="259" r:id="rId28"/>
    <p:sldId id="26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2D6857-8912-C802-4196-DCB004A3A734}" v="4" dt="2024-12-14T22:40:45.1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MOL SANTWANI - 60019230033" userId="S::anmol.santwani033@svkmmumbai.onmicrosoft.com::18069898-0988-46bd-b15f-751e5ecb472d" providerId="AD" clId="Web-{812D6857-8912-C802-4196-DCB004A3A734}"/>
    <pc:docChg chg="modSld">
      <pc:chgData name="ANMOL SANTWANI - 60019230033" userId="S::anmol.santwani033@svkmmumbai.onmicrosoft.com::18069898-0988-46bd-b15f-751e5ecb472d" providerId="AD" clId="Web-{812D6857-8912-C802-4196-DCB004A3A734}" dt="2024-12-14T22:40:45.155" v="1" actId="20577"/>
      <pc:docMkLst>
        <pc:docMk/>
      </pc:docMkLst>
      <pc:sldChg chg="modSp">
        <pc:chgData name="ANMOL SANTWANI - 60019230033" userId="S::anmol.santwani033@svkmmumbai.onmicrosoft.com::18069898-0988-46bd-b15f-751e5ecb472d" providerId="AD" clId="Web-{812D6857-8912-C802-4196-DCB004A3A734}" dt="2024-12-14T22:40:45.155" v="1" actId="20577"/>
        <pc:sldMkLst>
          <pc:docMk/>
          <pc:sldMk cId="886657886" sldId="271"/>
        </pc:sldMkLst>
        <pc:spChg chg="mod">
          <ac:chgData name="ANMOL SANTWANI - 60019230033" userId="S::anmol.santwani033@svkmmumbai.onmicrosoft.com::18069898-0988-46bd-b15f-751e5ecb472d" providerId="AD" clId="Web-{812D6857-8912-C802-4196-DCB004A3A734}" dt="2024-12-14T22:40:45.155" v="1" actId="20577"/>
          <ac:spMkLst>
            <pc:docMk/>
            <pc:sldMk cId="886657886" sldId="271"/>
            <ac:spMk id="2" creationId="{00000000-0000-0000-0000-000000000000}"/>
          </ac:spMkLst>
        </pc:spChg>
      </pc:sldChg>
    </pc:docChg>
  </pc:docChgLst>
  <pc:docChgLst>
    <pc:chgData name="ZAINAB HOTELWALA - 60003230044" userId="S::zainab.hotelwala044@svkmmumbai.onmicrosoft.com::56fc5344-25c1-47e2-b4c5-9ddadfed2fa7" providerId="AD" clId="Web-{C849E47A-0076-4054-995C-7FA6B2AA1C86}"/>
    <pc:docChg chg="addSld delSld">
      <pc:chgData name="ZAINAB HOTELWALA - 60003230044" userId="S::zainab.hotelwala044@svkmmumbai.onmicrosoft.com::56fc5344-25c1-47e2-b4c5-9ddadfed2fa7" providerId="AD" clId="Web-{C849E47A-0076-4054-995C-7FA6B2AA1C86}" dt="2024-11-10T18:14:20.255" v="1"/>
      <pc:docMkLst>
        <pc:docMk/>
      </pc:docMkLst>
      <pc:sldChg chg="new del">
        <pc:chgData name="ZAINAB HOTELWALA - 60003230044" userId="S::zainab.hotelwala044@svkmmumbai.onmicrosoft.com::56fc5344-25c1-47e2-b4c5-9ddadfed2fa7" providerId="AD" clId="Web-{C849E47A-0076-4054-995C-7FA6B2AA1C86}" dt="2024-11-10T18:14:20.255" v="1"/>
        <pc:sldMkLst>
          <pc:docMk/>
          <pc:sldMk cId="265856647" sldId="28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FD0ED3F-1B4A-41B9-B8DE-20F08FAE5759}"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704972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D0ED3F-1B4A-41B9-B8DE-20F08FAE5759}"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731268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FD0ED3F-1B4A-41B9-B8DE-20F08FAE5759}"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3454107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FD0ED3F-1B4A-41B9-B8DE-20F08FAE5759}" type="datetimeFigureOut">
              <a:rPr lang="en-IN" smtClean="0"/>
              <a:t>14-12-2024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3951171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FD0ED3F-1B4A-41B9-B8DE-20F08FAE5759}" type="datetimeFigureOut">
              <a:rPr lang="en-IN" smtClean="0"/>
              <a:t>14-12-2024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4094403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FD0ED3F-1B4A-41B9-B8DE-20F08FAE5759}" type="datetimeFigureOut">
              <a:rPr lang="en-IN" smtClean="0"/>
              <a:t>14-12-2024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239066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D0ED3F-1B4A-41B9-B8DE-20F08FAE5759}" type="datetimeFigureOut">
              <a:rPr lang="en-IN" smtClean="0"/>
              <a:t>14-12-2024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254493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FD0ED3F-1B4A-41B9-B8DE-20F08FAE5759}" type="datetimeFigureOut">
              <a:rPr lang="en-IN" smtClean="0"/>
              <a:t>14-12-2024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3176432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FD0ED3F-1B4A-41B9-B8DE-20F08FAE5759}" type="datetimeFigureOut">
              <a:rPr lang="en-IN" smtClean="0"/>
              <a:t>14-12-2024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2073473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D0ED3F-1B4A-41B9-B8DE-20F08FAE5759}"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1559707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D0ED3F-1B4A-41B9-B8DE-20F08FAE5759}" type="datetimeFigureOut">
              <a:rPr lang="en-IN" smtClean="0"/>
              <a:t>14-12-2024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9DE0E-EC79-4B3D-9280-7C715A12126A}" type="slidenum">
              <a:rPr lang="en-IN" smtClean="0"/>
              <a:t>‹#›</a:t>
            </a:fld>
            <a:endParaRPr lang="en-IN"/>
          </a:p>
        </p:txBody>
      </p:sp>
    </p:spTree>
    <p:extLst>
      <p:ext uri="{BB962C8B-B14F-4D97-AF65-F5344CB8AC3E}">
        <p14:creationId xmlns:p14="http://schemas.microsoft.com/office/powerpoint/2010/main" val="3011324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D0ED3F-1B4A-41B9-B8DE-20F08FAE5759}" type="datetimeFigureOut">
              <a:rPr lang="en-IN" smtClean="0"/>
              <a:t>14-12-2024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F9DE0E-EC79-4B3D-9280-7C715A12126A}" type="slidenum">
              <a:rPr lang="en-IN" smtClean="0"/>
              <a:t>‹#›</a:t>
            </a:fld>
            <a:endParaRPr lang="en-IN"/>
          </a:p>
        </p:txBody>
      </p:sp>
    </p:spTree>
    <p:extLst>
      <p:ext uri="{BB962C8B-B14F-4D97-AF65-F5344CB8AC3E}">
        <p14:creationId xmlns:p14="http://schemas.microsoft.com/office/powerpoint/2010/main" val="1641031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only30sec.com/excel-income-tax-calculator/"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life.futuregenerali.in/life-insurance-made-simple/tax-hacks/blogs/how-to-calculate-income-from-house-property/" TargetMode="External"/><Relationship Id="rId2" Type="http://schemas.openxmlformats.org/officeDocument/2006/relationships/hyperlink" Target="https://life.futuregenerali.in/life-insurance-made-simple/tax-hacks/blogs/income-from-salary/" TargetMode="External"/><Relationship Id="rId1" Type="http://schemas.openxmlformats.org/officeDocument/2006/relationships/slideLayout" Target="../slideLayouts/slideLayout7.xml"/><Relationship Id="rId4" Type="http://schemas.openxmlformats.org/officeDocument/2006/relationships/hyperlink" Target="https://life.futuregenerali.in/life-insurance-made-simple/tax-hacks/videos/what-is-covered-under-income-from-other-source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life.futuregenerali.in/life-insurance-made-simple/tax-hacks/blogs/deductions-under-chapter-vi-a/" TargetMode="External"/><Relationship Id="rId2" Type="http://schemas.openxmlformats.org/officeDocument/2006/relationships/hyperlink" Target="https://life.futuregenerali.in/life-insurance-made-simple/tax-hacks/blogs/save-income-tax-section-80/" TargetMode="External"/><Relationship Id="rId1" Type="http://schemas.openxmlformats.org/officeDocument/2006/relationships/slideLayout" Target="../slideLayouts/slideLayout7.xml"/><Relationship Id="rId4" Type="http://schemas.openxmlformats.org/officeDocument/2006/relationships/hyperlink" Target="https://life.futuregenerali.in/life-insurance-made-simple/tax-hacks/blogs/section-80c-deduction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life.futuregenerali.in/life-insurance-made-simple/tax-hacks/blogs/tds-tax-deducted-at-source/"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life.futuregenerali.in/life-insurance-made-simple/tax-hacks/blogs/old-tax-regime/" TargetMode="External"/><Relationship Id="rId2" Type="http://schemas.openxmlformats.org/officeDocument/2006/relationships/hyperlink" Target="https://life.futuregenerali.in/life-insurance-made-simple/tax-hacks/blogs/income-tax-slabs/"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www.bankbazaar.com/tax/income-tax-slabs.html"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3F6B0C-DFFB-D734-B87B-9758DCAA1674}"/>
              </a:ext>
            </a:extLst>
          </p:cNvPr>
          <p:cNvSpPr txBox="1"/>
          <p:nvPr/>
        </p:nvSpPr>
        <p:spPr>
          <a:xfrm>
            <a:off x="3048000" y="3105835"/>
            <a:ext cx="6096000" cy="646331"/>
          </a:xfrm>
          <a:prstGeom prst="rect">
            <a:avLst/>
          </a:prstGeom>
          <a:noFill/>
        </p:spPr>
        <p:txBody>
          <a:bodyPr wrap="square">
            <a:spAutoFit/>
          </a:bodyPr>
          <a:lstStyle/>
          <a:p>
            <a:r>
              <a:rPr lang="en-US">
                <a:hlinkClick r:id="rId2"/>
              </a:rPr>
              <a:t>Free Excel Income tax calculator for FY 24-25, FY 23-24 (AY 24-25) with 2 case studies each - only30sec.com</a:t>
            </a:r>
            <a:endParaRPr lang="en-IN"/>
          </a:p>
        </p:txBody>
      </p:sp>
    </p:spTree>
    <p:extLst>
      <p:ext uri="{BB962C8B-B14F-4D97-AF65-F5344CB8AC3E}">
        <p14:creationId xmlns:p14="http://schemas.microsoft.com/office/powerpoint/2010/main" val="4003117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3791" y="488146"/>
            <a:ext cx="10108734" cy="2862322"/>
          </a:xfrm>
          <a:prstGeom prst="rect">
            <a:avLst/>
          </a:prstGeom>
        </p:spPr>
        <p:txBody>
          <a:bodyPr wrap="square">
            <a:spAutoFit/>
          </a:bodyPr>
          <a:lstStyle/>
          <a:p>
            <a:pPr algn="just">
              <a:lnSpc>
                <a:spcPct val="150000"/>
              </a:lnSpc>
            </a:pPr>
            <a:r>
              <a:rPr lang="en-US" sz="2400">
                <a:solidFill>
                  <a:srgbClr val="314351"/>
                </a:solidFill>
                <a:latin typeface="Roboto"/>
              </a:rPr>
              <a:t>Income tax is seen by many as a necessary evil. </a:t>
            </a:r>
          </a:p>
          <a:p>
            <a:pPr algn="just">
              <a:lnSpc>
                <a:spcPct val="150000"/>
              </a:lnSpc>
            </a:pPr>
            <a:r>
              <a:rPr lang="en-US" sz="2400">
                <a:solidFill>
                  <a:srgbClr val="314351"/>
                </a:solidFill>
                <a:latin typeface="Roboto"/>
              </a:rPr>
              <a:t>The constantly changing tax laws and terms like tax exemption, tax saving, tax deduction, tax rebate, etc., make taxes difficult to understand. In most cases, we do not realise how much money we are taxed on and how much money we can save.</a:t>
            </a:r>
            <a:endParaRPr lang="en-IN" sz="2400"/>
          </a:p>
        </p:txBody>
      </p:sp>
    </p:spTree>
    <p:extLst>
      <p:ext uri="{BB962C8B-B14F-4D97-AF65-F5344CB8AC3E}">
        <p14:creationId xmlns:p14="http://schemas.microsoft.com/office/powerpoint/2010/main" val="3915121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1729" y="235989"/>
            <a:ext cx="10855354" cy="5078313"/>
          </a:xfrm>
          <a:prstGeom prst="rect">
            <a:avLst/>
          </a:prstGeom>
        </p:spPr>
        <p:txBody>
          <a:bodyPr wrap="square">
            <a:spAutoFit/>
          </a:bodyPr>
          <a:lstStyle/>
          <a:p>
            <a:pPr algn="just">
              <a:lnSpc>
                <a:spcPct val="150000"/>
              </a:lnSpc>
            </a:pPr>
            <a:r>
              <a:rPr lang="en-US" sz="2400">
                <a:latin typeface="Roboto"/>
              </a:rPr>
              <a:t>What is Income Tax?</a:t>
            </a:r>
          </a:p>
          <a:p>
            <a:pPr algn="just">
              <a:lnSpc>
                <a:spcPct val="150000"/>
              </a:lnSpc>
            </a:pPr>
            <a:r>
              <a:rPr lang="en-US" sz="2400">
                <a:latin typeface="Roboto"/>
              </a:rPr>
              <a:t>According to the Income Tax Act, 1961, An </a:t>
            </a:r>
            <a:r>
              <a:rPr lang="en-US" sz="2400" b="1">
                <a:latin typeface="Roboto"/>
              </a:rPr>
              <a:t>income tax</a:t>
            </a:r>
            <a:r>
              <a:rPr lang="en-US" sz="2400">
                <a:latin typeface="Roboto"/>
              </a:rPr>
              <a:t> is a tax central government charges on individuals or entities (taxpayers) in respect of the income or profits earned by them (commonly called taxable income). Income tax is collected by the Government of India and is undoubtedly the most important source of revenue for the Indian Government. The Government utilize the taxes in order to meet its objectives which includes fulfilling the development &amp; defence needs of the country, creating of new employment opportunities, building infrastructure and so on.</a:t>
            </a:r>
            <a:endParaRPr lang="en-US" sz="2400" b="0" i="0">
              <a:effectLst/>
              <a:latin typeface="Roboto"/>
            </a:endParaRPr>
          </a:p>
        </p:txBody>
      </p:sp>
    </p:spTree>
    <p:extLst>
      <p:ext uri="{BB962C8B-B14F-4D97-AF65-F5344CB8AC3E}">
        <p14:creationId xmlns:p14="http://schemas.microsoft.com/office/powerpoint/2010/main" val="3214106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0510" y="248654"/>
            <a:ext cx="10805020" cy="5078313"/>
          </a:xfrm>
          <a:prstGeom prst="rect">
            <a:avLst/>
          </a:prstGeom>
        </p:spPr>
        <p:txBody>
          <a:bodyPr wrap="square">
            <a:spAutoFit/>
          </a:bodyPr>
          <a:lstStyle/>
          <a:p>
            <a:pPr algn="just">
              <a:lnSpc>
                <a:spcPct val="150000"/>
              </a:lnSpc>
            </a:pPr>
            <a:r>
              <a:rPr lang="en-US" sz="2400">
                <a:latin typeface="Roboto"/>
              </a:rPr>
              <a:t>Income tax generally is computed as the product of a tax rate times the taxable income. Taxation rates may vary by type or characteristics of the taxpayer and the type of income.</a:t>
            </a:r>
          </a:p>
          <a:p>
            <a:pPr algn="just">
              <a:lnSpc>
                <a:spcPct val="150000"/>
              </a:lnSpc>
            </a:pPr>
            <a:r>
              <a:rPr lang="en-US" sz="2400">
                <a:latin typeface="Roboto"/>
              </a:rPr>
              <a:t>As per the income tax act 1961, assesse income is divided into 5 categories:</a:t>
            </a:r>
          </a:p>
          <a:p>
            <a:pPr algn="just">
              <a:lnSpc>
                <a:spcPct val="150000"/>
              </a:lnSpc>
              <a:buFont typeface="+mj-lt"/>
              <a:buAutoNum type="arabicPeriod"/>
            </a:pPr>
            <a:r>
              <a:rPr lang="en-US" sz="2400">
                <a:solidFill>
                  <a:srgbClr val="212529"/>
                </a:solidFill>
                <a:latin typeface="Roboto"/>
                <a:hlinkClick r:id="rId2" tooltip="Income from Salary"/>
              </a:rPr>
              <a:t>Income from Salary</a:t>
            </a:r>
            <a:endParaRPr lang="en-US" sz="2400">
              <a:solidFill>
                <a:srgbClr val="212529"/>
              </a:solidFill>
              <a:latin typeface="Roboto"/>
            </a:endParaRPr>
          </a:p>
          <a:p>
            <a:pPr algn="just">
              <a:lnSpc>
                <a:spcPct val="150000"/>
              </a:lnSpc>
              <a:buFont typeface="+mj-lt"/>
              <a:buAutoNum type="arabicPeriod"/>
            </a:pPr>
            <a:r>
              <a:rPr lang="en-US" sz="2400">
                <a:solidFill>
                  <a:srgbClr val="212529"/>
                </a:solidFill>
                <a:latin typeface="Roboto"/>
                <a:hlinkClick r:id="rId3" tooltip="how-to-calculate-income-from-house-property"/>
              </a:rPr>
              <a:t>Income from House Property</a:t>
            </a:r>
            <a:endParaRPr lang="en-US" sz="2400">
              <a:solidFill>
                <a:srgbClr val="212529"/>
              </a:solidFill>
              <a:latin typeface="Roboto"/>
            </a:endParaRPr>
          </a:p>
          <a:p>
            <a:pPr algn="just">
              <a:lnSpc>
                <a:spcPct val="150000"/>
              </a:lnSpc>
              <a:buFont typeface="+mj-lt"/>
              <a:buAutoNum type="arabicPeriod"/>
            </a:pPr>
            <a:r>
              <a:rPr lang="en-US" sz="2400">
                <a:solidFill>
                  <a:srgbClr val="212529"/>
                </a:solidFill>
                <a:latin typeface="Roboto"/>
              </a:rPr>
              <a:t>Income from Profits and Gains of Profession or Business</a:t>
            </a:r>
          </a:p>
          <a:p>
            <a:pPr algn="just">
              <a:lnSpc>
                <a:spcPct val="150000"/>
              </a:lnSpc>
              <a:buFont typeface="+mj-lt"/>
              <a:buAutoNum type="arabicPeriod"/>
            </a:pPr>
            <a:r>
              <a:rPr lang="en-US" sz="2400">
                <a:solidFill>
                  <a:srgbClr val="212529"/>
                </a:solidFill>
                <a:latin typeface="Roboto"/>
              </a:rPr>
              <a:t>Income from Capital Gain</a:t>
            </a:r>
          </a:p>
          <a:p>
            <a:pPr algn="just">
              <a:lnSpc>
                <a:spcPct val="150000"/>
              </a:lnSpc>
              <a:buFont typeface="+mj-lt"/>
              <a:buAutoNum type="arabicPeriod"/>
            </a:pPr>
            <a:r>
              <a:rPr lang="en-US" sz="2400">
                <a:solidFill>
                  <a:srgbClr val="212529"/>
                </a:solidFill>
                <a:latin typeface="Roboto"/>
                <a:hlinkClick r:id="rId4" tooltip="what-is-covered-under-income-from-other-sources"/>
              </a:rPr>
              <a:t>Income from Other Sources</a:t>
            </a:r>
            <a:endParaRPr lang="en-US" sz="2400" b="0" i="0">
              <a:solidFill>
                <a:srgbClr val="212529"/>
              </a:solidFill>
              <a:effectLst/>
              <a:latin typeface="Roboto"/>
            </a:endParaRPr>
          </a:p>
        </p:txBody>
      </p:sp>
    </p:spTree>
    <p:extLst>
      <p:ext uri="{BB962C8B-B14F-4D97-AF65-F5344CB8AC3E}">
        <p14:creationId xmlns:p14="http://schemas.microsoft.com/office/powerpoint/2010/main" val="1620561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9233" y="105554"/>
            <a:ext cx="10880521" cy="5632311"/>
          </a:xfrm>
          <a:prstGeom prst="rect">
            <a:avLst/>
          </a:prstGeom>
        </p:spPr>
        <p:txBody>
          <a:bodyPr wrap="square">
            <a:spAutoFit/>
          </a:bodyPr>
          <a:lstStyle/>
          <a:p>
            <a:pPr algn="just">
              <a:lnSpc>
                <a:spcPct val="150000"/>
              </a:lnSpc>
            </a:pPr>
            <a:r>
              <a:rPr lang="en-US" sz="2000">
                <a:latin typeface="Roboto"/>
              </a:rPr>
              <a:t>Components for Calculating Income Tax</a:t>
            </a:r>
          </a:p>
          <a:p>
            <a:pPr algn="just">
              <a:lnSpc>
                <a:spcPct val="150000"/>
              </a:lnSpc>
            </a:pPr>
            <a:r>
              <a:rPr lang="en-US" sz="2000">
                <a:latin typeface="Roboto"/>
              </a:rPr>
              <a:t>A few key components should be remembered when calculating income taxes. Here's a list of these key components:</a:t>
            </a:r>
          </a:p>
          <a:p>
            <a:pPr algn="just">
              <a:lnSpc>
                <a:spcPct val="150000"/>
              </a:lnSpc>
              <a:buFont typeface="Arial" panose="020B0604020202020204" pitchFamily="34" charset="0"/>
              <a:buChar char="•"/>
            </a:pPr>
            <a:r>
              <a:rPr lang="en-US" sz="2000" b="1">
                <a:solidFill>
                  <a:srgbClr val="212529"/>
                </a:solidFill>
                <a:latin typeface="Roboto"/>
              </a:rPr>
              <a:t>Financial Year (FY) </a:t>
            </a:r>
            <a:r>
              <a:rPr lang="en-US" sz="2000">
                <a:solidFill>
                  <a:srgbClr val="212529"/>
                </a:solidFill>
                <a:latin typeface="Roboto"/>
              </a:rPr>
              <a:t>-The year in which money is earned is referred to as the financial year. It is the time period from April 1st of this year to March 31st of the next year. You must prepare all of your investment proofs and gather all of your documentation throughout this time.</a:t>
            </a:r>
          </a:p>
          <a:p>
            <a:pPr marL="742950" lvl="1" indent="-285750" algn="just">
              <a:lnSpc>
                <a:spcPct val="150000"/>
              </a:lnSpc>
              <a:buFont typeface="Arial" panose="020B0604020202020204" pitchFamily="34" charset="0"/>
              <a:buChar char="•"/>
            </a:pPr>
            <a:r>
              <a:rPr lang="en-US" sz="2000">
                <a:solidFill>
                  <a:srgbClr val="212529"/>
                </a:solidFill>
                <a:latin typeface="Roboto"/>
              </a:rPr>
              <a:t>For example - FY 2022-23 is period between 1st April 2022 to 31st March 2023</a:t>
            </a:r>
          </a:p>
          <a:p>
            <a:pPr lvl="1" algn="just">
              <a:lnSpc>
                <a:spcPct val="150000"/>
              </a:lnSpc>
            </a:pPr>
            <a:endParaRPr lang="en-US" sz="2000">
              <a:solidFill>
                <a:srgbClr val="212529"/>
              </a:solidFill>
              <a:latin typeface="Roboto"/>
            </a:endParaRPr>
          </a:p>
          <a:p>
            <a:pPr algn="just">
              <a:lnSpc>
                <a:spcPct val="150000"/>
              </a:lnSpc>
              <a:buFont typeface="Arial" panose="020B0604020202020204" pitchFamily="34" charset="0"/>
              <a:buChar char="•"/>
            </a:pPr>
            <a:r>
              <a:rPr lang="en-US" sz="2000" b="1">
                <a:solidFill>
                  <a:srgbClr val="212529"/>
                </a:solidFill>
                <a:latin typeface="Roboto"/>
              </a:rPr>
              <a:t>Assessment Year (AY) </a:t>
            </a:r>
            <a:r>
              <a:rPr lang="en-US" sz="2000">
                <a:solidFill>
                  <a:srgbClr val="212529"/>
                </a:solidFill>
                <a:latin typeface="Roboto"/>
              </a:rPr>
              <a:t>- A year in which your income from a particular financial year will be assessed is called an assessment year.</a:t>
            </a:r>
          </a:p>
          <a:p>
            <a:pPr marL="742950" lvl="1" indent="-285750" algn="just">
              <a:lnSpc>
                <a:spcPct val="150000"/>
              </a:lnSpc>
              <a:buFont typeface="Arial" panose="020B0604020202020204" pitchFamily="34" charset="0"/>
              <a:buChar char="•"/>
            </a:pPr>
            <a:r>
              <a:rPr lang="en-US" sz="2000">
                <a:solidFill>
                  <a:srgbClr val="212529"/>
                </a:solidFill>
                <a:latin typeface="Roboto"/>
              </a:rPr>
              <a:t>For example - AY 2023-24 is the year when your income from 1st April 2022 to 31st March 2023 will be calculated.</a:t>
            </a:r>
            <a:endParaRPr lang="en-US" sz="2000" b="0" i="0">
              <a:solidFill>
                <a:srgbClr val="212529"/>
              </a:solidFill>
              <a:effectLst/>
              <a:latin typeface="Roboto"/>
            </a:endParaRPr>
          </a:p>
        </p:txBody>
      </p:sp>
    </p:spTree>
    <p:extLst>
      <p:ext uri="{BB962C8B-B14F-4D97-AF65-F5344CB8AC3E}">
        <p14:creationId xmlns:p14="http://schemas.microsoft.com/office/powerpoint/2010/main" val="3018304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0844" y="223487"/>
            <a:ext cx="10888910" cy="3970318"/>
          </a:xfrm>
          <a:prstGeom prst="rect">
            <a:avLst/>
          </a:prstGeom>
        </p:spPr>
        <p:txBody>
          <a:bodyPr wrap="square">
            <a:spAutoFit/>
          </a:bodyPr>
          <a:lstStyle/>
          <a:p>
            <a:pPr algn="just">
              <a:lnSpc>
                <a:spcPct val="150000"/>
              </a:lnSpc>
              <a:buFont typeface="Arial" panose="020B0604020202020204" pitchFamily="34" charset="0"/>
              <a:buChar char="•"/>
            </a:pPr>
            <a:r>
              <a:rPr lang="en-US" sz="2400" b="1">
                <a:solidFill>
                  <a:srgbClr val="212529"/>
                </a:solidFill>
                <a:latin typeface="Roboto"/>
              </a:rPr>
              <a:t>Tax Deductions</a:t>
            </a:r>
            <a:r>
              <a:rPr lang="en-US" sz="2400">
                <a:solidFill>
                  <a:srgbClr val="212529"/>
                </a:solidFill>
                <a:latin typeface="Roboto"/>
              </a:rPr>
              <a:t> - They allows you to reduce your total taxable income as per the </a:t>
            </a:r>
            <a:r>
              <a:rPr lang="en-US" sz="2400">
                <a:solidFill>
                  <a:srgbClr val="212529"/>
                </a:solidFill>
                <a:latin typeface="Roboto"/>
                <a:hlinkClick r:id="rId2" tooltip="save-income-tax-section-80"/>
              </a:rPr>
              <a:t>Section 80</a:t>
            </a:r>
            <a:r>
              <a:rPr lang="en-US" sz="2400">
                <a:solidFill>
                  <a:srgbClr val="212529"/>
                </a:solidFill>
                <a:latin typeface="Roboto"/>
              </a:rPr>
              <a:t> under the </a:t>
            </a:r>
            <a:r>
              <a:rPr lang="en-US" sz="2400">
                <a:solidFill>
                  <a:srgbClr val="212529"/>
                </a:solidFill>
                <a:latin typeface="Roboto"/>
                <a:hlinkClick r:id="rId3" tooltip="Deductions under Chapter VI A"/>
              </a:rPr>
              <a:t>Chapter VI-A</a:t>
            </a:r>
            <a:r>
              <a:rPr lang="en-US" sz="2400">
                <a:solidFill>
                  <a:srgbClr val="212529"/>
                </a:solidFill>
                <a:latin typeface="Roboto"/>
              </a:rPr>
              <a:t> of Income Tax Act.</a:t>
            </a:r>
          </a:p>
          <a:p>
            <a:pPr marL="742950" lvl="1" indent="-285750" algn="just">
              <a:lnSpc>
                <a:spcPct val="150000"/>
              </a:lnSpc>
              <a:buFont typeface="Arial" panose="020B0604020202020204" pitchFamily="34" charset="0"/>
              <a:buChar char="•"/>
            </a:pPr>
            <a:r>
              <a:rPr lang="en-US" sz="2400">
                <a:solidFill>
                  <a:srgbClr val="212529"/>
                </a:solidFill>
                <a:latin typeface="Roboto"/>
              </a:rPr>
              <a:t>For example - As per tax provisions under </a:t>
            </a:r>
            <a:r>
              <a:rPr lang="en-US" sz="2400">
                <a:solidFill>
                  <a:srgbClr val="212529"/>
                </a:solidFill>
                <a:latin typeface="Roboto"/>
                <a:hlinkClick r:id="rId4" tooltip="Section 80C Deductions"/>
              </a:rPr>
              <a:t>Section 80C</a:t>
            </a:r>
            <a:r>
              <a:rPr lang="en-US" sz="2400">
                <a:solidFill>
                  <a:srgbClr val="212529"/>
                </a:solidFill>
                <a:latin typeface="Roboto"/>
              </a:rPr>
              <a:t> of Chapter VIA you can claim tax deduction of up to ₹ 1,50,000 on premiums paid for life insurance policies, other investments prescribed under Chapter VI. This is one of the most-opted ways of saving tax.</a:t>
            </a:r>
          </a:p>
          <a:p>
            <a:br>
              <a:rPr lang="en-US"/>
            </a:br>
            <a:endParaRPr lang="en-IN"/>
          </a:p>
        </p:txBody>
      </p:sp>
    </p:spTree>
    <p:extLst>
      <p:ext uri="{BB962C8B-B14F-4D97-AF65-F5344CB8AC3E}">
        <p14:creationId xmlns:p14="http://schemas.microsoft.com/office/powerpoint/2010/main" val="1092713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6285" y="562673"/>
            <a:ext cx="10167457" cy="5575309"/>
          </a:xfrm>
          <a:prstGeom prst="rect">
            <a:avLst/>
          </a:prstGeom>
        </p:spPr>
        <p:txBody>
          <a:bodyPr wrap="square">
            <a:spAutoFit/>
          </a:bodyPr>
          <a:lstStyle/>
          <a:p>
            <a:pPr algn="just">
              <a:lnSpc>
                <a:spcPct val="150000"/>
              </a:lnSpc>
              <a:buFont typeface="Arial" panose="020B0604020202020204" pitchFamily="34" charset="0"/>
              <a:buChar char="•"/>
            </a:pPr>
            <a:r>
              <a:rPr lang="en-US" sz="2000" b="1">
                <a:solidFill>
                  <a:srgbClr val="314351"/>
                </a:solidFill>
                <a:latin typeface="Roboto"/>
              </a:rPr>
              <a:t>Tax Exemption</a:t>
            </a:r>
            <a:r>
              <a:rPr lang="en-US" sz="2000">
                <a:solidFill>
                  <a:srgbClr val="314351"/>
                </a:solidFill>
                <a:latin typeface="Roboto"/>
              </a:rPr>
              <a:t> - Exemption means exclusion, i.e. if certain income is exempt from tax then it will not contribute to the total income of a person. The exempted income is not considered as a part of total income, the whole amount is an exemption for the taxpayer. Some of the exemptions are as follows: </a:t>
            </a:r>
            <a:r>
              <a:rPr lang="en-US" sz="2000" u="sng">
                <a:solidFill>
                  <a:srgbClr val="314351"/>
                </a:solidFill>
                <a:latin typeface="Roboto"/>
              </a:rPr>
              <a:t>Salary Income Exemptions, Allowances and Deductions</a:t>
            </a:r>
            <a:endParaRPr lang="en-US" sz="2000">
              <a:solidFill>
                <a:srgbClr val="314351"/>
              </a:solidFill>
              <a:latin typeface="Roboto"/>
            </a:endParaRPr>
          </a:p>
          <a:p>
            <a:pPr marL="742950" lvl="1" indent="-285750" algn="just">
              <a:lnSpc>
                <a:spcPct val="150000"/>
              </a:lnSpc>
              <a:buFont typeface="Arial" panose="020B0604020202020204" pitchFamily="34" charset="0"/>
              <a:buChar char="•"/>
            </a:pPr>
            <a:r>
              <a:rPr lang="en-US" sz="2000">
                <a:solidFill>
                  <a:srgbClr val="314351"/>
                </a:solidFill>
                <a:latin typeface="Roboto"/>
              </a:rPr>
              <a:t>Leave travel concession as contained in clause (5) of section 10;</a:t>
            </a:r>
          </a:p>
          <a:p>
            <a:pPr marL="742950" lvl="1" indent="-285750" algn="just">
              <a:lnSpc>
                <a:spcPct val="150000"/>
              </a:lnSpc>
              <a:buFont typeface="Arial" panose="020B0604020202020204" pitchFamily="34" charset="0"/>
              <a:buChar char="•"/>
            </a:pPr>
            <a:r>
              <a:rPr lang="en-US" sz="2000">
                <a:solidFill>
                  <a:srgbClr val="314351"/>
                </a:solidFill>
                <a:latin typeface="Roboto"/>
              </a:rPr>
              <a:t>House rent allowance as contained in clause (13A) of section 10;</a:t>
            </a:r>
          </a:p>
          <a:p>
            <a:pPr marL="742950" lvl="1" indent="-285750" algn="just">
              <a:lnSpc>
                <a:spcPct val="150000"/>
              </a:lnSpc>
              <a:buFont typeface="Arial" panose="020B0604020202020204" pitchFamily="34" charset="0"/>
              <a:buChar char="•"/>
            </a:pPr>
            <a:r>
              <a:rPr lang="en-US" sz="2000">
                <a:solidFill>
                  <a:srgbClr val="314351"/>
                </a:solidFill>
                <a:latin typeface="Roboto"/>
              </a:rPr>
              <a:t>Some of the allowance as contained in clause (14) of section 10;</a:t>
            </a:r>
          </a:p>
          <a:p>
            <a:pPr marL="742950" lvl="1" indent="-285750" algn="just">
              <a:lnSpc>
                <a:spcPct val="150000"/>
              </a:lnSpc>
              <a:buFont typeface="Arial" panose="020B0604020202020204" pitchFamily="34" charset="0"/>
              <a:buChar char="•"/>
            </a:pPr>
            <a:r>
              <a:rPr lang="en-US" sz="2000">
                <a:solidFill>
                  <a:srgbClr val="314351"/>
                </a:solidFill>
                <a:latin typeface="Roboto"/>
              </a:rPr>
              <a:t>Death-cum-retirement gratuity received by Government servants [Section 10(10)(</a:t>
            </a:r>
            <a:r>
              <a:rPr lang="en-US" sz="2000" err="1">
                <a:solidFill>
                  <a:srgbClr val="314351"/>
                </a:solidFill>
                <a:latin typeface="Roboto"/>
              </a:rPr>
              <a:t>i</a:t>
            </a:r>
            <a:r>
              <a:rPr lang="en-US" sz="2000">
                <a:solidFill>
                  <a:srgbClr val="314351"/>
                </a:solidFill>
                <a:latin typeface="Roboto"/>
              </a:rPr>
              <a:t>)]</a:t>
            </a:r>
          </a:p>
          <a:p>
            <a:pPr marL="742950" lvl="1" indent="-285750" algn="just">
              <a:lnSpc>
                <a:spcPct val="150000"/>
              </a:lnSpc>
              <a:buFont typeface="Arial" panose="020B0604020202020204" pitchFamily="34" charset="0"/>
              <a:buChar char="•"/>
            </a:pPr>
            <a:r>
              <a:rPr lang="en-US" sz="2000">
                <a:solidFill>
                  <a:srgbClr val="314351"/>
                </a:solidFill>
                <a:latin typeface="Roboto"/>
              </a:rPr>
              <a:t>Standard deduction, the deduction for entertainment allowance and employment/ professional tax as contained in section 16;</a:t>
            </a:r>
            <a:endParaRPr lang="en-US" sz="2000" b="0" i="0">
              <a:solidFill>
                <a:srgbClr val="314351"/>
              </a:solidFill>
              <a:effectLst/>
              <a:latin typeface="Roboto"/>
            </a:endParaRPr>
          </a:p>
        </p:txBody>
      </p:sp>
    </p:spTree>
    <p:extLst>
      <p:ext uri="{BB962C8B-B14F-4D97-AF65-F5344CB8AC3E}">
        <p14:creationId xmlns:p14="http://schemas.microsoft.com/office/powerpoint/2010/main" val="2546678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7229" y="139272"/>
            <a:ext cx="9949343" cy="4247317"/>
          </a:xfrm>
          <a:prstGeom prst="rect">
            <a:avLst/>
          </a:prstGeom>
        </p:spPr>
        <p:txBody>
          <a:bodyPr wrap="square">
            <a:spAutoFit/>
          </a:bodyPr>
          <a:lstStyle/>
          <a:p>
            <a:pPr algn="just">
              <a:lnSpc>
                <a:spcPct val="150000"/>
              </a:lnSpc>
              <a:buFont typeface="Arial" panose="020B0604020202020204" pitchFamily="34" charset="0"/>
              <a:buChar char="•"/>
            </a:pPr>
            <a:r>
              <a:rPr lang="en-US" sz="2000" u="sng">
                <a:solidFill>
                  <a:srgbClr val="314351"/>
                </a:solidFill>
                <a:latin typeface="Roboto"/>
              </a:rPr>
              <a:t>Rental Income from House Property Deductions</a:t>
            </a:r>
            <a:endParaRPr lang="en-US" sz="2000">
              <a:solidFill>
                <a:srgbClr val="314351"/>
              </a:solidFill>
              <a:latin typeface="Roboto"/>
            </a:endParaRPr>
          </a:p>
          <a:p>
            <a:pPr marL="742950" lvl="1" indent="-285750" algn="just">
              <a:lnSpc>
                <a:spcPct val="150000"/>
              </a:lnSpc>
              <a:buFont typeface="Arial" panose="020B0604020202020204" pitchFamily="34" charset="0"/>
              <a:buChar char="•"/>
            </a:pPr>
            <a:r>
              <a:rPr lang="en-US" sz="2000">
                <a:solidFill>
                  <a:srgbClr val="314351"/>
                </a:solidFill>
                <a:latin typeface="Roboto"/>
              </a:rPr>
              <a:t>Interest paid on home loan under section 24. Deduction against interest on home loan is applicable in respect of self-occupied or vacant property.</a:t>
            </a:r>
          </a:p>
          <a:p>
            <a:pPr marL="742950" lvl="1" indent="-285750" algn="just">
              <a:lnSpc>
                <a:spcPct val="150000"/>
              </a:lnSpc>
              <a:buFont typeface="Arial" panose="020B0604020202020204" pitchFamily="34" charset="0"/>
              <a:buChar char="•"/>
            </a:pPr>
            <a:r>
              <a:rPr lang="en-US" sz="2000">
                <a:solidFill>
                  <a:srgbClr val="314351"/>
                </a:solidFill>
                <a:latin typeface="Roboto"/>
              </a:rPr>
              <a:t> In any assessment year, if there is a loss under the head “Income from house property”, such loss will first be set-off against income from any other head to the extent of ₹2,00,000 during the same year. The unabsorbed loss will be carried forward to the following assessment year and this carry forward loss can not be set -off from any other head except income under the head “Income from house property”. Such loss shall be carry forward for 8 years.</a:t>
            </a:r>
            <a:endParaRPr lang="en-US" sz="2000" b="0" i="0">
              <a:solidFill>
                <a:srgbClr val="314351"/>
              </a:solidFill>
              <a:effectLst/>
              <a:latin typeface="Roboto"/>
            </a:endParaRPr>
          </a:p>
        </p:txBody>
      </p:sp>
    </p:spTree>
    <p:extLst>
      <p:ext uri="{BB962C8B-B14F-4D97-AF65-F5344CB8AC3E}">
        <p14:creationId xmlns:p14="http://schemas.microsoft.com/office/powerpoint/2010/main" val="68426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4950" y="947956"/>
            <a:ext cx="11006356" cy="3785652"/>
          </a:xfrm>
          <a:prstGeom prst="rect">
            <a:avLst/>
          </a:prstGeom>
        </p:spPr>
        <p:txBody>
          <a:bodyPr wrap="square">
            <a:spAutoFit/>
          </a:bodyPr>
          <a:lstStyle/>
          <a:p>
            <a:pPr algn="just">
              <a:lnSpc>
                <a:spcPct val="150000"/>
              </a:lnSpc>
              <a:buFont typeface="Arial" panose="020B0604020202020204" pitchFamily="34" charset="0"/>
              <a:buChar char="•"/>
            </a:pPr>
            <a:r>
              <a:rPr lang="en-US" sz="2000" u="sng">
                <a:solidFill>
                  <a:srgbClr val="314351"/>
                </a:solidFill>
                <a:latin typeface="Roboto"/>
              </a:rPr>
              <a:t>Deduction From Business or Profession Income</a:t>
            </a:r>
            <a:endParaRPr lang="en-US" sz="2000">
              <a:solidFill>
                <a:srgbClr val="314351"/>
              </a:solidFill>
              <a:latin typeface="Roboto"/>
            </a:endParaRPr>
          </a:p>
          <a:p>
            <a:pPr marL="742950" lvl="1" indent="-285750" algn="just">
              <a:lnSpc>
                <a:spcPct val="150000"/>
              </a:lnSpc>
              <a:buFont typeface="Arial" panose="020B0604020202020204" pitchFamily="34" charset="0"/>
              <a:buChar char="•"/>
            </a:pPr>
            <a:r>
              <a:rPr lang="en-US" sz="2000">
                <a:solidFill>
                  <a:srgbClr val="314351"/>
                </a:solidFill>
                <a:latin typeface="Roboto"/>
              </a:rPr>
              <a:t>Expense incurred in relation to running such business or profession</a:t>
            </a:r>
          </a:p>
          <a:p>
            <a:pPr marL="742950" lvl="1" indent="-285750" algn="just">
              <a:lnSpc>
                <a:spcPct val="150000"/>
              </a:lnSpc>
              <a:buFont typeface="Arial" panose="020B0604020202020204" pitchFamily="34" charset="0"/>
              <a:buChar char="•"/>
            </a:pPr>
            <a:r>
              <a:rPr lang="en-US" sz="2000">
                <a:solidFill>
                  <a:srgbClr val="314351"/>
                </a:solidFill>
                <a:latin typeface="Roboto"/>
              </a:rPr>
              <a:t>Depreciation on assets, and additional depreciation on such assets.</a:t>
            </a:r>
          </a:p>
          <a:p>
            <a:pPr marL="742950" lvl="1" indent="-285750" algn="just">
              <a:lnSpc>
                <a:spcPct val="150000"/>
              </a:lnSpc>
              <a:buFont typeface="Arial" panose="020B0604020202020204" pitchFamily="34" charset="0"/>
              <a:buChar char="•"/>
            </a:pPr>
            <a:r>
              <a:rPr lang="en-US" sz="2000">
                <a:solidFill>
                  <a:srgbClr val="314351"/>
                </a:solidFill>
                <a:latin typeface="Roboto"/>
              </a:rPr>
              <a:t>Deduction for donation for or expenditure on scientific research</a:t>
            </a:r>
          </a:p>
          <a:p>
            <a:pPr marL="742950" lvl="1" indent="-285750" algn="just">
              <a:lnSpc>
                <a:spcPct val="150000"/>
              </a:lnSpc>
              <a:buFont typeface="Arial" panose="020B0604020202020204" pitchFamily="34" charset="0"/>
              <a:buChar char="•"/>
            </a:pPr>
            <a:r>
              <a:rPr lang="en-US" sz="2000">
                <a:solidFill>
                  <a:srgbClr val="314351"/>
                </a:solidFill>
                <a:latin typeface="Roboto"/>
              </a:rPr>
              <a:t>Rent, Rates, Taxes, Repairs, and Insurance of building</a:t>
            </a:r>
          </a:p>
          <a:p>
            <a:pPr marL="742950" lvl="1" indent="-285750" algn="just">
              <a:lnSpc>
                <a:spcPct val="150000"/>
              </a:lnSpc>
              <a:buFont typeface="Arial" panose="020B0604020202020204" pitchFamily="34" charset="0"/>
              <a:buChar char="•"/>
            </a:pPr>
            <a:r>
              <a:rPr lang="en-US" sz="2000">
                <a:solidFill>
                  <a:srgbClr val="314351"/>
                </a:solidFill>
                <a:latin typeface="Roboto"/>
              </a:rPr>
              <a:t>Any bonus or commission paid to the employees</a:t>
            </a:r>
          </a:p>
          <a:p>
            <a:pPr marL="742950" lvl="1" indent="-285750" algn="just">
              <a:lnSpc>
                <a:spcPct val="150000"/>
              </a:lnSpc>
              <a:buFont typeface="Arial" panose="020B0604020202020204" pitchFamily="34" charset="0"/>
              <a:buChar char="•"/>
            </a:pPr>
            <a:r>
              <a:rPr lang="en-US" sz="2000">
                <a:solidFill>
                  <a:srgbClr val="314351"/>
                </a:solidFill>
                <a:latin typeface="Roboto"/>
              </a:rPr>
              <a:t>A contribution made to the employees recognized provident fund or approved superannuation fund or approved gratuity fund.</a:t>
            </a:r>
            <a:endParaRPr lang="en-US" sz="2000" b="0" i="0">
              <a:solidFill>
                <a:srgbClr val="314351"/>
              </a:solidFill>
              <a:effectLst/>
              <a:latin typeface="Roboto"/>
            </a:endParaRPr>
          </a:p>
        </p:txBody>
      </p:sp>
    </p:spTree>
    <p:extLst>
      <p:ext uri="{BB962C8B-B14F-4D97-AF65-F5344CB8AC3E}">
        <p14:creationId xmlns:p14="http://schemas.microsoft.com/office/powerpoint/2010/main" val="3188081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6895" y="563272"/>
            <a:ext cx="11199303" cy="4247317"/>
          </a:xfrm>
          <a:prstGeom prst="rect">
            <a:avLst/>
          </a:prstGeom>
        </p:spPr>
        <p:txBody>
          <a:bodyPr wrap="square" lIns="91440" tIns="45720" rIns="91440" bIns="45720" anchor="t">
            <a:spAutoFit/>
          </a:bodyPr>
          <a:lstStyle/>
          <a:p>
            <a:pPr algn="just">
              <a:lnSpc>
                <a:spcPct val="150000"/>
              </a:lnSpc>
              <a:buFont typeface="Arial" panose="020B0604020202020204" pitchFamily="34" charset="0"/>
              <a:buChar char="•"/>
            </a:pPr>
            <a:r>
              <a:rPr lang="en-US" sz="2000" b="1" dirty="0">
                <a:solidFill>
                  <a:srgbClr val="212529"/>
                </a:solidFill>
                <a:latin typeface="Roboto"/>
              </a:rPr>
              <a:t>TDS</a:t>
            </a:r>
            <a:r>
              <a:rPr lang="en-US" sz="2000" dirty="0">
                <a:solidFill>
                  <a:srgbClr val="212529"/>
                </a:solidFill>
                <a:latin typeface="Roboto"/>
              </a:rPr>
              <a:t> - </a:t>
            </a:r>
            <a:r>
              <a:rPr lang="en-US" sz="2000" dirty="0">
                <a:solidFill>
                  <a:srgbClr val="212529"/>
                </a:solidFill>
                <a:latin typeface="Roboto"/>
                <a:hlinkClick r:id="rId2" tooltip="TDS Tax Deducted at Source"/>
              </a:rPr>
              <a:t>TDS stands for </a:t>
            </a:r>
            <a:r>
              <a:rPr lang="en-US" sz="2000" b="1" dirty="0">
                <a:solidFill>
                  <a:srgbClr val="212529"/>
                </a:solidFill>
                <a:latin typeface="Roboto"/>
                <a:hlinkClick r:id="rId2" tooltip="TDS Tax Deducted at Source"/>
              </a:rPr>
              <a:t>tax deducted at source</a:t>
            </a:r>
            <a:r>
              <a:rPr lang="en-US" sz="2000" dirty="0">
                <a:solidFill>
                  <a:srgbClr val="212529"/>
                </a:solidFill>
                <a:latin typeface="Roboto"/>
              </a:rPr>
              <a:t> As per the Income Tax Act, a person (</a:t>
            </a:r>
            <a:r>
              <a:rPr lang="en-US" sz="2000" err="1">
                <a:solidFill>
                  <a:srgbClr val="212529"/>
                </a:solidFill>
                <a:latin typeface="Roboto"/>
              </a:rPr>
              <a:t>deductor</a:t>
            </a:r>
            <a:r>
              <a:rPr lang="en-US" sz="2000" dirty="0">
                <a:solidFill>
                  <a:srgbClr val="212529"/>
                </a:solidFill>
                <a:latin typeface="Roboto"/>
              </a:rPr>
              <a:t>) who is required to make a payment of a specific nature to another person (</a:t>
            </a:r>
            <a:r>
              <a:rPr lang="en-US" sz="2000" err="1">
                <a:solidFill>
                  <a:srgbClr val="212529"/>
                </a:solidFill>
                <a:latin typeface="Roboto"/>
              </a:rPr>
              <a:t>deductee</a:t>
            </a:r>
            <a:r>
              <a:rPr lang="en-US" sz="2000" dirty="0">
                <a:solidFill>
                  <a:srgbClr val="212529"/>
                </a:solidFill>
                <a:latin typeface="Roboto"/>
              </a:rPr>
              <a:t>) must deduct tax at source and send it to the Central Government's account. tax is required to be deducted at source by the payer at the rate as prescribed under the Income Tax Act, 1961. TDS will be deducted at the time of accrual or payment of such income to the payee, whichever is earlier. However, if you are an "individual" or a "Hindu Undivided Family" (HUF), whose total revenue from the business or professional carried on by him does not exceed one crore rupees in case of business, or fifty lakh rupees in case of profession during the Financial Year immediately proceeding the current financial year, no TDS is required to be deducted at source.</a:t>
            </a:r>
            <a:endParaRPr lang="en-US" sz="2000" b="0" i="0" dirty="0">
              <a:solidFill>
                <a:srgbClr val="212529"/>
              </a:solidFill>
              <a:effectLst/>
              <a:latin typeface="Roboto"/>
            </a:endParaRPr>
          </a:p>
        </p:txBody>
      </p:sp>
    </p:spTree>
    <p:extLst>
      <p:ext uri="{BB962C8B-B14F-4D97-AF65-F5344CB8AC3E}">
        <p14:creationId xmlns:p14="http://schemas.microsoft.com/office/powerpoint/2010/main" val="886657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0784" y="387315"/>
            <a:ext cx="11048301" cy="4524315"/>
          </a:xfrm>
          <a:prstGeom prst="rect">
            <a:avLst/>
          </a:prstGeom>
        </p:spPr>
        <p:txBody>
          <a:bodyPr wrap="square">
            <a:spAutoFit/>
          </a:bodyPr>
          <a:lstStyle/>
          <a:p>
            <a:pPr algn="just">
              <a:lnSpc>
                <a:spcPct val="150000"/>
              </a:lnSpc>
              <a:buFont typeface="Arial" panose="020B0604020202020204" pitchFamily="34" charset="0"/>
              <a:buChar char="•"/>
            </a:pPr>
            <a:r>
              <a:rPr lang="en-US" sz="2400" b="1" u="sng">
                <a:solidFill>
                  <a:srgbClr val="212529"/>
                </a:solidFill>
                <a:latin typeface="Roboto"/>
              </a:rPr>
              <a:t>Salary Breakup </a:t>
            </a:r>
            <a:r>
              <a:rPr lang="en-US" sz="2400">
                <a:solidFill>
                  <a:srgbClr val="212529"/>
                </a:solidFill>
                <a:latin typeface="Roboto"/>
              </a:rPr>
              <a:t>- Understanding your salary breakup is the first step toward calculating the income tax on your salary. The salary breakdown can be found on the pay slip or salary statement. You may understand the main components and basic structure of your compensation by closely studying the slip or statement..</a:t>
            </a:r>
          </a:p>
          <a:p>
            <a:pPr algn="just">
              <a:lnSpc>
                <a:spcPct val="150000"/>
              </a:lnSpc>
              <a:buFont typeface="Arial" panose="020B0604020202020204" pitchFamily="34" charset="0"/>
              <a:buChar char="•"/>
            </a:pPr>
            <a:endParaRPr lang="en-US" sz="2400">
              <a:solidFill>
                <a:srgbClr val="212529"/>
              </a:solidFill>
              <a:latin typeface="Roboto"/>
            </a:endParaRPr>
          </a:p>
          <a:p>
            <a:pPr algn="just">
              <a:lnSpc>
                <a:spcPct val="150000"/>
              </a:lnSpc>
              <a:buFont typeface="Arial" panose="020B0604020202020204" pitchFamily="34" charset="0"/>
              <a:buChar char="•"/>
            </a:pPr>
            <a:r>
              <a:rPr lang="en-US" sz="2400" b="1" u="sng">
                <a:solidFill>
                  <a:srgbClr val="212529"/>
                </a:solidFill>
                <a:latin typeface="Roboto"/>
              </a:rPr>
              <a:t>Taxable Income </a:t>
            </a:r>
            <a:r>
              <a:rPr lang="en-US" sz="2400">
                <a:solidFill>
                  <a:srgbClr val="212529"/>
                </a:solidFill>
                <a:latin typeface="Roboto"/>
              </a:rPr>
              <a:t>= </a:t>
            </a:r>
          </a:p>
          <a:p>
            <a:pPr algn="just">
              <a:lnSpc>
                <a:spcPct val="150000"/>
              </a:lnSpc>
            </a:pPr>
            <a:r>
              <a:rPr lang="en-US" sz="2400">
                <a:solidFill>
                  <a:srgbClr val="212529"/>
                </a:solidFill>
                <a:latin typeface="Roboto"/>
              </a:rPr>
              <a:t>Total Income (Sum of all Your Earnings) </a:t>
            </a:r>
            <a:r>
              <a:rPr lang="en-US" sz="2400" b="1">
                <a:solidFill>
                  <a:srgbClr val="212529"/>
                </a:solidFill>
                <a:latin typeface="Roboto"/>
              </a:rPr>
              <a:t>– Eligible </a:t>
            </a:r>
            <a:r>
              <a:rPr lang="en-US" sz="2400">
                <a:solidFill>
                  <a:srgbClr val="212529"/>
                </a:solidFill>
                <a:latin typeface="Roboto"/>
              </a:rPr>
              <a:t>Deductions</a:t>
            </a:r>
            <a:endParaRPr lang="en-US" sz="2400" b="0" i="0">
              <a:solidFill>
                <a:srgbClr val="212529"/>
              </a:solidFill>
              <a:effectLst/>
              <a:latin typeface="Roboto"/>
            </a:endParaRPr>
          </a:p>
        </p:txBody>
      </p:sp>
    </p:spTree>
    <p:extLst>
      <p:ext uri="{BB962C8B-B14F-4D97-AF65-F5344CB8AC3E}">
        <p14:creationId xmlns:p14="http://schemas.microsoft.com/office/powerpoint/2010/main" val="138928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9842" y="488307"/>
            <a:ext cx="10595296" cy="646331"/>
          </a:xfrm>
          <a:prstGeom prst="rect">
            <a:avLst/>
          </a:prstGeom>
        </p:spPr>
        <p:txBody>
          <a:bodyPr wrap="square">
            <a:spAutoFit/>
          </a:bodyPr>
          <a:lstStyle/>
          <a:p>
            <a:r>
              <a:rPr lang="en-US">
                <a:solidFill>
                  <a:srgbClr val="314351"/>
                </a:solidFill>
                <a:latin typeface="Roboto"/>
              </a:rPr>
              <a:t>You must determine your taxable income after you have the breakdown of your salary. The term "taxable income" refers to any sources of income other than your salary on which you must pay taxes.</a:t>
            </a:r>
            <a:endParaRPr lang="en-IN"/>
          </a:p>
        </p:txBody>
      </p:sp>
      <p:graphicFrame>
        <p:nvGraphicFramePr>
          <p:cNvPr id="3" name="Table 2"/>
          <p:cNvGraphicFramePr>
            <a:graphicFrameLocks noGrp="1"/>
          </p:cNvGraphicFramePr>
          <p:nvPr>
            <p:extLst>
              <p:ext uri="{D42A27DB-BD31-4B8C-83A1-F6EECF244321}">
                <p14:modId xmlns:p14="http://schemas.microsoft.com/office/powerpoint/2010/main" val="1909440429"/>
              </p:ext>
            </p:extLst>
          </p:nvPr>
        </p:nvGraphicFramePr>
        <p:xfrm>
          <a:off x="314588" y="1453419"/>
          <a:ext cx="11425804" cy="4731432"/>
        </p:xfrm>
        <a:graphic>
          <a:graphicData uri="http://schemas.openxmlformats.org/drawingml/2006/table">
            <a:tbl>
              <a:tblPr/>
              <a:tblGrid>
                <a:gridCol w="5712902">
                  <a:extLst>
                    <a:ext uri="{9D8B030D-6E8A-4147-A177-3AD203B41FA5}">
                      <a16:colId xmlns:a16="http://schemas.microsoft.com/office/drawing/2014/main" val="2429179522"/>
                    </a:ext>
                  </a:extLst>
                </a:gridCol>
                <a:gridCol w="5712902">
                  <a:extLst>
                    <a:ext uri="{9D8B030D-6E8A-4147-A177-3AD203B41FA5}">
                      <a16:colId xmlns:a16="http://schemas.microsoft.com/office/drawing/2014/main" val="60582299"/>
                    </a:ext>
                  </a:extLst>
                </a:gridCol>
              </a:tblGrid>
              <a:tr h="272292">
                <a:tc>
                  <a:txBody>
                    <a:bodyPr/>
                    <a:lstStyle/>
                    <a:p>
                      <a:pPr marL="0" algn="l" defTabSz="914400" rtl="0" eaLnBrk="1" latinLnBrk="0" hangingPunct="1"/>
                      <a:r>
                        <a:rPr lang="en-IN" sz="1800" kern="1200">
                          <a:solidFill>
                            <a:schemeClr val="tx1"/>
                          </a:solidFill>
                          <a:effectLst/>
                          <a:latin typeface="+mn-lt"/>
                          <a:ea typeface="+mn-ea"/>
                          <a:cs typeface="+mn-cs"/>
                        </a:rPr>
                        <a:t>Income Source</a:t>
                      </a:r>
                    </a:p>
                  </a:txBody>
                  <a:tcPr marL="22663" marR="22663" marT="11332" marB="11332">
                    <a:lnL w="9525" cap="flat" cmpd="sng" algn="ctr">
                      <a:solidFill>
                        <a:srgbClr val="C0B3D3"/>
                      </a:solidFill>
                      <a:prstDash val="solid"/>
                      <a:round/>
                      <a:headEnd type="none" w="med" len="med"/>
                      <a:tailEnd type="none" w="med" len="med"/>
                    </a:lnL>
                    <a:lnR w="9525" cap="flat" cmpd="sng" algn="ctr">
                      <a:solidFill>
                        <a:srgbClr val="60B5D3"/>
                      </a:solidFill>
                      <a:prstDash val="solid"/>
                      <a:round/>
                      <a:headEnd type="none" w="med" len="med"/>
                      <a:tailEnd type="none" w="med" len="med"/>
                    </a:lnR>
                    <a:lnT w="9525" cap="flat" cmpd="sng" algn="ctr">
                      <a:solidFill>
                        <a:srgbClr val="A0B3D3"/>
                      </a:solidFill>
                      <a:prstDash val="solid"/>
                      <a:round/>
                      <a:headEnd type="none" w="med" len="med"/>
                      <a:tailEnd type="none" w="med" len="med"/>
                    </a:lnT>
                    <a:lnB w="9525" cap="flat" cmpd="sng" algn="ctr">
                      <a:solidFill>
                        <a:srgbClr val="107657"/>
                      </a:solidFill>
                      <a:prstDash val="solid"/>
                      <a:round/>
                      <a:headEnd type="none" w="med" len="med"/>
                      <a:tailEnd type="none" w="med" len="med"/>
                    </a:lnB>
                    <a:solidFill>
                      <a:srgbClr val="FFFFFF"/>
                    </a:solidFill>
                  </a:tcPr>
                </a:tc>
                <a:tc>
                  <a:txBody>
                    <a:bodyPr/>
                    <a:lstStyle/>
                    <a:p>
                      <a:pPr marL="0" algn="l" defTabSz="914400" rtl="0" eaLnBrk="1" latinLnBrk="0" hangingPunct="1"/>
                      <a:r>
                        <a:rPr lang="en-IN" sz="1800" kern="1200">
                          <a:solidFill>
                            <a:schemeClr val="tx1"/>
                          </a:solidFill>
                          <a:effectLst/>
                          <a:latin typeface="+mn-lt"/>
                          <a:ea typeface="+mn-ea"/>
                          <a:cs typeface="+mn-cs"/>
                        </a:rPr>
                        <a:t>Description</a:t>
                      </a:r>
                    </a:p>
                  </a:txBody>
                  <a:tcPr marL="22663" marR="22663" marT="11332" marB="11332">
                    <a:lnL w="9525" cap="flat" cmpd="sng" algn="ctr">
                      <a:solidFill>
                        <a:srgbClr val="60B5D3"/>
                      </a:solidFill>
                      <a:prstDash val="solid"/>
                      <a:round/>
                      <a:headEnd type="none" w="med" len="med"/>
                      <a:tailEnd type="none" w="med" len="med"/>
                    </a:lnL>
                    <a:lnR w="9525" cap="flat" cmpd="sng" algn="ctr">
                      <a:solidFill>
                        <a:srgbClr val="C0B3D3"/>
                      </a:solidFill>
                      <a:prstDash val="solid"/>
                      <a:round/>
                      <a:headEnd type="none" w="med" len="med"/>
                      <a:tailEnd type="none" w="med" len="med"/>
                    </a:lnR>
                    <a:lnT w="9525" cap="flat" cmpd="sng" algn="ctr">
                      <a:solidFill>
                        <a:srgbClr val="C0B3D3"/>
                      </a:solidFill>
                      <a:prstDash val="solid"/>
                      <a:round/>
                      <a:headEnd type="none" w="med" len="med"/>
                      <a:tailEnd type="none" w="med" len="med"/>
                    </a:lnT>
                    <a:lnB w="9525" cap="flat" cmpd="sng" algn="ctr">
                      <a:solidFill>
                        <a:srgbClr val="60B2D3"/>
                      </a:solidFill>
                      <a:prstDash val="solid"/>
                      <a:round/>
                      <a:headEnd type="none" w="med" len="med"/>
                      <a:tailEnd type="none" w="med" len="med"/>
                    </a:lnB>
                    <a:solidFill>
                      <a:srgbClr val="FFFFFF"/>
                    </a:solidFill>
                  </a:tcPr>
                </a:tc>
                <a:extLst>
                  <a:ext uri="{0D108BD9-81ED-4DB2-BD59-A6C34878D82A}">
                    <a16:rowId xmlns:a16="http://schemas.microsoft.com/office/drawing/2014/main" val="630872670"/>
                  </a:ext>
                </a:extLst>
              </a:tr>
              <a:tr h="2284389">
                <a:tc>
                  <a:txBody>
                    <a:bodyPr/>
                    <a:lstStyle/>
                    <a:p>
                      <a:pPr marL="0" algn="l" defTabSz="914400" rtl="0" eaLnBrk="1" latinLnBrk="0" hangingPunct="1"/>
                      <a:r>
                        <a:rPr lang="en-IN" sz="1800" kern="1200">
                          <a:solidFill>
                            <a:schemeClr val="tx1"/>
                          </a:solidFill>
                          <a:effectLst/>
                          <a:latin typeface="+mn-lt"/>
                          <a:ea typeface="+mn-ea"/>
                          <a:cs typeface="+mn-cs"/>
                        </a:rPr>
                        <a:t>Income from Salary</a:t>
                      </a:r>
                    </a:p>
                  </a:txBody>
                  <a:tcPr marL="22663" marR="22663" marT="11332" marB="11332">
                    <a:lnL w="9525" cap="flat" cmpd="sng" algn="ctr">
                      <a:solidFill>
                        <a:srgbClr val="107657"/>
                      </a:solidFill>
                      <a:prstDash val="solid"/>
                      <a:round/>
                      <a:headEnd type="none" w="med" len="med"/>
                      <a:tailEnd type="none" w="med" len="med"/>
                    </a:lnL>
                    <a:lnR w="9525" cap="flat" cmpd="sng" algn="ctr">
                      <a:solidFill>
                        <a:srgbClr val="60B2D3"/>
                      </a:solidFill>
                      <a:prstDash val="solid"/>
                      <a:round/>
                      <a:headEnd type="none" w="med" len="med"/>
                      <a:tailEnd type="none" w="med" len="med"/>
                    </a:lnR>
                    <a:lnT w="9525" cap="flat" cmpd="sng" algn="ctr">
                      <a:solidFill>
                        <a:srgbClr val="107657"/>
                      </a:solidFill>
                      <a:prstDash val="solid"/>
                      <a:round/>
                      <a:headEnd type="none" w="med" len="med"/>
                      <a:tailEnd type="none" w="med" len="med"/>
                    </a:lnT>
                    <a:lnB w="9525" cap="flat" cmpd="sng" algn="ctr">
                      <a:solidFill>
                        <a:srgbClr val="507457"/>
                      </a:solidFill>
                      <a:prstDash val="solid"/>
                      <a:round/>
                      <a:headEnd type="none" w="med" len="med"/>
                      <a:tailEnd type="none" w="med" len="med"/>
                    </a:lnB>
                    <a:solidFill>
                      <a:srgbClr val="FFFFFF"/>
                    </a:solidFill>
                  </a:tcPr>
                </a:tc>
                <a:tc>
                  <a:txBody>
                    <a:bodyPr/>
                    <a:lstStyle/>
                    <a:p>
                      <a:pPr marL="0" algn="just" defTabSz="914400" rtl="0" eaLnBrk="1" latinLnBrk="0" hangingPunct="1"/>
                      <a:r>
                        <a:rPr lang="en-US" sz="1800" kern="1200">
                          <a:solidFill>
                            <a:schemeClr val="tx1"/>
                          </a:solidFill>
                          <a:effectLst/>
                          <a:latin typeface="+mn-lt"/>
                          <a:ea typeface="+mn-ea"/>
                          <a:cs typeface="+mn-cs"/>
                        </a:rPr>
                        <a:t>An Income can be taxed under head Salaries if there is a relationship of an employer and employee between the payer and the payee. If this relationship does not exist, then the income would not be deemed to be income from salary. "Salary" for the purposes of Income-tax Act, 1961 will include both monetary payments (e.g. basic salary, bonus, commission, allowances etc.) as well as non-monetary facilities (e.g. housing accommodation, medical facility, interest free loans etc.).</a:t>
                      </a:r>
                    </a:p>
                  </a:txBody>
                  <a:tcPr marL="22663" marR="22663" marT="11332" marB="11332">
                    <a:lnL w="9525" cap="flat" cmpd="sng" algn="ctr">
                      <a:solidFill>
                        <a:srgbClr val="60B2D3"/>
                      </a:solidFill>
                      <a:prstDash val="solid"/>
                      <a:round/>
                      <a:headEnd type="none" w="med" len="med"/>
                      <a:tailEnd type="none" w="med" len="med"/>
                    </a:lnL>
                    <a:lnR w="9525" cap="flat" cmpd="sng" algn="ctr">
                      <a:solidFill>
                        <a:srgbClr val="60B2D3"/>
                      </a:solidFill>
                      <a:prstDash val="solid"/>
                      <a:round/>
                      <a:headEnd type="none" w="med" len="med"/>
                      <a:tailEnd type="none" w="med" len="med"/>
                    </a:lnR>
                    <a:lnT w="9525" cap="flat" cmpd="sng" algn="ctr">
                      <a:solidFill>
                        <a:srgbClr val="60B2D3"/>
                      </a:solidFill>
                      <a:prstDash val="solid"/>
                      <a:round/>
                      <a:headEnd type="none" w="med" len="med"/>
                      <a:tailEnd type="none" w="med" len="med"/>
                    </a:lnT>
                    <a:lnB w="9525" cap="flat" cmpd="sng" algn="ctr">
                      <a:solidFill>
                        <a:srgbClr val="A0B5D3"/>
                      </a:solidFill>
                      <a:prstDash val="solid"/>
                      <a:round/>
                      <a:headEnd type="none" w="med" len="med"/>
                      <a:tailEnd type="none" w="med" len="med"/>
                    </a:lnB>
                    <a:solidFill>
                      <a:srgbClr val="FFFFFF"/>
                    </a:solidFill>
                  </a:tcPr>
                </a:tc>
                <a:extLst>
                  <a:ext uri="{0D108BD9-81ED-4DB2-BD59-A6C34878D82A}">
                    <a16:rowId xmlns:a16="http://schemas.microsoft.com/office/drawing/2014/main" val="4114654227"/>
                  </a:ext>
                </a:extLst>
              </a:tr>
              <a:tr h="1781365">
                <a:tc>
                  <a:txBody>
                    <a:bodyPr/>
                    <a:lstStyle/>
                    <a:p>
                      <a:pPr marL="0" algn="l" defTabSz="914400" rtl="0" eaLnBrk="1" latinLnBrk="0" hangingPunct="1"/>
                      <a:r>
                        <a:rPr lang="en-IN" sz="1800" kern="1200">
                          <a:solidFill>
                            <a:schemeClr val="tx1"/>
                          </a:solidFill>
                          <a:effectLst/>
                          <a:latin typeface="+mn-lt"/>
                          <a:ea typeface="+mn-ea"/>
                          <a:cs typeface="+mn-cs"/>
                        </a:rPr>
                        <a:t>Income from House Property</a:t>
                      </a:r>
                    </a:p>
                  </a:txBody>
                  <a:tcPr marL="22663" marR="22663" marT="11332" marB="11332">
                    <a:lnL w="9525" cap="flat" cmpd="sng" algn="ctr">
                      <a:solidFill>
                        <a:srgbClr val="507457"/>
                      </a:solidFill>
                      <a:prstDash val="solid"/>
                      <a:round/>
                      <a:headEnd type="none" w="med" len="med"/>
                      <a:tailEnd type="none" w="med" len="med"/>
                    </a:lnL>
                    <a:lnR w="9525" cap="flat" cmpd="sng" algn="ctr">
                      <a:solidFill>
                        <a:srgbClr val="A0B5D3"/>
                      </a:solidFill>
                      <a:prstDash val="solid"/>
                      <a:round/>
                      <a:headEnd type="none" w="med" len="med"/>
                      <a:tailEnd type="none" w="med" len="med"/>
                    </a:lnR>
                    <a:lnT w="9525" cap="flat" cmpd="sng" algn="ctr">
                      <a:solidFill>
                        <a:srgbClr val="507457"/>
                      </a:solidFill>
                      <a:prstDash val="solid"/>
                      <a:round/>
                      <a:headEnd type="none" w="med" len="med"/>
                      <a:tailEnd type="none" w="med" len="med"/>
                    </a:lnT>
                    <a:lnB w="9525" cap="flat" cmpd="sng" algn="ctr">
                      <a:solidFill>
                        <a:srgbClr val="A0B5D3"/>
                      </a:solidFill>
                      <a:prstDash val="solid"/>
                      <a:round/>
                      <a:headEnd type="none" w="med" len="med"/>
                      <a:tailEnd type="none" w="med" len="med"/>
                    </a:lnB>
                    <a:solidFill>
                      <a:srgbClr val="FFFFFF"/>
                    </a:solidFill>
                  </a:tcPr>
                </a:tc>
                <a:tc>
                  <a:txBody>
                    <a:bodyPr/>
                    <a:lstStyle/>
                    <a:p>
                      <a:pPr marL="0" algn="just" defTabSz="914400" rtl="0" eaLnBrk="1" latinLnBrk="0" hangingPunct="1"/>
                      <a:r>
                        <a:rPr lang="en-US" sz="1800" kern="1200">
                          <a:solidFill>
                            <a:schemeClr val="tx1"/>
                          </a:solidFill>
                          <a:effectLst/>
                          <a:latin typeface="+mn-lt"/>
                          <a:ea typeface="+mn-ea"/>
                          <a:cs typeface="+mn-cs"/>
                        </a:rPr>
                        <a:t>Any amount of money that is received by the landlord from tenant for using the property is called rental income. Here, property refers to any building including house, office building, warehouse etc. and any land attached to the building like compound, garage, car parking space etc. Different types of house property (like rental or self-occupied property) are taxed differently.</a:t>
                      </a:r>
                    </a:p>
                  </a:txBody>
                  <a:tcPr marL="22663" marR="22663" marT="11332" marB="11332">
                    <a:lnL w="9525" cap="flat" cmpd="sng" algn="ctr">
                      <a:solidFill>
                        <a:srgbClr val="A0B5D3"/>
                      </a:solidFill>
                      <a:prstDash val="solid"/>
                      <a:round/>
                      <a:headEnd type="none" w="med" len="med"/>
                      <a:tailEnd type="none" w="med" len="med"/>
                    </a:lnL>
                    <a:lnR w="9525" cap="flat" cmpd="sng" algn="ctr">
                      <a:solidFill>
                        <a:srgbClr val="A0B5D3"/>
                      </a:solidFill>
                      <a:prstDash val="solid"/>
                      <a:round/>
                      <a:headEnd type="none" w="med" len="med"/>
                      <a:tailEnd type="none" w="med" len="med"/>
                    </a:lnR>
                    <a:lnT w="9525" cap="flat" cmpd="sng" algn="ctr">
                      <a:solidFill>
                        <a:srgbClr val="A0B5D3"/>
                      </a:solidFill>
                      <a:prstDash val="solid"/>
                      <a:round/>
                      <a:headEnd type="none" w="med" len="med"/>
                      <a:tailEnd type="none" w="med" len="med"/>
                    </a:lnT>
                    <a:lnB w="9525" cap="flat" cmpd="sng" algn="ctr">
                      <a:solidFill>
                        <a:srgbClr val="2036D1"/>
                      </a:solidFill>
                      <a:prstDash val="solid"/>
                      <a:round/>
                      <a:headEnd type="none" w="med" len="med"/>
                      <a:tailEnd type="none" w="med" len="med"/>
                    </a:lnB>
                    <a:solidFill>
                      <a:srgbClr val="FFFFFF"/>
                    </a:solidFill>
                  </a:tcPr>
                </a:tc>
                <a:extLst>
                  <a:ext uri="{0D108BD9-81ED-4DB2-BD59-A6C34878D82A}">
                    <a16:rowId xmlns:a16="http://schemas.microsoft.com/office/drawing/2014/main" val="3756263657"/>
                  </a:ext>
                </a:extLst>
              </a:tr>
            </a:tbl>
          </a:graphicData>
        </a:graphic>
      </p:graphicFrame>
    </p:spTree>
    <p:extLst>
      <p:ext uri="{BB962C8B-B14F-4D97-AF65-F5344CB8AC3E}">
        <p14:creationId xmlns:p14="http://schemas.microsoft.com/office/powerpoint/2010/main" val="4148489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9842" y="488307"/>
            <a:ext cx="10595296" cy="646331"/>
          </a:xfrm>
          <a:prstGeom prst="rect">
            <a:avLst/>
          </a:prstGeom>
        </p:spPr>
        <p:txBody>
          <a:bodyPr wrap="square">
            <a:spAutoFit/>
          </a:bodyPr>
          <a:lstStyle/>
          <a:p>
            <a:r>
              <a:rPr lang="en-US">
                <a:solidFill>
                  <a:srgbClr val="314351"/>
                </a:solidFill>
                <a:latin typeface="Roboto"/>
              </a:rPr>
              <a:t>You must determine your taxable income after you have the breakdown of your salary. The term "taxable income" refers to any sources of income other than your salary on which you must pay taxes.</a:t>
            </a:r>
            <a:endParaRPr lang="en-IN"/>
          </a:p>
        </p:txBody>
      </p:sp>
      <p:graphicFrame>
        <p:nvGraphicFramePr>
          <p:cNvPr id="3" name="Table 2"/>
          <p:cNvGraphicFramePr>
            <a:graphicFrameLocks noGrp="1"/>
          </p:cNvGraphicFramePr>
          <p:nvPr>
            <p:extLst>
              <p:ext uri="{D42A27DB-BD31-4B8C-83A1-F6EECF244321}">
                <p14:modId xmlns:p14="http://schemas.microsoft.com/office/powerpoint/2010/main" val="2339882839"/>
              </p:ext>
            </p:extLst>
          </p:nvPr>
        </p:nvGraphicFramePr>
        <p:xfrm>
          <a:off x="293615" y="1134638"/>
          <a:ext cx="11409026" cy="5280072"/>
        </p:xfrm>
        <a:graphic>
          <a:graphicData uri="http://schemas.openxmlformats.org/drawingml/2006/table">
            <a:tbl>
              <a:tblPr/>
              <a:tblGrid>
                <a:gridCol w="5704513">
                  <a:extLst>
                    <a:ext uri="{9D8B030D-6E8A-4147-A177-3AD203B41FA5}">
                      <a16:colId xmlns:a16="http://schemas.microsoft.com/office/drawing/2014/main" val="2429179522"/>
                    </a:ext>
                  </a:extLst>
                </a:gridCol>
                <a:gridCol w="5704513">
                  <a:extLst>
                    <a:ext uri="{9D8B030D-6E8A-4147-A177-3AD203B41FA5}">
                      <a16:colId xmlns:a16="http://schemas.microsoft.com/office/drawing/2014/main" val="60582299"/>
                    </a:ext>
                  </a:extLst>
                </a:gridCol>
              </a:tblGrid>
              <a:tr h="0">
                <a:tc>
                  <a:txBody>
                    <a:bodyPr/>
                    <a:lstStyle/>
                    <a:p>
                      <a:pPr marL="0" algn="l" defTabSz="914400" rtl="0" eaLnBrk="1" latinLnBrk="0" hangingPunct="1"/>
                      <a:r>
                        <a:rPr lang="en-IN" sz="1800" kern="1200">
                          <a:solidFill>
                            <a:schemeClr val="tx1"/>
                          </a:solidFill>
                          <a:effectLst/>
                          <a:latin typeface="+mn-lt"/>
                          <a:ea typeface="+mn-ea"/>
                          <a:cs typeface="+mn-cs"/>
                        </a:rPr>
                        <a:t>Income Source</a:t>
                      </a:r>
                    </a:p>
                  </a:txBody>
                  <a:tcPr marL="22663" marR="22663" marT="11332" marB="11332">
                    <a:lnL w="9525" cap="flat" cmpd="sng" algn="ctr">
                      <a:solidFill>
                        <a:srgbClr val="C0B3D3"/>
                      </a:solidFill>
                      <a:prstDash val="solid"/>
                      <a:round/>
                      <a:headEnd type="none" w="med" len="med"/>
                      <a:tailEnd type="none" w="med" len="med"/>
                    </a:lnL>
                    <a:lnR w="9525" cap="flat" cmpd="sng" algn="ctr">
                      <a:solidFill>
                        <a:srgbClr val="60B5D3"/>
                      </a:solidFill>
                      <a:prstDash val="solid"/>
                      <a:round/>
                      <a:headEnd type="none" w="med" len="med"/>
                      <a:tailEnd type="none" w="med" len="med"/>
                    </a:lnR>
                    <a:lnT w="9525" cap="flat" cmpd="sng" algn="ctr">
                      <a:solidFill>
                        <a:srgbClr val="A0B3D3"/>
                      </a:solidFill>
                      <a:prstDash val="solid"/>
                      <a:round/>
                      <a:headEnd type="none" w="med" len="med"/>
                      <a:tailEnd type="none" w="med" len="med"/>
                    </a:lnT>
                    <a:lnB w="9525" cap="flat" cmpd="sng" algn="ctr">
                      <a:solidFill>
                        <a:srgbClr val="107657"/>
                      </a:solidFill>
                      <a:prstDash val="solid"/>
                      <a:round/>
                      <a:headEnd type="none" w="med" len="med"/>
                      <a:tailEnd type="none" w="med" len="med"/>
                    </a:lnB>
                    <a:solidFill>
                      <a:srgbClr val="FFFFFF"/>
                    </a:solidFill>
                  </a:tcPr>
                </a:tc>
                <a:tc>
                  <a:txBody>
                    <a:bodyPr/>
                    <a:lstStyle/>
                    <a:p>
                      <a:pPr marL="0" algn="l" defTabSz="914400" rtl="0" eaLnBrk="1" latinLnBrk="0" hangingPunct="1"/>
                      <a:r>
                        <a:rPr lang="en-IN" sz="1800" kern="1200">
                          <a:solidFill>
                            <a:schemeClr val="tx1"/>
                          </a:solidFill>
                          <a:effectLst/>
                          <a:latin typeface="+mn-lt"/>
                          <a:ea typeface="+mn-ea"/>
                          <a:cs typeface="+mn-cs"/>
                        </a:rPr>
                        <a:t>Description</a:t>
                      </a:r>
                    </a:p>
                  </a:txBody>
                  <a:tcPr marL="22663" marR="22663" marT="11332" marB="11332">
                    <a:lnL w="9525" cap="flat" cmpd="sng" algn="ctr">
                      <a:solidFill>
                        <a:srgbClr val="60B5D3"/>
                      </a:solidFill>
                      <a:prstDash val="solid"/>
                      <a:round/>
                      <a:headEnd type="none" w="med" len="med"/>
                      <a:tailEnd type="none" w="med" len="med"/>
                    </a:lnL>
                    <a:lnR w="9525" cap="flat" cmpd="sng" algn="ctr">
                      <a:solidFill>
                        <a:srgbClr val="C0B3D3"/>
                      </a:solidFill>
                      <a:prstDash val="solid"/>
                      <a:round/>
                      <a:headEnd type="none" w="med" len="med"/>
                      <a:tailEnd type="none" w="med" len="med"/>
                    </a:lnR>
                    <a:lnT w="9525" cap="flat" cmpd="sng" algn="ctr">
                      <a:solidFill>
                        <a:srgbClr val="C0B3D3"/>
                      </a:solidFill>
                      <a:prstDash val="solid"/>
                      <a:round/>
                      <a:headEnd type="none" w="med" len="med"/>
                      <a:tailEnd type="none" w="med" len="med"/>
                    </a:lnT>
                    <a:lnB w="9525" cap="flat" cmpd="sng" algn="ctr">
                      <a:solidFill>
                        <a:srgbClr val="60B2D3"/>
                      </a:solidFill>
                      <a:prstDash val="solid"/>
                      <a:round/>
                      <a:headEnd type="none" w="med" len="med"/>
                      <a:tailEnd type="none" w="med" len="med"/>
                    </a:lnB>
                    <a:solidFill>
                      <a:srgbClr val="FFFFFF"/>
                    </a:solidFill>
                  </a:tcPr>
                </a:tc>
                <a:extLst>
                  <a:ext uri="{0D108BD9-81ED-4DB2-BD59-A6C34878D82A}">
                    <a16:rowId xmlns:a16="http://schemas.microsoft.com/office/drawing/2014/main" val="630872670"/>
                  </a:ext>
                </a:extLst>
              </a:tr>
              <a:tr h="1042508">
                <a:tc>
                  <a:txBody>
                    <a:bodyPr/>
                    <a:lstStyle/>
                    <a:p>
                      <a:r>
                        <a:rPr lang="en-IN" sz="1800">
                          <a:effectLst/>
                        </a:rPr>
                        <a:t>Income from Business/Profession</a:t>
                      </a:r>
                    </a:p>
                  </a:txBody>
                  <a:tcPr marL="22663" marR="22663" marT="11332" marB="11332">
                    <a:lnL w="9525" cap="flat" cmpd="sng" algn="ctr">
                      <a:solidFill>
                        <a:srgbClr val="A0B5D3"/>
                      </a:solidFill>
                      <a:prstDash val="solid"/>
                      <a:round/>
                      <a:headEnd type="none" w="med" len="med"/>
                      <a:tailEnd type="none" w="med" len="med"/>
                    </a:lnL>
                    <a:lnR w="9525" cap="flat" cmpd="sng" algn="ctr">
                      <a:solidFill>
                        <a:srgbClr val="2036D1"/>
                      </a:solidFill>
                      <a:prstDash val="solid"/>
                      <a:round/>
                      <a:headEnd type="none" w="med" len="med"/>
                      <a:tailEnd type="none" w="med" len="med"/>
                    </a:lnR>
                    <a:lnT w="9525" cap="flat" cmpd="sng" algn="ctr">
                      <a:solidFill>
                        <a:srgbClr val="107657"/>
                      </a:solidFill>
                      <a:prstDash val="solid"/>
                      <a:round/>
                      <a:headEnd type="none" w="med" len="med"/>
                      <a:tailEnd type="none" w="med" len="med"/>
                    </a:lnT>
                    <a:lnB w="9525" cap="flat" cmpd="sng" algn="ctr">
                      <a:solidFill>
                        <a:srgbClr val="8033D1"/>
                      </a:solidFill>
                      <a:prstDash val="solid"/>
                      <a:round/>
                      <a:headEnd type="none" w="med" len="med"/>
                      <a:tailEnd type="none" w="med" len="med"/>
                    </a:lnB>
                    <a:solidFill>
                      <a:srgbClr val="FFFFFF"/>
                    </a:solidFill>
                  </a:tcPr>
                </a:tc>
                <a:tc>
                  <a:txBody>
                    <a:bodyPr/>
                    <a:lstStyle/>
                    <a:p>
                      <a:pPr algn="just"/>
                      <a:r>
                        <a:rPr lang="en-US" sz="1800" b="1">
                          <a:effectLst/>
                        </a:rPr>
                        <a:t>Any income shown in profit and loss account after taking into account all the allowed expenditures by an assesse</a:t>
                      </a:r>
                      <a:r>
                        <a:rPr lang="en-US" sz="1800">
                          <a:effectLst/>
                        </a:rPr>
                        <a:t>. The income also includes both positive (profit) and negative incomes. Here is a list of the income chargeable under the head:</a:t>
                      </a:r>
                    </a:p>
                    <a:p>
                      <a:pPr algn="just">
                        <a:buFont typeface="Arial" panose="020B0604020202020204" pitchFamily="34" charset="0"/>
                        <a:buChar char="•"/>
                      </a:pPr>
                      <a:r>
                        <a:rPr lang="en-US" sz="1800">
                          <a:effectLst/>
                        </a:rPr>
                        <a:t>Profits earned by the assesse during the assessment year</a:t>
                      </a:r>
                    </a:p>
                    <a:p>
                      <a:pPr algn="just">
                        <a:buFont typeface="Arial" panose="020B0604020202020204" pitchFamily="34" charset="0"/>
                        <a:buChar char="•"/>
                      </a:pPr>
                      <a:r>
                        <a:rPr lang="en-US" sz="1800">
                          <a:effectLst/>
                        </a:rPr>
                        <a:t>Profits on income by an organization</a:t>
                      </a:r>
                    </a:p>
                    <a:p>
                      <a:pPr algn="just">
                        <a:buFont typeface="Arial" panose="020B0604020202020204" pitchFamily="34" charset="0"/>
                        <a:buChar char="•"/>
                      </a:pPr>
                      <a:r>
                        <a:rPr lang="en-US" sz="1800">
                          <a:effectLst/>
                        </a:rPr>
                        <a:t>Profits on sale of a certain license</a:t>
                      </a:r>
                    </a:p>
                    <a:p>
                      <a:pPr algn="just">
                        <a:buFont typeface="Arial" panose="020B0604020202020204" pitchFamily="34" charset="0"/>
                        <a:buChar char="•"/>
                      </a:pPr>
                      <a:r>
                        <a:rPr lang="en-US" sz="1800">
                          <a:effectLst/>
                        </a:rPr>
                        <a:t>Cash received by an individual on export under a government scheme</a:t>
                      </a:r>
                    </a:p>
                    <a:p>
                      <a:pPr algn="just">
                        <a:buFont typeface="Arial" panose="020B0604020202020204" pitchFamily="34" charset="0"/>
                        <a:buChar char="•"/>
                      </a:pPr>
                      <a:r>
                        <a:rPr lang="en-US" sz="1800">
                          <a:effectLst/>
                        </a:rPr>
                        <a:t>Profit, salary or bonus received as a result of a partnership in a firm</a:t>
                      </a:r>
                    </a:p>
                    <a:p>
                      <a:pPr algn="just">
                        <a:buFont typeface="Arial" panose="020B0604020202020204" pitchFamily="34" charset="0"/>
                        <a:buChar char="•"/>
                      </a:pPr>
                      <a:r>
                        <a:rPr lang="en-US" sz="1800">
                          <a:effectLst/>
                        </a:rPr>
                        <a:t>Benefits received in a business</a:t>
                      </a:r>
                    </a:p>
                  </a:txBody>
                  <a:tcPr marL="22663" marR="22663" marT="11332" marB="11332">
                    <a:lnL w="9525" cap="flat" cmpd="sng" algn="ctr">
                      <a:solidFill>
                        <a:srgbClr val="2036D1"/>
                      </a:solidFill>
                      <a:prstDash val="solid"/>
                      <a:round/>
                      <a:headEnd type="none" w="med" len="med"/>
                      <a:tailEnd type="none" w="med" len="med"/>
                    </a:lnL>
                    <a:lnR w="9525" cap="flat" cmpd="sng" algn="ctr">
                      <a:solidFill>
                        <a:srgbClr val="2036D1"/>
                      </a:solidFill>
                      <a:prstDash val="solid"/>
                      <a:round/>
                      <a:headEnd type="none" w="med" len="med"/>
                      <a:tailEnd type="none" w="med" len="med"/>
                    </a:lnR>
                    <a:lnT w="9525" cap="flat" cmpd="sng" algn="ctr">
                      <a:solidFill>
                        <a:srgbClr val="60B2D3"/>
                      </a:solidFill>
                      <a:prstDash val="solid"/>
                      <a:round/>
                      <a:headEnd type="none" w="med" len="med"/>
                      <a:tailEnd type="none" w="med" len="med"/>
                    </a:lnT>
                    <a:lnB w="9525" cap="flat" cmpd="sng" algn="ctr">
                      <a:solidFill>
                        <a:srgbClr val="2036D1"/>
                      </a:solidFill>
                      <a:prstDash val="solid"/>
                      <a:round/>
                      <a:headEnd type="none" w="med" len="med"/>
                      <a:tailEnd type="none" w="med" len="med"/>
                    </a:lnB>
                    <a:solidFill>
                      <a:srgbClr val="FFFFFF"/>
                    </a:solidFill>
                  </a:tcPr>
                </a:tc>
                <a:extLst>
                  <a:ext uri="{0D108BD9-81ED-4DB2-BD59-A6C34878D82A}">
                    <a16:rowId xmlns:a16="http://schemas.microsoft.com/office/drawing/2014/main" val="2910160166"/>
                  </a:ext>
                </a:extLst>
              </a:tr>
              <a:tr h="498591">
                <a:tc>
                  <a:txBody>
                    <a:bodyPr/>
                    <a:lstStyle/>
                    <a:p>
                      <a:r>
                        <a:rPr lang="en-IN" sz="1800">
                          <a:effectLst/>
                        </a:rPr>
                        <a:t>Income from Capital Gains</a:t>
                      </a:r>
                    </a:p>
                  </a:txBody>
                  <a:tcPr marL="22663" marR="22663" marT="11332" marB="11332">
                    <a:lnL w="9525" cap="flat" cmpd="sng" algn="ctr">
                      <a:solidFill>
                        <a:srgbClr val="8033D1"/>
                      </a:solidFill>
                      <a:prstDash val="solid"/>
                      <a:round/>
                      <a:headEnd type="none" w="med" len="med"/>
                      <a:tailEnd type="none" w="med" len="med"/>
                    </a:lnL>
                    <a:lnR w="9525" cap="flat" cmpd="sng" algn="ctr">
                      <a:solidFill>
                        <a:srgbClr val="2036D1"/>
                      </a:solidFill>
                      <a:prstDash val="solid"/>
                      <a:round/>
                      <a:headEnd type="none" w="med" len="med"/>
                      <a:tailEnd type="none" w="med" len="med"/>
                    </a:lnR>
                    <a:lnT w="9525" cap="flat" cmpd="sng" algn="ctr">
                      <a:solidFill>
                        <a:srgbClr val="8033D1"/>
                      </a:solidFill>
                      <a:prstDash val="solid"/>
                      <a:round/>
                      <a:headEnd type="none" w="med" len="med"/>
                      <a:tailEnd type="none" w="med" len="med"/>
                    </a:lnT>
                    <a:lnB w="9525" cap="flat" cmpd="sng" algn="ctr">
                      <a:solidFill>
                        <a:srgbClr val="2036D1"/>
                      </a:solidFill>
                      <a:prstDash val="solid"/>
                      <a:round/>
                      <a:headEnd type="none" w="med" len="med"/>
                      <a:tailEnd type="none" w="med" len="med"/>
                    </a:lnB>
                    <a:solidFill>
                      <a:srgbClr val="FFFFFF"/>
                    </a:solidFill>
                  </a:tcPr>
                </a:tc>
                <a:tc>
                  <a:txBody>
                    <a:bodyPr/>
                    <a:lstStyle/>
                    <a:p>
                      <a:pPr algn="just"/>
                      <a:r>
                        <a:rPr lang="en-US" sz="1800">
                          <a:effectLst/>
                        </a:rPr>
                        <a:t>Any profits or gains arising from the transfer of a capital asset effected in the previous year will be chargeable to income-tax under the head 'Capital Gains'. Such </a:t>
                      </a:r>
                      <a:r>
                        <a:rPr lang="en-US" sz="1800" b="1">
                          <a:effectLst/>
                        </a:rPr>
                        <a:t>capital gains will be deemed to be the income of the previous year in which the transfer took place.</a:t>
                      </a:r>
                      <a:endParaRPr lang="en-US" sz="1800">
                        <a:effectLst/>
                      </a:endParaRPr>
                    </a:p>
                  </a:txBody>
                  <a:tcPr marL="22663" marR="22663" marT="11332" marB="11332">
                    <a:lnL w="9525" cap="flat" cmpd="sng" algn="ctr">
                      <a:solidFill>
                        <a:srgbClr val="2036D1"/>
                      </a:solidFill>
                      <a:prstDash val="solid"/>
                      <a:round/>
                      <a:headEnd type="none" w="med" len="med"/>
                      <a:tailEnd type="none" w="med" len="med"/>
                    </a:lnL>
                    <a:lnR w="9525" cap="flat" cmpd="sng" algn="ctr">
                      <a:solidFill>
                        <a:srgbClr val="2036D1"/>
                      </a:solidFill>
                      <a:prstDash val="solid"/>
                      <a:round/>
                      <a:headEnd type="none" w="med" len="med"/>
                      <a:tailEnd type="none" w="med" len="med"/>
                    </a:lnR>
                    <a:lnT w="9525" cap="flat" cmpd="sng" algn="ctr">
                      <a:solidFill>
                        <a:srgbClr val="2036D1"/>
                      </a:solidFill>
                      <a:prstDash val="solid"/>
                      <a:round/>
                      <a:headEnd type="none" w="med" len="med"/>
                      <a:tailEnd type="none" w="med" len="med"/>
                    </a:lnT>
                    <a:lnB w="9525" cap="flat" cmpd="sng" algn="ctr">
                      <a:solidFill>
                        <a:srgbClr val="E034D1"/>
                      </a:solidFill>
                      <a:prstDash val="solid"/>
                      <a:round/>
                      <a:headEnd type="none" w="med" len="med"/>
                      <a:tailEnd type="none" w="med" len="med"/>
                    </a:lnB>
                    <a:solidFill>
                      <a:srgbClr val="FFFFFF"/>
                    </a:solidFill>
                  </a:tcPr>
                </a:tc>
                <a:extLst>
                  <a:ext uri="{0D108BD9-81ED-4DB2-BD59-A6C34878D82A}">
                    <a16:rowId xmlns:a16="http://schemas.microsoft.com/office/drawing/2014/main" val="4012099819"/>
                  </a:ext>
                </a:extLst>
              </a:tr>
            </a:tbl>
          </a:graphicData>
        </a:graphic>
      </p:graphicFrame>
    </p:spTree>
    <p:extLst>
      <p:ext uri="{BB962C8B-B14F-4D97-AF65-F5344CB8AC3E}">
        <p14:creationId xmlns:p14="http://schemas.microsoft.com/office/powerpoint/2010/main" val="764908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9842" y="488307"/>
            <a:ext cx="10595296" cy="646331"/>
          </a:xfrm>
          <a:prstGeom prst="rect">
            <a:avLst/>
          </a:prstGeom>
        </p:spPr>
        <p:txBody>
          <a:bodyPr wrap="square">
            <a:spAutoFit/>
          </a:bodyPr>
          <a:lstStyle/>
          <a:p>
            <a:r>
              <a:rPr lang="en-US">
                <a:solidFill>
                  <a:srgbClr val="314351"/>
                </a:solidFill>
                <a:latin typeface="Roboto"/>
              </a:rPr>
              <a:t>You must determine your taxable income after you have the breakdown of your salary. The term "taxable income" refers to any sources of income other than your salary on which you must pay taxes.</a:t>
            </a:r>
            <a:endParaRPr lang="en-IN"/>
          </a:p>
        </p:txBody>
      </p:sp>
      <p:graphicFrame>
        <p:nvGraphicFramePr>
          <p:cNvPr id="3" name="Table 2"/>
          <p:cNvGraphicFramePr>
            <a:graphicFrameLocks noGrp="1"/>
          </p:cNvGraphicFramePr>
          <p:nvPr>
            <p:extLst>
              <p:ext uri="{D42A27DB-BD31-4B8C-83A1-F6EECF244321}">
                <p14:modId xmlns:p14="http://schemas.microsoft.com/office/powerpoint/2010/main" val="3923148449"/>
              </p:ext>
            </p:extLst>
          </p:nvPr>
        </p:nvGraphicFramePr>
        <p:xfrm>
          <a:off x="293615" y="1134638"/>
          <a:ext cx="11409026" cy="3611488"/>
        </p:xfrm>
        <a:graphic>
          <a:graphicData uri="http://schemas.openxmlformats.org/drawingml/2006/table">
            <a:tbl>
              <a:tblPr/>
              <a:tblGrid>
                <a:gridCol w="5704513">
                  <a:extLst>
                    <a:ext uri="{9D8B030D-6E8A-4147-A177-3AD203B41FA5}">
                      <a16:colId xmlns:a16="http://schemas.microsoft.com/office/drawing/2014/main" val="2429179522"/>
                    </a:ext>
                  </a:extLst>
                </a:gridCol>
                <a:gridCol w="5704513">
                  <a:extLst>
                    <a:ext uri="{9D8B030D-6E8A-4147-A177-3AD203B41FA5}">
                      <a16:colId xmlns:a16="http://schemas.microsoft.com/office/drawing/2014/main" val="60582299"/>
                    </a:ext>
                  </a:extLst>
                </a:gridCol>
              </a:tblGrid>
              <a:tr h="0">
                <a:tc>
                  <a:txBody>
                    <a:bodyPr/>
                    <a:lstStyle/>
                    <a:p>
                      <a:pPr marL="0" algn="l" defTabSz="914400" rtl="0" eaLnBrk="1" latinLnBrk="0" hangingPunct="1"/>
                      <a:r>
                        <a:rPr lang="en-IN" sz="1800" kern="1200">
                          <a:solidFill>
                            <a:schemeClr val="tx1"/>
                          </a:solidFill>
                          <a:effectLst/>
                          <a:latin typeface="+mn-lt"/>
                          <a:ea typeface="+mn-ea"/>
                          <a:cs typeface="+mn-cs"/>
                        </a:rPr>
                        <a:t>Income Source</a:t>
                      </a:r>
                    </a:p>
                  </a:txBody>
                  <a:tcPr marL="22663" marR="22663" marT="11332" marB="11332">
                    <a:lnL w="9525" cap="flat" cmpd="sng" algn="ctr">
                      <a:solidFill>
                        <a:srgbClr val="C0B3D3"/>
                      </a:solidFill>
                      <a:prstDash val="solid"/>
                      <a:round/>
                      <a:headEnd type="none" w="med" len="med"/>
                      <a:tailEnd type="none" w="med" len="med"/>
                    </a:lnL>
                    <a:lnR w="9525" cap="flat" cmpd="sng" algn="ctr">
                      <a:solidFill>
                        <a:srgbClr val="60B5D3"/>
                      </a:solidFill>
                      <a:prstDash val="solid"/>
                      <a:round/>
                      <a:headEnd type="none" w="med" len="med"/>
                      <a:tailEnd type="none" w="med" len="med"/>
                    </a:lnR>
                    <a:lnT w="9525" cap="flat" cmpd="sng" algn="ctr">
                      <a:solidFill>
                        <a:srgbClr val="A0B3D3"/>
                      </a:solidFill>
                      <a:prstDash val="solid"/>
                      <a:round/>
                      <a:headEnd type="none" w="med" len="med"/>
                      <a:tailEnd type="none" w="med" len="med"/>
                    </a:lnT>
                    <a:lnB w="9525" cap="flat" cmpd="sng" algn="ctr">
                      <a:solidFill>
                        <a:srgbClr val="107657"/>
                      </a:solidFill>
                      <a:prstDash val="solid"/>
                      <a:round/>
                      <a:headEnd type="none" w="med" len="med"/>
                      <a:tailEnd type="none" w="med" len="med"/>
                    </a:lnB>
                    <a:solidFill>
                      <a:srgbClr val="FFFFFF"/>
                    </a:solidFill>
                  </a:tcPr>
                </a:tc>
                <a:tc>
                  <a:txBody>
                    <a:bodyPr/>
                    <a:lstStyle/>
                    <a:p>
                      <a:pPr marL="0" algn="l" defTabSz="914400" rtl="0" eaLnBrk="1" latinLnBrk="0" hangingPunct="1"/>
                      <a:r>
                        <a:rPr lang="en-IN" sz="1800" kern="1200">
                          <a:solidFill>
                            <a:schemeClr val="tx1"/>
                          </a:solidFill>
                          <a:effectLst/>
                          <a:latin typeface="+mn-lt"/>
                          <a:ea typeface="+mn-ea"/>
                          <a:cs typeface="+mn-cs"/>
                        </a:rPr>
                        <a:t>Description</a:t>
                      </a:r>
                    </a:p>
                  </a:txBody>
                  <a:tcPr marL="22663" marR="22663" marT="11332" marB="11332">
                    <a:lnL w="9525" cap="flat" cmpd="sng" algn="ctr">
                      <a:solidFill>
                        <a:srgbClr val="60B5D3"/>
                      </a:solidFill>
                      <a:prstDash val="solid"/>
                      <a:round/>
                      <a:headEnd type="none" w="med" len="med"/>
                      <a:tailEnd type="none" w="med" len="med"/>
                    </a:lnL>
                    <a:lnR w="9525" cap="flat" cmpd="sng" algn="ctr">
                      <a:solidFill>
                        <a:srgbClr val="C0B3D3"/>
                      </a:solidFill>
                      <a:prstDash val="solid"/>
                      <a:round/>
                      <a:headEnd type="none" w="med" len="med"/>
                      <a:tailEnd type="none" w="med" len="med"/>
                    </a:lnR>
                    <a:lnT w="9525" cap="flat" cmpd="sng" algn="ctr">
                      <a:solidFill>
                        <a:srgbClr val="C0B3D3"/>
                      </a:solidFill>
                      <a:prstDash val="solid"/>
                      <a:round/>
                      <a:headEnd type="none" w="med" len="med"/>
                      <a:tailEnd type="none" w="med" len="med"/>
                    </a:lnT>
                    <a:lnB w="9525" cap="flat" cmpd="sng" algn="ctr">
                      <a:solidFill>
                        <a:srgbClr val="60B2D3"/>
                      </a:solidFill>
                      <a:prstDash val="solid"/>
                      <a:round/>
                      <a:headEnd type="none" w="med" len="med"/>
                      <a:tailEnd type="none" w="med" len="med"/>
                    </a:lnB>
                    <a:solidFill>
                      <a:srgbClr val="FFFFFF"/>
                    </a:solidFill>
                  </a:tcPr>
                </a:tc>
                <a:extLst>
                  <a:ext uri="{0D108BD9-81ED-4DB2-BD59-A6C34878D82A}">
                    <a16:rowId xmlns:a16="http://schemas.microsoft.com/office/drawing/2014/main" val="630872670"/>
                  </a:ext>
                </a:extLst>
              </a:tr>
              <a:tr h="1110498">
                <a:tc>
                  <a:txBody>
                    <a:bodyPr/>
                    <a:lstStyle/>
                    <a:p>
                      <a:r>
                        <a:rPr lang="en-IN" sz="1800">
                          <a:effectLst/>
                        </a:rPr>
                        <a:t>Income from other Sources</a:t>
                      </a:r>
                    </a:p>
                  </a:txBody>
                  <a:tcPr marL="22663" marR="22663" marT="11332" marB="11332">
                    <a:lnL w="9525" cap="flat" cmpd="sng" algn="ctr">
                      <a:solidFill>
                        <a:srgbClr val="2036D1"/>
                      </a:solidFill>
                      <a:prstDash val="solid"/>
                      <a:round/>
                      <a:headEnd type="none" w="med" len="med"/>
                      <a:tailEnd type="none" w="med" len="med"/>
                    </a:lnL>
                    <a:lnR w="9525" cap="flat" cmpd="sng" algn="ctr">
                      <a:solidFill>
                        <a:srgbClr val="E034D1"/>
                      </a:solidFill>
                      <a:prstDash val="solid"/>
                      <a:round/>
                      <a:headEnd type="none" w="med" len="med"/>
                      <a:tailEnd type="none" w="med" len="med"/>
                    </a:lnR>
                    <a:lnT w="9525" cap="flat" cmpd="sng" algn="ctr">
                      <a:solidFill>
                        <a:srgbClr val="107657"/>
                      </a:solidFill>
                      <a:prstDash val="solid"/>
                      <a:round/>
                      <a:headEnd type="none" w="med" len="med"/>
                      <a:tailEnd type="none" w="med" len="med"/>
                    </a:lnT>
                    <a:lnB w="9525" cap="flat" cmpd="sng" algn="ctr">
                      <a:solidFill>
                        <a:srgbClr val="2036D1"/>
                      </a:solidFill>
                      <a:prstDash val="solid"/>
                      <a:round/>
                      <a:headEnd type="none" w="med" len="med"/>
                      <a:tailEnd type="none" w="med" len="med"/>
                    </a:lnB>
                    <a:solidFill>
                      <a:srgbClr val="FFFFFF"/>
                    </a:solidFill>
                  </a:tcPr>
                </a:tc>
                <a:tc>
                  <a:txBody>
                    <a:bodyPr/>
                    <a:lstStyle/>
                    <a:p>
                      <a:r>
                        <a:rPr lang="en-US" sz="1800">
                          <a:effectLst/>
                        </a:rPr>
                        <a:t>Any income that is not eligible for tax under any other head of income and cannot be excluded from the total income is taxed as residual income under the head "Income from Other Sources". The following three conditions must be satisfied according to Section 56 of the Income Tax Act for an income to qualify as income from other sources.</a:t>
                      </a:r>
                    </a:p>
                    <a:p>
                      <a:pPr>
                        <a:buFont typeface="Arial" panose="020B0604020202020204" pitchFamily="34" charset="0"/>
                        <a:buChar char="•"/>
                      </a:pPr>
                      <a:r>
                        <a:rPr lang="en-US" sz="1800">
                          <a:effectLst/>
                        </a:rPr>
                        <a:t>Income is generated.</a:t>
                      </a:r>
                    </a:p>
                    <a:p>
                      <a:pPr>
                        <a:buFont typeface="Arial" panose="020B0604020202020204" pitchFamily="34" charset="0"/>
                        <a:buChar char="•"/>
                      </a:pPr>
                      <a:r>
                        <a:rPr lang="en-US" sz="1800">
                          <a:effectLst/>
                        </a:rPr>
                        <a:t>Any other provision of the Income Tax Act does not exempt such income.</a:t>
                      </a:r>
                    </a:p>
                    <a:p>
                      <a:pPr>
                        <a:buFont typeface="Arial" panose="020B0604020202020204" pitchFamily="34" charset="0"/>
                        <a:buChar char="•"/>
                      </a:pPr>
                      <a:r>
                        <a:rPr lang="en-US" sz="1800">
                          <a:effectLst/>
                        </a:rPr>
                        <a:t>Income from such sources cannot be claimed as salary, house property income, profits and gains from business or profession, or capital gains.</a:t>
                      </a:r>
                    </a:p>
                  </a:txBody>
                  <a:tcPr marL="22663" marR="22663" marT="11332" marB="11332">
                    <a:lnL w="9525" cap="flat" cmpd="sng" algn="ctr">
                      <a:solidFill>
                        <a:srgbClr val="E034D1"/>
                      </a:solidFill>
                      <a:prstDash val="solid"/>
                      <a:round/>
                      <a:headEnd type="none" w="med" len="med"/>
                      <a:tailEnd type="none" w="med" len="med"/>
                    </a:lnL>
                    <a:lnR w="9525" cap="flat" cmpd="sng" algn="ctr">
                      <a:solidFill>
                        <a:srgbClr val="E034D1"/>
                      </a:solidFill>
                      <a:prstDash val="solid"/>
                      <a:round/>
                      <a:headEnd type="none" w="med" len="med"/>
                      <a:tailEnd type="none" w="med" len="med"/>
                    </a:lnR>
                    <a:lnT w="9525" cap="flat" cmpd="sng" algn="ctr">
                      <a:solidFill>
                        <a:srgbClr val="60B2D3"/>
                      </a:solidFill>
                      <a:prstDash val="solid"/>
                      <a:round/>
                      <a:headEnd type="none" w="med" len="med"/>
                      <a:tailEnd type="none" w="med" len="med"/>
                    </a:lnT>
                    <a:lnB w="9525" cap="flat" cmpd="sng" algn="ctr">
                      <a:solidFill>
                        <a:srgbClr val="E034D1"/>
                      </a:solidFill>
                      <a:prstDash val="solid"/>
                      <a:round/>
                      <a:headEnd type="none" w="med" len="med"/>
                      <a:tailEnd type="none" w="med" len="med"/>
                    </a:lnB>
                    <a:solidFill>
                      <a:srgbClr val="FFFFFF"/>
                    </a:solidFill>
                  </a:tcPr>
                </a:tc>
                <a:extLst>
                  <a:ext uri="{0D108BD9-81ED-4DB2-BD59-A6C34878D82A}">
                    <a16:rowId xmlns:a16="http://schemas.microsoft.com/office/drawing/2014/main" val="3416429328"/>
                  </a:ext>
                </a:extLst>
              </a:tr>
            </a:tbl>
          </a:graphicData>
        </a:graphic>
      </p:graphicFrame>
    </p:spTree>
    <p:extLst>
      <p:ext uri="{BB962C8B-B14F-4D97-AF65-F5344CB8AC3E}">
        <p14:creationId xmlns:p14="http://schemas.microsoft.com/office/powerpoint/2010/main" val="643929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353597"/>
            <a:ext cx="10595295" cy="4524315"/>
          </a:xfrm>
          <a:prstGeom prst="rect">
            <a:avLst/>
          </a:prstGeom>
        </p:spPr>
        <p:txBody>
          <a:bodyPr wrap="square">
            <a:spAutoFit/>
          </a:bodyPr>
          <a:lstStyle/>
          <a:p>
            <a:pPr algn="just">
              <a:lnSpc>
                <a:spcPct val="150000"/>
              </a:lnSpc>
              <a:buFont typeface="Arial" panose="020B0604020202020204" pitchFamily="34" charset="0"/>
              <a:buChar char="•"/>
            </a:pPr>
            <a:r>
              <a:rPr lang="en-US" sz="2400" b="1" u="sng">
                <a:solidFill>
                  <a:srgbClr val="212529"/>
                </a:solidFill>
                <a:latin typeface="Roboto"/>
              </a:rPr>
              <a:t>Payable Tax Calculation </a:t>
            </a:r>
            <a:r>
              <a:rPr lang="en-US" sz="2400">
                <a:solidFill>
                  <a:srgbClr val="212529"/>
                </a:solidFill>
                <a:latin typeface="Roboto"/>
              </a:rPr>
              <a:t>- The final and most important step is to compute the tax payable. After adjusting the advance tax and tax deducted at source, the assessee would arrive at the amount of net tax payable or refundable. Such amount should be rounded off to the nearest multiple of 10 as per section 288B. The assessee has to pay the amount of tax payable (called self-assessment tax) on or before the due date of filing of the return. Similarly, if any refund is due, assessee will get the same after filing the return of income.</a:t>
            </a:r>
            <a:endParaRPr lang="en-US" sz="2400" b="0" i="0">
              <a:solidFill>
                <a:srgbClr val="212529"/>
              </a:solidFill>
              <a:effectLst/>
              <a:latin typeface="Roboto"/>
            </a:endParaRPr>
          </a:p>
        </p:txBody>
      </p:sp>
      <p:sp>
        <p:nvSpPr>
          <p:cNvPr id="3" name="Rectangle 2"/>
          <p:cNvSpPr/>
          <p:nvPr/>
        </p:nvSpPr>
        <p:spPr>
          <a:xfrm>
            <a:off x="816527" y="4993034"/>
            <a:ext cx="10475053" cy="1200329"/>
          </a:xfrm>
          <a:prstGeom prst="rect">
            <a:avLst/>
          </a:prstGeom>
        </p:spPr>
        <p:txBody>
          <a:bodyPr wrap="square">
            <a:spAutoFit/>
          </a:bodyPr>
          <a:lstStyle/>
          <a:p>
            <a:pPr algn="just"/>
            <a:r>
              <a:rPr lang="en-US">
                <a:solidFill>
                  <a:srgbClr val="1F1F1F"/>
                </a:solidFill>
                <a:latin typeface="Arial" panose="020B0604020202020204" pitchFamily="34" charset="0"/>
              </a:rPr>
              <a:t>An assessee is </a:t>
            </a:r>
            <a:r>
              <a:rPr lang="en-US">
                <a:solidFill>
                  <a:srgbClr val="040C28"/>
                </a:solidFill>
                <a:latin typeface="Arial" panose="020B0604020202020204" pitchFamily="34" charset="0"/>
              </a:rPr>
              <a:t>any individual who is liable to pay taxes to the government against any kind of income earned or any losses incurred by him for a particular assessment year</a:t>
            </a:r>
            <a:r>
              <a:rPr lang="en-US">
                <a:solidFill>
                  <a:srgbClr val="1F1F1F"/>
                </a:solidFill>
                <a:latin typeface="Arial" panose="020B0604020202020204" pitchFamily="34" charset="0"/>
              </a:rPr>
              <a:t>. Each and every person who has been taxed in the previous years for income earned by him is treated as an Assessee under the Income Tax Act, 1961.</a:t>
            </a:r>
            <a:endParaRPr lang="en-IN"/>
          </a:p>
        </p:txBody>
      </p:sp>
    </p:spTree>
    <p:extLst>
      <p:ext uri="{BB962C8B-B14F-4D97-AF65-F5344CB8AC3E}">
        <p14:creationId xmlns:p14="http://schemas.microsoft.com/office/powerpoint/2010/main" val="1439921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3399" y="169526"/>
            <a:ext cx="10150679" cy="1674946"/>
          </a:xfrm>
          <a:prstGeom prst="rect">
            <a:avLst/>
          </a:prstGeom>
        </p:spPr>
        <p:txBody>
          <a:bodyPr wrap="square">
            <a:spAutoFit/>
          </a:bodyPr>
          <a:lstStyle/>
          <a:p>
            <a:pPr algn="just">
              <a:lnSpc>
                <a:spcPct val="200000"/>
              </a:lnSpc>
            </a:pPr>
            <a:r>
              <a:rPr lang="en-US">
                <a:solidFill>
                  <a:srgbClr val="314351"/>
                </a:solidFill>
                <a:latin typeface="Roboto"/>
              </a:rPr>
              <a:t>For an individual taxpayer under the age of 60, </a:t>
            </a:r>
          </a:p>
          <a:p>
            <a:pPr algn="just">
              <a:lnSpc>
                <a:spcPct val="200000"/>
              </a:lnSpc>
            </a:pPr>
            <a:r>
              <a:rPr lang="en-US">
                <a:solidFill>
                  <a:srgbClr val="314351"/>
                </a:solidFill>
                <a:latin typeface="Roboto"/>
              </a:rPr>
              <a:t>the following are the applicable </a:t>
            </a:r>
            <a:r>
              <a:rPr lang="en-US">
                <a:latin typeface="Roboto"/>
                <a:hlinkClick r:id="rId2" tooltip="income tax slabs"/>
              </a:rPr>
              <a:t>tax rates/ tax slabs</a:t>
            </a:r>
            <a:r>
              <a:rPr lang="en-US">
                <a:solidFill>
                  <a:srgbClr val="314351"/>
                </a:solidFill>
                <a:latin typeface="Roboto"/>
              </a:rPr>
              <a:t> under the </a:t>
            </a:r>
            <a:r>
              <a:rPr lang="en-US">
                <a:latin typeface="Roboto"/>
                <a:hlinkClick r:id="rId3" tooltip="Old Tax Regime"/>
              </a:rPr>
              <a:t>old tax regime</a:t>
            </a:r>
            <a:r>
              <a:rPr lang="en-US">
                <a:solidFill>
                  <a:srgbClr val="314351"/>
                </a:solidFill>
                <a:latin typeface="Roboto"/>
              </a:rPr>
              <a:t> and new tax regime. Any one of these two tax regimes can be opted by the taxpayer.</a:t>
            </a:r>
            <a:endParaRPr lang="en-IN"/>
          </a:p>
        </p:txBody>
      </p:sp>
      <p:graphicFrame>
        <p:nvGraphicFramePr>
          <p:cNvPr id="3" name="Table 2"/>
          <p:cNvGraphicFramePr>
            <a:graphicFrameLocks noGrp="1"/>
          </p:cNvGraphicFramePr>
          <p:nvPr>
            <p:extLst>
              <p:ext uri="{D42A27DB-BD31-4B8C-83A1-F6EECF244321}">
                <p14:modId xmlns:p14="http://schemas.microsoft.com/office/powerpoint/2010/main" val="1262024344"/>
              </p:ext>
            </p:extLst>
          </p:nvPr>
        </p:nvGraphicFramePr>
        <p:xfrm>
          <a:off x="931178" y="2008483"/>
          <a:ext cx="4555222" cy="2103120"/>
        </p:xfrm>
        <a:graphic>
          <a:graphicData uri="http://schemas.openxmlformats.org/drawingml/2006/table">
            <a:tbl>
              <a:tblPr/>
              <a:tblGrid>
                <a:gridCol w="2214694">
                  <a:extLst>
                    <a:ext uri="{9D8B030D-6E8A-4147-A177-3AD203B41FA5}">
                      <a16:colId xmlns:a16="http://schemas.microsoft.com/office/drawing/2014/main" val="4132255827"/>
                    </a:ext>
                  </a:extLst>
                </a:gridCol>
                <a:gridCol w="2340528">
                  <a:extLst>
                    <a:ext uri="{9D8B030D-6E8A-4147-A177-3AD203B41FA5}">
                      <a16:colId xmlns:a16="http://schemas.microsoft.com/office/drawing/2014/main" val="2617546201"/>
                    </a:ext>
                  </a:extLst>
                </a:gridCol>
              </a:tblGrid>
              <a:tr h="0">
                <a:tc>
                  <a:txBody>
                    <a:bodyPr/>
                    <a:lstStyle/>
                    <a:p>
                      <a:pPr algn="l"/>
                      <a:r>
                        <a:rPr lang="en-IN">
                          <a:effectLst/>
                        </a:rPr>
                        <a:t>Tax slab</a:t>
                      </a:r>
                    </a:p>
                  </a:txBody>
                  <a:tcPr>
                    <a:lnL w="9525" cap="flat" cmpd="sng" algn="ctr">
                      <a:solidFill>
                        <a:srgbClr val="50E485"/>
                      </a:solidFill>
                      <a:prstDash val="solid"/>
                      <a:round/>
                      <a:headEnd type="none" w="med" len="med"/>
                      <a:tailEnd type="none" w="med" len="med"/>
                    </a:lnL>
                    <a:lnR w="9525" cap="flat" cmpd="sng" algn="ctr">
                      <a:solidFill>
                        <a:srgbClr val="90E285"/>
                      </a:solidFill>
                      <a:prstDash val="solid"/>
                      <a:round/>
                      <a:headEnd type="none" w="med" len="med"/>
                      <a:tailEnd type="none" w="med" len="med"/>
                    </a:lnR>
                    <a:lnT w="9525" cap="flat" cmpd="sng" algn="ctr">
                      <a:solidFill>
                        <a:srgbClr val="D0E685"/>
                      </a:solidFill>
                      <a:prstDash val="solid"/>
                      <a:round/>
                      <a:headEnd type="none" w="med" len="med"/>
                      <a:tailEnd type="none" w="med" len="med"/>
                    </a:lnT>
                    <a:lnB w="9525" cap="flat" cmpd="sng" algn="ctr">
                      <a:solidFill>
                        <a:srgbClr val="F0E485"/>
                      </a:solidFill>
                      <a:prstDash val="solid"/>
                      <a:round/>
                      <a:headEnd type="none" w="med" len="med"/>
                      <a:tailEnd type="none" w="med" len="med"/>
                    </a:lnB>
                    <a:solidFill>
                      <a:srgbClr val="FFFFFF"/>
                    </a:solidFill>
                  </a:tcPr>
                </a:tc>
                <a:tc>
                  <a:txBody>
                    <a:bodyPr/>
                    <a:lstStyle/>
                    <a:p>
                      <a:pPr algn="l"/>
                      <a:r>
                        <a:rPr lang="en-US">
                          <a:effectLst/>
                        </a:rPr>
                        <a:t>Tax rate as per old regime</a:t>
                      </a:r>
                    </a:p>
                  </a:txBody>
                  <a:tcPr>
                    <a:lnL w="9525" cap="flat" cmpd="sng" algn="ctr">
                      <a:solidFill>
                        <a:srgbClr val="90E285"/>
                      </a:solidFill>
                      <a:prstDash val="solid"/>
                      <a:round/>
                      <a:headEnd type="none" w="med" len="med"/>
                      <a:tailEnd type="none" w="med" len="med"/>
                    </a:lnL>
                    <a:lnR w="9525" cap="flat" cmpd="sng" algn="ctr">
                      <a:solidFill>
                        <a:srgbClr val="D0E685"/>
                      </a:solidFill>
                      <a:prstDash val="solid"/>
                      <a:round/>
                      <a:headEnd type="none" w="med" len="med"/>
                      <a:tailEnd type="none" w="med" len="med"/>
                    </a:lnR>
                    <a:lnT w="9525" cap="flat" cmpd="sng" algn="ctr">
                      <a:solidFill>
                        <a:srgbClr val="D0E685"/>
                      </a:solidFill>
                      <a:prstDash val="solid"/>
                      <a:round/>
                      <a:headEnd type="none" w="med" len="med"/>
                      <a:tailEnd type="none" w="med" len="med"/>
                    </a:lnT>
                    <a:lnB w="9525" cap="flat" cmpd="sng" algn="ctr">
                      <a:solidFill>
                        <a:srgbClr val="70E385"/>
                      </a:solidFill>
                      <a:prstDash val="solid"/>
                      <a:round/>
                      <a:headEnd type="none" w="med" len="med"/>
                      <a:tailEnd type="none" w="med" len="med"/>
                    </a:lnB>
                    <a:solidFill>
                      <a:srgbClr val="FFFFFF"/>
                    </a:solidFill>
                  </a:tcPr>
                </a:tc>
                <a:extLst>
                  <a:ext uri="{0D108BD9-81ED-4DB2-BD59-A6C34878D82A}">
                    <a16:rowId xmlns:a16="http://schemas.microsoft.com/office/drawing/2014/main" val="1368299045"/>
                  </a:ext>
                </a:extLst>
              </a:tr>
              <a:tr h="0">
                <a:tc>
                  <a:txBody>
                    <a:bodyPr/>
                    <a:lstStyle/>
                    <a:p>
                      <a:r>
                        <a:rPr lang="en-IN">
                          <a:effectLst/>
                        </a:rPr>
                        <a:t> 0 -   2,50,000</a:t>
                      </a:r>
                    </a:p>
                  </a:txBody>
                  <a:tcPr>
                    <a:lnL w="9525" cap="flat" cmpd="sng" algn="ctr">
                      <a:solidFill>
                        <a:srgbClr val="F0E485"/>
                      </a:solidFill>
                      <a:prstDash val="solid"/>
                      <a:round/>
                      <a:headEnd type="none" w="med" len="med"/>
                      <a:tailEnd type="none" w="med" len="med"/>
                    </a:lnL>
                    <a:lnR w="9525" cap="flat" cmpd="sng" algn="ctr">
                      <a:solidFill>
                        <a:srgbClr val="70E385"/>
                      </a:solidFill>
                      <a:prstDash val="solid"/>
                      <a:round/>
                      <a:headEnd type="none" w="med" len="med"/>
                      <a:tailEnd type="none" w="med" len="med"/>
                    </a:lnR>
                    <a:lnT w="9525" cap="flat" cmpd="sng" algn="ctr">
                      <a:solidFill>
                        <a:srgbClr val="F0E485"/>
                      </a:solidFill>
                      <a:prstDash val="solid"/>
                      <a:round/>
                      <a:headEnd type="none" w="med" len="med"/>
                      <a:tailEnd type="none" w="med" len="med"/>
                    </a:lnT>
                    <a:lnB w="9525" cap="flat" cmpd="sng" algn="ctr">
                      <a:solidFill>
                        <a:srgbClr val="F0E685"/>
                      </a:solidFill>
                      <a:prstDash val="solid"/>
                      <a:round/>
                      <a:headEnd type="none" w="med" len="med"/>
                      <a:tailEnd type="none" w="med" len="med"/>
                    </a:lnB>
                    <a:solidFill>
                      <a:srgbClr val="FFFFFF"/>
                    </a:solidFill>
                  </a:tcPr>
                </a:tc>
                <a:tc>
                  <a:txBody>
                    <a:bodyPr/>
                    <a:lstStyle/>
                    <a:p>
                      <a:r>
                        <a:rPr lang="en-IN">
                          <a:effectLst/>
                        </a:rPr>
                        <a:t>Nil</a:t>
                      </a:r>
                    </a:p>
                  </a:txBody>
                  <a:tcPr>
                    <a:lnL w="9525" cap="flat" cmpd="sng" algn="ctr">
                      <a:solidFill>
                        <a:srgbClr val="70E385"/>
                      </a:solidFill>
                      <a:prstDash val="solid"/>
                      <a:round/>
                      <a:headEnd type="none" w="med" len="med"/>
                      <a:tailEnd type="none" w="med" len="med"/>
                    </a:lnL>
                    <a:lnR w="9525" cap="flat" cmpd="sng" algn="ctr">
                      <a:solidFill>
                        <a:srgbClr val="70E385"/>
                      </a:solidFill>
                      <a:prstDash val="solid"/>
                      <a:round/>
                      <a:headEnd type="none" w="med" len="med"/>
                      <a:tailEnd type="none" w="med" len="med"/>
                    </a:lnR>
                    <a:lnT w="9525" cap="flat" cmpd="sng" algn="ctr">
                      <a:solidFill>
                        <a:srgbClr val="70E385"/>
                      </a:solidFill>
                      <a:prstDash val="solid"/>
                      <a:round/>
                      <a:headEnd type="none" w="med" len="med"/>
                      <a:tailEnd type="none" w="med" len="med"/>
                    </a:lnT>
                    <a:lnB w="9525" cap="flat" cmpd="sng" algn="ctr">
                      <a:solidFill>
                        <a:srgbClr val="30E685"/>
                      </a:solidFill>
                      <a:prstDash val="solid"/>
                      <a:round/>
                      <a:headEnd type="none" w="med" len="med"/>
                      <a:tailEnd type="none" w="med" len="med"/>
                    </a:lnB>
                    <a:solidFill>
                      <a:srgbClr val="FFFFFF"/>
                    </a:solidFill>
                  </a:tcPr>
                </a:tc>
                <a:extLst>
                  <a:ext uri="{0D108BD9-81ED-4DB2-BD59-A6C34878D82A}">
                    <a16:rowId xmlns:a16="http://schemas.microsoft.com/office/drawing/2014/main" val="2506668792"/>
                  </a:ext>
                </a:extLst>
              </a:tr>
              <a:tr h="0">
                <a:tc>
                  <a:txBody>
                    <a:bodyPr/>
                    <a:lstStyle/>
                    <a:p>
                      <a:r>
                        <a:rPr lang="en-IN">
                          <a:effectLst/>
                        </a:rPr>
                        <a:t>2,50,000 – 5,00,000</a:t>
                      </a:r>
                    </a:p>
                  </a:txBody>
                  <a:tcPr>
                    <a:lnL w="9525" cap="flat" cmpd="sng" algn="ctr">
                      <a:solidFill>
                        <a:srgbClr val="F0E685"/>
                      </a:solidFill>
                      <a:prstDash val="solid"/>
                      <a:round/>
                      <a:headEnd type="none" w="med" len="med"/>
                      <a:tailEnd type="none" w="med" len="med"/>
                    </a:lnL>
                    <a:lnR w="9525" cap="flat" cmpd="sng" algn="ctr">
                      <a:solidFill>
                        <a:srgbClr val="30E685"/>
                      </a:solidFill>
                      <a:prstDash val="solid"/>
                      <a:round/>
                      <a:headEnd type="none" w="med" len="med"/>
                      <a:tailEnd type="none" w="med" len="med"/>
                    </a:lnR>
                    <a:lnT w="9525" cap="flat" cmpd="sng" algn="ctr">
                      <a:solidFill>
                        <a:srgbClr val="F0E685"/>
                      </a:solidFill>
                      <a:prstDash val="solid"/>
                      <a:round/>
                      <a:headEnd type="none" w="med" len="med"/>
                      <a:tailEnd type="none" w="med" len="med"/>
                    </a:lnT>
                    <a:lnB w="9525" cap="flat" cmpd="sng" algn="ctr">
                      <a:solidFill>
                        <a:srgbClr val="70E785"/>
                      </a:solidFill>
                      <a:prstDash val="solid"/>
                      <a:round/>
                      <a:headEnd type="none" w="med" len="med"/>
                      <a:tailEnd type="none" w="med" len="med"/>
                    </a:lnB>
                    <a:solidFill>
                      <a:srgbClr val="FFFFFF"/>
                    </a:solidFill>
                  </a:tcPr>
                </a:tc>
                <a:tc>
                  <a:txBody>
                    <a:bodyPr/>
                    <a:lstStyle/>
                    <a:p>
                      <a:r>
                        <a:rPr lang="en-IN">
                          <a:effectLst/>
                        </a:rPr>
                        <a:t>5 %</a:t>
                      </a:r>
                    </a:p>
                  </a:txBody>
                  <a:tcPr>
                    <a:lnL w="9525" cap="flat" cmpd="sng" algn="ctr">
                      <a:solidFill>
                        <a:srgbClr val="30E685"/>
                      </a:solidFill>
                      <a:prstDash val="solid"/>
                      <a:round/>
                      <a:headEnd type="none" w="med" len="med"/>
                      <a:tailEnd type="none" w="med" len="med"/>
                    </a:lnL>
                    <a:lnR w="9525" cap="flat" cmpd="sng" algn="ctr">
                      <a:solidFill>
                        <a:srgbClr val="30E685"/>
                      </a:solidFill>
                      <a:prstDash val="solid"/>
                      <a:round/>
                      <a:headEnd type="none" w="med" len="med"/>
                      <a:tailEnd type="none" w="med" len="med"/>
                    </a:lnR>
                    <a:lnT w="9525" cap="flat" cmpd="sng" algn="ctr">
                      <a:solidFill>
                        <a:srgbClr val="30E685"/>
                      </a:solidFill>
                      <a:prstDash val="solid"/>
                      <a:round/>
                      <a:headEnd type="none" w="med" len="med"/>
                      <a:tailEnd type="none" w="med" len="med"/>
                    </a:lnT>
                    <a:lnB w="9525" cap="flat" cmpd="sng" algn="ctr">
                      <a:solidFill>
                        <a:srgbClr val="D0E485"/>
                      </a:solidFill>
                      <a:prstDash val="solid"/>
                      <a:round/>
                      <a:headEnd type="none" w="med" len="med"/>
                      <a:tailEnd type="none" w="med" len="med"/>
                    </a:lnB>
                    <a:solidFill>
                      <a:srgbClr val="FFFFFF"/>
                    </a:solidFill>
                  </a:tcPr>
                </a:tc>
                <a:extLst>
                  <a:ext uri="{0D108BD9-81ED-4DB2-BD59-A6C34878D82A}">
                    <a16:rowId xmlns:a16="http://schemas.microsoft.com/office/drawing/2014/main" val="2779779206"/>
                  </a:ext>
                </a:extLst>
              </a:tr>
              <a:tr h="0">
                <a:tc>
                  <a:txBody>
                    <a:bodyPr/>
                    <a:lstStyle/>
                    <a:p>
                      <a:r>
                        <a:rPr lang="en-IN">
                          <a:effectLst/>
                        </a:rPr>
                        <a:t>5,00,001 – 10,00,000</a:t>
                      </a:r>
                    </a:p>
                  </a:txBody>
                  <a:tcPr>
                    <a:lnL w="9525" cap="flat" cmpd="sng" algn="ctr">
                      <a:solidFill>
                        <a:srgbClr val="70E785"/>
                      </a:solidFill>
                      <a:prstDash val="solid"/>
                      <a:round/>
                      <a:headEnd type="none" w="med" len="med"/>
                      <a:tailEnd type="none" w="med" len="med"/>
                    </a:lnL>
                    <a:lnR w="9525" cap="flat" cmpd="sng" algn="ctr">
                      <a:solidFill>
                        <a:srgbClr val="D0E485"/>
                      </a:solidFill>
                      <a:prstDash val="solid"/>
                      <a:round/>
                      <a:headEnd type="none" w="med" len="med"/>
                      <a:tailEnd type="none" w="med" len="med"/>
                    </a:lnR>
                    <a:lnT w="9525" cap="flat" cmpd="sng" algn="ctr">
                      <a:solidFill>
                        <a:srgbClr val="70E785"/>
                      </a:solidFill>
                      <a:prstDash val="solid"/>
                      <a:round/>
                      <a:headEnd type="none" w="med" len="med"/>
                      <a:tailEnd type="none" w="med" len="med"/>
                    </a:lnT>
                    <a:lnB w="9525" cap="flat" cmpd="sng" algn="ctr">
                      <a:solidFill>
                        <a:srgbClr val="70E785"/>
                      </a:solidFill>
                      <a:prstDash val="solid"/>
                      <a:round/>
                      <a:headEnd type="none" w="med" len="med"/>
                      <a:tailEnd type="none" w="med" len="med"/>
                    </a:lnB>
                    <a:solidFill>
                      <a:srgbClr val="FFFFFF"/>
                    </a:solidFill>
                  </a:tcPr>
                </a:tc>
                <a:tc>
                  <a:txBody>
                    <a:bodyPr/>
                    <a:lstStyle/>
                    <a:p>
                      <a:r>
                        <a:rPr lang="en-IN">
                          <a:effectLst/>
                        </a:rPr>
                        <a:t>20 %</a:t>
                      </a:r>
                    </a:p>
                  </a:txBody>
                  <a:tcPr>
                    <a:lnL w="9525" cap="flat" cmpd="sng" algn="ctr">
                      <a:solidFill>
                        <a:srgbClr val="D0E485"/>
                      </a:solidFill>
                      <a:prstDash val="solid"/>
                      <a:round/>
                      <a:headEnd type="none" w="med" len="med"/>
                      <a:tailEnd type="none" w="med" len="med"/>
                    </a:lnL>
                    <a:lnR w="9525" cap="flat" cmpd="sng" algn="ctr">
                      <a:solidFill>
                        <a:srgbClr val="D0E485"/>
                      </a:solidFill>
                      <a:prstDash val="solid"/>
                      <a:round/>
                      <a:headEnd type="none" w="med" len="med"/>
                      <a:tailEnd type="none" w="med" len="med"/>
                    </a:lnR>
                    <a:lnT w="9525" cap="flat" cmpd="sng" algn="ctr">
                      <a:solidFill>
                        <a:srgbClr val="D0E485"/>
                      </a:solidFill>
                      <a:prstDash val="solid"/>
                      <a:round/>
                      <a:headEnd type="none" w="med" len="med"/>
                      <a:tailEnd type="none" w="med" len="med"/>
                    </a:lnT>
                    <a:lnB w="9525" cap="flat" cmpd="sng" algn="ctr">
                      <a:solidFill>
                        <a:srgbClr val="F0E485"/>
                      </a:solidFill>
                      <a:prstDash val="solid"/>
                      <a:round/>
                      <a:headEnd type="none" w="med" len="med"/>
                      <a:tailEnd type="none" w="med" len="med"/>
                    </a:lnB>
                    <a:solidFill>
                      <a:srgbClr val="FFFFFF"/>
                    </a:solidFill>
                  </a:tcPr>
                </a:tc>
                <a:extLst>
                  <a:ext uri="{0D108BD9-81ED-4DB2-BD59-A6C34878D82A}">
                    <a16:rowId xmlns:a16="http://schemas.microsoft.com/office/drawing/2014/main" val="2125028316"/>
                  </a:ext>
                </a:extLst>
              </a:tr>
              <a:tr h="0">
                <a:tc>
                  <a:txBody>
                    <a:bodyPr/>
                    <a:lstStyle/>
                    <a:p>
                      <a:r>
                        <a:rPr lang="en-IN">
                          <a:effectLst/>
                        </a:rPr>
                        <a:t>10,00,001 &amp; above</a:t>
                      </a:r>
                    </a:p>
                  </a:txBody>
                  <a:tcPr>
                    <a:lnL w="9525" cap="flat" cmpd="sng" algn="ctr">
                      <a:solidFill>
                        <a:srgbClr val="70E785"/>
                      </a:solidFill>
                      <a:prstDash val="solid"/>
                      <a:round/>
                      <a:headEnd type="none" w="med" len="med"/>
                      <a:tailEnd type="none" w="med" len="med"/>
                    </a:lnL>
                    <a:lnR w="9525" cap="flat" cmpd="sng" algn="ctr">
                      <a:solidFill>
                        <a:srgbClr val="F0E485"/>
                      </a:solidFill>
                      <a:prstDash val="solid"/>
                      <a:round/>
                      <a:headEnd type="none" w="med" len="med"/>
                      <a:tailEnd type="none" w="med" len="med"/>
                    </a:lnR>
                    <a:lnT w="9525" cap="flat" cmpd="sng" algn="ctr">
                      <a:solidFill>
                        <a:srgbClr val="70E785"/>
                      </a:solidFill>
                      <a:prstDash val="solid"/>
                      <a:round/>
                      <a:headEnd type="none" w="med" len="med"/>
                      <a:tailEnd type="none" w="med" len="med"/>
                    </a:lnT>
                    <a:lnB w="9525" cap="flat" cmpd="sng" algn="ctr">
                      <a:solidFill>
                        <a:srgbClr val="70E785"/>
                      </a:solidFill>
                      <a:prstDash val="solid"/>
                      <a:round/>
                      <a:headEnd type="none" w="med" len="med"/>
                      <a:tailEnd type="none" w="med" len="med"/>
                    </a:lnB>
                    <a:solidFill>
                      <a:srgbClr val="FFFFFF"/>
                    </a:solidFill>
                  </a:tcPr>
                </a:tc>
                <a:tc>
                  <a:txBody>
                    <a:bodyPr/>
                    <a:lstStyle/>
                    <a:p>
                      <a:r>
                        <a:rPr lang="en-IN">
                          <a:effectLst/>
                        </a:rPr>
                        <a:t>30 %</a:t>
                      </a:r>
                    </a:p>
                  </a:txBody>
                  <a:tcPr>
                    <a:lnL w="9525" cap="flat" cmpd="sng" algn="ctr">
                      <a:solidFill>
                        <a:srgbClr val="F0E485"/>
                      </a:solidFill>
                      <a:prstDash val="solid"/>
                      <a:round/>
                      <a:headEnd type="none" w="med" len="med"/>
                      <a:tailEnd type="none" w="med" len="med"/>
                    </a:lnL>
                    <a:lnR w="9525" cap="flat" cmpd="sng" algn="ctr">
                      <a:solidFill>
                        <a:srgbClr val="F0E485"/>
                      </a:solidFill>
                      <a:prstDash val="solid"/>
                      <a:round/>
                      <a:headEnd type="none" w="med" len="med"/>
                      <a:tailEnd type="none" w="med" len="med"/>
                    </a:lnR>
                    <a:lnT w="9525" cap="flat" cmpd="sng" algn="ctr">
                      <a:solidFill>
                        <a:srgbClr val="F0E485"/>
                      </a:solidFill>
                      <a:prstDash val="solid"/>
                      <a:round/>
                      <a:headEnd type="none" w="med" len="med"/>
                      <a:tailEnd type="none" w="med" len="med"/>
                    </a:lnT>
                    <a:lnB w="9525" cap="flat" cmpd="sng" algn="ctr">
                      <a:solidFill>
                        <a:srgbClr val="F0E485"/>
                      </a:solidFill>
                      <a:prstDash val="solid"/>
                      <a:round/>
                      <a:headEnd type="none" w="med" len="med"/>
                      <a:tailEnd type="none" w="med" len="med"/>
                    </a:lnB>
                    <a:solidFill>
                      <a:srgbClr val="FFFFFF"/>
                    </a:solidFill>
                  </a:tcPr>
                </a:tc>
                <a:extLst>
                  <a:ext uri="{0D108BD9-81ED-4DB2-BD59-A6C34878D82A}">
                    <a16:rowId xmlns:a16="http://schemas.microsoft.com/office/drawing/2014/main" val="377715134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389400597"/>
              </p:ext>
            </p:extLst>
          </p:nvPr>
        </p:nvGraphicFramePr>
        <p:xfrm>
          <a:off x="989898" y="4275614"/>
          <a:ext cx="5905852" cy="2346960"/>
        </p:xfrm>
        <a:graphic>
          <a:graphicData uri="http://schemas.openxmlformats.org/drawingml/2006/table">
            <a:tbl>
              <a:tblPr/>
              <a:tblGrid>
                <a:gridCol w="2952926">
                  <a:extLst>
                    <a:ext uri="{9D8B030D-6E8A-4147-A177-3AD203B41FA5}">
                      <a16:colId xmlns:a16="http://schemas.microsoft.com/office/drawing/2014/main" val="2131664857"/>
                    </a:ext>
                  </a:extLst>
                </a:gridCol>
                <a:gridCol w="2952926">
                  <a:extLst>
                    <a:ext uri="{9D8B030D-6E8A-4147-A177-3AD203B41FA5}">
                      <a16:colId xmlns:a16="http://schemas.microsoft.com/office/drawing/2014/main" val="597270908"/>
                    </a:ext>
                  </a:extLst>
                </a:gridCol>
              </a:tblGrid>
              <a:tr h="311987">
                <a:tc>
                  <a:txBody>
                    <a:bodyPr/>
                    <a:lstStyle/>
                    <a:p>
                      <a:pPr algn="l"/>
                      <a:r>
                        <a:rPr lang="en-IN" sz="1600">
                          <a:effectLst/>
                        </a:rPr>
                        <a:t>Tax slab</a:t>
                      </a:r>
                    </a:p>
                  </a:txBody>
                  <a:tcPr>
                    <a:lnL w="9525" cap="flat" cmpd="sng" algn="ctr">
                      <a:solidFill>
                        <a:srgbClr val="401A26"/>
                      </a:solidFill>
                      <a:prstDash val="solid"/>
                      <a:round/>
                      <a:headEnd type="none" w="med" len="med"/>
                      <a:tailEnd type="none" w="med" len="med"/>
                    </a:lnL>
                    <a:lnR w="9525" cap="flat" cmpd="sng" algn="ctr">
                      <a:solidFill>
                        <a:srgbClr val="E02826"/>
                      </a:solidFill>
                      <a:prstDash val="solid"/>
                      <a:round/>
                      <a:headEnd type="none" w="med" len="med"/>
                      <a:tailEnd type="none" w="med" len="med"/>
                    </a:lnR>
                    <a:lnT w="9525" cap="flat" cmpd="sng" algn="ctr">
                      <a:solidFill>
                        <a:srgbClr val="201A26"/>
                      </a:solidFill>
                      <a:prstDash val="solid"/>
                      <a:round/>
                      <a:headEnd type="none" w="med" len="med"/>
                      <a:tailEnd type="none" w="med" len="med"/>
                    </a:lnT>
                    <a:lnB w="9525" cap="flat" cmpd="sng" algn="ctr">
                      <a:solidFill>
                        <a:srgbClr val="601B26"/>
                      </a:solidFill>
                      <a:prstDash val="solid"/>
                      <a:round/>
                      <a:headEnd type="none" w="med" len="med"/>
                      <a:tailEnd type="none" w="med" len="med"/>
                    </a:lnB>
                    <a:solidFill>
                      <a:srgbClr val="FFFFFF"/>
                    </a:solidFill>
                  </a:tcPr>
                </a:tc>
                <a:tc>
                  <a:txBody>
                    <a:bodyPr/>
                    <a:lstStyle/>
                    <a:p>
                      <a:pPr algn="l"/>
                      <a:r>
                        <a:rPr lang="en-US" sz="1600">
                          <a:effectLst/>
                        </a:rPr>
                        <a:t>Tax rate as per new regime</a:t>
                      </a:r>
                    </a:p>
                  </a:txBody>
                  <a:tcPr>
                    <a:lnL w="9525" cap="flat" cmpd="sng" algn="ctr">
                      <a:solidFill>
                        <a:srgbClr val="E02826"/>
                      </a:solidFill>
                      <a:prstDash val="solid"/>
                      <a:round/>
                      <a:headEnd type="none" w="med" len="med"/>
                      <a:tailEnd type="none" w="med" len="med"/>
                    </a:lnL>
                    <a:lnR w="9525" cap="flat" cmpd="sng" algn="ctr">
                      <a:solidFill>
                        <a:srgbClr val="A01B26"/>
                      </a:solidFill>
                      <a:prstDash val="solid"/>
                      <a:round/>
                      <a:headEnd type="none" w="med" len="med"/>
                      <a:tailEnd type="none" w="med" len="med"/>
                    </a:lnR>
                    <a:lnT w="9525" cap="flat" cmpd="sng" algn="ctr">
                      <a:solidFill>
                        <a:srgbClr val="A01B26"/>
                      </a:solidFill>
                      <a:prstDash val="solid"/>
                      <a:round/>
                      <a:headEnd type="none" w="med" len="med"/>
                      <a:tailEnd type="none" w="med" len="med"/>
                    </a:lnT>
                    <a:lnB w="9525" cap="flat" cmpd="sng" algn="ctr">
                      <a:solidFill>
                        <a:srgbClr val="601B26"/>
                      </a:solidFill>
                      <a:prstDash val="solid"/>
                      <a:round/>
                      <a:headEnd type="none" w="med" len="med"/>
                      <a:tailEnd type="none" w="med" len="med"/>
                    </a:lnB>
                    <a:solidFill>
                      <a:srgbClr val="FFFFFF"/>
                    </a:solidFill>
                  </a:tcPr>
                </a:tc>
                <a:extLst>
                  <a:ext uri="{0D108BD9-81ED-4DB2-BD59-A6C34878D82A}">
                    <a16:rowId xmlns:a16="http://schemas.microsoft.com/office/drawing/2014/main" val="1826739236"/>
                  </a:ext>
                </a:extLst>
              </a:tr>
              <a:tr h="311987">
                <a:tc>
                  <a:txBody>
                    <a:bodyPr/>
                    <a:lstStyle/>
                    <a:p>
                      <a:r>
                        <a:rPr lang="en-IN" sz="1600">
                          <a:effectLst/>
                        </a:rPr>
                        <a:t>0 – 3,00,000</a:t>
                      </a:r>
                    </a:p>
                  </a:txBody>
                  <a:tcPr>
                    <a:lnL w="9525" cap="flat" cmpd="sng" algn="ctr">
                      <a:solidFill>
                        <a:srgbClr val="601B26"/>
                      </a:solidFill>
                      <a:prstDash val="solid"/>
                      <a:round/>
                      <a:headEnd type="none" w="med" len="med"/>
                      <a:tailEnd type="none" w="med" len="med"/>
                    </a:lnL>
                    <a:lnR w="9525" cap="flat" cmpd="sng" algn="ctr">
                      <a:solidFill>
                        <a:srgbClr val="601B26"/>
                      </a:solidFill>
                      <a:prstDash val="solid"/>
                      <a:round/>
                      <a:headEnd type="none" w="med" len="med"/>
                      <a:tailEnd type="none" w="med" len="med"/>
                    </a:lnR>
                    <a:lnT w="9525" cap="flat" cmpd="sng" algn="ctr">
                      <a:solidFill>
                        <a:srgbClr val="601B26"/>
                      </a:solidFill>
                      <a:prstDash val="solid"/>
                      <a:round/>
                      <a:headEnd type="none" w="med" len="med"/>
                      <a:tailEnd type="none" w="med" len="med"/>
                    </a:lnT>
                    <a:lnB w="9525" cap="flat" cmpd="sng" algn="ctr">
                      <a:solidFill>
                        <a:srgbClr val="C02F26"/>
                      </a:solidFill>
                      <a:prstDash val="solid"/>
                      <a:round/>
                      <a:headEnd type="none" w="med" len="med"/>
                      <a:tailEnd type="none" w="med" len="med"/>
                    </a:lnB>
                    <a:solidFill>
                      <a:srgbClr val="FFFFFF"/>
                    </a:solidFill>
                  </a:tcPr>
                </a:tc>
                <a:tc>
                  <a:txBody>
                    <a:bodyPr/>
                    <a:lstStyle/>
                    <a:p>
                      <a:r>
                        <a:rPr lang="en-IN" sz="1600">
                          <a:effectLst/>
                        </a:rPr>
                        <a:t>Nil</a:t>
                      </a:r>
                    </a:p>
                  </a:txBody>
                  <a:tcPr>
                    <a:lnL w="9525" cap="flat" cmpd="sng" algn="ctr">
                      <a:solidFill>
                        <a:srgbClr val="601B26"/>
                      </a:solidFill>
                      <a:prstDash val="solid"/>
                      <a:round/>
                      <a:headEnd type="none" w="med" len="med"/>
                      <a:tailEnd type="none" w="med" len="med"/>
                    </a:lnL>
                    <a:lnR w="9525" cap="flat" cmpd="sng" algn="ctr">
                      <a:solidFill>
                        <a:srgbClr val="601B26"/>
                      </a:solidFill>
                      <a:prstDash val="solid"/>
                      <a:round/>
                      <a:headEnd type="none" w="med" len="med"/>
                      <a:tailEnd type="none" w="med" len="med"/>
                    </a:lnR>
                    <a:lnT w="9525" cap="flat" cmpd="sng" algn="ctr">
                      <a:solidFill>
                        <a:srgbClr val="601B26"/>
                      </a:solidFill>
                      <a:prstDash val="solid"/>
                      <a:round/>
                      <a:headEnd type="none" w="med" len="med"/>
                      <a:tailEnd type="none" w="med" len="med"/>
                    </a:lnT>
                    <a:lnB w="9525" cap="flat" cmpd="sng" algn="ctr">
                      <a:solidFill>
                        <a:srgbClr val="A02D26"/>
                      </a:solidFill>
                      <a:prstDash val="solid"/>
                      <a:round/>
                      <a:headEnd type="none" w="med" len="med"/>
                      <a:tailEnd type="none" w="med" len="med"/>
                    </a:lnB>
                    <a:solidFill>
                      <a:srgbClr val="FFFFFF"/>
                    </a:solidFill>
                  </a:tcPr>
                </a:tc>
                <a:extLst>
                  <a:ext uri="{0D108BD9-81ED-4DB2-BD59-A6C34878D82A}">
                    <a16:rowId xmlns:a16="http://schemas.microsoft.com/office/drawing/2014/main" val="4068882543"/>
                  </a:ext>
                </a:extLst>
              </a:tr>
              <a:tr h="311987">
                <a:tc>
                  <a:txBody>
                    <a:bodyPr/>
                    <a:lstStyle/>
                    <a:p>
                      <a:r>
                        <a:rPr lang="en-IN" sz="1600">
                          <a:effectLst/>
                        </a:rPr>
                        <a:t>3,00,001 – 6,00,000</a:t>
                      </a:r>
                    </a:p>
                  </a:txBody>
                  <a:tcPr>
                    <a:lnL w="9525" cap="flat" cmpd="sng" algn="ctr">
                      <a:solidFill>
                        <a:srgbClr val="C02F26"/>
                      </a:solidFill>
                      <a:prstDash val="solid"/>
                      <a:round/>
                      <a:headEnd type="none" w="med" len="med"/>
                      <a:tailEnd type="none" w="med" len="med"/>
                    </a:lnL>
                    <a:lnR w="9525" cap="flat" cmpd="sng" algn="ctr">
                      <a:solidFill>
                        <a:srgbClr val="A02D26"/>
                      </a:solidFill>
                      <a:prstDash val="solid"/>
                      <a:round/>
                      <a:headEnd type="none" w="med" len="med"/>
                      <a:tailEnd type="none" w="med" len="med"/>
                    </a:lnR>
                    <a:lnT w="9525" cap="flat" cmpd="sng" algn="ctr">
                      <a:solidFill>
                        <a:srgbClr val="C02F26"/>
                      </a:solidFill>
                      <a:prstDash val="solid"/>
                      <a:round/>
                      <a:headEnd type="none" w="med" len="med"/>
                      <a:tailEnd type="none" w="med" len="med"/>
                    </a:lnT>
                    <a:lnB w="9525" cap="flat" cmpd="sng" algn="ctr">
                      <a:solidFill>
                        <a:srgbClr val="603126"/>
                      </a:solidFill>
                      <a:prstDash val="solid"/>
                      <a:round/>
                      <a:headEnd type="none" w="med" len="med"/>
                      <a:tailEnd type="none" w="med" len="med"/>
                    </a:lnB>
                    <a:solidFill>
                      <a:srgbClr val="FFFFFF"/>
                    </a:solidFill>
                  </a:tcPr>
                </a:tc>
                <a:tc>
                  <a:txBody>
                    <a:bodyPr/>
                    <a:lstStyle/>
                    <a:p>
                      <a:r>
                        <a:rPr lang="en-IN" sz="1600">
                          <a:effectLst/>
                        </a:rPr>
                        <a:t>5 %</a:t>
                      </a:r>
                    </a:p>
                  </a:txBody>
                  <a:tcPr>
                    <a:lnL w="9525" cap="flat" cmpd="sng" algn="ctr">
                      <a:solidFill>
                        <a:srgbClr val="A02D26"/>
                      </a:solidFill>
                      <a:prstDash val="solid"/>
                      <a:round/>
                      <a:headEnd type="none" w="med" len="med"/>
                      <a:tailEnd type="none" w="med" len="med"/>
                    </a:lnL>
                    <a:lnR w="9525" cap="flat" cmpd="sng" algn="ctr">
                      <a:solidFill>
                        <a:srgbClr val="A02D26"/>
                      </a:solidFill>
                      <a:prstDash val="solid"/>
                      <a:round/>
                      <a:headEnd type="none" w="med" len="med"/>
                      <a:tailEnd type="none" w="med" len="med"/>
                    </a:lnR>
                    <a:lnT w="9525" cap="flat" cmpd="sng" algn="ctr">
                      <a:solidFill>
                        <a:srgbClr val="A02D26"/>
                      </a:solidFill>
                      <a:prstDash val="solid"/>
                      <a:round/>
                      <a:headEnd type="none" w="med" len="med"/>
                      <a:tailEnd type="none" w="med" len="med"/>
                    </a:lnT>
                    <a:lnB w="9525" cap="flat" cmpd="sng" algn="ctr">
                      <a:solidFill>
                        <a:srgbClr val="C02F26"/>
                      </a:solidFill>
                      <a:prstDash val="solid"/>
                      <a:round/>
                      <a:headEnd type="none" w="med" len="med"/>
                      <a:tailEnd type="none" w="med" len="med"/>
                    </a:lnB>
                    <a:solidFill>
                      <a:srgbClr val="FFFFFF"/>
                    </a:solidFill>
                  </a:tcPr>
                </a:tc>
                <a:extLst>
                  <a:ext uri="{0D108BD9-81ED-4DB2-BD59-A6C34878D82A}">
                    <a16:rowId xmlns:a16="http://schemas.microsoft.com/office/drawing/2014/main" val="417598234"/>
                  </a:ext>
                </a:extLst>
              </a:tr>
              <a:tr h="311987">
                <a:tc>
                  <a:txBody>
                    <a:bodyPr/>
                    <a:lstStyle/>
                    <a:p>
                      <a:r>
                        <a:rPr lang="en-IN" sz="1600">
                          <a:effectLst/>
                        </a:rPr>
                        <a:t>6,00,001 – 9,00,000</a:t>
                      </a:r>
                    </a:p>
                  </a:txBody>
                  <a:tcPr>
                    <a:lnL w="9525" cap="flat" cmpd="sng" algn="ctr">
                      <a:solidFill>
                        <a:srgbClr val="603126"/>
                      </a:solidFill>
                      <a:prstDash val="solid"/>
                      <a:round/>
                      <a:headEnd type="none" w="med" len="med"/>
                      <a:tailEnd type="none" w="med" len="med"/>
                    </a:lnL>
                    <a:lnR w="9525" cap="flat" cmpd="sng" algn="ctr">
                      <a:solidFill>
                        <a:srgbClr val="C02F26"/>
                      </a:solidFill>
                      <a:prstDash val="solid"/>
                      <a:round/>
                      <a:headEnd type="none" w="med" len="med"/>
                      <a:tailEnd type="none" w="med" len="med"/>
                    </a:lnR>
                    <a:lnT w="9525" cap="flat" cmpd="sng" algn="ctr">
                      <a:solidFill>
                        <a:srgbClr val="603126"/>
                      </a:solidFill>
                      <a:prstDash val="solid"/>
                      <a:round/>
                      <a:headEnd type="none" w="med" len="med"/>
                      <a:tailEnd type="none" w="med" len="med"/>
                    </a:lnT>
                    <a:lnB w="9525" cap="flat" cmpd="sng" algn="ctr">
                      <a:solidFill>
                        <a:srgbClr val="402C26"/>
                      </a:solidFill>
                      <a:prstDash val="solid"/>
                      <a:round/>
                      <a:headEnd type="none" w="med" len="med"/>
                      <a:tailEnd type="none" w="med" len="med"/>
                    </a:lnB>
                    <a:solidFill>
                      <a:srgbClr val="FFFFFF"/>
                    </a:solidFill>
                  </a:tcPr>
                </a:tc>
                <a:tc>
                  <a:txBody>
                    <a:bodyPr/>
                    <a:lstStyle/>
                    <a:p>
                      <a:r>
                        <a:rPr lang="en-IN" sz="1600">
                          <a:effectLst/>
                        </a:rPr>
                        <a:t>10 %</a:t>
                      </a:r>
                    </a:p>
                  </a:txBody>
                  <a:tcPr>
                    <a:lnL w="9525" cap="flat" cmpd="sng" algn="ctr">
                      <a:solidFill>
                        <a:srgbClr val="C02F26"/>
                      </a:solidFill>
                      <a:prstDash val="solid"/>
                      <a:round/>
                      <a:headEnd type="none" w="med" len="med"/>
                      <a:tailEnd type="none" w="med" len="med"/>
                    </a:lnL>
                    <a:lnR w="9525" cap="flat" cmpd="sng" algn="ctr">
                      <a:solidFill>
                        <a:srgbClr val="C02F26"/>
                      </a:solidFill>
                      <a:prstDash val="solid"/>
                      <a:round/>
                      <a:headEnd type="none" w="med" len="med"/>
                      <a:tailEnd type="none" w="med" len="med"/>
                    </a:lnR>
                    <a:lnT w="9525" cap="flat" cmpd="sng" algn="ctr">
                      <a:solidFill>
                        <a:srgbClr val="C02F26"/>
                      </a:solidFill>
                      <a:prstDash val="solid"/>
                      <a:round/>
                      <a:headEnd type="none" w="med" len="med"/>
                      <a:tailEnd type="none" w="med" len="med"/>
                    </a:lnT>
                    <a:lnB w="9525" cap="flat" cmpd="sng" algn="ctr">
                      <a:solidFill>
                        <a:srgbClr val="802C26"/>
                      </a:solidFill>
                      <a:prstDash val="solid"/>
                      <a:round/>
                      <a:headEnd type="none" w="med" len="med"/>
                      <a:tailEnd type="none" w="med" len="med"/>
                    </a:lnB>
                    <a:solidFill>
                      <a:srgbClr val="FFFFFF"/>
                    </a:solidFill>
                  </a:tcPr>
                </a:tc>
                <a:extLst>
                  <a:ext uri="{0D108BD9-81ED-4DB2-BD59-A6C34878D82A}">
                    <a16:rowId xmlns:a16="http://schemas.microsoft.com/office/drawing/2014/main" val="139259350"/>
                  </a:ext>
                </a:extLst>
              </a:tr>
              <a:tr h="311987">
                <a:tc>
                  <a:txBody>
                    <a:bodyPr/>
                    <a:lstStyle/>
                    <a:p>
                      <a:r>
                        <a:rPr lang="en-IN" sz="1600">
                          <a:effectLst/>
                        </a:rPr>
                        <a:t>9,00,001 – 12,00,000</a:t>
                      </a:r>
                    </a:p>
                  </a:txBody>
                  <a:tcPr>
                    <a:lnL w="9525" cap="flat" cmpd="sng" algn="ctr">
                      <a:solidFill>
                        <a:srgbClr val="402C26"/>
                      </a:solidFill>
                      <a:prstDash val="solid"/>
                      <a:round/>
                      <a:headEnd type="none" w="med" len="med"/>
                      <a:tailEnd type="none" w="med" len="med"/>
                    </a:lnL>
                    <a:lnR w="9525" cap="flat" cmpd="sng" algn="ctr">
                      <a:solidFill>
                        <a:srgbClr val="802C26"/>
                      </a:solidFill>
                      <a:prstDash val="solid"/>
                      <a:round/>
                      <a:headEnd type="none" w="med" len="med"/>
                      <a:tailEnd type="none" w="med" len="med"/>
                    </a:lnR>
                    <a:lnT w="9525" cap="flat" cmpd="sng" algn="ctr">
                      <a:solidFill>
                        <a:srgbClr val="402C26"/>
                      </a:solidFill>
                      <a:prstDash val="solid"/>
                      <a:round/>
                      <a:headEnd type="none" w="med" len="med"/>
                      <a:tailEnd type="none" w="med" len="med"/>
                    </a:lnT>
                    <a:lnB w="9525" cap="flat" cmpd="sng" algn="ctr">
                      <a:solidFill>
                        <a:srgbClr val="A02C26"/>
                      </a:solidFill>
                      <a:prstDash val="solid"/>
                      <a:round/>
                      <a:headEnd type="none" w="med" len="med"/>
                      <a:tailEnd type="none" w="med" len="med"/>
                    </a:lnB>
                    <a:solidFill>
                      <a:srgbClr val="FFFFFF"/>
                    </a:solidFill>
                  </a:tcPr>
                </a:tc>
                <a:tc>
                  <a:txBody>
                    <a:bodyPr/>
                    <a:lstStyle/>
                    <a:p>
                      <a:r>
                        <a:rPr lang="en-IN" sz="1600">
                          <a:effectLst/>
                        </a:rPr>
                        <a:t>15 %</a:t>
                      </a:r>
                    </a:p>
                  </a:txBody>
                  <a:tcPr>
                    <a:lnL w="9525" cap="flat" cmpd="sng" algn="ctr">
                      <a:solidFill>
                        <a:srgbClr val="802C26"/>
                      </a:solidFill>
                      <a:prstDash val="solid"/>
                      <a:round/>
                      <a:headEnd type="none" w="med" len="med"/>
                      <a:tailEnd type="none" w="med" len="med"/>
                    </a:lnL>
                    <a:lnR w="9525" cap="flat" cmpd="sng" algn="ctr">
                      <a:solidFill>
                        <a:srgbClr val="802C26"/>
                      </a:solidFill>
                      <a:prstDash val="solid"/>
                      <a:round/>
                      <a:headEnd type="none" w="med" len="med"/>
                      <a:tailEnd type="none" w="med" len="med"/>
                    </a:lnR>
                    <a:lnT w="9525" cap="flat" cmpd="sng" algn="ctr">
                      <a:solidFill>
                        <a:srgbClr val="802C26"/>
                      </a:solidFill>
                      <a:prstDash val="solid"/>
                      <a:round/>
                      <a:headEnd type="none" w="med" len="med"/>
                      <a:tailEnd type="none" w="med" len="med"/>
                    </a:lnT>
                    <a:lnB w="9525" cap="flat" cmpd="sng" algn="ctr">
                      <a:solidFill>
                        <a:srgbClr val="002E26"/>
                      </a:solidFill>
                      <a:prstDash val="solid"/>
                      <a:round/>
                      <a:headEnd type="none" w="med" len="med"/>
                      <a:tailEnd type="none" w="med" len="med"/>
                    </a:lnB>
                    <a:solidFill>
                      <a:srgbClr val="FFFFFF"/>
                    </a:solidFill>
                  </a:tcPr>
                </a:tc>
                <a:extLst>
                  <a:ext uri="{0D108BD9-81ED-4DB2-BD59-A6C34878D82A}">
                    <a16:rowId xmlns:a16="http://schemas.microsoft.com/office/drawing/2014/main" val="3237121111"/>
                  </a:ext>
                </a:extLst>
              </a:tr>
              <a:tr h="311987">
                <a:tc>
                  <a:txBody>
                    <a:bodyPr/>
                    <a:lstStyle/>
                    <a:p>
                      <a:r>
                        <a:rPr lang="en-IN" sz="1600">
                          <a:effectLst/>
                        </a:rPr>
                        <a:t>12,00,001 – 15,00,000</a:t>
                      </a:r>
                    </a:p>
                  </a:txBody>
                  <a:tcPr>
                    <a:lnL w="9525" cap="flat" cmpd="sng" algn="ctr">
                      <a:solidFill>
                        <a:srgbClr val="A02C26"/>
                      </a:solidFill>
                      <a:prstDash val="solid"/>
                      <a:round/>
                      <a:headEnd type="none" w="med" len="med"/>
                      <a:tailEnd type="none" w="med" len="med"/>
                    </a:lnL>
                    <a:lnR w="9525" cap="flat" cmpd="sng" algn="ctr">
                      <a:solidFill>
                        <a:srgbClr val="002E26"/>
                      </a:solidFill>
                      <a:prstDash val="solid"/>
                      <a:round/>
                      <a:headEnd type="none" w="med" len="med"/>
                      <a:tailEnd type="none" w="med" len="med"/>
                    </a:lnR>
                    <a:lnT w="9525" cap="flat" cmpd="sng" algn="ctr">
                      <a:solidFill>
                        <a:srgbClr val="A02C26"/>
                      </a:solidFill>
                      <a:prstDash val="solid"/>
                      <a:round/>
                      <a:headEnd type="none" w="med" len="med"/>
                      <a:tailEnd type="none" w="med" len="med"/>
                    </a:lnT>
                    <a:lnB w="9525" cap="flat" cmpd="sng" algn="ctr">
                      <a:solidFill>
                        <a:srgbClr val="203526"/>
                      </a:solidFill>
                      <a:prstDash val="solid"/>
                      <a:round/>
                      <a:headEnd type="none" w="med" len="med"/>
                      <a:tailEnd type="none" w="med" len="med"/>
                    </a:lnB>
                    <a:solidFill>
                      <a:srgbClr val="FFFFFF"/>
                    </a:solidFill>
                  </a:tcPr>
                </a:tc>
                <a:tc>
                  <a:txBody>
                    <a:bodyPr/>
                    <a:lstStyle/>
                    <a:p>
                      <a:r>
                        <a:rPr lang="en-IN" sz="1600">
                          <a:effectLst/>
                        </a:rPr>
                        <a:t>20 %</a:t>
                      </a:r>
                    </a:p>
                  </a:txBody>
                  <a:tcPr>
                    <a:lnL w="9525" cap="flat" cmpd="sng" algn="ctr">
                      <a:solidFill>
                        <a:srgbClr val="002E26"/>
                      </a:solidFill>
                      <a:prstDash val="solid"/>
                      <a:round/>
                      <a:headEnd type="none" w="med" len="med"/>
                      <a:tailEnd type="none" w="med" len="med"/>
                    </a:lnL>
                    <a:lnR w="9525" cap="flat" cmpd="sng" algn="ctr">
                      <a:solidFill>
                        <a:srgbClr val="002E26"/>
                      </a:solidFill>
                      <a:prstDash val="solid"/>
                      <a:round/>
                      <a:headEnd type="none" w="med" len="med"/>
                      <a:tailEnd type="none" w="med" len="med"/>
                    </a:lnR>
                    <a:lnT w="9525" cap="flat" cmpd="sng" algn="ctr">
                      <a:solidFill>
                        <a:srgbClr val="002E26"/>
                      </a:solidFill>
                      <a:prstDash val="solid"/>
                      <a:round/>
                      <a:headEnd type="none" w="med" len="med"/>
                      <a:tailEnd type="none" w="med" len="med"/>
                    </a:lnT>
                    <a:lnB w="9525" cap="flat" cmpd="sng" algn="ctr">
                      <a:solidFill>
                        <a:srgbClr val="203926"/>
                      </a:solidFill>
                      <a:prstDash val="solid"/>
                      <a:round/>
                      <a:headEnd type="none" w="med" len="med"/>
                      <a:tailEnd type="none" w="med" len="med"/>
                    </a:lnB>
                    <a:solidFill>
                      <a:srgbClr val="FFFFFF"/>
                    </a:solidFill>
                  </a:tcPr>
                </a:tc>
                <a:extLst>
                  <a:ext uri="{0D108BD9-81ED-4DB2-BD59-A6C34878D82A}">
                    <a16:rowId xmlns:a16="http://schemas.microsoft.com/office/drawing/2014/main" val="1749891816"/>
                  </a:ext>
                </a:extLst>
              </a:tr>
              <a:tr h="311987">
                <a:tc>
                  <a:txBody>
                    <a:bodyPr/>
                    <a:lstStyle/>
                    <a:p>
                      <a:r>
                        <a:rPr lang="en-IN" sz="1600">
                          <a:effectLst/>
                        </a:rPr>
                        <a:t>15,00,001 &amp; above</a:t>
                      </a:r>
                    </a:p>
                  </a:txBody>
                  <a:tcPr>
                    <a:lnL w="9525" cap="flat" cmpd="sng" algn="ctr">
                      <a:solidFill>
                        <a:srgbClr val="203526"/>
                      </a:solidFill>
                      <a:prstDash val="solid"/>
                      <a:round/>
                      <a:headEnd type="none" w="med" len="med"/>
                      <a:tailEnd type="none" w="med" len="med"/>
                    </a:lnL>
                    <a:lnR w="9525" cap="flat" cmpd="sng" algn="ctr">
                      <a:solidFill>
                        <a:srgbClr val="203926"/>
                      </a:solidFill>
                      <a:prstDash val="solid"/>
                      <a:round/>
                      <a:headEnd type="none" w="med" len="med"/>
                      <a:tailEnd type="none" w="med" len="med"/>
                    </a:lnR>
                    <a:lnT w="9525" cap="flat" cmpd="sng" algn="ctr">
                      <a:solidFill>
                        <a:srgbClr val="203526"/>
                      </a:solidFill>
                      <a:prstDash val="solid"/>
                      <a:round/>
                      <a:headEnd type="none" w="med" len="med"/>
                      <a:tailEnd type="none" w="med" len="med"/>
                    </a:lnT>
                    <a:lnB w="9525" cap="flat" cmpd="sng" algn="ctr">
                      <a:solidFill>
                        <a:srgbClr val="203526"/>
                      </a:solidFill>
                      <a:prstDash val="solid"/>
                      <a:round/>
                      <a:headEnd type="none" w="med" len="med"/>
                      <a:tailEnd type="none" w="med" len="med"/>
                    </a:lnB>
                    <a:solidFill>
                      <a:srgbClr val="FFFFFF"/>
                    </a:solidFill>
                  </a:tcPr>
                </a:tc>
                <a:tc>
                  <a:txBody>
                    <a:bodyPr/>
                    <a:lstStyle/>
                    <a:p>
                      <a:r>
                        <a:rPr lang="en-IN" sz="1600">
                          <a:effectLst/>
                        </a:rPr>
                        <a:t>30 %</a:t>
                      </a:r>
                    </a:p>
                  </a:txBody>
                  <a:tcPr>
                    <a:lnL w="9525" cap="flat" cmpd="sng" algn="ctr">
                      <a:solidFill>
                        <a:srgbClr val="203926"/>
                      </a:solidFill>
                      <a:prstDash val="solid"/>
                      <a:round/>
                      <a:headEnd type="none" w="med" len="med"/>
                      <a:tailEnd type="none" w="med" len="med"/>
                    </a:lnL>
                    <a:lnR w="9525" cap="flat" cmpd="sng" algn="ctr">
                      <a:solidFill>
                        <a:srgbClr val="203926"/>
                      </a:solidFill>
                      <a:prstDash val="solid"/>
                      <a:round/>
                      <a:headEnd type="none" w="med" len="med"/>
                      <a:tailEnd type="none" w="med" len="med"/>
                    </a:lnR>
                    <a:lnT w="9525" cap="flat" cmpd="sng" algn="ctr">
                      <a:solidFill>
                        <a:srgbClr val="203926"/>
                      </a:solidFill>
                      <a:prstDash val="solid"/>
                      <a:round/>
                      <a:headEnd type="none" w="med" len="med"/>
                      <a:tailEnd type="none" w="med" len="med"/>
                    </a:lnT>
                    <a:lnB w="9525" cap="flat" cmpd="sng" algn="ctr">
                      <a:solidFill>
                        <a:srgbClr val="203926"/>
                      </a:solidFill>
                      <a:prstDash val="solid"/>
                      <a:round/>
                      <a:headEnd type="none" w="med" len="med"/>
                      <a:tailEnd type="none" w="med" len="med"/>
                    </a:lnB>
                    <a:solidFill>
                      <a:srgbClr val="FFFFFF"/>
                    </a:solidFill>
                  </a:tcPr>
                </a:tc>
                <a:extLst>
                  <a:ext uri="{0D108BD9-81ED-4DB2-BD59-A6C34878D82A}">
                    <a16:rowId xmlns:a16="http://schemas.microsoft.com/office/drawing/2014/main" val="4068942081"/>
                  </a:ext>
                </a:extLst>
              </a:tr>
            </a:tbl>
          </a:graphicData>
        </a:graphic>
      </p:graphicFrame>
    </p:spTree>
    <p:extLst>
      <p:ext uri="{BB962C8B-B14F-4D97-AF65-F5344CB8AC3E}">
        <p14:creationId xmlns:p14="http://schemas.microsoft.com/office/powerpoint/2010/main" val="742728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7955" y="626158"/>
            <a:ext cx="10628851" cy="5009833"/>
          </a:xfrm>
          <a:prstGeom prst="rect">
            <a:avLst/>
          </a:prstGeom>
        </p:spPr>
        <p:txBody>
          <a:bodyPr wrap="square">
            <a:spAutoFit/>
          </a:bodyPr>
          <a:lstStyle/>
          <a:p>
            <a:pPr algn="just">
              <a:lnSpc>
                <a:spcPct val="150000"/>
              </a:lnSpc>
            </a:pPr>
            <a:r>
              <a:rPr lang="en-US" sz="2400">
                <a:latin typeface="Roboto"/>
              </a:rPr>
              <a:t>These rates are effective for the financial year 2023-24, which matches to the Assessment Year (AY) 2024-25. Over and above the total amount payable, the total tax rate is subject to surcharge and health and education cess at the rate of 4%.</a:t>
            </a:r>
          </a:p>
          <a:p>
            <a:pPr algn="just">
              <a:lnSpc>
                <a:spcPct val="150000"/>
              </a:lnSpc>
            </a:pPr>
            <a:r>
              <a:rPr lang="en-US" sz="2400">
                <a:latin typeface="Roboto"/>
              </a:rPr>
              <a:t>Furthermore, taxpayers who choose concessional rates under the New Tax regime will be required to forego some tax exemptions and deductions available under the old tax regime. There are many deductions and exemptions that are no longer available under the new tax regime. It is best to review the list beforehand.</a:t>
            </a:r>
            <a:endParaRPr lang="en-US" sz="2400" b="0" i="0">
              <a:effectLst/>
              <a:latin typeface="Roboto"/>
            </a:endParaRPr>
          </a:p>
        </p:txBody>
      </p:sp>
    </p:spTree>
    <p:extLst>
      <p:ext uri="{BB962C8B-B14F-4D97-AF65-F5344CB8AC3E}">
        <p14:creationId xmlns:p14="http://schemas.microsoft.com/office/powerpoint/2010/main" val="481839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165572423"/>
              </p:ext>
            </p:extLst>
          </p:nvPr>
        </p:nvGraphicFramePr>
        <p:xfrm>
          <a:off x="1266525" y="1766904"/>
          <a:ext cx="6719794" cy="4351334"/>
        </p:xfrm>
        <a:graphic>
          <a:graphicData uri="http://schemas.openxmlformats.org/drawingml/2006/table">
            <a:tbl>
              <a:tblPr/>
              <a:tblGrid>
                <a:gridCol w="3359897">
                  <a:extLst>
                    <a:ext uri="{9D8B030D-6E8A-4147-A177-3AD203B41FA5}">
                      <a16:colId xmlns:a16="http://schemas.microsoft.com/office/drawing/2014/main" val="1220085812"/>
                    </a:ext>
                  </a:extLst>
                </a:gridCol>
                <a:gridCol w="3359897">
                  <a:extLst>
                    <a:ext uri="{9D8B030D-6E8A-4147-A177-3AD203B41FA5}">
                      <a16:colId xmlns:a16="http://schemas.microsoft.com/office/drawing/2014/main" val="3402368381"/>
                    </a:ext>
                  </a:extLst>
                </a:gridCol>
              </a:tblGrid>
              <a:tr h="334718">
                <a:tc>
                  <a:txBody>
                    <a:bodyPr/>
                    <a:lstStyle/>
                    <a:p>
                      <a:pPr algn="l"/>
                      <a:r>
                        <a:rPr lang="en-IN" sz="1600">
                          <a:effectLst/>
                        </a:rPr>
                        <a:t>Particulars</a:t>
                      </a:r>
                    </a:p>
                  </a:txBody>
                  <a:tcPr marL="83680" marR="83680" marT="41840" marB="41840">
                    <a:lnL w="9525" cap="flat" cmpd="sng" algn="ctr">
                      <a:solidFill>
                        <a:srgbClr val="9089B4"/>
                      </a:solidFill>
                      <a:prstDash val="solid"/>
                      <a:round/>
                      <a:headEnd type="none" w="med" len="med"/>
                      <a:tailEnd type="none" w="med" len="med"/>
                    </a:lnL>
                    <a:lnR w="9525" cap="flat" cmpd="sng" algn="ctr">
                      <a:solidFill>
                        <a:srgbClr val="908CB4"/>
                      </a:solidFill>
                      <a:prstDash val="solid"/>
                      <a:round/>
                      <a:headEnd type="none" w="med" len="med"/>
                      <a:tailEnd type="none" w="med" len="med"/>
                    </a:lnR>
                    <a:lnT w="9525" cap="flat" cmpd="sng" algn="ctr">
                      <a:solidFill>
                        <a:srgbClr val="F089B4"/>
                      </a:solidFill>
                      <a:prstDash val="solid"/>
                      <a:round/>
                      <a:headEnd type="none" w="med" len="med"/>
                      <a:tailEnd type="none" w="med" len="med"/>
                    </a:lnT>
                    <a:lnB w="9525" cap="flat" cmpd="sng" algn="ctr">
                      <a:solidFill>
                        <a:srgbClr val="908CB4"/>
                      </a:solidFill>
                      <a:prstDash val="solid"/>
                      <a:round/>
                      <a:headEnd type="none" w="med" len="med"/>
                      <a:tailEnd type="none" w="med" len="med"/>
                    </a:lnB>
                    <a:solidFill>
                      <a:srgbClr val="FFFFFF"/>
                    </a:solidFill>
                  </a:tcPr>
                </a:tc>
                <a:tc>
                  <a:txBody>
                    <a:bodyPr/>
                    <a:lstStyle/>
                    <a:p>
                      <a:pPr algn="l"/>
                      <a:r>
                        <a:rPr lang="en-IN" sz="1600">
                          <a:effectLst/>
                        </a:rPr>
                        <a:t>Amount</a:t>
                      </a:r>
                    </a:p>
                  </a:txBody>
                  <a:tcPr marL="83680" marR="83680" marT="41840" marB="41840">
                    <a:lnL w="9525" cap="flat" cmpd="sng" algn="ctr">
                      <a:solidFill>
                        <a:srgbClr val="908CB4"/>
                      </a:solidFill>
                      <a:prstDash val="solid"/>
                      <a:round/>
                      <a:headEnd type="none" w="med" len="med"/>
                      <a:tailEnd type="none" w="med" len="med"/>
                    </a:lnL>
                    <a:lnR w="9525" cap="flat" cmpd="sng" algn="ctr">
                      <a:solidFill>
                        <a:srgbClr val="308AB4"/>
                      </a:solidFill>
                      <a:prstDash val="solid"/>
                      <a:round/>
                      <a:headEnd type="none" w="med" len="med"/>
                      <a:tailEnd type="none" w="med" len="med"/>
                    </a:lnR>
                    <a:lnT w="9525" cap="flat" cmpd="sng" algn="ctr">
                      <a:solidFill>
                        <a:srgbClr val="308AB4"/>
                      </a:solidFill>
                      <a:prstDash val="solid"/>
                      <a:round/>
                      <a:headEnd type="none" w="med" len="med"/>
                      <a:tailEnd type="none" w="med" len="med"/>
                    </a:lnT>
                    <a:lnB w="9525" cap="flat" cmpd="sng" algn="ctr">
                      <a:solidFill>
                        <a:srgbClr val="108CB4"/>
                      </a:solidFill>
                      <a:prstDash val="solid"/>
                      <a:round/>
                      <a:headEnd type="none" w="med" len="med"/>
                      <a:tailEnd type="none" w="med" len="med"/>
                    </a:lnB>
                    <a:solidFill>
                      <a:srgbClr val="FFFFFF"/>
                    </a:solidFill>
                  </a:tcPr>
                </a:tc>
                <a:extLst>
                  <a:ext uri="{0D108BD9-81ED-4DB2-BD59-A6C34878D82A}">
                    <a16:rowId xmlns:a16="http://schemas.microsoft.com/office/drawing/2014/main" val="2950348696"/>
                  </a:ext>
                </a:extLst>
              </a:tr>
              <a:tr h="334718">
                <a:tc>
                  <a:txBody>
                    <a:bodyPr/>
                    <a:lstStyle/>
                    <a:p>
                      <a:r>
                        <a:rPr lang="en-IN" sz="1600">
                          <a:effectLst/>
                        </a:rPr>
                        <a:t>Basic Salary</a:t>
                      </a:r>
                    </a:p>
                  </a:txBody>
                  <a:tcPr marL="83680" marR="83680" marT="41840" marB="41840">
                    <a:lnL w="9525" cap="flat" cmpd="sng" algn="ctr">
                      <a:solidFill>
                        <a:srgbClr val="908CB4"/>
                      </a:solidFill>
                      <a:prstDash val="solid"/>
                      <a:round/>
                      <a:headEnd type="none" w="med" len="med"/>
                      <a:tailEnd type="none" w="med" len="med"/>
                    </a:lnL>
                    <a:lnR w="9525" cap="flat" cmpd="sng" algn="ctr">
                      <a:solidFill>
                        <a:srgbClr val="108CB4"/>
                      </a:solidFill>
                      <a:prstDash val="solid"/>
                      <a:round/>
                      <a:headEnd type="none" w="med" len="med"/>
                      <a:tailEnd type="none" w="med" len="med"/>
                    </a:lnR>
                    <a:lnT w="9525" cap="flat" cmpd="sng" algn="ctr">
                      <a:solidFill>
                        <a:srgbClr val="908CB4"/>
                      </a:solidFill>
                      <a:prstDash val="solid"/>
                      <a:round/>
                      <a:headEnd type="none" w="med" len="med"/>
                      <a:tailEnd type="none" w="med" len="med"/>
                    </a:lnT>
                    <a:lnB w="9525" cap="flat" cmpd="sng" algn="ctr">
                      <a:solidFill>
                        <a:srgbClr val="108CB4"/>
                      </a:solidFill>
                      <a:prstDash val="solid"/>
                      <a:round/>
                      <a:headEnd type="none" w="med" len="med"/>
                      <a:tailEnd type="none" w="med" len="med"/>
                    </a:lnB>
                    <a:solidFill>
                      <a:srgbClr val="FFFFFF"/>
                    </a:solidFill>
                  </a:tcPr>
                </a:tc>
                <a:tc>
                  <a:txBody>
                    <a:bodyPr/>
                    <a:lstStyle/>
                    <a:p>
                      <a:r>
                        <a:rPr lang="en-IN" sz="1600">
                          <a:effectLst/>
                        </a:rPr>
                        <a:t>xxx</a:t>
                      </a:r>
                    </a:p>
                  </a:txBody>
                  <a:tcPr marL="83680" marR="83680" marT="41840" marB="41840">
                    <a:lnL w="9525" cap="flat" cmpd="sng" algn="ctr">
                      <a:solidFill>
                        <a:srgbClr val="108CB4"/>
                      </a:solidFill>
                      <a:prstDash val="solid"/>
                      <a:round/>
                      <a:headEnd type="none" w="med" len="med"/>
                      <a:tailEnd type="none" w="med" len="med"/>
                    </a:lnL>
                    <a:lnR w="9525" cap="flat" cmpd="sng" algn="ctr">
                      <a:solidFill>
                        <a:srgbClr val="108CB4"/>
                      </a:solidFill>
                      <a:prstDash val="solid"/>
                      <a:round/>
                      <a:headEnd type="none" w="med" len="med"/>
                      <a:tailEnd type="none" w="med" len="med"/>
                    </a:lnR>
                    <a:lnT w="9525" cap="flat" cmpd="sng" algn="ctr">
                      <a:solidFill>
                        <a:srgbClr val="108CB4"/>
                      </a:solidFill>
                      <a:prstDash val="solid"/>
                      <a:round/>
                      <a:headEnd type="none" w="med" len="med"/>
                      <a:tailEnd type="none" w="med" len="med"/>
                    </a:lnT>
                    <a:lnB w="9525" cap="flat" cmpd="sng" algn="ctr">
                      <a:solidFill>
                        <a:srgbClr val="F08EB4"/>
                      </a:solidFill>
                      <a:prstDash val="solid"/>
                      <a:round/>
                      <a:headEnd type="none" w="med" len="med"/>
                      <a:tailEnd type="none" w="med" len="med"/>
                    </a:lnB>
                    <a:solidFill>
                      <a:srgbClr val="FFFFFF"/>
                    </a:solidFill>
                  </a:tcPr>
                </a:tc>
                <a:extLst>
                  <a:ext uri="{0D108BD9-81ED-4DB2-BD59-A6C34878D82A}">
                    <a16:rowId xmlns:a16="http://schemas.microsoft.com/office/drawing/2014/main" val="567344819"/>
                  </a:ext>
                </a:extLst>
              </a:tr>
              <a:tr h="334718">
                <a:tc>
                  <a:txBody>
                    <a:bodyPr/>
                    <a:lstStyle/>
                    <a:p>
                      <a:r>
                        <a:rPr lang="en-IN" sz="1600">
                          <a:effectLst/>
                        </a:rPr>
                        <a:t>Add:</a:t>
                      </a:r>
                    </a:p>
                  </a:txBody>
                  <a:tcPr marL="83680" marR="83680" marT="41840" marB="41840">
                    <a:lnL w="9525" cap="flat" cmpd="sng" algn="ctr">
                      <a:solidFill>
                        <a:srgbClr val="108CB4"/>
                      </a:solidFill>
                      <a:prstDash val="solid"/>
                      <a:round/>
                      <a:headEnd type="none" w="med" len="med"/>
                      <a:tailEnd type="none" w="med" len="med"/>
                    </a:lnL>
                    <a:lnR w="9525" cap="flat" cmpd="sng" algn="ctr">
                      <a:solidFill>
                        <a:srgbClr val="F08EB4"/>
                      </a:solidFill>
                      <a:prstDash val="solid"/>
                      <a:round/>
                      <a:headEnd type="none" w="med" len="med"/>
                      <a:tailEnd type="none" w="med" len="med"/>
                    </a:lnR>
                    <a:lnT w="9525" cap="flat" cmpd="sng" algn="ctr">
                      <a:solidFill>
                        <a:srgbClr val="108CB4"/>
                      </a:solidFill>
                      <a:prstDash val="solid"/>
                      <a:round/>
                      <a:headEnd type="none" w="med" len="med"/>
                      <a:tailEnd type="none" w="med" len="med"/>
                    </a:lnT>
                    <a:lnB w="9525" cap="flat" cmpd="sng" algn="ctr">
                      <a:solidFill>
                        <a:srgbClr val="508EB4"/>
                      </a:solidFill>
                      <a:prstDash val="solid"/>
                      <a:round/>
                      <a:headEnd type="none" w="med" len="med"/>
                      <a:tailEnd type="none" w="med" len="med"/>
                    </a:lnB>
                    <a:solidFill>
                      <a:srgbClr val="FFFFFF"/>
                    </a:solidFill>
                  </a:tcPr>
                </a:tc>
                <a:tc>
                  <a:txBody>
                    <a:bodyPr/>
                    <a:lstStyle/>
                    <a:p>
                      <a:r>
                        <a:rPr lang="en-IN" sz="1600">
                          <a:effectLst/>
                        </a:rPr>
                        <a:t> </a:t>
                      </a:r>
                    </a:p>
                  </a:txBody>
                  <a:tcPr marL="83680" marR="83680" marT="41840" marB="41840">
                    <a:lnL w="9525" cap="flat" cmpd="sng" algn="ctr">
                      <a:solidFill>
                        <a:srgbClr val="F08EB4"/>
                      </a:solidFill>
                      <a:prstDash val="solid"/>
                      <a:round/>
                      <a:headEnd type="none" w="med" len="med"/>
                      <a:tailEnd type="none" w="med" len="med"/>
                    </a:lnL>
                    <a:lnR w="9525" cap="flat" cmpd="sng" algn="ctr">
                      <a:solidFill>
                        <a:srgbClr val="F08EB4"/>
                      </a:solidFill>
                      <a:prstDash val="solid"/>
                      <a:round/>
                      <a:headEnd type="none" w="med" len="med"/>
                      <a:tailEnd type="none" w="med" len="med"/>
                    </a:lnR>
                    <a:lnT w="9525" cap="flat" cmpd="sng" algn="ctr">
                      <a:solidFill>
                        <a:srgbClr val="F08EB4"/>
                      </a:solidFill>
                      <a:prstDash val="solid"/>
                      <a:round/>
                      <a:headEnd type="none" w="med" len="med"/>
                      <a:tailEnd type="none" w="med" len="med"/>
                    </a:lnT>
                    <a:lnB w="9525" cap="flat" cmpd="sng" algn="ctr">
                      <a:solidFill>
                        <a:srgbClr val="D089B4"/>
                      </a:solidFill>
                      <a:prstDash val="solid"/>
                      <a:round/>
                      <a:headEnd type="none" w="med" len="med"/>
                      <a:tailEnd type="none" w="med" len="med"/>
                    </a:lnB>
                    <a:solidFill>
                      <a:srgbClr val="FFFFFF"/>
                    </a:solidFill>
                  </a:tcPr>
                </a:tc>
                <a:extLst>
                  <a:ext uri="{0D108BD9-81ED-4DB2-BD59-A6C34878D82A}">
                    <a16:rowId xmlns:a16="http://schemas.microsoft.com/office/drawing/2014/main" val="2107973097"/>
                  </a:ext>
                </a:extLst>
              </a:tr>
              <a:tr h="334718">
                <a:tc>
                  <a:txBody>
                    <a:bodyPr/>
                    <a:lstStyle/>
                    <a:p>
                      <a:r>
                        <a:rPr lang="en-US" sz="1600">
                          <a:effectLst/>
                        </a:rPr>
                        <a:t>1. Fees, Commission and Bonus</a:t>
                      </a:r>
                    </a:p>
                  </a:txBody>
                  <a:tcPr marL="83680" marR="83680" marT="41840" marB="41840">
                    <a:lnL w="9525" cap="flat" cmpd="sng" algn="ctr">
                      <a:solidFill>
                        <a:srgbClr val="508EB4"/>
                      </a:solidFill>
                      <a:prstDash val="solid"/>
                      <a:round/>
                      <a:headEnd type="none" w="med" len="med"/>
                      <a:tailEnd type="none" w="med" len="med"/>
                    </a:lnL>
                    <a:lnR w="9525" cap="flat" cmpd="sng" algn="ctr">
                      <a:solidFill>
                        <a:srgbClr val="D089B4"/>
                      </a:solidFill>
                      <a:prstDash val="solid"/>
                      <a:round/>
                      <a:headEnd type="none" w="med" len="med"/>
                      <a:tailEnd type="none" w="med" len="med"/>
                    </a:lnR>
                    <a:lnT w="9525" cap="flat" cmpd="sng" algn="ctr">
                      <a:solidFill>
                        <a:srgbClr val="508EB4"/>
                      </a:solidFill>
                      <a:prstDash val="solid"/>
                      <a:round/>
                      <a:headEnd type="none" w="med" len="med"/>
                      <a:tailEnd type="none" w="med" len="med"/>
                    </a:lnT>
                    <a:lnB w="9525" cap="flat" cmpd="sng" algn="ctr">
                      <a:solidFill>
                        <a:srgbClr val="D089B4"/>
                      </a:solidFill>
                      <a:prstDash val="solid"/>
                      <a:round/>
                      <a:headEnd type="none" w="med" len="med"/>
                      <a:tailEnd type="none" w="med" len="med"/>
                    </a:lnB>
                    <a:solidFill>
                      <a:srgbClr val="FFFFFF"/>
                    </a:solidFill>
                  </a:tcPr>
                </a:tc>
                <a:tc>
                  <a:txBody>
                    <a:bodyPr/>
                    <a:lstStyle/>
                    <a:p>
                      <a:r>
                        <a:rPr lang="en-IN" sz="1600">
                          <a:effectLst/>
                        </a:rPr>
                        <a:t>xxx</a:t>
                      </a:r>
                    </a:p>
                  </a:txBody>
                  <a:tcPr marL="83680" marR="83680" marT="41840" marB="41840">
                    <a:lnL w="9525" cap="flat" cmpd="sng" algn="ctr">
                      <a:solidFill>
                        <a:srgbClr val="D089B4"/>
                      </a:solidFill>
                      <a:prstDash val="solid"/>
                      <a:round/>
                      <a:headEnd type="none" w="med" len="med"/>
                      <a:tailEnd type="none" w="med" len="med"/>
                    </a:lnL>
                    <a:lnR w="9525" cap="flat" cmpd="sng" algn="ctr">
                      <a:solidFill>
                        <a:srgbClr val="D089B4"/>
                      </a:solidFill>
                      <a:prstDash val="solid"/>
                      <a:round/>
                      <a:headEnd type="none" w="med" len="med"/>
                      <a:tailEnd type="none" w="med" len="med"/>
                    </a:lnR>
                    <a:lnT w="9525" cap="flat" cmpd="sng" algn="ctr">
                      <a:solidFill>
                        <a:srgbClr val="D089B4"/>
                      </a:solidFill>
                      <a:prstDash val="solid"/>
                      <a:round/>
                      <a:headEnd type="none" w="med" len="med"/>
                      <a:tailEnd type="none" w="med" len="med"/>
                    </a:lnT>
                    <a:lnB w="9525" cap="flat" cmpd="sng" algn="ctr">
                      <a:solidFill>
                        <a:srgbClr val="D08BB4"/>
                      </a:solidFill>
                      <a:prstDash val="solid"/>
                      <a:round/>
                      <a:headEnd type="none" w="med" len="med"/>
                      <a:tailEnd type="none" w="med" len="med"/>
                    </a:lnB>
                    <a:solidFill>
                      <a:srgbClr val="FFFFFF"/>
                    </a:solidFill>
                  </a:tcPr>
                </a:tc>
                <a:extLst>
                  <a:ext uri="{0D108BD9-81ED-4DB2-BD59-A6C34878D82A}">
                    <a16:rowId xmlns:a16="http://schemas.microsoft.com/office/drawing/2014/main" val="2519191904"/>
                  </a:ext>
                </a:extLst>
              </a:tr>
              <a:tr h="334718">
                <a:tc>
                  <a:txBody>
                    <a:bodyPr/>
                    <a:lstStyle/>
                    <a:p>
                      <a:r>
                        <a:rPr lang="en-IN" sz="1600">
                          <a:effectLst/>
                        </a:rPr>
                        <a:t>2. Allowances</a:t>
                      </a:r>
                    </a:p>
                  </a:txBody>
                  <a:tcPr marL="83680" marR="83680" marT="41840" marB="41840">
                    <a:lnL w="9525" cap="flat" cmpd="sng" algn="ctr">
                      <a:solidFill>
                        <a:srgbClr val="D089B4"/>
                      </a:solidFill>
                      <a:prstDash val="solid"/>
                      <a:round/>
                      <a:headEnd type="none" w="med" len="med"/>
                      <a:tailEnd type="none" w="med" len="med"/>
                    </a:lnL>
                    <a:lnR w="9525" cap="flat" cmpd="sng" algn="ctr">
                      <a:solidFill>
                        <a:srgbClr val="D08BB4"/>
                      </a:solidFill>
                      <a:prstDash val="solid"/>
                      <a:round/>
                      <a:headEnd type="none" w="med" len="med"/>
                      <a:tailEnd type="none" w="med" len="med"/>
                    </a:lnR>
                    <a:lnT w="9525" cap="flat" cmpd="sng" algn="ctr">
                      <a:solidFill>
                        <a:srgbClr val="D089B4"/>
                      </a:solidFill>
                      <a:prstDash val="solid"/>
                      <a:round/>
                      <a:headEnd type="none" w="med" len="med"/>
                      <a:tailEnd type="none" w="med" len="med"/>
                    </a:lnT>
                    <a:lnB w="9525" cap="flat" cmpd="sng" algn="ctr">
                      <a:solidFill>
                        <a:srgbClr val="D08FB4"/>
                      </a:solidFill>
                      <a:prstDash val="solid"/>
                      <a:round/>
                      <a:headEnd type="none" w="med" len="med"/>
                      <a:tailEnd type="none" w="med" len="med"/>
                    </a:lnB>
                    <a:solidFill>
                      <a:srgbClr val="FFFFFF"/>
                    </a:solidFill>
                  </a:tcPr>
                </a:tc>
                <a:tc>
                  <a:txBody>
                    <a:bodyPr/>
                    <a:lstStyle/>
                    <a:p>
                      <a:r>
                        <a:rPr lang="en-IN" sz="1600">
                          <a:effectLst/>
                        </a:rPr>
                        <a:t>xxx</a:t>
                      </a:r>
                    </a:p>
                  </a:txBody>
                  <a:tcPr marL="83680" marR="83680" marT="41840" marB="41840">
                    <a:lnL w="9525" cap="flat" cmpd="sng" algn="ctr">
                      <a:solidFill>
                        <a:srgbClr val="D08BB4"/>
                      </a:solidFill>
                      <a:prstDash val="solid"/>
                      <a:round/>
                      <a:headEnd type="none" w="med" len="med"/>
                      <a:tailEnd type="none" w="med" len="med"/>
                    </a:lnL>
                    <a:lnR w="9525" cap="flat" cmpd="sng" algn="ctr">
                      <a:solidFill>
                        <a:srgbClr val="D08BB4"/>
                      </a:solidFill>
                      <a:prstDash val="solid"/>
                      <a:round/>
                      <a:headEnd type="none" w="med" len="med"/>
                      <a:tailEnd type="none" w="med" len="med"/>
                    </a:lnR>
                    <a:lnT w="9525" cap="flat" cmpd="sng" algn="ctr">
                      <a:solidFill>
                        <a:srgbClr val="D08BB4"/>
                      </a:solidFill>
                      <a:prstDash val="solid"/>
                      <a:round/>
                      <a:headEnd type="none" w="med" len="med"/>
                      <a:tailEnd type="none" w="med" len="med"/>
                    </a:lnT>
                    <a:lnB w="9525" cap="flat" cmpd="sng" algn="ctr">
                      <a:solidFill>
                        <a:srgbClr val="308DB4"/>
                      </a:solidFill>
                      <a:prstDash val="solid"/>
                      <a:round/>
                      <a:headEnd type="none" w="med" len="med"/>
                      <a:tailEnd type="none" w="med" len="med"/>
                    </a:lnB>
                    <a:solidFill>
                      <a:srgbClr val="FFFFFF"/>
                    </a:solidFill>
                  </a:tcPr>
                </a:tc>
                <a:extLst>
                  <a:ext uri="{0D108BD9-81ED-4DB2-BD59-A6C34878D82A}">
                    <a16:rowId xmlns:a16="http://schemas.microsoft.com/office/drawing/2014/main" val="3517296493"/>
                  </a:ext>
                </a:extLst>
              </a:tr>
              <a:tr h="334718">
                <a:tc>
                  <a:txBody>
                    <a:bodyPr/>
                    <a:lstStyle/>
                    <a:p>
                      <a:r>
                        <a:rPr lang="en-IN" sz="1600">
                          <a:effectLst/>
                        </a:rPr>
                        <a:t>3. Perquisites</a:t>
                      </a:r>
                    </a:p>
                  </a:txBody>
                  <a:tcPr marL="83680" marR="83680" marT="41840" marB="41840">
                    <a:lnL w="9525" cap="flat" cmpd="sng" algn="ctr">
                      <a:solidFill>
                        <a:srgbClr val="D08FB4"/>
                      </a:solidFill>
                      <a:prstDash val="solid"/>
                      <a:round/>
                      <a:headEnd type="none" w="med" len="med"/>
                      <a:tailEnd type="none" w="med" len="med"/>
                    </a:lnL>
                    <a:lnR w="9525" cap="flat" cmpd="sng" algn="ctr">
                      <a:solidFill>
                        <a:srgbClr val="308DB4"/>
                      </a:solidFill>
                      <a:prstDash val="solid"/>
                      <a:round/>
                      <a:headEnd type="none" w="med" len="med"/>
                      <a:tailEnd type="none" w="med" len="med"/>
                    </a:lnR>
                    <a:lnT w="9525" cap="flat" cmpd="sng" algn="ctr">
                      <a:solidFill>
                        <a:srgbClr val="D08FB4"/>
                      </a:solidFill>
                      <a:prstDash val="solid"/>
                      <a:round/>
                      <a:headEnd type="none" w="med" len="med"/>
                      <a:tailEnd type="none" w="med" len="med"/>
                    </a:lnT>
                    <a:lnB w="9525" cap="flat" cmpd="sng" algn="ctr">
                      <a:solidFill>
                        <a:srgbClr val="B08BB4"/>
                      </a:solidFill>
                      <a:prstDash val="solid"/>
                      <a:round/>
                      <a:headEnd type="none" w="med" len="med"/>
                      <a:tailEnd type="none" w="med" len="med"/>
                    </a:lnB>
                    <a:solidFill>
                      <a:srgbClr val="FFFFFF"/>
                    </a:solidFill>
                  </a:tcPr>
                </a:tc>
                <a:tc>
                  <a:txBody>
                    <a:bodyPr/>
                    <a:lstStyle/>
                    <a:p>
                      <a:r>
                        <a:rPr lang="en-IN" sz="1600">
                          <a:effectLst/>
                        </a:rPr>
                        <a:t>xxx</a:t>
                      </a:r>
                    </a:p>
                  </a:txBody>
                  <a:tcPr marL="83680" marR="83680" marT="41840" marB="41840">
                    <a:lnL w="9525" cap="flat" cmpd="sng" algn="ctr">
                      <a:solidFill>
                        <a:srgbClr val="308DB4"/>
                      </a:solidFill>
                      <a:prstDash val="solid"/>
                      <a:round/>
                      <a:headEnd type="none" w="med" len="med"/>
                      <a:tailEnd type="none" w="med" len="med"/>
                    </a:lnL>
                    <a:lnR w="9525" cap="flat" cmpd="sng" algn="ctr">
                      <a:solidFill>
                        <a:srgbClr val="308DB4"/>
                      </a:solidFill>
                      <a:prstDash val="solid"/>
                      <a:round/>
                      <a:headEnd type="none" w="med" len="med"/>
                      <a:tailEnd type="none" w="med" len="med"/>
                    </a:lnR>
                    <a:lnT w="9525" cap="flat" cmpd="sng" algn="ctr">
                      <a:solidFill>
                        <a:srgbClr val="308DB4"/>
                      </a:solidFill>
                      <a:prstDash val="solid"/>
                      <a:round/>
                      <a:headEnd type="none" w="med" len="med"/>
                      <a:tailEnd type="none" w="med" len="med"/>
                    </a:lnT>
                    <a:lnB w="9525" cap="flat" cmpd="sng" algn="ctr">
                      <a:solidFill>
                        <a:srgbClr val="D089B4"/>
                      </a:solidFill>
                      <a:prstDash val="solid"/>
                      <a:round/>
                      <a:headEnd type="none" w="med" len="med"/>
                      <a:tailEnd type="none" w="med" len="med"/>
                    </a:lnB>
                    <a:solidFill>
                      <a:srgbClr val="FFFFFF"/>
                    </a:solidFill>
                  </a:tcPr>
                </a:tc>
                <a:extLst>
                  <a:ext uri="{0D108BD9-81ED-4DB2-BD59-A6C34878D82A}">
                    <a16:rowId xmlns:a16="http://schemas.microsoft.com/office/drawing/2014/main" val="3956369912"/>
                  </a:ext>
                </a:extLst>
              </a:tr>
              <a:tr h="334718">
                <a:tc>
                  <a:txBody>
                    <a:bodyPr/>
                    <a:lstStyle/>
                    <a:p>
                      <a:r>
                        <a:rPr lang="en-IN" sz="1600">
                          <a:effectLst/>
                        </a:rPr>
                        <a:t>4. Retirement Benefits</a:t>
                      </a:r>
                    </a:p>
                  </a:txBody>
                  <a:tcPr marL="83680" marR="83680" marT="41840" marB="41840">
                    <a:lnL w="9525" cap="flat" cmpd="sng" algn="ctr">
                      <a:solidFill>
                        <a:srgbClr val="B08BB4"/>
                      </a:solidFill>
                      <a:prstDash val="solid"/>
                      <a:round/>
                      <a:headEnd type="none" w="med" len="med"/>
                      <a:tailEnd type="none" w="med" len="med"/>
                    </a:lnL>
                    <a:lnR w="9525" cap="flat" cmpd="sng" algn="ctr">
                      <a:solidFill>
                        <a:srgbClr val="D089B4"/>
                      </a:solidFill>
                      <a:prstDash val="solid"/>
                      <a:round/>
                      <a:headEnd type="none" w="med" len="med"/>
                      <a:tailEnd type="none" w="med" len="med"/>
                    </a:lnR>
                    <a:lnT w="9525" cap="flat" cmpd="sng" algn="ctr">
                      <a:solidFill>
                        <a:srgbClr val="B08BB4"/>
                      </a:solidFill>
                      <a:prstDash val="solid"/>
                      <a:round/>
                      <a:headEnd type="none" w="med" len="med"/>
                      <a:tailEnd type="none" w="med" len="med"/>
                    </a:lnT>
                    <a:lnB w="9525" cap="flat" cmpd="sng" algn="ctr">
                      <a:solidFill>
                        <a:srgbClr val="B08DB4"/>
                      </a:solidFill>
                      <a:prstDash val="solid"/>
                      <a:round/>
                      <a:headEnd type="none" w="med" len="med"/>
                      <a:tailEnd type="none" w="med" len="med"/>
                    </a:lnB>
                    <a:solidFill>
                      <a:srgbClr val="FFFFFF"/>
                    </a:solidFill>
                  </a:tcPr>
                </a:tc>
                <a:tc>
                  <a:txBody>
                    <a:bodyPr/>
                    <a:lstStyle/>
                    <a:p>
                      <a:r>
                        <a:rPr lang="en-IN" sz="1600">
                          <a:effectLst/>
                        </a:rPr>
                        <a:t>xxx</a:t>
                      </a:r>
                    </a:p>
                  </a:txBody>
                  <a:tcPr marL="83680" marR="83680" marT="41840" marB="41840">
                    <a:lnL w="9525" cap="flat" cmpd="sng" algn="ctr">
                      <a:solidFill>
                        <a:srgbClr val="D089B4"/>
                      </a:solidFill>
                      <a:prstDash val="solid"/>
                      <a:round/>
                      <a:headEnd type="none" w="med" len="med"/>
                      <a:tailEnd type="none" w="med" len="med"/>
                    </a:lnL>
                    <a:lnR w="9525" cap="flat" cmpd="sng" algn="ctr">
                      <a:solidFill>
                        <a:srgbClr val="D089B4"/>
                      </a:solidFill>
                      <a:prstDash val="solid"/>
                      <a:round/>
                      <a:headEnd type="none" w="med" len="med"/>
                      <a:tailEnd type="none" w="med" len="med"/>
                    </a:lnR>
                    <a:lnT w="9525" cap="flat" cmpd="sng" algn="ctr">
                      <a:solidFill>
                        <a:srgbClr val="D089B4"/>
                      </a:solidFill>
                      <a:prstDash val="solid"/>
                      <a:round/>
                      <a:headEnd type="none" w="med" len="med"/>
                      <a:tailEnd type="none" w="med" len="med"/>
                    </a:lnT>
                    <a:lnB w="9525" cap="flat" cmpd="sng" algn="ctr">
                      <a:solidFill>
                        <a:srgbClr val="D089B4"/>
                      </a:solidFill>
                      <a:prstDash val="solid"/>
                      <a:round/>
                      <a:headEnd type="none" w="med" len="med"/>
                      <a:tailEnd type="none" w="med" len="med"/>
                    </a:lnB>
                    <a:solidFill>
                      <a:srgbClr val="FFFFFF"/>
                    </a:solidFill>
                  </a:tcPr>
                </a:tc>
                <a:extLst>
                  <a:ext uri="{0D108BD9-81ED-4DB2-BD59-A6C34878D82A}">
                    <a16:rowId xmlns:a16="http://schemas.microsoft.com/office/drawing/2014/main" val="3835803968"/>
                  </a:ext>
                </a:extLst>
              </a:tr>
              <a:tr h="334718">
                <a:tc>
                  <a:txBody>
                    <a:bodyPr/>
                    <a:lstStyle/>
                    <a:p>
                      <a:r>
                        <a:rPr lang="en-US" sz="1600">
                          <a:effectLst/>
                        </a:rPr>
                        <a:t>5. Fees, Commission and Bonus</a:t>
                      </a:r>
                    </a:p>
                  </a:txBody>
                  <a:tcPr marL="83680" marR="83680" marT="41840" marB="41840">
                    <a:lnL w="9525" cap="flat" cmpd="sng" algn="ctr">
                      <a:solidFill>
                        <a:srgbClr val="B08DB4"/>
                      </a:solidFill>
                      <a:prstDash val="solid"/>
                      <a:round/>
                      <a:headEnd type="none" w="med" len="med"/>
                      <a:tailEnd type="none" w="med" len="med"/>
                    </a:lnL>
                    <a:lnR w="9525" cap="flat" cmpd="sng" algn="ctr">
                      <a:solidFill>
                        <a:srgbClr val="D089B4"/>
                      </a:solidFill>
                      <a:prstDash val="solid"/>
                      <a:round/>
                      <a:headEnd type="none" w="med" len="med"/>
                      <a:tailEnd type="none" w="med" len="med"/>
                    </a:lnR>
                    <a:lnT w="9525" cap="flat" cmpd="sng" algn="ctr">
                      <a:solidFill>
                        <a:srgbClr val="B08DB4"/>
                      </a:solidFill>
                      <a:prstDash val="solid"/>
                      <a:round/>
                      <a:headEnd type="none" w="med" len="med"/>
                      <a:tailEnd type="none" w="med" len="med"/>
                    </a:lnT>
                    <a:lnB w="9525" cap="flat" cmpd="sng" algn="ctr">
                      <a:solidFill>
                        <a:srgbClr val="D08EB4"/>
                      </a:solidFill>
                      <a:prstDash val="solid"/>
                      <a:round/>
                      <a:headEnd type="none" w="med" len="med"/>
                      <a:tailEnd type="none" w="med" len="med"/>
                    </a:lnB>
                    <a:solidFill>
                      <a:srgbClr val="FFFFFF"/>
                    </a:solidFill>
                  </a:tcPr>
                </a:tc>
                <a:tc>
                  <a:txBody>
                    <a:bodyPr/>
                    <a:lstStyle/>
                    <a:p>
                      <a:r>
                        <a:rPr lang="en-IN" sz="1600">
                          <a:effectLst/>
                        </a:rPr>
                        <a:t>xxx</a:t>
                      </a:r>
                    </a:p>
                  </a:txBody>
                  <a:tcPr marL="83680" marR="83680" marT="41840" marB="41840">
                    <a:lnL w="9525" cap="flat" cmpd="sng" algn="ctr">
                      <a:solidFill>
                        <a:srgbClr val="D089B4"/>
                      </a:solidFill>
                      <a:prstDash val="solid"/>
                      <a:round/>
                      <a:headEnd type="none" w="med" len="med"/>
                      <a:tailEnd type="none" w="med" len="med"/>
                    </a:lnL>
                    <a:lnR w="9525" cap="flat" cmpd="sng" algn="ctr">
                      <a:solidFill>
                        <a:srgbClr val="D089B4"/>
                      </a:solidFill>
                      <a:prstDash val="solid"/>
                      <a:round/>
                      <a:headEnd type="none" w="med" len="med"/>
                      <a:tailEnd type="none" w="med" len="med"/>
                    </a:lnR>
                    <a:lnT w="9525" cap="flat" cmpd="sng" algn="ctr">
                      <a:solidFill>
                        <a:srgbClr val="D089B4"/>
                      </a:solidFill>
                      <a:prstDash val="solid"/>
                      <a:round/>
                      <a:headEnd type="none" w="med" len="med"/>
                      <a:tailEnd type="none" w="med" len="med"/>
                    </a:lnT>
                    <a:lnB w="9525" cap="flat" cmpd="sng" algn="ctr">
                      <a:solidFill>
                        <a:srgbClr val="D094B4"/>
                      </a:solidFill>
                      <a:prstDash val="solid"/>
                      <a:round/>
                      <a:headEnd type="none" w="med" len="med"/>
                      <a:tailEnd type="none" w="med" len="med"/>
                    </a:lnB>
                    <a:solidFill>
                      <a:srgbClr val="FFFFFF"/>
                    </a:solidFill>
                  </a:tcPr>
                </a:tc>
                <a:extLst>
                  <a:ext uri="{0D108BD9-81ED-4DB2-BD59-A6C34878D82A}">
                    <a16:rowId xmlns:a16="http://schemas.microsoft.com/office/drawing/2014/main" val="1021926314"/>
                  </a:ext>
                </a:extLst>
              </a:tr>
              <a:tr h="334718">
                <a:tc>
                  <a:txBody>
                    <a:bodyPr/>
                    <a:lstStyle/>
                    <a:p>
                      <a:r>
                        <a:rPr lang="en-IN" sz="1600" b="1">
                          <a:effectLst/>
                        </a:rPr>
                        <a:t>Gross Salary</a:t>
                      </a:r>
                      <a:endParaRPr lang="en-IN" sz="1600">
                        <a:effectLst/>
                      </a:endParaRPr>
                    </a:p>
                  </a:txBody>
                  <a:tcPr marL="83680" marR="83680" marT="41840" marB="41840">
                    <a:lnL w="9525" cap="flat" cmpd="sng" algn="ctr">
                      <a:solidFill>
                        <a:srgbClr val="D08EB4"/>
                      </a:solidFill>
                      <a:prstDash val="solid"/>
                      <a:round/>
                      <a:headEnd type="none" w="med" len="med"/>
                      <a:tailEnd type="none" w="med" len="med"/>
                    </a:lnL>
                    <a:lnR w="9525" cap="flat" cmpd="sng" algn="ctr">
                      <a:solidFill>
                        <a:srgbClr val="D094B4"/>
                      </a:solidFill>
                      <a:prstDash val="solid"/>
                      <a:round/>
                      <a:headEnd type="none" w="med" len="med"/>
                      <a:tailEnd type="none" w="med" len="med"/>
                    </a:lnR>
                    <a:lnT w="9525" cap="flat" cmpd="sng" algn="ctr">
                      <a:solidFill>
                        <a:srgbClr val="D08EB4"/>
                      </a:solidFill>
                      <a:prstDash val="solid"/>
                      <a:round/>
                      <a:headEnd type="none" w="med" len="med"/>
                      <a:tailEnd type="none" w="med" len="med"/>
                    </a:lnT>
                    <a:lnB w="9525" cap="flat" cmpd="sng" algn="ctr">
                      <a:solidFill>
                        <a:srgbClr val="9093B4"/>
                      </a:solidFill>
                      <a:prstDash val="solid"/>
                      <a:round/>
                      <a:headEnd type="none" w="med" len="med"/>
                      <a:tailEnd type="none" w="med" len="med"/>
                    </a:lnB>
                    <a:solidFill>
                      <a:srgbClr val="FFFFFF"/>
                    </a:solidFill>
                  </a:tcPr>
                </a:tc>
                <a:tc>
                  <a:txBody>
                    <a:bodyPr/>
                    <a:lstStyle/>
                    <a:p>
                      <a:r>
                        <a:rPr lang="en-IN" sz="1600" b="1">
                          <a:effectLst/>
                        </a:rPr>
                        <a:t>xxx</a:t>
                      </a:r>
                      <a:endParaRPr lang="en-IN" sz="1600">
                        <a:effectLst/>
                      </a:endParaRPr>
                    </a:p>
                  </a:txBody>
                  <a:tcPr marL="83680" marR="83680" marT="41840" marB="41840">
                    <a:lnL w="9525" cap="flat" cmpd="sng" algn="ctr">
                      <a:solidFill>
                        <a:srgbClr val="D094B4"/>
                      </a:solidFill>
                      <a:prstDash val="solid"/>
                      <a:round/>
                      <a:headEnd type="none" w="med" len="med"/>
                      <a:tailEnd type="none" w="med" len="med"/>
                    </a:lnL>
                    <a:lnR w="9525" cap="flat" cmpd="sng" algn="ctr">
                      <a:solidFill>
                        <a:srgbClr val="D094B4"/>
                      </a:solidFill>
                      <a:prstDash val="solid"/>
                      <a:round/>
                      <a:headEnd type="none" w="med" len="med"/>
                      <a:tailEnd type="none" w="med" len="med"/>
                    </a:lnR>
                    <a:lnT w="9525" cap="flat" cmpd="sng" algn="ctr">
                      <a:solidFill>
                        <a:srgbClr val="D094B4"/>
                      </a:solidFill>
                      <a:prstDash val="solid"/>
                      <a:round/>
                      <a:headEnd type="none" w="med" len="med"/>
                      <a:tailEnd type="none" w="med" len="med"/>
                    </a:lnT>
                    <a:lnB w="9525" cap="flat" cmpd="sng" algn="ctr">
                      <a:solidFill>
                        <a:srgbClr val="9094B4"/>
                      </a:solidFill>
                      <a:prstDash val="solid"/>
                      <a:round/>
                      <a:headEnd type="none" w="med" len="med"/>
                      <a:tailEnd type="none" w="med" len="med"/>
                    </a:lnB>
                    <a:solidFill>
                      <a:srgbClr val="FFFFFF"/>
                    </a:solidFill>
                  </a:tcPr>
                </a:tc>
                <a:extLst>
                  <a:ext uri="{0D108BD9-81ED-4DB2-BD59-A6C34878D82A}">
                    <a16:rowId xmlns:a16="http://schemas.microsoft.com/office/drawing/2014/main" val="4168657765"/>
                  </a:ext>
                </a:extLst>
              </a:tr>
              <a:tr h="334718">
                <a:tc>
                  <a:txBody>
                    <a:bodyPr/>
                    <a:lstStyle/>
                    <a:p>
                      <a:r>
                        <a:rPr lang="en-IN" sz="1600">
                          <a:effectLst/>
                        </a:rPr>
                        <a:t>Less: Deductions from Salary</a:t>
                      </a:r>
                    </a:p>
                  </a:txBody>
                  <a:tcPr marL="83680" marR="83680" marT="41840" marB="41840">
                    <a:lnL w="9525" cap="flat" cmpd="sng" algn="ctr">
                      <a:solidFill>
                        <a:srgbClr val="9093B4"/>
                      </a:solidFill>
                      <a:prstDash val="solid"/>
                      <a:round/>
                      <a:headEnd type="none" w="med" len="med"/>
                      <a:tailEnd type="none" w="med" len="med"/>
                    </a:lnL>
                    <a:lnR w="9525" cap="flat" cmpd="sng" algn="ctr">
                      <a:solidFill>
                        <a:srgbClr val="9094B4"/>
                      </a:solidFill>
                      <a:prstDash val="solid"/>
                      <a:round/>
                      <a:headEnd type="none" w="med" len="med"/>
                      <a:tailEnd type="none" w="med" len="med"/>
                    </a:lnR>
                    <a:lnT w="9525" cap="flat" cmpd="sng" algn="ctr">
                      <a:solidFill>
                        <a:srgbClr val="9093B4"/>
                      </a:solidFill>
                      <a:prstDash val="solid"/>
                      <a:round/>
                      <a:headEnd type="none" w="med" len="med"/>
                      <a:tailEnd type="none" w="med" len="med"/>
                    </a:lnT>
                    <a:lnB w="9525" cap="flat" cmpd="sng" algn="ctr">
                      <a:solidFill>
                        <a:srgbClr val="F092B4"/>
                      </a:solidFill>
                      <a:prstDash val="solid"/>
                      <a:round/>
                      <a:headEnd type="none" w="med" len="med"/>
                      <a:tailEnd type="none" w="med" len="med"/>
                    </a:lnB>
                    <a:solidFill>
                      <a:srgbClr val="FFFFFF"/>
                    </a:solidFill>
                  </a:tcPr>
                </a:tc>
                <a:tc>
                  <a:txBody>
                    <a:bodyPr/>
                    <a:lstStyle/>
                    <a:p>
                      <a:r>
                        <a:rPr lang="en-IN" sz="1600">
                          <a:effectLst/>
                        </a:rPr>
                        <a:t> </a:t>
                      </a:r>
                    </a:p>
                  </a:txBody>
                  <a:tcPr marL="83680" marR="83680" marT="41840" marB="41840">
                    <a:lnL w="9525" cap="flat" cmpd="sng" algn="ctr">
                      <a:solidFill>
                        <a:srgbClr val="9094B4"/>
                      </a:solidFill>
                      <a:prstDash val="solid"/>
                      <a:round/>
                      <a:headEnd type="none" w="med" len="med"/>
                      <a:tailEnd type="none" w="med" len="med"/>
                    </a:lnL>
                    <a:lnR w="9525" cap="flat" cmpd="sng" algn="ctr">
                      <a:solidFill>
                        <a:srgbClr val="9094B4"/>
                      </a:solidFill>
                      <a:prstDash val="solid"/>
                      <a:round/>
                      <a:headEnd type="none" w="med" len="med"/>
                      <a:tailEnd type="none" w="med" len="med"/>
                    </a:lnR>
                    <a:lnT w="9525" cap="flat" cmpd="sng" algn="ctr">
                      <a:solidFill>
                        <a:srgbClr val="9094B4"/>
                      </a:solidFill>
                      <a:prstDash val="solid"/>
                      <a:round/>
                      <a:headEnd type="none" w="med" len="med"/>
                      <a:tailEnd type="none" w="med" len="med"/>
                    </a:lnT>
                    <a:lnB w="9525" cap="flat" cmpd="sng" algn="ctr">
                      <a:solidFill>
                        <a:srgbClr val="5098B4"/>
                      </a:solidFill>
                      <a:prstDash val="solid"/>
                      <a:round/>
                      <a:headEnd type="none" w="med" len="med"/>
                      <a:tailEnd type="none" w="med" len="med"/>
                    </a:lnB>
                    <a:solidFill>
                      <a:srgbClr val="FFFFFF"/>
                    </a:solidFill>
                  </a:tcPr>
                </a:tc>
                <a:extLst>
                  <a:ext uri="{0D108BD9-81ED-4DB2-BD59-A6C34878D82A}">
                    <a16:rowId xmlns:a16="http://schemas.microsoft.com/office/drawing/2014/main" val="3678806134"/>
                  </a:ext>
                </a:extLst>
              </a:tr>
              <a:tr h="334718">
                <a:tc>
                  <a:txBody>
                    <a:bodyPr/>
                    <a:lstStyle/>
                    <a:p>
                      <a:r>
                        <a:rPr lang="en-US" sz="1600">
                          <a:effectLst/>
                        </a:rPr>
                        <a:t>1. Entertainment Allowance u/s 16</a:t>
                      </a:r>
                    </a:p>
                  </a:txBody>
                  <a:tcPr marL="83680" marR="83680" marT="41840" marB="41840">
                    <a:lnL w="9525" cap="flat" cmpd="sng" algn="ctr">
                      <a:solidFill>
                        <a:srgbClr val="F092B4"/>
                      </a:solidFill>
                      <a:prstDash val="solid"/>
                      <a:round/>
                      <a:headEnd type="none" w="med" len="med"/>
                      <a:tailEnd type="none" w="med" len="med"/>
                    </a:lnL>
                    <a:lnR w="9525" cap="flat" cmpd="sng" algn="ctr">
                      <a:solidFill>
                        <a:srgbClr val="5098B4"/>
                      </a:solidFill>
                      <a:prstDash val="solid"/>
                      <a:round/>
                      <a:headEnd type="none" w="med" len="med"/>
                      <a:tailEnd type="none" w="med" len="med"/>
                    </a:lnR>
                    <a:lnT w="9525" cap="flat" cmpd="sng" algn="ctr">
                      <a:solidFill>
                        <a:srgbClr val="F092B4"/>
                      </a:solidFill>
                      <a:prstDash val="solid"/>
                      <a:round/>
                      <a:headEnd type="none" w="med" len="med"/>
                      <a:tailEnd type="none" w="med" len="med"/>
                    </a:lnT>
                    <a:lnB w="9525" cap="flat" cmpd="sng" algn="ctr">
                      <a:solidFill>
                        <a:srgbClr val="B090B4"/>
                      </a:solidFill>
                      <a:prstDash val="solid"/>
                      <a:round/>
                      <a:headEnd type="none" w="med" len="med"/>
                      <a:tailEnd type="none" w="med" len="med"/>
                    </a:lnB>
                    <a:solidFill>
                      <a:srgbClr val="FFFFFF"/>
                    </a:solidFill>
                  </a:tcPr>
                </a:tc>
                <a:tc>
                  <a:txBody>
                    <a:bodyPr/>
                    <a:lstStyle/>
                    <a:p>
                      <a:r>
                        <a:rPr lang="en-IN" sz="1600">
                          <a:effectLst/>
                        </a:rPr>
                        <a:t>(xxx)</a:t>
                      </a:r>
                    </a:p>
                  </a:txBody>
                  <a:tcPr marL="83680" marR="83680" marT="41840" marB="41840">
                    <a:lnL w="9525" cap="flat" cmpd="sng" algn="ctr">
                      <a:solidFill>
                        <a:srgbClr val="5098B4"/>
                      </a:solidFill>
                      <a:prstDash val="solid"/>
                      <a:round/>
                      <a:headEnd type="none" w="med" len="med"/>
                      <a:tailEnd type="none" w="med" len="med"/>
                    </a:lnL>
                    <a:lnR w="9525" cap="flat" cmpd="sng" algn="ctr">
                      <a:solidFill>
                        <a:srgbClr val="5098B4"/>
                      </a:solidFill>
                      <a:prstDash val="solid"/>
                      <a:round/>
                      <a:headEnd type="none" w="med" len="med"/>
                      <a:tailEnd type="none" w="med" len="med"/>
                    </a:lnR>
                    <a:lnT w="9525" cap="flat" cmpd="sng" algn="ctr">
                      <a:solidFill>
                        <a:srgbClr val="5098B4"/>
                      </a:solidFill>
                      <a:prstDash val="solid"/>
                      <a:round/>
                      <a:headEnd type="none" w="med" len="med"/>
                      <a:tailEnd type="none" w="med" len="med"/>
                    </a:lnT>
                    <a:lnB w="9525" cap="flat" cmpd="sng" algn="ctr">
                      <a:solidFill>
                        <a:srgbClr val="9094B4"/>
                      </a:solidFill>
                      <a:prstDash val="solid"/>
                      <a:round/>
                      <a:headEnd type="none" w="med" len="med"/>
                      <a:tailEnd type="none" w="med" len="med"/>
                    </a:lnB>
                    <a:solidFill>
                      <a:srgbClr val="FFFFFF"/>
                    </a:solidFill>
                  </a:tcPr>
                </a:tc>
                <a:extLst>
                  <a:ext uri="{0D108BD9-81ED-4DB2-BD59-A6C34878D82A}">
                    <a16:rowId xmlns:a16="http://schemas.microsoft.com/office/drawing/2014/main" val="4062679874"/>
                  </a:ext>
                </a:extLst>
              </a:tr>
              <a:tr h="334718">
                <a:tc>
                  <a:txBody>
                    <a:bodyPr/>
                    <a:lstStyle/>
                    <a:p>
                      <a:r>
                        <a:rPr lang="en-IN" sz="1600">
                          <a:effectLst/>
                        </a:rPr>
                        <a:t>2. Professional Tax u/s 16</a:t>
                      </a:r>
                    </a:p>
                  </a:txBody>
                  <a:tcPr marL="83680" marR="83680" marT="41840" marB="41840">
                    <a:lnL w="9525" cap="flat" cmpd="sng" algn="ctr">
                      <a:solidFill>
                        <a:srgbClr val="B090B4"/>
                      </a:solidFill>
                      <a:prstDash val="solid"/>
                      <a:round/>
                      <a:headEnd type="none" w="med" len="med"/>
                      <a:tailEnd type="none" w="med" len="med"/>
                    </a:lnL>
                    <a:lnR w="9525" cap="flat" cmpd="sng" algn="ctr">
                      <a:solidFill>
                        <a:srgbClr val="9094B4"/>
                      </a:solidFill>
                      <a:prstDash val="solid"/>
                      <a:round/>
                      <a:headEnd type="none" w="med" len="med"/>
                      <a:tailEnd type="none" w="med" len="med"/>
                    </a:lnR>
                    <a:lnT w="9525" cap="flat" cmpd="sng" algn="ctr">
                      <a:solidFill>
                        <a:srgbClr val="B090B4"/>
                      </a:solidFill>
                      <a:prstDash val="solid"/>
                      <a:round/>
                      <a:headEnd type="none" w="med" len="med"/>
                      <a:tailEnd type="none" w="med" len="med"/>
                    </a:lnT>
                    <a:lnB w="9525" cap="flat" cmpd="sng" algn="ctr">
                      <a:solidFill>
                        <a:srgbClr val="F092B4"/>
                      </a:solidFill>
                      <a:prstDash val="solid"/>
                      <a:round/>
                      <a:headEnd type="none" w="med" len="med"/>
                      <a:tailEnd type="none" w="med" len="med"/>
                    </a:lnB>
                    <a:solidFill>
                      <a:srgbClr val="FFFFFF"/>
                    </a:solidFill>
                  </a:tcPr>
                </a:tc>
                <a:tc>
                  <a:txBody>
                    <a:bodyPr/>
                    <a:lstStyle/>
                    <a:p>
                      <a:r>
                        <a:rPr lang="en-IN" sz="1600">
                          <a:effectLst/>
                        </a:rPr>
                        <a:t>(xxx)</a:t>
                      </a:r>
                    </a:p>
                  </a:txBody>
                  <a:tcPr marL="83680" marR="83680" marT="41840" marB="41840">
                    <a:lnL w="9525" cap="flat" cmpd="sng" algn="ctr">
                      <a:solidFill>
                        <a:srgbClr val="9094B4"/>
                      </a:solidFill>
                      <a:prstDash val="solid"/>
                      <a:round/>
                      <a:headEnd type="none" w="med" len="med"/>
                      <a:tailEnd type="none" w="med" len="med"/>
                    </a:lnL>
                    <a:lnR w="9525" cap="flat" cmpd="sng" algn="ctr">
                      <a:solidFill>
                        <a:srgbClr val="9094B4"/>
                      </a:solidFill>
                      <a:prstDash val="solid"/>
                      <a:round/>
                      <a:headEnd type="none" w="med" len="med"/>
                      <a:tailEnd type="none" w="med" len="med"/>
                    </a:lnR>
                    <a:lnT w="9525" cap="flat" cmpd="sng" algn="ctr">
                      <a:solidFill>
                        <a:srgbClr val="9094B4"/>
                      </a:solidFill>
                      <a:prstDash val="solid"/>
                      <a:round/>
                      <a:headEnd type="none" w="med" len="med"/>
                      <a:tailEnd type="none" w="med" len="med"/>
                    </a:lnT>
                    <a:lnB w="9525" cap="flat" cmpd="sng" algn="ctr">
                      <a:solidFill>
                        <a:srgbClr val="F095B4"/>
                      </a:solidFill>
                      <a:prstDash val="solid"/>
                      <a:round/>
                      <a:headEnd type="none" w="med" len="med"/>
                      <a:tailEnd type="none" w="med" len="med"/>
                    </a:lnB>
                    <a:solidFill>
                      <a:srgbClr val="FFFFFF"/>
                    </a:solidFill>
                  </a:tcPr>
                </a:tc>
                <a:extLst>
                  <a:ext uri="{0D108BD9-81ED-4DB2-BD59-A6C34878D82A}">
                    <a16:rowId xmlns:a16="http://schemas.microsoft.com/office/drawing/2014/main" val="3126159969"/>
                  </a:ext>
                </a:extLst>
              </a:tr>
              <a:tr h="334718">
                <a:tc>
                  <a:txBody>
                    <a:bodyPr/>
                    <a:lstStyle/>
                    <a:p>
                      <a:r>
                        <a:rPr lang="en-IN" sz="1600" b="1">
                          <a:effectLst/>
                        </a:rPr>
                        <a:t>Net Salary</a:t>
                      </a:r>
                      <a:endParaRPr lang="en-IN" sz="1600">
                        <a:effectLst/>
                      </a:endParaRPr>
                    </a:p>
                  </a:txBody>
                  <a:tcPr marL="83680" marR="83680" marT="41840" marB="41840">
                    <a:lnL w="9525" cap="flat" cmpd="sng" algn="ctr">
                      <a:solidFill>
                        <a:srgbClr val="F092B4"/>
                      </a:solidFill>
                      <a:prstDash val="solid"/>
                      <a:round/>
                      <a:headEnd type="none" w="med" len="med"/>
                      <a:tailEnd type="none" w="med" len="med"/>
                    </a:lnL>
                    <a:lnR w="9525" cap="flat" cmpd="sng" algn="ctr">
                      <a:solidFill>
                        <a:srgbClr val="F095B4"/>
                      </a:solidFill>
                      <a:prstDash val="solid"/>
                      <a:round/>
                      <a:headEnd type="none" w="med" len="med"/>
                      <a:tailEnd type="none" w="med" len="med"/>
                    </a:lnR>
                    <a:lnT w="9525" cap="flat" cmpd="sng" algn="ctr">
                      <a:solidFill>
                        <a:srgbClr val="F092B4"/>
                      </a:solidFill>
                      <a:prstDash val="solid"/>
                      <a:round/>
                      <a:headEnd type="none" w="med" len="med"/>
                      <a:tailEnd type="none" w="med" len="med"/>
                    </a:lnT>
                    <a:lnB w="9525" cap="flat" cmpd="sng" algn="ctr">
                      <a:solidFill>
                        <a:srgbClr val="F092B4"/>
                      </a:solidFill>
                      <a:prstDash val="solid"/>
                      <a:round/>
                      <a:headEnd type="none" w="med" len="med"/>
                      <a:tailEnd type="none" w="med" len="med"/>
                    </a:lnB>
                    <a:solidFill>
                      <a:srgbClr val="FFFFFF"/>
                    </a:solidFill>
                  </a:tcPr>
                </a:tc>
                <a:tc>
                  <a:txBody>
                    <a:bodyPr/>
                    <a:lstStyle/>
                    <a:p>
                      <a:r>
                        <a:rPr lang="en-IN" sz="1600" b="1">
                          <a:effectLst/>
                        </a:rPr>
                        <a:t>xxx</a:t>
                      </a:r>
                      <a:endParaRPr lang="en-IN" sz="1600">
                        <a:effectLst/>
                      </a:endParaRPr>
                    </a:p>
                  </a:txBody>
                  <a:tcPr marL="83680" marR="83680" marT="41840" marB="41840">
                    <a:lnL w="9525" cap="flat" cmpd="sng" algn="ctr">
                      <a:solidFill>
                        <a:srgbClr val="F095B4"/>
                      </a:solidFill>
                      <a:prstDash val="solid"/>
                      <a:round/>
                      <a:headEnd type="none" w="med" len="med"/>
                      <a:tailEnd type="none" w="med" len="med"/>
                    </a:lnL>
                    <a:lnR w="9525" cap="flat" cmpd="sng" algn="ctr">
                      <a:solidFill>
                        <a:srgbClr val="F095B4"/>
                      </a:solidFill>
                      <a:prstDash val="solid"/>
                      <a:round/>
                      <a:headEnd type="none" w="med" len="med"/>
                      <a:tailEnd type="none" w="med" len="med"/>
                    </a:lnR>
                    <a:lnT w="9525" cap="flat" cmpd="sng" algn="ctr">
                      <a:solidFill>
                        <a:srgbClr val="F095B4"/>
                      </a:solidFill>
                      <a:prstDash val="solid"/>
                      <a:round/>
                      <a:headEnd type="none" w="med" len="med"/>
                      <a:tailEnd type="none" w="med" len="med"/>
                    </a:lnT>
                    <a:lnB w="9525" cap="flat" cmpd="sng" algn="ctr">
                      <a:solidFill>
                        <a:srgbClr val="F095B4"/>
                      </a:solidFill>
                      <a:prstDash val="solid"/>
                      <a:round/>
                      <a:headEnd type="none" w="med" len="med"/>
                      <a:tailEnd type="none" w="med" len="med"/>
                    </a:lnB>
                    <a:solidFill>
                      <a:srgbClr val="FFFFFF"/>
                    </a:solidFill>
                  </a:tcPr>
                </a:tc>
                <a:extLst>
                  <a:ext uri="{0D108BD9-81ED-4DB2-BD59-A6C34878D82A}">
                    <a16:rowId xmlns:a16="http://schemas.microsoft.com/office/drawing/2014/main" val="2999868966"/>
                  </a:ext>
                </a:extLst>
              </a:tr>
            </a:tbl>
          </a:graphicData>
        </a:graphic>
      </p:graphicFrame>
      <p:sp>
        <p:nvSpPr>
          <p:cNvPr id="5" name="Rectangle 4"/>
          <p:cNvSpPr/>
          <p:nvPr/>
        </p:nvSpPr>
        <p:spPr>
          <a:xfrm>
            <a:off x="1143699" y="589137"/>
            <a:ext cx="6842619" cy="646331"/>
          </a:xfrm>
          <a:prstGeom prst="rect">
            <a:avLst/>
          </a:prstGeom>
        </p:spPr>
        <p:txBody>
          <a:bodyPr wrap="square">
            <a:spAutoFit/>
          </a:bodyPr>
          <a:lstStyle/>
          <a:p>
            <a:r>
              <a:rPr lang="en-US">
                <a:latin typeface="Roboto"/>
              </a:rPr>
              <a:t>How to Calculate Income Tax under Salary Head?</a:t>
            </a:r>
          </a:p>
          <a:p>
            <a:r>
              <a:rPr lang="en-US">
                <a:latin typeface="Roboto"/>
              </a:rPr>
              <a:t>Calculation of Income from salary</a:t>
            </a:r>
            <a:endParaRPr lang="en-US" b="0" i="0">
              <a:effectLst/>
              <a:latin typeface="Roboto"/>
            </a:endParaRPr>
          </a:p>
        </p:txBody>
      </p:sp>
    </p:spTree>
    <p:extLst>
      <p:ext uri="{BB962C8B-B14F-4D97-AF65-F5344CB8AC3E}">
        <p14:creationId xmlns:p14="http://schemas.microsoft.com/office/powerpoint/2010/main" val="3827508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1394" y="161137"/>
            <a:ext cx="11224470" cy="646331"/>
          </a:xfrm>
          <a:prstGeom prst="rect">
            <a:avLst/>
          </a:prstGeom>
        </p:spPr>
        <p:txBody>
          <a:bodyPr wrap="square">
            <a:spAutoFit/>
          </a:bodyPr>
          <a:lstStyle/>
          <a:p>
            <a:r>
              <a:rPr lang="en-US">
                <a:latin typeface="Roboto"/>
              </a:rPr>
              <a:t>As his taxable income is ₹ 20,00,000,</a:t>
            </a:r>
            <a:r>
              <a:rPr lang="en-US" u="sng">
                <a:latin typeface="Roboto"/>
              </a:rPr>
              <a:t>he falls in the slab of above </a:t>
            </a:r>
            <a:r>
              <a:rPr lang="en-US" u="sng" err="1">
                <a:latin typeface="Roboto"/>
              </a:rPr>
              <a:t>Rs</a:t>
            </a:r>
            <a:r>
              <a:rPr lang="en-US" u="sng">
                <a:latin typeface="Roboto"/>
              </a:rPr>
              <a:t> 15 lakh of income tax</a:t>
            </a:r>
            <a:r>
              <a:rPr lang="en-US" b="1">
                <a:latin typeface="Roboto"/>
              </a:rPr>
              <a:t>.</a:t>
            </a:r>
            <a:endParaRPr lang="en-US">
              <a:latin typeface="Roboto"/>
            </a:endParaRPr>
          </a:p>
          <a:p>
            <a:r>
              <a:rPr lang="en-US">
                <a:latin typeface="Roboto"/>
              </a:rPr>
              <a:t>Now let us calculate his Total Taxable Income under both Old Tax Regime and New Tax Regime</a:t>
            </a:r>
            <a:endParaRPr lang="en-US" b="0" i="0">
              <a:effectLst/>
              <a:latin typeface="Roboto"/>
            </a:endParaRPr>
          </a:p>
        </p:txBody>
      </p:sp>
      <p:graphicFrame>
        <p:nvGraphicFramePr>
          <p:cNvPr id="3" name="Table 2"/>
          <p:cNvGraphicFramePr>
            <a:graphicFrameLocks noGrp="1"/>
          </p:cNvGraphicFramePr>
          <p:nvPr>
            <p:extLst>
              <p:ext uri="{D42A27DB-BD31-4B8C-83A1-F6EECF244321}">
                <p14:modId xmlns:p14="http://schemas.microsoft.com/office/powerpoint/2010/main" val="2462228810"/>
              </p:ext>
            </p:extLst>
          </p:nvPr>
        </p:nvGraphicFramePr>
        <p:xfrm>
          <a:off x="755008" y="1029946"/>
          <a:ext cx="8959443" cy="4531954"/>
        </p:xfrm>
        <a:graphic>
          <a:graphicData uri="http://schemas.openxmlformats.org/drawingml/2006/table">
            <a:tbl>
              <a:tblPr/>
              <a:tblGrid>
                <a:gridCol w="2986481">
                  <a:extLst>
                    <a:ext uri="{9D8B030D-6E8A-4147-A177-3AD203B41FA5}">
                      <a16:colId xmlns:a16="http://schemas.microsoft.com/office/drawing/2014/main" val="314557486"/>
                    </a:ext>
                  </a:extLst>
                </a:gridCol>
                <a:gridCol w="2986481">
                  <a:extLst>
                    <a:ext uri="{9D8B030D-6E8A-4147-A177-3AD203B41FA5}">
                      <a16:colId xmlns:a16="http://schemas.microsoft.com/office/drawing/2014/main" val="681641326"/>
                    </a:ext>
                  </a:extLst>
                </a:gridCol>
                <a:gridCol w="2986481">
                  <a:extLst>
                    <a:ext uri="{9D8B030D-6E8A-4147-A177-3AD203B41FA5}">
                      <a16:colId xmlns:a16="http://schemas.microsoft.com/office/drawing/2014/main" val="2018833808"/>
                    </a:ext>
                  </a:extLst>
                </a:gridCol>
              </a:tblGrid>
              <a:tr h="293416">
                <a:tc>
                  <a:txBody>
                    <a:bodyPr/>
                    <a:lstStyle/>
                    <a:p>
                      <a:pPr algn="l"/>
                      <a:r>
                        <a:rPr lang="en-IN" sz="1400">
                          <a:effectLst/>
                        </a:rPr>
                        <a:t>Components</a:t>
                      </a:r>
                    </a:p>
                  </a:txBody>
                  <a:tcPr marL="70183" marR="70183" marT="35091" marB="35091">
                    <a:lnL w="9525" cap="flat" cmpd="sng" algn="ctr">
                      <a:solidFill>
                        <a:srgbClr val="80BF30"/>
                      </a:solidFill>
                      <a:prstDash val="solid"/>
                      <a:round/>
                      <a:headEnd type="none" w="med" len="med"/>
                      <a:tailEnd type="none" w="med" len="med"/>
                    </a:lnL>
                    <a:lnR w="9525" cap="flat" cmpd="sng" algn="ctr">
                      <a:solidFill>
                        <a:srgbClr val="00BF30"/>
                      </a:solidFill>
                      <a:prstDash val="solid"/>
                      <a:round/>
                      <a:headEnd type="none" w="med" len="med"/>
                      <a:tailEnd type="none" w="med" len="med"/>
                    </a:lnR>
                    <a:lnT w="9525" cap="flat" cmpd="sng" algn="ctr">
                      <a:solidFill>
                        <a:srgbClr val="60BE30"/>
                      </a:solidFill>
                      <a:prstDash val="solid"/>
                      <a:round/>
                      <a:headEnd type="none" w="med" len="med"/>
                      <a:tailEnd type="none" w="med" len="med"/>
                    </a:lnT>
                    <a:lnB w="9525" cap="flat" cmpd="sng" algn="ctr">
                      <a:solidFill>
                        <a:srgbClr val="A0BD30"/>
                      </a:solidFill>
                      <a:prstDash val="solid"/>
                      <a:round/>
                      <a:headEnd type="none" w="med" len="med"/>
                      <a:tailEnd type="none" w="med" len="med"/>
                    </a:lnB>
                    <a:solidFill>
                      <a:srgbClr val="FFFFFF"/>
                    </a:solidFill>
                  </a:tcPr>
                </a:tc>
                <a:tc>
                  <a:txBody>
                    <a:bodyPr/>
                    <a:lstStyle/>
                    <a:p>
                      <a:pPr algn="l"/>
                      <a:r>
                        <a:rPr lang="en-IN" sz="1400">
                          <a:effectLst/>
                        </a:rPr>
                        <a:t>Old Tax Regime</a:t>
                      </a:r>
                    </a:p>
                  </a:txBody>
                  <a:tcPr marL="70183" marR="70183" marT="35091" marB="35091">
                    <a:lnL w="9525" cap="flat" cmpd="sng" algn="ctr">
                      <a:solidFill>
                        <a:srgbClr val="00BF30"/>
                      </a:solidFill>
                      <a:prstDash val="solid"/>
                      <a:round/>
                      <a:headEnd type="none" w="med" len="med"/>
                      <a:tailEnd type="none" w="med" len="med"/>
                    </a:lnL>
                    <a:lnR w="9525" cap="flat" cmpd="sng" algn="ctr">
                      <a:solidFill>
                        <a:srgbClr val="60BD30"/>
                      </a:solidFill>
                      <a:prstDash val="solid"/>
                      <a:round/>
                      <a:headEnd type="none" w="med" len="med"/>
                      <a:tailEnd type="none" w="med" len="med"/>
                    </a:lnR>
                    <a:lnT w="9525" cap="flat" cmpd="sng" algn="ctr">
                      <a:solidFill>
                        <a:srgbClr val="20C330"/>
                      </a:solidFill>
                      <a:prstDash val="solid"/>
                      <a:round/>
                      <a:headEnd type="none" w="med" len="med"/>
                      <a:tailEnd type="none" w="med" len="med"/>
                    </a:lnT>
                    <a:lnB w="9525" cap="flat" cmpd="sng" algn="ctr">
                      <a:solidFill>
                        <a:srgbClr val="20BF30"/>
                      </a:solidFill>
                      <a:prstDash val="solid"/>
                      <a:round/>
                      <a:headEnd type="none" w="med" len="med"/>
                      <a:tailEnd type="none" w="med" len="med"/>
                    </a:lnB>
                    <a:solidFill>
                      <a:srgbClr val="FFFFFF"/>
                    </a:solidFill>
                  </a:tcPr>
                </a:tc>
                <a:tc>
                  <a:txBody>
                    <a:bodyPr/>
                    <a:lstStyle/>
                    <a:p>
                      <a:pPr algn="l"/>
                      <a:r>
                        <a:rPr lang="en-IN" sz="1400">
                          <a:effectLst/>
                        </a:rPr>
                        <a:t>New Tax Regime</a:t>
                      </a:r>
                    </a:p>
                  </a:txBody>
                  <a:tcPr marL="70183" marR="70183" marT="35091" marB="35091">
                    <a:lnL w="9525" cap="flat" cmpd="sng" algn="ctr">
                      <a:solidFill>
                        <a:srgbClr val="60BD30"/>
                      </a:solidFill>
                      <a:prstDash val="solid"/>
                      <a:round/>
                      <a:headEnd type="none" w="med" len="med"/>
                      <a:tailEnd type="none" w="med" len="med"/>
                    </a:lnL>
                    <a:lnR w="9525" cap="flat" cmpd="sng" algn="ctr">
                      <a:solidFill>
                        <a:srgbClr val="00C130"/>
                      </a:solidFill>
                      <a:prstDash val="solid"/>
                      <a:round/>
                      <a:headEnd type="none" w="med" len="med"/>
                      <a:tailEnd type="none" w="med" len="med"/>
                    </a:lnR>
                    <a:lnT w="9525" cap="flat" cmpd="sng" algn="ctr">
                      <a:solidFill>
                        <a:srgbClr val="00C130"/>
                      </a:solidFill>
                      <a:prstDash val="solid"/>
                      <a:round/>
                      <a:headEnd type="none" w="med" len="med"/>
                      <a:tailEnd type="none" w="med" len="med"/>
                    </a:lnT>
                    <a:lnB w="9525" cap="flat" cmpd="sng" algn="ctr">
                      <a:solidFill>
                        <a:srgbClr val="00C230"/>
                      </a:solidFill>
                      <a:prstDash val="solid"/>
                      <a:round/>
                      <a:headEnd type="none" w="med" len="med"/>
                      <a:tailEnd type="none" w="med" len="med"/>
                    </a:lnB>
                    <a:solidFill>
                      <a:srgbClr val="FFFFFF"/>
                    </a:solidFill>
                  </a:tcPr>
                </a:tc>
                <a:extLst>
                  <a:ext uri="{0D108BD9-81ED-4DB2-BD59-A6C34878D82A}">
                    <a16:rowId xmlns:a16="http://schemas.microsoft.com/office/drawing/2014/main" val="404922822"/>
                  </a:ext>
                </a:extLst>
              </a:tr>
              <a:tr h="293416">
                <a:tc>
                  <a:txBody>
                    <a:bodyPr/>
                    <a:lstStyle/>
                    <a:p>
                      <a:r>
                        <a:rPr lang="en-IN" sz="1400" b="1">
                          <a:effectLst/>
                        </a:rPr>
                        <a:t>Total Annual Salary</a:t>
                      </a:r>
                      <a:endParaRPr lang="en-IN" sz="1400">
                        <a:effectLst/>
                      </a:endParaRPr>
                    </a:p>
                  </a:txBody>
                  <a:tcPr marL="70183" marR="70183" marT="35091" marB="35091">
                    <a:lnL w="9525" cap="flat" cmpd="sng" algn="ctr">
                      <a:solidFill>
                        <a:srgbClr val="A0BD30"/>
                      </a:solidFill>
                      <a:prstDash val="solid"/>
                      <a:round/>
                      <a:headEnd type="none" w="med" len="med"/>
                      <a:tailEnd type="none" w="med" len="med"/>
                    </a:lnL>
                    <a:lnR w="9525" cap="flat" cmpd="sng" algn="ctr">
                      <a:solidFill>
                        <a:srgbClr val="20BF30"/>
                      </a:solidFill>
                      <a:prstDash val="solid"/>
                      <a:round/>
                      <a:headEnd type="none" w="med" len="med"/>
                      <a:tailEnd type="none" w="med" len="med"/>
                    </a:lnR>
                    <a:lnT w="9525" cap="flat" cmpd="sng" algn="ctr">
                      <a:solidFill>
                        <a:srgbClr val="A0BD30"/>
                      </a:solidFill>
                      <a:prstDash val="solid"/>
                      <a:round/>
                      <a:headEnd type="none" w="med" len="med"/>
                      <a:tailEnd type="none" w="med" len="med"/>
                    </a:lnT>
                    <a:lnB w="9525" cap="flat" cmpd="sng" algn="ctr">
                      <a:solidFill>
                        <a:srgbClr val="A0C330"/>
                      </a:solidFill>
                      <a:prstDash val="solid"/>
                      <a:round/>
                      <a:headEnd type="none" w="med" len="med"/>
                      <a:tailEnd type="none" w="med" len="med"/>
                    </a:lnB>
                    <a:solidFill>
                      <a:srgbClr val="FFFFFF"/>
                    </a:solidFill>
                  </a:tcPr>
                </a:tc>
                <a:tc>
                  <a:txBody>
                    <a:bodyPr/>
                    <a:lstStyle/>
                    <a:p>
                      <a:r>
                        <a:rPr lang="en-IN" sz="1400" b="1">
                          <a:effectLst/>
                        </a:rPr>
                        <a:t>₹ 20,00,000</a:t>
                      </a:r>
                      <a:endParaRPr lang="en-IN" sz="1400">
                        <a:effectLst/>
                      </a:endParaRPr>
                    </a:p>
                  </a:txBody>
                  <a:tcPr marL="70183" marR="70183" marT="35091" marB="35091">
                    <a:lnL w="9525" cap="flat" cmpd="sng" algn="ctr">
                      <a:solidFill>
                        <a:srgbClr val="20BF30"/>
                      </a:solidFill>
                      <a:prstDash val="solid"/>
                      <a:round/>
                      <a:headEnd type="none" w="med" len="med"/>
                      <a:tailEnd type="none" w="med" len="med"/>
                    </a:lnL>
                    <a:lnR w="9525" cap="flat" cmpd="sng" algn="ctr">
                      <a:solidFill>
                        <a:srgbClr val="00C230"/>
                      </a:solidFill>
                      <a:prstDash val="solid"/>
                      <a:round/>
                      <a:headEnd type="none" w="med" len="med"/>
                      <a:tailEnd type="none" w="med" len="med"/>
                    </a:lnR>
                    <a:lnT w="9525" cap="flat" cmpd="sng" algn="ctr">
                      <a:solidFill>
                        <a:srgbClr val="20BF30"/>
                      </a:solidFill>
                      <a:prstDash val="solid"/>
                      <a:round/>
                      <a:headEnd type="none" w="med" len="med"/>
                      <a:tailEnd type="none" w="med" len="med"/>
                    </a:lnT>
                    <a:lnB w="9525" cap="flat" cmpd="sng" algn="ctr">
                      <a:solidFill>
                        <a:srgbClr val="80C030"/>
                      </a:solidFill>
                      <a:prstDash val="solid"/>
                      <a:round/>
                      <a:headEnd type="none" w="med" len="med"/>
                      <a:tailEnd type="none" w="med" len="med"/>
                    </a:lnB>
                    <a:solidFill>
                      <a:srgbClr val="FFFFFF"/>
                    </a:solidFill>
                  </a:tcPr>
                </a:tc>
                <a:tc>
                  <a:txBody>
                    <a:bodyPr/>
                    <a:lstStyle/>
                    <a:p>
                      <a:r>
                        <a:rPr lang="en-IN" sz="1400" b="1">
                          <a:effectLst/>
                        </a:rPr>
                        <a:t>₹ 20,00,000</a:t>
                      </a:r>
                      <a:endParaRPr lang="en-IN" sz="1400">
                        <a:effectLst/>
                      </a:endParaRPr>
                    </a:p>
                  </a:txBody>
                  <a:tcPr marL="70183" marR="70183" marT="35091" marB="35091">
                    <a:lnL w="9525" cap="flat" cmpd="sng" algn="ctr">
                      <a:solidFill>
                        <a:srgbClr val="00C230"/>
                      </a:solidFill>
                      <a:prstDash val="solid"/>
                      <a:round/>
                      <a:headEnd type="none" w="med" len="med"/>
                      <a:tailEnd type="none" w="med" len="med"/>
                    </a:lnL>
                    <a:lnR w="9525" cap="flat" cmpd="sng" algn="ctr">
                      <a:solidFill>
                        <a:srgbClr val="00C230"/>
                      </a:solidFill>
                      <a:prstDash val="solid"/>
                      <a:round/>
                      <a:headEnd type="none" w="med" len="med"/>
                      <a:tailEnd type="none" w="med" len="med"/>
                    </a:lnR>
                    <a:lnT w="9525" cap="flat" cmpd="sng" algn="ctr">
                      <a:solidFill>
                        <a:srgbClr val="00C230"/>
                      </a:solidFill>
                      <a:prstDash val="solid"/>
                      <a:round/>
                      <a:headEnd type="none" w="med" len="med"/>
                      <a:tailEnd type="none" w="med" len="med"/>
                    </a:lnT>
                    <a:lnB w="9525" cap="flat" cmpd="sng" algn="ctr">
                      <a:solidFill>
                        <a:srgbClr val="60BF30"/>
                      </a:solidFill>
                      <a:prstDash val="solid"/>
                      <a:round/>
                      <a:headEnd type="none" w="med" len="med"/>
                      <a:tailEnd type="none" w="med" len="med"/>
                    </a:lnB>
                    <a:solidFill>
                      <a:srgbClr val="FFFFFF"/>
                    </a:solidFill>
                  </a:tcPr>
                </a:tc>
                <a:extLst>
                  <a:ext uri="{0D108BD9-81ED-4DB2-BD59-A6C34878D82A}">
                    <a16:rowId xmlns:a16="http://schemas.microsoft.com/office/drawing/2014/main" val="1505930919"/>
                  </a:ext>
                </a:extLst>
              </a:tr>
              <a:tr h="293416">
                <a:tc>
                  <a:txBody>
                    <a:bodyPr/>
                    <a:lstStyle/>
                    <a:p>
                      <a:r>
                        <a:rPr lang="en-IN" sz="1400">
                          <a:effectLst/>
                        </a:rPr>
                        <a:t>Gross Total Income</a:t>
                      </a:r>
                    </a:p>
                  </a:txBody>
                  <a:tcPr marL="70183" marR="70183" marT="35091" marB="35091">
                    <a:lnL w="9525" cap="flat" cmpd="sng" algn="ctr">
                      <a:solidFill>
                        <a:srgbClr val="A0C330"/>
                      </a:solidFill>
                      <a:prstDash val="solid"/>
                      <a:round/>
                      <a:headEnd type="none" w="med" len="med"/>
                      <a:tailEnd type="none" w="med" len="med"/>
                    </a:lnL>
                    <a:lnR w="9525" cap="flat" cmpd="sng" algn="ctr">
                      <a:solidFill>
                        <a:srgbClr val="80C030"/>
                      </a:solidFill>
                      <a:prstDash val="solid"/>
                      <a:round/>
                      <a:headEnd type="none" w="med" len="med"/>
                      <a:tailEnd type="none" w="med" len="med"/>
                    </a:lnR>
                    <a:lnT w="9525" cap="flat" cmpd="sng" algn="ctr">
                      <a:solidFill>
                        <a:srgbClr val="A0C330"/>
                      </a:solidFill>
                      <a:prstDash val="solid"/>
                      <a:round/>
                      <a:headEnd type="none" w="med" len="med"/>
                      <a:tailEnd type="none" w="med" len="med"/>
                    </a:lnT>
                    <a:lnB w="9525" cap="flat" cmpd="sng" algn="ctr">
                      <a:solidFill>
                        <a:srgbClr val="A0BF30"/>
                      </a:solidFill>
                      <a:prstDash val="solid"/>
                      <a:round/>
                      <a:headEnd type="none" w="med" len="med"/>
                      <a:tailEnd type="none" w="med" len="med"/>
                    </a:lnB>
                    <a:solidFill>
                      <a:srgbClr val="FFFFFF"/>
                    </a:solidFill>
                  </a:tcPr>
                </a:tc>
                <a:tc>
                  <a:txBody>
                    <a:bodyPr/>
                    <a:lstStyle/>
                    <a:p>
                      <a:r>
                        <a:rPr lang="en-IN" sz="1400" b="1">
                          <a:effectLst/>
                        </a:rPr>
                        <a:t>₹ 20,00,000</a:t>
                      </a:r>
                      <a:endParaRPr lang="en-IN" sz="1400">
                        <a:effectLst/>
                      </a:endParaRPr>
                    </a:p>
                  </a:txBody>
                  <a:tcPr marL="70183" marR="70183" marT="35091" marB="35091">
                    <a:lnL w="9525" cap="flat" cmpd="sng" algn="ctr">
                      <a:solidFill>
                        <a:srgbClr val="80C030"/>
                      </a:solidFill>
                      <a:prstDash val="solid"/>
                      <a:round/>
                      <a:headEnd type="none" w="med" len="med"/>
                      <a:tailEnd type="none" w="med" len="med"/>
                    </a:lnL>
                    <a:lnR w="9525" cap="flat" cmpd="sng" algn="ctr">
                      <a:solidFill>
                        <a:srgbClr val="60BF30"/>
                      </a:solidFill>
                      <a:prstDash val="solid"/>
                      <a:round/>
                      <a:headEnd type="none" w="med" len="med"/>
                      <a:tailEnd type="none" w="med" len="med"/>
                    </a:lnR>
                    <a:lnT w="9525" cap="flat" cmpd="sng" algn="ctr">
                      <a:solidFill>
                        <a:srgbClr val="80C030"/>
                      </a:solidFill>
                      <a:prstDash val="solid"/>
                      <a:round/>
                      <a:headEnd type="none" w="med" len="med"/>
                      <a:tailEnd type="none" w="med" len="med"/>
                    </a:lnT>
                    <a:lnB w="9525" cap="flat" cmpd="sng" algn="ctr">
                      <a:solidFill>
                        <a:srgbClr val="A0BF30"/>
                      </a:solidFill>
                      <a:prstDash val="solid"/>
                      <a:round/>
                      <a:headEnd type="none" w="med" len="med"/>
                      <a:tailEnd type="none" w="med" len="med"/>
                    </a:lnB>
                    <a:solidFill>
                      <a:srgbClr val="FFFFFF"/>
                    </a:solidFill>
                  </a:tcPr>
                </a:tc>
                <a:tc>
                  <a:txBody>
                    <a:bodyPr/>
                    <a:lstStyle/>
                    <a:p>
                      <a:r>
                        <a:rPr lang="en-IN" sz="1400" b="1">
                          <a:effectLst/>
                        </a:rPr>
                        <a:t>₹ 20,00,000</a:t>
                      </a:r>
                      <a:endParaRPr lang="en-IN" sz="1400">
                        <a:effectLst/>
                      </a:endParaRPr>
                    </a:p>
                  </a:txBody>
                  <a:tcPr marL="70183" marR="70183" marT="35091" marB="35091">
                    <a:lnL w="9525" cap="flat" cmpd="sng" algn="ctr">
                      <a:solidFill>
                        <a:srgbClr val="60BF30"/>
                      </a:solidFill>
                      <a:prstDash val="solid"/>
                      <a:round/>
                      <a:headEnd type="none" w="med" len="med"/>
                      <a:tailEnd type="none" w="med" len="med"/>
                    </a:lnL>
                    <a:lnR w="9525" cap="flat" cmpd="sng" algn="ctr">
                      <a:solidFill>
                        <a:srgbClr val="60BF30"/>
                      </a:solidFill>
                      <a:prstDash val="solid"/>
                      <a:round/>
                      <a:headEnd type="none" w="med" len="med"/>
                      <a:tailEnd type="none" w="med" len="med"/>
                    </a:lnR>
                    <a:lnT w="9525" cap="flat" cmpd="sng" algn="ctr">
                      <a:solidFill>
                        <a:srgbClr val="60BF30"/>
                      </a:solidFill>
                      <a:prstDash val="solid"/>
                      <a:round/>
                      <a:headEnd type="none" w="med" len="med"/>
                      <a:tailEnd type="none" w="med" len="med"/>
                    </a:lnT>
                    <a:lnB w="9525" cap="flat" cmpd="sng" algn="ctr">
                      <a:solidFill>
                        <a:srgbClr val="A0BF30"/>
                      </a:solidFill>
                      <a:prstDash val="solid"/>
                      <a:round/>
                      <a:headEnd type="none" w="med" len="med"/>
                      <a:tailEnd type="none" w="med" len="med"/>
                    </a:lnB>
                    <a:solidFill>
                      <a:srgbClr val="FFFFFF"/>
                    </a:solidFill>
                  </a:tcPr>
                </a:tc>
                <a:extLst>
                  <a:ext uri="{0D108BD9-81ED-4DB2-BD59-A6C34878D82A}">
                    <a16:rowId xmlns:a16="http://schemas.microsoft.com/office/drawing/2014/main" val="2019371823"/>
                  </a:ext>
                </a:extLst>
              </a:tr>
              <a:tr h="293416">
                <a:tc gridSpan="3">
                  <a:txBody>
                    <a:bodyPr/>
                    <a:lstStyle/>
                    <a:p>
                      <a:r>
                        <a:rPr lang="en-US" sz="1400">
                          <a:effectLst/>
                        </a:rPr>
                        <a:t>(now </a:t>
                      </a:r>
                      <a:r>
                        <a:rPr lang="en-US" sz="1400" b="1">
                          <a:effectLst/>
                        </a:rPr>
                        <a:t>less </a:t>
                      </a:r>
                      <a:r>
                        <a:rPr lang="en-US" sz="1400">
                          <a:effectLst/>
                        </a:rPr>
                        <a:t>all the applicable deduction, allowances, and exemptions)</a:t>
                      </a:r>
                    </a:p>
                  </a:txBody>
                  <a:tcPr marL="70183" marR="70183" marT="35091" marB="35091">
                    <a:lnL w="9525" cap="flat" cmpd="sng" algn="ctr">
                      <a:solidFill>
                        <a:srgbClr val="A0BF30"/>
                      </a:solidFill>
                      <a:prstDash val="solid"/>
                      <a:round/>
                      <a:headEnd type="none" w="med" len="med"/>
                      <a:tailEnd type="none" w="med" len="med"/>
                    </a:lnL>
                    <a:lnR w="9525" cap="flat" cmpd="sng" algn="ctr">
                      <a:solidFill>
                        <a:srgbClr val="A0BF30"/>
                      </a:solidFill>
                      <a:prstDash val="solid"/>
                      <a:round/>
                      <a:headEnd type="none" w="med" len="med"/>
                      <a:tailEnd type="none" w="med" len="med"/>
                    </a:lnR>
                    <a:lnT w="9525" cap="flat" cmpd="sng" algn="ctr">
                      <a:solidFill>
                        <a:srgbClr val="A0BF30"/>
                      </a:solidFill>
                      <a:prstDash val="solid"/>
                      <a:round/>
                      <a:headEnd type="none" w="med" len="med"/>
                      <a:tailEnd type="none" w="med" len="med"/>
                    </a:lnT>
                    <a:lnB w="9525" cap="flat" cmpd="sng" algn="ctr">
                      <a:solidFill>
                        <a:srgbClr val="C0BF30"/>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773880121"/>
                  </a:ext>
                </a:extLst>
              </a:tr>
              <a:tr h="293416">
                <a:tc>
                  <a:txBody>
                    <a:bodyPr/>
                    <a:lstStyle/>
                    <a:p>
                      <a:r>
                        <a:rPr lang="en-IN" sz="1400" u="sng">
                          <a:effectLst/>
                        </a:rPr>
                        <a:t>Less</a:t>
                      </a:r>
                      <a:r>
                        <a:rPr lang="en-IN" sz="1400">
                          <a:effectLst/>
                        </a:rPr>
                        <a:t>: Standard Deduction</a:t>
                      </a:r>
                    </a:p>
                  </a:txBody>
                  <a:tcPr marL="70183" marR="70183" marT="35091" marB="35091">
                    <a:lnL w="9525" cap="flat" cmpd="sng" algn="ctr">
                      <a:solidFill>
                        <a:srgbClr val="C0BF30"/>
                      </a:solidFill>
                      <a:prstDash val="solid"/>
                      <a:round/>
                      <a:headEnd type="none" w="med" len="med"/>
                      <a:tailEnd type="none" w="med" len="med"/>
                    </a:lnL>
                    <a:lnR w="9525" cap="flat" cmpd="sng" algn="ctr">
                      <a:solidFill>
                        <a:srgbClr val="00C530"/>
                      </a:solidFill>
                      <a:prstDash val="solid"/>
                      <a:round/>
                      <a:headEnd type="none" w="med" len="med"/>
                      <a:tailEnd type="none" w="med" len="med"/>
                    </a:lnR>
                    <a:lnT w="9525" cap="flat" cmpd="sng" algn="ctr">
                      <a:solidFill>
                        <a:srgbClr val="C0BF30"/>
                      </a:solidFill>
                      <a:prstDash val="solid"/>
                      <a:round/>
                      <a:headEnd type="none" w="med" len="med"/>
                      <a:tailEnd type="none" w="med" len="med"/>
                    </a:lnT>
                    <a:lnB w="9525" cap="flat" cmpd="sng" algn="ctr">
                      <a:solidFill>
                        <a:srgbClr val="40C930"/>
                      </a:solidFill>
                      <a:prstDash val="solid"/>
                      <a:round/>
                      <a:headEnd type="none" w="med" len="med"/>
                      <a:tailEnd type="none" w="med" len="med"/>
                    </a:lnB>
                    <a:solidFill>
                      <a:srgbClr val="FFFFFF"/>
                    </a:solidFill>
                  </a:tcPr>
                </a:tc>
                <a:tc>
                  <a:txBody>
                    <a:bodyPr/>
                    <a:lstStyle/>
                    <a:p>
                      <a:r>
                        <a:rPr lang="en-IN" sz="1400">
                          <a:effectLst/>
                        </a:rPr>
                        <a:t>– ₹ 50,000</a:t>
                      </a:r>
                    </a:p>
                  </a:txBody>
                  <a:tcPr marL="70183" marR="70183" marT="35091" marB="35091">
                    <a:lnL w="9525" cap="flat" cmpd="sng" algn="ctr">
                      <a:solidFill>
                        <a:srgbClr val="00C530"/>
                      </a:solidFill>
                      <a:prstDash val="solid"/>
                      <a:round/>
                      <a:headEnd type="none" w="med" len="med"/>
                      <a:tailEnd type="none" w="med" len="med"/>
                    </a:lnL>
                    <a:lnR w="9525" cap="flat" cmpd="sng" algn="ctr">
                      <a:solidFill>
                        <a:srgbClr val="20C530"/>
                      </a:solidFill>
                      <a:prstDash val="solid"/>
                      <a:round/>
                      <a:headEnd type="none" w="med" len="med"/>
                      <a:tailEnd type="none" w="med" len="med"/>
                    </a:lnR>
                    <a:lnT w="9525" cap="flat" cmpd="sng" algn="ctr">
                      <a:solidFill>
                        <a:srgbClr val="00C530"/>
                      </a:solidFill>
                      <a:prstDash val="solid"/>
                      <a:round/>
                      <a:headEnd type="none" w="med" len="med"/>
                      <a:tailEnd type="none" w="med" len="med"/>
                    </a:lnT>
                    <a:lnB w="9525" cap="flat" cmpd="sng" algn="ctr">
                      <a:solidFill>
                        <a:srgbClr val="C0C430"/>
                      </a:solidFill>
                      <a:prstDash val="solid"/>
                      <a:round/>
                      <a:headEnd type="none" w="med" len="med"/>
                      <a:tailEnd type="none" w="med" len="med"/>
                    </a:lnB>
                    <a:solidFill>
                      <a:srgbClr val="FFFFFF"/>
                    </a:solidFill>
                  </a:tcPr>
                </a:tc>
                <a:tc>
                  <a:txBody>
                    <a:bodyPr/>
                    <a:lstStyle/>
                    <a:p>
                      <a:r>
                        <a:rPr lang="en-IN" sz="1400">
                          <a:effectLst/>
                        </a:rPr>
                        <a:t>–</a:t>
                      </a:r>
                    </a:p>
                  </a:txBody>
                  <a:tcPr marL="70183" marR="70183" marT="35091" marB="35091">
                    <a:lnL w="9525" cap="flat" cmpd="sng" algn="ctr">
                      <a:solidFill>
                        <a:srgbClr val="20C530"/>
                      </a:solidFill>
                      <a:prstDash val="solid"/>
                      <a:round/>
                      <a:headEnd type="none" w="med" len="med"/>
                      <a:tailEnd type="none" w="med" len="med"/>
                    </a:lnL>
                    <a:lnR w="9525" cap="flat" cmpd="sng" algn="ctr">
                      <a:solidFill>
                        <a:srgbClr val="20C530"/>
                      </a:solidFill>
                      <a:prstDash val="solid"/>
                      <a:round/>
                      <a:headEnd type="none" w="med" len="med"/>
                      <a:tailEnd type="none" w="med" len="med"/>
                    </a:lnR>
                    <a:lnT w="9525" cap="flat" cmpd="sng" algn="ctr">
                      <a:solidFill>
                        <a:srgbClr val="20C530"/>
                      </a:solidFill>
                      <a:prstDash val="solid"/>
                      <a:round/>
                      <a:headEnd type="none" w="med" len="med"/>
                      <a:tailEnd type="none" w="med" len="med"/>
                    </a:lnT>
                    <a:lnB w="9525" cap="flat" cmpd="sng" algn="ctr">
                      <a:solidFill>
                        <a:srgbClr val="40CB30"/>
                      </a:solidFill>
                      <a:prstDash val="solid"/>
                      <a:round/>
                      <a:headEnd type="none" w="med" len="med"/>
                      <a:tailEnd type="none" w="med" len="med"/>
                    </a:lnB>
                    <a:solidFill>
                      <a:srgbClr val="FFFFFF"/>
                    </a:solidFill>
                  </a:tcPr>
                </a:tc>
                <a:extLst>
                  <a:ext uri="{0D108BD9-81ED-4DB2-BD59-A6C34878D82A}">
                    <a16:rowId xmlns:a16="http://schemas.microsoft.com/office/drawing/2014/main" val="2897429668"/>
                  </a:ext>
                </a:extLst>
              </a:tr>
              <a:tr h="508388">
                <a:tc>
                  <a:txBody>
                    <a:bodyPr/>
                    <a:lstStyle/>
                    <a:p>
                      <a:r>
                        <a:rPr lang="en-US" sz="1400" u="sng">
                          <a:effectLst/>
                        </a:rPr>
                        <a:t>Less</a:t>
                      </a:r>
                      <a:r>
                        <a:rPr lang="en-US" sz="1400">
                          <a:effectLst/>
                        </a:rPr>
                        <a:t>: Deductions under Section 80C</a:t>
                      </a:r>
                    </a:p>
                  </a:txBody>
                  <a:tcPr marL="70183" marR="70183" marT="35091" marB="35091">
                    <a:lnL w="9525" cap="flat" cmpd="sng" algn="ctr">
                      <a:solidFill>
                        <a:srgbClr val="40C930"/>
                      </a:solidFill>
                      <a:prstDash val="solid"/>
                      <a:round/>
                      <a:headEnd type="none" w="med" len="med"/>
                      <a:tailEnd type="none" w="med" len="med"/>
                    </a:lnL>
                    <a:lnR w="9525" cap="flat" cmpd="sng" algn="ctr">
                      <a:solidFill>
                        <a:srgbClr val="C0C430"/>
                      </a:solidFill>
                      <a:prstDash val="solid"/>
                      <a:round/>
                      <a:headEnd type="none" w="med" len="med"/>
                      <a:tailEnd type="none" w="med" len="med"/>
                    </a:lnR>
                    <a:lnT w="9525" cap="flat" cmpd="sng" algn="ctr">
                      <a:solidFill>
                        <a:srgbClr val="40C930"/>
                      </a:solidFill>
                      <a:prstDash val="solid"/>
                      <a:round/>
                      <a:headEnd type="none" w="med" len="med"/>
                      <a:tailEnd type="none" w="med" len="med"/>
                    </a:lnT>
                    <a:lnB w="9525" cap="flat" cmpd="sng" algn="ctr">
                      <a:solidFill>
                        <a:srgbClr val="C0C430"/>
                      </a:solidFill>
                      <a:prstDash val="solid"/>
                      <a:round/>
                      <a:headEnd type="none" w="med" len="med"/>
                      <a:tailEnd type="none" w="med" len="med"/>
                    </a:lnB>
                    <a:solidFill>
                      <a:srgbClr val="FFFFFF"/>
                    </a:solidFill>
                  </a:tcPr>
                </a:tc>
                <a:tc>
                  <a:txBody>
                    <a:bodyPr/>
                    <a:lstStyle/>
                    <a:p>
                      <a:r>
                        <a:rPr lang="en-IN" sz="1400">
                          <a:effectLst/>
                        </a:rPr>
                        <a:t>– ₹ 1,50,000</a:t>
                      </a:r>
                    </a:p>
                  </a:txBody>
                  <a:tcPr marL="70183" marR="70183" marT="35091" marB="35091">
                    <a:lnL w="9525" cap="flat" cmpd="sng" algn="ctr">
                      <a:solidFill>
                        <a:srgbClr val="C0C430"/>
                      </a:solidFill>
                      <a:prstDash val="solid"/>
                      <a:round/>
                      <a:headEnd type="none" w="med" len="med"/>
                      <a:tailEnd type="none" w="med" len="med"/>
                    </a:lnL>
                    <a:lnR w="9525" cap="flat" cmpd="sng" algn="ctr">
                      <a:solidFill>
                        <a:srgbClr val="40CB30"/>
                      </a:solidFill>
                      <a:prstDash val="solid"/>
                      <a:round/>
                      <a:headEnd type="none" w="med" len="med"/>
                      <a:tailEnd type="none" w="med" len="med"/>
                    </a:lnR>
                    <a:lnT w="9525" cap="flat" cmpd="sng" algn="ctr">
                      <a:solidFill>
                        <a:srgbClr val="C0C430"/>
                      </a:solidFill>
                      <a:prstDash val="solid"/>
                      <a:round/>
                      <a:headEnd type="none" w="med" len="med"/>
                      <a:tailEnd type="none" w="med" len="med"/>
                    </a:lnT>
                    <a:lnB w="9525" cap="flat" cmpd="sng" algn="ctr">
                      <a:solidFill>
                        <a:srgbClr val="60C930"/>
                      </a:solidFill>
                      <a:prstDash val="solid"/>
                      <a:round/>
                      <a:headEnd type="none" w="med" len="med"/>
                      <a:tailEnd type="none" w="med" len="med"/>
                    </a:lnB>
                    <a:solidFill>
                      <a:srgbClr val="FFFFFF"/>
                    </a:solidFill>
                  </a:tcPr>
                </a:tc>
                <a:tc>
                  <a:txBody>
                    <a:bodyPr/>
                    <a:lstStyle/>
                    <a:p>
                      <a:r>
                        <a:rPr lang="en-IN" sz="1400">
                          <a:effectLst/>
                        </a:rPr>
                        <a:t>–</a:t>
                      </a:r>
                    </a:p>
                  </a:txBody>
                  <a:tcPr marL="70183" marR="70183" marT="35091" marB="35091">
                    <a:lnL w="9525" cap="flat" cmpd="sng" algn="ctr">
                      <a:solidFill>
                        <a:srgbClr val="40CB30"/>
                      </a:solidFill>
                      <a:prstDash val="solid"/>
                      <a:round/>
                      <a:headEnd type="none" w="med" len="med"/>
                      <a:tailEnd type="none" w="med" len="med"/>
                    </a:lnL>
                    <a:lnR w="9525" cap="flat" cmpd="sng" algn="ctr">
                      <a:solidFill>
                        <a:srgbClr val="40CB30"/>
                      </a:solidFill>
                      <a:prstDash val="solid"/>
                      <a:round/>
                      <a:headEnd type="none" w="med" len="med"/>
                      <a:tailEnd type="none" w="med" len="med"/>
                    </a:lnR>
                    <a:lnT w="9525" cap="flat" cmpd="sng" algn="ctr">
                      <a:solidFill>
                        <a:srgbClr val="40CB30"/>
                      </a:solidFill>
                      <a:prstDash val="solid"/>
                      <a:round/>
                      <a:headEnd type="none" w="med" len="med"/>
                      <a:tailEnd type="none" w="med" len="med"/>
                    </a:lnT>
                    <a:lnB w="9525" cap="flat" cmpd="sng" algn="ctr">
                      <a:solidFill>
                        <a:srgbClr val="E0CA30"/>
                      </a:solidFill>
                      <a:prstDash val="solid"/>
                      <a:round/>
                      <a:headEnd type="none" w="med" len="med"/>
                      <a:tailEnd type="none" w="med" len="med"/>
                    </a:lnB>
                    <a:solidFill>
                      <a:srgbClr val="FFFFFF"/>
                    </a:solidFill>
                  </a:tcPr>
                </a:tc>
                <a:extLst>
                  <a:ext uri="{0D108BD9-81ED-4DB2-BD59-A6C34878D82A}">
                    <a16:rowId xmlns:a16="http://schemas.microsoft.com/office/drawing/2014/main" val="1639875268"/>
                  </a:ext>
                </a:extLst>
              </a:tr>
              <a:tr h="508388">
                <a:tc>
                  <a:txBody>
                    <a:bodyPr/>
                    <a:lstStyle/>
                    <a:p>
                      <a:r>
                        <a:rPr lang="en-US" sz="1400" u="sng">
                          <a:effectLst/>
                        </a:rPr>
                        <a:t>Less</a:t>
                      </a:r>
                      <a:r>
                        <a:rPr lang="en-US" sz="1400">
                          <a:effectLst/>
                        </a:rPr>
                        <a:t>: Deductions under Section 80D</a:t>
                      </a:r>
                    </a:p>
                  </a:txBody>
                  <a:tcPr marL="70183" marR="70183" marT="35091" marB="35091">
                    <a:lnL w="9525" cap="flat" cmpd="sng" algn="ctr">
                      <a:solidFill>
                        <a:srgbClr val="C0C430"/>
                      </a:solidFill>
                      <a:prstDash val="solid"/>
                      <a:round/>
                      <a:headEnd type="none" w="med" len="med"/>
                      <a:tailEnd type="none" w="med" len="med"/>
                    </a:lnL>
                    <a:lnR w="9525" cap="flat" cmpd="sng" algn="ctr">
                      <a:solidFill>
                        <a:srgbClr val="60C930"/>
                      </a:solidFill>
                      <a:prstDash val="solid"/>
                      <a:round/>
                      <a:headEnd type="none" w="med" len="med"/>
                      <a:tailEnd type="none" w="med" len="med"/>
                    </a:lnR>
                    <a:lnT w="9525" cap="flat" cmpd="sng" algn="ctr">
                      <a:solidFill>
                        <a:srgbClr val="C0C430"/>
                      </a:solidFill>
                      <a:prstDash val="solid"/>
                      <a:round/>
                      <a:headEnd type="none" w="med" len="med"/>
                      <a:tailEnd type="none" w="med" len="med"/>
                    </a:lnT>
                    <a:lnB w="9525" cap="flat" cmpd="sng" algn="ctr">
                      <a:solidFill>
                        <a:srgbClr val="C0C830"/>
                      </a:solidFill>
                      <a:prstDash val="solid"/>
                      <a:round/>
                      <a:headEnd type="none" w="med" len="med"/>
                      <a:tailEnd type="none" w="med" len="med"/>
                    </a:lnB>
                    <a:solidFill>
                      <a:srgbClr val="FFFFFF"/>
                    </a:solidFill>
                  </a:tcPr>
                </a:tc>
                <a:tc>
                  <a:txBody>
                    <a:bodyPr/>
                    <a:lstStyle/>
                    <a:p>
                      <a:r>
                        <a:rPr lang="en-IN" sz="1400">
                          <a:effectLst/>
                        </a:rPr>
                        <a:t>– ₹ 50,000</a:t>
                      </a:r>
                    </a:p>
                  </a:txBody>
                  <a:tcPr marL="70183" marR="70183" marT="35091" marB="35091">
                    <a:lnL w="9525" cap="flat" cmpd="sng" algn="ctr">
                      <a:solidFill>
                        <a:srgbClr val="60C930"/>
                      </a:solidFill>
                      <a:prstDash val="solid"/>
                      <a:round/>
                      <a:headEnd type="none" w="med" len="med"/>
                      <a:tailEnd type="none" w="med" len="med"/>
                    </a:lnL>
                    <a:lnR w="9525" cap="flat" cmpd="sng" algn="ctr">
                      <a:solidFill>
                        <a:srgbClr val="E0CA30"/>
                      </a:solidFill>
                      <a:prstDash val="solid"/>
                      <a:round/>
                      <a:headEnd type="none" w="med" len="med"/>
                      <a:tailEnd type="none" w="med" len="med"/>
                    </a:lnR>
                    <a:lnT w="9525" cap="flat" cmpd="sng" algn="ctr">
                      <a:solidFill>
                        <a:srgbClr val="60C930"/>
                      </a:solidFill>
                      <a:prstDash val="solid"/>
                      <a:round/>
                      <a:headEnd type="none" w="med" len="med"/>
                      <a:tailEnd type="none" w="med" len="med"/>
                    </a:lnT>
                    <a:lnB w="9525" cap="flat" cmpd="sng" algn="ctr">
                      <a:solidFill>
                        <a:srgbClr val="A0C530"/>
                      </a:solidFill>
                      <a:prstDash val="solid"/>
                      <a:round/>
                      <a:headEnd type="none" w="med" len="med"/>
                      <a:tailEnd type="none" w="med" len="med"/>
                    </a:lnB>
                    <a:solidFill>
                      <a:srgbClr val="FFFFFF"/>
                    </a:solidFill>
                  </a:tcPr>
                </a:tc>
                <a:tc>
                  <a:txBody>
                    <a:bodyPr/>
                    <a:lstStyle/>
                    <a:p>
                      <a:r>
                        <a:rPr lang="en-IN" sz="1400">
                          <a:effectLst/>
                        </a:rPr>
                        <a:t>–</a:t>
                      </a:r>
                    </a:p>
                  </a:txBody>
                  <a:tcPr marL="70183" marR="70183" marT="35091" marB="35091">
                    <a:lnL w="9525" cap="flat" cmpd="sng" algn="ctr">
                      <a:solidFill>
                        <a:srgbClr val="E0CA30"/>
                      </a:solidFill>
                      <a:prstDash val="solid"/>
                      <a:round/>
                      <a:headEnd type="none" w="med" len="med"/>
                      <a:tailEnd type="none" w="med" len="med"/>
                    </a:lnL>
                    <a:lnR w="9525" cap="flat" cmpd="sng" algn="ctr">
                      <a:solidFill>
                        <a:srgbClr val="E0CA30"/>
                      </a:solidFill>
                      <a:prstDash val="solid"/>
                      <a:round/>
                      <a:headEnd type="none" w="med" len="med"/>
                      <a:tailEnd type="none" w="med" len="med"/>
                    </a:lnR>
                    <a:lnT w="9525" cap="flat" cmpd="sng" algn="ctr">
                      <a:solidFill>
                        <a:srgbClr val="E0CA30"/>
                      </a:solidFill>
                      <a:prstDash val="solid"/>
                      <a:round/>
                      <a:headEnd type="none" w="med" len="med"/>
                      <a:tailEnd type="none" w="med" len="med"/>
                    </a:lnT>
                    <a:lnB w="9525" cap="flat" cmpd="sng" algn="ctr">
                      <a:solidFill>
                        <a:srgbClr val="00C630"/>
                      </a:solidFill>
                      <a:prstDash val="solid"/>
                      <a:round/>
                      <a:headEnd type="none" w="med" len="med"/>
                      <a:tailEnd type="none" w="med" len="med"/>
                    </a:lnB>
                    <a:solidFill>
                      <a:srgbClr val="FFFFFF"/>
                    </a:solidFill>
                  </a:tcPr>
                </a:tc>
                <a:extLst>
                  <a:ext uri="{0D108BD9-81ED-4DB2-BD59-A6C34878D82A}">
                    <a16:rowId xmlns:a16="http://schemas.microsoft.com/office/drawing/2014/main" val="3359780936"/>
                  </a:ext>
                </a:extLst>
              </a:tr>
              <a:tr h="726270">
                <a:tc>
                  <a:txBody>
                    <a:bodyPr/>
                    <a:lstStyle/>
                    <a:p>
                      <a:r>
                        <a:rPr lang="en-US" sz="1400" u="sng">
                          <a:effectLst/>
                        </a:rPr>
                        <a:t>Less</a:t>
                      </a:r>
                      <a:r>
                        <a:rPr lang="en-US" sz="1400">
                          <a:effectLst/>
                        </a:rPr>
                        <a:t>: House Rent Allowance (Out of 5,40,000 deduction of)</a:t>
                      </a:r>
                    </a:p>
                  </a:txBody>
                  <a:tcPr marL="70183" marR="70183" marT="35091" marB="35091">
                    <a:lnL w="9525" cap="flat" cmpd="sng" algn="ctr">
                      <a:solidFill>
                        <a:srgbClr val="C0C830"/>
                      </a:solidFill>
                      <a:prstDash val="solid"/>
                      <a:round/>
                      <a:headEnd type="none" w="med" len="med"/>
                      <a:tailEnd type="none" w="med" len="med"/>
                    </a:lnL>
                    <a:lnR w="9525" cap="flat" cmpd="sng" algn="ctr">
                      <a:solidFill>
                        <a:srgbClr val="A0C530"/>
                      </a:solidFill>
                      <a:prstDash val="solid"/>
                      <a:round/>
                      <a:headEnd type="none" w="med" len="med"/>
                      <a:tailEnd type="none" w="med" len="med"/>
                    </a:lnR>
                    <a:lnT w="9525" cap="flat" cmpd="sng" algn="ctr">
                      <a:solidFill>
                        <a:srgbClr val="C0C830"/>
                      </a:solidFill>
                      <a:prstDash val="solid"/>
                      <a:round/>
                      <a:headEnd type="none" w="med" len="med"/>
                      <a:tailEnd type="none" w="med" len="med"/>
                    </a:lnT>
                    <a:lnB w="9525" cap="flat" cmpd="sng" algn="ctr">
                      <a:solidFill>
                        <a:srgbClr val="C0C930"/>
                      </a:solidFill>
                      <a:prstDash val="solid"/>
                      <a:round/>
                      <a:headEnd type="none" w="med" len="med"/>
                      <a:tailEnd type="none" w="med" len="med"/>
                    </a:lnB>
                    <a:solidFill>
                      <a:srgbClr val="FFFFFF"/>
                    </a:solidFill>
                  </a:tcPr>
                </a:tc>
                <a:tc>
                  <a:txBody>
                    <a:bodyPr/>
                    <a:lstStyle/>
                    <a:p>
                      <a:r>
                        <a:rPr lang="en-IN" sz="1400">
                          <a:effectLst/>
                        </a:rPr>
                        <a:t>– ₹ 3,00,000</a:t>
                      </a:r>
                    </a:p>
                  </a:txBody>
                  <a:tcPr marL="70183" marR="70183" marT="35091" marB="35091">
                    <a:lnL w="9525" cap="flat" cmpd="sng" algn="ctr">
                      <a:solidFill>
                        <a:srgbClr val="A0C530"/>
                      </a:solidFill>
                      <a:prstDash val="solid"/>
                      <a:round/>
                      <a:headEnd type="none" w="med" len="med"/>
                      <a:tailEnd type="none" w="med" len="med"/>
                    </a:lnL>
                    <a:lnR w="9525" cap="flat" cmpd="sng" algn="ctr">
                      <a:solidFill>
                        <a:srgbClr val="00C630"/>
                      </a:solidFill>
                      <a:prstDash val="solid"/>
                      <a:round/>
                      <a:headEnd type="none" w="med" len="med"/>
                      <a:tailEnd type="none" w="med" len="med"/>
                    </a:lnR>
                    <a:lnT w="9525" cap="flat" cmpd="sng" algn="ctr">
                      <a:solidFill>
                        <a:srgbClr val="A0C530"/>
                      </a:solidFill>
                      <a:prstDash val="solid"/>
                      <a:round/>
                      <a:headEnd type="none" w="med" len="med"/>
                      <a:tailEnd type="none" w="med" len="med"/>
                    </a:lnT>
                    <a:lnB w="9525" cap="flat" cmpd="sng" algn="ctr">
                      <a:solidFill>
                        <a:srgbClr val="20C830"/>
                      </a:solidFill>
                      <a:prstDash val="solid"/>
                      <a:round/>
                      <a:headEnd type="none" w="med" len="med"/>
                      <a:tailEnd type="none" w="med" len="med"/>
                    </a:lnB>
                    <a:solidFill>
                      <a:srgbClr val="FFFFFF"/>
                    </a:solidFill>
                  </a:tcPr>
                </a:tc>
                <a:tc>
                  <a:txBody>
                    <a:bodyPr/>
                    <a:lstStyle/>
                    <a:p>
                      <a:r>
                        <a:rPr lang="en-IN" sz="1400">
                          <a:effectLst/>
                        </a:rPr>
                        <a:t>–</a:t>
                      </a:r>
                    </a:p>
                  </a:txBody>
                  <a:tcPr marL="70183" marR="70183" marT="35091" marB="35091">
                    <a:lnL w="9525" cap="flat" cmpd="sng" algn="ctr">
                      <a:solidFill>
                        <a:srgbClr val="00C630"/>
                      </a:solidFill>
                      <a:prstDash val="solid"/>
                      <a:round/>
                      <a:headEnd type="none" w="med" len="med"/>
                      <a:tailEnd type="none" w="med" len="med"/>
                    </a:lnL>
                    <a:lnR w="9525" cap="flat" cmpd="sng" algn="ctr">
                      <a:solidFill>
                        <a:srgbClr val="00C630"/>
                      </a:solidFill>
                      <a:prstDash val="solid"/>
                      <a:round/>
                      <a:headEnd type="none" w="med" len="med"/>
                      <a:tailEnd type="none" w="med" len="med"/>
                    </a:lnR>
                    <a:lnT w="9525" cap="flat" cmpd="sng" algn="ctr">
                      <a:solidFill>
                        <a:srgbClr val="00C630"/>
                      </a:solidFill>
                      <a:prstDash val="solid"/>
                      <a:round/>
                      <a:headEnd type="none" w="med" len="med"/>
                      <a:tailEnd type="none" w="med" len="med"/>
                    </a:lnT>
                    <a:lnB w="9525" cap="flat" cmpd="sng" algn="ctr">
                      <a:solidFill>
                        <a:srgbClr val="E0C930"/>
                      </a:solidFill>
                      <a:prstDash val="solid"/>
                      <a:round/>
                      <a:headEnd type="none" w="med" len="med"/>
                      <a:tailEnd type="none" w="med" len="med"/>
                    </a:lnB>
                    <a:solidFill>
                      <a:srgbClr val="FFFFFF"/>
                    </a:solidFill>
                  </a:tcPr>
                </a:tc>
                <a:extLst>
                  <a:ext uri="{0D108BD9-81ED-4DB2-BD59-A6C34878D82A}">
                    <a16:rowId xmlns:a16="http://schemas.microsoft.com/office/drawing/2014/main" val="1764110913"/>
                  </a:ext>
                </a:extLst>
              </a:tr>
              <a:tr h="514206">
                <a:tc>
                  <a:txBody>
                    <a:bodyPr/>
                    <a:lstStyle/>
                    <a:p>
                      <a:r>
                        <a:rPr lang="en-US" sz="1400" u="sng">
                          <a:effectLst/>
                        </a:rPr>
                        <a:t>Less</a:t>
                      </a:r>
                      <a:r>
                        <a:rPr lang="en-US" sz="1400">
                          <a:effectLst/>
                        </a:rPr>
                        <a:t>: Leave Travel Allowance (Out of 20,000 deduction of)</a:t>
                      </a:r>
                    </a:p>
                  </a:txBody>
                  <a:tcPr marL="70183" marR="70183" marT="35091" marB="35091">
                    <a:lnL w="9525" cap="flat" cmpd="sng" algn="ctr">
                      <a:solidFill>
                        <a:srgbClr val="C0C930"/>
                      </a:solidFill>
                      <a:prstDash val="solid"/>
                      <a:round/>
                      <a:headEnd type="none" w="med" len="med"/>
                      <a:tailEnd type="none" w="med" len="med"/>
                    </a:lnL>
                    <a:lnR w="9525" cap="flat" cmpd="sng" algn="ctr">
                      <a:solidFill>
                        <a:srgbClr val="20C830"/>
                      </a:solidFill>
                      <a:prstDash val="solid"/>
                      <a:round/>
                      <a:headEnd type="none" w="med" len="med"/>
                      <a:tailEnd type="none" w="med" len="med"/>
                    </a:lnR>
                    <a:lnT w="9525" cap="flat" cmpd="sng" algn="ctr">
                      <a:solidFill>
                        <a:srgbClr val="C0C930"/>
                      </a:solidFill>
                      <a:prstDash val="solid"/>
                      <a:round/>
                      <a:headEnd type="none" w="med" len="med"/>
                      <a:tailEnd type="none" w="med" len="med"/>
                    </a:lnT>
                    <a:lnB w="9525" cap="flat" cmpd="sng" algn="ctr">
                      <a:solidFill>
                        <a:srgbClr val="80CA30"/>
                      </a:solidFill>
                      <a:prstDash val="solid"/>
                      <a:round/>
                      <a:headEnd type="none" w="med" len="med"/>
                      <a:tailEnd type="none" w="med" len="med"/>
                    </a:lnB>
                    <a:solidFill>
                      <a:srgbClr val="FFFFFF"/>
                    </a:solidFill>
                  </a:tcPr>
                </a:tc>
                <a:tc>
                  <a:txBody>
                    <a:bodyPr/>
                    <a:lstStyle/>
                    <a:p>
                      <a:r>
                        <a:rPr lang="en-US" sz="1400">
                          <a:effectLst/>
                        </a:rPr>
                        <a:t>– ₹ 10,000</a:t>
                      </a:r>
                    </a:p>
                    <a:p>
                      <a:r>
                        <a:rPr lang="en-US" sz="1400">
                          <a:effectLst/>
                        </a:rPr>
                        <a:t>(bills must be submitted)</a:t>
                      </a:r>
                    </a:p>
                  </a:txBody>
                  <a:tcPr marL="70183" marR="70183" marT="35091" marB="35091">
                    <a:lnL w="9525" cap="flat" cmpd="sng" algn="ctr">
                      <a:solidFill>
                        <a:srgbClr val="20C830"/>
                      </a:solidFill>
                      <a:prstDash val="solid"/>
                      <a:round/>
                      <a:headEnd type="none" w="med" len="med"/>
                      <a:tailEnd type="none" w="med" len="med"/>
                    </a:lnL>
                    <a:lnR w="9525" cap="flat" cmpd="sng" algn="ctr">
                      <a:solidFill>
                        <a:srgbClr val="E0C930"/>
                      </a:solidFill>
                      <a:prstDash val="solid"/>
                      <a:round/>
                      <a:headEnd type="none" w="med" len="med"/>
                      <a:tailEnd type="none" w="med" len="med"/>
                    </a:lnR>
                    <a:lnT w="9525" cap="flat" cmpd="sng" algn="ctr">
                      <a:solidFill>
                        <a:srgbClr val="20C830"/>
                      </a:solidFill>
                      <a:prstDash val="solid"/>
                      <a:round/>
                      <a:headEnd type="none" w="med" len="med"/>
                      <a:tailEnd type="none" w="med" len="med"/>
                    </a:lnT>
                    <a:lnB w="9525" cap="flat" cmpd="sng" algn="ctr">
                      <a:solidFill>
                        <a:srgbClr val="A0D230"/>
                      </a:solidFill>
                      <a:prstDash val="solid"/>
                      <a:round/>
                      <a:headEnd type="none" w="med" len="med"/>
                      <a:tailEnd type="none" w="med" len="med"/>
                    </a:lnB>
                    <a:solidFill>
                      <a:srgbClr val="FFFFFF"/>
                    </a:solidFill>
                  </a:tcPr>
                </a:tc>
                <a:tc>
                  <a:txBody>
                    <a:bodyPr/>
                    <a:lstStyle/>
                    <a:p>
                      <a:r>
                        <a:rPr lang="en-IN" sz="1400">
                          <a:effectLst/>
                        </a:rPr>
                        <a:t>–</a:t>
                      </a:r>
                    </a:p>
                  </a:txBody>
                  <a:tcPr marL="70183" marR="70183" marT="35091" marB="35091">
                    <a:lnL w="9525" cap="flat" cmpd="sng" algn="ctr">
                      <a:solidFill>
                        <a:srgbClr val="E0C930"/>
                      </a:solidFill>
                      <a:prstDash val="solid"/>
                      <a:round/>
                      <a:headEnd type="none" w="med" len="med"/>
                      <a:tailEnd type="none" w="med" len="med"/>
                    </a:lnL>
                    <a:lnR w="9525" cap="flat" cmpd="sng" algn="ctr">
                      <a:solidFill>
                        <a:srgbClr val="E0C930"/>
                      </a:solidFill>
                      <a:prstDash val="solid"/>
                      <a:round/>
                      <a:headEnd type="none" w="med" len="med"/>
                      <a:tailEnd type="none" w="med" len="med"/>
                    </a:lnR>
                    <a:lnT w="9525" cap="flat" cmpd="sng" algn="ctr">
                      <a:solidFill>
                        <a:srgbClr val="E0C930"/>
                      </a:solidFill>
                      <a:prstDash val="solid"/>
                      <a:round/>
                      <a:headEnd type="none" w="med" len="med"/>
                      <a:tailEnd type="none" w="med" len="med"/>
                    </a:lnT>
                    <a:lnB w="9525" cap="flat" cmpd="sng" algn="ctr">
                      <a:solidFill>
                        <a:srgbClr val="E0D130"/>
                      </a:solidFill>
                      <a:prstDash val="solid"/>
                      <a:round/>
                      <a:headEnd type="none" w="med" len="med"/>
                      <a:tailEnd type="none" w="med" len="med"/>
                    </a:lnB>
                    <a:solidFill>
                      <a:srgbClr val="FFFFFF"/>
                    </a:solidFill>
                  </a:tcPr>
                </a:tc>
                <a:extLst>
                  <a:ext uri="{0D108BD9-81ED-4DB2-BD59-A6C34878D82A}">
                    <a16:rowId xmlns:a16="http://schemas.microsoft.com/office/drawing/2014/main" val="3009198528"/>
                  </a:ext>
                </a:extLst>
              </a:tr>
              <a:tr h="293416">
                <a:tc>
                  <a:txBody>
                    <a:bodyPr/>
                    <a:lstStyle/>
                    <a:p>
                      <a:r>
                        <a:rPr lang="en-IN" sz="1400" b="1">
                          <a:effectLst/>
                        </a:rPr>
                        <a:t>Total Taxable Income</a:t>
                      </a:r>
                      <a:endParaRPr lang="en-IN" sz="1400">
                        <a:effectLst/>
                      </a:endParaRPr>
                    </a:p>
                  </a:txBody>
                  <a:tcPr marL="70183" marR="70183" marT="35091" marB="35091">
                    <a:lnL w="9525" cap="flat" cmpd="sng" algn="ctr">
                      <a:solidFill>
                        <a:srgbClr val="80CA30"/>
                      </a:solidFill>
                      <a:prstDash val="solid"/>
                      <a:round/>
                      <a:headEnd type="none" w="med" len="med"/>
                      <a:tailEnd type="none" w="med" len="med"/>
                    </a:lnL>
                    <a:lnR w="9525" cap="flat" cmpd="sng" algn="ctr">
                      <a:solidFill>
                        <a:srgbClr val="A0D230"/>
                      </a:solidFill>
                      <a:prstDash val="solid"/>
                      <a:round/>
                      <a:headEnd type="none" w="med" len="med"/>
                      <a:tailEnd type="none" w="med" len="med"/>
                    </a:lnR>
                    <a:lnT w="9525" cap="flat" cmpd="sng" algn="ctr">
                      <a:solidFill>
                        <a:srgbClr val="80CA30"/>
                      </a:solidFill>
                      <a:prstDash val="solid"/>
                      <a:round/>
                      <a:headEnd type="none" w="med" len="med"/>
                      <a:tailEnd type="none" w="med" len="med"/>
                    </a:lnT>
                    <a:lnB w="9525" cap="flat" cmpd="sng" algn="ctr">
                      <a:solidFill>
                        <a:srgbClr val="40CF30"/>
                      </a:solidFill>
                      <a:prstDash val="solid"/>
                      <a:round/>
                      <a:headEnd type="none" w="med" len="med"/>
                      <a:tailEnd type="none" w="med" len="med"/>
                    </a:lnB>
                    <a:solidFill>
                      <a:srgbClr val="FFFFFF"/>
                    </a:solidFill>
                  </a:tcPr>
                </a:tc>
                <a:tc>
                  <a:txBody>
                    <a:bodyPr/>
                    <a:lstStyle/>
                    <a:p>
                      <a:r>
                        <a:rPr lang="en-IN" sz="1400" b="1">
                          <a:effectLst/>
                        </a:rPr>
                        <a:t>₹ 14,40,000</a:t>
                      </a:r>
                      <a:endParaRPr lang="en-IN" sz="1400">
                        <a:effectLst/>
                      </a:endParaRPr>
                    </a:p>
                  </a:txBody>
                  <a:tcPr marL="70183" marR="70183" marT="35091" marB="35091">
                    <a:lnL w="9525" cap="flat" cmpd="sng" algn="ctr">
                      <a:solidFill>
                        <a:srgbClr val="A0D230"/>
                      </a:solidFill>
                      <a:prstDash val="solid"/>
                      <a:round/>
                      <a:headEnd type="none" w="med" len="med"/>
                      <a:tailEnd type="none" w="med" len="med"/>
                    </a:lnL>
                    <a:lnR w="9525" cap="flat" cmpd="sng" algn="ctr">
                      <a:solidFill>
                        <a:srgbClr val="E0D130"/>
                      </a:solidFill>
                      <a:prstDash val="solid"/>
                      <a:round/>
                      <a:headEnd type="none" w="med" len="med"/>
                      <a:tailEnd type="none" w="med" len="med"/>
                    </a:lnR>
                    <a:lnT w="9525" cap="flat" cmpd="sng" algn="ctr">
                      <a:solidFill>
                        <a:srgbClr val="A0D230"/>
                      </a:solidFill>
                      <a:prstDash val="solid"/>
                      <a:round/>
                      <a:headEnd type="none" w="med" len="med"/>
                      <a:tailEnd type="none" w="med" len="med"/>
                    </a:lnT>
                    <a:lnB w="9525" cap="flat" cmpd="sng" algn="ctr">
                      <a:solidFill>
                        <a:srgbClr val="C0CD30"/>
                      </a:solidFill>
                      <a:prstDash val="solid"/>
                      <a:round/>
                      <a:headEnd type="none" w="med" len="med"/>
                      <a:tailEnd type="none" w="med" len="med"/>
                    </a:lnB>
                    <a:solidFill>
                      <a:srgbClr val="FFFFFF"/>
                    </a:solidFill>
                  </a:tcPr>
                </a:tc>
                <a:tc>
                  <a:txBody>
                    <a:bodyPr/>
                    <a:lstStyle/>
                    <a:p>
                      <a:r>
                        <a:rPr lang="en-IN" sz="1400" b="1">
                          <a:effectLst/>
                        </a:rPr>
                        <a:t> </a:t>
                      </a:r>
                      <a:endParaRPr lang="en-IN" sz="1400">
                        <a:effectLst/>
                      </a:endParaRPr>
                    </a:p>
                  </a:txBody>
                  <a:tcPr marL="70183" marR="70183" marT="35091" marB="35091">
                    <a:lnL w="9525" cap="flat" cmpd="sng" algn="ctr">
                      <a:solidFill>
                        <a:srgbClr val="E0D130"/>
                      </a:solidFill>
                      <a:prstDash val="solid"/>
                      <a:round/>
                      <a:headEnd type="none" w="med" len="med"/>
                      <a:tailEnd type="none" w="med" len="med"/>
                    </a:lnL>
                    <a:lnR w="9525" cap="flat" cmpd="sng" algn="ctr">
                      <a:solidFill>
                        <a:srgbClr val="E0D130"/>
                      </a:solidFill>
                      <a:prstDash val="solid"/>
                      <a:round/>
                      <a:headEnd type="none" w="med" len="med"/>
                      <a:tailEnd type="none" w="med" len="med"/>
                    </a:lnR>
                    <a:lnT w="9525" cap="flat" cmpd="sng" algn="ctr">
                      <a:solidFill>
                        <a:srgbClr val="E0D130"/>
                      </a:solidFill>
                      <a:prstDash val="solid"/>
                      <a:round/>
                      <a:headEnd type="none" w="med" len="med"/>
                      <a:tailEnd type="none" w="med" len="med"/>
                    </a:lnT>
                    <a:lnB w="9525" cap="flat" cmpd="sng" algn="ctr">
                      <a:solidFill>
                        <a:srgbClr val="60D430"/>
                      </a:solidFill>
                      <a:prstDash val="solid"/>
                      <a:round/>
                      <a:headEnd type="none" w="med" len="med"/>
                      <a:tailEnd type="none" w="med" len="med"/>
                    </a:lnB>
                    <a:solidFill>
                      <a:srgbClr val="FFFFFF"/>
                    </a:solidFill>
                  </a:tcPr>
                </a:tc>
                <a:extLst>
                  <a:ext uri="{0D108BD9-81ED-4DB2-BD59-A6C34878D82A}">
                    <a16:rowId xmlns:a16="http://schemas.microsoft.com/office/drawing/2014/main" val="3544847313"/>
                  </a:ext>
                </a:extLst>
              </a:tr>
              <a:tr h="514206">
                <a:tc>
                  <a:txBody>
                    <a:bodyPr/>
                    <a:lstStyle/>
                    <a:p>
                      <a:r>
                        <a:rPr lang="en-US" sz="1400" b="1">
                          <a:effectLst/>
                        </a:rPr>
                        <a:t>Total Tax Liability (Payable) (tax liability + cess 4%)</a:t>
                      </a:r>
                      <a:endParaRPr lang="en-US" sz="1400">
                        <a:effectLst/>
                      </a:endParaRPr>
                    </a:p>
                  </a:txBody>
                  <a:tcPr marL="70183" marR="70183" marT="35091" marB="35091">
                    <a:lnL w="9525" cap="flat" cmpd="sng" algn="ctr">
                      <a:solidFill>
                        <a:srgbClr val="40CF30"/>
                      </a:solidFill>
                      <a:prstDash val="solid"/>
                      <a:round/>
                      <a:headEnd type="none" w="med" len="med"/>
                      <a:tailEnd type="none" w="med" len="med"/>
                    </a:lnL>
                    <a:lnR w="9525" cap="flat" cmpd="sng" algn="ctr">
                      <a:solidFill>
                        <a:srgbClr val="C0CD30"/>
                      </a:solidFill>
                      <a:prstDash val="solid"/>
                      <a:round/>
                      <a:headEnd type="none" w="med" len="med"/>
                      <a:tailEnd type="none" w="med" len="med"/>
                    </a:lnR>
                    <a:lnT w="9525" cap="flat" cmpd="sng" algn="ctr">
                      <a:solidFill>
                        <a:srgbClr val="40CF30"/>
                      </a:solidFill>
                      <a:prstDash val="solid"/>
                      <a:round/>
                      <a:headEnd type="none" w="med" len="med"/>
                      <a:tailEnd type="none" w="med" len="med"/>
                    </a:lnT>
                    <a:lnB w="9525" cap="flat" cmpd="sng" algn="ctr">
                      <a:solidFill>
                        <a:srgbClr val="40CF30"/>
                      </a:solidFill>
                      <a:prstDash val="solid"/>
                      <a:round/>
                      <a:headEnd type="none" w="med" len="med"/>
                      <a:tailEnd type="none" w="med" len="med"/>
                    </a:lnB>
                    <a:solidFill>
                      <a:srgbClr val="FFFFFF"/>
                    </a:solidFill>
                  </a:tcPr>
                </a:tc>
                <a:tc>
                  <a:txBody>
                    <a:bodyPr/>
                    <a:lstStyle/>
                    <a:p>
                      <a:r>
                        <a:rPr lang="en-IN" sz="1400" b="1">
                          <a:effectLst/>
                        </a:rPr>
                        <a:t>= ₹ 2,54,280</a:t>
                      </a:r>
                      <a:endParaRPr lang="en-IN" sz="1400">
                        <a:effectLst/>
                      </a:endParaRPr>
                    </a:p>
                  </a:txBody>
                  <a:tcPr marL="70183" marR="70183" marT="35091" marB="35091">
                    <a:lnL w="9525" cap="flat" cmpd="sng" algn="ctr">
                      <a:solidFill>
                        <a:srgbClr val="C0CD30"/>
                      </a:solidFill>
                      <a:prstDash val="solid"/>
                      <a:round/>
                      <a:headEnd type="none" w="med" len="med"/>
                      <a:tailEnd type="none" w="med" len="med"/>
                    </a:lnL>
                    <a:lnR w="9525" cap="flat" cmpd="sng" algn="ctr">
                      <a:solidFill>
                        <a:srgbClr val="60D430"/>
                      </a:solidFill>
                      <a:prstDash val="solid"/>
                      <a:round/>
                      <a:headEnd type="none" w="med" len="med"/>
                      <a:tailEnd type="none" w="med" len="med"/>
                    </a:lnR>
                    <a:lnT w="9525" cap="flat" cmpd="sng" algn="ctr">
                      <a:solidFill>
                        <a:srgbClr val="C0CD30"/>
                      </a:solidFill>
                      <a:prstDash val="solid"/>
                      <a:round/>
                      <a:headEnd type="none" w="med" len="med"/>
                      <a:tailEnd type="none" w="med" len="med"/>
                    </a:lnT>
                    <a:lnB w="9525" cap="flat" cmpd="sng" algn="ctr">
                      <a:solidFill>
                        <a:srgbClr val="C0CD30"/>
                      </a:solidFill>
                      <a:prstDash val="solid"/>
                      <a:round/>
                      <a:headEnd type="none" w="med" len="med"/>
                      <a:tailEnd type="none" w="med" len="med"/>
                    </a:lnB>
                    <a:solidFill>
                      <a:srgbClr val="FFFFFF"/>
                    </a:solidFill>
                  </a:tcPr>
                </a:tc>
                <a:tc>
                  <a:txBody>
                    <a:bodyPr/>
                    <a:lstStyle/>
                    <a:p>
                      <a:r>
                        <a:rPr lang="en-IN" sz="1400" b="1">
                          <a:effectLst/>
                        </a:rPr>
                        <a:t>= ₹2,96,400</a:t>
                      </a:r>
                      <a:endParaRPr lang="en-IN" sz="1400">
                        <a:effectLst/>
                      </a:endParaRPr>
                    </a:p>
                  </a:txBody>
                  <a:tcPr marL="70183" marR="70183" marT="35091" marB="35091">
                    <a:lnL w="9525" cap="flat" cmpd="sng" algn="ctr">
                      <a:solidFill>
                        <a:srgbClr val="60D430"/>
                      </a:solidFill>
                      <a:prstDash val="solid"/>
                      <a:round/>
                      <a:headEnd type="none" w="med" len="med"/>
                      <a:tailEnd type="none" w="med" len="med"/>
                    </a:lnL>
                    <a:lnR w="9525" cap="flat" cmpd="sng" algn="ctr">
                      <a:solidFill>
                        <a:srgbClr val="60D430"/>
                      </a:solidFill>
                      <a:prstDash val="solid"/>
                      <a:round/>
                      <a:headEnd type="none" w="med" len="med"/>
                      <a:tailEnd type="none" w="med" len="med"/>
                    </a:lnR>
                    <a:lnT w="9525" cap="flat" cmpd="sng" algn="ctr">
                      <a:solidFill>
                        <a:srgbClr val="60D430"/>
                      </a:solidFill>
                      <a:prstDash val="solid"/>
                      <a:round/>
                      <a:headEnd type="none" w="med" len="med"/>
                      <a:tailEnd type="none" w="med" len="med"/>
                    </a:lnT>
                    <a:lnB w="9525" cap="flat" cmpd="sng" algn="ctr">
                      <a:solidFill>
                        <a:srgbClr val="60D430"/>
                      </a:solidFill>
                      <a:prstDash val="solid"/>
                      <a:round/>
                      <a:headEnd type="none" w="med" len="med"/>
                      <a:tailEnd type="none" w="med" len="med"/>
                    </a:lnB>
                    <a:solidFill>
                      <a:srgbClr val="FFFFFF"/>
                    </a:solidFill>
                  </a:tcPr>
                </a:tc>
                <a:extLst>
                  <a:ext uri="{0D108BD9-81ED-4DB2-BD59-A6C34878D82A}">
                    <a16:rowId xmlns:a16="http://schemas.microsoft.com/office/drawing/2014/main" val="3440766056"/>
                  </a:ext>
                </a:extLst>
              </a:tr>
            </a:tbl>
          </a:graphicData>
        </a:graphic>
      </p:graphicFrame>
    </p:spTree>
    <p:extLst>
      <p:ext uri="{BB962C8B-B14F-4D97-AF65-F5344CB8AC3E}">
        <p14:creationId xmlns:p14="http://schemas.microsoft.com/office/powerpoint/2010/main" val="472193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6620" y="516452"/>
            <a:ext cx="10972800" cy="5442516"/>
          </a:xfrm>
          <a:prstGeom prst="rect">
            <a:avLst/>
          </a:prstGeom>
        </p:spPr>
        <p:txBody>
          <a:bodyPr wrap="square">
            <a:spAutoFit/>
          </a:bodyPr>
          <a:lstStyle/>
          <a:p>
            <a:pPr algn="just">
              <a:lnSpc>
                <a:spcPct val="150000"/>
              </a:lnSpc>
            </a:pPr>
            <a:r>
              <a:rPr lang="en-US">
                <a:latin typeface="Roboto"/>
              </a:rPr>
              <a:t>It is important to disclose all investments at the start of the assessment year to calculate the tax payable correctly. Knowledge of taxes, deductions, and returns is essential for creating a solid financial foundation. Wrong tax payments, submitting incorrect information may lead your income tax return to scrutiny by income tax department.</a:t>
            </a:r>
          </a:p>
          <a:p>
            <a:pPr algn="just">
              <a:lnSpc>
                <a:spcPct val="150000"/>
              </a:lnSpc>
              <a:buFont typeface="Arial" panose="020B0604020202020204" pitchFamily="34" charset="0"/>
              <a:buChar char="•"/>
            </a:pPr>
            <a:r>
              <a:rPr lang="en-US">
                <a:solidFill>
                  <a:srgbClr val="212529"/>
                </a:solidFill>
                <a:latin typeface="Roboto"/>
              </a:rPr>
              <a:t>On purpose, avoiding filing the IT return</a:t>
            </a:r>
          </a:p>
          <a:p>
            <a:pPr algn="just">
              <a:lnSpc>
                <a:spcPct val="150000"/>
              </a:lnSpc>
              <a:buFont typeface="Arial" panose="020B0604020202020204" pitchFamily="34" charset="0"/>
              <a:buChar char="•"/>
            </a:pPr>
            <a:r>
              <a:rPr lang="en-US">
                <a:solidFill>
                  <a:srgbClr val="212529"/>
                </a:solidFill>
                <a:latin typeface="Roboto"/>
              </a:rPr>
              <a:t>Purposely letting the tax payments fail</a:t>
            </a:r>
          </a:p>
          <a:p>
            <a:pPr algn="just">
              <a:lnSpc>
                <a:spcPct val="150000"/>
              </a:lnSpc>
              <a:buFont typeface="Arial" panose="020B0604020202020204" pitchFamily="34" charset="0"/>
              <a:buChar char="•"/>
            </a:pPr>
            <a:r>
              <a:rPr lang="en-US">
                <a:solidFill>
                  <a:srgbClr val="212529"/>
                </a:solidFill>
                <a:latin typeface="Roboto"/>
              </a:rPr>
              <a:t>Intentionally not reporting total income</a:t>
            </a:r>
          </a:p>
          <a:p>
            <a:pPr algn="just">
              <a:lnSpc>
                <a:spcPct val="150000"/>
              </a:lnSpc>
              <a:buFont typeface="Arial" panose="020B0604020202020204" pitchFamily="34" charset="0"/>
              <a:buChar char="•"/>
            </a:pPr>
            <a:r>
              <a:rPr lang="en-US">
                <a:solidFill>
                  <a:srgbClr val="212529"/>
                </a:solidFill>
                <a:latin typeface="Roboto"/>
              </a:rPr>
              <a:t>Tax returns that have been faked</a:t>
            </a:r>
          </a:p>
          <a:p>
            <a:pPr algn="just">
              <a:lnSpc>
                <a:spcPct val="150000"/>
              </a:lnSpc>
              <a:buFont typeface="Arial" panose="020B0604020202020204" pitchFamily="34" charset="0"/>
              <a:buChar char="•"/>
            </a:pPr>
            <a:r>
              <a:rPr lang="en-US">
                <a:solidFill>
                  <a:srgbClr val="212529"/>
                </a:solidFill>
                <a:latin typeface="Roboto"/>
              </a:rPr>
              <a:t>False claims</a:t>
            </a:r>
          </a:p>
          <a:p>
            <a:pPr algn="just">
              <a:lnSpc>
                <a:spcPct val="150000"/>
              </a:lnSpc>
            </a:pPr>
            <a:r>
              <a:rPr lang="en-US">
                <a:latin typeface="Roboto"/>
              </a:rPr>
              <a:t>Tax fraud can result in legal penalties such as severe fines and jail. Everyone wishes to live a luxurious life but believes it is difficult due to the fact that a large portion of their salary is spent on taxes. Knowing how to do accurate calculations and deductions aids in proper money investment and tax savings, allowing you to live the lavish life you've always wanted. It also prevents from committing tax fraud.</a:t>
            </a:r>
            <a:endParaRPr lang="en-US" b="0" i="0">
              <a:effectLst/>
              <a:latin typeface="Roboto"/>
            </a:endParaRPr>
          </a:p>
        </p:txBody>
      </p:sp>
    </p:spTree>
    <p:extLst>
      <p:ext uri="{BB962C8B-B14F-4D97-AF65-F5344CB8AC3E}">
        <p14:creationId xmlns:p14="http://schemas.microsoft.com/office/powerpoint/2010/main" val="2196283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392571" y="2413338"/>
            <a:ext cx="10100345" cy="1703030"/>
          </a:xfrm>
          <a:prstGeom prst="rect">
            <a:avLst/>
          </a:prstGeom>
        </p:spPr>
        <p:txBody>
          <a:bodyPr wrap="square">
            <a:spAutoFit/>
          </a:bodyPr>
          <a:lstStyle/>
          <a:p>
            <a:pPr algn="just">
              <a:lnSpc>
                <a:spcPct val="150000"/>
              </a:lnSpc>
            </a:pPr>
            <a:r>
              <a:rPr lang="en-US" b="1" i="0">
                <a:solidFill>
                  <a:srgbClr val="34495E"/>
                </a:solidFill>
                <a:effectLst/>
                <a:latin typeface="Lato"/>
              </a:rPr>
              <a:t>Determine the Net Taxable Income</a:t>
            </a:r>
          </a:p>
          <a:p>
            <a:pPr algn="just">
              <a:lnSpc>
                <a:spcPct val="150000"/>
              </a:lnSpc>
            </a:pPr>
            <a:r>
              <a:rPr lang="en-US" b="0" i="0">
                <a:solidFill>
                  <a:srgbClr val="34495E"/>
                </a:solidFill>
                <a:effectLst/>
                <a:latin typeface="Lato"/>
              </a:rPr>
              <a:t>Depending on the applicable </a:t>
            </a:r>
            <a:r>
              <a:rPr lang="en-US" b="0" i="0" u="sng">
                <a:solidFill>
                  <a:srgbClr val="116A9E"/>
                </a:solidFill>
                <a:effectLst/>
                <a:latin typeface="Lato"/>
                <a:hlinkClick r:id="rId2"/>
              </a:rPr>
              <a:t>tax slab</a:t>
            </a:r>
            <a:r>
              <a:rPr lang="en-US" b="0" i="0">
                <a:solidFill>
                  <a:srgbClr val="34495E"/>
                </a:solidFill>
                <a:effectLst/>
                <a:latin typeface="Lato"/>
              </a:rPr>
              <a:t>, you need to pay the tax on your total income which is determined by subtracting the eligible deductions from the gross taxable income.</a:t>
            </a:r>
          </a:p>
          <a:p>
            <a:pPr algn="just">
              <a:lnSpc>
                <a:spcPct val="150000"/>
              </a:lnSpc>
            </a:pPr>
            <a:r>
              <a:rPr lang="en-US" b="0" i="0">
                <a:solidFill>
                  <a:srgbClr val="34495E"/>
                </a:solidFill>
                <a:effectLst/>
                <a:latin typeface="Lato"/>
              </a:rPr>
              <a:t>The following is the tax rate for individual taxpayers less than 60 years old:</a:t>
            </a:r>
          </a:p>
        </p:txBody>
      </p:sp>
    </p:spTree>
    <p:extLst>
      <p:ext uri="{BB962C8B-B14F-4D97-AF65-F5344CB8AC3E}">
        <p14:creationId xmlns:p14="http://schemas.microsoft.com/office/powerpoint/2010/main" val="762131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37199856"/>
              </p:ext>
            </p:extLst>
          </p:nvPr>
        </p:nvGraphicFramePr>
        <p:xfrm>
          <a:off x="1283647" y="740493"/>
          <a:ext cx="9305925" cy="2377440"/>
        </p:xfrm>
        <a:graphic>
          <a:graphicData uri="http://schemas.openxmlformats.org/drawingml/2006/table">
            <a:tbl>
              <a:tblPr/>
              <a:tblGrid>
                <a:gridCol w="3101975">
                  <a:extLst>
                    <a:ext uri="{9D8B030D-6E8A-4147-A177-3AD203B41FA5}">
                      <a16:colId xmlns:a16="http://schemas.microsoft.com/office/drawing/2014/main" val="2278190301"/>
                    </a:ext>
                  </a:extLst>
                </a:gridCol>
                <a:gridCol w="3101975">
                  <a:extLst>
                    <a:ext uri="{9D8B030D-6E8A-4147-A177-3AD203B41FA5}">
                      <a16:colId xmlns:a16="http://schemas.microsoft.com/office/drawing/2014/main" val="4055109034"/>
                    </a:ext>
                  </a:extLst>
                </a:gridCol>
                <a:gridCol w="3101975">
                  <a:extLst>
                    <a:ext uri="{9D8B030D-6E8A-4147-A177-3AD203B41FA5}">
                      <a16:colId xmlns:a16="http://schemas.microsoft.com/office/drawing/2014/main" val="1531862959"/>
                    </a:ext>
                  </a:extLst>
                </a:gridCol>
              </a:tblGrid>
              <a:tr h="0">
                <a:tc>
                  <a:txBody>
                    <a:bodyPr/>
                    <a:lstStyle/>
                    <a:p>
                      <a:pPr fontAlgn="ctr"/>
                      <a:r>
                        <a:rPr lang="en-IN">
                          <a:effectLst/>
                        </a:rPr>
                        <a:t>Net income</a:t>
                      </a: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a:effectLst/>
                        </a:rPr>
                        <a:t>Rate of Income tax</a:t>
                      </a: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US">
                          <a:effectLst/>
                        </a:rPr>
                        <a:t>Under Section 87A, the tax outgo before rebate</a:t>
                      </a:r>
                    </a:p>
                  </a:txBody>
                  <a:tcPr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3733918189"/>
                  </a:ext>
                </a:extLst>
              </a:tr>
              <a:tr h="0">
                <a:tc>
                  <a:txBody>
                    <a:bodyPr/>
                    <a:lstStyle/>
                    <a:p>
                      <a:pPr fontAlgn="ctr"/>
                      <a:r>
                        <a:rPr lang="en-IN">
                          <a:effectLst/>
                        </a:rPr>
                        <a:t>Up to Rs.2.50 lakh</a:t>
                      </a: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a:effectLst/>
                        </a:rPr>
                        <a:t>Nil</a:t>
                      </a: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a:effectLst/>
                        </a:rPr>
                        <a:t>Nil </a:t>
                      </a:r>
                    </a:p>
                  </a:txBody>
                  <a:tcPr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460128041"/>
                  </a:ext>
                </a:extLst>
              </a:tr>
              <a:tr h="0">
                <a:tc>
                  <a:txBody>
                    <a:bodyPr/>
                    <a:lstStyle/>
                    <a:p>
                      <a:pPr fontAlgn="ctr"/>
                      <a:r>
                        <a:rPr lang="en-US">
                          <a:effectLst/>
                        </a:rPr>
                        <a:t>Rs.2.50 lakh to Rs.5 lakh</a:t>
                      </a: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a:effectLst/>
                        </a:rPr>
                        <a:t>5.00%</a:t>
                      </a: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a:effectLst/>
                        </a:rPr>
                        <a:t>Rs.12,500</a:t>
                      </a:r>
                    </a:p>
                  </a:txBody>
                  <a:tcPr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2054885258"/>
                  </a:ext>
                </a:extLst>
              </a:tr>
              <a:tr h="0">
                <a:tc>
                  <a:txBody>
                    <a:bodyPr/>
                    <a:lstStyle/>
                    <a:p>
                      <a:pPr fontAlgn="ctr"/>
                      <a:r>
                        <a:rPr lang="en-US">
                          <a:effectLst/>
                        </a:rPr>
                        <a:t>Rs.5 lakh to Rs.10 lakh</a:t>
                      </a: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a:effectLst/>
                        </a:rPr>
                        <a:t>20%</a:t>
                      </a: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a:effectLst/>
                        </a:rPr>
                        <a:t>Rs.1 lakh</a:t>
                      </a:r>
                    </a:p>
                  </a:txBody>
                  <a:tcPr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2338284746"/>
                  </a:ext>
                </a:extLst>
              </a:tr>
              <a:tr h="0">
                <a:tc>
                  <a:txBody>
                    <a:bodyPr/>
                    <a:lstStyle/>
                    <a:p>
                      <a:pPr fontAlgn="ctr"/>
                      <a:r>
                        <a:rPr lang="en-IN">
                          <a:effectLst/>
                        </a:rPr>
                        <a:t>Above Rs.10 lakh</a:t>
                      </a: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a:effectLst/>
                        </a:rPr>
                        <a:t>30% </a:t>
                      </a: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US">
                          <a:effectLst/>
                        </a:rPr>
                        <a:t>Rs.2,62,500 for net income up to Rs.15 lakh</a:t>
                      </a:r>
                    </a:p>
                  </a:txBody>
                  <a:tcPr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3401609776"/>
                  </a:ext>
                </a:extLst>
              </a:tr>
            </a:tbl>
          </a:graphicData>
        </a:graphic>
      </p:graphicFrame>
      <p:sp>
        <p:nvSpPr>
          <p:cNvPr id="3" name="Rectangle 2"/>
          <p:cNvSpPr/>
          <p:nvPr/>
        </p:nvSpPr>
        <p:spPr>
          <a:xfrm>
            <a:off x="1283646" y="3587958"/>
            <a:ext cx="9305925" cy="923330"/>
          </a:xfrm>
          <a:prstGeom prst="rect">
            <a:avLst/>
          </a:prstGeom>
        </p:spPr>
        <p:txBody>
          <a:bodyPr wrap="square">
            <a:spAutoFit/>
          </a:bodyPr>
          <a:lstStyle/>
          <a:p>
            <a:r>
              <a:rPr lang="en-US" b="0" i="0">
                <a:solidFill>
                  <a:srgbClr val="34495E"/>
                </a:solidFill>
                <a:effectLst/>
                <a:latin typeface="Lato"/>
              </a:rPr>
              <a:t>Note: </a:t>
            </a:r>
          </a:p>
          <a:p>
            <a:pPr>
              <a:buFont typeface="+mj-lt"/>
              <a:buAutoNum type="arabicPeriod"/>
            </a:pPr>
            <a:r>
              <a:rPr lang="en-US" b="0" i="0">
                <a:solidFill>
                  <a:srgbClr val="34495E"/>
                </a:solidFill>
                <a:effectLst/>
                <a:latin typeface="Lato"/>
              </a:rPr>
              <a:t>The tax rate is nil for net income up to Rs.3 lakh for taxpayers above 60 years of age.</a:t>
            </a:r>
          </a:p>
          <a:p>
            <a:pPr>
              <a:buFont typeface="+mj-lt"/>
              <a:buAutoNum type="arabicPeriod"/>
            </a:pPr>
            <a:r>
              <a:rPr lang="en-US" b="0" i="0">
                <a:solidFill>
                  <a:srgbClr val="34495E"/>
                </a:solidFill>
                <a:effectLst/>
                <a:latin typeface="Lato"/>
              </a:rPr>
              <a:t>Tax rate is nil for net income up to Rs.5 lakh for taxpayers over 80 years of age.</a:t>
            </a:r>
          </a:p>
        </p:txBody>
      </p:sp>
    </p:spTree>
    <p:extLst>
      <p:ext uri="{BB962C8B-B14F-4D97-AF65-F5344CB8AC3E}">
        <p14:creationId xmlns:p14="http://schemas.microsoft.com/office/powerpoint/2010/main" val="3118745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0843" y="450476"/>
            <a:ext cx="9571839" cy="1703030"/>
          </a:xfrm>
          <a:prstGeom prst="rect">
            <a:avLst/>
          </a:prstGeom>
        </p:spPr>
        <p:txBody>
          <a:bodyPr wrap="square">
            <a:spAutoFit/>
          </a:bodyPr>
          <a:lstStyle/>
          <a:p>
            <a:pPr algn="just">
              <a:lnSpc>
                <a:spcPct val="150000"/>
              </a:lnSpc>
            </a:pPr>
            <a:r>
              <a:rPr lang="en-US" b="1" i="0">
                <a:solidFill>
                  <a:srgbClr val="34495E"/>
                </a:solidFill>
                <a:effectLst/>
                <a:latin typeface="Lato"/>
              </a:rPr>
              <a:t>Calculate the Taxes Imposed</a:t>
            </a:r>
          </a:p>
          <a:p>
            <a:pPr algn="just">
              <a:lnSpc>
                <a:spcPct val="150000"/>
              </a:lnSpc>
            </a:pPr>
            <a:r>
              <a:rPr lang="en-US" b="0" i="0">
                <a:solidFill>
                  <a:srgbClr val="34495E"/>
                </a:solidFill>
                <a:effectLst/>
                <a:latin typeface="Lato"/>
              </a:rPr>
              <a:t>Tax is calculated on your taxable income which is zero for the first Rs2.50 lakh and 5.00% for the next Rs.2.50 lakh. While the tax rates are 20% and 30% for the next Rs.5 lakh and above Rs.10 lakh, respectively.</a:t>
            </a:r>
          </a:p>
        </p:txBody>
      </p:sp>
      <p:sp>
        <p:nvSpPr>
          <p:cNvPr id="3" name="Rectangle 2"/>
          <p:cNvSpPr/>
          <p:nvPr/>
        </p:nvSpPr>
        <p:spPr>
          <a:xfrm>
            <a:off x="822121" y="2274838"/>
            <a:ext cx="9999677" cy="2534027"/>
          </a:xfrm>
          <a:prstGeom prst="rect">
            <a:avLst/>
          </a:prstGeom>
        </p:spPr>
        <p:txBody>
          <a:bodyPr wrap="square">
            <a:spAutoFit/>
          </a:bodyPr>
          <a:lstStyle/>
          <a:p>
            <a:pPr algn="just">
              <a:lnSpc>
                <a:spcPct val="150000"/>
              </a:lnSpc>
            </a:pPr>
            <a:r>
              <a:rPr lang="en-US" b="1" i="0">
                <a:solidFill>
                  <a:srgbClr val="34495E"/>
                </a:solidFill>
                <a:effectLst/>
                <a:latin typeface="Lato"/>
              </a:rPr>
              <a:t>Consolidate your Net Tax</a:t>
            </a:r>
          </a:p>
          <a:p>
            <a:pPr algn="just">
              <a:lnSpc>
                <a:spcPct val="150000"/>
              </a:lnSpc>
            </a:pPr>
            <a:r>
              <a:rPr lang="en-US" b="0" i="0">
                <a:solidFill>
                  <a:srgbClr val="34495E"/>
                </a:solidFill>
                <a:effectLst/>
                <a:latin typeface="Lato"/>
              </a:rPr>
              <a:t>If an individual is earning below a specified limit, then the government provides tax incentive in the form of tax rebate. Health and education cess of 4.00% can be added to your tax amount if total taxable income is above Rs.5 lakh. The surcharge amount added is 10% and 20% if the income falls between the range of Rs.50 lakh to Rs.1 crore and Rs.1 crore to Rs.2 crore, respectively.</a:t>
            </a:r>
          </a:p>
        </p:txBody>
      </p:sp>
      <p:sp>
        <p:nvSpPr>
          <p:cNvPr id="4" name="Rectangle 3"/>
          <p:cNvSpPr/>
          <p:nvPr/>
        </p:nvSpPr>
        <p:spPr>
          <a:xfrm>
            <a:off x="822121" y="4930197"/>
            <a:ext cx="9571839" cy="1294072"/>
          </a:xfrm>
          <a:prstGeom prst="rect">
            <a:avLst/>
          </a:prstGeom>
        </p:spPr>
        <p:txBody>
          <a:bodyPr wrap="square">
            <a:spAutoFit/>
          </a:bodyPr>
          <a:lstStyle/>
          <a:p>
            <a:pPr algn="just">
              <a:lnSpc>
                <a:spcPct val="150000"/>
              </a:lnSpc>
            </a:pPr>
            <a:r>
              <a:rPr lang="en-US" b="0" i="0">
                <a:solidFill>
                  <a:srgbClr val="040C28"/>
                </a:solidFill>
                <a:effectLst/>
                <a:latin typeface="Arial" panose="020B0604020202020204" pitchFamily="34" charset="0"/>
              </a:rPr>
              <a:t>Every taxpayer, who has to pay the income tax, is liable to pay a cess at the rate of 4%</a:t>
            </a:r>
            <a:r>
              <a:rPr lang="en-US" b="0" i="0">
                <a:solidFill>
                  <a:srgbClr val="1F1F1F"/>
                </a:solidFill>
                <a:effectLst/>
                <a:latin typeface="Arial" panose="020B0604020202020204" pitchFamily="34" charset="0"/>
              </a:rPr>
              <a:t>. The Central Government has introduced various </a:t>
            </a:r>
            <a:r>
              <a:rPr lang="en-US" b="0" i="0" err="1">
                <a:solidFill>
                  <a:srgbClr val="1F1F1F"/>
                </a:solidFill>
                <a:effectLst/>
                <a:latin typeface="Arial" panose="020B0604020202020204" pitchFamily="34" charset="0"/>
              </a:rPr>
              <a:t>cesses</a:t>
            </a:r>
            <a:r>
              <a:rPr lang="en-US" b="0" i="0">
                <a:solidFill>
                  <a:srgbClr val="1F1F1F"/>
                </a:solidFill>
                <a:effectLst/>
                <a:latin typeface="Arial" panose="020B0604020202020204" pitchFamily="34" charset="0"/>
              </a:rPr>
              <a:t> including education cess on income tax (including surcharge).</a:t>
            </a:r>
            <a:endParaRPr lang="en-IN"/>
          </a:p>
        </p:txBody>
      </p:sp>
    </p:spTree>
    <p:extLst>
      <p:ext uri="{BB962C8B-B14F-4D97-AF65-F5344CB8AC3E}">
        <p14:creationId xmlns:p14="http://schemas.microsoft.com/office/powerpoint/2010/main" val="2586021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1020" y="1784325"/>
            <a:ext cx="8221211" cy="2222403"/>
          </a:xfrm>
          <a:prstGeom prst="rect">
            <a:avLst/>
          </a:prstGeom>
        </p:spPr>
        <p:txBody>
          <a:bodyPr wrap="square">
            <a:spAutoFit/>
          </a:bodyPr>
          <a:lstStyle/>
          <a:p>
            <a:pPr>
              <a:lnSpc>
                <a:spcPct val="200000"/>
              </a:lnSpc>
            </a:pPr>
            <a:r>
              <a:rPr lang="en-US" b="1" i="0">
                <a:solidFill>
                  <a:srgbClr val="34495E"/>
                </a:solidFill>
                <a:effectLst/>
                <a:latin typeface="Lato"/>
              </a:rPr>
              <a:t>Example</a:t>
            </a:r>
            <a:r>
              <a:rPr lang="en-US" b="0" i="0">
                <a:solidFill>
                  <a:srgbClr val="34495E"/>
                </a:solidFill>
                <a:effectLst/>
                <a:latin typeface="Lato"/>
              </a:rPr>
              <a:t>:</a:t>
            </a:r>
          </a:p>
          <a:p>
            <a:pPr>
              <a:lnSpc>
                <a:spcPct val="200000"/>
              </a:lnSpc>
            </a:pPr>
            <a:r>
              <a:rPr lang="en-US" b="0" i="0">
                <a:solidFill>
                  <a:srgbClr val="34495E"/>
                </a:solidFill>
                <a:effectLst/>
                <a:latin typeface="Lato"/>
              </a:rPr>
              <a:t>A person X earns a total gross salary of Rs.15 lakh and the net salary comes to Rs.12.50 lakh after removing all the exemptions, such as standard deductions and HRA (House Rent Allowance).</a:t>
            </a:r>
          </a:p>
        </p:txBody>
      </p:sp>
    </p:spTree>
    <p:extLst>
      <p:ext uri="{BB962C8B-B14F-4D97-AF65-F5344CB8AC3E}">
        <p14:creationId xmlns:p14="http://schemas.microsoft.com/office/powerpoint/2010/main" val="850851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11838329"/>
              </p:ext>
            </p:extLst>
          </p:nvPr>
        </p:nvGraphicFramePr>
        <p:xfrm>
          <a:off x="2177888" y="693111"/>
          <a:ext cx="7769112" cy="4351338"/>
        </p:xfrm>
        <a:graphic>
          <a:graphicData uri="http://schemas.openxmlformats.org/drawingml/2006/table">
            <a:tbl>
              <a:tblPr/>
              <a:tblGrid>
                <a:gridCol w="3884556">
                  <a:extLst>
                    <a:ext uri="{9D8B030D-6E8A-4147-A177-3AD203B41FA5}">
                      <a16:colId xmlns:a16="http://schemas.microsoft.com/office/drawing/2014/main" val="1985149589"/>
                    </a:ext>
                  </a:extLst>
                </a:gridCol>
                <a:gridCol w="3884556">
                  <a:extLst>
                    <a:ext uri="{9D8B030D-6E8A-4147-A177-3AD203B41FA5}">
                      <a16:colId xmlns:a16="http://schemas.microsoft.com/office/drawing/2014/main" val="3190970084"/>
                    </a:ext>
                  </a:extLst>
                </a:gridCol>
              </a:tblGrid>
              <a:tr h="305357">
                <a:tc>
                  <a:txBody>
                    <a:bodyPr/>
                    <a:lstStyle/>
                    <a:p>
                      <a:pPr fontAlgn="ctr"/>
                      <a:r>
                        <a:rPr lang="en-IN" sz="1500">
                          <a:effectLst/>
                        </a:rPr>
                        <a:t>Tax Calculation</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Tax Amount</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2054219958"/>
                  </a:ext>
                </a:extLst>
              </a:tr>
              <a:tr h="305357">
                <a:tc>
                  <a:txBody>
                    <a:bodyPr/>
                    <a:lstStyle/>
                    <a:p>
                      <a:pPr fontAlgn="ctr"/>
                      <a:r>
                        <a:rPr lang="en-IN" sz="1500">
                          <a:effectLst/>
                        </a:rPr>
                        <a:t>Gross salary</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Rs.15 lakh</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4059420517"/>
                  </a:ext>
                </a:extLst>
              </a:tr>
              <a:tr h="305357">
                <a:tc>
                  <a:txBody>
                    <a:bodyPr/>
                    <a:lstStyle/>
                    <a:p>
                      <a:pPr fontAlgn="ctr"/>
                      <a:r>
                        <a:rPr lang="en-IN" sz="1500">
                          <a:effectLst/>
                        </a:rPr>
                        <a:t>HRA and LTA deduction</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Rs.2.50 lakh</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263793023"/>
                  </a:ext>
                </a:extLst>
              </a:tr>
              <a:tr h="305357">
                <a:tc>
                  <a:txBody>
                    <a:bodyPr/>
                    <a:lstStyle/>
                    <a:p>
                      <a:pPr fontAlgn="ctr"/>
                      <a:r>
                        <a:rPr lang="en-IN" sz="1500">
                          <a:effectLst/>
                        </a:rPr>
                        <a:t>Standard deduction</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Rs.50,000</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803853644"/>
                  </a:ext>
                </a:extLst>
              </a:tr>
              <a:tr h="305357">
                <a:tc>
                  <a:txBody>
                    <a:bodyPr/>
                    <a:lstStyle/>
                    <a:p>
                      <a:pPr fontAlgn="ctr"/>
                      <a:r>
                        <a:rPr lang="en-IN" sz="1500">
                          <a:effectLst/>
                        </a:rPr>
                        <a:t>Net salary</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Rs.12 lakh</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3415999229"/>
                  </a:ext>
                </a:extLst>
              </a:tr>
              <a:tr h="305357">
                <a:tc>
                  <a:txBody>
                    <a:bodyPr/>
                    <a:lstStyle/>
                    <a:p>
                      <a:pPr fontAlgn="ctr"/>
                      <a:r>
                        <a:rPr lang="en-IN" sz="1500">
                          <a:effectLst/>
                        </a:rPr>
                        <a:t>Income other Sources</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Rs.10,000</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503546839"/>
                  </a:ext>
                </a:extLst>
              </a:tr>
              <a:tr h="305357">
                <a:tc>
                  <a:txBody>
                    <a:bodyPr/>
                    <a:lstStyle/>
                    <a:p>
                      <a:pPr fontAlgn="ctr"/>
                      <a:r>
                        <a:rPr lang="en-IN" sz="1500">
                          <a:effectLst/>
                        </a:rPr>
                        <a:t>Gross taxable income</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Rs.12,10,000</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2177681581"/>
                  </a:ext>
                </a:extLst>
              </a:tr>
              <a:tr h="305357">
                <a:tc>
                  <a:txBody>
                    <a:bodyPr/>
                    <a:lstStyle/>
                    <a:p>
                      <a:pPr fontAlgn="ctr"/>
                      <a:r>
                        <a:rPr lang="en-US" sz="1500">
                          <a:effectLst/>
                        </a:rPr>
                        <a:t>Under Section 80C (ELSS + EPF)</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Rs.1.50 lakh (deduction)</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2633391865"/>
                  </a:ext>
                </a:extLst>
              </a:tr>
              <a:tr h="534375">
                <a:tc>
                  <a:txBody>
                    <a:bodyPr/>
                    <a:lstStyle/>
                    <a:p>
                      <a:pPr fontAlgn="ctr"/>
                      <a:r>
                        <a:rPr lang="en-US" sz="1500">
                          <a:effectLst/>
                        </a:rPr>
                        <a:t>Under Section 80CCD (1) for NPS (National Pension Scheme)</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Rs.50,000 (deduction)</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3383435474"/>
                  </a:ext>
                </a:extLst>
              </a:tr>
              <a:tr h="534375">
                <a:tc>
                  <a:txBody>
                    <a:bodyPr/>
                    <a:lstStyle/>
                    <a:p>
                      <a:pPr fontAlgn="ctr"/>
                      <a:r>
                        <a:rPr lang="en-US" sz="1500">
                          <a:effectLst/>
                        </a:rPr>
                        <a:t>Under Section 80D for health insurance premium</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Rs.15,000</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3529244192"/>
                  </a:ext>
                </a:extLst>
              </a:tr>
              <a:tr h="534375">
                <a:tc>
                  <a:txBody>
                    <a:bodyPr/>
                    <a:lstStyle/>
                    <a:p>
                      <a:pPr fontAlgn="ctr"/>
                      <a:r>
                        <a:rPr lang="en-US" sz="1500">
                          <a:effectLst/>
                        </a:rPr>
                        <a:t>Under Section 80TTA for interest on bank account</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Rs.10,000</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555470077"/>
                  </a:ext>
                </a:extLst>
              </a:tr>
              <a:tr h="305357">
                <a:tc>
                  <a:txBody>
                    <a:bodyPr/>
                    <a:lstStyle/>
                    <a:p>
                      <a:pPr fontAlgn="ctr"/>
                      <a:r>
                        <a:rPr lang="en-IN" sz="1500">
                          <a:effectLst/>
                        </a:rPr>
                        <a:t>Total taxable income</a:t>
                      </a:r>
                    </a:p>
                  </a:txBody>
                  <a:tcPr marL="76339" marR="76339" marT="38170" marB="3817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fontAlgn="ctr"/>
                      <a:r>
                        <a:rPr lang="en-IN" sz="1500">
                          <a:effectLst/>
                        </a:rPr>
                        <a:t>Rs.9.85 lakh</a:t>
                      </a:r>
                    </a:p>
                  </a:txBody>
                  <a:tcPr marL="76339" marR="76339" marT="38170" marB="38170" anchor="ctr">
                    <a:lnL w="9525"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723410924"/>
                  </a:ext>
                </a:extLst>
              </a:tr>
            </a:tbl>
          </a:graphicData>
        </a:graphic>
      </p:graphicFrame>
      <p:sp>
        <p:nvSpPr>
          <p:cNvPr id="3" name="Rectangle 2"/>
          <p:cNvSpPr/>
          <p:nvPr/>
        </p:nvSpPr>
        <p:spPr>
          <a:xfrm>
            <a:off x="2177888" y="5286973"/>
            <a:ext cx="7769112" cy="369332"/>
          </a:xfrm>
          <a:prstGeom prst="rect">
            <a:avLst/>
          </a:prstGeom>
        </p:spPr>
        <p:txBody>
          <a:bodyPr wrap="square">
            <a:spAutoFit/>
          </a:bodyPr>
          <a:lstStyle/>
          <a:p>
            <a:r>
              <a:rPr lang="en-US" b="0" i="0">
                <a:solidFill>
                  <a:srgbClr val="34495E"/>
                </a:solidFill>
                <a:effectLst/>
                <a:latin typeface="Lato"/>
              </a:rPr>
              <a:t>Tax on amount Rs.5 lakh to Rs.9.85 lakh is 20% which is Rs.97,000.</a:t>
            </a:r>
            <a:endParaRPr lang="en-IN"/>
          </a:p>
        </p:txBody>
      </p:sp>
    </p:spTree>
    <p:extLst>
      <p:ext uri="{BB962C8B-B14F-4D97-AF65-F5344CB8AC3E}">
        <p14:creationId xmlns:p14="http://schemas.microsoft.com/office/powerpoint/2010/main" val="3866371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BD6B6F7A589964FA8EFF1EC22ABFF9A" ma:contentTypeVersion="4" ma:contentTypeDescription="Create a new document." ma:contentTypeScope="" ma:versionID="4e4172c0ec572c4403a740db4081f41f">
  <xsd:schema xmlns:xsd="http://www.w3.org/2001/XMLSchema" xmlns:xs="http://www.w3.org/2001/XMLSchema" xmlns:p="http://schemas.microsoft.com/office/2006/metadata/properties" xmlns:ns2="b48969ca-8cba-4929-964a-15b6078999fc" targetNamespace="http://schemas.microsoft.com/office/2006/metadata/properties" ma:root="true" ma:fieldsID="756c0f7595b871e7261fab573aeda177" ns2:_="">
    <xsd:import namespace="b48969ca-8cba-4929-964a-15b6078999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8969ca-8cba-4929-964a-15b6078999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636DF32-BF33-40D6-9B6F-2B0188D1B77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FD09707-3518-4AAE-8308-FDC670B39ADE}">
  <ds:schemaRefs>
    <ds:schemaRef ds:uri="http://schemas.microsoft.com/sharepoint/v3/contenttype/forms"/>
  </ds:schemaRefs>
</ds:datastoreItem>
</file>

<file path=customXml/itemProps3.xml><?xml version="1.0" encoding="utf-8"?>
<ds:datastoreItem xmlns:ds="http://schemas.openxmlformats.org/officeDocument/2006/customXml" ds:itemID="{9712CB45-69A9-4535-9DCB-AD8716280760}">
  <ds:schemaRefs>
    <ds:schemaRef ds:uri="b48969ca-8cba-4929-964a-15b6078999f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25</Slides>
  <Notes>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Avadhut Samant</dc:creator>
  <cp:revision>4</cp:revision>
  <dcterms:created xsi:type="dcterms:W3CDTF">2024-09-04T05:58:32Z</dcterms:created>
  <dcterms:modified xsi:type="dcterms:W3CDTF">2024-12-15T04:14:37Z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0x010100EBD6B6F7A589964FA8EFF1EC22ABFF9A</vt:lpwstr>
  </property>
</Properties>
</file>