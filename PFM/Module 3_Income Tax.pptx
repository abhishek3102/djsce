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4" r:id="rId4"/>
  </p:sldMasterIdLst>
  <p:notesMasterIdLst>
    <p:notesMasterId r:id="rId181"/>
  </p:notesMasterIdLst>
  <p:sldIdLst>
    <p:sldId id="1191" r:id="rId5"/>
    <p:sldId id="256" r:id="rId6"/>
    <p:sldId id="1288" r:id="rId7"/>
    <p:sldId id="1289" r:id="rId8"/>
    <p:sldId id="1290" r:id="rId9"/>
    <p:sldId id="1291" r:id="rId10"/>
    <p:sldId id="1311" r:id="rId11"/>
    <p:sldId id="264" r:id="rId12"/>
    <p:sldId id="265" r:id="rId13"/>
    <p:sldId id="266" r:id="rId14"/>
    <p:sldId id="267" r:id="rId15"/>
    <p:sldId id="268" r:id="rId16"/>
    <p:sldId id="269" r:id="rId17"/>
    <p:sldId id="270" r:id="rId18"/>
    <p:sldId id="271" r:id="rId19"/>
    <p:sldId id="272" r:id="rId20"/>
    <p:sldId id="273" r:id="rId21"/>
    <p:sldId id="1286" r:id="rId22"/>
    <p:sldId id="332" r:id="rId23"/>
    <p:sldId id="1283" r:id="rId24"/>
    <p:sldId id="1284" r:id="rId25"/>
    <p:sldId id="1285" r:id="rId26"/>
    <p:sldId id="275" r:id="rId27"/>
    <p:sldId id="276" r:id="rId28"/>
    <p:sldId id="277" r:id="rId29"/>
    <p:sldId id="283" r:id="rId30"/>
    <p:sldId id="284" r:id="rId31"/>
    <p:sldId id="285" r:id="rId32"/>
    <p:sldId id="286" r:id="rId33"/>
    <p:sldId id="257" r:id="rId34"/>
    <p:sldId id="1312" r:id="rId35"/>
    <p:sldId id="1313" r:id="rId36"/>
    <p:sldId id="289" r:id="rId37"/>
    <p:sldId id="1314" r:id="rId38"/>
    <p:sldId id="1315" r:id="rId39"/>
    <p:sldId id="258" r:id="rId40"/>
    <p:sldId id="259" r:id="rId41"/>
    <p:sldId id="260" r:id="rId42"/>
    <p:sldId id="261" r:id="rId43"/>
    <p:sldId id="1316" r:id="rId44"/>
    <p:sldId id="1317" r:id="rId45"/>
    <p:sldId id="1318" r:id="rId46"/>
    <p:sldId id="1319" r:id="rId47"/>
    <p:sldId id="1320" r:id="rId48"/>
    <p:sldId id="1321" r:id="rId49"/>
    <p:sldId id="262" r:id="rId50"/>
    <p:sldId id="263" r:id="rId51"/>
    <p:sldId id="1166" r:id="rId52"/>
    <p:sldId id="1305" r:id="rId53"/>
    <p:sldId id="1287" r:id="rId54"/>
    <p:sldId id="1294" r:id="rId55"/>
    <p:sldId id="1309" r:id="rId56"/>
    <p:sldId id="1306" r:id="rId57"/>
    <p:sldId id="1310" r:id="rId58"/>
    <p:sldId id="1307" r:id="rId59"/>
    <p:sldId id="1308" r:id="rId60"/>
    <p:sldId id="1295" r:id="rId61"/>
    <p:sldId id="1195" r:id="rId62"/>
    <p:sldId id="1193" r:id="rId63"/>
    <p:sldId id="1292" r:id="rId64"/>
    <p:sldId id="1194" r:id="rId65"/>
    <p:sldId id="1293" r:id="rId66"/>
    <p:sldId id="1205" r:id="rId67"/>
    <p:sldId id="1202" r:id="rId68"/>
    <p:sldId id="1297" r:id="rId69"/>
    <p:sldId id="1199" r:id="rId70"/>
    <p:sldId id="1299" r:id="rId71"/>
    <p:sldId id="1214" r:id="rId72"/>
    <p:sldId id="1298" r:id="rId73"/>
    <p:sldId id="1182" r:id="rId74"/>
    <p:sldId id="1300" r:id="rId75"/>
    <p:sldId id="1301" r:id="rId76"/>
    <p:sldId id="1198" r:id="rId77"/>
    <p:sldId id="1207" r:id="rId78"/>
    <p:sldId id="1209" r:id="rId79"/>
    <p:sldId id="1211" r:id="rId80"/>
    <p:sldId id="1212" r:id="rId81"/>
    <p:sldId id="1218" r:id="rId82"/>
    <p:sldId id="1213" r:id="rId83"/>
    <p:sldId id="1208" r:id="rId84"/>
    <p:sldId id="1210" r:id="rId85"/>
    <p:sldId id="1200" r:id="rId86"/>
    <p:sldId id="1201" r:id="rId87"/>
    <p:sldId id="1203" r:id="rId88"/>
    <p:sldId id="1217" r:id="rId89"/>
    <p:sldId id="1219" r:id="rId90"/>
    <p:sldId id="1223" r:id="rId91"/>
    <p:sldId id="1220" r:id="rId92"/>
    <p:sldId id="1224" r:id="rId93"/>
    <p:sldId id="1225" r:id="rId94"/>
    <p:sldId id="1226" r:id="rId95"/>
    <p:sldId id="1227" r:id="rId96"/>
    <p:sldId id="1228" r:id="rId97"/>
    <p:sldId id="1229" r:id="rId98"/>
    <p:sldId id="1230" r:id="rId99"/>
    <p:sldId id="1172" r:id="rId100"/>
    <p:sldId id="1222" r:id="rId101"/>
    <p:sldId id="1174" r:id="rId102"/>
    <p:sldId id="1175" r:id="rId103"/>
    <p:sldId id="1176" r:id="rId104"/>
    <p:sldId id="1177" r:id="rId105"/>
    <p:sldId id="1178" r:id="rId106"/>
    <p:sldId id="1179" r:id="rId107"/>
    <p:sldId id="1180" r:id="rId108"/>
    <p:sldId id="1181" r:id="rId109"/>
    <p:sldId id="1183" r:id="rId110"/>
    <p:sldId id="287" r:id="rId111"/>
    <p:sldId id="288" r:id="rId112"/>
    <p:sldId id="291" r:id="rId113"/>
    <p:sldId id="292" r:id="rId114"/>
    <p:sldId id="293" r:id="rId115"/>
    <p:sldId id="299" r:id="rId116"/>
    <p:sldId id="300" r:id="rId117"/>
    <p:sldId id="301" r:id="rId118"/>
    <p:sldId id="1231" r:id="rId119"/>
    <p:sldId id="1232" r:id="rId120"/>
    <p:sldId id="304" r:id="rId121"/>
    <p:sldId id="305" r:id="rId122"/>
    <p:sldId id="1233" r:id="rId123"/>
    <p:sldId id="1237" r:id="rId124"/>
    <p:sldId id="1238" r:id="rId125"/>
    <p:sldId id="1234" r:id="rId126"/>
    <p:sldId id="1235" r:id="rId127"/>
    <p:sldId id="1240" r:id="rId128"/>
    <p:sldId id="1241" r:id="rId129"/>
    <p:sldId id="1242" r:id="rId130"/>
    <p:sldId id="1243" r:id="rId131"/>
    <p:sldId id="1244" r:id="rId132"/>
    <p:sldId id="1245" r:id="rId133"/>
    <p:sldId id="1246" r:id="rId134"/>
    <p:sldId id="1247" r:id="rId135"/>
    <p:sldId id="1248" r:id="rId136"/>
    <p:sldId id="1249" r:id="rId137"/>
    <p:sldId id="1250" r:id="rId138"/>
    <p:sldId id="1251" r:id="rId139"/>
    <p:sldId id="1236" r:id="rId140"/>
    <p:sldId id="1239" r:id="rId141"/>
    <p:sldId id="1252" r:id="rId142"/>
    <p:sldId id="1253" r:id="rId143"/>
    <p:sldId id="1254" r:id="rId144"/>
    <p:sldId id="1255" r:id="rId145"/>
    <p:sldId id="1256" r:id="rId146"/>
    <p:sldId id="1257" r:id="rId147"/>
    <p:sldId id="1258" r:id="rId148"/>
    <p:sldId id="1259" r:id="rId149"/>
    <p:sldId id="1260" r:id="rId150"/>
    <p:sldId id="1261" r:id="rId151"/>
    <p:sldId id="1262" r:id="rId152"/>
    <p:sldId id="1263" r:id="rId153"/>
    <p:sldId id="1280" r:id="rId154"/>
    <p:sldId id="1264" r:id="rId155"/>
    <p:sldId id="1265" r:id="rId156"/>
    <p:sldId id="1266" r:id="rId157"/>
    <p:sldId id="1267" r:id="rId158"/>
    <p:sldId id="1268" r:id="rId159"/>
    <p:sldId id="1269" r:id="rId160"/>
    <p:sldId id="1270" r:id="rId161"/>
    <p:sldId id="1281" r:id="rId162"/>
    <p:sldId id="1271" r:id="rId163"/>
    <p:sldId id="1282" r:id="rId164"/>
    <p:sldId id="1272" r:id="rId165"/>
    <p:sldId id="1273" r:id="rId166"/>
    <p:sldId id="1274" r:id="rId167"/>
    <p:sldId id="1275" r:id="rId168"/>
    <p:sldId id="1276" r:id="rId169"/>
    <p:sldId id="1277" r:id="rId170"/>
    <p:sldId id="1278" r:id="rId171"/>
    <p:sldId id="1279" r:id="rId172"/>
    <p:sldId id="1329" r:id="rId173"/>
    <p:sldId id="1322" r:id="rId174"/>
    <p:sldId id="1323" r:id="rId175"/>
    <p:sldId id="1324" r:id="rId176"/>
    <p:sldId id="1325" r:id="rId177"/>
    <p:sldId id="1326" r:id="rId178"/>
    <p:sldId id="1327" r:id="rId179"/>
    <p:sldId id="1328" r:id="rId18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DDDD"/>
    <a:srgbClr val="FFCC00"/>
    <a:srgbClr val="66FF33"/>
    <a:srgbClr val="9687CB"/>
    <a:srgbClr val="E0FC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75" autoAdjust="0"/>
    <p:restoredTop sz="94660"/>
  </p:normalViewPr>
  <p:slideViewPr>
    <p:cSldViewPr snapToGrid="0">
      <p:cViewPr varScale="1">
        <p:scale>
          <a:sx n="107" d="100"/>
          <a:sy n="107" d="100"/>
        </p:scale>
        <p:origin x="498"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slide" Target="slides/slide166.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181" Type="http://schemas.openxmlformats.org/officeDocument/2006/relationships/notesMaster" Target="notesMasters/notesMaster1.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openxmlformats.org/officeDocument/2006/relationships/slide" Target="slides/slide167.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5" Type="http://schemas.openxmlformats.org/officeDocument/2006/relationships/slide" Target="slides/slide71.xml"/><Relationship Id="rId96" Type="http://schemas.openxmlformats.org/officeDocument/2006/relationships/slide" Target="slides/slide92.xml"/><Relationship Id="rId140" Type="http://schemas.openxmlformats.org/officeDocument/2006/relationships/slide" Target="slides/slide136.xml"/><Relationship Id="rId161" Type="http://schemas.openxmlformats.org/officeDocument/2006/relationships/slide" Target="slides/slide157.xml"/><Relationship Id="rId182" Type="http://schemas.openxmlformats.org/officeDocument/2006/relationships/presProps" Target="presProps.xml"/><Relationship Id="rId6" Type="http://schemas.openxmlformats.org/officeDocument/2006/relationships/slide" Target="slides/slide2.xml"/><Relationship Id="rId23" Type="http://schemas.openxmlformats.org/officeDocument/2006/relationships/slide" Target="slides/slide19.xml"/><Relationship Id="rId119" Type="http://schemas.openxmlformats.org/officeDocument/2006/relationships/slide" Target="slides/slide115.xml"/><Relationship Id="rId44" Type="http://schemas.openxmlformats.org/officeDocument/2006/relationships/slide" Target="slides/slide40.xml"/><Relationship Id="rId65" Type="http://schemas.openxmlformats.org/officeDocument/2006/relationships/slide" Target="slides/slide61.xml"/><Relationship Id="rId86" Type="http://schemas.openxmlformats.org/officeDocument/2006/relationships/slide" Target="slides/slide82.xml"/><Relationship Id="rId130" Type="http://schemas.openxmlformats.org/officeDocument/2006/relationships/slide" Target="slides/slide126.xml"/><Relationship Id="rId151" Type="http://schemas.openxmlformats.org/officeDocument/2006/relationships/slide" Target="slides/slide147.xml"/><Relationship Id="rId172" Type="http://schemas.openxmlformats.org/officeDocument/2006/relationships/slide" Target="slides/slide168.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slide" Target="slides/slide163.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183" Type="http://schemas.openxmlformats.org/officeDocument/2006/relationships/viewProps" Target="viewProps.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178" Type="http://schemas.openxmlformats.org/officeDocument/2006/relationships/slide" Target="slides/slide174.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73" Type="http://schemas.openxmlformats.org/officeDocument/2006/relationships/slide" Target="slides/slide169.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slide" Target="slides/slide164.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184" Type="http://schemas.openxmlformats.org/officeDocument/2006/relationships/theme" Target="theme/theme1.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74" Type="http://schemas.openxmlformats.org/officeDocument/2006/relationships/slide" Target="slides/slide170.xml"/><Relationship Id="rId179" Type="http://schemas.openxmlformats.org/officeDocument/2006/relationships/slide" Target="slides/slide175.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slide" Target="slides/slide165.xml"/><Relationship Id="rId185"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80" Type="http://schemas.openxmlformats.org/officeDocument/2006/relationships/slide" Target="slides/slide176.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75" Type="http://schemas.openxmlformats.org/officeDocument/2006/relationships/slide" Target="slides/slide171.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6" Type="http://schemas.openxmlformats.org/officeDocument/2006/relationships/slide" Target="slides/slide172.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 Id="rId70" Type="http://schemas.openxmlformats.org/officeDocument/2006/relationships/slide" Target="slides/slide66.xml"/><Relationship Id="rId91" Type="http://schemas.openxmlformats.org/officeDocument/2006/relationships/slide" Target="slides/slide87.xml"/><Relationship Id="rId145" Type="http://schemas.openxmlformats.org/officeDocument/2006/relationships/slide" Target="slides/slide141.xml"/><Relationship Id="rId166" Type="http://schemas.openxmlformats.org/officeDocument/2006/relationships/slide" Target="slides/slide162.xml"/><Relationship Id="rId1" Type="http://schemas.openxmlformats.org/officeDocument/2006/relationships/customXml" Target="../customXml/item1.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60" Type="http://schemas.openxmlformats.org/officeDocument/2006/relationships/slide" Target="slides/slide56.xml"/><Relationship Id="rId81" Type="http://schemas.openxmlformats.org/officeDocument/2006/relationships/slide" Target="slides/slide77.xml"/><Relationship Id="rId135" Type="http://schemas.openxmlformats.org/officeDocument/2006/relationships/slide" Target="slides/slide131.xml"/><Relationship Id="rId156" Type="http://schemas.openxmlformats.org/officeDocument/2006/relationships/slide" Target="slides/slide152.xml"/><Relationship Id="rId177" Type="http://schemas.openxmlformats.org/officeDocument/2006/relationships/slide" Target="slides/slide17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2D99CFF-A19C-4A46-A4D1-A1508A4D3EA7}" type="datetimeFigureOut">
              <a:rPr lang="en-IN" smtClean="0"/>
              <a:t>07-10-2025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D5B6656-8809-46E5-A716-527604DBA500}" type="slidenum">
              <a:rPr lang="en-IN" smtClean="0"/>
              <a:t>‹#›</a:t>
            </a:fld>
            <a:endParaRPr lang="en-IN"/>
          </a:p>
        </p:txBody>
      </p:sp>
    </p:spTree>
    <p:extLst>
      <p:ext uri="{BB962C8B-B14F-4D97-AF65-F5344CB8AC3E}">
        <p14:creationId xmlns:p14="http://schemas.microsoft.com/office/powerpoint/2010/main" val="27782945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6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A6D75C89-43AC-47B5-9B8F-8DC782EC2F92}" type="slidenum">
              <a:rPr lang="en-US" smtClean="0"/>
              <a:pPr/>
              <a:t>2</a:t>
            </a:fld>
            <a:endParaRPr lang="en-US" dirty="0"/>
          </a:p>
        </p:txBody>
      </p:sp>
    </p:spTree>
    <p:extLst>
      <p:ext uri="{BB962C8B-B14F-4D97-AF65-F5344CB8AC3E}">
        <p14:creationId xmlns:p14="http://schemas.microsoft.com/office/powerpoint/2010/main" val="20866418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D5B6656-8809-46E5-A716-527604DBA500}" type="slidenum">
              <a:rPr lang="en-IN" smtClean="0"/>
              <a:t>3</a:t>
            </a:fld>
            <a:endParaRPr lang="en-IN"/>
          </a:p>
        </p:txBody>
      </p:sp>
    </p:spTree>
    <p:extLst>
      <p:ext uri="{BB962C8B-B14F-4D97-AF65-F5344CB8AC3E}">
        <p14:creationId xmlns:p14="http://schemas.microsoft.com/office/powerpoint/2010/main" val="5014933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https://www.policybazaar.com/income-tax/section-10/</a:t>
            </a:r>
          </a:p>
        </p:txBody>
      </p:sp>
      <p:sp>
        <p:nvSpPr>
          <p:cNvPr id="4" name="Slide Number Placeholder 3"/>
          <p:cNvSpPr>
            <a:spLocks noGrp="1"/>
          </p:cNvSpPr>
          <p:nvPr>
            <p:ph type="sldNum" sz="quarter" idx="10"/>
          </p:nvPr>
        </p:nvSpPr>
        <p:spPr/>
        <p:txBody>
          <a:bodyPr/>
          <a:lstStyle/>
          <a:p>
            <a:fld id="{4D5B6656-8809-46E5-A716-527604DBA500}" type="slidenum">
              <a:rPr lang="en-IN" smtClean="0"/>
              <a:t>66</a:t>
            </a:fld>
            <a:endParaRPr lang="en-IN"/>
          </a:p>
        </p:txBody>
      </p:sp>
    </p:spTree>
    <p:extLst>
      <p:ext uri="{BB962C8B-B14F-4D97-AF65-F5344CB8AC3E}">
        <p14:creationId xmlns:p14="http://schemas.microsoft.com/office/powerpoint/2010/main" val="26863112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https://www.policybazaar.com/income-tax/section-10/</a:t>
            </a:r>
          </a:p>
        </p:txBody>
      </p:sp>
      <p:sp>
        <p:nvSpPr>
          <p:cNvPr id="4" name="Slide Number Placeholder 3"/>
          <p:cNvSpPr>
            <a:spLocks noGrp="1"/>
          </p:cNvSpPr>
          <p:nvPr>
            <p:ph type="sldNum" sz="quarter" idx="10"/>
          </p:nvPr>
        </p:nvSpPr>
        <p:spPr/>
        <p:txBody>
          <a:bodyPr/>
          <a:lstStyle/>
          <a:p>
            <a:fld id="{4D5B6656-8809-46E5-A716-527604DBA500}" type="slidenum">
              <a:rPr lang="en-IN" smtClean="0"/>
              <a:t>67</a:t>
            </a:fld>
            <a:endParaRPr lang="en-IN"/>
          </a:p>
        </p:txBody>
      </p:sp>
    </p:spTree>
    <p:extLst>
      <p:ext uri="{BB962C8B-B14F-4D97-AF65-F5344CB8AC3E}">
        <p14:creationId xmlns:p14="http://schemas.microsoft.com/office/powerpoint/2010/main" val="30186067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https://www.policybazaar.com/income-tax/section-10/</a:t>
            </a:r>
          </a:p>
        </p:txBody>
      </p:sp>
      <p:sp>
        <p:nvSpPr>
          <p:cNvPr id="4" name="Slide Number Placeholder 3"/>
          <p:cNvSpPr>
            <a:spLocks noGrp="1"/>
          </p:cNvSpPr>
          <p:nvPr>
            <p:ph type="sldNum" sz="quarter" idx="10"/>
          </p:nvPr>
        </p:nvSpPr>
        <p:spPr/>
        <p:txBody>
          <a:bodyPr/>
          <a:lstStyle/>
          <a:p>
            <a:fld id="{4D5B6656-8809-46E5-A716-527604DBA500}" type="slidenum">
              <a:rPr lang="en-IN" smtClean="0"/>
              <a:t>68</a:t>
            </a:fld>
            <a:endParaRPr lang="en-IN"/>
          </a:p>
        </p:txBody>
      </p:sp>
    </p:spTree>
    <p:extLst>
      <p:ext uri="{BB962C8B-B14F-4D97-AF65-F5344CB8AC3E}">
        <p14:creationId xmlns:p14="http://schemas.microsoft.com/office/powerpoint/2010/main" val="7492187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https://www.policybazaar.com/income-tax/section-10/</a:t>
            </a:r>
          </a:p>
        </p:txBody>
      </p:sp>
      <p:sp>
        <p:nvSpPr>
          <p:cNvPr id="4" name="Slide Number Placeholder 3"/>
          <p:cNvSpPr>
            <a:spLocks noGrp="1"/>
          </p:cNvSpPr>
          <p:nvPr>
            <p:ph type="sldNum" sz="quarter" idx="10"/>
          </p:nvPr>
        </p:nvSpPr>
        <p:spPr/>
        <p:txBody>
          <a:bodyPr/>
          <a:lstStyle/>
          <a:p>
            <a:fld id="{4D5B6656-8809-46E5-A716-527604DBA500}" type="slidenum">
              <a:rPr lang="en-IN" smtClean="0"/>
              <a:t>69</a:t>
            </a:fld>
            <a:endParaRPr lang="en-IN"/>
          </a:p>
        </p:txBody>
      </p:sp>
    </p:spTree>
    <p:extLst>
      <p:ext uri="{BB962C8B-B14F-4D97-AF65-F5344CB8AC3E}">
        <p14:creationId xmlns:p14="http://schemas.microsoft.com/office/powerpoint/2010/main" val="10421207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https://cleartax.in/s/house-property</a:t>
            </a:r>
          </a:p>
        </p:txBody>
      </p:sp>
      <p:sp>
        <p:nvSpPr>
          <p:cNvPr id="4" name="Slide Number Placeholder 3"/>
          <p:cNvSpPr>
            <a:spLocks noGrp="1"/>
          </p:cNvSpPr>
          <p:nvPr>
            <p:ph type="sldNum" sz="quarter" idx="10"/>
          </p:nvPr>
        </p:nvSpPr>
        <p:spPr/>
        <p:txBody>
          <a:bodyPr/>
          <a:lstStyle/>
          <a:p>
            <a:fld id="{4D5B6656-8809-46E5-A716-527604DBA500}" type="slidenum">
              <a:rPr lang="en-IN" smtClean="0"/>
              <a:t>77</a:t>
            </a:fld>
            <a:endParaRPr lang="en-IN"/>
          </a:p>
        </p:txBody>
      </p:sp>
    </p:spTree>
    <p:extLst>
      <p:ext uri="{BB962C8B-B14F-4D97-AF65-F5344CB8AC3E}">
        <p14:creationId xmlns:p14="http://schemas.microsoft.com/office/powerpoint/2010/main" val="307767328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https://cleartax.in/s/house-property</a:t>
            </a:r>
          </a:p>
        </p:txBody>
      </p:sp>
      <p:sp>
        <p:nvSpPr>
          <p:cNvPr id="4" name="Slide Number Placeholder 3"/>
          <p:cNvSpPr>
            <a:spLocks noGrp="1"/>
          </p:cNvSpPr>
          <p:nvPr>
            <p:ph type="sldNum" sz="quarter" idx="10"/>
          </p:nvPr>
        </p:nvSpPr>
        <p:spPr/>
        <p:txBody>
          <a:bodyPr/>
          <a:lstStyle/>
          <a:p>
            <a:fld id="{4D5B6656-8809-46E5-A716-527604DBA500}" type="slidenum">
              <a:rPr lang="en-IN" smtClean="0"/>
              <a:t>78</a:t>
            </a:fld>
            <a:endParaRPr lang="en-IN"/>
          </a:p>
        </p:txBody>
      </p:sp>
    </p:spTree>
    <p:extLst>
      <p:ext uri="{BB962C8B-B14F-4D97-AF65-F5344CB8AC3E}">
        <p14:creationId xmlns:p14="http://schemas.microsoft.com/office/powerpoint/2010/main" val="73883213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https://cleartax.in/s/house-property</a:t>
            </a:r>
          </a:p>
        </p:txBody>
      </p:sp>
      <p:sp>
        <p:nvSpPr>
          <p:cNvPr id="4" name="Slide Number Placeholder 3"/>
          <p:cNvSpPr>
            <a:spLocks noGrp="1"/>
          </p:cNvSpPr>
          <p:nvPr>
            <p:ph type="sldNum" sz="quarter" idx="10"/>
          </p:nvPr>
        </p:nvSpPr>
        <p:spPr/>
        <p:txBody>
          <a:bodyPr/>
          <a:lstStyle/>
          <a:p>
            <a:fld id="{4D5B6656-8809-46E5-A716-527604DBA500}" type="slidenum">
              <a:rPr lang="en-IN" smtClean="0"/>
              <a:t>79</a:t>
            </a:fld>
            <a:endParaRPr lang="en-IN"/>
          </a:p>
        </p:txBody>
      </p:sp>
    </p:spTree>
    <p:extLst>
      <p:ext uri="{BB962C8B-B14F-4D97-AF65-F5344CB8AC3E}">
        <p14:creationId xmlns:p14="http://schemas.microsoft.com/office/powerpoint/2010/main" val="144950268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https://blog.ipleaders.in/heads-income/</a:t>
            </a:r>
          </a:p>
        </p:txBody>
      </p:sp>
      <p:sp>
        <p:nvSpPr>
          <p:cNvPr id="4" name="Slide Number Placeholder 3"/>
          <p:cNvSpPr>
            <a:spLocks noGrp="1"/>
          </p:cNvSpPr>
          <p:nvPr>
            <p:ph type="sldNum" sz="quarter" idx="10"/>
          </p:nvPr>
        </p:nvSpPr>
        <p:spPr/>
        <p:txBody>
          <a:bodyPr/>
          <a:lstStyle/>
          <a:p>
            <a:fld id="{4D5B6656-8809-46E5-A716-527604DBA500}" type="slidenum">
              <a:rPr lang="en-IN" smtClean="0"/>
              <a:t>82</a:t>
            </a:fld>
            <a:endParaRPr lang="en-IN"/>
          </a:p>
        </p:txBody>
      </p:sp>
    </p:spTree>
    <p:extLst>
      <p:ext uri="{BB962C8B-B14F-4D97-AF65-F5344CB8AC3E}">
        <p14:creationId xmlns:p14="http://schemas.microsoft.com/office/powerpoint/2010/main" val="28004289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https://blog.ipleaders.in/heads-income/</a:t>
            </a:r>
          </a:p>
        </p:txBody>
      </p:sp>
      <p:sp>
        <p:nvSpPr>
          <p:cNvPr id="4" name="Slide Number Placeholder 3"/>
          <p:cNvSpPr>
            <a:spLocks noGrp="1"/>
          </p:cNvSpPr>
          <p:nvPr>
            <p:ph type="sldNum" sz="quarter" idx="10"/>
          </p:nvPr>
        </p:nvSpPr>
        <p:spPr/>
        <p:txBody>
          <a:bodyPr/>
          <a:lstStyle/>
          <a:p>
            <a:fld id="{4D5B6656-8809-46E5-A716-527604DBA500}" type="slidenum">
              <a:rPr lang="en-IN" smtClean="0"/>
              <a:t>83</a:t>
            </a:fld>
            <a:endParaRPr lang="en-IN"/>
          </a:p>
        </p:txBody>
      </p:sp>
    </p:spTree>
    <p:extLst>
      <p:ext uri="{BB962C8B-B14F-4D97-AF65-F5344CB8AC3E}">
        <p14:creationId xmlns:p14="http://schemas.microsoft.com/office/powerpoint/2010/main" val="400610652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https://blog.ipleaders.in/heads-income/</a:t>
            </a:r>
          </a:p>
        </p:txBody>
      </p:sp>
      <p:sp>
        <p:nvSpPr>
          <p:cNvPr id="4" name="Slide Number Placeholder 3"/>
          <p:cNvSpPr>
            <a:spLocks noGrp="1"/>
          </p:cNvSpPr>
          <p:nvPr>
            <p:ph type="sldNum" sz="quarter" idx="10"/>
          </p:nvPr>
        </p:nvSpPr>
        <p:spPr/>
        <p:txBody>
          <a:bodyPr/>
          <a:lstStyle/>
          <a:p>
            <a:fld id="{4D5B6656-8809-46E5-A716-527604DBA500}" type="slidenum">
              <a:rPr lang="en-IN" smtClean="0"/>
              <a:t>84</a:t>
            </a:fld>
            <a:endParaRPr lang="en-IN"/>
          </a:p>
        </p:txBody>
      </p:sp>
    </p:spTree>
    <p:extLst>
      <p:ext uri="{BB962C8B-B14F-4D97-AF65-F5344CB8AC3E}">
        <p14:creationId xmlns:p14="http://schemas.microsoft.com/office/powerpoint/2010/main" val="215808419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D5B6656-8809-46E5-A716-527604DBA500}" type="slidenum">
              <a:rPr lang="en-IN" smtClean="0"/>
              <a:t>85</a:t>
            </a:fld>
            <a:endParaRPr lang="en-IN"/>
          </a:p>
        </p:txBody>
      </p:sp>
    </p:spTree>
    <p:extLst>
      <p:ext uri="{BB962C8B-B14F-4D97-AF65-F5344CB8AC3E}">
        <p14:creationId xmlns:p14="http://schemas.microsoft.com/office/powerpoint/2010/main" val="29863049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86</a:t>
            </a:fld>
            <a:endParaRPr lang="en-IN"/>
          </a:p>
        </p:txBody>
      </p:sp>
    </p:spTree>
    <p:extLst>
      <p:ext uri="{BB962C8B-B14F-4D97-AF65-F5344CB8AC3E}">
        <p14:creationId xmlns:p14="http://schemas.microsoft.com/office/powerpoint/2010/main" val="21187189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87</a:t>
            </a:fld>
            <a:endParaRPr lang="en-IN"/>
          </a:p>
        </p:txBody>
      </p:sp>
    </p:spTree>
    <p:extLst>
      <p:ext uri="{BB962C8B-B14F-4D97-AF65-F5344CB8AC3E}">
        <p14:creationId xmlns:p14="http://schemas.microsoft.com/office/powerpoint/2010/main" val="150232038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88</a:t>
            </a:fld>
            <a:endParaRPr lang="en-IN"/>
          </a:p>
        </p:txBody>
      </p:sp>
    </p:spTree>
    <p:extLst>
      <p:ext uri="{BB962C8B-B14F-4D97-AF65-F5344CB8AC3E}">
        <p14:creationId xmlns:p14="http://schemas.microsoft.com/office/powerpoint/2010/main" val="12552838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89</a:t>
            </a:fld>
            <a:endParaRPr lang="en-IN"/>
          </a:p>
        </p:txBody>
      </p:sp>
    </p:spTree>
    <p:extLst>
      <p:ext uri="{BB962C8B-B14F-4D97-AF65-F5344CB8AC3E}">
        <p14:creationId xmlns:p14="http://schemas.microsoft.com/office/powerpoint/2010/main" val="29607221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4D5B6656-8809-46E5-A716-527604DBA500}" type="slidenum">
              <a:rPr lang="en-IN" smtClean="0"/>
              <a:t>90</a:t>
            </a:fld>
            <a:endParaRPr lang="en-IN"/>
          </a:p>
        </p:txBody>
      </p:sp>
    </p:spTree>
    <p:extLst>
      <p:ext uri="{BB962C8B-B14F-4D97-AF65-F5344CB8AC3E}">
        <p14:creationId xmlns:p14="http://schemas.microsoft.com/office/powerpoint/2010/main" val="239027129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91</a:t>
            </a:fld>
            <a:endParaRPr lang="en-IN"/>
          </a:p>
        </p:txBody>
      </p:sp>
    </p:spTree>
    <p:extLst>
      <p:ext uri="{BB962C8B-B14F-4D97-AF65-F5344CB8AC3E}">
        <p14:creationId xmlns:p14="http://schemas.microsoft.com/office/powerpoint/2010/main" val="32878506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92</a:t>
            </a:fld>
            <a:endParaRPr lang="en-IN"/>
          </a:p>
        </p:txBody>
      </p:sp>
    </p:spTree>
    <p:extLst>
      <p:ext uri="{BB962C8B-B14F-4D97-AF65-F5344CB8AC3E}">
        <p14:creationId xmlns:p14="http://schemas.microsoft.com/office/powerpoint/2010/main" val="263961489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93</a:t>
            </a:fld>
            <a:endParaRPr lang="en-IN"/>
          </a:p>
        </p:txBody>
      </p:sp>
    </p:spTree>
    <p:extLst>
      <p:ext uri="{BB962C8B-B14F-4D97-AF65-F5344CB8AC3E}">
        <p14:creationId xmlns:p14="http://schemas.microsoft.com/office/powerpoint/2010/main" val="758580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94</a:t>
            </a:fld>
            <a:endParaRPr lang="en-IN"/>
          </a:p>
        </p:txBody>
      </p:sp>
    </p:spTree>
    <p:extLst>
      <p:ext uri="{BB962C8B-B14F-4D97-AF65-F5344CB8AC3E}">
        <p14:creationId xmlns:p14="http://schemas.microsoft.com/office/powerpoint/2010/main" val="243544940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IN" dirty="0"/>
              <a:t>https://economictimes.indiatimes.com/wealth/income-tax-slabs?from=mdr</a:t>
            </a:r>
          </a:p>
        </p:txBody>
      </p:sp>
      <p:sp>
        <p:nvSpPr>
          <p:cNvPr id="4" name="Slide Number Placeholder 3"/>
          <p:cNvSpPr>
            <a:spLocks noGrp="1"/>
          </p:cNvSpPr>
          <p:nvPr>
            <p:ph type="sldNum" sz="quarter" idx="10"/>
          </p:nvPr>
        </p:nvSpPr>
        <p:spPr/>
        <p:txBody>
          <a:bodyPr/>
          <a:lstStyle/>
          <a:p>
            <a:fld id="{4D5B6656-8809-46E5-A716-527604DBA500}" type="slidenum">
              <a:rPr lang="en-IN" smtClean="0"/>
              <a:t>95</a:t>
            </a:fld>
            <a:endParaRPr lang="en-IN"/>
          </a:p>
        </p:txBody>
      </p:sp>
    </p:spTree>
    <p:extLst>
      <p:ext uri="{BB962C8B-B14F-4D97-AF65-F5344CB8AC3E}">
        <p14:creationId xmlns:p14="http://schemas.microsoft.com/office/powerpoint/2010/main" val="411426490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D5B6656-8809-46E5-A716-527604DBA500}" type="slidenum">
              <a:rPr lang="en-IN" smtClean="0"/>
              <a:t>168</a:t>
            </a:fld>
            <a:endParaRPr lang="en-IN"/>
          </a:p>
        </p:txBody>
      </p:sp>
    </p:spTree>
    <p:extLst>
      <p:ext uri="{BB962C8B-B14F-4D97-AF65-F5344CB8AC3E}">
        <p14:creationId xmlns:p14="http://schemas.microsoft.com/office/powerpoint/2010/main" val="31856218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emf"/><Relationship Id="rId7" Type="http://schemas.openxmlformats.org/officeDocument/2006/relationships/image" Target="../media/image11.png"/><Relationship Id="rId12" Type="http://schemas.openxmlformats.org/officeDocument/2006/relationships/image" Target="../media/image16.png"/><Relationship Id="rId2" Type="http://schemas.openxmlformats.org/officeDocument/2006/relationships/oleObject" Target="../embeddings/oleObject1.bin"/><Relationship Id="rId1" Type="http://schemas.openxmlformats.org/officeDocument/2006/relationships/slideMaster" Target="../slideMasters/slideMaster1.xml"/><Relationship Id="rId6" Type="http://schemas.openxmlformats.org/officeDocument/2006/relationships/image" Target="../media/image10.png"/><Relationship Id="rId11" Type="http://schemas.openxmlformats.org/officeDocument/2006/relationships/image" Target="../media/image15.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8.png"/><Relationship Id="rId9" Type="http://schemas.openxmlformats.org/officeDocument/2006/relationships/image" Target="../media/image13.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1204752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7570379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2524695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667865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32733893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endParaRPr lang="en-IN"/>
          </a:p>
        </p:txBody>
      </p:sp>
      <p:sp>
        <p:nvSpPr>
          <p:cNvPr id="5" name="Footer Placeholder 3"/>
          <p:cNvSpPr>
            <a:spLocks noGrp="1"/>
          </p:cNvSpPr>
          <p:nvPr>
            <p:ph type="ftr" sz="quarter" idx="11"/>
          </p:nvPr>
        </p:nvSpPr>
        <p:spPr/>
        <p:txBody>
          <a:bodyPr/>
          <a:lstStyle/>
          <a:p>
            <a:endParaRPr lang="en-IN"/>
          </a:p>
        </p:txBody>
      </p:sp>
      <p:sp>
        <p:nvSpPr>
          <p:cNvPr id="6" name="Slide Number Placeholder 4"/>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21621818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en-IN"/>
          </a:p>
        </p:txBody>
      </p:sp>
      <p:sp>
        <p:nvSpPr>
          <p:cNvPr id="5" name="Footer Placeholder 2"/>
          <p:cNvSpPr>
            <a:spLocks noGrp="1"/>
          </p:cNvSpPr>
          <p:nvPr>
            <p:ph type="ftr" sz="quarter" idx="11"/>
          </p:nvPr>
        </p:nvSpPr>
        <p:spPr/>
        <p:txBody>
          <a:bodyPr/>
          <a:lstStyle/>
          <a:p>
            <a:endParaRPr lang="en-IN"/>
          </a:p>
        </p:txBody>
      </p:sp>
      <p:sp>
        <p:nvSpPr>
          <p:cNvPr id="6" name="Slide Number Placeholder 3"/>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83689528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endParaRPr lang="en-IN"/>
          </a:p>
        </p:txBody>
      </p:sp>
      <p:sp>
        <p:nvSpPr>
          <p:cNvPr id="5" name="Footer Placeholder 5"/>
          <p:cNvSpPr>
            <a:spLocks noGrp="1"/>
          </p:cNvSpPr>
          <p:nvPr>
            <p:ph type="ftr" sz="quarter" idx="11"/>
          </p:nvPr>
        </p:nvSpPr>
        <p:spPr/>
        <p:txBody>
          <a:bodyPr/>
          <a:lstStyle/>
          <a:p>
            <a:endParaRPr lang="en-IN"/>
          </a:p>
        </p:txBody>
      </p:sp>
      <p:sp>
        <p:nvSpPr>
          <p:cNvPr id="6" name="Slide Number Placeholder 6"/>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203234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8139533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41680930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151158708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3806917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3920199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107923052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en-IN"/>
          </a:p>
        </p:txBody>
      </p:sp>
      <p:sp>
        <p:nvSpPr>
          <p:cNvPr id="4"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42206636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287875353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94013DF8-6EF8-4A98-8821-E6468C17C0C3}" type="slidenum">
              <a:rPr lang="en-IN" smtClean="0"/>
              <a:t>‹#›</a:t>
            </a:fld>
            <a:endParaRPr lang="en-IN"/>
          </a:p>
        </p:txBody>
      </p:sp>
    </p:spTree>
    <p:extLst>
      <p:ext uri="{BB962C8B-B14F-4D97-AF65-F5344CB8AC3E}">
        <p14:creationId xmlns:p14="http://schemas.microsoft.com/office/powerpoint/2010/main" val="14810215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grpSp>
        <p:nvGrpSpPr>
          <p:cNvPr id="21" name="Group 41"/>
          <p:cNvGrpSpPr/>
          <p:nvPr userDrawn="1"/>
        </p:nvGrpSpPr>
        <p:grpSpPr>
          <a:xfrm>
            <a:off x="0" y="37010"/>
            <a:ext cx="12192000" cy="6773242"/>
            <a:chOff x="0" y="37010"/>
            <a:chExt cx="9144000" cy="6773242"/>
          </a:xfrm>
        </p:grpSpPr>
        <p:graphicFrame>
          <p:nvGraphicFramePr>
            <p:cNvPr id="22" name="Object 2"/>
            <p:cNvGraphicFramePr>
              <a:graphicFrameLocks noChangeAspect="1"/>
            </p:cNvGraphicFramePr>
            <p:nvPr/>
          </p:nvGraphicFramePr>
          <p:xfrm>
            <a:off x="7256410" y="50074"/>
            <a:ext cx="1752599" cy="443559"/>
          </p:xfrm>
          <a:graphic>
            <a:graphicData uri="http://schemas.openxmlformats.org/presentationml/2006/ole">
              <mc:AlternateContent xmlns:mc="http://schemas.openxmlformats.org/markup-compatibility/2006">
                <mc:Choice xmlns:v="urn:schemas-microsoft-com:vml" Requires="v">
                  <p:oleObj r:id="rId2" imgW="4762119" imgH="1085469" progId="">
                    <p:embed/>
                  </p:oleObj>
                </mc:Choice>
                <mc:Fallback>
                  <p:oleObj r:id="rId2" imgW="4762119" imgH="1085469" progId="">
                    <p:embed/>
                    <p:pic>
                      <p:nvPicPr>
                        <p:cNvPr id="22" name="Object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56410" y="50074"/>
                          <a:ext cx="1752599" cy="443559"/>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3" name="Group 16"/>
            <p:cNvGrpSpPr/>
            <p:nvPr/>
          </p:nvGrpSpPr>
          <p:grpSpPr>
            <a:xfrm>
              <a:off x="122581" y="37010"/>
              <a:ext cx="1779767" cy="457199"/>
              <a:chOff x="3314869" y="1418203"/>
              <a:chExt cx="1779767" cy="491433"/>
            </a:xfrm>
          </p:grpSpPr>
          <p:pic>
            <p:nvPicPr>
              <p:cNvPr id="36" name="Picture 3"/>
              <p:cNvPicPr>
                <a:picLocks noChangeAspect="1" noChangeArrowheads="1"/>
              </p:cNvPicPr>
              <p:nvPr/>
            </p:nvPicPr>
            <p:blipFill>
              <a:blip r:embed="rId4" cstate="print"/>
              <a:srcRect/>
              <a:stretch>
                <a:fillRect/>
              </a:stretch>
            </p:blipFill>
            <p:spPr bwMode="auto">
              <a:xfrm>
                <a:off x="3886199" y="1418203"/>
                <a:ext cx="457201" cy="368415"/>
              </a:xfrm>
              <a:prstGeom prst="rect">
                <a:avLst/>
              </a:prstGeom>
              <a:noFill/>
              <a:ln w="9525">
                <a:noFill/>
                <a:miter lim="800000"/>
                <a:headEnd/>
                <a:tailEnd/>
              </a:ln>
            </p:spPr>
          </p:pic>
          <p:pic>
            <p:nvPicPr>
              <p:cNvPr id="37" name="Picture 5"/>
              <p:cNvPicPr>
                <a:picLocks noChangeAspect="1" noChangeArrowheads="1"/>
              </p:cNvPicPr>
              <p:nvPr/>
            </p:nvPicPr>
            <p:blipFill>
              <a:blip r:embed="rId5" cstate="print">
                <a:lum bright="5000"/>
              </a:blip>
              <a:srcRect/>
              <a:stretch>
                <a:fillRect/>
              </a:stretch>
            </p:blipFill>
            <p:spPr bwMode="auto">
              <a:xfrm>
                <a:off x="4262544" y="1574074"/>
                <a:ext cx="411781" cy="335562"/>
              </a:xfrm>
              <a:prstGeom prst="rect">
                <a:avLst/>
              </a:prstGeom>
              <a:noFill/>
              <a:ln w="9525">
                <a:noFill/>
                <a:miter lim="800000"/>
                <a:headEnd/>
                <a:tailEnd/>
              </a:ln>
            </p:spPr>
          </p:pic>
          <p:sp>
            <p:nvSpPr>
              <p:cNvPr id="38" name="Rectangle 37"/>
              <p:cNvSpPr/>
              <p:nvPr/>
            </p:nvSpPr>
            <p:spPr>
              <a:xfrm>
                <a:off x="3314869" y="1567190"/>
                <a:ext cx="1779767" cy="297740"/>
              </a:xfrm>
              <a:prstGeom prst="rect">
                <a:avLst/>
              </a:prstGeom>
            </p:spPr>
            <p:txBody>
              <a:bodyPr wrap="none">
                <a:spAutoFit/>
              </a:bodyPr>
              <a:lstStyle/>
              <a:p>
                <a:r>
                  <a:rPr lang="en-US" sz="1200" b="1" dirty="0">
                    <a:solidFill>
                      <a:srgbClr val="002060"/>
                    </a:solidFill>
                  </a:rPr>
                  <a:t>KOMATSU INDIA PRIVATE LIMITED</a:t>
                </a:r>
                <a:endParaRPr lang="en-US" sz="1200" b="1" dirty="0"/>
              </a:p>
            </p:txBody>
          </p:sp>
        </p:grpSp>
        <p:sp>
          <p:nvSpPr>
            <p:cNvPr id="24" name="Rectangle 23"/>
            <p:cNvSpPr/>
            <p:nvPr/>
          </p:nvSpPr>
          <p:spPr>
            <a:xfrm>
              <a:off x="34834" y="6450874"/>
              <a:ext cx="2416629" cy="32874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000" dirty="0">
                  <a:solidFill>
                    <a:srgbClr val="002060"/>
                  </a:solidFill>
                  <a:latin typeface="Playbill" pitchFamily="82" charset="0"/>
                </a:rPr>
                <a:t> </a:t>
              </a:r>
              <a:r>
                <a:rPr lang="en-US" sz="2400" dirty="0">
                  <a:solidFill>
                    <a:srgbClr val="002060"/>
                  </a:solidFill>
                  <a:latin typeface="Playbill" pitchFamily="82" charset="0"/>
                </a:rPr>
                <a:t>ACCOUNTS DEPARTMENT  </a:t>
              </a:r>
              <a:endParaRPr lang="en-US" sz="2400" dirty="0">
                <a:solidFill>
                  <a:srgbClr val="002060"/>
                </a:solidFill>
              </a:endParaRPr>
            </a:p>
          </p:txBody>
        </p:sp>
        <p:grpSp>
          <p:nvGrpSpPr>
            <p:cNvPr id="25" name="Group 39"/>
            <p:cNvGrpSpPr/>
            <p:nvPr/>
          </p:nvGrpSpPr>
          <p:grpSpPr>
            <a:xfrm>
              <a:off x="2488529" y="6500463"/>
              <a:ext cx="3631419" cy="309789"/>
              <a:chOff x="2488529" y="6461274"/>
              <a:chExt cx="3631419" cy="309789"/>
            </a:xfrm>
          </p:grpSpPr>
          <p:pic>
            <p:nvPicPr>
              <p:cNvPr id="29" name="Picture 3"/>
              <p:cNvPicPr>
                <a:picLocks noChangeAspect="1" noChangeArrowheads="1"/>
              </p:cNvPicPr>
              <p:nvPr/>
            </p:nvPicPr>
            <p:blipFill>
              <a:blip r:embed="rId6" cstate="print"/>
              <a:srcRect/>
              <a:stretch>
                <a:fillRect/>
              </a:stretch>
            </p:blipFill>
            <p:spPr bwMode="auto">
              <a:xfrm>
                <a:off x="2488529" y="6477000"/>
                <a:ext cx="468995" cy="274484"/>
              </a:xfrm>
              <a:prstGeom prst="rect">
                <a:avLst/>
              </a:prstGeom>
              <a:noFill/>
              <a:ln w="9525">
                <a:noFill/>
                <a:miter lim="800000"/>
                <a:headEnd/>
                <a:tailEnd/>
              </a:ln>
            </p:spPr>
          </p:pic>
          <p:pic>
            <p:nvPicPr>
              <p:cNvPr id="30" name="Picture 4"/>
              <p:cNvPicPr>
                <a:picLocks noChangeAspect="1" noChangeArrowheads="1"/>
              </p:cNvPicPr>
              <p:nvPr/>
            </p:nvPicPr>
            <p:blipFill>
              <a:blip r:embed="rId7" cstate="print"/>
              <a:srcRect/>
              <a:stretch>
                <a:fillRect/>
              </a:stretch>
            </p:blipFill>
            <p:spPr bwMode="auto">
              <a:xfrm>
                <a:off x="3470362" y="6492419"/>
                <a:ext cx="416882" cy="248953"/>
              </a:xfrm>
              <a:prstGeom prst="rect">
                <a:avLst/>
              </a:prstGeom>
              <a:noFill/>
              <a:ln w="9525">
                <a:noFill/>
                <a:miter lim="800000"/>
                <a:headEnd/>
                <a:tailEnd/>
              </a:ln>
            </p:spPr>
          </p:pic>
          <p:pic>
            <p:nvPicPr>
              <p:cNvPr id="31" name="Picture 5"/>
              <p:cNvPicPr>
                <a:picLocks noChangeAspect="1" noChangeArrowheads="1"/>
              </p:cNvPicPr>
              <p:nvPr/>
            </p:nvPicPr>
            <p:blipFill>
              <a:blip r:embed="rId8" cstate="print"/>
              <a:srcRect/>
              <a:stretch>
                <a:fillRect/>
              </a:stretch>
            </p:blipFill>
            <p:spPr bwMode="auto">
              <a:xfrm>
                <a:off x="3962400" y="6490063"/>
                <a:ext cx="460438" cy="257490"/>
              </a:xfrm>
              <a:prstGeom prst="rect">
                <a:avLst/>
              </a:prstGeom>
              <a:noFill/>
              <a:ln w="9525">
                <a:noFill/>
                <a:miter lim="800000"/>
                <a:headEnd/>
                <a:tailEnd/>
              </a:ln>
            </p:spPr>
          </p:pic>
          <p:pic>
            <p:nvPicPr>
              <p:cNvPr id="32" name="Picture 6"/>
              <p:cNvPicPr>
                <a:picLocks noChangeAspect="1" noChangeArrowheads="1"/>
              </p:cNvPicPr>
              <p:nvPr/>
            </p:nvPicPr>
            <p:blipFill>
              <a:blip r:embed="rId9" cstate="print"/>
              <a:srcRect/>
              <a:stretch>
                <a:fillRect/>
              </a:stretch>
            </p:blipFill>
            <p:spPr bwMode="auto">
              <a:xfrm>
                <a:off x="5071409" y="6490063"/>
                <a:ext cx="452002" cy="251937"/>
              </a:xfrm>
              <a:prstGeom prst="rect">
                <a:avLst/>
              </a:prstGeom>
              <a:noFill/>
              <a:ln w="9525">
                <a:noFill/>
                <a:miter lim="800000"/>
                <a:headEnd/>
                <a:tailEnd/>
              </a:ln>
            </p:spPr>
          </p:pic>
          <p:pic>
            <p:nvPicPr>
              <p:cNvPr id="33" name="Picture 7"/>
              <p:cNvPicPr>
                <a:picLocks noChangeAspect="1" noChangeArrowheads="1"/>
              </p:cNvPicPr>
              <p:nvPr/>
            </p:nvPicPr>
            <p:blipFill>
              <a:blip r:embed="rId10" cstate="print"/>
              <a:srcRect/>
              <a:stretch>
                <a:fillRect/>
              </a:stretch>
            </p:blipFill>
            <p:spPr bwMode="auto">
              <a:xfrm>
                <a:off x="5594886" y="6463937"/>
                <a:ext cx="525062" cy="307126"/>
              </a:xfrm>
              <a:prstGeom prst="rect">
                <a:avLst/>
              </a:prstGeom>
              <a:noFill/>
              <a:ln w="9525">
                <a:noFill/>
                <a:miter lim="800000"/>
                <a:headEnd/>
                <a:tailEnd/>
              </a:ln>
            </p:spPr>
          </p:pic>
          <p:pic>
            <p:nvPicPr>
              <p:cNvPr id="34" name="Picture 8"/>
              <p:cNvPicPr>
                <a:picLocks noChangeAspect="1" noChangeArrowheads="1"/>
              </p:cNvPicPr>
              <p:nvPr/>
            </p:nvPicPr>
            <p:blipFill>
              <a:blip r:embed="rId11" cstate="print"/>
              <a:srcRect/>
              <a:stretch>
                <a:fillRect/>
              </a:stretch>
            </p:blipFill>
            <p:spPr bwMode="auto">
              <a:xfrm>
                <a:off x="4456611" y="6461274"/>
                <a:ext cx="544079" cy="279398"/>
              </a:xfrm>
              <a:prstGeom prst="rect">
                <a:avLst/>
              </a:prstGeom>
              <a:noFill/>
              <a:ln w="9525">
                <a:noFill/>
                <a:miter lim="800000"/>
                <a:headEnd/>
                <a:tailEnd/>
              </a:ln>
            </p:spPr>
          </p:pic>
          <p:pic>
            <p:nvPicPr>
              <p:cNvPr id="35" name="Picture 3"/>
              <p:cNvPicPr>
                <a:picLocks noChangeAspect="1" noChangeArrowheads="1"/>
              </p:cNvPicPr>
              <p:nvPr/>
            </p:nvPicPr>
            <p:blipFill>
              <a:blip r:embed="rId12" cstate="print"/>
              <a:srcRect/>
              <a:stretch>
                <a:fillRect/>
              </a:stretch>
            </p:blipFill>
            <p:spPr bwMode="auto">
              <a:xfrm>
                <a:off x="3015340" y="6487615"/>
                <a:ext cx="384235" cy="265881"/>
              </a:xfrm>
              <a:prstGeom prst="rect">
                <a:avLst/>
              </a:prstGeom>
              <a:noFill/>
              <a:ln w="9525">
                <a:noFill/>
                <a:miter lim="800000"/>
                <a:headEnd/>
                <a:tailEnd/>
              </a:ln>
            </p:spPr>
          </p:pic>
        </p:grpSp>
        <p:cxnSp>
          <p:nvCxnSpPr>
            <p:cNvPr id="26" name="Straight Connector 25"/>
            <p:cNvCxnSpPr/>
            <p:nvPr/>
          </p:nvCxnSpPr>
          <p:spPr>
            <a:xfrm>
              <a:off x="0" y="466549"/>
              <a:ext cx="9144000" cy="0"/>
            </a:xfrm>
            <a:prstGeom prst="line">
              <a:avLst/>
            </a:prstGeom>
            <a:ln w="3175" cmpd="thickThi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0" y="516239"/>
              <a:ext cx="9144000" cy="0"/>
            </a:xfrm>
            <a:prstGeom prst="line">
              <a:avLst/>
            </a:prstGeom>
            <a:ln w="28575" cmpd="thickThin">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a:off x="0" y="6463937"/>
              <a:ext cx="9144000" cy="0"/>
            </a:xfrm>
            <a:prstGeom prst="line">
              <a:avLst/>
            </a:prstGeom>
            <a:ln w="19050" cmpd="thickThin">
              <a:solidFill>
                <a:srgbClr val="002060"/>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098610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image" Target="../media/image3.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6.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image" Target="../media/image5.png"/><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4.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0">
            <a:alphaModFix amt="6000"/>
            <a:lum/>
          </a:blip>
          <a:srcRect/>
          <a:stretch>
            <a:fillRect l="20000" r="20000"/>
          </a:stretch>
        </a:blip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21">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2">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IN"/>
          </a:p>
        </p:txBody>
      </p:sp>
      <p:pic>
        <p:nvPicPr>
          <p:cNvPr id="9" name="Picture 8"/>
          <p:cNvPicPr>
            <a:picLocks noChangeAspect="1"/>
          </p:cNvPicPr>
          <p:nvPr/>
        </p:nvPicPr>
        <p:blipFill rotWithShape="1">
          <a:blip r:embed="rId23">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4">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IN"/>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en-IN"/>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IN"/>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4013DF8-6EF8-4A98-8821-E6468C17C0C3}" type="slidenum">
              <a:rPr lang="en-IN" smtClean="0"/>
              <a:t>‹#›</a:t>
            </a:fld>
            <a:endParaRPr lang="en-IN"/>
          </a:p>
        </p:txBody>
      </p:sp>
    </p:spTree>
    <p:extLst>
      <p:ext uri="{BB962C8B-B14F-4D97-AF65-F5344CB8AC3E}">
        <p14:creationId xmlns:p14="http://schemas.microsoft.com/office/powerpoint/2010/main" val="4048433947"/>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 id="2147483687" r:id="rId13"/>
    <p:sldLayoutId id="2147483688" r:id="rId14"/>
    <p:sldLayoutId id="2147483689" r:id="rId15"/>
    <p:sldLayoutId id="2147483690" r:id="rId16"/>
    <p:sldLayoutId id="2147483691" r:id="rId17"/>
    <p:sldLayoutId id="2147483673" r:id="rId18"/>
  </p:sldLayoutIdLst>
  <p:hf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18.pn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21.png"/><Relationship Id="rId11" Type="http://schemas.openxmlformats.org/officeDocument/2006/relationships/image" Target="../media/image26.png"/><Relationship Id="rId5" Type="http://schemas.openxmlformats.org/officeDocument/2006/relationships/image" Target="../media/image20.png"/><Relationship Id="rId15" Type="http://schemas.openxmlformats.org/officeDocument/2006/relationships/image" Target="../media/image30.png"/><Relationship Id="rId10" Type="http://schemas.openxmlformats.org/officeDocument/2006/relationships/image" Target="../media/image25.png"/><Relationship Id="rId4" Type="http://schemas.openxmlformats.org/officeDocument/2006/relationships/image" Target="../media/image19.jpeg"/><Relationship Id="rId9" Type="http://schemas.openxmlformats.org/officeDocument/2006/relationships/image" Target="../media/image24.png"/><Relationship Id="rId14" Type="http://schemas.openxmlformats.org/officeDocument/2006/relationships/image" Target="../media/image29.png"/></Relationships>
</file>

<file path=ppt/slides/_rels/slide4.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https://kpmg.com/in/en/services/tax/income-tax-bill-2025.html" TargetMode="External"/><Relationship Id="rId2" Type="http://schemas.openxmlformats.org/officeDocument/2006/relationships/hyperlink" Target="https://prsindia.org/billtrack/the-income-tax-bill-2025" TargetMode="Externa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hyperlink" Target="Hyper%20link%20for%20SALARY%20income/Section%2010.docx" TargetMode="Externa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hyperlink" Target="Hyper%20link%20for%20SALARY%20income/Section%2010.docx" TargetMode="External"/><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jpeg"/><Relationship Id="rId1" Type="http://schemas.openxmlformats.org/officeDocument/2006/relationships/slideLayout" Target="../slideLayouts/slideLayout2.xml"/><Relationship Id="rId4" Type="http://schemas.microsoft.com/office/2007/relationships/hdphoto" Target="../media/hdphoto1.wdp"/></Relationships>
</file>

<file path=ppt/slides/_rels/slide10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hyperlink" Target="https://www.indiafilings.com/learn/gross-total-income/" TargetMode="External"/><Relationship Id="rId2" Type="http://schemas.openxmlformats.org/officeDocument/2006/relationships/hyperlink" Target="https://www.indiafilings.com/income-tax-filing" TargetMode="External"/><Relationship Id="rId1" Type="http://schemas.openxmlformats.org/officeDocument/2006/relationships/slideLayout" Target="../slideLayouts/slideLayout2.xml"/><Relationship Id="rId4" Type="http://schemas.openxmlformats.org/officeDocument/2006/relationships/hyperlink" Target="https://www.incometaxindiaefiling.gov.in/downloads/incomeTaxReturnUtilities?lang=eng" TargetMode="Externa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2" Type="http://schemas.openxmlformats.org/officeDocument/2006/relationships/hyperlink" Target="TDS%20Rates.html" TargetMode="External"/><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2" Type="http://schemas.openxmlformats.org/officeDocument/2006/relationships/hyperlink" Target="21-tax-collection-at-soucrce-tcs.pdf" TargetMode="External"/><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2" Type="http://schemas.openxmlformats.org/officeDocument/2006/relationships/hyperlink" Target="31.%20provisions%20on%20pymt%20of%20adv.%20tax.pdf" TargetMode="External"/><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0.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3089934" y="2910254"/>
            <a:ext cx="4955699" cy="1143000"/>
          </a:xfrm>
        </p:spPr>
        <p:txBody>
          <a:bodyPr/>
          <a:lstStyle/>
          <a:p>
            <a:r>
              <a:rPr lang="en-US" b="1" dirty="0">
                <a:solidFill>
                  <a:srgbClr val="7030A0"/>
                </a:solidFill>
              </a:rPr>
              <a:t>Income Tax </a:t>
            </a:r>
            <a:endParaRPr lang="en-IN" dirty="0">
              <a:solidFill>
                <a:srgbClr val="7030A0"/>
              </a:solidFill>
            </a:endParaRPr>
          </a:p>
        </p:txBody>
      </p:sp>
    </p:spTree>
    <p:extLst>
      <p:ext uri="{BB962C8B-B14F-4D97-AF65-F5344CB8AC3E}">
        <p14:creationId xmlns:p14="http://schemas.microsoft.com/office/powerpoint/2010/main" val="250264636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AutoShape 2" descr="Image result for individual taxation"/>
          <p:cNvSpPr>
            <a:spLocks noChangeAspect="1" noChangeArrowheads="1"/>
          </p:cNvSpPr>
          <p:nvPr/>
        </p:nvSpPr>
        <p:spPr bwMode="auto">
          <a:xfrm>
            <a:off x="1693429" y="2557174"/>
            <a:ext cx="851041" cy="851044"/>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10" name="Picture 9"/>
          <p:cNvPicPr>
            <a:picLocks noChangeAspect="1"/>
          </p:cNvPicPr>
          <p:nvPr/>
        </p:nvPicPr>
        <p:blipFill>
          <a:blip r:embed="rId3"/>
          <a:stretch>
            <a:fillRect/>
          </a:stretch>
        </p:blipFill>
        <p:spPr>
          <a:xfrm>
            <a:off x="9698031" y="1354698"/>
            <a:ext cx="2493969" cy="3478430"/>
          </a:xfrm>
          <a:prstGeom prst="rect">
            <a:avLst/>
          </a:prstGeom>
        </p:spPr>
      </p:pic>
      <p:sp>
        <p:nvSpPr>
          <p:cNvPr id="2" name="Rectangle 3">
            <a:extLst>
              <a:ext uri="{FF2B5EF4-FFF2-40B4-BE49-F238E27FC236}">
                <a16:creationId xmlns:a16="http://schemas.microsoft.com/office/drawing/2014/main" id="{D0AB07E2-F985-C6C0-66A7-5E65B1447151}"/>
              </a:ext>
            </a:extLst>
          </p:cNvPr>
          <p:cNvSpPr txBox="1">
            <a:spLocks noChangeArrowheads="1"/>
          </p:cNvSpPr>
          <p:nvPr/>
        </p:nvSpPr>
        <p:spPr>
          <a:xfrm>
            <a:off x="1749508" y="1354698"/>
            <a:ext cx="7786378" cy="1671531"/>
          </a:xfrm>
          <a:prstGeom prst="rect">
            <a:avLst/>
          </a:prstGeom>
        </p:spPr>
        <p:txBody>
          <a:bodyPr/>
          <a:lst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a:lstStyle>
          <a:p>
            <a:pPr>
              <a:buFontTx/>
              <a:buNone/>
            </a:pPr>
            <a:endParaRPr lang="en-US" altLang="en-US" sz="2400" dirty="0"/>
          </a:p>
        </p:txBody>
      </p:sp>
      <p:sp>
        <p:nvSpPr>
          <p:cNvPr id="3" name="Title 2">
            <a:extLst>
              <a:ext uri="{FF2B5EF4-FFF2-40B4-BE49-F238E27FC236}">
                <a16:creationId xmlns:a16="http://schemas.microsoft.com/office/drawing/2014/main" id="{6F63FC62-8A05-5842-FB95-848DD244B545}"/>
              </a:ext>
            </a:extLst>
          </p:cNvPr>
          <p:cNvSpPr>
            <a:spLocks noGrp="1"/>
          </p:cNvSpPr>
          <p:nvPr>
            <p:ph type="title"/>
          </p:nvPr>
        </p:nvSpPr>
        <p:spPr>
          <a:xfrm>
            <a:off x="293308" y="295729"/>
            <a:ext cx="9404723" cy="2334025"/>
          </a:xfrm>
        </p:spPr>
        <p:txBody>
          <a:bodyPr/>
          <a:lstStyle/>
          <a:p>
            <a:pPr algn="ctr"/>
            <a:r>
              <a:rPr lang="en-US" altLang="en-US" sz="4400" dirty="0"/>
              <a:t>“In this world nothing can be said to be 	certain, except death and taxes.”</a:t>
            </a:r>
            <a:br>
              <a:rPr lang="en-US" altLang="en-US" sz="4400" dirty="0"/>
            </a:br>
            <a:r>
              <a:rPr lang="en-US" altLang="en-US" sz="4400" dirty="0">
                <a:solidFill>
                  <a:schemeClr val="accent5"/>
                </a:solidFill>
              </a:rPr>
              <a:t>	</a:t>
            </a:r>
            <a:r>
              <a:rPr lang="en-US" altLang="en-US" sz="3200" i="1" dirty="0">
                <a:solidFill>
                  <a:schemeClr val="accent5"/>
                </a:solidFill>
              </a:rPr>
              <a:t>Benjamin Franklin</a:t>
            </a:r>
            <a:r>
              <a:rPr lang="en-US" altLang="en-US" sz="3200" dirty="0">
                <a:solidFill>
                  <a:schemeClr val="accent5"/>
                </a:solidFill>
              </a:rPr>
              <a:t> </a:t>
            </a:r>
            <a:br>
              <a:rPr lang="en-US" altLang="en-US" sz="3200" dirty="0"/>
            </a:br>
            <a:endParaRPr lang="en-IN" dirty="0"/>
          </a:p>
        </p:txBody>
      </p:sp>
      <p:sp>
        <p:nvSpPr>
          <p:cNvPr id="4" name="Content Placeholder 3">
            <a:extLst>
              <a:ext uri="{FF2B5EF4-FFF2-40B4-BE49-F238E27FC236}">
                <a16:creationId xmlns:a16="http://schemas.microsoft.com/office/drawing/2014/main" id="{804B5F17-2A27-E0A0-D63E-38FCA92A1A39}"/>
              </a:ext>
            </a:extLst>
          </p:cNvPr>
          <p:cNvSpPr>
            <a:spLocks noGrp="1"/>
          </p:cNvSpPr>
          <p:nvPr>
            <p:ph idx="1"/>
          </p:nvPr>
        </p:nvSpPr>
        <p:spPr>
          <a:xfrm>
            <a:off x="381403" y="2846243"/>
            <a:ext cx="9228531" cy="4093997"/>
          </a:xfrm>
        </p:spPr>
        <p:txBody>
          <a:bodyPr>
            <a:normAutofit/>
          </a:bodyPr>
          <a:lstStyle/>
          <a:p>
            <a:pPr>
              <a:lnSpc>
                <a:spcPct val="160000"/>
              </a:lnSpc>
              <a:buFont typeface="Wingdings" panose="05000000000000000000" pitchFamily="2" charset="2"/>
              <a:buChar char="Ø"/>
            </a:pPr>
            <a:r>
              <a:rPr lang="en-US" sz="2200" dirty="0">
                <a:solidFill>
                  <a:srgbClr val="000000"/>
                </a:solidFill>
              </a:rPr>
              <a:t>Tax is a mandatory liability for every citizen of the country. </a:t>
            </a:r>
          </a:p>
          <a:p>
            <a:pPr>
              <a:lnSpc>
                <a:spcPct val="160000"/>
              </a:lnSpc>
              <a:buFont typeface="Wingdings" panose="05000000000000000000" pitchFamily="2" charset="2"/>
              <a:buChar char="Ø"/>
            </a:pPr>
            <a:r>
              <a:rPr lang="en-US" sz="2200" dirty="0">
                <a:solidFill>
                  <a:srgbClr val="000000"/>
                </a:solidFill>
              </a:rPr>
              <a:t>There are two types of tax in India </a:t>
            </a:r>
          </a:p>
          <a:p>
            <a:pPr lvl="1">
              <a:lnSpc>
                <a:spcPct val="160000"/>
              </a:lnSpc>
            </a:pPr>
            <a:r>
              <a:rPr lang="en-US" sz="2000" b="1" dirty="0">
                <a:solidFill>
                  <a:srgbClr val="000000"/>
                </a:solidFill>
              </a:rPr>
              <a:t>Direct Taxes </a:t>
            </a:r>
            <a:r>
              <a:rPr lang="en-US" sz="2000" dirty="0">
                <a:solidFill>
                  <a:srgbClr val="000000"/>
                </a:solidFill>
              </a:rPr>
              <a:t>are levied on taxpayers income and profits</a:t>
            </a:r>
          </a:p>
          <a:p>
            <a:pPr lvl="1">
              <a:lnSpc>
                <a:spcPct val="160000"/>
              </a:lnSpc>
            </a:pPr>
            <a:r>
              <a:rPr lang="en-US" sz="2000" b="1" dirty="0">
                <a:solidFill>
                  <a:srgbClr val="000000"/>
                </a:solidFill>
              </a:rPr>
              <a:t>Indirect Taxes </a:t>
            </a:r>
            <a:r>
              <a:rPr lang="en-US" sz="2000" dirty="0">
                <a:solidFill>
                  <a:srgbClr val="000000"/>
                </a:solidFill>
              </a:rPr>
              <a:t>are charged on goods and services </a:t>
            </a:r>
          </a:p>
        </p:txBody>
      </p:sp>
      <p:sp>
        <p:nvSpPr>
          <p:cNvPr id="6" name="Slide Number Placeholder 5"/>
          <p:cNvSpPr>
            <a:spLocks noGrp="1"/>
          </p:cNvSpPr>
          <p:nvPr>
            <p:ph type="sldNum" sz="quarter" idx="12"/>
          </p:nvPr>
        </p:nvSpPr>
        <p:spPr/>
        <p:txBody>
          <a:bodyPr/>
          <a:lstStyle/>
          <a:p>
            <a:fld id="{94013DF8-6EF8-4A98-8821-E6468C17C0C3}" type="slidenum">
              <a:rPr lang="en-IN" smtClean="0"/>
              <a:t>2</a:t>
            </a:fld>
            <a:endParaRPr lang="en-IN"/>
          </a:p>
        </p:txBody>
      </p:sp>
    </p:spTree>
    <p:extLst>
      <p:ext uri="{BB962C8B-B14F-4D97-AF65-F5344CB8AC3E}">
        <p14:creationId xmlns:p14="http://schemas.microsoft.com/office/powerpoint/2010/main" val="240738305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Cloud 8"/>
          <p:cNvSpPr/>
          <p:nvPr/>
        </p:nvSpPr>
        <p:spPr>
          <a:xfrm>
            <a:off x="1009026" y="2432791"/>
            <a:ext cx="2424546" cy="1856509"/>
          </a:xfrm>
          <a:prstGeom prst="cloud">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17" name="Picture 16"/>
          <p:cNvPicPr>
            <a:picLocks noChangeAspect="1"/>
          </p:cNvPicPr>
          <p:nvPr/>
        </p:nvPicPr>
        <p:blipFill>
          <a:blip r:embed="rId3"/>
          <a:stretch>
            <a:fillRect/>
          </a:stretch>
        </p:blipFill>
        <p:spPr>
          <a:xfrm>
            <a:off x="1426414" y="2432791"/>
            <a:ext cx="1509429" cy="1004456"/>
          </a:xfrm>
          <a:prstGeom prst="ellipse">
            <a:avLst/>
          </a:prstGeom>
          <a:ln>
            <a:noFill/>
          </a:ln>
          <a:effectLst>
            <a:softEdge rad="112500"/>
          </a:effectLst>
        </p:spPr>
      </p:pic>
      <p:pic>
        <p:nvPicPr>
          <p:cNvPr id="4098" name="Picture 2" descr="Image result for food"/>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09026" y="3258135"/>
            <a:ext cx="1589901" cy="846571"/>
          </a:xfrm>
          <a:prstGeom prst="ellipse">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18" name="Picture 17"/>
          <p:cNvPicPr>
            <a:picLocks noChangeAspect="1"/>
          </p:cNvPicPr>
          <p:nvPr/>
        </p:nvPicPr>
        <p:blipFill>
          <a:blip r:embed="rId5"/>
          <a:stretch>
            <a:fillRect/>
          </a:stretch>
        </p:blipFill>
        <p:spPr>
          <a:xfrm>
            <a:off x="2236554" y="2772013"/>
            <a:ext cx="1110044" cy="1080655"/>
          </a:xfrm>
          <a:prstGeom prst="ellipse">
            <a:avLst/>
          </a:prstGeom>
          <a:ln>
            <a:noFill/>
          </a:ln>
          <a:effectLst>
            <a:softEdge rad="112500"/>
          </a:effectLst>
        </p:spPr>
      </p:pic>
      <p:pic>
        <p:nvPicPr>
          <p:cNvPr id="19" name="Picture 18"/>
          <p:cNvPicPr>
            <a:picLocks noChangeAspect="1"/>
          </p:cNvPicPr>
          <p:nvPr/>
        </p:nvPicPr>
        <p:blipFill>
          <a:blip r:embed="rId6"/>
          <a:stretch>
            <a:fillRect/>
          </a:stretch>
        </p:blipFill>
        <p:spPr>
          <a:xfrm>
            <a:off x="4046039" y="1505222"/>
            <a:ext cx="2655469" cy="2042669"/>
          </a:xfrm>
          <a:prstGeom prst="rect">
            <a:avLst/>
          </a:prstGeom>
        </p:spPr>
      </p:pic>
      <p:pic>
        <p:nvPicPr>
          <p:cNvPr id="20" name="Picture 19"/>
          <p:cNvPicPr>
            <a:picLocks noChangeAspect="1"/>
          </p:cNvPicPr>
          <p:nvPr/>
        </p:nvPicPr>
        <p:blipFill>
          <a:blip r:embed="rId7"/>
          <a:stretch>
            <a:fillRect/>
          </a:stretch>
        </p:blipFill>
        <p:spPr>
          <a:xfrm>
            <a:off x="4712002" y="1769542"/>
            <a:ext cx="1663845" cy="1549590"/>
          </a:xfrm>
          <a:prstGeom prst="ellipse">
            <a:avLst/>
          </a:prstGeom>
          <a:ln>
            <a:noFill/>
          </a:ln>
          <a:effectLst>
            <a:softEdge rad="112500"/>
          </a:effectLst>
        </p:spPr>
      </p:pic>
      <p:pic>
        <p:nvPicPr>
          <p:cNvPr id="3" name="Picture 2"/>
          <p:cNvPicPr>
            <a:picLocks noChangeAspect="1"/>
          </p:cNvPicPr>
          <p:nvPr/>
        </p:nvPicPr>
        <p:blipFill>
          <a:blip r:embed="rId8"/>
          <a:stretch>
            <a:fillRect/>
          </a:stretch>
        </p:blipFill>
        <p:spPr>
          <a:xfrm rot="1787936">
            <a:off x="7747621" y="4045202"/>
            <a:ext cx="2658086" cy="2468002"/>
          </a:xfrm>
          <a:prstGeom prst="rect">
            <a:avLst/>
          </a:prstGeom>
        </p:spPr>
      </p:pic>
      <p:pic>
        <p:nvPicPr>
          <p:cNvPr id="4" name="Picture 3"/>
          <p:cNvPicPr>
            <a:picLocks noChangeAspect="1"/>
          </p:cNvPicPr>
          <p:nvPr/>
        </p:nvPicPr>
        <p:blipFill>
          <a:blip r:embed="rId6"/>
          <a:stretch>
            <a:fillRect/>
          </a:stretch>
        </p:blipFill>
        <p:spPr>
          <a:xfrm>
            <a:off x="7497737" y="1852183"/>
            <a:ext cx="2456901" cy="1889924"/>
          </a:xfrm>
          <a:prstGeom prst="rect">
            <a:avLst/>
          </a:prstGeom>
        </p:spPr>
      </p:pic>
      <p:sp>
        <p:nvSpPr>
          <p:cNvPr id="11" name="Cloud 10"/>
          <p:cNvSpPr/>
          <p:nvPr/>
        </p:nvSpPr>
        <p:spPr>
          <a:xfrm>
            <a:off x="968855" y="4818742"/>
            <a:ext cx="2424546" cy="1856509"/>
          </a:xfrm>
          <a:prstGeom prst="cloud">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IN"/>
          </a:p>
        </p:txBody>
      </p:sp>
      <p:pic>
        <p:nvPicPr>
          <p:cNvPr id="2" name="Picture 1"/>
          <p:cNvPicPr>
            <a:picLocks noChangeAspect="1"/>
          </p:cNvPicPr>
          <p:nvPr/>
        </p:nvPicPr>
        <p:blipFill>
          <a:blip r:embed="rId9" cstate="screen">
            <a:extLst>
              <a:ext uri="{28A0092B-C50C-407E-A947-70E740481C1C}">
                <a14:useLocalDpi xmlns:a14="http://schemas.microsoft.com/office/drawing/2010/main"/>
              </a:ext>
            </a:extLst>
          </a:blip>
          <a:stretch>
            <a:fillRect/>
          </a:stretch>
        </p:blipFill>
        <p:spPr>
          <a:xfrm rot="19971045">
            <a:off x="1205957" y="5156781"/>
            <a:ext cx="1727683" cy="915261"/>
          </a:xfrm>
          <a:prstGeom prst="roundRect">
            <a:avLst>
              <a:gd name="adj" fmla="val 16667"/>
            </a:avLst>
          </a:prstGeom>
          <a:ln>
            <a:noFill/>
          </a:ln>
          <a:effectLst>
            <a:outerShdw blurRad="76200" dist="38100" dir="7800000" algn="tl" rotWithShape="0">
              <a:srgbClr val="000000">
                <a:alpha val="40000"/>
              </a:srgbClr>
            </a:outerShdw>
          </a:effectLst>
          <a:scene3d>
            <a:camera prst="orthographicFront"/>
            <a:lightRig rig="contrasting" dir="t">
              <a:rot lat="0" lon="0" rev="4200000"/>
            </a:lightRig>
          </a:scene3d>
          <a:sp3d prstMaterial="plastic">
            <a:bevelT w="381000" h="114300" prst="relaxedInset"/>
            <a:contourClr>
              <a:srgbClr val="969696"/>
            </a:contourClr>
          </a:sp3d>
        </p:spPr>
      </p:pic>
      <p:pic>
        <p:nvPicPr>
          <p:cNvPr id="5" name="Picture 4"/>
          <p:cNvPicPr>
            <a:picLocks noChangeAspect="1"/>
          </p:cNvPicPr>
          <p:nvPr/>
        </p:nvPicPr>
        <p:blipFill>
          <a:blip r:embed="rId10"/>
          <a:stretch>
            <a:fillRect/>
          </a:stretch>
        </p:blipFill>
        <p:spPr>
          <a:xfrm rot="21193281">
            <a:off x="7672965" y="2140424"/>
            <a:ext cx="1909494" cy="954747"/>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pic>
        <p:nvPicPr>
          <p:cNvPr id="6" name="Picture 5"/>
          <p:cNvPicPr>
            <a:picLocks noChangeAspect="1"/>
          </p:cNvPicPr>
          <p:nvPr/>
        </p:nvPicPr>
        <p:blipFill>
          <a:blip r:embed="rId11"/>
          <a:stretch>
            <a:fillRect/>
          </a:stretch>
        </p:blipFill>
        <p:spPr>
          <a:xfrm rot="1094255">
            <a:off x="7836014" y="5040655"/>
            <a:ext cx="2352298" cy="1150177"/>
          </a:xfrm>
          <a:prstGeom prst="ellipse">
            <a:avLst/>
          </a:prstGeom>
          <a:ln>
            <a:noFill/>
          </a:ln>
          <a:effectLst>
            <a:softEdge rad="112500"/>
          </a:effectLst>
        </p:spPr>
      </p:pic>
      <p:pic>
        <p:nvPicPr>
          <p:cNvPr id="7" name="Picture 6"/>
          <p:cNvPicPr>
            <a:picLocks noChangeAspect="1"/>
          </p:cNvPicPr>
          <p:nvPr/>
        </p:nvPicPr>
        <p:blipFill>
          <a:blip r:embed="rId12"/>
          <a:stretch>
            <a:fillRect/>
          </a:stretch>
        </p:blipFill>
        <p:spPr>
          <a:xfrm>
            <a:off x="4783132" y="4200015"/>
            <a:ext cx="2143125" cy="2143125"/>
          </a:xfrm>
          <a:prstGeom prst="rect">
            <a:avLst/>
          </a:prstGeom>
        </p:spPr>
      </p:pic>
      <p:sp>
        <p:nvSpPr>
          <p:cNvPr id="21" name="Striped Right Arrow 20"/>
          <p:cNvSpPr/>
          <p:nvPr/>
        </p:nvSpPr>
        <p:spPr>
          <a:xfrm rot="20803296">
            <a:off x="3509367" y="5398526"/>
            <a:ext cx="1513767" cy="301058"/>
          </a:xfrm>
          <a:prstGeom prst="striped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2" name="Picture 21"/>
          <p:cNvPicPr>
            <a:picLocks noChangeAspect="1"/>
          </p:cNvPicPr>
          <p:nvPr/>
        </p:nvPicPr>
        <p:blipFill>
          <a:blip r:embed="rId13"/>
          <a:stretch>
            <a:fillRect/>
          </a:stretch>
        </p:blipFill>
        <p:spPr>
          <a:xfrm rot="1883379">
            <a:off x="3300662" y="3825843"/>
            <a:ext cx="1563619" cy="366464"/>
          </a:xfrm>
          <a:prstGeom prst="rect">
            <a:avLst/>
          </a:prstGeom>
        </p:spPr>
      </p:pic>
      <p:pic>
        <p:nvPicPr>
          <p:cNvPr id="23" name="Picture 22"/>
          <p:cNvPicPr>
            <a:picLocks noChangeAspect="1"/>
          </p:cNvPicPr>
          <p:nvPr/>
        </p:nvPicPr>
        <p:blipFill>
          <a:blip r:embed="rId14"/>
          <a:stretch>
            <a:fillRect/>
          </a:stretch>
        </p:blipFill>
        <p:spPr>
          <a:xfrm rot="3169804">
            <a:off x="5402446" y="3464455"/>
            <a:ext cx="843673" cy="624498"/>
          </a:xfrm>
          <a:prstGeom prst="rect">
            <a:avLst/>
          </a:prstGeom>
        </p:spPr>
      </p:pic>
      <p:pic>
        <p:nvPicPr>
          <p:cNvPr id="24" name="Picture 23"/>
          <p:cNvPicPr>
            <a:picLocks noChangeAspect="1"/>
          </p:cNvPicPr>
          <p:nvPr/>
        </p:nvPicPr>
        <p:blipFill>
          <a:blip r:embed="rId14"/>
          <a:stretch>
            <a:fillRect/>
          </a:stretch>
        </p:blipFill>
        <p:spPr>
          <a:xfrm rot="6717152">
            <a:off x="6645894" y="3290142"/>
            <a:ext cx="1304657" cy="1268078"/>
          </a:xfrm>
          <a:prstGeom prst="rect">
            <a:avLst/>
          </a:prstGeom>
        </p:spPr>
      </p:pic>
      <p:pic>
        <p:nvPicPr>
          <p:cNvPr id="25" name="Picture 24"/>
          <p:cNvPicPr>
            <a:picLocks noChangeAspect="1"/>
          </p:cNvPicPr>
          <p:nvPr/>
        </p:nvPicPr>
        <p:blipFill>
          <a:blip r:embed="rId14"/>
          <a:stretch>
            <a:fillRect/>
          </a:stretch>
        </p:blipFill>
        <p:spPr>
          <a:xfrm rot="9503570">
            <a:off x="6659889" y="4849188"/>
            <a:ext cx="1039679" cy="951675"/>
          </a:xfrm>
          <a:prstGeom prst="rect">
            <a:avLst/>
          </a:prstGeom>
        </p:spPr>
      </p:pic>
      <p:pic>
        <p:nvPicPr>
          <p:cNvPr id="26" name="Picture 25"/>
          <p:cNvPicPr>
            <a:picLocks noChangeAspect="1"/>
          </p:cNvPicPr>
          <p:nvPr/>
        </p:nvPicPr>
        <p:blipFill>
          <a:blip r:embed="rId15"/>
          <a:stretch>
            <a:fillRect/>
          </a:stretch>
        </p:blipFill>
        <p:spPr>
          <a:xfrm rot="907527">
            <a:off x="8475774" y="4206445"/>
            <a:ext cx="1548211" cy="1140624"/>
          </a:xfrm>
          <a:prstGeom prst="ellipse">
            <a:avLst/>
          </a:prstGeom>
          <a:ln>
            <a:noFill/>
          </a:ln>
          <a:effectLst>
            <a:softEdge rad="112500"/>
          </a:effectLst>
        </p:spPr>
      </p:pic>
      <p:sp>
        <p:nvSpPr>
          <p:cNvPr id="48" name="Title 1">
            <a:extLst>
              <a:ext uri="{FF2B5EF4-FFF2-40B4-BE49-F238E27FC236}">
                <a16:creationId xmlns:a16="http://schemas.microsoft.com/office/drawing/2014/main" id="{388B9DFB-F7A2-B035-C094-874C362DE9B2}"/>
              </a:ext>
            </a:extLst>
          </p:cNvPr>
          <p:cNvSpPr txBox="1">
            <a:spLocks/>
          </p:cNvSpPr>
          <p:nvPr/>
        </p:nvSpPr>
        <p:spPr>
          <a:xfrm>
            <a:off x="646111" y="363151"/>
            <a:ext cx="9404723" cy="1400530"/>
          </a:xfrm>
          <a:prstGeom prst="rect">
            <a:avLst/>
          </a:prstGeom>
        </p:spPr>
        <p:txBody>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dirty="0"/>
              <a:t>Paying</a:t>
            </a:r>
            <a:r>
              <a:rPr lang="en-US" sz="4400" b="1" dirty="0">
                <a:solidFill>
                  <a:srgbClr val="000000"/>
                </a:solidFill>
                <a:latin typeface="Times New Roman" panose="02020603050405020304" pitchFamily="18" charset="0"/>
              </a:rPr>
              <a:t> </a:t>
            </a:r>
            <a:r>
              <a:rPr lang="en-US" dirty="0"/>
              <a:t>tax almost everywhere!!!</a:t>
            </a:r>
            <a:endParaRPr lang="en-IN" dirty="0"/>
          </a:p>
        </p:txBody>
      </p:sp>
      <p:sp>
        <p:nvSpPr>
          <p:cNvPr id="10" name="Slide Number Placeholder 9"/>
          <p:cNvSpPr>
            <a:spLocks noGrp="1"/>
          </p:cNvSpPr>
          <p:nvPr>
            <p:ph type="sldNum" sz="quarter" idx="12"/>
          </p:nvPr>
        </p:nvSpPr>
        <p:spPr/>
        <p:txBody>
          <a:bodyPr/>
          <a:lstStyle/>
          <a:p>
            <a:fld id="{94013DF8-6EF8-4A98-8821-E6468C17C0C3}" type="slidenum">
              <a:rPr lang="en-IN" smtClean="0"/>
              <a:t>3</a:t>
            </a:fld>
            <a:endParaRPr lang="en-IN"/>
          </a:p>
        </p:txBody>
      </p:sp>
    </p:spTree>
    <p:extLst>
      <p:ext uri="{BB962C8B-B14F-4D97-AF65-F5344CB8AC3E}">
        <p14:creationId xmlns:p14="http://schemas.microsoft.com/office/powerpoint/2010/main" val="145566116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E5D2DC-A010-EDB1-73C4-ACED0150CBBA}"/>
              </a:ext>
            </a:extLst>
          </p:cNvPr>
          <p:cNvSpPr>
            <a:spLocks noGrp="1"/>
          </p:cNvSpPr>
          <p:nvPr>
            <p:ph type="title"/>
          </p:nvPr>
        </p:nvSpPr>
        <p:spPr>
          <a:xfrm>
            <a:off x="646111" y="363151"/>
            <a:ext cx="9404723" cy="1400530"/>
          </a:xfrm>
        </p:spPr>
        <p:txBody>
          <a:bodyPr/>
          <a:lstStyle/>
          <a:p>
            <a:r>
              <a:rPr lang="en-US" dirty="0"/>
              <a:t>Why should I pay tax?</a:t>
            </a:r>
            <a:endParaRPr lang="en-IN" dirty="0"/>
          </a:p>
        </p:txBody>
      </p:sp>
      <p:sp>
        <p:nvSpPr>
          <p:cNvPr id="3" name="Content Placeholder 2">
            <a:extLst>
              <a:ext uri="{FF2B5EF4-FFF2-40B4-BE49-F238E27FC236}">
                <a16:creationId xmlns:a16="http://schemas.microsoft.com/office/drawing/2014/main" id="{00EA14ED-5169-E5CC-1262-DB90204BBCCC}"/>
              </a:ext>
            </a:extLst>
          </p:cNvPr>
          <p:cNvSpPr>
            <a:spLocks noGrp="1"/>
          </p:cNvSpPr>
          <p:nvPr>
            <p:ph idx="1"/>
          </p:nvPr>
        </p:nvSpPr>
        <p:spPr>
          <a:xfrm>
            <a:off x="323274" y="1447800"/>
            <a:ext cx="10867466" cy="4800599"/>
          </a:xfrm>
        </p:spPr>
        <p:txBody>
          <a:bodyPr>
            <a:normAutofit/>
          </a:bodyPr>
          <a:lstStyle/>
          <a:p>
            <a:pPr algn="just">
              <a:lnSpc>
                <a:spcPct val="200000"/>
              </a:lnSpc>
              <a:buFont typeface="Wingdings" panose="05000000000000000000" pitchFamily="2" charset="2"/>
              <a:buChar char="Ø"/>
            </a:pPr>
            <a:r>
              <a:rPr lang="en-US" sz="2200" dirty="0">
                <a:solidFill>
                  <a:srgbClr val="000000"/>
                </a:solidFill>
                <a:latin typeface="Cambria" panose="02040503050406030204" pitchFamily="18" charset="0"/>
                <a:ea typeface="Cambria" panose="02040503050406030204" pitchFamily="18" charset="0"/>
              </a:rPr>
              <a:t>I have to pay for my food, for my house, for my travel, for my medical treatment, for owning a vehicle not only cost of vehicle but also vehicle tax and what not. </a:t>
            </a:r>
          </a:p>
          <a:p>
            <a:pPr algn="just">
              <a:lnSpc>
                <a:spcPct val="200000"/>
              </a:lnSpc>
              <a:buFont typeface="Wingdings" panose="05000000000000000000" pitchFamily="2" charset="2"/>
              <a:buChar char="Ø"/>
            </a:pPr>
            <a:r>
              <a:rPr lang="en-US" sz="2200" dirty="0">
                <a:solidFill>
                  <a:srgbClr val="000000"/>
                </a:solidFill>
                <a:latin typeface="Cambria" panose="02040503050406030204" pitchFamily="18" charset="0"/>
                <a:ea typeface="Cambria" panose="02040503050406030204" pitchFamily="18" charset="0"/>
              </a:rPr>
              <a:t> Even on many roads, one has to pay toll tax! They also say that if we compare with countries like USA and UK, the people get social security as also medical facilities virtually without any cost. But India does not offer such facilities.</a:t>
            </a:r>
            <a:endParaRPr lang="en-IN" sz="2200"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1AADF532-450B-F0B3-C386-17D246D10864}"/>
              </a:ext>
            </a:extLst>
          </p:cNvPr>
          <p:cNvSpPr>
            <a:spLocks noGrp="1"/>
          </p:cNvSpPr>
          <p:nvPr>
            <p:ph type="sldNum" sz="quarter" idx="12"/>
          </p:nvPr>
        </p:nvSpPr>
        <p:spPr/>
        <p:txBody>
          <a:bodyPr/>
          <a:lstStyle/>
          <a:p>
            <a:fld id="{94013DF8-6EF8-4A98-8821-E6468C17C0C3}" type="slidenum">
              <a:rPr lang="en-IN" smtClean="0"/>
              <a:t>4</a:t>
            </a:fld>
            <a:endParaRPr lang="en-IN"/>
          </a:p>
        </p:txBody>
      </p:sp>
      <p:pic>
        <p:nvPicPr>
          <p:cNvPr id="7" name="Picture 6">
            <a:extLst>
              <a:ext uri="{FF2B5EF4-FFF2-40B4-BE49-F238E27FC236}">
                <a16:creationId xmlns:a16="http://schemas.microsoft.com/office/drawing/2014/main" id="{D8331DAA-E68F-0E08-20BE-D13B8BD62F13}"/>
              </a:ext>
            </a:extLst>
          </p:cNvPr>
          <p:cNvPicPr>
            <a:picLocks noChangeAspect="1"/>
          </p:cNvPicPr>
          <p:nvPr/>
        </p:nvPicPr>
        <p:blipFill>
          <a:blip r:embed="rId2"/>
          <a:stretch>
            <a:fillRect/>
          </a:stretch>
        </p:blipFill>
        <p:spPr>
          <a:xfrm>
            <a:off x="9768254" y="4858167"/>
            <a:ext cx="2423746" cy="1999832"/>
          </a:xfrm>
          <a:prstGeom prst="rect">
            <a:avLst/>
          </a:prstGeom>
        </p:spPr>
      </p:pic>
    </p:spTree>
    <p:extLst>
      <p:ext uri="{BB962C8B-B14F-4D97-AF65-F5344CB8AC3E}">
        <p14:creationId xmlns:p14="http://schemas.microsoft.com/office/powerpoint/2010/main" val="21094305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30B45-4262-8041-891D-DB2DF220739A}"/>
              </a:ext>
            </a:extLst>
          </p:cNvPr>
          <p:cNvSpPr>
            <a:spLocks noGrp="1"/>
          </p:cNvSpPr>
          <p:nvPr>
            <p:ph type="title"/>
          </p:nvPr>
        </p:nvSpPr>
        <p:spPr>
          <a:xfrm>
            <a:off x="646111" y="452718"/>
            <a:ext cx="9404723" cy="990599"/>
          </a:xfrm>
        </p:spPr>
        <p:txBody>
          <a:bodyPr/>
          <a:lstStyle/>
          <a:p>
            <a:r>
              <a:rPr lang="en-US" dirty="0"/>
              <a:t>What Government Do from our TAX? </a:t>
            </a:r>
            <a:endParaRPr lang="en-IN" dirty="0"/>
          </a:p>
        </p:txBody>
      </p:sp>
      <p:sp>
        <p:nvSpPr>
          <p:cNvPr id="3" name="Content Placeholder 2">
            <a:extLst>
              <a:ext uri="{FF2B5EF4-FFF2-40B4-BE49-F238E27FC236}">
                <a16:creationId xmlns:a16="http://schemas.microsoft.com/office/drawing/2014/main" id="{2641626C-CF22-98FD-3A25-6325789D0CF1}"/>
              </a:ext>
            </a:extLst>
          </p:cNvPr>
          <p:cNvSpPr>
            <a:spLocks noGrp="1"/>
          </p:cNvSpPr>
          <p:nvPr>
            <p:ph idx="1"/>
          </p:nvPr>
        </p:nvSpPr>
        <p:spPr>
          <a:xfrm>
            <a:off x="646112" y="1665514"/>
            <a:ext cx="10544628" cy="4582885"/>
          </a:xfrm>
        </p:spPr>
        <p:txBody>
          <a:bodyPr>
            <a:normAutofit/>
          </a:bodyPr>
          <a:lstStyle/>
          <a:p>
            <a:pPr marL="252000" indent="-252000" algn="just">
              <a:lnSpc>
                <a:spcPct val="130000"/>
              </a:lnSpc>
              <a:buFont typeface="Wingdings" panose="05000000000000000000" pitchFamily="2" charset="2"/>
              <a:buChar char="§"/>
            </a:pPr>
            <a:r>
              <a:rPr lang="en-US" sz="2200" dirty="0">
                <a:solidFill>
                  <a:srgbClr val="000000"/>
                </a:solidFill>
                <a:latin typeface="Cambria" panose="02040503050406030204" pitchFamily="18" charset="0"/>
              </a:rPr>
              <a:t>The Government provide </a:t>
            </a:r>
            <a:r>
              <a:rPr lang="en-US" sz="2200" dirty="0">
                <a:solidFill>
                  <a:srgbClr val="FF0000"/>
                </a:solidFill>
                <a:latin typeface="Cambria" panose="02040503050406030204" pitchFamily="18" charset="0"/>
              </a:rPr>
              <a:t>Health care </a:t>
            </a:r>
            <a:r>
              <a:rPr lang="en-US" sz="2200" dirty="0">
                <a:solidFill>
                  <a:srgbClr val="000000"/>
                </a:solidFill>
                <a:latin typeface="Cambria" panose="02040503050406030204" pitchFamily="18" charset="0"/>
              </a:rPr>
              <a:t>through Government hospitals (usually they offer service without any cost), </a:t>
            </a:r>
            <a:r>
              <a:rPr lang="en-US" sz="2200" dirty="0">
                <a:solidFill>
                  <a:srgbClr val="FF0000"/>
                </a:solidFill>
                <a:latin typeface="Cambria" panose="02040503050406030204" pitchFamily="18" charset="0"/>
              </a:rPr>
              <a:t>Education</a:t>
            </a:r>
            <a:r>
              <a:rPr lang="en-US" sz="2200" dirty="0">
                <a:solidFill>
                  <a:srgbClr val="000000"/>
                </a:solidFill>
                <a:latin typeface="Cambria" panose="02040503050406030204" pitchFamily="18" charset="0"/>
              </a:rPr>
              <a:t> (In Municipal and Government schools the fee is negligible). </a:t>
            </a:r>
          </a:p>
          <a:p>
            <a:pPr marL="252000" indent="-252000" algn="just">
              <a:lnSpc>
                <a:spcPct val="130000"/>
              </a:lnSpc>
              <a:buFont typeface="Wingdings" panose="05000000000000000000" pitchFamily="2" charset="2"/>
              <a:buChar char="§"/>
            </a:pPr>
            <a:r>
              <a:rPr lang="en-US" sz="2200" dirty="0">
                <a:solidFill>
                  <a:srgbClr val="000000"/>
                </a:solidFill>
                <a:latin typeface="Cambria" panose="02040503050406030204" pitchFamily="18" charset="0"/>
              </a:rPr>
              <a:t>Of course the major expenditure of Government has to be incurred on </a:t>
            </a:r>
            <a:r>
              <a:rPr lang="en-US" sz="2200" dirty="0">
                <a:solidFill>
                  <a:srgbClr val="FF0000"/>
                </a:solidFill>
                <a:latin typeface="Cambria" panose="02040503050406030204" pitchFamily="18" charset="0"/>
              </a:rPr>
              <a:t>National Defense, Infrastructure Developments</a:t>
            </a:r>
            <a:r>
              <a:rPr lang="en-US" sz="2200" dirty="0">
                <a:solidFill>
                  <a:srgbClr val="000000"/>
                </a:solidFill>
                <a:latin typeface="Cambria" panose="02040503050406030204" pitchFamily="18" charset="0"/>
              </a:rPr>
              <a:t> etc.</a:t>
            </a:r>
          </a:p>
          <a:p>
            <a:pPr marL="252000" indent="-252000" algn="just">
              <a:lnSpc>
                <a:spcPct val="130000"/>
              </a:lnSpc>
              <a:buFont typeface="Wingdings" panose="05000000000000000000" pitchFamily="2" charset="2"/>
              <a:buChar char="§"/>
            </a:pPr>
            <a:r>
              <a:rPr lang="en-US" sz="2200" dirty="0">
                <a:solidFill>
                  <a:srgbClr val="000000"/>
                </a:solidFill>
                <a:latin typeface="Cambria" panose="02040503050406030204" pitchFamily="18" charset="0"/>
              </a:rPr>
              <a:t>Taxes are used by the government for carrying out various </a:t>
            </a:r>
            <a:r>
              <a:rPr lang="en-US" sz="2200" dirty="0">
                <a:solidFill>
                  <a:srgbClr val="FF0000"/>
                </a:solidFill>
                <a:latin typeface="Cambria" panose="02040503050406030204" pitchFamily="18" charset="0"/>
              </a:rPr>
              <a:t>welfare schemes </a:t>
            </a:r>
            <a:r>
              <a:rPr lang="en-US" sz="2200" dirty="0">
                <a:solidFill>
                  <a:srgbClr val="000000"/>
                </a:solidFill>
                <a:latin typeface="Cambria" panose="02040503050406030204" pitchFamily="18" charset="0"/>
              </a:rPr>
              <a:t>including employment programs. </a:t>
            </a:r>
          </a:p>
          <a:p>
            <a:pPr marL="252000" indent="-252000" algn="just">
              <a:lnSpc>
                <a:spcPct val="130000"/>
              </a:lnSpc>
              <a:buFont typeface="Wingdings" panose="05000000000000000000" pitchFamily="2" charset="2"/>
              <a:buChar char="§"/>
            </a:pPr>
            <a:r>
              <a:rPr lang="en-US" sz="2200" dirty="0">
                <a:solidFill>
                  <a:srgbClr val="000000"/>
                </a:solidFill>
                <a:latin typeface="Cambria" panose="02040503050406030204" pitchFamily="18" charset="0"/>
              </a:rPr>
              <a:t>There are Lakhs of </a:t>
            </a:r>
            <a:r>
              <a:rPr lang="en-US" sz="2200" dirty="0">
                <a:solidFill>
                  <a:srgbClr val="FF0000"/>
                </a:solidFill>
                <a:latin typeface="Cambria" panose="02040503050406030204" pitchFamily="18" charset="0"/>
              </a:rPr>
              <a:t>employees in various departments, the administrative cost </a:t>
            </a:r>
            <a:r>
              <a:rPr lang="en-US" sz="2200" dirty="0">
                <a:solidFill>
                  <a:srgbClr val="000000"/>
                </a:solidFill>
                <a:latin typeface="Cambria" panose="02040503050406030204" pitchFamily="18" charset="0"/>
              </a:rPr>
              <a:t>has to be borne by the Government. </a:t>
            </a:r>
          </a:p>
          <a:p>
            <a:pPr algn="just"/>
            <a:endParaRPr lang="en-IN" sz="2200" dirty="0"/>
          </a:p>
        </p:txBody>
      </p:sp>
      <p:sp>
        <p:nvSpPr>
          <p:cNvPr id="6" name="Slide Number Placeholder 5">
            <a:extLst>
              <a:ext uri="{FF2B5EF4-FFF2-40B4-BE49-F238E27FC236}">
                <a16:creationId xmlns:a16="http://schemas.microsoft.com/office/drawing/2014/main" id="{B8FB7D0D-3FDE-848E-331D-C1DEDD269D90}"/>
              </a:ext>
            </a:extLst>
          </p:cNvPr>
          <p:cNvSpPr>
            <a:spLocks noGrp="1"/>
          </p:cNvSpPr>
          <p:nvPr>
            <p:ph type="sldNum" sz="quarter" idx="12"/>
          </p:nvPr>
        </p:nvSpPr>
        <p:spPr/>
        <p:txBody>
          <a:bodyPr/>
          <a:lstStyle/>
          <a:p>
            <a:fld id="{94013DF8-6EF8-4A98-8821-E6468C17C0C3}" type="slidenum">
              <a:rPr lang="en-IN" smtClean="0"/>
              <a:t>5</a:t>
            </a:fld>
            <a:endParaRPr lang="en-IN"/>
          </a:p>
        </p:txBody>
      </p:sp>
    </p:spTree>
    <p:extLst>
      <p:ext uri="{BB962C8B-B14F-4D97-AF65-F5344CB8AC3E}">
        <p14:creationId xmlns:p14="http://schemas.microsoft.com/office/powerpoint/2010/main" val="1510524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43345" y="1763713"/>
            <a:ext cx="11388437" cy="4720213"/>
          </a:xfrm>
        </p:spPr>
        <p:txBody>
          <a:bodyPr>
            <a:noAutofit/>
          </a:bodyPr>
          <a:lstStyle/>
          <a:p>
            <a:pPr marL="252000" indent="-252000" algn="just">
              <a:lnSpc>
                <a:spcPct val="130000"/>
              </a:lnSpc>
              <a:buFont typeface="Wingdings" panose="05000000000000000000" pitchFamily="2" charset="2"/>
              <a:buChar char="§"/>
            </a:pPr>
            <a:r>
              <a:rPr lang="en-US" sz="2400" dirty="0">
                <a:solidFill>
                  <a:srgbClr val="000000"/>
                </a:solidFill>
                <a:latin typeface="Cambria" panose="02040503050406030204" pitchFamily="18" charset="0"/>
              </a:rPr>
              <a:t>On </a:t>
            </a:r>
            <a:r>
              <a:rPr lang="en-US" sz="2400" dirty="0">
                <a:solidFill>
                  <a:srgbClr val="FF0000"/>
                </a:solidFill>
                <a:latin typeface="Cambria" panose="02040503050406030204" pitchFamily="18" charset="0"/>
              </a:rPr>
              <a:t>judicial system</a:t>
            </a:r>
            <a:r>
              <a:rPr lang="en-US" sz="2400" dirty="0">
                <a:solidFill>
                  <a:srgbClr val="000000"/>
                </a:solidFill>
                <a:latin typeface="Cambria" panose="02040503050406030204" pitchFamily="18" charset="0"/>
              </a:rPr>
              <a:t>:  the Salaries, perks of Judges, Magistrates and judicial staff has also to be paid by the Government. </a:t>
            </a:r>
          </a:p>
          <a:p>
            <a:pPr marL="252000" indent="-252000" algn="just">
              <a:lnSpc>
                <a:spcPct val="130000"/>
              </a:lnSpc>
              <a:buFont typeface="Wingdings" panose="05000000000000000000" pitchFamily="2" charset="2"/>
              <a:buChar char="§"/>
            </a:pPr>
            <a:r>
              <a:rPr lang="en-US" sz="2400" dirty="0">
                <a:solidFill>
                  <a:srgbClr val="000000"/>
                </a:solidFill>
                <a:latin typeface="Cambria" panose="02040503050406030204" pitchFamily="18" charset="0"/>
              </a:rPr>
              <a:t>PM </a:t>
            </a:r>
            <a:r>
              <a:rPr lang="en-US" sz="2400" dirty="0">
                <a:solidFill>
                  <a:srgbClr val="FF0000"/>
                </a:solidFill>
                <a:latin typeface="Cambria" panose="02040503050406030204" pitchFamily="18" charset="0"/>
              </a:rPr>
              <a:t>Kisan yojana</a:t>
            </a:r>
            <a:r>
              <a:rPr lang="en-US" sz="2400" dirty="0">
                <a:solidFill>
                  <a:srgbClr val="000000"/>
                </a:solidFill>
                <a:latin typeface="Cambria" panose="02040503050406030204" pitchFamily="18" charset="0"/>
              </a:rPr>
              <a:t>: subsidy / pay-in  to farmers.</a:t>
            </a:r>
          </a:p>
          <a:p>
            <a:pPr marL="252000" indent="-252000" algn="just">
              <a:lnSpc>
                <a:spcPct val="130000"/>
              </a:lnSpc>
              <a:buFont typeface="Wingdings" panose="05000000000000000000" pitchFamily="2" charset="2"/>
              <a:buChar char="§"/>
            </a:pPr>
            <a:r>
              <a:rPr lang="en-US" sz="2400" dirty="0">
                <a:solidFill>
                  <a:srgbClr val="000000"/>
                </a:solidFill>
                <a:latin typeface="Cambria" panose="02040503050406030204" pitchFamily="18" charset="0"/>
              </a:rPr>
              <a:t>The Government also provides </a:t>
            </a:r>
            <a:r>
              <a:rPr lang="en-US" sz="2400" dirty="0">
                <a:solidFill>
                  <a:srgbClr val="FF0000"/>
                </a:solidFill>
                <a:latin typeface="Cambria" panose="02040503050406030204" pitchFamily="18" charset="0"/>
              </a:rPr>
              <a:t>cooking gas </a:t>
            </a:r>
            <a:r>
              <a:rPr lang="en-US" sz="2400" dirty="0">
                <a:solidFill>
                  <a:srgbClr val="000000"/>
                </a:solidFill>
                <a:latin typeface="Cambria" panose="02040503050406030204" pitchFamily="18" charset="0"/>
              </a:rPr>
              <a:t>at concessional rate or gives subsidy. </a:t>
            </a:r>
          </a:p>
          <a:p>
            <a:pPr marL="252000" indent="-252000" algn="just">
              <a:lnSpc>
                <a:spcPct val="130000"/>
              </a:lnSpc>
              <a:buFont typeface="Wingdings" panose="05000000000000000000" pitchFamily="2" charset="2"/>
              <a:buChar char="§"/>
            </a:pPr>
            <a:r>
              <a:rPr lang="en-US" sz="2400" dirty="0">
                <a:solidFill>
                  <a:srgbClr val="000000"/>
                </a:solidFill>
                <a:latin typeface="Cambria" panose="02040503050406030204" pitchFamily="18" charset="0"/>
              </a:rPr>
              <a:t>Government also provide support to </a:t>
            </a:r>
            <a:r>
              <a:rPr lang="en-US" sz="2400" dirty="0">
                <a:solidFill>
                  <a:srgbClr val="FF0000"/>
                </a:solidFill>
                <a:latin typeface="Cambria" panose="02040503050406030204" pitchFamily="18" charset="0"/>
              </a:rPr>
              <a:t>MSMEs</a:t>
            </a:r>
            <a:r>
              <a:rPr lang="en-US" sz="2400" dirty="0">
                <a:solidFill>
                  <a:srgbClr val="000000"/>
                </a:solidFill>
                <a:latin typeface="Cambria" panose="02040503050406030204" pitchFamily="18" charset="0"/>
              </a:rPr>
              <a:t> and small business in terms of subsidies.</a:t>
            </a:r>
          </a:p>
          <a:p>
            <a:pPr marL="252000" indent="-252000" algn="just">
              <a:lnSpc>
                <a:spcPct val="130000"/>
              </a:lnSpc>
              <a:buFont typeface="Wingdings" panose="05000000000000000000" pitchFamily="2" charset="2"/>
              <a:buChar char="§"/>
            </a:pPr>
            <a:r>
              <a:rPr lang="en-US" sz="2400" dirty="0">
                <a:solidFill>
                  <a:srgbClr val="000000"/>
                </a:solidFill>
                <a:latin typeface="Cambria" panose="02040503050406030204" pitchFamily="18" charset="0"/>
              </a:rPr>
              <a:t>Thus, considering these various duties of the Government, </a:t>
            </a:r>
            <a:r>
              <a:rPr lang="en-US" sz="2400" dirty="0">
                <a:solidFill>
                  <a:srgbClr val="FF0000"/>
                </a:solidFill>
                <a:latin typeface="Cambria" panose="02040503050406030204" pitchFamily="18" charset="0"/>
              </a:rPr>
              <a:t>we need to appreciate that we must pay tax as per law</a:t>
            </a:r>
            <a:r>
              <a:rPr lang="en-US" sz="2400" dirty="0">
                <a:solidFill>
                  <a:srgbClr val="000000"/>
                </a:solidFill>
                <a:latin typeface="Cambria" panose="02040503050406030204" pitchFamily="18" charset="0"/>
              </a:rPr>
              <a:t>. We have be a responsible citizen.</a:t>
            </a:r>
            <a:endParaRPr lang="en-IN" sz="24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What Government Do from our TAX? </a:t>
            </a:r>
            <a:br>
              <a:rPr lang="en-US" dirty="0"/>
            </a:br>
            <a:endParaRPr lang="en-IN" dirty="0"/>
          </a:p>
        </p:txBody>
      </p:sp>
    </p:spTree>
    <p:extLst>
      <p:ext uri="{BB962C8B-B14F-4D97-AF65-F5344CB8AC3E}">
        <p14:creationId xmlns:p14="http://schemas.microsoft.com/office/powerpoint/2010/main" val="27010937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4013DF8-6EF8-4A98-8821-E6468C17C0C3}" type="slidenum">
              <a:rPr lang="en-IN" smtClean="0"/>
              <a:t>7</a:t>
            </a:fld>
            <a:endParaRPr lang="en-IN"/>
          </a:p>
        </p:txBody>
      </p:sp>
      <p:pic>
        <p:nvPicPr>
          <p:cNvPr id="6146" name="Picture 2" descr="Major Sources of Indian Government Revenue (FY 2025-26)"/>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33375" y="1801283"/>
            <a:ext cx="5619750" cy="374649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4"/>
          <p:cNvPicPr>
            <a:picLocks noChangeAspect="1"/>
          </p:cNvPicPr>
          <p:nvPr/>
        </p:nvPicPr>
        <p:blipFill>
          <a:blip r:embed="rId3"/>
          <a:stretch>
            <a:fillRect/>
          </a:stretch>
        </p:blipFill>
        <p:spPr>
          <a:xfrm>
            <a:off x="6315075" y="1801283"/>
            <a:ext cx="5619749" cy="3746499"/>
          </a:xfrm>
          <a:prstGeom prst="rect">
            <a:avLst/>
          </a:prstGeom>
        </p:spPr>
      </p:pic>
    </p:spTree>
    <p:extLst>
      <p:ext uri="{BB962C8B-B14F-4D97-AF65-F5344CB8AC3E}">
        <p14:creationId xmlns:p14="http://schemas.microsoft.com/office/powerpoint/2010/main" val="4152154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A539420A-2757-BF1E-7229-559AEC0B69E5}"/>
              </a:ext>
            </a:extLst>
          </p:cNvPr>
          <p:cNvSpPr>
            <a:spLocks noGrp="1"/>
          </p:cNvSpPr>
          <p:nvPr>
            <p:ph type="title"/>
          </p:nvPr>
        </p:nvSpPr>
        <p:spPr/>
        <p:txBody>
          <a:bodyPr/>
          <a:lstStyle/>
          <a:p>
            <a:r>
              <a:rPr lang="en-US" dirty="0"/>
              <a:t>Tax</a:t>
            </a:r>
            <a:endParaRPr lang="en-IN" dirty="0"/>
          </a:p>
        </p:txBody>
      </p:sp>
      <p:sp>
        <p:nvSpPr>
          <p:cNvPr id="5" name="Content Placeholder 4">
            <a:extLst>
              <a:ext uri="{FF2B5EF4-FFF2-40B4-BE49-F238E27FC236}">
                <a16:creationId xmlns:a16="http://schemas.microsoft.com/office/drawing/2014/main" id="{FDC27B1A-D6BF-197E-21A2-1959DE4E52DF}"/>
              </a:ext>
            </a:extLst>
          </p:cNvPr>
          <p:cNvSpPr>
            <a:spLocks noGrp="1"/>
          </p:cNvSpPr>
          <p:nvPr>
            <p:ph idx="1"/>
          </p:nvPr>
        </p:nvSpPr>
        <p:spPr/>
        <p:txBody>
          <a:bodyPr/>
          <a:lstStyle/>
          <a:p>
            <a:r>
              <a:rPr lang="en-US" dirty="0"/>
              <a:t>A fee charged (‘LEVIED’) BY A GOVERNMENT ON</a:t>
            </a:r>
          </a:p>
          <a:p>
            <a:pPr lvl="1"/>
            <a:r>
              <a:rPr lang="en-US" dirty="0"/>
              <a:t>INCOME</a:t>
            </a:r>
          </a:p>
          <a:p>
            <a:pPr lvl="1"/>
            <a:r>
              <a:rPr lang="en-US" dirty="0"/>
              <a:t>PRODUCT (OR)</a:t>
            </a:r>
          </a:p>
          <a:p>
            <a:pPr lvl="1"/>
            <a:r>
              <a:rPr lang="en-US" dirty="0"/>
              <a:t>ACTIVITY</a:t>
            </a:r>
            <a:endParaRPr lang="en-IN" dirty="0"/>
          </a:p>
        </p:txBody>
      </p:sp>
    </p:spTree>
    <p:extLst>
      <p:ext uri="{BB962C8B-B14F-4D97-AF65-F5344CB8AC3E}">
        <p14:creationId xmlns:p14="http://schemas.microsoft.com/office/powerpoint/2010/main" val="1300445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00522-4EF3-90E4-1544-53CDBB4A6BA0}"/>
              </a:ext>
            </a:extLst>
          </p:cNvPr>
          <p:cNvSpPr>
            <a:spLocks noGrp="1"/>
          </p:cNvSpPr>
          <p:nvPr>
            <p:ph type="title"/>
          </p:nvPr>
        </p:nvSpPr>
        <p:spPr/>
        <p:txBody>
          <a:bodyPr/>
          <a:lstStyle/>
          <a:p>
            <a:endParaRPr lang="en-IN"/>
          </a:p>
        </p:txBody>
      </p:sp>
      <p:pic>
        <p:nvPicPr>
          <p:cNvPr id="4" name="Content Placeholder 3">
            <a:extLst>
              <a:ext uri="{FF2B5EF4-FFF2-40B4-BE49-F238E27FC236}">
                <a16:creationId xmlns:a16="http://schemas.microsoft.com/office/drawing/2014/main" id="{48C8950D-4121-0A47-07FB-667873DE1AF6}"/>
              </a:ext>
            </a:extLst>
          </p:cNvPr>
          <p:cNvPicPr>
            <a:picLocks noGrp="1" noChangeAspect="1"/>
          </p:cNvPicPr>
          <p:nvPr>
            <p:ph idx="1"/>
          </p:nvPr>
        </p:nvPicPr>
        <p:blipFill>
          <a:blip r:embed="rId2"/>
          <a:stretch>
            <a:fillRect/>
          </a:stretch>
        </p:blipFill>
        <p:spPr>
          <a:xfrm>
            <a:off x="3078692" y="1600201"/>
            <a:ext cx="6034617" cy="4525963"/>
          </a:xfrm>
          <a:prstGeom prst="rect">
            <a:avLst/>
          </a:prstGeom>
        </p:spPr>
      </p:pic>
    </p:spTree>
    <p:extLst>
      <p:ext uri="{BB962C8B-B14F-4D97-AF65-F5344CB8AC3E}">
        <p14:creationId xmlns:p14="http://schemas.microsoft.com/office/powerpoint/2010/main" val="5841610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A4F624-9BD6-1663-ABDD-A67556A7E9A8}"/>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D8EAEC2-23FA-78BB-3FDE-1EEC4C51D107}"/>
              </a:ext>
            </a:extLst>
          </p:cNvPr>
          <p:cNvSpPr>
            <a:spLocks noGrp="1"/>
          </p:cNvSpPr>
          <p:nvPr>
            <p:ph idx="1"/>
          </p:nvPr>
        </p:nvSpPr>
        <p:spPr/>
        <p:txBody>
          <a:bodyPr/>
          <a:lstStyle/>
          <a:p>
            <a:r>
              <a:rPr lang="en-US" dirty="0"/>
              <a:t>If tax is levied directly on the income or wealth of a person, then it is a </a:t>
            </a:r>
            <a:r>
              <a:rPr lang="en-US" b="1" dirty="0"/>
              <a:t>Direct Tax.</a:t>
            </a:r>
          </a:p>
          <a:p>
            <a:pPr lvl="1"/>
            <a:r>
              <a:rPr lang="en-US" dirty="0" err="1"/>
              <a:t>Eg.</a:t>
            </a:r>
            <a:r>
              <a:rPr lang="en-US" dirty="0"/>
              <a:t> Income tax, Wealth tax</a:t>
            </a:r>
          </a:p>
          <a:p>
            <a:pPr marL="87313" lvl="1" indent="369888"/>
            <a:endParaRPr lang="en-IN" dirty="0"/>
          </a:p>
          <a:p>
            <a:pPr marL="87313" lvl="1" indent="369888"/>
            <a:r>
              <a:rPr lang="en-IN" dirty="0"/>
              <a:t>If tax is levied on the price of a good or service, then it is called an </a:t>
            </a:r>
            <a:r>
              <a:rPr lang="en-IN" b="1" dirty="0"/>
              <a:t>Indirect Tax.</a:t>
            </a:r>
          </a:p>
          <a:p>
            <a:pPr marL="487363" lvl="2" indent="369888"/>
            <a:r>
              <a:rPr lang="en-IN" dirty="0" err="1"/>
              <a:t>Eg.</a:t>
            </a:r>
            <a:r>
              <a:rPr lang="en-IN" dirty="0"/>
              <a:t> Excise duty, Custom duty, Service tax and Sales Tax or Value Added tax</a:t>
            </a:r>
          </a:p>
        </p:txBody>
      </p:sp>
    </p:spTree>
    <p:extLst>
      <p:ext uri="{BB962C8B-B14F-4D97-AF65-F5344CB8AC3E}">
        <p14:creationId xmlns:p14="http://schemas.microsoft.com/office/powerpoint/2010/main" val="415692455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00FF9-8169-68C1-47FF-556F599571D5}"/>
              </a:ext>
            </a:extLst>
          </p:cNvPr>
          <p:cNvSpPr>
            <a:spLocks noGrp="1"/>
          </p:cNvSpPr>
          <p:nvPr>
            <p:ph type="title"/>
          </p:nvPr>
        </p:nvSpPr>
        <p:spPr/>
        <p:txBody>
          <a:bodyPr/>
          <a:lstStyle/>
          <a:p>
            <a:r>
              <a:rPr lang="en-US" dirty="0"/>
              <a:t>Tax – Duty - </a:t>
            </a:r>
            <a:r>
              <a:rPr lang="en-US" dirty="0" err="1"/>
              <a:t>Cess</a:t>
            </a:r>
            <a:r>
              <a:rPr lang="en-US" dirty="0"/>
              <a:t>- Surcharge</a:t>
            </a:r>
            <a:endParaRPr lang="en-IN" dirty="0"/>
          </a:p>
        </p:txBody>
      </p:sp>
      <p:sp>
        <p:nvSpPr>
          <p:cNvPr id="3" name="Content Placeholder 2">
            <a:extLst>
              <a:ext uri="{FF2B5EF4-FFF2-40B4-BE49-F238E27FC236}">
                <a16:creationId xmlns:a16="http://schemas.microsoft.com/office/drawing/2014/main" id="{49C66C10-4D08-31CA-7B7D-29C9C66297FB}"/>
              </a:ext>
            </a:extLst>
          </p:cNvPr>
          <p:cNvSpPr>
            <a:spLocks noGrp="1"/>
          </p:cNvSpPr>
          <p:nvPr>
            <p:ph idx="1"/>
          </p:nvPr>
        </p:nvSpPr>
        <p:spPr/>
        <p:txBody>
          <a:bodyPr>
            <a:normAutofit fontScale="92500" lnSpcReduction="20000"/>
          </a:bodyPr>
          <a:lstStyle/>
          <a:p>
            <a:pPr marL="0" indent="0">
              <a:buNone/>
            </a:pPr>
            <a:r>
              <a:rPr lang="en-US" dirty="0"/>
              <a:t>Tax: is a payment made to the Government of a country without any return.</a:t>
            </a:r>
          </a:p>
          <a:p>
            <a:pPr marL="0" indent="0">
              <a:buNone/>
            </a:pPr>
            <a:endParaRPr lang="en-US" dirty="0"/>
          </a:p>
          <a:p>
            <a:pPr marL="0" indent="0">
              <a:buNone/>
            </a:pPr>
            <a:r>
              <a:rPr lang="en-US" dirty="0"/>
              <a:t>Duty: is a levy on goods</a:t>
            </a:r>
          </a:p>
          <a:p>
            <a:pPr marL="0" indent="0">
              <a:buNone/>
            </a:pPr>
            <a:endParaRPr lang="en-US" dirty="0"/>
          </a:p>
          <a:p>
            <a:pPr marL="0" indent="0">
              <a:buNone/>
            </a:pPr>
            <a:r>
              <a:rPr lang="en-US" dirty="0" err="1"/>
              <a:t>Cess</a:t>
            </a:r>
            <a:r>
              <a:rPr lang="en-US" dirty="0"/>
              <a:t>: is a tax levied for a specific purpose.</a:t>
            </a:r>
          </a:p>
          <a:p>
            <a:pPr marL="0" indent="0">
              <a:buNone/>
            </a:pPr>
            <a:endParaRPr lang="en-US" dirty="0"/>
          </a:p>
          <a:p>
            <a:pPr marL="0" indent="0">
              <a:buNone/>
            </a:pPr>
            <a:r>
              <a:rPr lang="en-US" dirty="0"/>
              <a:t>Surcharge: is an additional tax burden to those, whose income exceeds the specified limit.</a:t>
            </a:r>
          </a:p>
          <a:p>
            <a:pPr marL="0" indent="0">
              <a:buNone/>
            </a:pPr>
            <a:endParaRPr lang="en-US" dirty="0"/>
          </a:p>
          <a:p>
            <a:pPr marL="0" indent="0">
              <a:buNone/>
            </a:pPr>
            <a:r>
              <a:rPr lang="en-US" dirty="0"/>
              <a:t>Income tax: a levy on the income earned.</a:t>
            </a:r>
          </a:p>
          <a:p>
            <a:pPr marL="0" indent="0">
              <a:buNone/>
            </a:pPr>
            <a:endParaRPr lang="en-US" dirty="0"/>
          </a:p>
          <a:p>
            <a:pPr marL="0" indent="0">
              <a:buNone/>
            </a:pPr>
            <a:r>
              <a:rPr lang="en-US" dirty="0"/>
              <a:t>Levy is not a tax- it means ‘the act of charging the tax’.</a:t>
            </a:r>
            <a:endParaRPr lang="en-IN" dirty="0"/>
          </a:p>
        </p:txBody>
      </p:sp>
    </p:spTree>
    <p:extLst>
      <p:ext uri="{BB962C8B-B14F-4D97-AF65-F5344CB8AC3E}">
        <p14:creationId xmlns:p14="http://schemas.microsoft.com/office/powerpoint/2010/main" val="2031419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D9D6C7-BE7A-4A05-EB9D-7FDC6FD8CF49}"/>
              </a:ext>
            </a:extLst>
          </p:cNvPr>
          <p:cNvSpPr>
            <a:spLocks noGrp="1"/>
          </p:cNvSpPr>
          <p:nvPr>
            <p:ph type="title"/>
          </p:nvPr>
        </p:nvSpPr>
        <p:spPr/>
        <p:txBody>
          <a:bodyPr/>
          <a:lstStyle/>
          <a:p>
            <a:r>
              <a:rPr lang="en-US" dirty="0"/>
              <a:t>Duty</a:t>
            </a:r>
            <a:endParaRPr lang="en-IN" dirty="0"/>
          </a:p>
        </p:txBody>
      </p:sp>
      <p:sp>
        <p:nvSpPr>
          <p:cNvPr id="3" name="Content Placeholder 2">
            <a:extLst>
              <a:ext uri="{FF2B5EF4-FFF2-40B4-BE49-F238E27FC236}">
                <a16:creationId xmlns:a16="http://schemas.microsoft.com/office/drawing/2014/main" id="{F59CF713-38BC-95E6-3ADA-95BF2077A523}"/>
              </a:ext>
            </a:extLst>
          </p:cNvPr>
          <p:cNvSpPr>
            <a:spLocks noGrp="1"/>
          </p:cNvSpPr>
          <p:nvPr>
            <p:ph idx="1"/>
          </p:nvPr>
        </p:nvSpPr>
        <p:spPr/>
        <p:txBody>
          <a:bodyPr>
            <a:normAutofit lnSpcReduction="10000"/>
          </a:bodyPr>
          <a:lstStyle/>
          <a:p>
            <a:pPr marL="0" indent="0" algn="just">
              <a:buNone/>
            </a:pPr>
            <a:r>
              <a:rPr lang="en-US" sz="2800" dirty="0"/>
              <a:t>This is an on-border tax charged on goods (commodities or things that you can physically touch) either while coming into the country or going out of the country. Generally, a percentage of the value of the goods.</a:t>
            </a:r>
          </a:p>
          <a:p>
            <a:pPr marL="0" indent="0" algn="just">
              <a:buNone/>
            </a:pPr>
            <a:endParaRPr lang="en-US" sz="2800" dirty="0"/>
          </a:p>
          <a:p>
            <a:pPr marL="0" indent="0" algn="just">
              <a:buNone/>
            </a:pPr>
            <a:r>
              <a:rPr lang="en-US" sz="2800" dirty="0"/>
              <a:t>The duty that is levied for goods manufactured inside the country is called as excise duty.</a:t>
            </a:r>
          </a:p>
          <a:p>
            <a:pPr marL="0" indent="0" algn="just">
              <a:buNone/>
            </a:pPr>
            <a:r>
              <a:rPr lang="en-US" sz="2800" dirty="0"/>
              <a:t>Duty that is levied on goods imported from a foreign country is called as customs duty.</a:t>
            </a:r>
            <a:endParaRPr lang="en-IN" sz="2800" dirty="0"/>
          </a:p>
        </p:txBody>
      </p:sp>
    </p:spTree>
    <p:extLst>
      <p:ext uri="{BB962C8B-B14F-4D97-AF65-F5344CB8AC3E}">
        <p14:creationId xmlns:p14="http://schemas.microsoft.com/office/powerpoint/2010/main" val="151441238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1E5CE6-716E-3313-6A3C-B5F5973E5F99}"/>
              </a:ext>
            </a:extLst>
          </p:cNvPr>
          <p:cNvSpPr>
            <a:spLocks noGrp="1"/>
          </p:cNvSpPr>
          <p:nvPr>
            <p:ph type="title"/>
          </p:nvPr>
        </p:nvSpPr>
        <p:spPr/>
        <p:txBody>
          <a:bodyPr/>
          <a:lstStyle/>
          <a:p>
            <a:r>
              <a:rPr lang="en-US" dirty="0"/>
              <a:t>Duty vs Tax</a:t>
            </a:r>
            <a:endParaRPr lang="en-IN" dirty="0"/>
          </a:p>
        </p:txBody>
      </p:sp>
      <p:sp>
        <p:nvSpPr>
          <p:cNvPr id="3" name="Content Placeholder 2">
            <a:extLst>
              <a:ext uri="{FF2B5EF4-FFF2-40B4-BE49-F238E27FC236}">
                <a16:creationId xmlns:a16="http://schemas.microsoft.com/office/drawing/2014/main" id="{36BF1DA2-8859-5FB8-0FDC-D9EF3DD3A692}"/>
              </a:ext>
            </a:extLst>
          </p:cNvPr>
          <p:cNvSpPr>
            <a:spLocks noGrp="1"/>
          </p:cNvSpPr>
          <p:nvPr>
            <p:ph idx="1"/>
          </p:nvPr>
        </p:nvSpPr>
        <p:spPr/>
        <p:txBody>
          <a:bodyPr/>
          <a:lstStyle/>
          <a:p>
            <a:pPr marL="0" indent="0">
              <a:buNone/>
            </a:pPr>
            <a:r>
              <a:rPr lang="en-US" dirty="0"/>
              <a:t>Duty is a levy on goods</a:t>
            </a:r>
          </a:p>
          <a:p>
            <a:pPr marL="0" indent="0">
              <a:buNone/>
            </a:pPr>
            <a:r>
              <a:rPr lang="en-US" dirty="0"/>
              <a:t> Pay the tax first and the take the goods (prior payment).</a:t>
            </a:r>
          </a:p>
          <a:p>
            <a:pPr marL="0" indent="0">
              <a:buNone/>
            </a:pPr>
            <a:r>
              <a:rPr lang="en-US" dirty="0"/>
              <a:t>Eg: Excise duty, Custom duty.</a:t>
            </a:r>
          </a:p>
          <a:p>
            <a:pPr marL="0" indent="0">
              <a:buNone/>
            </a:pPr>
            <a:endParaRPr lang="en-US" dirty="0"/>
          </a:p>
          <a:p>
            <a:pPr marL="0" indent="0">
              <a:buNone/>
            </a:pPr>
            <a:r>
              <a:rPr lang="en-US" dirty="0"/>
              <a:t>Tax is levy on other than goods (no prior payment).</a:t>
            </a:r>
          </a:p>
          <a:p>
            <a:pPr marL="0" indent="0">
              <a:buNone/>
            </a:pPr>
            <a:r>
              <a:rPr lang="en-US" dirty="0"/>
              <a:t>Eg: Income tax, Sales tax, Service tax.</a:t>
            </a:r>
            <a:endParaRPr lang="en-IN" dirty="0"/>
          </a:p>
        </p:txBody>
      </p:sp>
    </p:spTree>
    <p:extLst>
      <p:ext uri="{BB962C8B-B14F-4D97-AF65-F5344CB8AC3E}">
        <p14:creationId xmlns:p14="http://schemas.microsoft.com/office/powerpoint/2010/main" val="38154139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849704-D9D9-483B-99EE-6484AFF25429}"/>
              </a:ext>
            </a:extLst>
          </p:cNvPr>
          <p:cNvSpPr>
            <a:spLocks noGrp="1"/>
          </p:cNvSpPr>
          <p:nvPr>
            <p:ph type="title"/>
          </p:nvPr>
        </p:nvSpPr>
        <p:spPr/>
        <p:txBody>
          <a:bodyPr/>
          <a:lstStyle/>
          <a:p>
            <a:r>
              <a:rPr lang="en-US" dirty="0"/>
              <a:t>Surcharge</a:t>
            </a:r>
            <a:endParaRPr lang="en-IN" dirty="0"/>
          </a:p>
        </p:txBody>
      </p:sp>
      <p:sp>
        <p:nvSpPr>
          <p:cNvPr id="3" name="Content Placeholder 2">
            <a:extLst>
              <a:ext uri="{FF2B5EF4-FFF2-40B4-BE49-F238E27FC236}">
                <a16:creationId xmlns:a16="http://schemas.microsoft.com/office/drawing/2014/main" id="{267AE502-2188-5A3D-DB1F-783B1A58F183}"/>
              </a:ext>
            </a:extLst>
          </p:cNvPr>
          <p:cNvSpPr>
            <a:spLocks noGrp="1"/>
          </p:cNvSpPr>
          <p:nvPr>
            <p:ph idx="1"/>
          </p:nvPr>
        </p:nvSpPr>
        <p:spPr/>
        <p:txBody>
          <a:bodyPr>
            <a:normAutofit/>
          </a:bodyPr>
          <a:lstStyle/>
          <a:p>
            <a:pPr marL="0" indent="0">
              <a:buNone/>
            </a:pPr>
            <a:r>
              <a:rPr lang="en-US" dirty="0"/>
              <a:t>This is an additional burden to the tax being already levied.</a:t>
            </a:r>
          </a:p>
          <a:p>
            <a:pPr marL="0" indent="0">
              <a:buNone/>
            </a:pPr>
            <a:endParaRPr lang="en-US" dirty="0"/>
          </a:p>
          <a:p>
            <a:pPr marL="0" indent="0">
              <a:buNone/>
            </a:pPr>
            <a:r>
              <a:rPr lang="en-US" dirty="0"/>
              <a:t>Generally, surcharge is levied for a certain period of time.</a:t>
            </a:r>
          </a:p>
          <a:p>
            <a:pPr marL="0" indent="0">
              <a:buNone/>
            </a:pPr>
            <a:endParaRPr lang="en-US" dirty="0"/>
          </a:p>
          <a:p>
            <a:pPr marL="0" indent="0">
              <a:buNone/>
            </a:pPr>
            <a:r>
              <a:rPr lang="en-US" dirty="0"/>
              <a:t>For instance, the surcharge being levied on super rich in India.</a:t>
            </a:r>
          </a:p>
          <a:p>
            <a:pPr marL="0" indent="0">
              <a:buNone/>
            </a:pPr>
            <a:r>
              <a:rPr lang="en-US" dirty="0"/>
              <a:t>At present surcharge is levied-</a:t>
            </a:r>
          </a:p>
          <a:p>
            <a:pPr marL="0" indent="0">
              <a:buNone/>
            </a:pPr>
            <a:r>
              <a:rPr lang="en-US" dirty="0"/>
              <a:t>	@10% if total income exceeds Rs 50 lakhs</a:t>
            </a:r>
          </a:p>
          <a:p>
            <a:pPr marL="0" indent="0">
              <a:buNone/>
            </a:pPr>
            <a:r>
              <a:rPr lang="en-US" dirty="0"/>
              <a:t>	@15% if total income exceeds Rs 1 Crore</a:t>
            </a:r>
          </a:p>
          <a:p>
            <a:pPr marL="0" indent="0">
              <a:buNone/>
            </a:pPr>
            <a:endParaRPr lang="en-IN" dirty="0"/>
          </a:p>
        </p:txBody>
      </p:sp>
    </p:spTree>
    <p:extLst>
      <p:ext uri="{BB962C8B-B14F-4D97-AF65-F5344CB8AC3E}">
        <p14:creationId xmlns:p14="http://schemas.microsoft.com/office/powerpoint/2010/main" val="34200038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E038E9-0878-3CD9-3271-251C3ECA7A82}"/>
              </a:ext>
            </a:extLst>
          </p:cNvPr>
          <p:cNvSpPr>
            <a:spLocks noGrp="1"/>
          </p:cNvSpPr>
          <p:nvPr>
            <p:ph type="title"/>
          </p:nvPr>
        </p:nvSpPr>
        <p:spPr/>
        <p:txBody>
          <a:bodyPr/>
          <a:lstStyle/>
          <a:p>
            <a:r>
              <a:rPr lang="en-US" dirty="0" err="1"/>
              <a:t>Cess</a:t>
            </a:r>
            <a:endParaRPr lang="en-IN" dirty="0"/>
          </a:p>
        </p:txBody>
      </p:sp>
      <p:sp>
        <p:nvSpPr>
          <p:cNvPr id="3" name="Content Placeholder 2">
            <a:extLst>
              <a:ext uri="{FF2B5EF4-FFF2-40B4-BE49-F238E27FC236}">
                <a16:creationId xmlns:a16="http://schemas.microsoft.com/office/drawing/2014/main" id="{4720D523-E121-E5C8-BF8E-E8CFAF06D8C2}"/>
              </a:ext>
            </a:extLst>
          </p:cNvPr>
          <p:cNvSpPr>
            <a:spLocks noGrp="1"/>
          </p:cNvSpPr>
          <p:nvPr>
            <p:ph idx="1"/>
          </p:nvPr>
        </p:nvSpPr>
        <p:spPr/>
        <p:txBody>
          <a:bodyPr>
            <a:normAutofit/>
          </a:bodyPr>
          <a:lstStyle/>
          <a:p>
            <a:pPr marL="0" indent="0">
              <a:buNone/>
            </a:pPr>
            <a:r>
              <a:rPr lang="en-US" dirty="0"/>
              <a:t>This is a tax on tax, levied by the Govt. for a specific purpose.</a:t>
            </a:r>
          </a:p>
          <a:p>
            <a:pPr marL="0" indent="0">
              <a:buNone/>
            </a:pPr>
            <a:endParaRPr lang="en-US" dirty="0"/>
          </a:p>
          <a:p>
            <a:pPr marL="0" indent="0">
              <a:buNone/>
            </a:pPr>
            <a:r>
              <a:rPr lang="en-US" dirty="0"/>
              <a:t>Generally, </a:t>
            </a:r>
            <a:r>
              <a:rPr lang="en-US" dirty="0" err="1"/>
              <a:t>cess</a:t>
            </a:r>
            <a:r>
              <a:rPr lang="en-US" dirty="0"/>
              <a:t> is expected to be levied till the time the Govt. gets enough money for that purpose.</a:t>
            </a:r>
          </a:p>
          <a:p>
            <a:pPr marL="0" indent="0">
              <a:buNone/>
            </a:pPr>
            <a:endParaRPr lang="en-US" dirty="0"/>
          </a:p>
          <a:p>
            <a:pPr marL="0" indent="0">
              <a:buNone/>
            </a:pPr>
            <a:r>
              <a:rPr lang="en-US" dirty="0"/>
              <a:t>The Education </a:t>
            </a:r>
            <a:r>
              <a:rPr lang="en-US" dirty="0" err="1"/>
              <a:t>cess</a:t>
            </a:r>
            <a:r>
              <a:rPr lang="en-US" dirty="0"/>
              <a:t> @3%, is levied currently, is meant to finance basic education in the country.</a:t>
            </a:r>
            <a:endParaRPr lang="en-IN" dirty="0"/>
          </a:p>
        </p:txBody>
      </p:sp>
    </p:spTree>
    <p:extLst>
      <p:ext uri="{BB962C8B-B14F-4D97-AF65-F5344CB8AC3E}">
        <p14:creationId xmlns:p14="http://schemas.microsoft.com/office/powerpoint/2010/main" val="34355881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036751-E44C-9954-0151-CA97DB77406E}"/>
              </a:ext>
            </a:extLst>
          </p:cNvPr>
          <p:cNvSpPr>
            <a:spLocks noGrp="1"/>
          </p:cNvSpPr>
          <p:nvPr>
            <p:ph type="title"/>
          </p:nvPr>
        </p:nvSpPr>
        <p:spPr/>
        <p:txBody>
          <a:bodyPr/>
          <a:lstStyle/>
          <a:p>
            <a:r>
              <a:rPr lang="en-US" dirty="0"/>
              <a:t>Why are Taxes levied?</a:t>
            </a:r>
            <a:endParaRPr lang="en-IN" dirty="0"/>
          </a:p>
        </p:txBody>
      </p:sp>
      <p:sp>
        <p:nvSpPr>
          <p:cNvPr id="3" name="Content Placeholder 2">
            <a:extLst>
              <a:ext uri="{FF2B5EF4-FFF2-40B4-BE49-F238E27FC236}">
                <a16:creationId xmlns:a16="http://schemas.microsoft.com/office/drawing/2014/main" id="{2D3C8277-5535-E3DA-C9B4-A239332FC9E0}"/>
              </a:ext>
            </a:extLst>
          </p:cNvPr>
          <p:cNvSpPr>
            <a:spLocks noGrp="1"/>
          </p:cNvSpPr>
          <p:nvPr>
            <p:ph idx="1"/>
          </p:nvPr>
        </p:nvSpPr>
        <p:spPr>
          <a:xfrm>
            <a:off x="1981200" y="1647825"/>
            <a:ext cx="8229600" cy="4478339"/>
          </a:xfrm>
        </p:spPr>
        <p:txBody>
          <a:bodyPr>
            <a:normAutofit/>
          </a:bodyPr>
          <a:lstStyle/>
          <a:p>
            <a:r>
              <a:rPr lang="en-US" sz="2800" dirty="0"/>
              <a:t>The reason for levy of taxes is that they constitute the basic source of revenue to the government.</a:t>
            </a:r>
          </a:p>
          <a:p>
            <a:endParaRPr lang="en-US" sz="2800" dirty="0"/>
          </a:p>
          <a:p>
            <a:r>
              <a:rPr lang="en-US" sz="2800" dirty="0"/>
              <a:t>Revenue so raised is utilized for meeting the expenses of government like </a:t>
            </a:r>
            <a:r>
              <a:rPr lang="en-US" sz="2800" dirty="0" err="1"/>
              <a:t>defence</a:t>
            </a:r>
            <a:r>
              <a:rPr lang="en-US" sz="2800" dirty="0"/>
              <a:t>, provision of education, health-care, infrastructure facilities like roads, dams, public lightings, drainage etc.</a:t>
            </a:r>
          </a:p>
          <a:p>
            <a:endParaRPr lang="en-US" sz="2800" dirty="0"/>
          </a:p>
          <a:p>
            <a:r>
              <a:rPr lang="en-US" sz="2800" dirty="0"/>
              <a:t>The act of levying taxes is called Taxation.</a:t>
            </a:r>
            <a:endParaRPr lang="en-IN" sz="2800" dirty="0"/>
          </a:p>
        </p:txBody>
      </p:sp>
    </p:spTree>
    <p:extLst>
      <p:ext uri="{BB962C8B-B14F-4D97-AF65-F5344CB8AC3E}">
        <p14:creationId xmlns:p14="http://schemas.microsoft.com/office/powerpoint/2010/main" val="351047010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E0CEA3-03A2-9C3A-92F4-DBADF9A37A73}"/>
              </a:ext>
            </a:extLst>
          </p:cNvPr>
          <p:cNvSpPr>
            <a:spLocks noGrp="1"/>
          </p:cNvSpPr>
          <p:nvPr>
            <p:ph type="title"/>
          </p:nvPr>
        </p:nvSpPr>
        <p:spPr/>
        <p:txBody>
          <a:bodyPr>
            <a:normAutofit/>
          </a:bodyPr>
          <a:lstStyle/>
          <a:p>
            <a:r>
              <a:rPr lang="en-US" dirty="0"/>
              <a:t>Taxation</a:t>
            </a:r>
            <a:endParaRPr lang="en-IN" dirty="0"/>
          </a:p>
        </p:txBody>
      </p:sp>
      <p:sp>
        <p:nvSpPr>
          <p:cNvPr id="3" name="Content Placeholder 2">
            <a:extLst>
              <a:ext uri="{FF2B5EF4-FFF2-40B4-BE49-F238E27FC236}">
                <a16:creationId xmlns:a16="http://schemas.microsoft.com/office/drawing/2014/main" id="{81DE3FD6-D230-171F-1FA4-8563FA5226A1}"/>
              </a:ext>
            </a:extLst>
          </p:cNvPr>
          <p:cNvSpPr>
            <a:spLocks noGrp="1"/>
          </p:cNvSpPr>
          <p:nvPr>
            <p:ph idx="1"/>
          </p:nvPr>
        </p:nvSpPr>
        <p:spPr>
          <a:xfrm>
            <a:off x="1981200" y="1600201"/>
            <a:ext cx="8229600" cy="4638675"/>
          </a:xfrm>
        </p:spPr>
        <p:txBody>
          <a:bodyPr>
            <a:noAutofit/>
          </a:bodyPr>
          <a:lstStyle/>
          <a:p>
            <a:r>
              <a:rPr lang="en-US" sz="2800" dirty="0"/>
              <a:t>The persons who are taxed have to pay the taxes irrespective of any corresponding return from the goods or services by the government.</a:t>
            </a:r>
          </a:p>
          <a:p>
            <a:endParaRPr lang="en-US" sz="2800" dirty="0"/>
          </a:p>
          <a:p>
            <a:r>
              <a:rPr lang="en-US" sz="2800" dirty="0"/>
              <a:t>The taxes may be imposed on the income and wealth of persons or corporations, and the rate of taxes may vary.</a:t>
            </a:r>
          </a:p>
          <a:p>
            <a:endParaRPr lang="en-US" sz="2800" dirty="0"/>
          </a:p>
          <a:p>
            <a:r>
              <a:rPr lang="en-US" sz="2800" dirty="0"/>
              <a:t>i.e. The categories into which we can place direct and indirect taxes are called taxation.</a:t>
            </a:r>
            <a:endParaRPr lang="en-IN" sz="2800" dirty="0"/>
          </a:p>
        </p:txBody>
      </p:sp>
    </p:spTree>
    <p:extLst>
      <p:ext uri="{BB962C8B-B14F-4D97-AF65-F5344CB8AC3E}">
        <p14:creationId xmlns:p14="http://schemas.microsoft.com/office/powerpoint/2010/main" val="190238032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Income tax</a:t>
            </a:r>
            <a:endParaRPr lang="en-IN" dirty="0"/>
          </a:p>
        </p:txBody>
      </p:sp>
      <p:sp>
        <p:nvSpPr>
          <p:cNvPr id="3" name="Content Placeholder 2"/>
          <p:cNvSpPr>
            <a:spLocks noGrp="1"/>
          </p:cNvSpPr>
          <p:nvPr>
            <p:ph idx="1"/>
          </p:nvPr>
        </p:nvSpPr>
        <p:spPr/>
        <p:txBody>
          <a:bodyPr/>
          <a:lstStyle/>
          <a:p>
            <a:pPr>
              <a:lnSpc>
                <a:spcPct val="150000"/>
              </a:lnSpc>
            </a:pPr>
            <a:r>
              <a:rPr lang="en-US" dirty="0"/>
              <a:t>Income tax is a government charge on annual income.</a:t>
            </a:r>
          </a:p>
          <a:p>
            <a:pPr>
              <a:lnSpc>
                <a:spcPct val="150000"/>
              </a:lnSpc>
            </a:pPr>
            <a:r>
              <a:rPr lang="en-US" dirty="0"/>
              <a:t>It is calculated according to defined slabs and rules.</a:t>
            </a:r>
          </a:p>
          <a:p>
            <a:pPr>
              <a:lnSpc>
                <a:spcPct val="150000"/>
              </a:lnSpc>
            </a:pPr>
            <a:r>
              <a:rPr lang="en-US" dirty="0"/>
              <a:t>Laws and procedures are governed by the Income Tax Act, 1961.</a:t>
            </a:r>
          </a:p>
          <a:p>
            <a:pPr>
              <a:lnSpc>
                <a:spcPct val="150000"/>
              </a:lnSpc>
            </a:pPr>
            <a:r>
              <a:rPr lang="en-US" dirty="0"/>
              <a:t>Taxpayers include individuals, companies, firms, Hindu Undivided Families, etc.</a:t>
            </a:r>
          </a:p>
          <a:p>
            <a:pPr>
              <a:lnSpc>
                <a:spcPct val="150000"/>
              </a:lnSpc>
            </a:pPr>
            <a:r>
              <a:rPr lang="en-US" dirty="0"/>
              <a:t>Filing a tax return each year is mandatory for those earning above a certain threshold.</a:t>
            </a:r>
          </a:p>
          <a:p>
            <a:endParaRPr lang="en-IN" dirty="0"/>
          </a:p>
        </p:txBody>
      </p:sp>
      <p:sp>
        <p:nvSpPr>
          <p:cNvPr id="4" name="Slide Number Placeholder 3"/>
          <p:cNvSpPr>
            <a:spLocks noGrp="1"/>
          </p:cNvSpPr>
          <p:nvPr>
            <p:ph type="sldNum" sz="quarter" idx="12"/>
          </p:nvPr>
        </p:nvSpPr>
        <p:spPr/>
        <p:txBody>
          <a:bodyPr/>
          <a:lstStyle/>
          <a:p>
            <a:fld id="{94013DF8-6EF8-4A98-8821-E6468C17C0C3}" type="slidenum">
              <a:rPr lang="en-IN" smtClean="0"/>
              <a:t>18</a:t>
            </a:fld>
            <a:endParaRPr lang="en-IN"/>
          </a:p>
        </p:txBody>
      </p:sp>
    </p:spTree>
    <p:extLst>
      <p:ext uri="{BB962C8B-B14F-4D97-AF65-F5344CB8AC3E}">
        <p14:creationId xmlns:p14="http://schemas.microsoft.com/office/powerpoint/2010/main" val="10459277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8113BB-9999-E875-11DA-D481552F8454}"/>
              </a:ext>
            </a:extLst>
          </p:cNvPr>
          <p:cNvSpPr>
            <a:spLocks noGrp="1"/>
          </p:cNvSpPr>
          <p:nvPr>
            <p:ph type="title"/>
          </p:nvPr>
        </p:nvSpPr>
        <p:spPr>
          <a:xfrm>
            <a:off x="646111" y="452718"/>
            <a:ext cx="9404723" cy="990599"/>
          </a:xfrm>
        </p:spPr>
        <p:txBody>
          <a:bodyPr/>
          <a:lstStyle/>
          <a:p>
            <a:r>
              <a:rPr lang="en-US" dirty="0"/>
              <a:t>Brief History of Income Tax in India</a:t>
            </a:r>
            <a:endParaRPr lang="en-IN" dirty="0"/>
          </a:p>
        </p:txBody>
      </p:sp>
      <p:sp>
        <p:nvSpPr>
          <p:cNvPr id="3" name="Content Placeholder 2">
            <a:extLst>
              <a:ext uri="{FF2B5EF4-FFF2-40B4-BE49-F238E27FC236}">
                <a16:creationId xmlns:a16="http://schemas.microsoft.com/office/drawing/2014/main" id="{7A08611E-F6DE-7EDA-9858-569A4B0B8C18}"/>
              </a:ext>
            </a:extLst>
          </p:cNvPr>
          <p:cNvSpPr>
            <a:spLocks noGrp="1"/>
          </p:cNvSpPr>
          <p:nvPr>
            <p:ph idx="1"/>
          </p:nvPr>
        </p:nvSpPr>
        <p:spPr>
          <a:xfrm>
            <a:off x="314037" y="1183575"/>
            <a:ext cx="11009744" cy="5378696"/>
          </a:xfrm>
        </p:spPr>
        <p:txBody>
          <a:bodyPr>
            <a:noAutofit/>
          </a:bodyPr>
          <a:lstStyle/>
          <a:p>
            <a:pPr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In India, this </a:t>
            </a:r>
            <a:r>
              <a:rPr lang="en-US" sz="2300" dirty="0">
                <a:solidFill>
                  <a:srgbClr val="FF0000"/>
                </a:solidFill>
                <a:latin typeface="Cambria" panose="02040503050406030204" pitchFamily="18" charset="0"/>
                <a:ea typeface="Cambria" panose="02040503050406030204" pitchFamily="18" charset="0"/>
              </a:rPr>
              <a:t>tax was introduced for the first time in 1860</a:t>
            </a:r>
            <a:r>
              <a:rPr lang="en-US" sz="2300" dirty="0">
                <a:latin typeface="Cambria" panose="02040503050406030204" pitchFamily="18" charset="0"/>
                <a:ea typeface="Cambria" panose="02040503050406030204" pitchFamily="18" charset="0"/>
              </a:rPr>
              <a:t>, by </a:t>
            </a:r>
            <a:r>
              <a:rPr lang="en-US" sz="2300" b="1" i="1" dirty="0">
                <a:latin typeface="Cambria" panose="02040503050406030204" pitchFamily="18" charset="0"/>
                <a:ea typeface="Cambria" panose="02040503050406030204" pitchFamily="18" charset="0"/>
              </a:rPr>
              <a:t>Sir James Wilson </a:t>
            </a:r>
            <a:r>
              <a:rPr lang="en-US" sz="2300" dirty="0">
                <a:latin typeface="Cambria" panose="02040503050406030204" pitchFamily="18" charset="0"/>
                <a:ea typeface="Cambria" panose="02040503050406030204" pitchFamily="18" charset="0"/>
              </a:rPr>
              <a:t>in order to meet the losses sustained by the Government on account of the Military Mutiny of 1857.</a:t>
            </a:r>
          </a:p>
          <a:p>
            <a:pPr algn="just">
              <a:buFont typeface="Wingdings" panose="05000000000000000000" pitchFamily="2" charset="2"/>
              <a:buChar char="Ø"/>
            </a:pPr>
            <a:endParaRPr lang="en-US" sz="23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In </a:t>
            </a:r>
            <a:r>
              <a:rPr lang="en-US" sz="2300" dirty="0">
                <a:solidFill>
                  <a:srgbClr val="FF0000"/>
                </a:solidFill>
                <a:latin typeface="Cambria" panose="02040503050406030204" pitchFamily="18" charset="0"/>
                <a:ea typeface="Cambria" panose="02040503050406030204" pitchFamily="18" charset="0"/>
              </a:rPr>
              <a:t>1918</a:t>
            </a:r>
            <a:r>
              <a:rPr lang="en-US" sz="2300" dirty="0">
                <a:latin typeface="Cambria" panose="02040503050406030204" pitchFamily="18" charset="0"/>
                <a:ea typeface="Cambria" panose="02040503050406030204" pitchFamily="18" charset="0"/>
              </a:rPr>
              <a:t>, a new income tax was passed and again it was replaced by another new act which was passed in </a:t>
            </a:r>
            <a:r>
              <a:rPr lang="en-US" sz="2300" dirty="0">
                <a:solidFill>
                  <a:srgbClr val="FF0000"/>
                </a:solidFill>
                <a:latin typeface="Cambria" panose="02040503050406030204" pitchFamily="18" charset="0"/>
                <a:ea typeface="Cambria" panose="02040503050406030204" pitchFamily="18" charset="0"/>
              </a:rPr>
              <a:t>1922</a:t>
            </a:r>
            <a:r>
              <a:rPr lang="en-US" sz="2300" dirty="0">
                <a:latin typeface="Cambria" panose="02040503050406030204" pitchFamily="18" charset="0"/>
                <a:ea typeface="Cambria" panose="02040503050406030204" pitchFamily="18" charset="0"/>
              </a:rPr>
              <a:t>. This Act remained in force up to the assessment year 1961-62 with numerous amendments.</a:t>
            </a:r>
          </a:p>
          <a:p>
            <a:pPr algn="just">
              <a:buFont typeface="Wingdings" panose="05000000000000000000" pitchFamily="2" charset="2"/>
              <a:buChar char="Ø"/>
            </a:pPr>
            <a:endParaRPr lang="en-US" sz="23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In consultation with the Ministry of Law, finally the </a:t>
            </a:r>
            <a:r>
              <a:rPr lang="en-US" sz="2300" dirty="0">
                <a:solidFill>
                  <a:srgbClr val="FF0000"/>
                </a:solidFill>
                <a:latin typeface="Cambria" panose="02040503050406030204" pitchFamily="18" charset="0"/>
                <a:ea typeface="Cambria" panose="02040503050406030204" pitchFamily="18" charset="0"/>
              </a:rPr>
              <a:t>Income Tax Act, 1961 </a:t>
            </a:r>
            <a:r>
              <a:rPr lang="en-US" sz="2300" dirty="0">
                <a:latin typeface="Cambria" panose="02040503050406030204" pitchFamily="18" charset="0"/>
                <a:ea typeface="Cambria" panose="02040503050406030204" pitchFamily="18" charset="0"/>
              </a:rPr>
              <a:t>was passed. The Income Tax Act 1961 has been brought into force with 1 April 1962.</a:t>
            </a:r>
          </a:p>
          <a:p>
            <a:pPr algn="just">
              <a:buFont typeface="Wingdings" panose="05000000000000000000" pitchFamily="2" charset="2"/>
              <a:buChar char="Ø"/>
            </a:pPr>
            <a:endParaRPr lang="en-US" sz="2300" dirty="0">
              <a:latin typeface="Cambria" panose="02040503050406030204" pitchFamily="18" charset="0"/>
              <a:ea typeface="Cambria" panose="02040503050406030204" pitchFamily="18" charset="0"/>
            </a:endParaRPr>
          </a:p>
          <a:p>
            <a:pPr algn="just">
              <a:buFont typeface="Wingdings" panose="05000000000000000000" pitchFamily="2" charset="2"/>
              <a:buChar char="Ø"/>
            </a:pPr>
            <a:r>
              <a:rPr lang="en-US" sz="2300" dirty="0">
                <a:latin typeface="Cambria" panose="02040503050406030204" pitchFamily="18" charset="0"/>
                <a:ea typeface="Cambria" panose="02040503050406030204" pitchFamily="18" charset="0"/>
              </a:rPr>
              <a:t>Since 1962 several amendments of far-reaching nature have been made in the Income Tax Act by the Union Budget every year.</a:t>
            </a:r>
            <a:endParaRPr lang="en-IN" sz="2300"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581AC8AF-BB47-E0B4-C05D-BD4897838300}"/>
              </a:ext>
            </a:extLst>
          </p:cNvPr>
          <p:cNvSpPr>
            <a:spLocks noGrp="1"/>
          </p:cNvSpPr>
          <p:nvPr>
            <p:ph type="sldNum" sz="quarter" idx="12"/>
          </p:nvPr>
        </p:nvSpPr>
        <p:spPr/>
        <p:txBody>
          <a:bodyPr/>
          <a:lstStyle/>
          <a:p>
            <a:fld id="{94013DF8-6EF8-4A98-8821-E6468C17C0C3}" type="slidenum">
              <a:rPr lang="en-IN" smtClean="0"/>
              <a:t>19</a:t>
            </a:fld>
            <a:endParaRPr lang="en-IN"/>
          </a:p>
        </p:txBody>
      </p:sp>
    </p:spTree>
    <p:extLst>
      <p:ext uri="{BB962C8B-B14F-4D97-AF65-F5344CB8AC3E}">
        <p14:creationId xmlns:p14="http://schemas.microsoft.com/office/powerpoint/2010/main" val="14734137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The Income Tax Act, 1961</a:t>
            </a:r>
            <a:endParaRPr lang="en-IN" dirty="0"/>
          </a:p>
        </p:txBody>
      </p:sp>
      <p:sp>
        <p:nvSpPr>
          <p:cNvPr id="3" name="Content Placeholder 2"/>
          <p:cNvSpPr>
            <a:spLocks noGrp="1"/>
          </p:cNvSpPr>
          <p:nvPr>
            <p:ph idx="1"/>
          </p:nvPr>
        </p:nvSpPr>
        <p:spPr>
          <a:xfrm>
            <a:off x="447676" y="1567143"/>
            <a:ext cx="11201400" cy="4195481"/>
          </a:xfrm>
        </p:spPr>
        <p:txBody>
          <a:bodyPr>
            <a:noAutofit/>
          </a:bodyPr>
          <a:lstStyle/>
          <a:p>
            <a:r>
              <a:rPr lang="en-US" sz="2400" dirty="0"/>
              <a:t>Principal law for income tax in India, effective from 1 April 1962.</a:t>
            </a:r>
          </a:p>
          <a:p>
            <a:r>
              <a:rPr lang="en-US" sz="2400" dirty="0"/>
              <a:t>Applies to all persons earning income in India—residents, non-residents, individuals, companies, and others.</a:t>
            </a:r>
          </a:p>
          <a:p>
            <a:r>
              <a:rPr lang="en-US" sz="2400" dirty="0"/>
              <a:t>Purpose: Levy, collection, administration, and recovery of income tax; supports economic development, price stability, and wealth equality.</a:t>
            </a:r>
          </a:p>
          <a:p>
            <a:r>
              <a:rPr lang="en-US" sz="2400" dirty="0"/>
              <a:t>Key Provisions:</a:t>
            </a:r>
          </a:p>
          <a:p>
            <a:pPr lvl="1"/>
            <a:r>
              <a:rPr lang="en-US" sz="2000" dirty="0"/>
              <a:t>Defines tax rates (slabs), taxable income, and types of income (salary, property, business, capital gains, others).</a:t>
            </a:r>
          </a:p>
          <a:p>
            <a:pPr lvl="1"/>
            <a:r>
              <a:rPr lang="en-US" sz="2000" dirty="0"/>
              <a:t>Allows deductions (e.g., 80C, 80D), exemptions, and rebates.</a:t>
            </a:r>
          </a:p>
          <a:p>
            <a:pPr lvl="1"/>
            <a:r>
              <a:rPr lang="en-US" sz="2000" dirty="0"/>
              <a:t>Mandates procedures for assessment, TDS, audits, appeals, penalties.</a:t>
            </a:r>
          </a:p>
          <a:p>
            <a:pPr lvl="1"/>
            <a:r>
              <a:rPr lang="en-US" sz="2000" dirty="0"/>
              <a:t>298 sections and 23 chapters, amended annually.</a:t>
            </a:r>
          </a:p>
          <a:p>
            <a:endParaRPr lang="en-IN" sz="2400" dirty="0"/>
          </a:p>
        </p:txBody>
      </p:sp>
      <p:sp>
        <p:nvSpPr>
          <p:cNvPr id="4" name="Slide Number Placeholder 3"/>
          <p:cNvSpPr>
            <a:spLocks noGrp="1"/>
          </p:cNvSpPr>
          <p:nvPr>
            <p:ph type="sldNum" sz="quarter" idx="12"/>
          </p:nvPr>
        </p:nvSpPr>
        <p:spPr/>
        <p:txBody>
          <a:bodyPr/>
          <a:lstStyle/>
          <a:p>
            <a:fld id="{94013DF8-6EF8-4A98-8821-E6468C17C0C3}" type="slidenum">
              <a:rPr lang="en-IN" smtClean="0"/>
              <a:t>20</a:t>
            </a:fld>
            <a:endParaRPr lang="en-IN"/>
          </a:p>
        </p:txBody>
      </p:sp>
    </p:spTree>
    <p:extLst>
      <p:ext uri="{BB962C8B-B14F-4D97-AF65-F5344CB8AC3E}">
        <p14:creationId xmlns:p14="http://schemas.microsoft.com/office/powerpoint/2010/main" val="281650634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Income Tax Bill, 2025</a:t>
            </a:r>
          </a:p>
        </p:txBody>
      </p:sp>
      <p:sp>
        <p:nvSpPr>
          <p:cNvPr id="3" name="Content Placeholder 2"/>
          <p:cNvSpPr>
            <a:spLocks noGrp="1"/>
          </p:cNvSpPr>
          <p:nvPr>
            <p:ph idx="1"/>
          </p:nvPr>
        </p:nvSpPr>
        <p:spPr>
          <a:xfrm>
            <a:off x="287547" y="1558167"/>
            <a:ext cx="11625532" cy="1311384"/>
          </a:xfrm>
        </p:spPr>
        <p:txBody>
          <a:bodyPr/>
          <a:lstStyle/>
          <a:p>
            <a:r>
              <a:rPr lang="en-US" dirty="0"/>
              <a:t>Replacement of IT Act, 1961: Seeks to supplant the decades-old law with a simpler, more transparent, and accessible statute.</a:t>
            </a:r>
          </a:p>
          <a:p>
            <a:r>
              <a:rPr lang="en-US" dirty="0"/>
              <a:t>Effective Date: Proposed to come into force from 1 April 2026</a:t>
            </a:r>
          </a:p>
        </p:txBody>
      </p:sp>
      <p:sp>
        <p:nvSpPr>
          <p:cNvPr id="4" name="Slide Number Placeholder 3"/>
          <p:cNvSpPr>
            <a:spLocks noGrp="1"/>
          </p:cNvSpPr>
          <p:nvPr>
            <p:ph type="sldNum" sz="quarter" idx="12"/>
          </p:nvPr>
        </p:nvSpPr>
        <p:spPr/>
        <p:txBody>
          <a:bodyPr/>
          <a:lstStyle/>
          <a:p>
            <a:fld id="{94013DF8-6EF8-4A98-8821-E6468C17C0C3}" type="slidenum">
              <a:rPr lang="en-IN" smtClean="0"/>
              <a:t>21</a:t>
            </a:fld>
            <a:endParaRPr lang="en-IN"/>
          </a:p>
        </p:txBody>
      </p:sp>
      <p:sp>
        <p:nvSpPr>
          <p:cNvPr id="5" name="Rectangle 4"/>
          <p:cNvSpPr/>
          <p:nvPr/>
        </p:nvSpPr>
        <p:spPr>
          <a:xfrm>
            <a:off x="287547" y="3096884"/>
            <a:ext cx="11720423" cy="4914166"/>
          </a:xfrm>
          <a:prstGeom prst="rect">
            <a:avLst/>
          </a:prstGeom>
        </p:spPr>
        <p:txBody>
          <a:bodyPr vert="horz" lIns="91440" tIns="45720" rIns="91440" bIns="45720" rtlCol="0">
            <a:normAutofit/>
          </a:bodyPr>
          <a:lstStyle/>
          <a:p>
            <a:pPr>
              <a:spcBef>
                <a:spcPts val="1000"/>
              </a:spcBef>
              <a:buClr>
                <a:schemeClr val="bg2">
                  <a:lumMod val="40000"/>
                  <a:lumOff val="60000"/>
                </a:schemeClr>
              </a:buClr>
              <a:buSzPct val="80000"/>
            </a:pPr>
            <a:r>
              <a:rPr lang="en-US" sz="2000" b="1" dirty="0">
                <a:latin typeface="+mj-lt"/>
                <a:ea typeface="+mj-ea"/>
                <a:cs typeface="+mj-cs"/>
              </a:rPr>
              <a:t>Key Objectives</a:t>
            </a:r>
          </a:p>
          <a:p>
            <a:pPr marL="342900" indent="-342900">
              <a:spcBef>
                <a:spcPts val="1000"/>
              </a:spcBef>
              <a:buClr>
                <a:schemeClr val="bg2">
                  <a:lumMod val="40000"/>
                  <a:lumOff val="60000"/>
                </a:schemeClr>
              </a:buClr>
              <a:buSzPct val="80000"/>
              <a:buFont typeface="Wingdings 3" charset="2"/>
              <a:buChar char=""/>
            </a:pPr>
            <a:r>
              <a:rPr lang="en-US" sz="2000" dirty="0">
                <a:latin typeface="+mj-lt"/>
                <a:ea typeface="+mj-ea"/>
                <a:cs typeface="+mj-cs"/>
              </a:rPr>
              <a:t>Simplification: Aims to use clearer language and restructure lengthy or redundant sections, making the law easier to read and comply with.</a:t>
            </a:r>
          </a:p>
          <a:p>
            <a:pPr marL="342900" indent="-342900">
              <a:spcBef>
                <a:spcPts val="1000"/>
              </a:spcBef>
              <a:buClr>
                <a:schemeClr val="bg2">
                  <a:lumMod val="40000"/>
                  <a:lumOff val="60000"/>
                </a:schemeClr>
              </a:buClr>
              <a:buSzPct val="80000"/>
              <a:buFont typeface="Wingdings 3" charset="2"/>
              <a:buChar char=""/>
            </a:pPr>
            <a:r>
              <a:rPr lang="en-US" sz="2000" dirty="0">
                <a:latin typeface="+mj-lt"/>
                <a:ea typeface="+mj-ea"/>
                <a:cs typeface="+mj-cs"/>
              </a:rPr>
              <a:t>Modernization: Replaces “Assessment Year” with the concept of a “Tax Year”, aligning directly with the period in which income is earned.</a:t>
            </a:r>
          </a:p>
          <a:p>
            <a:pPr marL="342900" indent="-342900">
              <a:spcBef>
                <a:spcPts val="1000"/>
              </a:spcBef>
              <a:buClr>
                <a:schemeClr val="bg2">
                  <a:lumMod val="40000"/>
                  <a:lumOff val="60000"/>
                </a:schemeClr>
              </a:buClr>
              <a:buSzPct val="80000"/>
              <a:buFont typeface="Wingdings 3" charset="2"/>
              <a:buChar char=""/>
            </a:pPr>
            <a:r>
              <a:rPr lang="en-US" sz="2000" dirty="0">
                <a:latin typeface="+mj-lt"/>
                <a:ea typeface="+mj-ea"/>
                <a:cs typeface="+mj-cs"/>
              </a:rPr>
              <a:t>Digital Governance: Retains and strengthens schemes for faceless assessment and digital processing, increasing efficiency and minimizing direct interaction between taxpayers and officials</a:t>
            </a:r>
            <a:r>
              <a:rPr lang="en-US" sz="2000" dirty="0">
                <a:latin typeface="+mj-lt"/>
                <a:ea typeface="+mj-ea"/>
                <a:cs typeface="+mj-cs"/>
                <a:hlinkClick r:id="rId2"/>
              </a:rPr>
              <a:t>1</a:t>
            </a:r>
            <a:r>
              <a:rPr lang="en-US" sz="2000" dirty="0">
                <a:latin typeface="+mj-lt"/>
                <a:ea typeface="+mj-ea"/>
                <a:cs typeface="+mj-cs"/>
                <a:hlinkClick r:id="rId3"/>
              </a:rPr>
              <a:t>3</a:t>
            </a:r>
            <a:r>
              <a:rPr lang="en-US" sz="2000" dirty="0">
                <a:latin typeface="+mj-lt"/>
                <a:ea typeface="+mj-ea"/>
                <a:cs typeface="+mj-cs"/>
              </a:rPr>
              <a:t>.</a:t>
            </a:r>
          </a:p>
          <a:p>
            <a:pPr marL="342900" indent="-342900">
              <a:spcBef>
                <a:spcPts val="1000"/>
              </a:spcBef>
              <a:buClr>
                <a:schemeClr val="bg2">
                  <a:lumMod val="40000"/>
                  <a:lumOff val="60000"/>
                </a:schemeClr>
              </a:buClr>
              <a:buSzPct val="80000"/>
              <a:buFont typeface="Wingdings 3" charset="2"/>
              <a:buChar char=""/>
            </a:pPr>
            <a:r>
              <a:rPr lang="en-US" sz="2000" dirty="0">
                <a:latin typeface="+mj-lt"/>
                <a:ea typeface="+mj-ea"/>
                <a:cs typeface="+mj-cs"/>
              </a:rPr>
              <a:t>Transparency: Consolidates similar provisions and presents data in tabular formats, making compliance and interpretation more user-friendly.</a:t>
            </a:r>
          </a:p>
        </p:txBody>
      </p:sp>
    </p:spTree>
    <p:extLst>
      <p:ext uri="{BB962C8B-B14F-4D97-AF65-F5344CB8AC3E}">
        <p14:creationId xmlns:p14="http://schemas.microsoft.com/office/powerpoint/2010/main" val="18478751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Income Tax Bill, 2025</a:t>
            </a:r>
          </a:p>
        </p:txBody>
      </p:sp>
      <p:sp>
        <p:nvSpPr>
          <p:cNvPr id="3" name="Content Placeholder 2"/>
          <p:cNvSpPr>
            <a:spLocks noGrp="1"/>
          </p:cNvSpPr>
          <p:nvPr>
            <p:ph idx="1"/>
          </p:nvPr>
        </p:nvSpPr>
        <p:spPr>
          <a:xfrm>
            <a:off x="404036" y="1853248"/>
            <a:ext cx="11663917" cy="4395151"/>
          </a:xfrm>
        </p:spPr>
        <p:txBody>
          <a:bodyPr>
            <a:normAutofit/>
          </a:bodyPr>
          <a:lstStyle/>
          <a:p>
            <a:r>
              <a:rPr lang="en-US" dirty="0"/>
              <a:t>Why Change Was Needed</a:t>
            </a:r>
          </a:p>
          <a:p>
            <a:pPr lvl="1"/>
            <a:r>
              <a:rPr lang="en-US" dirty="0"/>
              <a:t>The 1961 Act had become unwieldy, with over 300 amendments, multiple explanations, and lengthy legalese. The new Bill aims to streamline tax law for a growing, digital-first economy</a:t>
            </a:r>
          </a:p>
          <a:p>
            <a:r>
              <a:rPr lang="en-US" dirty="0"/>
              <a:t>What’s New or Different</a:t>
            </a:r>
          </a:p>
          <a:p>
            <a:pPr lvl="1"/>
            <a:r>
              <a:rPr lang="en-US" i="1" dirty="0"/>
              <a:t>Tax Year</a:t>
            </a:r>
            <a:r>
              <a:rPr lang="en-US" dirty="0"/>
              <a:t> replaces “Financial Year” and “Assessment Year.”</a:t>
            </a:r>
          </a:p>
          <a:p>
            <a:pPr lvl="1"/>
            <a:r>
              <a:rPr lang="en-US" dirty="0"/>
              <a:t>Simplified legal language, more compact framework.</a:t>
            </a:r>
          </a:p>
          <a:p>
            <a:pPr lvl="1"/>
            <a:r>
              <a:rPr lang="en-US" dirty="0"/>
              <a:t>Digitally optimized administration and broadening of certain definitions (notably around digital assets).</a:t>
            </a:r>
          </a:p>
          <a:p>
            <a:pPr lvl="1"/>
            <a:r>
              <a:rPr lang="en-US" dirty="0"/>
              <a:t>Enhanced focus on taxpayer services and reducing administrative ambiguity.</a:t>
            </a:r>
          </a:p>
          <a:p>
            <a:r>
              <a:rPr lang="en-US" dirty="0"/>
              <a:t>Status as of August 2025</a:t>
            </a:r>
          </a:p>
          <a:p>
            <a:pPr lvl="1"/>
            <a:r>
              <a:rPr lang="en-US" dirty="0"/>
              <a:t>Passed by </a:t>
            </a:r>
            <a:r>
              <a:rPr lang="en-US" dirty="0" err="1"/>
              <a:t>Lok</a:t>
            </a:r>
            <a:r>
              <a:rPr lang="en-US" dirty="0"/>
              <a:t> Sabha Select Committee and pending final approval. </a:t>
            </a:r>
          </a:p>
          <a:p>
            <a:pPr lvl="1"/>
            <a:r>
              <a:rPr lang="en-US" dirty="0"/>
              <a:t>Expected to be officially enacted for the tax year beginning April 2026</a:t>
            </a:r>
          </a:p>
          <a:p>
            <a:endParaRPr lang="en-IN" dirty="0"/>
          </a:p>
        </p:txBody>
      </p:sp>
      <p:sp>
        <p:nvSpPr>
          <p:cNvPr id="4" name="Slide Number Placeholder 3"/>
          <p:cNvSpPr>
            <a:spLocks noGrp="1"/>
          </p:cNvSpPr>
          <p:nvPr>
            <p:ph type="sldNum" sz="quarter" idx="12"/>
          </p:nvPr>
        </p:nvSpPr>
        <p:spPr/>
        <p:txBody>
          <a:bodyPr/>
          <a:lstStyle/>
          <a:p>
            <a:fld id="{94013DF8-6EF8-4A98-8821-E6468C17C0C3}" type="slidenum">
              <a:rPr lang="en-IN" smtClean="0"/>
              <a:t>22</a:t>
            </a:fld>
            <a:endParaRPr lang="en-IN"/>
          </a:p>
        </p:txBody>
      </p:sp>
    </p:spTree>
    <p:extLst>
      <p:ext uri="{BB962C8B-B14F-4D97-AF65-F5344CB8AC3E}">
        <p14:creationId xmlns:p14="http://schemas.microsoft.com/office/powerpoint/2010/main" val="28560920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9EE22A82-7298-694E-7F87-23BF7D4E2312}"/>
              </a:ext>
            </a:extLst>
          </p:cNvPr>
          <p:cNvPicPr>
            <a:picLocks noGrp="1" noChangeAspect="1"/>
          </p:cNvPicPr>
          <p:nvPr>
            <p:ph idx="1"/>
          </p:nvPr>
        </p:nvPicPr>
        <p:blipFill>
          <a:blip r:embed="rId2"/>
          <a:stretch>
            <a:fillRect/>
          </a:stretch>
        </p:blipFill>
        <p:spPr>
          <a:xfrm>
            <a:off x="2390775" y="581026"/>
            <a:ext cx="7524750" cy="5545138"/>
          </a:xfrm>
          <a:prstGeom prst="rect">
            <a:avLst/>
          </a:prstGeom>
        </p:spPr>
      </p:pic>
    </p:spTree>
    <p:extLst>
      <p:ext uri="{BB962C8B-B14F-4D97-AF65-F5344CB8AC3E}">
        <p14:creationId xmlns:p14="http://schemas.microsoft.com/office/powerpoint/2010/main" val="7906573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2BE5A0-E1E6-5932-354E-F3CDFE1F678A}"/>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84AE499-9CA5-0C85-FE00-FF22BACD8CA2}"/>
              </a:ext>
            </a:extLst>
          </p:cNvPr>
          <p:cNvSpPr>
            <a:spLocks noGrp="1"/>
          </p:cNvSpPr>
          <p:nvPr>
            <p:ph idx="1"/>
          </p:nvPr>
        </p:nvSpPr>
        <p:spPr/>
        <p:txBody>
          <a:bodyPr/>
          <a:lstStyle/>
          <a:p>
            <a:endParaRPr lang="en-IN"/>
          </a:p>
        </p:txBody>
      </p:sp>
      <p:pic>
        <p:nvPicPr>
          <p:cNvPr id="4" name="Picture 3">
            <a:extLst>
              <a:ext uri="{FF2B5EF4-FFF2-40B4-BE49-F238E27FC236}">
                <a16:creationId xmlns:a16="http://schemas.microsoft.com/office/drawing/2014/main" id="{7F8A7A15-1CB3-76C1-DB1B-1F2626B14E53}"/>
              </a:ext>
            </a:extLst>
          </p:cNvPr>
          <p:cNvPicPr>
            <a:picLocks noChangeAspect="1"/>
          </p:cNvPicPr>
          <p:nvPr/>
        </p:nvPicPr>
        <p:blipFill>
          <a:blip r:embed="rId2"/>
          <a:stretch>
            <a:fillRect/>
          </a:stretch>
        </p:blipFill>
        <p:spPr>
          <a:xfrm>
            <a:off x="1524000" y="0"/>
            <a:ext cx="9144000" cy="6858000"/>
          </a:xfrm>
          <a:prstGeom prst="rect">
            <a:avLst/>
          </a:prstGeom>
        </p:spPr>
      </p:pic>
    </p:spTree>
    <p:extLst>
      <p:ext uri="{BB962C8B-B14F-4D97-AF65-F5344CB8AC3E}">
        <p14:creationId xmlns:p14="http://schemas.microsoft.com/office/powerpoint/2010/main" val="79676181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735D74-3373-3A70-06F1-75990BC4380A}"/>
              </a:ext>
            </a:extLst>
          </p:cNvPr>
          <p:cNvSpPr>
            <a:spLocks noGrp="1"/>
          </p:cNvSpPr>
          <p:nvPr>
            <p:ph type="title"/>
          </p:nvPr>
        </p:nvSpPr>
        <p:spPr>
          <a:xfrm>
            <a:off x="1981200" y="274639"/>
            <a:ext cx="8229600" cy="457199"/>
          </a:xfrm>
        </p:spPr>
        <p:txBody>
          <a:bodyPr>
            <a:normAutofit fontScale="90000"/>
          </a:bodyPr>
          <a:lstStyle/>
          <a:p>
            <a:r>
              <a:rPr lang="en-US" dirty="0"/>
              <a:t>Digressive Taxation</a:t>
            </a:r>
            <a:endParaRPr lang="en-IN" dirty="0"/>
          </a:p>
        </p:txBody>
      </p:sp>
      <p:sp>
        <p:nvSpPr>
          <p:cNvPr id="3" name="Content Placeholder 2">
            <a:extLst>
              <a:ext uri="{FF2B5EF4-FFF2-40B4-BE49-F238E27FC236}">
                <a16:creationId xmlns:a16="http://schemas.microsoft.com/office/drawing/2014/main" id="{5008C88C-C69F-0844-C112-DE61F0433987}"/>
              </a:ext>
            </a:extLst>
          </p:cNvPr>
          <p:cNvSpPr>
            <a:spLocks noGrp="1"/>
          </p:cNvSpPr>
          <p:nvPr>
            <p:ph idx="1"/>
          </p:nvPr>
        </p:nvSpPr>
        <p:spPr>
          <a:xfrm>
            <a:off x="1981200" y="933450"/>
            <a:ext cx="8229600" cy="5649912"/>
          </a:xfrm>
        </p:spPr>
        <p:txBody>
          <a:bodyPr>
            <a:noAutofit/>
          </a:bodyPr>
          <a:lstStyle/>
          <a:p>
            <a:r>
              <a:rPr lang="en-US" sz="2800" dirty="0"/>
              <a:t>A tax is called digressive when the rate of progression in taxation does not increase in the same proportion as the increase in income.</a:t>
            </a:r>
          </a:p>
          <a:p>
            <a:endParaRPr lang="en-US" sz="2800" dirty="0"/>
          </a:p>
          <a:p>
            <a:r>
              <a:rPr lang="en-US" sz="2800" dirty="0"/>
              <a:t>In this case, the rate of tax increases </a:t>
            </a:r>
            <a:r>
              <a:rPr lang="en-US" sz="2800" dirty="0" err="1"/>
              <a:t>upto</a:t>
            </a:r>
            <a:r>
              <a:rPr lang="en-US" sz="2800" dirty="0"/>
              <a:t> a certain limit, after that a uniform rate is charged.</a:t>
            </a:r>
          </a:p>
          <a:p>
            <a:endParaRPr lang="en-US" sz="2800" dirty="0"/>
          </a:p>
          <a:p>
            <a:r>
              <a:rPr lang="en-US" sz="2800" dirty="0"/>
              <a:t>Digressive tax is a combination of progressive and proportional taxation.</a:t>
            </a:r>
          </a:p>
          <a:p>
            <a:endParaRPr lang="en-US" sz="2800" dirty="0"/>
          </a:p>
          <a:p>
            <a:r>
              <a:rPr lang="en-US" sz="2800" dirty="0"/>
              <a:t>This type of taxation is often used in case of income tax. This is the case of income tax in India.</a:t>
            </a:r>
            <a:endParaRPr lang="en-IN" sz="2800" dirty="0"/>
          </a:p>
        </p:txBody>
      </p:sp>
    </p:spTree>
    <p:extLst>
      <p:ext uri="{BB962C8B-B14F-4D97-AF65-F5344CB8AC3E}">
        <p14:creationId xmlns:p14="http://schemas.microsoft.com/office/powerpoint/2010/main" val="29783891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22CF8E-4BFE-4481-FF4A-FAF4C006A686}"/>
              </a:ext>
            </a:extLst>
          </p:cNvPr>
          <p:cNvSpPr>
            <a:spLocks noGrp="1"/>
          </p:cNvSpPr>
          <p:nvPr>
            <p:ph type="title"/>
          </p:nvPr>
        </p:nvSpPr>
        <p:spPr/>
        <p:txBody>
          <a:bodyPr>
            <a:normAutofit/>
          </a:bodyPr>
          <a:lstStyle/>
          <a:p>
            <a:r>
              <a:rPr lang="en-US" dirty="0"/>
              <a:t>Some of the important definitions contained in the Act are of:</a:t>
            </a:r>
            <a:endParaRPr lang="en-IN" dirty="0"/>
          </a:p>
        </p:txBody>
      </p:sp>
      <p:sp>
        <p:nvSpPr>
          <p:cNvPr id="3" name="Content Placeholder 2">
            <a:extLst>
              <a:ext uri="{FF2B5EF4-FFF2-40B4-BE49-F238E27FC236}">
                <a16:creationId xmlns:a16="http://schemas.microsoft.com/office/drawing/2014/main" id="{50932BD6-B13A-3A19-0181-B96D3AB73048}"/>
              </a:ext>
            </a:extLst>
          </p:cNvPr>
          <p:cNvSpPr>
            <a:spLocks noGrp="1"/>
          </p:cNvSpPr>
          <p:nvPr>
            <p:ph idx="1"/>
          </p:nvPr>
        </p:nvSpPr>
        <p:spPr/>
        <p:txBody>
          <a:bodyPr/>
          <a:lstStyle/>
          <a:p>
            <a:r>
              <a:rPr lang="en-US" dirty="0"/>
              <a:t>Person</a:t>
            </a:r>
          </a:p>
          <a:p>
            <a:r>
              <a:rPr lang="en-US" dirty="0" err="1"/>
              <a:t>Assessee</a:t>
            </a:r>
            <a:endParaRPr lang="en-US" dirty="0"/>
          </a:p>
          <a:p>
            <a:r>
              <a:rPr lang="en-US" dirty="0"/>
              <a:t>Assessment Year</a:t>
            </a:r>
          </a:p>
          <a:p>
            <a:r>
              <a:rPr lang="en-US" dirty="0"/>
              <a:t>Previous Year</a:t>
            </a:r>
          </a:p>
          <a:p>
            <a:r>
              <a:rPr lang="en-US" dirty="0"/>
              <a:t>Assessment</a:t>
            </a:r>
          </a:p>
          <a:p>
            <a:r>
              <a:rPr lang="en-US" dirty="0"/>
              <a:t>Income</a:t>
            </a:r>
          </a:p>
          <a:p>
            <a:r>
              <a:rPr lang="en-US" dirty="0"/>
              <a:t>Dividend </a:t>
            </a:r>
            <a:endParaRPr lang="en-IN" dirty="0"/>
          </a:p>
        </p:txBody>
      </p:sp>
    </p:spTree>
    <p:extLst>
      <p:ext uri="{BB962C8B-B14F-4D97-AF65-F5344CB8AC3E}">
        <p14:creationId xmlns:p14="http://schemas.microsoft.com/office/powerpoint/2010/main" val="39093962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8050A0-4641-07EF-524D-606945A7F2B7}"/>
              </a:ext>
            </a:extLst>
          </p:cNvPr>
          <p:cNvSpPr>
            <a:spLocks noGrp="1"/>
          </p:cNvSpPr>
          <p:nvPr>
            <p:ph type="title"/>
          </p:nvPr>
        </p:nvSpPr>
        <p:spPr/>
        <p:txBody>
          <a:bodyPr/>
          <a:lstStyle/>
          <a:p>
            <a:r>
              <a:rPr lang="en-US" dirty="0"/>
              <a:t>Important Terms</a:t>
            </a:r>
            <a:endParaRPr lang="en-IN" dirty="0"/>
          </a:p>
        </p:txBody>
      </p:sp>
      <p:sp>
        <p:nvSpPr>
          <p:cNvPr id="3" name="Content Placeholder 2">
            <a:extLst>
              <a:ext uri="{FF2B5EF4-FFF2-40B4-BE49-F238E27FC236}">
                <a16:creationId xmlns:a16="http://schemas.microsoft.com/office/drawing/2014/main" id="{23D0FDC3-6320-5D2C-4635-284E322912C9}"/>
              </a:ext>
            </a:extLst>
          </p:cNvPr>
          <p:cNvSpPr>
            <a:spLocks noGrp="1"/>
          </p:cNvSpPr>
          <p:nvPr>
            <p:ph idx="1"/>
          </p:nvPr>
        </p:nvSpPr>
        <p:spPr/>
        <p:txBody>
          <a:bodyPr>
            <a:normAutofit/>
          </a:bodyPr>
          <a:lstStyle/>
          <a:p>
            <a:r>
              <a:rPr lang="en-US" dirty="0"/>
              <a:t>Income</a:t>
            </a:r>
          </a:p>
          <a:p>
            <a:r>
              <a:rPr lang="en-US" dirty="0" err="1"/>
              <a:t>Assessee</a:t>
            </a:r>
            <a:endParaRPr lang="en-US" dirty="0"/>
          </a:p>
          <a:p>
            <a:r>
              <a:rPr lang="en-US" dirty="0"/>
              <a:t>Assessment Year</a:t>
            </a:r>
          </a:p>
          <a:p>
            <a:r>
              <a:rPr lang="en-US" dirty="0"/>
              <a:t>Previous Year</a:t>
            </a:r>
          </a:p>
          <a:p>
            <a:r>
              <a:rPr lang="en-US" dirty="0"/>
              <a:t>Residential Status</a:t>
            </a:r>
          </a:p>
          <a:p>
            <a:r>
              <a:rPr lang="en-US" dirty="0"/>
              <a:t>Gross Total Income</a:t>
            </a:r>
          </a:p>
          <a:p>
            <a:r>
              <a:rPr lang="en-US" dirty="0"/>
              <a:t>Deductions</a:t>
            </a:r>
          </a:p>
          <a:p>
            <a:r>
              <a:rPr lang="en-US" dirty="0"/>
              <a:t>Total Income </a:t>
            </a:r>
            <a:endParaRPr lang="en-IN" dirty="0"/>
          </a:p>
        </p:txBody>
      </p:sp>
    </p:spTree>
    <p:extLst>
      <p:ext uri="{BB962C8B-B14F-4D97-AF65-F5344CB8AC3E}">
        <p14:creationId xmlns:p14="http://schemas.microsoft.com/office/powerpoint/2010/main" val="281578515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61F56-C64F-4532-A142-8575DE87EA43}"/>
              </a:ext>
            </a:extLst>
          </p:cNvPr>
          <p:cNvSpPr>
            <a:spLocks noGrp="1"/>
          </p:cNvSpPr>
          <p:nvPr>
            <p:ph type="title"/>
          </p:nvPr>
        </p:nvSpPr>
        <p:spPr/>
        <p:txBody>
          <a:bodyPr/>
          <a:lstStyle/>
          <a:p>
            <a:r>
              <a:rPr lang="en-US" dirty="0"/>
              <a:t>Income – Sec.2(24)</a:t>
            </a:r>
            <a:endParaRPr lang="en-IN" dirty="0"/>
          </a:p>
        </p:txBody>
      </p:sp>
      <p:sp>
        <p:nvSpPr>
          <p:cNvPr id="3" name="Content Placeholder 2">
            <a:extLst>
              <a:ext uri="{FF2B5EF4-FFF2-40B4-BE49-F238E27FC236}">
                <a16:creationId xmlns:a16="http://schemas.microsoft.com/office/drawing/2014/main" id="{632DC6B3-C082-1290-A998-AA28A06DC90B}"/>
              </a:ext>
            </a:extLst>
          </p:cNvPr>
          <p:cNvSpPr>
            <a:spLocks noGrp="1"/>
          </p:cNvSpPr>
          <p:nvPr>
            <p:ph idx="1"/>
          </p:nvPr>
        </p:nvSpPr>
        <p:spPr/>
        <p:txBody>
          <a:bodyPr/>
          <a:lstStyle/>
          <a:p>
            <a:r>
              <a:rPr lang="en-US" dirty="0"/>
              <a:t>Income means some monetary returns periodically received from some definite sources.</a:t>
            </a:r>
          </a:p>
          <a:p>
            <a:r>
              <a:rPr lang="en-US" dirty="0" err="1"/>
              <a:t>i.e</a:t>
            </a:r>
            <a:r>
              <a:rPr lang="en-US" dirty="0"/>
              <a:t>, it is an earning or continuing income from the business or from a definite source.</a:t>
            </a:r>
          </a:p>
          <a:p>
            <a:pPr lvl="1"/>
            <a:r>
              <a:rPr lang="en-US" dirty="0"/>
              <a:t>It includes-</a:t>
            </a:r>
          </a:p>
          <a:p>
            <a:pPr lvl="2"/>
            <a:r>
              <a:rPr lang="en-US" dirty="0"/>
              <a:t>Income in cash</a:t>
            </a:r>
          </a:p>
          <a:p>
            <a:pPr lvl="2"/>
            <a:r>
              <a:rPr lang="en-US" dirty="0"/>
              <a:t>Income in kind</a:t>
            </a:r>
          </a:p>
          <a:p>
            <a:pPr lvl="2"/>
            <a:r>
              <a:rPr lang="en-US" dirty="0"/>
              <a:t>Gifts</a:t>
            </a:r>
            <a:endParaRPr lang="en-IN" dirty="0"/>
          </a:p>
        </p:txBody>
      </p:sp>
    </p:spTree>
    <p:extLst>
      <p:ext uri="{BB962C8B-B14F-4D97-AF65-F5344CB8AC3E}">
        <p14:creationId xmlns:p14="http://schemas.microsoft.com/office/powerpoint/2010/main" val="143295836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E27472-0202-337E-2B55-5B8CDC1AD061}"/>
              </a:ext>
            </a:extLst>
          </p:cNvPr>
          <p:cNvSpPr>
            <a:spLocks noGrp="1"/>
          </p:cNvSpPr>
          <p:nvPr>
            <p:ph type="title"/>
          </p:nvPr>
        </p:nvSpPr>
        <p:spPr/>
        <p:txBody>
          <a:bodyPr/>
          <a:lstStyle/>
          <a:p>
            <a:r>
              <a:rPr lang="en-US" dirty="0" err="1"/>
              <a:t>Assessee</a:t>
            </a:r>
            <a:endParaRPr lang="en-IN" dirty="0"/>
          </a:p>
        </p:txBody>
      </p:sp>
      <p:sp>
        <p:nvSpPr>
          <p:cNvPr id="3" name="Content Placeholder 2">
            <a:extLst>
              <a:ext uri="{FF2B5EF4-FFF2-40B4-BE49-F238E27FC236}">
                <a16:creationId xmlns:a16="http://schemas.microsoft.com/office/drawing/2014/main" id="{6BCFD433-6541-CC4E-9AA6-01B963CAC8E3}"/>
              </a:ext>
            </a:extLst>
          </p:cNvPr>
          <p:cNvSpPr>
            <a:spLocks noGrp="1"/>
          </p:cNvSpPr>
          <p:nvPr>
            <p:ph idx="1"/>
          </p:nvPr>
        </p:nvSpPr>
        <p:spPr/>
        <p:txBody>
          <a:bodyPr/>
          <a:lstStyle/>
          <a:p>
            <a:r>
              <a:rPr lang="en-US" dirty="0"/>
              <a:t>A person liable to pay any tax or any other sum of money under this Act.</a:t>
            </a:r>
          </a:p>
          <a:p>
            <a:r>
              <a:rPr lang="en-US" dirty="0"/>
              <a:t>Every person:</a:t>
            </a:r>
          </a:p>
          <a:p>
            <a:pPr lvl="1"/>
            <a:r>
              <a:rPr lang="en-US" dirty="0"/>
              <a:t>Who is assessable in respect of income or loss of another person or</a:t>
            </a:r>
          </a:p>
          <a:p>
            <a:pPr lvl="1"/>
            <a:r>
              <a:rPr lang="en-US" dirty="0"/>
              <a:t>Who is deemed to be an </a:t>
            </a:r>
            <a:r>
              <a:rPr lang="en-US" dirty="0" err="1"/>
              <a:t>assessee</a:t>
            </a:r>
            <a:r>
              <a:rPr lang="en-US" dirty="0"/>
              <a:t> or</a:t>
            </a:r>
          </a:p>
          <a:p>
            <a:pPr lvl="1"/>
            <a:r>
              <a:rPr lang="en-US" dirty="0"/>
              <a:t>Who is deemed to be </a:t>
            </a:r>
            <a:r>
              <a:rPr lang="en-US" dirty="0" err="1"/>
              <a:t>assessee</a:t>
            </a:r>
            <a:r>
              <a:rPr lang="en-US" dirty="0"/>
              <a:t> in default.</a:t>
            </a:r>
            <a:endParaRPr lang="en-IN" dirty="0"/>
          </a:p>
        </p:txBody>
      </p:sp>
    </p:spTree>
    <p:extLst>
      <p:ext uri="{BB962C8B-B14F-4D97-AF65-F5344CB8AC3E}">
        <p14:creationId xmlns:p14="http://schemas.microsoft.com/office/powerpoint/2010/main" val="245216668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1. Basics of Income Tax Act, 1961</a:t>
            </a:r>
          </a:p>
        </p:txBody>
      </p:sp>
      <p:sp>
        <p:nvSpPr>
          <p:cNvPr id="3" name="Content Placeholder 2"/>
          <p:cNvSpPr>
            <a:spLocks noGrp="1"/>
          </p:cNvSpPr>
          <p:nvPr>
            <p:ph idx="1"/>
          </p:nvPr>
        </p:nvSpPr>
        <p:spPr/>
        <p:txBody>
          <a:bodyPr/>
          <a:lstStyle/>
          <a:p>
            <a:endParaRPr/>
          </a:p>
          <a:p>
            <a:pPr>
              <a:defRPr sz="2000"/>
            </a:pPr>
            <a:r>
              <a:t>Introduced in 1961, effective from 1962</a:t>
            </a:r>
          </a:p>
          <a:p>
            <a:pPr>
              <a:defRPr sz="2000"/>
            </a:pPr>
            <a:r>
              <a:t>Administered by CBDT</a:t>
            </a:r>
          </a:p>
          <a:p>
            <a:pPr>
              <a:defRPr sz="2000"/>
            </a:pPr>
            <a:r>
              <a:t>Applicable to Individuals, HUFs, Firms, Companies, Trusts</a:t>
            </a:r>
          </a:p>
          <a:p>
            <a:pPr>
              <a:defRPr sz="2000"/>
            </a:pPr>
            <a:r>
              <a:t>Income of Previous Year (PY) is assessed in Assessment Year (AY)</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9200F3-3EE4-AEF9-E0B1-6BC1D7112540}"/>
              </a:ext>
            </a:extLst>
          </p:cNvPr>
          <p:cNvSpPr>
            <a:spLocks noGrp="1"/>
          </p:cNvSpPr>
          <p:nvPr>
            <p:ph type="title"/>
          </p:nvPr>
        </p:nvSpPr>
        <p:spPr/>
        <p:txBody>
          <a:bodyPr/>
          <a:lstStyle/>
          <a:p>
            <a:r>
              <a:rPr lang="en-US" dirty="0"/>
              <a:t>Person: Sec 2(31)</a:t>
            </a:r>
            <a:endParaRPr lang="en-IN" dirty="0"/>
          </a:p>
        </p:txBody>
      </p:sp>
      <p:sp>
        <p:nvSpPr>
          <p:cNvPr id="3" name="Content Placeholder 2">
            <a:extLst>
              <a:ext uri="{FF2B5EF4-FFF2-40B4-BE49-F238E27FC236}">
                <a16:creationId xmlns:a16="http://schemas.microsoft.com/office/drawing/2014/main" id="{C10B2E31-651E-7900-4680-DF387EF98535}"/>
              </a:ext>
            </a:extLst>
          </p:cNvPr>
          <p:cNvSpPr>
            <a:spLocks noGrp="1"/>
          </p:cNvSpPr>
          <p:nvPr>
            <p:ph idx="1"/>
          </p:nvPr>
        </p:nvSpPr>
        <p:spPr/>
        <p:txBody>
          <a:bodyPr>
            <a:normAutofit/>
          </a:bodyPr>
          <a:lstStyle/>
          <a:p>
            <a:r>
              <a:rPr lang="en-US" dirty="0"/>
              <a:t>According to law an </a:t>
            </a:r>
            <a:r>
              <a:rPr lang="en-US" dirty="0" err="1"/>
              <a:t>assessee</a:t>
            </a:r>
            <a:r>
              <a:rPr lang="en-US" dirty="0"/>
              <a:t> is a person by whom any tax is payable.</a:t>
            </a:r>
          </a:p>
          <a:p>
            <a:r>
              <a:rPr lang="en-US" dirty="0"/>
              <a:t>Person includes-	</a:t>
            </a:r>
          </a:p>
          <a:p>
            <a:pPr lvl="1"/>
            <a:r>
              <a:rPr lang="en-US" dirty="0"/>
              <a:t>An individual</a:t>
            </a:r>
          </a:p>
          <a:p>
            <a:pPr lvl="1"/>
            <a:r>
              <a:rPr lang="en-US" dirty="0"/>
              <a:t>A firm</a:t>
            </a:r>
          </a:p>
          <a:p>
            <a:pPr lvl="1"/>
            <a:r>
              <a:rPr lang="en-US" dirty="0"/>
              <a:t>A HUF</a:t>
            </a:r>
          </a:p>
          <a:p>
            <a:pPr lvl="1"/>
            <a:r>
              <a:rPr lang="en-US" dirty="0"/>
              <a:t>A company</a:t>
            </a:r>
          </a:p>
          <a:p>
            <a:pPr lvl="1"/>
            <a:r>
              <a:rPr lang="en-US" dirty="0"/>
              <a:t>An association of Persons (AOP) or Body of Individuals (BOI)</a:t>
            </a:r>
          </a:p>
          <a:p>
            <a:pPr lvl="1"/>
            <a:r>
              <a:rPr lang="en-US" dirty="0"/>
              <a:t>A local authority</a:t>
            </a:r>
          </a:p>
          <a:p>
            <a:pPr lvl="1"/>
            <a:r>
              <a:rPr lang="en-US" dirty="0"/>
              <a:t>Any artificial and juridical person not include in the above category.</a:t>
            </a:r>
            <a:endParaRPr lang="en-IN" dirty="0"/>
          </a:p>
        </p:txBody>
      </p:sp>
    </p:spTree>
    <p:extLst>
      <p:ext uri="{BB962C8B-B14F-4D97-AF65-F5344CB8AC3E}">
        <p14:creationId xmlns:p14="http://schemas.microsoft.com/office/powerpoint/2010/main" val="306354543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798DF-A30D-1CD8-DFEC-270CE1EE865F}"/>
              </a:ext>
            </a:extLst>
          </p:cNvPr>
          <p:cNvSpPr>
            <a:spLocks noGrp="1"/>
          </p:cNvSpPr>
          <p:nvPr>
            <p:ph type="title"/>
          </p:nvPr>
        </p:nvSpPr>
        <p:spPr/>
        <p:txBody>
          <a:bodyPr/>
          <a:lstStyle/>
          <a:p>
            <a:r>
              <a:rPr lang="en-US" dirty="0"/>
              <a:t>Income Tax liability of a person</a:t>
            </a:r>
            <a:endParaRPr lang="en-IN" dirty="0"/>
          </a:p>
        </p:txBody>
      </p:sp>
      <p:sp>
        <p:nvSpPr>
          <p:cNvPr id="3" name="Content Placeholder 2">
            <a:extLst>
              <a:ext uri="{FF2B5EF4-FFF2-40B4-BE49-F238E27FC236}">
                <a16:creationId xmlns:a16="http://schemas.microsoft.com/office/drawing/2014/main" id="{68EB469A-6CC4-1A30-F495-16FE3F51B104}"/>
              </a:ext>
            </a:extLst>
          </p:cNvPr>
          <p:cNvSpPr>
            <a:spLocks noGrp="1"/>
          </p:cNvSpPr>
          <p:nvPr>
            <p:ph idx="1"/>
          </p:nvPr>
        </p:nvSpPr>
        <p:spPr/>
        <p:txBody>
          <a:bodyPr>
            <a:normAutofit/>
          </a:bodyPr>
          <a:lstStyle/>
          <a:p>
            <a:r>
              <a:rPr lang="en-US" dirty="0"/>
              <a:t>Residential status of a person decides income tax liability.</a:t>
            </a:r>
          </a:p>
          <a:p>
            <a:r>
              <a:rPr lang="en-US" dirty="0"/>
              <a:t>Previous year is the year in which the income is earned.</a:t>
            </a:r>
          </a:p>
          <a:p>
            <a:r>
              <a:rPr lang="en-US" dirty="0"/>
              <a:t>Assessment year is the year in which the income is taxed.</a:t>
            </a:r>
          </a:p>
          <a:p>
            <a:pPr lvl="1"/>
            <a:r>
              <a:rPr lang="en-US" dirty="0"/>
              <a:t>AY consists of 12 months which commences on the 1</a:t>
            </a:r>
            <a:r>
              <a:rPr lang="en-US" baseline="30000" dirty="0"/>
              <a:t>st</a:t>
            </a:r>
            <a:r>
              <a:rPr lang="en-US" dirty="0"/>
              <a:t> day of Aril immediately after the previous year.</a:t>
            </a:r>
            <a:endParaRPr lang="en-IN" dirty="0"/>
          </a:p>
        </p:txBody>
      </p:sp>
    </p:spTree>
    <p:extLst>
      <p:ext uri="{BB962C8B-B14F-4D97-AF65-F5344CB8AC3E}">
        <p14:creationId xmlns:p14="http://schemas.microsoft.com/office/powerpoint/2010/main" val="197217311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D3E7D3-B138-EE66-D6F3-6FBDD5235758}"/>
              </a:ext>
            </a:extLst>
          </p:cNvPr>
          <p:cNvSpPr>
            <a:spLocks noGrp="1"/>
          </p:cNvSpPr>
          <p:nvPr>
            <p:ph type="title"/>
          </p:nvPr>
        </p:nvSpPr>
        <p:spPr/>
        <p:txBody>
          <a:bodyPr/>
          <a:lstStyle/>
          <a:p>
            <a:r>
              <a:rPr lang="en-US" dirty="0"/>
              <a:t>Assessment</a:t>
            </a:r>
            <a:endParaRPr lang="en-IN" dirty="0"/>
          </a:p>
        </p:txBody>
      </p:sp>
      <p:sp>
        <p:nvSpPr>
          <p:cNvPr id="3" name="Content Placeholder 2">
            <a:extLst>
              <a:ext uri="{FF2B5EF4-FFF2-40B4-BE49-F238E27FC236}">
                <a16:creationId xmlns:a16="http://schemas.microsoft.com/office/drawing/2014/main" id="{D642219A-64B5-CC03-D89C-EEDB63B472ED}"/>
              </a:ext>
            </a:extLst>
          </p:cNvPr>
          <p:cNvSpPr>
            <a:spLocks noGrp="1"/>
          </p:cNvSpPr>
          <p:nvPr>
            <p:ph idx="1"/>
          </p:nvPr>
        </p:nvSpPr>
        <p:spPr/>
        <p:txBody>
          <a:bodyPr/>
          <a:lstStyle/>
          <a:p>
            <a:r>
              <a:rPr lang="en-US" dirty="0"/>
              <a:t>It is a process of determining the correctness of income of an </a:t>
            </a:r>
            <a:r>
              <a:rPr lang="en-US" dirty="0" err="1"/>
              <a:t>assessee</a:t>
            </a:r>
            <a:r>
              <a:rPr lang="en-US" dirty="0"/>
              <a:t> and of assessing the amount of tax payable by him and procedure for imposing tax liability.</a:t>
            </a:r>
            <a:endParaRPr lang="en-IN" dirty="0"/>
          </a:p>
        </p:txBody>
      </p:sp>
    </p:spTree>
    <p:extLst>
      <p:ext uri="{BB962C8B-B14F-4D97-AF65-F5344CB8AC3E}">
        <p14:creationId xmlns:p14="http://schemas.microsoft.com/office/powerpoint/2010/main" val="35969973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9B30F-247C-C168-362C-F1E87BBF04E2}"/>
              </a:ext>
            </a:extLst>
          </p:cNvPr>
          <p:cNvSpPr>
            <a:spLocks noGrp="1"/>
          </p:cNvSpPr>
          <p:nvPr>
            <p:ph type="title"/>
          </p:nvPr>
        </p:nvSpPr>
        <p:spPr/>
        <p:txBody>
          <a:bodyPr/>
          <a:lstStyle/>
          <a:p>
            <a:r>
              <a:rPr lang="en-US" dirty="0"/>
              <a:t>Total Income and Tax payable</a:t>
            </a:r>
            <a:endParaRPr lang="en-IN" dirty="0"/>
          </a:p>
        </p:txBody>
      </p:sp>
      <p:sp>
        <p:nvSpPr>
          <p:cNvPr id="3" name="Content Placeholder 2">
            <a:extLst>
              <a:ext uri="{FF2B5EF4-FFF2-40B4-BE49-F238E27FC236}">
                <a16:creationId xmlns:a16="http://schemas.microsoft.com/office/drawing/2014/main" id="{F1D0DEF2-381D-5A47-525D-27F47AB3B619}"/>
              </a:ext>
            </a:extLst>
          </p:cNvPr>
          <p:cNvSpPr>
            <a:spLocks noGrp="1"/>
          </p:cNvSpPr>
          <p:nvPr>
            <p:ph idx="1"/>
          </p:nvPr>
        </p:nvSpPr>
        <p:spPr/>
        <p:txBody>
          <a:bodyPr/>
          <a:lstStyle/>
          <a:p>
            <a:r>
              <a:rPr lang="en-US" dirty="0"/>
              <a:t>Income tax is levied on an </a:t>
            </a:r>
            <a:r>
              <a:rPr lang="en-US" dirty="0" err="1"/>
              <a:t>assessee’s</a:t>
            </a:r>
            <a:r>
              <a:rPr lang="en-US" dirty="0"/>
              <a:t> total income. Such total income must be computed as per the provision’s contained in the Income Tax Act 1961. </a:t>
            </a:r>
          </a:p>
          <a:p>
            <a:r>
              <a:rPr lang="en-US" dirty="0"/>
              <a:t>The step by step procedure of computation of total income for the purpose of levy of income tax is as follows.</a:t>
            </a:r>
            <a:endParaRPr lang="en-IN" dirty="0"/>
          </a:p>
        </p:txBody>
      </p:sp>
    </p:spTree>
    <p:extLst>
      <p:ext uri="{BB962C8B-B14F-4D97-AF65-F5344CB8AC3E}">
        <p14:creationId xmlns:p14="http://schemas.microsoft.com/office/powerpoint/2010/main" val="377095827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CDE25-21B6-811C-835F-B247620EC0D2}"/>
              </a:ext>
            </a:extLst>
          </p:cNvPr>
          <p:cNvSpPr>
            <a:spLocks noGrp="1"/>
          </p:cNvSpPr>
          <p:nvPr>
            <p:ph type="title"/>
          </p:nvPr>
        </p:nvSpPr>
        <p:spPr>
          <a:xfrm>
            <a:off x="1981200" y="274639"/>
            <a:ext cx="8229600" cy="457199"/>
          </a:xfrm>
        </p:spPr>
        <p:txBody>
          <a:bodyPr>
            <a:normAutofit fontScale="90000"/>
          </a:bodyPr>
          <a:lstStyle/>
          <a:p>
            <a:endParaRPr lang="en-IN"/>
          </a:p>
        </p:txBody>
      </p:sp>
      <p:sp>
        <p:nvSpPr>
          <p:cNvPr id="3" name="Content Placeholder 2">
            <a:extLst>
              <a:ext uri="{FF2B5EF4-FFF2-40B4-BE49-F238E27FC236}">
                <a16:creationId xmlns:a16="http://schemas.microsoft.com/office/drawing/2014/main" id="{E006BAFD-7BEF-2B91-BF8A-9770D585A029}"/>
              </a:ext>
            </a:extLst>
          </p:cNvPr>
          <p:cNvSpPr>
            <a:spLocks noGrp="1"/>
          </p:cNvSpPr>
          <p:nvPr>
            <p:ph idx="1"/>
          </p:nvPr>
        </p:nvSpPr>
        <p:spPr>
          <a:xfrm>
            <a:off x="1981200" y="731838"/>
            <a:ext cx="8229600" cy="5394326"/>
          </a:xfrm>
        </p:spPr>
        <p:txBody>
          <a:bodyPr>
            <a:normAutofit lnSpcReduction="10000"/>
          </a:bodyPr>
          <a:lstStyle/>
          <a:p>
            <a:pPr marL="514350" indent="-514350">
              <a:buFont typeface="+mj-lt"/>
              <a:buAutoNum type="arabicPeriod"/>
            </a:pPr>
            <a:r>
              <a:rPr lang="en-US" dirty="0"/>
              <a:t>Determination of residential status</a:t>
            </a:r>
          </a:p>
          <a:p>
            <a:pPr marL="514350" indent="-514350">
              <a:buFont typeface="+mj-lt"/>
              <a:buAutoNum type="arabicPeriod"/>
            </a:pPr>
            <a:r>
              <a:rPr lang="en-US" dirty="0"/>
              <a:t>Classification of income under different heads</a:t>
            </a:r>
          </a:p>
          <a:p>
            <a:pPr marL="514350" indent="-514350">
              <a:buFont typeface="+mj-lt"/>
              <a:buAutoNum type="arabicPeriod"/>
            </a:pPr>
            <a:r>
              <a:rPr lang="en-US" dirty="0"/>
              <a:t>Exclusion of income not chargeable  to tax</a:t>
            </a:r>
          </a:p>
          <a:p>
            <a:pPr marL="514350" indent="-514350">
              <a:buFont typeface="+mj-lt"/>
              <a:buAutoNum type="arabicPeriod"/>
            </a:pPr>
            <a:r>
              <a:rPr lang="en-US" dirty="0"/>
              <a:t>Computation of income under each head</a:t>
            </a:r>
          </a:p>
          <a:p>
            <a:pPr marL="514350" indent="-514350">
              <a:buFont typeface="+mj-lt"/>
              <a:buAutoNum type="arabicPeriod"/>
            </a:pPr>
            <a:r>
              <a:rPr lang="en-US" dirty="0"/>
              <a:t>Clubbing of income of spouse, minor child </a:t>
            </a:r>
            <a:r>
              <a:rPr lang="en-US" dirty="0" err="1"/>
              <a:t>etc</a:t>
            </a:r>
            <a:endParaRPr lang="en-US" dirty="0"/>
          </a:p>
          <a:p>
            <a:pPr marL="514350" indent="-514350">
              <a:buFont typeface="+mj-lt"/>
              <a:buAutoNum type="arabicPeriod"/>
            </a:pPr>
            <a:r>
              <a:rPr lang="en-US" dirty="0"/>
              <a:t>Set-off or carry forward and set-off of losses</a:t>
            </a:r>
          </a:p>
          <a:p>
            <a:pPr marL="514350" indent="-514350">
              <a:buFont typeface="+mj-lt"/>
              <a:buAutoNum type="arabicPeriod"/>
            </a:pPr>
            <a:r>
              <a:rPr lang="en-US" dirty="0"/>
              <a:t>Computation of Gross total Income</a:t>
            </a:r>
          </a:p>
          <a:p>
            <a:pPr marL="514350" indent="-514350">
              <a:buFont typeface="+mj-lt"/>
              <a:buAutoNum type="arabicPeriod"/>
            </a:pPr>
            <a:r>
              <a:rPr lang="en-US" dirty="0"/>
              <a:t>Deductions from Gross Total Income</a:t>
            </a:r>
          </a:p>
          <a:p>
            <a:pPr marL="514350" indent="-514350">
              <a:buFont typeface="+mj-lt"/>
              <a:buAutoNum type="arabicPeriod"/>
            </a:pPr>
            <a:r>
              <a:rPr lang="en-US" dirty="0"/>
              <a:t>Total Income</a:t>
            </a:r>
          </a:p>
          <a:p>
            <a:pPr marL="514350" indent="-514350">
              <a:buFont typeface="+mj-lt"/>
              <a:buAutoNum type="arabicPeriod"/>
            </a:pPr>
            <a:r>
              <a:rPr lang="en-US" dirty="0"/>
              <a:t>Application of the rates of tax on the total income</a:t>
            </a:r>
          </a:p>
          <a:p>
            <a:pPr marL="514350" indent="-514350">
              <a:buFont typeface="+mj-lt"/>
              <a:buAutoNum type="arabicPeriod"/>
            </a:pPr>
            <a:r>
              <a:rPr lang="en-US" dirty="0"/>
              <a:t>Surcharge</a:t>
            </a:r>
          </a:p>
          <a:p>
            <a:pPr marL="514350" indent="-514350">
              <a:buFont typeface="+mj-lt"/>
              <a:buAutoNum type="arabicPeriod"/>
            </a:pPr>
            <a:r>
              <a:rPr lang="en-US" dirty="0"/>
              <a:t>Education </a:t>
            </a:r>
            <a:r>
              <a:rPr lang="en-US" dirty="0" err="1"/>
              <a:t>cess</a:t>
            </a:r>
            <a:r>
              <a:rPr lang="en-US" dirty="0"/>
              <a:t> and secondary and higher education </a:t>
            </a:r>
            <a:r>
              <a:rPr lang="en-US" dirty="0" err="1"/>
              <a:t>cess</a:t>
            </a:r>
            <a:endParaRPr lang="en-US" dirty="0"/>
          </a:p>
          <a:p>
            <a:pPr marL="514350" indent="-514350">
              <a:buFont typeface="+mj-lt"/>
              <a:buAutoNum type="arabicPeriod"/>
            </a:pPr>
            <a:r>
              <a:rPr lang="en-US" dirty="0"/>
              <a:t>Advance tax and tax deducted at source</a:t>
            </a:r>
            <a:endParaRPr lang="en-IN" dirty="0"/>
          </a:p>
        </p:txBody>
      </p:sp>
    </p:spTree>
    <p:extLst>
      <p:ext uri="{BB962C8B-B14F-4D97-AF65-F5344CB8AC3E}">
        <p14:creationId xmlns:p14="http://schemas.microsoft.com/office/powerpoint/2010/main" val="20801291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Heads of Income</a:t>
            </a:r>
          </a:p>
        </p:txBody>
      </p:sp>
      <p:sp>
        <p:nvSpPr>
          <p:cNvPr id="3" name="Content Placeholder 2"/>
          <p:cNvSpPr>
            <a:spLocks noGrp="1"/>
          </p:cNvSpPr>
          <p:nvPr>
            <p:ph idx="1"/>
          </p:nvPr>
        </p:nvSpPr>
        <p:spPr/>
        <p:txBody>
          <a:bodyPr/>
          <a:lstStyle/>
          <a:p>
            <a:endParaRPr/>
          </a:p>
          <a:p>
            <a:pPr>
              <a:defRPr sz="2000"/>
            </a:pPr>
            <a:r>
              <a:t>1. Salary – Wages, allowances, pensions, perquisites</a:t>
            </a:r>
          </a:p>
          <a:p>
            <a:pPr>
              <a:defRPr sz="2000"/>
            </a:pPr>
            <a:r>
              <a:t>2. House Property – Rental income less deductions</a:t>
            </a:r>
          </a:p>
          <a:p>
            <a:pPr>
              <a:defRPr sz="2000"/>
            </a:pPr>
            <a:r>
              <a:t>3. Business/Profession – Profits after expenses</a:t>
            </a:r>
          </a:p>
          <a:p>
            <a:pPr>
              <a:defRPr sz="2000"/>
            </a:pPr>
            <a:r>
              <a:t>4. Capital Gains – Profit from transfer of assets</a:t>
            </a:r>
          </a:p>
          <a:p>
            <a:pPr>
              <a:defRPr sz="2000"/>
            </a:pPr>
            <a:r>
              <a:t>5. Other Sources – Dividends, lottery, interest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Computation of Total Income</a:t>
            </a:r>
          </a:p>
        </p:txBody>
      </p:sp>
      <p:sp>
        <p:nvSpPr>
          <p:cNvPr id="3" name="Content Placeholder 2"/>
          <p:cNvSpPr>
            <a:spLocks noGrp="1"/>
          </p:cNvSpPr>
          <p:nvPr>
            <p:ph idx="1"/>
          </p:nvPr>
        </p:nvSpPr>
        <p:spPr/>
        <p:txBody>
          <a:bodyPr/>
          <a:lstStyle/>
          <a:p>
            <a:endParaRPr/>
          </a:p>
          <a:p>
            <a:pPr>
              <a:defRPr sz="2000"/>
            </a:pPr>
            <a:r>
              <a:t>Gross Total Income = Sum of 5 heads</a:t>
            </a:r>
          </a:p>
          <a:p>
            <a:pPr>
              <a:defRPr sz="2000"/>
            </a:pPr>
            <a:r>
              <a:t>Adjust for Clubbing Provisions (Sec. 60–64)</a:t>
            </a:r>
          </a:p>
          <a:p>
            <a:pPr>
              <a:defRPr sz="2000"/>
            </a:pPr>
            <a:r>
              <a:t>Set-off &amp; Carry Forward of Losses</a:t>
            </a:r>
          </a:p>
          <a:p>
            <a:pPr>
              <a:defRPr sz="2000"/>
            </a:pPr>
            <a:r>
              <a:t>Deduct Deductions (80C–80U)</a:t>
            </a:r>
          </a:p>
          <a:p>
            <a:pPr>
              <a:defRPr sz="2000"/>
            </a:pPr>
            <a:r>
              <a:t>Total Income → Apply Tax Rates + Cess = Tax Liability</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Clubbing &amp; Loss Adjustments</a:t>
            </a:r>
          </a:p>
        </p:txBody>
      </p:sp>
      <p:sp>
        <p:nvSpPr>
          <p:cNvPr id="3" name="Content Placeholder 2"/>
          <p:cNvSpPr>
            <a:spLocks noGrp="1"/>
          </p:cNvSpPr>
          <p:nvPr>
            <p:ph idx="1"/>
          </p:nvPr>
        </p:nvSpPr>
        <p:spPr/>
        <p:txBody>
          <a:bodyPr/>
          <a:lstStyle/>
          <a:p>
            <a:endParaRPr/>
          </a:p>
          <a:p>
            <a:pPr>
              <a:defRPr sz="2000"/>
            </a:pPr>
            <a:r>
              <a:t>Minor’s income → clubbed with parent</a:t>
            </a:r>
          </a:p>
          <a:p>
            <a:pPr>
              <a:defRPr sz="2000"/>
            </a:pPr>
            <a:r>
              <a:t>Spouse’s income from gifted assets → transferor</a:t>
            </a:r>
          </a:p>
          <a:p>
            <a:pPr>
              <a:defRPr sz="2000"/>
            </a:pPr>
            <a:r>
              <a:t>Business Loss: 8 years</a:t>
            </a:r>
          </a:p>
          <a:p>
            <a:pPr>
              <a:defRPr sz="2000"/>
            </a:pPr>
            <a:r>
              <a:t>House Property Loss: 8 years</a:t>
            </a:r>
          </a:p>
          <a:p>
            <a:pPr>
              <a:defRPr sz="2000"/>
            </a:pPr>
            <a:r>
              <a:t>Speculation Loss: 4 years</a:t>
            </a:r>
          </a:p>
          <a:p>
            <a:pPr>
              <a:defRPr sz="2000"/>
            </a:pPr>
            <a:r>
              <a:t>Unabsorbed Depreciation: indefinite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Deductions (Chapter VI-A)</a:t>
            </a:r>
          </a:p>
        </p:txBody>
      </p:sp>
      <p:sp>
        <p:nvSpPr>
          <p:cNvPr id="3" name="Content Placeholder 2"/>
          <p:cNvSpPr>
            <a:spLocks noGrp="1"/>
          </p:cNvSpPr>
          <p:nvPr>
            <p:ph idx="1"/>
          </p:nvPr>
        </p:nvSpPr>
        <p:spPr/>
        <p:txBody>
          <a:bodyPr/>
          <a:lstStyle/>
          <a:p>
            <a:endParaRPr/>
          </a:p>
          <a:p>
            <a:pPr>
              <a:defRPr sz="2000"/>
            </a:pPr>
            <a:r>
              <a:t>80C: Investments (PF, LIC, ELSS, PPF) – ₹1.5 lakh limit</a:t>
            </a:r>
          </a:p>
          <a:p>
            <a:pPr>
              <a:defRPr sz="2000"/>
            </a:pPr>
            <a:r>
              <a:t>80D: Health Insurance premium</a:t>
            </a:r>
          </a:p>
          <a:p>
            <a:pPr>
              <a:defRPr sz="2000"/>
            </a:pPr>
            <a:r>
              <a:t>80G: Donations</a:t>
            </a:r>
          </a:p>
          <a:p>
            <a:pPr>
              <a:defRPr sz="2000"/>
            </a:pPr>
            <a:r>
              <a:t>80TTA/80TTB: Savings Interest</a:t>
            </a:r>
          </a:p>
          <a:p>
            <a:pPr>
              <a:defRPr sz="2000"/>
            </a:pPr>
            <a:r>
              <a:t>80U: Disability benefits</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99B30F-247C-C168-362C-F1E87BBF04E2}"/>
              </a:ext>
            </a:extLst>
          </p:cNvPr>
          <p:cNvSpPr>
            <a:spLocks noGrp="1"/>
          </p:cNvSpPr>
          <p:nvPr>
            <p:ph type="title"/>
          </p:nvPr>
        </p:nvSpPr>
        <p:spPr/>
        <p:txBody>
          <a:bodyPr/>
          <a:lstStyle/>
          <a:p>
            <a:r>
              <a:rPr lang="en-US" dirty="0"/>
              <a:t>Total Income and Tax payable</a:t>
            </a:r>
            <a:endParaRPr lang="en-IN" dirty="0"/>
          </a:p>
        </p:txBody>
      </p:sp>
      <p:sp>
        <p:nvSpPr>
          <p:cNvPr id="3" name="Content Placeholder 2">
            <a:extLst>
              <a:ext uri="{FF2B5EF4-FFF2-40B4-BE49-F238E27FC236}">
                <a16:creationId xmlns:a16="http://schemas.microsoft.com/office/drawing/2014/main" id="{F1D0DEF2-381D-5A47-525D-27F47AB3B619}"/>
              </a:ext>
            </a:extLst>
          </p:cNvPr>
          <p:cNvSpPr>
            <a:spLocks noGrp="1"/>
          </p:cNvSpPr>
          <p:nvPr>
            <p:ph idx="1"/>
          </p:nvPr>
        </p:nvSpPr>
        <p:spPr/>
        <p:txBody>
          <a:bodyPr/>
          <a:lstStyle/>
          <a:p>
            <a:r>
              <a:rPr lang="en-US" dirty="0"/>
              <a:t>Income tax is levied on an </a:t>
            </a:r>
            <a:r>
              <a:rPr lang="en-US" dirty="0" err="1"/>
              <a:t>assessee’s</a:t>
            </a:r>
            <a:r>
              <a:rPr lang="en-US" dirty="0"/>
              <a:t> total income. Such total income must be computed as per the provision’s contained in the Income Tax Act 1961. </a:t>
            </a:r>
          </a:p>
          <a:p>
            <a:r>
              <a:rPr lang="en-US" dirty="0"/>
              <a:t>The step by step procedure of computation of total income for the purpose of levy of income tax is as follows.</a:t>
            </a:r>
            <a:endParaRPr lang="en-IN" dirty="0"/>
          </a:p>
        </p:txBody>
      </p:sp>
    </p:spTree>
    <p:extLst>
      <p:ext uri="{BB962C8B-B14F-4D97-AF65-F5344CB8AC3E}">
        <p14:creationId xmlns:p14="http://schemas.microsoft.com/office/powerpoint/2010/main" val="4191181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2CDE25-21B6-811C-835F-B247620EC0D2}"/>
              </a:ext>
            </a:extLst>
          </p:cNvPr>
          <p:cNvSpPr>
            <a:spLocks noGrp="1"/>
          </p:cNvSpPr>
          <p:nvPr>
            <p:ph type="title"/>
          </p:nvPr>
        </p:nvSpPr>
        <p:spPr>
          <a:xfrm>
            <a:off x="1981200" y="274639"/>
            <a:ext cx="8229600" cy="457199"/>
          </a:xfrm>
        </p:spPr>
        <p:txBody>
          <a:bodyPr>
            <a:normAutofit fontScale="90000"/>
          </a:bodyPr>
          <a:lstStyle/>
          <a:p>
            <a:endParaRPr lang="en-IN"/>
          </a:p>
        </p:txBody>
      </p:sp>
      <p:sp>
        <p:nvSpPr>
          <p:cNvPr id="3" name="Content Placeholder 2">
            <a:extLst>
              <a:ext uri="{FF2B5EF4-FFF2-40B4-BE49-F238E27FC236}">
                <a16:creationId xmlns:a16="http://schemas.microsoft.com/office/drawing/2014/main" id="{E006BAFD-7BEF-2B91-BF8A-9770D585A029}"/>
              </a:ext>
            </a:extLst>
          </p:cNvPr>
          <p:cNvSpPr>
            <a:spLocks noGrp="1"/>
          </p:cNvSpPr>
          <p:nvPr>
            <p:ph idx="1"/>
          </p:nvPr>
        </p:nvSpPr>
        <p:spPr>
          <a:xfrm>
            <a:off x="1981200" y="731838"/>
            <a:ext cx="8229600" cy="5394326"/>
          </a:xfrm>
        </p:spPr>
        <p:txBody>
          <a:bodyPr>
            <a:normAutofit lnSpcReduction="10000"/>
          </a:bodyPr>
          <a:lstStyle/>
          <a:p>
            <a:pPr marL="514350" indent="-514350">
              <a:buFont typeface="+mj-lt"/>
              <a:buAutoNum type="arabicPeriod"/>
            </a:pPr>
            <a:r>
              <a:rPr lang="en-US" dirty="0"/>
              <a:t>Determination of residential status</a:t>
            </a:r>
          </a:p>
          <a:p>
            <a:pPr marL="514350" indent="-514350">
              <a:buFont typeface="+mj-lt"/>
              <a:buAutoNum type="arabicPeriod"/>
            </a:pPr>
            <a:r>
              <a:rPr lang="en-US" dirty="0"/>
              <a:t>Classification of income under different heads</a:t>
            </a:r>
          </a:p>
          <a:p>
            <a:pPr marL="514350" indent="-514350">
              <a:buFont typeface="+mj-lt"/>
              <a:buAutoNum type="arabicPeriod"/>
            </a:pPr>
            <a:r>
              <a:rPr lang="en-US" dirty="0"/>
              <a:t>Exclusion of income not chargeable  to tax</a:t>
            </a:r>
          </a:p>
          <a:p>
            <a:pPr marL="514350" indent="-514350">
              <a:buFont typeface="+mj-lt"/>
              <a:buAutoNum type="arabicPeriod"/>
            </a:pPr>
            <a:r>
              <a:rPr lang="en-US" dirty="0"/>
              <a:t>Computation of income under each head</a:t>
            </a:r>
          </a:p>
          <a:p>
            <a:pPr marL="514350" indent="-514350">
              <a:buFont typeface="+mj-lt"/>
              <a:buAutoNum type="arabicPeriod"/>
            </a:pPr>
            <a:r>
              <a:rPr lang="en-US" dirty="0"/>
              <a:t>Clubbing of income of spouse, minor child </a:t>
            </a:r>
            <a:r>
              <a:rPr lang="en-US" dirty="0" err="1"/>
              <a:t>etc</a:t>
            </a:r>
            <a:endParaRPr lang="en-US" dirty="0"/>
          </a:p>
          <a:p>
            <a:pPr marL="514350" indent="-514350">
              <a:buFont typeface="+mj-lt"/>
              <a:buAutoNum type="arabicPeriod"/>
            </a:pPr>
            <a:r>
              <a:rPr lang="en-US" dirty="0"/>
              <a:t>Set-off or carry forward and set-off of losses</a:t>
            </a:r>
          </a:p>
          <a:p>
            <a:pPr marL="514350" indent="-514350">
              <a:buFont typeface="+mj-lt"/>
              <a:buAutoNum type="arabicPeriod"/>
            </a:pPr>
            <a:r>
              <a:rPr lang="en-US" dirty="0"/>
              <a:t>Computation of Gross total Income</a:t>
            </a:r>
          </a:p>
          <a:p>
            <a:pPr marL="514350" indent="-514350">
              <a:buFont typeface="+mj-lt"/>
              <a:buAutoNum type="arabicPeriod"/>
            </a:pPr>
            <a:r>
              <a:rPr lang="en-US" dirty="0"/>
              <a:t>Deductions from Gross Total Income</a:t>
            </a:r>
          </a:p>
          <a:p>
            <a:pPr marL="514350" indent="-514350">
              <a:buFont typeface="+mj-lt"/>
              <a:buAutoNum type="arabicPeriod"/>
            </a:pPr>
            <a:r>
              <a:rPr lang="en-US" dirty="0"/>
              <a:t>Total Income</a:t>
            </a:r>
          </a:p>
          <a:p>
            <a:pPr marL="514350" indent="-514350">
              <a:buFont typeface="+mj-lt"/>
              <a:buAutoNum type="arabicPeriod"/>
            </a:pPr>
            <a:r>
              <a:rPr lang="en-US" dirty="0"/>
              <a:t>Application of the rates of tax on the total income</a:t>
            </a:r>
          </a:p>
          <a:p>
            <a:pPr marL="514350" indent="-514350">
              <a:buFont typeface="+mj-lt"/>
              <a:buAutoNum type="arabicPeriod"/>
            </a:pPr>
            <a:r>
              <a:rPr lang="en-US" dirty="0"/>
              <a:t>Surcharge</a:t>
            </a:r>
          </a:p>
          <a:p>
            <a:pPr marL="514350" indent="-514350">
              <a:buFont typeface="+mj-lt"/>
              <a:buAutoNum type="arabicPeriod"/>
            </a:pPr>
            <a:r>
              <a:rPr lang="en-US" dirty="0"/>
              <a:t>Education </a:t>
            </a:r>
            <a:r>
              <a:rPr lang="en-US" dirty="0" err="1"/>
              <a:t>cess</a:t>
            </a:r>
            <a:r>
              <a:rPr lang="en-US" dirty="0"/>
              <a:t> and secondary and higher education </a:t>
            </a:r>
            <a:r>
              <a:rPr lang="en-US" dirty="0" err="1"/>
              <a:t>cess</a:t>
            </a:r>
            <a:endParaRPr lang="en-US" dirty="0"/>
          </a:p>
          <a:p>
            <a:pPr marL="514350" indent="-514350">
              <a:buFont typeface="+mj-lt"/>
              <a:buAutoNum type="arabicPeriod"/>
            </a:pPr>
            <a:r>
              <a:rPr lang="en-US" dirty="0"/>
              <a:t>Advance tax and tax deducted at source</a:t>
            </a:r>
            <a:endParaRPr lang="en-IN" dirty="0"/>
          </a:p>
        </p:txBody>
      </p:sp>
    </p:spTree>
    <p:extLst>
      <p:ext uri="{BB962C8B-B14F-4D97-AF65-F5344CB8AC3E}">
        <p14:creationId xmlns:p14="http://schemas.microsoft.com/office/powerpoint/2010/main" val="273320716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2. Heads of Income</a:t>
            </a:r>
          </a:p>
        </p:txBody>
      </p:sp>
      <p:sp>
        <p:nvSpPr>
          <p:cNvPr id="3" name="Content Placeholder 2"/>
          <p:cNvSpPr>
            <a:spLocks noGrp="1"/>
          </p:cNvSpPr>
          <p:nvPr>
            <p:ph idx="1"/>
          </p:nvPr>
        </p:nvSpPr>
        <p:spPr/>
        <p:txBody>
          <a:bodyPr/>
          <a:lstStyle/>
          <a:p>
            <a:endParaRPr/>
          </a:p>
          <a:p>
            <a:pPr>
              <a:defRPr sz="2000"/>
            </a:pPr>
            <a:r>
              <a:t>1. Salary – Wages, allowances, pensions, perquisites</a:t>
            </a:r>
          </a:p>
          <a:p>
            <a:pPr>
              <a:defRPr sz="2000"/>
            </a:pPr>
            <a:r>
              <a:t>2. House Property – Rental income less deductions</a:t>
            </a:r>
          </a:p>
          <a:p>
            <a:pPr>
              <a:defRPr sz="2000"/>
            </a:pPr>
            <a:r>
              <a:t>3. Business/Profession – Profits after expenses</a:t>
            </a:r>
          </a:p>
          <a:p>
            <a:pPr>
              <a:defRPr sz="2000"/>
            </a:pPr>
            <a:r>
              <a:t>4. Capital Gains – Profit from transfer of assets</a:t>
            </a:r>
          </a:p>
          <a:p>
            <a:pPr>
              <a:defRPr sz="2000"/>
            </a:pPr>
            <a:r>
              <a:t>5. Other Sources – Dividends, lottery, interest</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3. Computation of Total Income</a:t>
            </a:r>
          </a:p>
        </p:txBody>
      </p:sp>
      <p:sp>
        <p:nvSpPr>
          <p:cNvPr id="3" name="Content Placeholder 2"/>
          <p:cNvSpPr>
            <a:spLocks noGrp="1"/>
          </p:cNvSpPr>
          <p:nvPr>
            <p:ph idx="1"/>
          </p:nvPr>
        </p:nvSpPr>
        <p:spPr/>
        <p:txBody>
          <a:bodyPr/>
          <a:lstStyle/>
          <a:p>
            <a:endParaRPr/>
          </a:p>
          <a:p>
            <a:pPr>
              <a:defRPr sz="2000"/>
            </a:pPr>
            <a:r>
              <a:t>Gross Total Income = Sum of 5 heads</a:t>
            </a:r>
          </a:p>
          <a:p>
            <a:pPr>
              <a:defRPr sz="2000"/>
            </a:pPr>
            <a:r>
              <a:t>Adjust for Clubbing Provisions (Sec. 60–64)</a:t>
            </a:r>
          </a:p>
          <a:p>
            <a:pPr>
              <a:defRPr sz="2000"/>
            </a:pPr>
            <a:r>
              <a:t>Set-off &amp; Carry Forward of Losses</a:t>
            </a:r>
          </a:p>
          <a:p>
            <a:pPr>
              <a:defRPr sz="2000"/>
            </a:pPr>
            <a:r>
              <a:t>Deduct Deductions (80C–80U)</a:t>
            </a:r>
          </a:p>
          <a:p>
            <a:pPr>
              <a:defRPr sz="2000"/>
            </a:pPr>
            <a:r>
              <a:t>Total Income → Apply Tax Rates + Cess = Tax Liability</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4. Clubbing &amp; Loss Adjustments</a:t>
            </a:r>
          </a:p>
        </p:txBody>
      </p:sp>
      <p:sp>
        <p:nvSpPr>
          <p:cNvPr id="3" name="Content Placeholder 2"/>
          <p:cNvSpPr>
            <a:spLocks noGrp="1"/>
          </p:cNvSpPr>
          <p:nvPr>
            <p:ph idx="1"/>
          </p:nvPr>
        </p:nvSpPr>
        <p:spPr/>
        <p:txBody>
          <a:bodyPr/>
          <a:lstStyle/>
          <a:p>
            <a:endParaRPr/>
          </a:p>
          <a:p>
            <a:pPr>
              <a:defRPr sz="2000"/>
            </a:pPr>
            <a:r>
              <a:t>Minor’s income → clubbed with parent</a:t>
            </a:r>
          </a:p>
          <a:p>
            <a:pPr>
              <a:defRPr sz="2000"/>
            </a:pPr>
            <a:r>
              <a:t>Spouse’s income from gifted assets → transferor</a:t>
            </a:r>
          </a:p>
          <a:p>
            <a:pPr>
              <a:defRPr sz="2000"/>
            </a:pPr>
            <a:r>
              <a:t>Business Loss: 8 years</a:t>
            </a:r>
          </a:p>
          <a:p>
            <a:pPr>
              <a:defRPr sz="2000"/>
            </a:pPr>
            <a:r>
              <a:t>House Property Loss: 8 years</a:t>
            </a:r>
          </a:p>
          <a:p>
            <a:pPr>
              <a:defRPr sz="2000"/>
            </a:pPr>
            <a:r>
              <a:t>Speculation Loss: 4 years</a:t>
            </a:r>
          </a:p>
          <a:p>
            <a:pPr>
              <a:defRPr sz="2000"/>
            </a:pPr>
            <a:r>
              <a:t>Unabsorbed Depreciation: indefinite</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5. Deductions (Chapter VI-A)</a:t>
            </a:r>
          </a:p>
        </p:txBody>
      </p:sp>
      <p:sp>
        <p:nvSpPr>
          <p:cNvPr id="3" name="Content Placeholder 2"/>
          <p:cNvSpPr>
            <a:spLocks noGrp="1"/>
          </p:cNvSpPr>
          <p:nvPr>
            <p:ph idx="1"/>
          </p:nvPr>
        </p:nvSpPr>
        <p:spPr/>
        <p:txBody>
          <a:bodyPr/>
          <a:lstStyle/>
          <a:p>
            <a:endParaRPr/>
          </a:p>
          <a:p>
            <a:pPr>
              <a:defRPr sz="2000"/>
            </a:pPr>
            <a:r>
              <a:t>80C: Investments (PF, LIC, ELSS, PPF) – ₹1.5 lakh limit</a:t>
            </a:r>
          </a:p>
          <a:p>
            <a:pPr>
              <a:defRPr sz="2000"/>
            </a:pPr>
            <a:r>
              <a:t>80D: Health Insurance premium</a:t>
            </a:r>
          </a:p>
          <a:p>
            <a:pPr>
              <a:defRPr sz="2000"/>
            </a:pPr>
            <a:r>
              <a:t>80G: Donations</a:t>
            </a:r>
          </a:p>
          <a:p>
            <a:pPr>
              <a:defRPr sz="2000"/>
            </a:pPr>
            <a:r>
              <a:t>80TTA/80TTB: Savings Interest</a:t>
            </a:r>
          </a:p>
          <a:p>
            <a:pPr>
              <a:defRPr sz="2000"/>
            </a:pPr>
            <a:r>
              <a:t>80U: Disability benefits</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6. Assessment of Different Persons</a:t>
            </a:r>
          </a:p>
        </p:txBody>
      </p:sp>
      <p:sp>
        <p:nvSpPr>
          <p:cNvPr id="3" name="Content Placeholder 2"/>
          <p:cNvSpPr>
            <a:spLocks noGrp="1"/>
          </p:cNvSpPr>
          <p:nvPr>
            <p:ph idx="1"/>
          </p:nvPr>
        </p:nvSpPr>
        <p:spPr/>
        <p:txBody>
          <a:bodyPr/>
          <a:lstStyle/>
          <a:p>
            <a:endParaRPr/>
          </a:p>
          <a:p>
            <a:pPr>
              <a:defRPr sz="2000"/>
            </a:pPr>
            <a:r>
              <a:t>Individuals/HUF – Slab rates</a:t>
            </a:r>
          </a:p>
          <a:p>
            <a:pPr>
              <a:defRPr sz="2000"/>
            </a:pPr>
            <a:r>
              <a:t>Firms/LLPs – 30% flat</a:t>
            </a:r>
          </a:p>
          <a:p>
            <a:pPr>
              <a:defRPr sz="2000"/>
            </a:pPr>
            <a:r>
              <a:t>Companies – 25%/30% (with MAT)</a:t>
            </a:r>
          </a:p>
          <a:p>
            <a:pPr>
              <a:defRPr sz="2000"/>
            </a:pPr>
            <a:r>
              <a:t>Trusts/NGOs – Special exemptions</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7. Tax Management Tools</a:t>
            </a:r>
          </a:p>
        </p:txBody>
      </p:sp>
      <p:sp>
        <p:nvSpPr>
          <p:cNvPr id="3" name="Content Placeholder 2"/>
          <p:cNvSpPr>
            <a:spLocks noGrp="1"/>
          </p:cNvSpPr>
          <p:nvPr>
            <p:ph idx="1"/>
          </p:nvPr>
        </p:nvSpPr>
        <p:spPr/>
        <p:txBody>
          <a:bodyPr/>
          <a:lstStyle/>
          <a:p>
            <a:endParaRPr/>
          </a:p>
          <a:p>
            <a:pPr>
              <a:defRPr sz="2000"/>
            </a:pPr>
            <a:r>
              <a:t>TDS – Deducted by payer (salary, rent, contracts)</a:t>
            </a:r>
          </a:p>
          <a:p>
            <a:pPr>
              <a:defRPr sz="2000"/>
            </a:pPr>
            <a:r>
              <a:t>TCS – Collected by seller (liquor, scrap, foreign remittance)</a:t>
            </a:r>
          </a:p>
          <a:p>
            <a:pPr>
              <a:defRPr sz="2000"/>
            </a:pPr>
            <a:r>
              <a:t>Advance Tax – Paid in 4 installments</a:t>
            </a:r>
          </a:p>
          <a:p>
            <a:pPr>
              <a:defRPr sz="2000"/>
            </a:pPr>
            <a:r>
              <a:t>ICDS – 10 accounting standards for tax purposes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C3FF0-2234-6D32-2B69-D84E23615303}"/>
              </a:ext>
            </a:extLst>
          </p:cNvPr>
          <p:cNvSpPr>
            <a:spLocks noGrp="1"/>
          </p:cNvSpPr>
          <p:nvPr>
            <p:ph type="title"/>
          </p:nvPr>
        </p:nvSpPr>
        <p:spPr>
          <a:xfrm>
            <a:off x="590693" y="2346173"/>
            <a:ext cx="9404723" cy="1400530"/>
          </a:xfrm>
        </p:spPr>
        <p:txBody>
          <a:bodyPr/>
          <a:lstStyle/>
          <a:p>
            <a:r>
              <a:rPr lang="en-US" sz="4400" dirty="0"/>
              <a:t>Direct Taxes</a:t>
            </a:r>
            <a:br>
              <a:rPr lang="en-US" sz="4400" dirty="0"/>
            </a:br>
            <a:r>
              <a:rPr lang="en-US" sz="4400" dirty="0"/>
              <a:t>Personal Taxation</a:t>
            </a:r>
            <a:br>
              <a:rPr lang="en-US" sz="4400" dirty="0"/>
            </a:br>
            <a:endParaRPr lang="en-IN" dirty="0"/>
          </a:p>
        </p:txBody>
      </p:sp>
      <p:sp>
        <p:nvSpPr>
          <p:cNvPr id="6" name="Slide Number Placeholder 5">
            <a:extLst>
              <a:ext uri="{FF2B5EF4-FFF2-40B4-BE49-F238E27FC236}">
                <a16:creationId xmlns:a16="http://schemas.microsoft.com/office/drawing/2014/main" id="{F9E80E95-8A24-8B7D-4D4C-190F392D740E}"/>
              </a:ext>
            </a:extLst>
          </p:cNvPr>
          <p:cNvSpPr>
            <a:spLocks noGrp="1"/>
          </p:cNvSpPr>
          <p:nvPr>
            <p:ph type="sldNum" sz="quarter" idx="12"/>
          </p:nvPr>
        </p:nvSpPr>
        <p:spPr/>
        <p:txBody>
          <a:bodyPr/>
          <a:lstStyle/>
          <a:p>
            <a:fld id="{94013DF8-6EF8-4A98-8821-E6468C17C0C3}" type="slidenum">
              <a:rPr lang="en-IN" smtClean="0"/>
              <a:t>48</a:t>
            </a:fld>
            <a:endParaRPr lang="en-IN"/>
          </a:p>
        </p:txBody>
      </p:sp>
    </p:spTree>
    <p:extLst>
      <p:ext uri="{BB962C8B-B14F-4D97-AF65-F5344CB8AC3E}">
        <p14:creationId xmlns:p14="http://schemas.microsoft.com/office/powerpoint/2010/main" val="178474702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ITR (Income Tax Return)</a:t>
            </a:r>
            <a:endParaRPr lang="en-IN" dirty="0"/>
          </a:p>
        </p:txBody>
      </p:sp>
      <p:sp>
        <p:nvSpPr>
          <p:cNvPr id="3" name="Content Placeholder 2"/>
          <p:cNvSpPr>
            <a:spLocks noGrp="1"/>
          </p:cNvSpPr>
          <p:nvPr>
            <p:ph idx="1"/>
          </p:nvPr>
        </p:nvSpPr>
        <p:spPr>
          <a:xfrm>
            <a:off x="1103312" y="2052918"/>
            <a:ext cx="10926763" cy="4195481"/>
          </a:xfrm>
        </p:spPr>
        <p:txBody>
          <a:bodyPr>
            <a:normAutofit fontScale="92500" lnSpcReduction="10000"/>
          </a:bodyPr>
          <a:lstStyle/>
          <a:p>
            <a:pPr>
              <a:lnSpc>
                <a:spcPct val="150000"/>
              </a:lnSpc>
            </a:pPr>
            <a:r>
              <a:rPr lang="en-US" sz="2800" dirty="0">
                <a:solidFill>
                  <a:srgbClr val="0070C0"/>
                </a:solidFill>
              </a:rPr>
              <a:t>What is ITR?</a:t>
            </a:r>
            <a:br>
              <a:rPr lang="en-US" sz="2400" dirty="0"/>
            </a:br>
            <a:r>
              <a:rPr lang="en-US" sz="2400" dirty="0"/>
              <a:t>ITR (Income Tax Return) is an official form where individuals, HUFs, and entities report their annual income, tax deductions, and taxes paid to the Income Tax Department of India. Filing ITR is mandatory if your income exceeds the basic exemption limit or in certain specified situations.</a:t>
            </a:r>
          </a:p>
          <a:p>
            <a:pPr>
              <a:lnSpc>
                <a:spcPct val="150000"/>
              </a:lnSpc>
            </a:pPr>
            <a:r>
              <a:rPr lang="en-US" sz="2800" dirty="0">
                <a:solidFill>
                  <a:srgbClr val="0070C0"/>
                </a:solidFill>
              </a:rPr>
              <a:t>Current Filing Period:</a:t>
            </a:r>
            <a:br>
              <a:rPr lang="en-US" sz="2400" dirty="0"/>
            </a:br>
            <a:r>
              <a:rPr lang="en-US" sz="2400" dirty="0"/>
              <a:t>For the financial year 2024-25 (April 1, 2024 – March 31, 2025), the ITR must be filed during the assessment year 2025-26 (April 1, 2025 – March 31, 2026).</a:t>
            </a:r>
          </a:p>
          <a:p>
            <a:endParaRPr lang="en-IN" dirty="0"/>
          </a:p>
        </p:txBody>
      </p:sp>
      <p:sp>
        <p:nvSpPr>
          <p:cNvPr id="4" name="Slide Number Placeholder 3"/>
          <p:cNvSpPr>
            <a:spLocks noGrp="1"/>
          </p:cNvSpPr>
          <p:nvPr>
            <p:ph type="sldNum" sz="quarter" idx="12"/>
          </p:nvPr>
        </p:nvSpPr>
        <p:spPr/>
        <p:txBody>
          <a:bodyPr/>
          <a:lstStyle/>
          <a:p>
            <a:fld id="{94013DF8-6EF8-4A98-8821-E6468C17C0C3}" type="slidenum">
              <a:rPr lang="en-IN" smtClean="0"/>
              <a:t>49</a:t>
            </a:fld>
            <a:endParaRPr lang="en-IN"/>
          </a:p>
        </p:txBody>
      </p:sp>
    </p:spTree>
    <p:extLst>
      <p:ext uri="{BB962C8B-B14F-4D97-AF65-F5344CB8AC3E}">
        <p14:creationId xmlns:p14="http://schemas.microsoft.com/office/powerpoint/2010/main" val="393201885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Who must file income tax returns (ITR)</a:t>
            </a:r>
            <a:endParaRPr lang="en-IN" dirty="0"/>
          </a:p>
        </p:txBody>
      </p:sp>
      <p:sp>
        <p:nvSpPr>
          <p:cNvPr id="3" name="Content Placeholder 2"/>
          <p:cNvSpPr>
            <a:spLocks noGrp="1"/>
          </p:cNvSpPr>
          <p:nvPr>
            <p:ph idx="1"/>
          </p:nvPr>
        </p:nvSpPr>
        <p:spPr>
          <a:xfrm>
            <a:off x="329609" y="1562986"/>
            <a:ext cx="11717079" cy="4685413"/>
          </a:xfrm>
        </p:spPr>
        <p:txBody>
          <a:bodyPr>
            <a:normAutofit fontScale="92500" lnSpcReduction="20000"/>
          </a:bodyPr>
          <a:lstStyle/>
          <a:p>
            <a:pPr>
              <a:lnSpc>
                <a:spcPct val="110000"/>
              </a:lnSpc>
            </a:pPr>
            <a:r>
              <a:rPr lang="en-US" dirty="0"/>
              <a:t>Individuals/HUF whose total income exceeds the basic exemption limit:</a:t>
            </a:r>
          </a:p>
          <a:p>
            <a:pPr lvl="1">
              <a:lnSpc>
                <a:spcPct val="110000"/>
              </a:lnSpc>
            </a:pPr>
            <a:r>
              <a:rPr lang="en-US" dirty="0"/>
              <a:t>Under the old tax regime: ₹2,50,000 for individuals below 60 years, ₹3,00,000 for senior citizens (60-80 years), ₹5,00,000 for super seniors (above 80 years).</a:t>
            </a:r>
          </a:p>
          <a:p>
            <a:pPr lvl="1">
              <a:lnSpc>
                <a:spcPct val="110000"/>
              </a:lnSpc>
            </a:pPr>
            <a:r>
              <a:rPr lang="en-US" dirty="0"/>
              <a:t>Under the new tax regime: ₹3,00,000 for all individuals regardless of age.</a:t>
            </a:r>
          </a:p>
          <a:p>
            <a:pPr>
              <a:lnSpc>
                <a:spcPct val="110000"/>
              </a:lnSpc>
            </a:pPr>
            <a:r>
              <a:rPr lang="en-US" dirty="0"/>
              <a:t>Anyone having income beyond these limits from any source, including salary, business, capital gains, house property, or other sources.</a:t>
            </a:r>
          </a:p>
          <a:p>
            <a:pPr>
              <a:lnSpc>
                <a:spcPct val="110000"/>
              </a:lnSpc>
            </a:pPr>
            <a:r>
              <a:rPr lang="en-US" dirty="0"/>
              <a:t>Certain cases where filing is mandatory even if income is below threshold, such as:</a:t>
            </a:r>
          </a:p>
          <a:p>
            <a:pPr lvl="1">
              <a:lnSpc>
                <a:spcPct val="110000"/>
              </a:lnSpc>
            </a:pPr>
            <a:r>
              <a:rPr lang="en-US" dirty="0"/>
              <a:t>Deposits exceeding ₹50 lakh in savings accounts or ₹1 crore in current accounts.</a:t>
            </a:r>
          </a:p>
          <a:p>
            <a:pPr lvl="1">
              <a:lnSpc>
                <a:spcPct val="110000"/>
              </a:lnSpc>
            </a:pPr>
            <a:r>
              <a:rPr lang="en-US" dirty="0"/>
              <a:t>Gross business receipts over ₹60 lakh or professional income over ₹10 lakh.</a:t>
            </a:r>
          </a:p>
          <a:p>
            <a:pPr lvl="1">
              <a:lnSpc>
                <a:spcPct val="110000"/>
              </a:lnSpc>
            </a:pPr>
            <a:r>
              <a:rPr lang="en-US" dirty="0"/>
              <a:t>Payment of electricity bills exceeding ₹1 lakh.</a:t>
            </a:r>
          </a:p>
          <a:p>
            <a:pPr lvl="1">
              <a:lnSpc>
                <a:spcPct val="110000"/>
              </a:lnSpc>
            </a:pPr>
            <a:r>
              <a:rPr lang="en-US" dirty="0"/>
              <a:t>Holding foreign assets or accounts.</a:t>
            </a:r>
          </a:p>
          <a:p>
            <a:pPr lvl="1">
              <a:lnSpc>
                <a:spcPct val="110000"/>
              </a:lnSpc>
            </a:pPr>
            <a:r>
              <a:rPr lang="en-US" dirty="0"/>
              <a:t>Tax deducted at source (TDS) or collected (TCS) above prescribed limits.</a:t>
            </a:r>
          </a:p>
          <a:p>
            <a:pPr lvl="1">
              <a:lnSpc>
                <a:spcPct val="110000"/>
              </a:lnSpc>
            </a:pPr>
            <a:r>
              <a:rPr lang="en-US" dirty="0"/>
              <a:t>Spending over ₹2 lakh on foreign travel.</a:t>
            </a:r>
          </a:p>
          <a:p>
            <a:endParaRPr lang="en-IN" dirty="0"/>
          </a:p>
        </p:txBody>
      </p:sp>
      <p:sp>
        <p:nvSpPr>
          <p:cNvPr id="4" name="Slide Number Placeholder 3"/>
          <p:cNvSpPr>
            <a:spLocks noGrp="1"/>
          </p:cNvSpPr>
          <p:nvPr>
            <p:ph type="sldNum" sz="quarter" idx="12"/>
          </p:nvPr>
        </p:nvSpPr>
        <p:spPr/>
        <p:txBody>
          <a:bodyPr/>
          <a:lstStyle/>
          <a:p>
            <a:fld id="{94013DF8-6EF8-4A98-8821-E6468C17C0C3}" type="slidenum">
              <a:rPr lang="en-IN" smtClean="0"/>
              <a:t>50</a:t>
            </a:fld>
            <a:endParaRPr lang="en-IN"/>
          </a:p>
        </p:txBody>
      </p:sp>
    </p:spTree>
    <p:extLst>
      <p:ext uri="{BB962C8B-B14F-4D97-AF65-F5344CB8AC3E}">
        <p14:creationId xmlns:p14="http://schemas.microsoft.com/office/powerpoint/2010/main" val="4138624458"/>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Updated income tax slabs under the new tax regime</a:t>
            </a: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451122959"/>
              </p:ext>
            </p:extLst>
          </p:nvPr>
        </p:nvGraphicFramePr>
        <p:xfrm>
          <a:off x="7018042" y="2491286"/>
          <a:ext cx="5007382" cy="2987040"/>
        </p:xfrm>
        <a:graphic>
          <a:graphicData uri="http://schemas.openxmlformats.org/drawingml/2006/table">
            <a:tbl>
              <a:tblPr>
                <a:tableStyleId>{5DA37D80-6434-44D0-A028-1B22A696006F}</a:tableStyleId>
              </a:tblPr>
              <a:tblGrid>
                <a:gridCol w="3263642">
                  <a:extLst>
                    <a:ext uri="{9D8B030D-6E8A-4147-A177-3AD203B41FA5}">
                      <a16:colId xmlns:a16="http://schemas.microsoft.com/office/drawing/2014/main" val="2409844044"/>
                    </a:ext>
                  </a:extLst>
                </a:gridCol>
                <a:gridCol w="1743740">
                  <a:extLst>
                    <a:ext uri="{9D8B030D-6E8A-4147-A177-3AD203B41FA5}">
                      <a16:colId xmlns:a16="http://schemas.microsoft.com/office/drawing/2014/main" val="2911711309"/>
                    </a:ext>
                  </a:extLst>
                </a:gridCol>
              </a:tblGrid>
              <a:tr h="0">
                <a:tc>
                  <a:txBody>
                    <a:bodyPr/>
                    <a:lstStyle/>
                    <a:p>
                      <a:pPr algn="l" fontAlgn="t" latinLnBrk="0"/>
                      <a:r>
                        <a:rPr lang="en-IN" b="1" dirty="0">
                          <a:effectLst/>
                        </a:rPr>
                        <a:t>Income Range (₹)</a:t>
                      </a:r>
                    </a:p>
                  </a:txBody>
                  <a:tcPr marL="76200" marR="76200" marT="76200" marB="76200"/>
                </a:tc>
                <a:tc>
                  <a:txBody>
                    <a:bodyPr/>
                    <a:lstStyle/>
                    <a:p>
                      <a:pPr algn="ctr" fontAlgn="t" latinLnBrk="0"/>
                      <a:r>
                        <a:rPr lang="en-IN" b="1" dirty="0">
                          <a:effectLst/>
                        </a:rPr>
                        <a:t>Tax Rate</a:t>
                      </a:r>
                    </a:p>
                  </a:txBody>
                  <a:tcPr marL="76200" marR="76200" marT="76200" marB="76200"/>
                </a:tc>
                <a:extLst>
                  <a:ext uri="{0D108BD9-81ED-4DB2-BD59-A6C34878D82A}">
                    <a16:rowId xmlns:a16="http://schemas.microsoft.com/office/drawing/2014/main" val="3162500318"/>
                  </a:ext>
                </a:extLst>
              </a:tr>
              <a:tr h="0">
                <a:tc>
                  <a:txBody>
                    <a:bodyPr/>
                    <a:lstStyle/>
                    <a:p>
                      <a:pPr fontAlgn="base" latinLnBrk="0"/>
                      <a:r>
                        <a:rPr lang="en-IN">
                          <a:effectLst/>
                        </a:rPr>
                        <a:t>Up to 4,00,000</a:t>
                      </a:r>
                    </a:p>
                  </a:txBody>
                  <a:tcPr marL="76200" marR="76200" anchor="ctr"/>
                </a:tc>
                <a:tc>
                  <a:txBody>
                    <a:bodyPr/>
                    <a:lstStyle/>
                    <a:p>
                      <a:pPr algn="ctr" fontAlgn="base" latinLnBrk="0"/>
                      <a:r>
                        <a:rPr lang="en-IN">
                          <a:effectLst/>
                        </a:rPr>
                        <a:t>Nil</a:t>
                      </a:r>
                    </a:p>
                  </a:txBody>
                  <a:tcPr marL="76200" marR="76200" anchor="ctr"/>
                </a:tc>
                <a:extLst>
                  <a:ext uri="{0D108BD9-81ED-4DB2-BD59-A6C34878D82A}">
                    <a16:rowId xmlns:a16="http://schemas.microsoft.com/office/drawing/2014/main" val="3615762312"/>
                  </a:ext>
                </a:extLst>
              </a:tr>
              <a:tr h="0">
                <a:tc>
                  <a:txBody>
                    <a:bodyPr/>
                    <a:lstStyle/>
                    <a:p>
                      <a:pPr fontAlgn="base" latinLnBrk="0"/>
                      <a:r>
                        <a:rPr lang="en-IN" dirty="0">
                          <a:effectLst/>
                        </a:rPr>
                        <a:t>4,00,001 to 8,00,000</a:t>
                      </a:r>
                    </a:p>
                  </a:txBody>
                  <a:tcPr marL="76200" marR="76200" anchor="ctr"/>
                </a:tc>
                <a:tc>
                  <a:txBody>
                    <a:bodyPr/>
                    <a:lstStyle/>
                    <a:p>
                      <a:pPr algn="ctr" fontAlgn="base" latinLnBrk="0"/>
                      <a:r>
                        <a:rPr lang="en-IN">
                          <a:effectLst/>
                        </a:rPr>
                        <a:t>5%</a:t>
                      </a:r>
                    </a:p>
                  </a:txBody>
                  <a:tcPr marL="76200" marR="76200" anchor="ctr"/>
                </a:tc>
                <a:extLst>
                  <a:ext uri="{0D108BD9-81ED-4DB2-BD59-A6C34878D82A}">
                    <a16:rowId xmlns:a16="http://schemas.microsoft.com/office/drawing/2014/main" val="4114146465"/>
                  </a:ext>
                </a:extLst>
              </a:tr>
              <a:tr h="0">
                <a:tc>
                  <a:txBody>
                    <a:bodyPr/>
                    <a:lstStyle/>
                    <a:p>
                      <a:pPr fontAlgn="base" latinLnBrk="0"/>
                      <a:r>
                        <a:rPr lang="en-IN" dirty="0">
                          <a:effectLst/>
                        </a:rPr>
                        <a:t>8,00,001 to 12,00,000</a:t>
                      </a:r>
                    </a:p>
                  </a:txBody>
                  <a:tcPr marL="76200" marR="76200" anchor="ctr"/>
                </a:tc>
                <a:tc>
                  <a:txBody>
                    <a:bodyPr/>
                    <a:lstStyle/>
                    <a:p>
                      <a:pPr algn="ctr" fontAlgn="base" latinLnBrk="0"/>
                      <a:r>
                        <a:rPr lang="en-IN">
                          <a:effectLst/>
                        </a:rPr>
                        <a:t>10%</a:t>
                      </a:r>
                    </a:p>
                  </a:txBody>
                  <a:tcPr marL="76200" marR="76200" anchor="ctr"/>
                </a:tc>
                <a:extLst>
                  <a:ext uri="{0D108BD9-81ED-4DB2-BD59-A6C34878D82A}">
                    <a16:rowId xmlns:a16="http://schemas.microsoft.com/office/drawing/2014/main" val="3149825286"/>
                  </a:ext>
                </a:extLst>
              </a:tr>
              <a:tr h="0">
                <a:tc>
                  <a:txBody>
                    <a:bodyPr/>
                    <a:lstStyle/>
                    <a:p>
                      <a:pPr fontAlgn="base" latinLnBrk="0"/>
                      <a:r>
                        <a:rPr lang="en-IN" dirty="0">
                          <a:effectLst/>
                        </a:rPr>
                        <a:t>12,00,001 to 16,00,000</a:t>
                      </a:r>
                    </a:p>
                  </a:txBody>
                  <a:tcPr marL="76200" marR="76200" anchor="ctr"/>
                </a:tc>
                <a:tc>
                  <a:txBody>
                    <a:bodyPr/>
                    <a:lstStyle/>
                    <a:p>
                      <a:pPr algn="ctr" fontAlgn="base" latinLnBrk="0"/>
                      <a:r>
                        <a:rPr lang="en-IN">
                          <a:effectLst/>
                        </a:rPr>
                        <a:t>15%</a:t>
                      </a:r>
                    </a:p>
                  </a:txBody>
                  <a:tcPr marL="76200" marR="76200" anchor="ctr"/>
                </a:tc>
                <a:extLst>
                  <a:ext uri="{0D108BD9-81ED-4DB2-BD59-A6C34878D82A}">
                    <a16:rowId xmlns:a16="http://schemas.microsoft.com/office/drawing/2014/main" val="3557959716"/>
                  </a:ext>
                </a:extLst>
              </a:tr>
              <a:tr h="0">
                <a:tc>
                  <a:txBody>
                    <a:bodyPr/>
                    <a:lstStyle/>
                    <a:p>
                      <a:pPr fontAlgn="base" latinLnBrk="0"/>
                      <a:r>
                        <a:rPr lang="en-IN">
                          <a:effectLst/>
                        </a:rPr>
                        <a:t>16,00,001 to 20,00,000</a:t>
                      </a:r>
                    </a:p>
                  </a:txBody>
                  <a:tcPr marL="76200" marR="76200" anchor="ctr"/>
                </a:tc>
                <a:tc>
                  <a:txBody>
                    <a:bodyPr/>
                    <a:lstStyle/>
                    <a:p>
                      <a:pPr algn="ctr" fontAlgn="base" latinLnBrk="0"/>
                      <a:r>
                        <a:rPr lang="en-IN">
                          <a:effectLst/>
                        </a:rPr>
                        <a:t>20%</a:t>
                      </a:r>
                    </a:p>
                  </a:txBody>
                  <a:tcPr marL="76200" marR="76200" anchor="ctr"/>
                </a:tc>
                <a:extLst>
                  <a:ext uri="{0D108BD9-81ED-4DB2-BD59-A6C34878D82A}">
                    <a16:rowId xmlns:a16="http://schemas.microsoft.com/office/drawing/2014/main" val="1875093099"/>
                  </a:ext>
                </a:extLst>
              </a:tr>
              <a:tr h="0">
                <a:tc>
                  <a:txBody>
                    <a:bodyPr/>
                    <a:lstStyle/>
                    <a:p>
                      <a:pPr fontAlgn="base" latinLnBrk="0"/>
                      <a:r>
                        <a:rPr lang="en-IN">
                          <a:effectLst/>
                        </a:rPr>
                        <a:t>20,00,001 to 24,00,000</a:t>
                      </a:r>
                    </a:p>
                  </a:txBody>
                  <a:tcPr marL="76200" marR="76200" anchor="ctr"/>
                </a:tc>
                <a:tc>
                  <a:txBody>
                    <a:bodyPr/>
                    <a:lstStyle/>
                    <a:p>
                      <a:pPr algn="ctr" fontAlgn="base" latinLnBrk="0"/>
                      <a:r>
                        <a:rPr lang="en-IN">
                          <a:effectLst/>
                        </a:rPr>
                        <a:t>25%</a:t>
                      </a:r>
                    </a:p>
                  </a:txBody>
                  <a:tcPr marL="76200" marR="76200" anchor="ctr"/>
                </a:tc>
                <a:extLst>
                  <a:ext uri="{0D108BD9-81ED-4DB2-BD59-A6C34878D82A}">
                    <a16:rowId xmlns:a16="http://schemas.microsoft.com/office/drawing/2014/main" val="3955142245"/>
                  </a:ext>
                </a:extLst>
              </a:tr>
              <a:tr h="0">
                <a:tc>
                  <a:txBody>
                    <a:bodyPr/>
                    <a:lstStyle/>
                    <a:p>
                      <a:pPr fontAlgn="base" latinLnBrk="0"/>
                      <a:r>
                        <a:rPr lang="en-IN" dirty="0">
                          <a:effectLst/>
                        </a:rPr>
                        <a:t>Above 24,00,000</a:t>
                      </a:r>
                    </a:p>
                  </a:txBody>
                  <a:tcPr marL="76200" marR="76200" anchor="ctr"/>
                </a:tc>
                <a:tc>
                  <a:txBody>
                    <a:bodyPr/>
                    <a:lstStyle/>
                    <a:p>
                      <a:pPr algn="ctr" fontAlgn="base" latinLnBrk="0"/>
                      <a:r>
                        <a:rPr lang="en-IN" dirty="0">
                          <a:effectLst/>
                        </a:rPr>
                        <a:t>30%</a:t>
                      </a:r>
                    </a:p>
                  </a:txBody>
                  <a:tcPr marL="76200" marR="76200" anchor="ctr"/>
                </a:tc>
                <a:extLst>
                  <a:ext uri="{0D108BD9-81ED-4DB2-BD59-A6C34878D82A}">
                    <a16:rowId xmlns:a16="http://schemas.microsoft.com/office/drawing/2014/main" val="1559257959"/>
                  </a:ext>
                </a:extLst>
              </a:tr>
            </a:tbl>
          </a:graphicData>
        </a:graphic>
      </p:graphicFrame>
      <p:sp>
        <p:nvSpPr>
          <p:cNvPr id="4" name="Slide Number Placeholder 3"/>
          <p:cNvSpPr>
            <a:spLocks noGrp="1"/>
          </p:cNvSpPr>
          <p:nvPr>
            <p:ph type="sldNum" sz="quarter" idx="12"/>
          </p:nvPr>
        </p:nvSpPr>
        <p:spPr/>
        <p:txBody>
          <a:bodyPr/>
          <a:lstStyle/>
          <a:p>
            <a:fld id="{94013DF8-6EF8-4A98-8821-E6468C17C0C3}" type="slidenum">
              <a:rPr lang="en-IN" smtClean="0"/>
              <a:t>51</a:t>
            </a:fld>
            <a:endParaRPr lang="en-IN"/>
          </a:p>
        </p:txBody>
      </p:sp>
      <p:sp>
        <p:nvSpPr>
          <p:cNvPr id="6" name="Rectangle 5"/>
          <p:cNvSpPr/>
          <p:nvPr/>
        </p:nvSpPr>
        <p:spPr>
          <a:xfrm>
            <a:off x="209107" y="2106802"/>
            <a:ext cx="6595730" cy="4606389"/>
          </a:xfrm>
          <a:prstGeom prst="rect">
            <a:avLst/>
          </a:prstGeom>
        </p:spPr>
        <p:txBody>
          <a:bodyPr wrap="square">
            <a:spAutoFit/>
          </a:bodyPr>
          <a:lstStyle/>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The new tax regime offers these slabs without most of the old exemptions and deductions.</a:t>
            </a:r>
          </a:p>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Tax rebate under Section 87A is applicable up to ₹12 lakh taxable income, potentially making income up to ₹12 lakh effectively tax-free.</a:t>
            </a:r>
          </a:p>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Taxpayers can still opt for the old tax regime, which retains the classic deductions and exemptions and has different slab rates.</a:t>
            </a:r>
          </a:p>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Health and Education </a:t>
            </a:r>
            <a:r>
              <a:rPr lang="en-US" sz="2000" dirty="0" err="1">
                <a:latin typeface="+mj-lt"/>
                <a:ea typeface="+mj-ea"/>
                <a:cs typeface="+mj-cs"/>
              </a:rPr>
              <a:t>cess</a:t>
            </a:r>
            <a:r>
              <a:rPr lang="en-US" sz="2000" dirty="0">
                <a:latin typeface="+mj-lt"/>
                <a:ea typeface="+mj-ea"/>
                <a:cs typeface="+mj-cs"/>
              </a:rPr>
              <a:t> of 4% is applicable on the tax computed.</a:t>
            </a:r>
          </a:p>
          <a:p>
            <a:pPr marL="742950" lvl="1" indent="-285750">
              <a:spcBef>
                <a:spcPts val="1000"/>
              </a:spcBef>
              <a:buClr>
                <a:schemeClr val="bg2">
                  <a:lumMod val="40000"/>
                  <a:lumOff val="60000"/>
                </a:schemeClr>
              </a:buClr>
              <a:buSzPct val="80000"/>
              <a:buFont typeface="Wingdings 3" charset="2"/>
              <a:buChar char=""/>
            </a:pPr>
            <a:r>
              <a:rPr lang="en-US" sz="2000" dirty="0">
                <a:latin typeface="+mj-lt"/>
                <a:ea typeface="+mj-ea"/>
                <a:cs typeface="+mj-cs"/>
              </a:rPr>
              <a:t>This new slab structure was introduced by the Finance Act 2024 and will apply starting from FY 2025-26 (AY 2026-27)</a:t>
            </a:r>
          </a:p>
        </p:txBody>
      </p:sp>
    </p:spTree>
    <p:extLst>
      <p:ext uri="{BB962C8B-B14F-4D97-AF65-F5344CB8AC3E}">
        <p14:creationId xmlns:p14="http://schemas.microsoft.com/office/powerpoint/2010/main" val="128249366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Standard Deduction (Income Tax) – FY 2024-25</a:t>
            </a:r>
            <a:endParaRPr lang="en-IN" dirty="0"/>
          </a:p>
        </p:txBody>
      </p:sp>
      <p:sp>
        <p:nvSpPr>
          <p:cNvPr id="3" name="Content Placeholder 2"/>
          <p:cNvSpPr>
            <a:spLocks noGrp="1"/>
          </p:cNvSpPr>
          <p:nvPr>
            <p:ph idx="1"/>
          </p:nvPr>
        </p:nvSpPr>
        <p:spPr>
          <a:xfrm>
            <a:off x="754913" y="1989122"/>
            <a:ext cx="11281144" cy="4195481"/>
          </a:xfrm>
        </p:spPr>
        <p:txBody>
          <a:bodyPr>
            <a:normAutofit fontScale="92500" lnSpcReduction="10000"/>
          </a:bodyPr>
          <a:lstStyle/>
          <a:p>
            <a:pPr>
              <a:lnSpc>
                <a:spcPct val="150000"/>
              </a:lnSpc>
            </a:pPr>
            <a:r>
              <a:rPr lang="en-US" b="1" dirty="0"/>
              <a:t>What is Standard Deduction?</a:t>
            </a:r>
            <a:br>
              <a:rPr lang="en-US" dirty="0"/>
            </a:br>
            <a:r>
              <a:rPr lang="en-US" dirty="0"/>
              <a:t>A fixed amount salaried individuals and pensioners can deduct from their taxable salary income without submitting any proof.</a:t>
            </a:r>
          </a:p>
          <a:p>
            <a:pPr>
              <a:lnSpc>
                <a:spcPct val="150000"/>
              </a:lnSpc>
            </a:pPr>
            <a:r>
              <a:rPr lang="en-US" b="1" dirty="0"/>
              <a:t>Purpose:</a:t>
            </a:r>
            <a:br>
              <a:rPr lang="en-US" dirty="0"/>
            </a:br>
            <a:r>
              <a:rPr lang="en-US" dirty="0"/>
              <a:t>Simplifies tax filing by replacing earlier transport and medical allowances, reducing paperwork and providing automatic relief.</a:t>
            </a:r>
          </a:p>
          <a:p>
            <a:pPr>
              <a:lnSpc>
                <a:spcPct val="150000"/>
              </a:lnSpc>
            </a:pPr>
            <a:r>
              <a:rPr lang="en-US" b="1" dirty="0"/>
              <a:t>Current Limits:</a:t>
            </a:r>
          </a:p>
          <a:p>
            <a:pPr lvl="1">
              <a:lnSpc>
                <a:spcPct val="150000"/>
              </a:lnSpc>
            </a:pPr>
            <a:r>
              <a:rPr lang="en-US" dirty="0"/>
              <a:t>₹75,000 under the New Tax Regime (default from FY 2024-25)</a:t>
            </a:r>
          </a:p>
          <a:p>
            <a:pPr lvl="1">
              <a:lnSpc>
                <a:spcPct val="150000"/>
              </a:lnSpc>
            </a:pPr>
            <a:r>
              <a:rPr lang="en-US" dirty="0"/>
              <a:t>₹50,000 under the Old Tax Regime</a:t>
            </a:r>
          </a:p>
        </p:txBody>
      </p:sp>
      <p:sp>
        <p:nvSpPr>
          <p:cNvPr id="4" name="Slide Number Placeholder 3"/>
          <p:cNvSpPr>
            <a:spLocks noGrp="1"/>
          </p:cNvSpPr>
          <p:nvPr>
            <p:ph type="sldNum" sz="quarter" idx="12"/>
          </p:nvPr>
        </p:nvSpPr>
        <p:spPr/>
        <p:txBody>
          <a:bodyPr/>
          <a:lstStyle/>
          <a:p>
            <a:fld id="{94013DF8-6EF8-4A98-8821-E6468C17C0C3}" type="slidenum">
              <a:rPr lang="en-IN" smtClean="0"/>
              <a:t>52</a:t>
            </a:fld>
            <a:endParaRPr lang="en-IN"/>
          </a:p>
        </p:txBody>
      </p:sp>
    </p:spTree>
    <p:extLst>
      <p:ext uri="{BB962C8B-B14F-4D97-AF65-F5344CB8AC3E}">
        <p14:creationId xmlns:p14="http://schemas.microsoft.com/office/powerpoint/2010/main" val="3237018419"/>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latin typeface="fkGroteskNeue"/>
              </a:rPr>
              <a:t>Marginal relief</a:t>
            </a:r>
            <a:endParaRPr lang="en-IN" dirty="0"/>
          </a:p>
        </p:txBody>
      </p:sp>
      <p:sp>
        <p:nvSpPr>
          <p:cNvPr id="7" name="Content Placeholder 6"/>
          <p:cNvSpPr>
            <a:spLocks noGrp="1"/>
          </p:cNvSpPr>
          <p:nvPr>
            <p:ph idx="1"/>
          </p:nvPr>
        </p:nvSpPr>
        <p:spPr>
          <a:xfrm>
            <a:off x="371476" y="1406951"/>
            <a:ext cx="10391774" cy="5133974"/>
          </a:xfrm>
        </p:spPr>
        <p:txBody>
          <a:bodyPr>
            <a:normAutofit/>
          </a:bodyPr>
          <a:lstStyle/>
          <a:p>
            <a:r>
              <a:rPr lang="en-US" sz="2100" dirty="0"/>
              <a:t>Marginal relief is a provision in India’s income tax law designed to prevent a sharp spike in tax liability for individuals whose income slightly exceeds a key tax-free or rebate threshold—specifically, the ₹12 lakh limit under the new regime (FY 2025-26 onwards).</a:t>
            </a:r>
          </a:p>
          <a:p>
            <a:r>
              <a:rPr lang="en-US" dirty="0"/>
              <a:t>How Marginal Relief Works (FY 2025-26, New Tax Regime)</a:t>
            </a:r>
          </a:p>
          <a:p>
            <a:pPr lvl="1"/>
            <a:r>
              <a:rPr lang="en-US" dirty="0"/>
              <a:t>If your income just exceeds ₹12 lakh, you lose the entire Section 87A rebate, causing your tax to jump abruptly.</a:t>
            </a:r>
          </a:p>
          <a:p>
            <a:pPr lvl="1"/>
            <a:r>
              <a:rPr lang="en-US" dirty="0"/>
              <a:t>Marginal relief ensures that the additional tax you pay does not exceed the extra income earned over ₹12 lakh.</a:t>
            </a:r>
            <a:br>
              <a:rPr lang="en-US" dirty="0"/>
            </a:br>
            <a:r>
              <a:rPr lang="en-US" dirty="0"/>
              <a:t>For instance, if your income is ₹12,10,000 (i.e., ₹10,000 more than ₹12 lakh), your final tax, after applying marginal relief, will not be more than ₹10,000—even if the slab-wise tax calculation suggests a higher amount.</a:t>
            </a:r>
          </a:p>
          <a:p>
            <a:pPr lvl="1"/>
            <a:r>
              <a:rPr lang="en-US" dirty="0"/>
              <a:t>This relief tapers off and is only available for incomes up to about ₹12,75,000–₹12,70,588, depending on the exact break-even, beyond which regular slab tax applies and no marginal relief is available</a:t>
            </a:r>
          </a:p>
          <a:p>
            <a:endParaRPr lang="en-IN" dirty="0"/>
          </a:p>
        </p:txBody>
      </p:sp>
      <p:sp>
        <p:nvSpPr>
          <p:cNvPr id="4" name="Slide Number Placeholder 3"/>
          <p:cNvSpPr>
            <a:spLocks noGrp="1"/>
          </p:cNvSpPr>
          <p:nvPr>
            <p:ph type="sldNum" sz="quarter" idx="12"/>
          </p:nvPr>
        </p:nvSpPr>
        <p:spPr/>
        <p:txBody>
          <a:bodyPr/>
          <a:lstStyle/>
          <a:p>
            <a:fld id="{94013DF8-6EF8-4A98-8821-E6468C17C0C3}" type="slidenum">
              <a:rPr lang="en-IN" smtClean="0"/>
              <a:t>53</a:t>
            </a:fld>
            <a:endParaRPr lang="en-IN"/>
          </a:p>
        </p:txBody>
      </p:sp>
    </p:spTree>
    <p:extLst>
      <p:ext uri="{BB962C8B-B14F-4D97-AF65-F5344CB8AC3E}">
        <p14:creationId xmlns:p14="http://schemas.microsoft.com/office/powerpoint/2010/main" val="327246645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latin typeface="fkGroteskNeue"/>
              </a:rPr>
              <a:t>Marginal relief</a:t>
            </a:r>
            <a:endParaRPr lang="en-IN" dirty="0"/>
          </a:p>
        </p:txBody>
      </p:sp>
      <p:sp>
        <p:nvSpPr>
          <p:cNvPr id="4" name="Slide Number Placeholder 3"/>
          <p:cNvSpPr>
            <a:spLocks noGrp="1"/>
          </p:cNvSpPr>
          <p:nvPr>
            <p:ph type="sldNum" sz="quarter" idx="12"/>
          </p:nvPr>
        </p:nvSpPr>
        <p:spPr/>
        <p:txBody>
          <a:bodyPr/>
          <a:lstStyle/>
          <a:p>
            <a:fld id="{94013DF8-6EF8-4A98-8821-E6468C17C0C3}" type="slidenum">
              <a:rPr lang="en-IN" smtClean="0"/>
              <a:t>54</a:t>
            </a:fld>
            <a:endParaRPr lang="en-IN"/>
          </a:p>
        </p:txBody>
      </p:sp>
      <p:grpSp>
        <p:nvGrpSpPr>
          <p:cNvPr id="5" name="Group 4"/>
          <p:cNvGrpSpPr/>
          <p:nvPr/>
        </p:nvGrpSpPr>
        <p:grpSpPr>
          <a:xfrm>
            <a:off x="438149" y="1602816"/>
            <a:ext cx="7162801" cy="4852352"/>
            <a:chOff x="2400299" y="1434148"/>
            <a:chExt cx="6572251" cy="4381501"/>
          </a:xfrm>
        </p:grpSpPr>
        <p:pic>
          <p:nvPicPr>
            <p:cNvPr id="3078" name="Picture 6" descr="Two office employees, one happy and one sad, without visible fac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00299" y="1434148"/>
              <a:ext cx="6572251" cy="4381501"/>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p:cNvSpPr txBox="1"/>
            <p:nvPr/>
          </p:nvSpPr>
          <p:spPr>
            <a:xfrm>
              <a:off x="3028950" y="5169318"/>
              <a:ext cx="2200275" cy="583614"/>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IN" dirty="0"/>
                <a:t>Annual Income</a:t>
              </a:r>
            </a:p>
            <a:p>
              <a:pPr algn="ctr"/>
              <a:r>
                <a:rPr lang="en-IN" dirty="0"/>
                <a:t>Rs.1,19,900</a:t>
              </a:r>
            </a:p>
          </p:txBody>
        </p:sp>
      </p:grpSp>
      <p:sp>
        <p:nvSpPr>
          <p:cNvPr id="10" name="TextBox 9"/>
          <p:cNvSpPr txBox="1"/>
          <p:nvPr/>
        </p:nvSpPr>
        <p:spPr>
          <a:xfrm>
            <a:off x="4309787" y="5808837"/>
            <a:ext cx="2300563" cy="646331"/>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pPr algn="ctr"/>
            <a:r>
              <a:rPr lang="en-IN" dirty="0"/>
              <a:t>Annual Income</a:t>
            </a:r>
          </a:p>
          <a:p>
            <a:pPr algn="ctr"/>
            <a:r>
              <a:rPr lang="en-IN" dirty="0"/>
              <a:t>Rs.1,21,000</a:t>
            </a:r>
          </a:p>
        </p:txBody>
      </p:sp>
      <p:pic>
        <p:nvPicPr>
          <p:cNvPr id="3080" name="Picture 8" descr="New Income Tax Slabs: The revised tax structure requires individuals with an income above &lt;span class='webrupee'&gt;₹&lt;/span&gt;24 lakh to pay 30 per cent income tax. (HT Photo)"/>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816476" y="2492095"/>
            <a:ext cx="4270749" cy="24037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2245795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latin typeface="fkGroteskNeue"/>
              </a:rPr>
              <a:t>Marginal relief</a:t>
            </a:r>
            <a:endParaRPr lang="en-IN" dirty="0"/>
          </a:p>
        </p:txBody>
      </p:sp>
      <p:sp>
        <p:nvSpPr>
          <p:cNvPr id="4" name="Slide Number Placeholder 3"/>
          <p:cNvSpPr>
            <a:spLocks noGrp="1"/>
          </p:cNvSpPr>
          <p:nvPr>
            <p:ph type="sldNum" sz="quarter" idx="12"/>
          </p:nvPr>
        </p:nvSpPr>
        <p:spPr/>
        <p:txBody>
          <a:bodyPr/>
          <a:lstStyle/>
          <a:p>
            <a:fld id="{94013DF8-6EF8-4A98-8821-E6468C17C0C3}" type="slidenum">
              <a:rPr lang="en-IN" smtClean="0"/>
              <a:t>55</a:t>
            </a:fld>
            <a:endParaRPr lang="en-IN"/>
          </a:p>
        </p:txBody>
      </p:sp>
      <p:graphicFrame>
        <p:nvGraphicFramePr>
          <p:cNvPr id="8" name="Table 7"/>
          <p:cNvGraphicFramePr>
            <a:graphicFrameLocks noGrp="1"/>
          </p:cNvGraphicFramePr>
          <p:nvPr>
            <p:extLst>
              <p:ext uri="{D42A27DB-BD31-4B8C-83A1-F6EECF244321}">
                <p14:modId xmlns:p14="http://schemas.microsoft.com/office/powerpoint/2010/main" val="126021296"/>
              </p:ext>
            </p:extLst>
          </p:nvPr>
        </p:nvGraphicFramePr>
        <p:xfrm>
          <a:off x="2019302" y="1778318"/>
          <a:ext cx="7505700" cy="4241077"/>
        </p:xfrm>
        <a:graphic>
          <a:graphicData uri="http://schemas.openxmlformats.org/drawingml/2006/table">
            <a:tbl>
              <a:tblPr/>
              <a:tblGrid>
                <a:gridCol w="1501140">
                  <a:extLst>
                    <a:ext uri="{9D8B030D-6E8A-4147-A177-3AD203B41FA5}">
                      <a16:colId xmlns:a16="http://schemas.microsoft.com/office/drawing/2014/main" val="2181478476"/>
                    </a:ext>
                  </a:extLst>
                </a:gridCol>
                <a:gridCol w="1501140">
                  <a:extLst>
                    <a:ext uri="{9D8B030D-6E8A-4147-A177-3AD203B41FA5}">
                      <a16:colId xmlns:a16="http://schemas.microsoft.com/office/drawing/2014/main" val="1645390426"/>
                    </a:ext>
                  </a:extLst>
                </a:gridCol>
                <a:gridCol w="1501140">
                  <a:extLst>
                    <a:ext uri="{9D8B030D-6E8A-4147-A177-3AD203B41FA5}">
                      <a16:colId xmlns:a16="http://schemas.microsoft.com/office/drawing/2014/main" val="1163544721"/>
                    </a:ext>
                  </a:extLst>
                </a:gridCol>
                <a:gridCol w="1501140">
                  <a:extLst>
                    <a:ext uri="{9D8B030D-6E8A-4147-A177-3AD203B41FA5}">
                      <a16:colId xmlns:a16="http://schemas.microsoft.com/office/drawing/2014/main" val="790190503"/>
                    </a:ext>
                  </a:extLst>
                </a:gridCol>
                <a:gridCol w="1501140">
                  <a:extLst>
                    <a:ext uri="{9D8B030D-6E8A-4147-A177-3AD203B41FA5}">
                      <a16:colId xmlns:a16="http://schemas.microsoft.com/office/drawing/2014/main" val="792576936"/>
                    </a:ext>
                  </a:extLst>
                </a:gridCol>
              </a:tblGrid>
              <a:tr h="1260157">
                <a:tc>
                  <a:txBody>
                    <a:bodyPr/>
                    <a:lstStyle/>
                    <a:p>
                      <a:pPr algn="ctr" fontAlgn="t" latinLnBrk="0"/>
                      <a:r>
                        <a:rPr lang="en-IN" b="1" dirty="0">
                          <a:effectLst/>
                        </a:rPr>
                        <a:t>Income (₹)</a:t>
                      </a:r>
                    </a:p>
                  </a:txBody>
                  <a:tcPr marL="76200" marR="76200" marT="76200" marB="76200">
                    <a:lnL w="9525" cap="flat" cmpd="sng" algn="ctr">
                      <a:solidFill>
                        <a:srgbClr val="00E291"/>
                      </a:solidFill>
                      <a:prstDash val="solid"/>
                      <a:round/>
                      <a:headEnd type="none" w="med" len="med"/>
                      <a:tailEnd type="none" w="med" len="med"/>
                    </a:lnL>
                    <a:lnR w="9525" cap="flat" cmpd="sng" algn="ctr">
                      <a:solidFill>
                        <a:srgbClr val="40EB91"/>
                      </a:solidFill>
                      <a:prstDash val="solid"/>
                      <a:round/>
                      <a:headEnd type="none" w="med" len="med"/>
                      <a:tailEnd type="none" w="med" len="med"/>
                    </a:lnR>
                    <a:lnT w="9525" cap="flat" cmpd="sng" algn="ctr">
                      <a:solidFill>
                        <a:srgbClr val="00E291"/>
                      </a:solidFill>
                      <a:prstDash val="solid"/>
                      <a:round/>
                      <a:headEnd type="none" w="med" len="med"/>
                      <a:tailEnd type="none" w="med" len="med"/>
                    </a:lnT>
                    <a:lnB w="9525" cap="flat" cmpd="sng" algn="ctr">
                      <a:solidFill>
                        <a:srgbClr val="802592"/>
                      </a:solidFill>
                      <a:prstDash val="solid"/>
                      <a:round/>
                      <a:headEnd type="none" w="med" len="med"/>
                      <a:tailEnd type="none" w="med" len="med"/>
                    </a:lnB>
                  </a:tcPr>
                </a:tc>
                <a:tc>
                  <a:txBody>
                    <a:bodyPr/>
                    <a:lstStyle/>
                    <a:p>
                      <a:pPr algn="ctr" fontAlgn="t" latinLnBrk="0"/>
                      <a:r>
                        <a:rPr lang="en-IN" b="1" dirty="0">
                          <a:effectLst/>
                        </a:rPr>
                        <a:t>Tax (Without Relief)</a:t>
                      </a:r>
                    </a:p>
                  </a:txBody>
                  <a:tcPr marL="76200" marR="76200" marT="76200" marB="76200">
                    <a:lnL w="9525" cap="flat" cmpd="sng" algn="ctr">
                      <a:solidFill>
                        <a:srgbClr val="40EB91"/>
                      </a:solidFill>
                      <a:prstDash val="solid"/>
                      <a:round/>
                      <a:headEnd type="none" w="med" len="med"/>
                      <a:tailEnd type="none" w="med" len="med"/>
                    </a:lnL>
                    <a:lnR w="9525" cap="flat" cmpd="sng" algn="ctr">
                      <a:solidFill>
                        <a:srgbClr val="40EC91"/>
                      </a:solidFill>
                      <a:prstDash val="solid"/>
                      <a:round/>
                      <a:headEnd type="none" w="med" len="med"/>
                      <a:tailEnd type="none" w="med" len="med"/>
                    </a:lnR>
                    <a:lnT w="9525" cap="flat" cmpd="sng" algn="ctr">
                      <a:solidFill>
                        <a:srgbClr val="40EB91"/>
                      </a:solidFill>
                      <a:prstDash val="solid"/>
                      <a:round/>
                      <a:headEnd type="none" w="med" len="med"/>
                      <a:tailEnd type="none" w="med" len="med"/>
                    </a:lnT>
                    <a:lnB w="9525" cap="flat" cmpd="sng" algn="ctr">
                      <a:solidFill>
                        <a:srgbClr val="C02F92"/>
                      </a:solidFill>
                      <a:prstDash val="solid"/>
                      <a:round/>
                      <a:headEnd type="none" w="med" len="med"/>
                      <a:tailEnd type="none" w="med" len="med"/>
                    </a:lnB>
                  </a:tcPr>
                </a:tc>
                <a:tc>
                  <a:txBody>
                    <a:bodyPr/>
                    <a:lstStyle/>
                    <a:p>
                      <a:pPr algn="ctr" fontAlgn="t" latinLnBrk="0"/>
                      <a:r>
                        <a:rPr lang="en-IN" b="1" dirty="0">
                          <a:effectLst/>
                        </a:rPr>
                        <a:t>Income &gt; ₹12L</a:t>
                      </a:r>
                    </a:p>
                  </a:txBody>
                  <a:tcPr marL="76200" marR="76200" marT="76200" marB="76200">
                    <a:lnL w="9525" cap="flat" cmpd="sng" algn="ctr">
                      <a:solidFill>
                        <a:srgbClr val="40EC91"/>
                      </a:solidFill>
                      <a:prstDash val="solid"/>
                      <a:round/>
                      <a:headEnd type="none" w="med" len="med"/>
                      <a:tailEnd type="none" w="med" len="med"/>
                    </a:lnL>
                    <a:lnR w="9525" cap="flat" cmpd="sng" algn="ctr">
                      <a:solidFill>
                        <a:srgbClr val="400992"/>
                      </a:solidFill>
                      <a:prstDash val="solid"/>
                      <a:round/>
                      <a:headEnd type="none" w="med" len="med"/>
                      <a:tailEnd type="none" w="med" len="med"/>
                    </a:lnR>
                    <a:lnT w="9525" cap="flat" cmpd="sng" algn="ctr">
                      <a:solidFill>
                        <a:srgbClr val="40EC91"/>
                      </a:solidFill>
                      <a:prstDash val="solid"/>
                      <a:round/>
                      <a:headEnd type="none" w="med" len="med"/>
                      <a:tailEnd type="none" w="med" len="med"/>
                    </a:lnT>
                    <a:lnB w="9525" cap="flat" cmpd="sng" algn="ctr">
                      <a:solidFill>
                        <a:srgbClr val="402592"/>
                      </a:solidFill>
                      <a:prstDash val="solid"/>
                      <a:round/>
                      <a:headEnd type="none" w="med" len="med"/>
                      <a:tailEnd type="none" w="med" len="med"/>
                    </a:lnB>
                  </a:tcPr>
                </a:tc>
                <a:tc>
                  <a:txBody>
                    <a:bodyPr/>
                    <a:lstStyle/>
                    <a:p>
                      <a:pPr algn="ctr" fontAlgn="t" latinLnBrk="0"/>
                      <a:r>
                        <a:rPr lang="en-IN" b="1" dirty="0">
                          <a:effectLst/>
                        </a:rPr>
                        <a:t>Marginal Relief</a:t>
                      </a:r>
                    </a:p>
                  </a:txBody>
                  <a:tcPr marL="76200" marR="76200" marT="76200" marB="76200">
                    <a:lnL w="9525" cap="flat" cmpd="sng" algn="ctr">
                      <a:solidFill>
                        <a:srgbClr val="400992"/>
                      </a:solidFill>
                      <a:prstDash val="solid"/>
                      <a:round/>
                      <a:headEnd type="none" w="med" len="med"/>
                      <a:tailEnd type="none" w="med" len="med"/>
                    </a:lnL>
                    <a:lnR w="9525" cap="flat" cmpd="sng" algn="ctr">
                      <a:solidFill>
                        <a:srgbClr val="000992"/>
                      </a:solidFill>
                      <a:prstDash val="solid"/>
                      <a:round/>
                      <a:headEnd type="none" w="med" len="med"/>
                      <a:tailEnd type="none" w="med" len="med"/>
                    </a:lnR>
                    <a:lnT w="9525" cap="flat" cmpd="sng" algn="ctr">
                      <a:solidFill>
                        <a:srgbClr val="400992"/>
                      </a:solidFill>
                      <a:prstDash val="solid"/>
                      <a:round/>
                      <a:headEnd type="none" w="med" len="med"/>
                      <a:tailEnd type="none" w="med" len="med"/>
                    </a:lnT>
                    <a:lnB w="9525" cap="flat" cmpd="sng" algn="ctr">
                      <a:solidFill>
                        <a:srgbClr val="002B92"/>
                      </a:solidFill>
                      <a:prstDash val="solid"/>
                      <a:round/>
                      <a:headEnd type="none" w="med" len="med"/>
                      <a:tailEnd type="none" w="med" len="med"/>
                    </a:lnB>
                  </a:tcPr>
                </a:tc>
                <a:tc>
                  <a:txBody>
                    <a:bodyPr/>
                    <a:lstStyle/>
                    <a:p>
                      <a:pPr algn="ctr" fontAlgn="t" latinLnBrk="0"/>
                      <a:r>
                        <a:rPr lang="en-IN" b="1" dirty="0">
                          <a:effectLst/>
                        </a:rPr>
                        <a:t>Tax Payable (After Relief)</a:t>
                      </a:r>
                    </a:p>
                  </a:txBody>
                  <a:tcPr marL="76200" marR="76200" marT="76200" marB="76200">
                    <a:lnL w="9525" cap="flat" cmpd="sng" algn="ctr">
                      <a:solidFill>
                        <a:srgbClr val="000992"/>
                      </a:solidFill>
                      <a:prstDash val="solid"/>
                      <a:round/>
                      <a:headEnd type="none" w="med" len="med"/>
                      <a:tailEnd type="none" w="med" len="med"/>
                    </a:lnL>
                    <a:lnR w="9525" cap="flat" cmpd="sng" algn="ctr">
                      <a:solidFill>
                        <a:srgbClr val="000992"/>
                      </a:solidFill>
                      <a:prstDash val="solid"/>
                      <a:round/>
                      <a:headEnd type="none" w="med" len="med"/>
                      <a:tailEnd type="none" w="med" len="med"/>
                    </a:lnR>
                    <a:lnT w="9525" cap="flat" cmpd="sng" algn="ctr">
                      <a:solidFill>
                        <a:srgbClr val="000992"/>
                      </a:solidFill>
                      <a:prstDash val="solid"/>
                      <a:round/>
                      <a:headEnd type="none" w="med" len="med"/>
                      <a:tailEnd type="none" w="med" len="med"/>
                    </a:lnT>
                    <a:lnB w="9525" cap="flat" cmpd="sng" algn="ctr">
                      <a:solidFill>
                        <a:srgbClr val="003792"/>
                      </a:solidFill>
                      <a:prstDash val="solid"/>
                      <a:round/>
                      <a:headEnd type="none" w="med" len="med"/>
                      <a:tailEnd type="none" w="med" len="med"/>
                    </a:lnB>
                  </a:tcPr>
                </a:tc>
                <a:extLst>
                  <a:ext uri="{0D108BD9-81ED-4DB2-BD59-A6C34878D82A}">
                    <a16:rowId xmlns:a16="http://schemas.microsoft.com/office/drawing/2014/main" val="3388505775"/>
                  </a:ext>
                </a:extLst>
              </a:tr>
              <a:tr h="745230">
                <a:tc>
                  <a:txBody>
                    <a:bodyPr/>
                    <a:lstStyle/>
                    <a:p>
                      <a:pPr algn="ctr" fontAlgn="base" latinLnBrk="0"/>
                      <a:r>
                        <a:rPr lang="en-IN">
                          <a:effectLst/>
                        </a:rPr>
                        <a:t>12,00,000</a:t>
                      </a:r>
                    </a:p>
                  </a:txBody>
                  <a:tcPr marL="76200" marR="76200" anchor="ctr">
                    <a:lnL w="9525" cap="flat" cmpd="sng" algn="ctr">
                      <a:solidFill>
                        <a:srgbClr val="802592"/>
                      </a:solidFill>
                      <a:prstDash val="solid"/>
                      <a:round/>
                      <a:headEnd type="none" w="med" len="med"/>
                      <a:tailEnd type="none" w="med" len="med"/>
                    </a:lnL>
                    <a:lnR w="9525" cap="flat" cmpd="sng" algn="ctr">
                      <a:solidFill>
                        <a:srgbClr val="C02F92"/>
                      </a:solidFill>
                      <a:prstDash val="solid"/>
                      <a:round/>
                      <a:headEnd type="none" w="med" len="med"/>
                      <a:tailEnd type="none" w="med" len="med"/>
                    </a:lnR>
                    <a:lnT w="9525" cap="flat" cmpd="sng" algn="ctr">
                      <a:solidFill>
                        <a:srgbClr val="802592"/>
                      </a:solidFill>
                      <a:prstDash val="solid"/>
                      <a:round/>
                      <a:headEnd type="none" w="med" len="med"/>
                      <a:tailEnd type="none" w="med" len="med"/>
                    </a:lnT>
                    <a:lnB w="9525" cap="flat" cmpd="sng" algn="ctr">
                      <a:solidFill>
                        <a:srgbClr val="C03092"/>
                      </a:solidFill>
                      <a:prstDash val="solid"/>
                      <a:round/>
                      <a:headEnd type="none" w="med" len="med"/>
                      <a:tailEnd type="none" w="med" len="med"/>
                    </a:lnB>
                  </a:tcPr>
                </a:tc>
                <a:tc>
                  <a:txBody>
                    <a:bodyPr/>
                    <a:lstStyle/>
                    <a:p>
                      <a:pPr algn="ctr" fontAlgn="base" latinLnBrk="0"/>
                      <a:r>
                        <a:rPr lang="en-IN">
                          <a:effectLst/>
                        </a:rPr>
                        <a:t>60,000</a:t>
                      </a:r>
                    </a:p>
                  </a:txBody>
                  <a:tcPr marL="76200" marR="76200" anchor="ctr">
                    <a:lnL w="9525" cap="flat" cmpd="sng" algn="ctr">
                      <a:solidFill>
                        <a:srgbClr val="C02F92"/>
                      </a:solidFill>
                      <a:prstDash val="solid"/>
                      <a:round/>
                      <a:headEnd type="none" w="med" len="med"/>
                      <a:tailEnd type="none" w="med" len="med"/>
                    </a:lnL>
                    <a:lnR w="9525" cap="flat" cmpd="sng" algn="ctr">
                      <a:solidFill>
                        <a:srgbClr val="402592"/>
                      </a:solidFill>
                      <a:prstDash val="solid"/>
                      <a:round/>
                      <a:headEnd type="none" w="med" len="med"/>
                      <a:tailEnd type="none" w="med" len="med"/>
                    </a:lnR>
                    <a:lnT w="9525" cap="flat" cmpd="sng" algn="ctr">
                      <a:solidFill>
                        <a:srgbClr val="C02F92"/>
                      </a:solidFill>
                      <a:prstDash val="solid"/>
                      <a:round/>
                      <a:headEnd type="none" w="med" len="med"/>
                      <a:tailEnd type="none" w="med" len="med"/>
                    </a:lnT>
                    <a:lnB w="9525" cap="flat" cmpd="sng" algn="ctr">
                      <a:solidFill>
                        <a:srgbClr val="804291"/>
                      </a:solidFill>
                      <a:prstDash val="solid"/>
                      <a:round/>
                      <a:headEnd type="none" w="med" len="med"/>
                      <a:tailEnd type="none" w="med" len="med"/>
                    </a:lnB>
                  </a:tcPr>
                </a:tc>
                <a:tc>
                  <a:txBody>
                    <a:bodyPr/>
                    <a:lstStyle/>
                    <a:p>
                      <a:pPr algn="ctr" fontAlgn="base" latinLnBrk="0"/>
                      <a:r>
                        <a:rPr lang="en-IN">
                          <a:effectLst/>
                        </a:rPr>
                        <a:t>0</a:t>
                      </a:r>
                    </a:p>
                  </a:txBody>
                  <a:tcPr marL="76200" marR="76200" anchor="ctr">
                    <a:lnL w="9525" cap="flat" cmpd="sng" algn="ctr">
                      <a:solidFill>
                        <a:srgbClr val="402592"/>
                      </a:solidFill>
                      <a:prstDash val="solid"/>
                      <a:round/>
                      <a:headEnd type="none" w="med" len="med"/>
                      <a:tailEnd type="none" w="med" len="med"/>
                    </a:lnL>
                    <a:lnR w="9525" cap="flat" cmpd="sng" algn="ctr">
                      <a:solidFill>
                        <a:srgbClr val="002B92"/>
                      </a:solidFill>
                      <a:prstDash val="solid"/>
                      <a:round/>
                      <a:headEnd type="none" w="med" len="med"/>
                      <a:tailEnd type="none" w="med" len="med"/>
                    </a:lnR>
                    <a:lnT w="9525" cap="flat" cmpd="sng" algn="ctr">
                      <a:solidFill>
                        <a:srgbClr val="402592"/>
                      </a:solidFill>
                      <a:prstDash val="solid"/>
                      <a:round/>
                      <a:headEnd type="none" w="med" len="med"/>
                      <a:tailEnd type="none" w="med" len="med"/>
                    </a:lnT>
                    <a:lnB w="9525" cap="flat" cmpd="sng" algn="ctr">
                      <a:solidFill>
                        <a:srgbClr val="404C91"/>
                      </a:solidFill>
                      <a:prstDash val="solid"/>
                      <a:round/>
                      <a:headEnd type="none" w="med" len="med"/>
                      <a:tailEnd type="none" w="med" len="med"/>
                    </a:lnB>
                  </a:tcPr>
                </a:tc>
                <a:tc>
                  <a:txBody>
                    <a:bodyPr/>
                    <a:lstStyle/>
                    <a:p>
                      <a:pPr algn="ctr" fontAlgn="base" latinLnBrk="0"/>
                      <a:r>
                        <a:rPr lang="en-IN">
                          <a:effectLst/>
                        </a:rPr>
                        <a:t>60,000</a:t>
                      </a:r>
                    </a:p>
                  </a:txBody>
                  <a:tcPr marL="76200" marR="76200" anchor="ctr">
                    <a:lnL w="9525" cap="flat" cmpd="sng" algn="ctr">
                      <a:solidFill>
                        <a:srgbClr val="002B92"/>
                      </a:solidFill>
                      <a:prstDash val="solid"/>
                      <a:round/>
                      <a:headEnd type="none" w="med" len="med"/>
                      <a:tailEnd type="none" w="med" len="med"/>
                    </a:lnL>
                    <a:lnR w="9525" cap="flat" cmpd="sng" algn="ctr">
                      <a:solidFill>
                        <a:srgbClr val="003792"/>
                      </a:solidFill>
                      <a:prstDash val="solid"/>
                      <a:round/>
                      <a:headEnd type="none" w="med" len="med"/>
                      <a:tailEnd type="none" w="med" len="med"/>
                    </a:lnR>
                    <a:lnT w="9525" cap="flat" cmpd="sng" algn="ctr">
                      <a:solidFill>
                        <a:srgbClr val="002B92"/>
                      </a:solidFill>
                      <a:prstDash val="solid"/>
                      <a:round/>
                      <a:headEnd type="none" w="med" len="med"/>
                      <a:tailEnd type="none" w="med" len="med"/>
                    </a:lnT>
                    <a:lnB w="9525" cap="flat" cmpd="sng" algn="ctr">
                      <a:solidFill>
                        <a:srgbClr val="804A91"/>
                      </a:solidFill>
                      <a:prstDash val="solid"/>
                      <a:round/>
                      <a:headEnd type="none" w="med" len="med"/>
                      <a:tailEnd type="none" w="med" len="med"/>
                    </a:lnB>
                  </a:tcPr>
                </a:tc>
                <a:tc>
                  <a:txBody>
                    <a:bodyPr/>
                    <a:lstStyle/>
                    <a:p>
                      <a:pPr algn="ctr" fontAlgn="base" latinLnBrk="0"/>
                      <a:r>
                        <a:rPr lang="en-IN" dirty="0">
                          <a:effectLst/>
                        </a:rPr>
                        <a:t>0</a:t>
                      </a:r>
                    </a:p>
                  </a:txBody>
                  <a:tcPr marL="76200" marR="76200" anchor="ctr">
                    <a:lnL w="9525" cap="flat" cmpd="sng" algn="ctr">
                      <a:solidFill>
                        <a:srgbClr val="003792"/>
                      </a:solidFill>
                      <a:prstDash val="solid"/>
                      <a:round/>
                      <a:headEnd type="none" w="med" len="med"/>
                      <a:tailEnd type="none" w="med" len="med"/>
                    </a:lnL>
                    <a:lnR w="9525" cap="flat" cmpd="sng" algn="ctr">
                      <a:solidFill>
                        <a:srgbClr val="003792"/>
                      </a:solidFill>
                      <a:prstDash val="solid"/>
                      <a:round/>
                      <a:headEnd type="none" w="med" len="med"/>
                      <a:tailEnd type="none" w="med" len="med"/>
                    </a:lnR>
                    <a:lnT w="9525" cap="flat" cmpd="sng" algn="ctr">
                      <a:solidFill>
                        <a:srgbClr val="003792"/>
                      </a:solidFill>
                      <a:prstDash val="solid"/>
                      <a:round/>
                      <a:headEnd type="none" w="med" len="med"/>
                      <a:tailEnd type="none" w="med" len="med"/>
                    </a:lnT>
                    <a:lnB w="9525" cap="flat" cmpd="sng" algn="ctr">
                      <a:solidFill>
                        <a:srgbClr val="004991"/>
                      </a:solidFill>
                      <a:prstDash val="solid"/>
                      <a:round/>
                      <a:headEnd type="none" w="med" len="med"/>
                      <a:tailEnd type="none" w="med" len="med"/>
                    </a:lnB>
                  </a:tcPr>
                </a:tc>
                <a:extLst>
                  <a:ext uri="{0D108BD9-81ED-4DB2-BD59-A6C34878D82A}">
                    <a16:rowId xmlns:a16="http://schemas.microsoft.com/office/drawing/2014/main" val="2670706784"/>
                  </a:ext>
                </a:extLst>
              </a:tr>
              <a:tr h="745230">
                <a:tc>
                  <a:txBody>
                    <a:bodyPr/>
                    <a:lstStyle/>
                    <a:p>
                      <a:pPr algn="ctr" fontAlgn="base" latinLnBrk="0"/>
                      <a:r>
                        <a:rPr lang="en-IN">
                          <a:effectLst/>
                        </a:rPr>
                        <a:t>12,10,000</a:t>
                      </a:r>
                    </a:p>
                  </a:txBody>
                  <a:tcPr marL="76200" marR="76200" anchor="ctr">
                    <a:lnL w="9525" cap="flat" cmpd="sng" algn="ctr">
                      <a:solidFill>
                        <a:srgbClr val="C03092"/>
                      </a:solidFill>
                      <a:prstDash val="solid"/>
                      <a:round/>
                      <a:headEnd type="none" w="med" len="med"/>
                      <a:tailEnd type="none" w="med" len="med"/>
                    </a:lnL>
                    <a:lnR w="9525" cap="flat" cmpd="sng" algn="ctr">
                      <a:solidFill>
                        <a:srgbClr val="804291"/>
                      </a:solidFill>
                      <a:prstDash val="solid"/>
                      <a:round/>
                      <a:headEnd type="none" w="med" len="med"/>
                      <a:tailEnd type="none" w="med" len="med"/>
                    </a:lnR>
                    <a:lnT w="9525" cap="flat" cmpd="sng" algn="ctr">
                      <a:solidFill>
                        <a:srgbClr val="C03092"/>
                      </a:solidFill>
                      <a:prstDash val="solid"/>
                      <a:round/>
                      <a:headEnd type="none" w="med" len="med"/>
                      <a:tailEnd type="none" w="med" len="med"/>
                    </a:lnT>
                    <a:lnB w="9525" cap="flat" cmpd="sng" algn="ctr">
                      <a:solidFill>
                        <a:srgbClr val="C04B91"/>
                      </a:solidFill>
                      <a:prstDash val="solid"/>
                      <a:round/>
                      <a:headEnd type="none" w="med" len="med"/>
                      <a:tailEnd type="none" w="med" len="med"/>
                    </a:lnB>
                  </a:tcPr>
                </a:tc>
                <a:tc>
                  <a:txBody>
                    <a:bodyPr/>
                    <a:lstStyle/>
                    <a:p>
                      <a:pPr algn="ctr" fontAlgn="base" latinLnBrk="0"/>
                      <a:r>
                        <a:rPr lang="en-IN">
                          <a:effectLst/>
                        </a:rPr>
                        <a:t>61,500</a:t>
                      </a:r>
                    </a:p>
                  </a:txBody>
                  <a:tcPr marL="76200" marR="76200" anchor="ctr">
                    <a:lnL w="9525" cap="flat" cmpd="sng" algn="ctr">
                      <a:solidFill>
                        <a:srgbClr val="804291"/>
                      </a:solidFill>
                      <a:prstDash val="solid"/>
                      <a:round/>
                      <a:headEnd type="none" w="med" len="med"/>
                      <a:tailEnd type="none" w="med" len="med"/>
                    </a:lnL>
                    <a:lnR w="9525" cap="flat" cmpd="sng" algn="ctr">
                      <a:solidFill>
                        <a:srgbClr val="404C91"/>
                      </a:solidFill>
                      <a:prstDash val="solid"/>
                      <a:round/>
                      <a:headEnd type="none" w="med" len="med"/>
                      <a:tailEnd type="none" w="med" len="med"/>
                    </a:lnR>
                    <a:lnT w="9525" cap="flat" cmpd="sng" algn="ctr">
                      <a:solidFill>
                        <a:srgbClr val="804291"/>
                      </a:solidFill>
                      <a:prstDash val="solid"/>
                      <a:round/>
                      <a:headEnd type="none" w="med" len="med"/>
                      <a:tailEnd type="none" w="med" len="med"/>
                    </a:lnT>
                    <a:lnB w="9525" cap="flat" cmpd="sng" algn="ctr">
                      <a:solidFill>
                        <a:srgbClr val="805291"/>
                      </a:solidFill>
                      <a:prstDash val="solid"/>
                      <a:round/>
                      <a:headEnd type="none" w="med" len="med"/>
                      <a:tailEnd type="none" w="med" len="med"/>
                    </a:lnB>
                  </a:tcPr>
                </a:tc>
                <a:tc>
                  <a:txBody>
                    <a:bodyPr/>
                    <a:lstStyle/>
                    <a:p>
                      <a:pPr algn="ctr" fontAlgn="base" latinLnBrk="0"/>
                      <a:r>
                        <a:rPr lang="en-IN">
                          <a:effectLst/>
                        </a:rPr>
                        <a:t>10,000</a:t>
                      </a:r>
                    </a:p>
                  </a:txBody>
                  <a:tcPr marL="76200" marR="76200" anchor="ctr">
                    <a:lnL w="9525" cap="flat" cmpd="sng" algn="ctr">
                      <a:solidFill>
                        <a:srgbClr val="404C91"/>
                      </a:solidFill>
                      <a:prstDash val="solid"/>
                      <a:round/>
                      <a:headEnd type="none" w="med" len="med"/>
                      <a:tailEnd type="none" w="med" len="med"/>
                    </a:lnL>
                    <a:lnR w="9525" cap="flat" cmpd="sng" algn="ctr">
                      <a:solidFill>
                        <a:srgbClr val="804A91"/>
                      </a:solidFill>
                      <a:prstDash val="solid"/>
                      <a:round/>
                      <a:headEnd type="none" w="med" len="med"/>
                      <a:tailEnd type="none" w="med" len="med"/>
                    </a:lnR>
                    <a:lnT w="9525" cap="flat" cmpd="sng" algn="ctr">
                      <a:solidFill>
                        <a:srgbClr val="404C91"/>
                      </a:solidFill>
                      <a:prstDash val="solid"/>
                      <a:round/>
                      <a:headEnd type="none" w="med" len="med"/>
                      <a:tailEnd type="none" w="med" len="med"/>
                    </a:lnT>
                    <a:lnB w="9525" cap="flat" cmpd="sng" algn="ctr">
                      <a:solidFill>
                        <a:srgbClr val="405991"/>
                      </a:solidFill>
                      <a:prstDash val="solid"/>
                      <a:round/>
                      <a:headEnd type="none" w="med" len="med"/>
                      <a:tailEnd type="none" w="med" len="med"/>
                    </a:lnB>
                  </a:tcPr>
                </a:tc>
                <a:tc>
                  <a:txBody>
                    <a:bodyPr/>
                    <a:lstStyle/>
                    <a:p>
                      <a:pPr algn="ctr" fontAlgn="base" latinLnBrk="0"/>
                      <a:r>
                        <a:rPr lang="en-IN">
                          <a:effectLst/>
                        </a:rPr>
                        <a:t>51,500</a:t>
                      </a:r>
                    </a:p>
                  </a:txBody>
                  <a:tcPr marL="76200" marR="76200" anchor="ctr">
                    <a:lnL w="9525" cap="flat" cmpd="sng" algn="ctr">
                      <a:solidFill>
                        <a:srgbClr val="804A91"/>
                      </a:solidFill>
                      <a:prstDash val="solid"/>
                      <a:round/>
                      <a:headEnd type="none" w="med" len="med"/>
                      <a:tailEnd type="none" w="med" len="med"/>
                    </a:lnL>
                    <a:lnR w="9525" cap="flat" cmpd="sng" algn="ctr">
                      <a:solidFill>
                        <a:srgbClr val="004991"/>
                      </a:solidFill>
                      <a:prstDash val="solid"/>
                      <a:round/>
                      <a:headEnd type="none" w="med" len="med"/>
                      <a:tailEnd type="none" w="med" len="med"/>
                    </a:lnR>
                    <a:lnT w="9525" cap="flat" cmpd="sng" algn="ctr">
                      <a:solidFill>
                        <a:srgbClr val="804A91"/>
                      </a:solidFill>
                      <a:prstDash val="solid"/>
                      <a:round/>
                      <a:headEnd type="none" w="med" len="med"/>
                      <a:tailEnd type="none" w="med" len="med"/>
                    </a:lnT>
                    <a:lnB w="9525" cap="flat" cmpd="sng" algn="ctr">
                      <a:solidFill>
                        <a:srgbClr val="405191"/>
                      </a:solidFill>
                      <a:prstDash val="solid"/>
                      <a:round/>
                      <a:headEnd type="none" w="med" len="med"/>
                      <a:tailEnd type="none" w="med" len="med"/>
                    </a:lnB>
                  </a:tcPr>
                </a:tc>
                <a:tc>
                  <a:txBody>
                    <a:bodyPr/>
                    <a:lstStyle/>
                    <a:p>
                      <a:pPr algn="ctr" fontAlgn="base" latinLnBrk="0"/>
                      <a:r>
                        <a:rPr lang="en-IN" dirty="0">
                          <a:effectLst/>
                        </a:rPr>
                        <a:t>10,000</a:t>
                      </a:r>
                    </a:p>
                  </a:txBody>
                  <a:tcPr marL="76200" marR="76200" anchor="ctr">
                    <a:lnL w="9525" cap="flat" cmpd="sng" algn="ctr">
                      <a:solidFill>
                        <a:srgbClr val="004991"/>
                      </a:solidFill>
                      <a:prstDash val="solid"/>
                      <a:round/>
                      <a:headEnd type="none" w="med" len="med"/>
                      <a:tailEnd type="none" w="med" len="med"/>
                    </a:lnL>
                    <a:lnR w="9525" cap="flat" cmpd="sng" algn="ctr">
                      <a:solidFill>
                        <a:srgbClr val="004991"/>
                      </a:solidFill>
                      <a:prstDash val="solid"/>
                      <a:round/>
                      <a:headEnd type="none" w="med" len="med"/>
                      <a:tailEnd type="none" w="med" len="med"/>
                    </a:lnR>
                    <a:lnT w="9525" cap="flat" cmpd="sng" algn="ctr">
                      <a:solidFill>
                        <a:srgbClr val="004991"/>
                      </a:solidFill>
                      <a:prstDash val="solid"/>
                      <a:round/>
                      <a:headEnd type="none" w="med" len="med"/>
                      <a:tailEnd type="none" w="med" len="med"/>
                    </a:lnT>
                    <a:lnB w="9525" cap="flat" cmpd="sng" algn="ctr">
                      <a:solidFill>
                        <a:srgbClr val="405A91"/>
                      </a:solidFill>
                      <a:prstDash val="solid"/>
                      <a:round/>
                      <a:headEnd type="none" w="med" len="med"/>
                      <a:tailEnd type="none" w="med" len="med"/>
                    </a:lnB>
                  </a:tcPr>
                </a:tc>
                <a:extLst>
                  <a:ext uri="{0D108BD9-81ED-4DB2-BD59-A6C34878D82A}">
                    <a16:rowId xmlns:a16="http://schemas.microsoft.com/office/drawing/2014/main" val="11105418"/>
                  </a:ext>
                </a:extLst>
              </a:tr>
              <a:tr h="745230">
                <a:tc>
                  <a:txBody>
                    <a:bodyPr/>
                    <a:lstStyle/>
                    <a:p>
                      <a:pPr algn="ctr" fontAlgn="base" latinLnBrk="0"/>
                      <a:r>
                        <a:rPr lang="en-IN">
                          <a:effectLst/>
                        </a:rPr>
                        <a:t>12,50,000</a:t>
                      </a:r>
                    </a:p>
                  </a:txBody>
                  <a:tcPr marL="76200" marR="76200" anchor="ctr">
                    <a:lnL w="9525" cap="flat" cmpd="sng" algn="ctr">
                      <a:solidFill>
                        <a:srgbClr val="C04B91"/>
                      </a:solidFill>
                      <a:prstDash val="solid"/>
                      <a:round/>
                      <a:headEnd type="none" w="med" len="med"/>
                      <a:tailEnd type="none" w="med" len="med"/>
                    </a:lnL>
                    <a:lnR w="9525" cap="flat" cmpd="sng" algn="ctr">
                      <a:solidFill>
                        <a:srgbClr val="805291"/>
                      </a:solidFill>
                      <a:prstDash val="solid"/>
                      <a:round/>
                      <a:headEnd type="none" w="med" len="med"/>
                      <a:tailEnd type="none" w="med" len="med"/>
                    </a:lnR>
                    <a:lnT w="9525" cap="flat" cmpd="sng" algn="ctr">
                      <a:solidFill>
                        <a:srgbClr val="C04B91"/>
                      </a:solidFill>
                      <a:prstDash val="solid"/>
                      <a:round/>
                      <a:headEnd type="none" w="med" len="med"/>
                      <a:tailEnd type="none" w="med" len="med"/>
                    </a:lnT>
                    <a:lnB w="9525" cap="flat" cmpd="sng" algn="ctr">
                      <a:solidFill>
                        <a:srgbClr val="406491"/>
                      </a:solidFill>
                      <a:prstDash val="solid"/>
                      <a:round/>
                      <a:headEnd type="none" w="med" len="med"/>
                      <a:tailEnd type="none" w="med" len="med"/>
                    </a:lnB>
                  </a:tcPr>
                </a:tc>
                <a:tc>
                  <a:txBody>
                    <a:bodyPr/>
                    <a:lstStyle/>
                    <a:p>
                      <a:pPr algn="ctr" fontAlgn="base" latinLnBrk="0"/>
                      <a:r>
                        <a:rPr lang="en-IN" dirty="0">
                          <a:effectLst/>
                        </a:rPr>
                        <a:t>67,500</a:t>
                      </a:r>
                    </a:p>
                  </a:txBody>
                  <a:tcPr marL="76200" marR="76200" anchor="ctr">
                    <a:lnL w="9525" cap="flat" cmpd="sng" algn="ctr">
                      <a:solidFill>
                        <a:srgbClr val="805291"/>
                      </a:solidFill>
                      <a:prstDash val="solid"/>
                      <a:round/>
                      <a:headEnd type="none" w="med" len="med"/>
                      <a:tailEnd type="none" w="med" len="med"/>
                    </a:lnL>
                    <a:lnR w="9525" cap="flat" cmpd="sng" algn="ctr">
                      <a:solidFill>
                        <a:srgbClr val="405991"/>
                      </a:solidFill>
                      <a:prstDash val="solid"/>
                      <a:round/>
                      <a:headEnd type="none" w="med" len="med"/>
                      <a:tailEnd type="none" w="med" len="med"/>
                    </a:lnR>
                    <a:lnT w="9525" cap="flat" cmpd="sng" algn="ctr">
                      <a:solidFill>
                        <a:srgbClr val="805291"/>
                      </a:solidFill>
                      <a:prstDash val="solid"/>
                      <a:round/>
                      <a:headEnd type="none" w="med" len="med"/>
                      <a:tailEnd type="none" w="med" len="med"/>
                    </a:lnT>
                    <a:lnB w="9525" cap="flat" cmpd="sng" algn="ctr">
                      <a:solidFill>
                        <a:srgbClr val="C06291"/>
                      </a:solidFill>
                      <a:prstDash val="solid"/>
                      <a:round/>
                      <a:headEnd type="none" w="med" len="med"/>
                      <a:tailEnd type="none" w="med" len="med"/>
                    </a:lnB>
                  </a:tcPr>
                </a:tc>
                <a:tc>
                  <a:txBody>
                    <a:bodyPr/>
                    <a:lstStyle/>
                    <a:p>
                      <a:pPr algn="ctr" fontAlgn="base" latinLnBrk="0"/>
                      <a:r>
                        <a:rPr lang="en-IN">
                          <a:effectLst/>
                        </a:rPr>
                        <a:t>50,000</a:t>
                      </a:r>
                    </a:p>
                  </a:txBody>
                  <a:tcPr marL="76200" marR="76200" anchor="ctr">
                    <a:lnL w="9525" cap="flat" cmpd="sng" algn="ctr">
                      <a:solidFill>
                        <a:srgbClr val="405991"/>
                      </a:solidFill>
                      <a:prstDash val="solid"/>
                      <a:round/>
                      <a:headEnd type="none" w="med" len="med"/>
                      <a:tailEnd type="none" w="med" len="med"/>
                    </a:lnL>
                    <a:lnR w="9525" cap="flat" cmpd="sng" algn="ctr">
                      <a:solidFill>
                        <a:srgbClr val="405191"/>
                      </a:solidFill>
                      <a:prstDash val="solid"/>
                      <a:round/>
                      <a:headEnd type="none" w="med" len="med"/>
                      <a:tailEnd type="none" w="med" len="med"/>
                    </a:lnR>
                    <a:lnT w="9525" cap="flat" cmpd="sng" algn="ctr">
                      <a:solidFill>
                        <a:srgbClr val="405991"/>
                      </a:solidFill>
                      <a:prstDash val="solid"/>
                      <a:round/>
                      <a:headEnd type="none" w="med" len="med"/>
                      <a:tailEnd type="none" w="med" len="med"/>
                    </a:lnT>
                    <a:lnB w="9525" cap="flat" cmpd="sng" algn="ctr">
                      <a:solidFill>
                        <a:srgbClr val="806491"/>
                      </a:solidFill>
                      <a:prstDash val="solid"/>
                      <a:round/>
                      <a:headEnd type="none" w="med" len="med"/>
                      <a:tailEnd type="none" w="med" len="med"/>
                    </a:lnB>
                  </a:tcPr>
                </a:tc>
                <a:tc>
                  <a:txBody>
                    <a:bodyPr/>
                    <a:lstStyle/>
                    <a:p>
                      <a:pPr algn="ctr" fontAlgn="base" latinLnBrk="0"/>
                      <a:r>
                        <a:rPr lang="en-IN">
                          <a:effectLst/>
                        </a:rPr>
                        <a:t>17,500</a:t>
                      </a:r>
                    </a:p>
                  </a:txBody>
                  <a:tcPr marL="76200" marR="76200" anchor="ctr">
                    <a:lnL w="9525" cap="flat" cmpd="sng" algn="ctr">
                      <a:solidFill>
                        <a:srgbClr val="405191"/>
                      </a:solidFill>
                      <a:prstDash val="solid"/>
                      <a:round/>
                      <a:headEnd type="none" w="med" len="med"/>
                      <a:tailEnd type="none" w="med" len="med"/>
                    </a:lnL>
                    <a:lnR w="9525" cap="flat" cmpd="sng" algn="ctr">
                      <a:solidFill>
                        <a:srgbClr val="405A91"/>
                      </a:solidFill>
                      <a:prstDash val="solid"/>
                      <a:round/>
                      <a:headEnd type="none" w="med" len="med"/>
                      <a:tailEnd type="none" w="med" len="med"/>
                    </a:lnR>
                    <a:lnT w="9525" cap="flat" cmpd="sng" algn="ctr">
                      <a:solidFill>
                        <a:srgbClr val="405191"/>
                      </a:solidFill>
                      <a:prstDash val="solid"/>
                      <a:round/>
                      <a:headEnd type="none" w="med" len="med"/>
                      <a:tailEnd type="none" w="med" len="med"/>
                    </a:lnT>
                    <a:lnB w="9525" cap="flat" cmpd="sng" algn="ctr">
                      <a:solidFill>
                        <a:srgbClr val="C06491"/>
                      </a:solidFill>
                      <a:prstDash val="solid"/>
                      <a:round/>
                      <a:headEnd type="none" w="med" len="med"/>
                      <a:tailEnd type="none" w="med" len="med"/>
                    </a:lnB>
                  </a:tcPr>
                </a:tc>
                <a:tc>
                  <a:txBody>
                    <a:bodyPr/>
                    <a:lstStyle/>
                    <a:p>
                      <a:pPr algn="ctr" fontAlgn="base" latinLnBrk="0"/>
                      <a:r>
                        <a:rPr lang="en-IN" dirty="0">
                          <a:effectLst/>
                        </a:rPr>
                        <a:t>50,000</a:t>
                      </a:r>
                    </a:p>
                  </a:txBody>
                  <a:tcPr marL="76200" marR="76200" anchor="ctr">
                    <a:lnL w="9525" cap="flat" cmpd="sng" algn="ctr">
                      <a:solidFill>
                        <a:srgbClr val="405A91"/>
                      </a:solidFill>
                      <a:prstDash val="solid"/>
                      <a:round/>
                      <a:headEnd type="none" w="med" len="med"/>
                      <a:tailEnd type="none" w="med" len="med"/>
                    </a:lnL>
                    <a:lnR w="9525" cap="flat" cmpd="sng" algn="ctr">
                      <a:solidFill>
                        <a:srgbClr val="405A91"/>
                      </a:solidFill>
                      <a:prstDash val="solid"/>
                      <a:round/>
                      <a:headEnd type="none" w="med" len="med"/>
                      <a:tailEnd type="none" w="med" len="med"/>
                    </a:lnR>
                    <a:lnT w="9525" cap="flat" cmpd="sng" algn="ctr">
                      <a:solidFill>
                        <a:srgbClr val="405A91"/>
                      </a:solidFill>
                      <a:prstDash val="solid"/>
                      <a:round/>
                      <a:headEnd type="none" w="med" len="med"/>
                      <a:tailEnd type="none" w="med" len="med"/>
                    </a:lnT>
                    <a:lnB w="9525" cap="flat" cmpd="sng" algn="ctr">
                      <a:solidFill>
                        <a:srgbClr val="C07A91"/>
                      </a:solidFill>
                      <a:prstDash val="solid"/>
                      <a:round/>
                      <a:headEnd type="none" w="med" len="med"/>
                      <a:tailEnd type="none" w="med" len="med"/>
                    </a:lnB>
                  </a:tcPr>
                </a:tc>
                <a:extLst>
                  <a:ext uri="{0D108BD9-81ED-4DB2-BD59-A6C34878D82A}">
                    <a16:rowId xmlns:a16="http://schemas.microsoft.com/office/drawing/2014/main" val="3128806626"/>
                  </a:ext>
                </a:extLst>
              </a:tr>
              <a:tr h="745230">
                <a:tc>
                  <a:txBody>
                    <a:bodyPr/>
                    <a:lstStyle/>
                    <a:p>
                      <a:pPr algn="ctr" fontAlgn="base" latinLnBrk="0"/>
                      <a:r>
                        <a:rPr lang="en-IN">
                          <a:effectLst/>
                        </a:rPr>
                        <a:t>12,70,000</a:t>
                      </a:r>
                    </a:p>
                  </a:txBody>
                  <a:tcPr marL="76200" marR="76200" anchor="ctr">
                    <a:lnL w="9525" cap="flat" cmpd="sng" algn="ctr">
                      <a:solidFill>
                        <a:srgbClr val="406491"/>
                      </a:solidFill>
                      <a:prstDash val="solid"/>
                      <a:round/>
                      <a:headEnd type="none" w="med" len="med"/>
                      <a:tailEnd type="none" w="med" len="med"/>
                    </a:lnL>
                    <a:lnR w="9525" cap="flat" cmpd="sng" algn="ctr">
                      <a:solidFill>
                        <a:srgbClr val="C06291"/>
                      </a:solidFill>
                      <a:prstDash val="solid"/>
                      <a:round/>
                      <a:headEnd type="none" w="med" len="med"/>
                      <a:tailEnd type="none" w="med" len="med"/>
                    </a:lnR>
                    <a:lnT w="9525" cap="flat" cmpd="sng" algn="ctr">
                      <a:solidFill>
                        <a:srgbClr val="406491"/>
                      </a:solidFill>
                      <a:prstDash val="solid"/>
                      <a:round/>
                      <a:headEnd type="none" w="med" len="med"/>
                      <a:tailEnd type="none" w="med" len="med"/>
                    </a:lnT>
                    <a:lnB w="9525" cap="flat" cmpd="sng" algn="ctr">
                      <a:solidFill>
                        <a:srgbClr val="406491"/>
                      </a:solidFill>
                      <a:prstDash val="solid"/>
                      <a:round/>
                      <a:headEnd type="none" w="med" len="med"/>
                      <a:tailEnd type="none" w="med" len="med"/>
                    </a:lnB>
                  </a:tcPr>
                </a:tc>
                <a:tc>
                  <a:txBody>
                    <a:bodyPr/>
                    <a:lstStyle/>
                    <a:p>
                      <a:pPr algn="ctr" fontAlgn="base" latinLnBrk="0"/>
                      <a:r>
                        <a:rPr lang="en-IN">
                          <a:effectLst/>
                        </a:rPr>
                        <a:t>70,500</a:t>
                      </a:r>
                    </a:p>
                  </a:txBody>
                  <a:tcPr marL="76200" marR="76200" anchor="ctr">
                    <a:lnL w="9525" cap="flat" cmpd="sng" algn="ctr">
                      <a:solidFill>
                        <a:srgbClr val="C06291"/>
                      </a:solidFill>
                      <a:prstDash val="solid"/>
                      <a:round/>
                      <a:headEnd type="none" w="med" len="med"/>
                      <a:tailEnd type="none" w="med" len="med"/>
                    </a:lnL>
                    <a:lnR w="9525" cap="flat" cmpd="sng" algn="ctr">
                      <a:solidFill>
                        <a:srgbClr val="806491"/>
                      </a:solidFill>
                      <a:prstDash val="solid"/>
                      <a:round/>
                      <a:headEnd type="none" w="med" len="med"/>
                      <a:tailEnd type="none" w="med" len="med"/>
                    </a:lnR>
                    <a:lnT w="9525" cap="flat" cmpd="sng" algn="ctr">
                      <a:solidFill>
                        <a:srgbClr val="C06291"/>
                      </a:solidFill>
                      <a:prstDash val="solid"/>
                      <a:round/>
                      <a:headEnd type="none" w="med" len="med"/>
                      <a:tailEnd type="none" w="med" len="med"/>
                    </a:lnT>
                    <a:lnB w="9525" cap="flat" cmpd="sng" algn="ctr">
                      <a:solidFill>
                        <a:srgbClr val="C06291"/>
                      </a:solidFill>
                      <a:prstDash val="solid"/>
                      <a:round/>
                      <a:headEnd type="none" w="med" len="med"/>
                      <a:tailEnd type="none" w="med" len="med"/>
                    </a:lnB>
                  </a:tcPr>
                </a:tc>
                <a:tc>
                  <a:txBody>
                    <a:bodyPr/>
                    <a:lstStyle/>
                    <a:p>
                      <a:pPr algn="ctr" fontAlgn="base" latinLnBrk="0"/>
                      <a:r>
                        <a:rPr lang="en-IN">
                          <a:effectLst/>
                        </a:rPr>
                        <a:t>70,000</a:t>
                      </a:r>
                    </a:p>
                  </a:txBody>
                  <a:tcPr marL="76200" marR="76200" anchor="ctr">
                    <a:lnL w="9525" cap="flat" cmpd="sng" algn="ctr">
                      <a:solidFill>
                        <a:srgbClr val="806491"/>
                      </a:solidFill>
                      <a:prstDash val="solid"/>
                      <a:round/>
                      <a:headEnd type="none" w="med" len="med"/>
                      <a:tailEnd type="none" w="med" len="med"/>
                    </a:lnL>
                    <a:lnR w="9525" cap="flat" cmpd="sng" algn="ctr">
                      <a:solidFill>
                        <a:srgbClr val="C06491"/>
                      </a:solidFill>
                      <a:prstDash val="solid"/>
                      <a:round/>
                      <a:headEnd type="none" w="med" len="med"/>
                      <a:tailEnd type="none" w="med" len="med"/>
                    </a:lnR>
                    <a:lnT w="9525" cap="flat" cmpd="sng" algn="ctr">
                      <a:solidFill>
                        <a:srgbClr val="806491"/>
                      </a:solidFill>
                      <a:prstDash val="solid"/>
                      <a:round/>
                      <a:headEnd type="none" w="med" len="med"/>
                      <a:tailEnd type="none" w="med" len="med"/>
                    </a:lnT>
                    <a:lnB w="9525" cap="flat" cmpd="sng" algn="ctr">
                      <a:solidFill>
                        <a:srgbClr val="806491"/>
                      </a:solidFill>
                      <a:prstDash val="solid"/>
                      <a:round/>
                      <a:headEnd type="none" w="med" len="med"/>
                      <a:tailEnd type="none" w="med" len="med"/>
                    </a:lnB>
                  </a:tcPr>
                </a:tc>
                <a:tc>
                  <a:txBody>
                    <a:bodyPr/>
                    <a:lstStyle/>
                    <a:p>
                      <a:pPr algn="ctr" fontAlgn="base" latinLnBrk="0"/>
                      <a:r>
                        <a:rPr lang="en-IN">
                          <a:effectLst/>
                        </a:rPr>
                        <a:t>500</a:t>
                      </a:r>
                    </a:p>
                  </a:txBody>
                  <a:tcPr marL="76200" marR="76200" anchor="ctr">
                    <a:lnL w="9525" cap="flat" cmpd="sng" algn="ctr">
                      <a:solidFill>
                        <a:srgbClr val="C06491"/>
                      </a:solidFill>
                      <a:prstDash val="solid"/>
                      <a:round/>
                      <a:headEnd type="none" w="med" len="med"/>
                      <a:tailEnd type="none" w="med" len="med"/>
                    </a:lnL>
                    <a:lnR w="9525" cap="flat" cmpd="sng" algn="ctr">
                      <a:solidFill>
                        <a:srgbClr val="C07A91"/>
                      </a:solidFill>
                      <a:prstDash val="solid"/>
                      <a:round/>
                      <a:headEnd type="none" w="med" len="med"/>
                      <a:tailEnd type="none" w="med" len="med"/>
                    </a:lnR>
                    <a:lnT w="9525" cap="flat" cmpd="sng" algn="ctr">
                      <a:solidFill>
                        <a:srgbClr val="C06491"/>
                      </a:solidFill>
                      <a:prstDash val="solid"/>
                      <a:round/>
                      <a:headEnd type="none" w="med" len="med"/>
                      <a:tailEnd type="none" w="med" len="med"/>
                    </a:lnT>
                    <a:lnB w="9525" cap="flat" cmpd="sng" algn="ctr">
                      <a:solidFill>
                        <a:srgbClr val="C06491"/>
                      </a:solidFill>
                      <a:prstDash val="solid"/>
                      <a:round/>
                      <a:headEnd type="none" w="med" len="med"/>
                      <a:tailEnd type="none" w="med" len="med"/>
                    </a:lnB>
                  </a:tcPr>
                </a:tc>
                <a:tc>
                  <a:txBody>
                    <a:bodyPr/>
                    <a:lstStyle/>
                    <a:p>
                      <a:pPr algn="ctr" fontAlgn="base" latinLnBrk="0"/>
                      <a:r>
                        <a:rPr lang="en-IN" dirty="0">
                          <a:effectLst/>
                        </a:rPr>
                        <a:t>70,000</a:t>
                      </a:r>
                    </a:p>
                  </a:txBody>
                  <a:tcPr marL="76200" marR="76200" anchor="ctr">
                    <a:lnL w="9525" cap="flat" cmpd="sng" algn="ctr">
                      <a:solidFill>
                        <a:srgbClr val="C07A91"/>
                      </a:solidFill>
                      <a:prstDash val="solid"/>
                      <a:round/>
                      <a:headEnd type="none" w="med" len="med"/>
                      <a:tailEnd type="none" w="med" len="med"/>
                    </a:lnL>
                    <a:lnR w="9525" cap="flat" cmpd="sng" algn="ctr">
                      <a:solidFill>
                        <a:srgbClr val="C07A91"/>
                      </a:solidFill>
                      <a:prstDash val="solid"/>
                      <a:round/>
                      <a:headEnd type="none" w="med" len="med"/>
                      <a:tailEnd type="none" w="med" len="med"/>
                    </a:lnR>
                    <a:lnT w="9525" cap="flat" cmpd="sng" algn="ctr">
                      <a:solidFill>
                        <a:srgbClr val="C07A91"/>
                      </a:solidFill>
                      <a:prstDash val="solid"/>
                      <a:round/>
                      <a:headEnd type="none" w="med" len="med"/>
                      <a:tailEnd type="none" w="med" len="med"/>
                    </a:lnT>
                    <a:lnB w="9525" cap="flat" cmpd="sng" algn="ctr">
                      <a:solidFill>
                        <a:srgbClr val="C07A91"/>
                      </a:solidFill>
                      <a:prstDash val="solid"/>
                      <a:round/>
                      <a:headEnd type="none" w="med" len="med"/>
                      <a:tailEnd type="none" w="med" len="med"/>
                    </a:lnB>
                  </a:tcPr>
                </a:tc>
                <a:extLst>
                  <a:ext uri="{0D108BD9-81ED-4DB2-BD59-A6C34878D82A}">
                    <a16:rowId xmlns:a16="http://schemas.microsoft.com/office/drawing/2014/main" val="682825245"/>
                  </a:ext>
                </a:extLst>
              </a:tr>
            </a:tbl>
          </a:graphicData>
        </a:graphic>
      </p:graphicFrame>
    </p:spTree>
    <p:extLst>
      <p:ext uri="{BB962C8B-B14F-4D97-AF65-F5344CB8AC3E}">
        <p14:creationId xmlns:p14="http://schemas.microsoft.com/office/powerpoint/2010/main" val="5687144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b="1" dirty="0">
                <a:latin typeface="fkGroteskNeue"/>
              </a:rPr>
              <a:t>Marginal relief</a:t>
            </a:r>
            <a:endParaRPr lang="en-IN" dirty="0"/>
          </a:p>
        </p:txBody>
      </p:sp>
      <p:sp>
        <p:nvSpPr>
          <p:cNvPr id="4" name="Slide Number Placeholder 3"/>
          <p:cNvSpPr>
            <a:spLocks noGrp="1"/>
          </p:cNvSpPr>
          <p:nvPr>
            <p:ph type="sldNum" sz="quarter" idx="12"/>
          </p:nvPr>
        </p:nvSpPr>
        <p:spPr/>
        <p:txBody>
          <a:bodyPr/>
          <a:lstStyle/>
          <a:p>
            <a:fld id="{94013DF8-6EF8-4A98-8821-E6468C17C0C3}" type="slidenum">
              <a:rPr lang="en-IN" smtClean="0"/>
              <a:t>56</a:t>
            </a:fld>
            <a:endParaRPr lang="en-IN"/>
          </a:p>
        </p:txBody>
      </p:sp>
      <p:sp>
        <p:nvSpPr>
          <p:cNvPr id="2" name="Rectangle 1"/>
          <p:cNvSpPr/>
          <p:nvPr/>
        </p:nvSpPr>
        <p:spPr>
          <a:xfrm>
            <a:off x="114300" y="1425301"/>
            <a:ext cx="6096000" cy="5257850"/>
          </a:xfrm>
          <a:prstGeom prst="rect">
            <a:avLst/>
          </a:prstGeom>
        </p:spPr>
        <p:txBody>
          <a:bodyPr vert="horz" lIns="91440" tIns="45720" rIns="91440" bIns="45720" rtlCol="0">
            <a:normAutofit/>
          </a:bodyPr>
          <a:lstStyle/>
          <a:p>
            <a:pPr marL="342900" indent="-342900">
              <a:spcBef>
                <a:spcPts val="1000"/>
              </a:spcBef>
              <a:buClr>
                <a:schemeClr val="bg2">
                  <a:lumMod val="40000"/>
                  <a:lumOff val="60000"/>
                </a:schemeClr>
              </a:buClr>
              <a:buSzPct val="80000"/>
              <a:buFont typeface="Wingdings 3" charset="2"/>
              <a:buChar char=""/>
            </a:pPr>
            <a:r>
              <a:rPr lang="en-US" sz="2100" dirty="0">
                <a:latin typeface="+mj-lt"/>
                <a:ea typeface="+mj-ea"/>
                <a:cs typeface="+mj-cs"/>
              </a:rPr>
              <a:t>Steps to Calculate Marginal Relief (for New Tax Regime, FY 2025-26):</a:t>
            </a:r>
          </a:p>
          <a:p>
            <a:pPr marL="800100" lvl="1" indent="-342900">
              <a:spcBef>
                <a:spcPts val="1000"/>
              </a:spcBef>
              <a:buClr>
                <a:schemeClr val="bg2">
                  <a:lumMod val="40000"/>
                  <a:lumOff val="60000"/>
                </a:schemeClr>
              </a:buClr>
              <a:buSzPct val="80000"/>
              <a:buFont typeface="Wingdings 3" charset="2"/>
              <a:buChar char=""/>
            </a:pPr>
            <a:r>
              <a:rPr lang="en-US" sz="2100" dirty="0">
                <a:latin typeface="+mj-lt"/>
                <a:ea typeface="+mj-ea"/>
                <a:cs typeface="+mj-cs"/>
              </a:rPr>
              <a:t>Calculate tax without marginal relief on your total income as per the slab rates (including applicable </a:t>
            </a:r>
            <a:r>
              <a:rPr lang="en-US" sz="2100" dirty="0" err="1">
                <a:latin typeface="+mj-lt"/>
                <a:ea typeface="+mj-ea"/>
                <a:cs typeface="+mj-cs"/>
              </a:rPr>
              <a:t>cess</a:t>
            </a:r>
            <a:r>
              <a:rPr lang="en-US" sz="2100" dirty="0">
                <a:latin typeface="+mj-lt"/>
                <a:ea typeface="+mj-ea"/>
                <a:cs typeface="+mj-cs"/>
              </a:rPr>
              <a:t>).</a:t>
            </a:r>
          </a:p>
          <a:p>
            <a:pPr marL="800100" lvl="1" indent="-342900">
              <a:spcBef>
                <a:spcPts val="1000"/>
              </a:spcBef>
              <a:buClr>
                <a:schemeClr val="bg2">
                  <a:lumMod val="40000"/>
                  <a:lumOff val="60000"/>
                </a:schemeClr>
              </a:buClr>
              <a:buSzPct val="80000"/>
              <a:buFont typeface="Wingdings 3" charset="2"/>
              <a:buChar char=""/>
            </a:pPr>
            <a:r>
              <a:rPr lang="en-US" sz="2100" dirty="0">
                <a:latin typeface="+mj-lt"/>
                <a:ea typeface="+mj-ea"/>
                <a:cs typeface="+mj-cs"/>
              </a:rPr>
              <a:t>Calculate the excess income you earn over the rebate or exemption limit (e.g., income exceeding ₹12,00,000).</a:t>
            </a:r>
          </a:p>
          <a:p>
            <a:pPr marL="800100" lvl="1" indent="-342900">
              <a:spcBef>
                <a:spcPts val="1000"/>
              </a:spcBef>
              <a:buClr>
                <a:schemeClr val="bg2">
                  <a:lumMod val="40000"/>
                  <a:lumOff val="60000"/>
                </a:schemeClr>
              </a:buClr>
              <a:buSzPct val="80000"/>
              <a:buFont typeface="Wingdings 3" charset="2"/>
              <a:buChar char=""/>
            </a:pPr>
            <a:r>
              <a:rPr lang="en-US" sz="2100" dirty="0">
                <a:latin typeface="+mj-lt"/>
                <a:ea typeface="+mj-ea"/>
                <a:cs typeface="+mj-cs"/>
              </a:rPr>
              <a:t>Marginal Relief = Tax Payable without relief - Excess income over the limit</a:t>
            </a:r>
          </a:p>
          <a:p>
            <a:pPr marL="800100" lvl="1" indent="-342900">
              <a:spcBef>
                <a:spcPts val="1000"/>
              </a:spcBef>
              <a:buClr>
                <a:schemeClr val="bg2">
                  <a:lumMod val="40000"/>
                  <a:lumOff val="60000"/>
                </a:schemeClr>
              </a:buClr>
              <a:buSzPct val="80000"/>
              <a:buFont typeface="Wingdings 3" charset="2"/>
              <a:buChar char=""/>
            </a:pPr>
            <a:r>
              <a:rPr lang="en-US" sz="2100" dirty="0">
                <a:latin typeface="+mj-lt"/>
                <a:ea typeface="+mj-ea"/>
                <a:cs typeface="+mj-cs"/>
              </a:rPr>
              <a:t>Final tax payable = Tax Payable without relief - Marginal relief</a:t>
            </a:r>
          </a:p>
          <a:p>
            <a:pPr marL="800100" lvl="1" indent="-342900">
              <a:spcBef>
                <a:spcPts val="1000"/>
              </a:spcBef>
              <a:buClr>
                <a:schemeClr val="bg2">
                  <a:lumMod val="40000"/>
                  <a:lumOff val="60000"/>
                </a:schemeClr>
              </a:buClr>
              <a:buSzPct val="80000"/>
              <a:buFont typeface="Wingdings 3" charset="2"/>
              <a:buChar char=""/>
            </a:pPr>
            <a:r>
              <a:rPr lang="en-US" sz="2100" dirty="0">
                <a:latin typeface="+mj-lt"/>
                <a:ea typeface="+mj-ea"/>
                <a:cs typeface="+mj-cs"/>
              </a:rPr>
              <a:t>Add health and education </a:t>
            </a:r>
            <a:r>
              <a:rPr lang="en-US" sz="2100" dirty="0" err="1">
                <a:latin typeface="+mj-lt"/>
                <a:ea typeface="+mj-ea"/>
                <a:cs typeface="+mj-cs"/>
              </a:rPr>
              <a:t>cess</a:t>
            </a:r>
            <a:r>
              <a:rPr lang="en-US" sz="2100" dirty="0">
                <a:latin typeface="+mj-lt"/>
                <a:ea typeface="+mj-ea"/>
                <a:cs typeface="+mj-cs"/>
              </a:rPr>
              <a:t> (4%) on the final tax payable.</a:t>
            </a:r>
          </a:p>
        </p:txBody>
      </p:sp>
      <p:sp>
        <p:nvSpPr>
          <p:cNvPr id="3" name="Rectangle 2"/>
          <p:cNvSpPr/>
          <p:nvPr/>
        </p:nvSpPr>
        <p:spPr>
          <a:xfrm>
            <a:off x="6561136" y="1529116"/>
            <a:ext cx="5391150" cy="3898503"/>
          </a:xfrm>
          <a:prstGeom prst="rect">
            <a:avLst/>
          </a:prstGeom>
        </p:spPr>
        <p:txBody>
          <a:bodyPr vert="horz" lIns="91440" tIns="45720" rIns="91440" bIns="45720" rtlCol="0">
            <a:normAutofit fontScale="92500" lnSpcReduction="10000"/>
          </a:bodyPr>
          <a:lstStyle/>
          <a:p>
            <a:pPr marL="342900" indent="-342900">
              <a:spcBef>
                <a:spcPts val="1000"/>
              </a:spcBef>
              <a:buClr>
                <a:schemeClr val="bg2">
                  <a:lumMod val="40000"/>
                  <a:lumOff val="60000"/>
                </a:schemeClr>
              </a:buClr>
              <a:buSzPct val="80000"/>
              <a:buFont typeface="Wingdings 3" charset="2"/>
              <a:buChar char=""/>
            </a:pPr>
            <a:r>
              <a:rPr lang="en-IN" sz="2100" dirty="0">
                <a:latin typeface="+mj-lt"/>
                <a:ea typeface="+mj-ea"/>
                <a:cs typeface="+mj-cs"/>
              </a:rPr>
              <a:t>Example:</a:t>
            </a:r>
          </a:p>
          <a:p>
            <a:pPr marL="800100" lvl="1" indent="-342900">
              <a:spcBef>
                <a:spcPts val="1000"/>
              </a:spcBef>
              <a:buClr>
                <a:schemeClr val="bg2">
                  <a:lumMod val="40000"/>
                  <a:lumOff val="60000"/>
                </a:schemeClr>
              </a:buClr>
              <a:buSzPct val="80000"/>
              <a:buFont typeface="Wingdings 3" charset="2"/>
              <a:buChar char=""/>
            </a:pPr>
            <a:r>
              <a:rPr lang="en-IN" sz="2100" dirty="0">
                <a:latin typeface="+mj-lt"/>
                <a:ea typeface="+mj-ea"/>
                <a:cs typeface="+mj-cs"/>
              </a:rPr>
              <a:t>Income: ₹12,10,000</a:t>
            </a:r>
          </a:p>
          <a:p>
            <a:pPr marL="800100" lvl="1" indent="-342900">
              <a:spcBef>
                <a:spcPts val="1000"/>
              </a:spcBef>
              <a:buClr>
                <a:schemeClr val="bg2">
                  <a:lumMod val="40000"/>
                  <a:lumOff val="60000"/>
                </a:schemeClr>
              </a:buClr>
              <a:buSzPct val="80000"/>
              <a:buFont typeface="Wingdings 3" charset="2"/>
              <a:buChar char=""/>
            </a:pPr>
            <a:r>
              <a:rPr lang="en-IN" sz="2100" dirty="0">
                <a:latin typeface="+mj-lt"/>
                <a:ea typeface="+mj-ea"/>
                <a:cs typeface="+mj-cs"/>
              </a:rPr>
              <a:t>Tax without marginal relief: ₹61,500</a:t>
            </a:r>
          </a:p>
          <a:p>
            <a:pPr marL="800100" lvl="1" indent="-342900">
              <a:spcBef>
                <a:spcPts val="1000"/>
              </a:spcBef>
              <a:buClr>
                <a:schemeClr val="bg2">
                  <a:lumMod val="40000"/>
                  <a:lumOff val="60000"/>
                </a:schemeClr>
              </a:buClr>
              <a:buSzPct val="80000"/>
              <a:buFont typeface="Wingdings 3" charset="2"/>
              <a:buChar char=""/>
            </a:pPr>
            <a:r>
              <a:rPr lang="en-IN" sz="2100" dirty="0">
                <a:latin typeface="+mj-lt"/>
                <a:ea typeface="+mj-ea"/>
                <a:cs typeface="+mj-cs"/>
              </a:rPr>
              <a:t>Excess income over ₹12 lakh: ₹10,000</a:t>
            </a:r>
          </a:p>
          <a:p>
            <a:pPr marL="800100" lvl="1" indent="-342900">
              <a:spcBef>
                <a:spcPts val="1000"/>
              </a:spcBef>
              <a:buClr>
                <a:schemeClr val="bg2">
                  <a:lumMod val="40000"/>
                  <a:lumOff val="60000"/>
                </a:schemeClr>
              </a:buClr>
              <a:buSzPct val="80000"/>
              <a:buFont typeface="Wingdings 3" charset="2"/>
              <a:buChar char=""/>
            </a:pPr>
            <a:r>
              <a:rPr lang="en-IN" sz="2100" dirty="0">
                <a:latin typeface="+mj-lt"/>
                <a:ea typeface="+mj-ea"/>
                <a:cs typeface="+mj-cs"/>
              </a:rPr>
              <a:t>Marginal Relief = ₹61,500 - ₹10,000 = ₹51,500</a:t>
            </a:r>
          </a:p>
          <a:p>
            <a:pPr marL="800100" lvl="1" indent="-342900">
              <a:spcBef>
                <a:spcPts val="1000"/>
              </a:spcBef>
              <a:buClr>
                <a:schemeClr val="bg2">
                  <a:lumMod val="40000"/>
                  <a:lumOff val="60000"/>
                </a:schemeClr>
              </a:buClr>
              <a:buSzPct val="80000"/>
              <a:buFont typeface="Wingdings 3" charset="2"/>
              <a:buChar char=""/>
            </a:pPr>
            <a:r>
              <a:rPr lang="en-IN" sz="2100" dirty="0">
                <a:latin typeface="+mj-lt"/>
                <a:ea typeface="+mj-ea"/>
                <a:cs typeface="+mj-cs"/>
              </a:rPr>
              <a:t>Final tax payable = ₹61,500 - ₹51,500 = ₹10,000</a:t>
            </a:r>
          </a:p>
          <a:p>
            <a:pPr marL="800100" lvl="1" indent="-342900">
              <a:spcBef>
                <a:spcPts val="1000"/>
              </a:spcBef>
              <a:buClr>
                <a:schemeClr val="bg2">
                  <a:lumMod val="40000"/>
                  <a:lumOff val="60000"/>
                </a:schemeClr>
              </a:buClr>
              <a:buSzPct val="80000"/>
              <a:buFont typeface="Wingdings 3" charset="2"/>
              <a:buChar char=""/>
            </a:pPr>
            <a:r>
              <a:rPr lang="en-IN" sz="2100" dirty="0">
                <a:latin typeface="+mj-lt"/>
                <a:ea typeface="+mj-ea"/>
                <a:cs typeface="+mj-cs"/>
              </a:rPr>
              <a:t>Add 4% cess → Total tax = ₹10,400</a:t>
            </a:r>
          </a:p>
          <a:p>
            <a:pPr>
              <a:spcBef>
                <a:spcPts val="1000"/>
              </a:spcBef>
              <a:buClr>
                <a:schemeClr val="bg2">
                  <a:lumMod val="40000"/>
                  <a:lumOff val="60000"/>
                </a:schemeClr>
              </a:buClr>
              <a:buSzPct val="80000"/>
            </a:pPr>
            <a:br>
              <a:rPr lang="en-IN" sz="2100" dirty="0">
                <a:latin typeface="+mj-lt"/>
                <a:ea typeface="+mj-ea"/>
                <a:cs typeface="+mj-cs"/>
              </a:rPr>
            </a:br>
            <a:endParaRPr lang="en-IN" sz="2100" dirty="0">
              <a:latin typeface="+mj-lt"/>
              <a:ea typeface="+mj-ea"/>
              <a:cs typeface="+mj-cs"/>
            </a:endParaRPr>
          </a:p>
        </p:txBody>
      </p:sp>
    </p:spTree>
    <p:extLst>
      <p:ext uri="{BB962C8B-B14F-4D97-AF65-F5344CB8AC3E}">
        <p14:creationId xmlns:p14="http://schemas.microsoft.com/office/powerpoint/2010/main" val="15895520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Old Tax Regime: </a:t>
            </a:r>
            <a:r>
              <a:rPr lang="en-US" sz="3600" dirty="0"/>
              <a:t>Income Tax Slabs (FY 2025-26, AY 2026-27)</a:t>
            </a:r>
            <a:br>
              <a:rPr lang="en-US" dirty="0"/>
            </a:b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1546862183"/>
              </p:ext>
            </p:extLst>
          </p:nvPr>
        </p:nvGraphicFramePr>
        <p:xfrm>
          <a:off x="6345163" y="2153650"/>
          <a:ext cx="5435600" cy="2887582"/>
        </p:xfrm>
        <a:graphic>
          <a:graphicData uri="http://schemas.openxmlformats.org/drawingml/2006/table">
            <a:tbl>
              <a:tblPr/>
              <a:tblGrid>
                <a:gridCol w="1358900">
                  <a:extLst>
                    <a:ext uri="{9D8B030D-6E8A-4147-A177-3AD203B41FA5}">
                      <a16:colId xmlns:a16="http://schemas.microsoft.com/office/drawing/2014/main" val="1106380966"/>
                    </a:ext>
                  </a:extLst>
                </a:gridCol>
                <a:gridCol w="1358900">
                  <a:extLst>
                    <a:ext uri="{9D8B030D-6E8A-4147-A177-3AD203B41FA5}">
                      <a16:colId xmlns:a16="http://schemas.microsoft.com/office/drawing/2014/main" val="2386869424"/>
                    </a:ext>
                  </a:extLst>
                </a:gridCol>
                <a:gridCol w="1358900">
                  <a:extLst>
                    <a:ext uri="{9D8B030D-6E8A-4147-A177-3AD203B41FA5}">
                      <a16:colId xmlns:a16="http://schemas.microsoft.com/office/drawing/2014/main" val="3450485254"/>
                    </a:ext>
                  </a:extLst>
                </a:gridCol>
                <a:gridCol w="1358900">
                  <a:extLst>
                    <a:ext uri="{9D8B030D-6E8A-4147-A177-3AD203B41FA5}">
                      <a16:colId xmlns:a16="http://schemas.microsoft.com/office/drawing/2014/main" val="334636350"/>
                    </a:ext>
                  </a:extLst>
                </a:gridCol>
              </a:tblGrid>
              <a:tr h="752169">
                <a:tc>
                  <a:txBody>
                    <a:bodyPr/>
                    <a:lstStyle/>
                    <a:p>
                      <a:pPr algn="l" fontAlgn="t" latinLnBrk="0"/>
                      <a:r>
                        <a:rPr lang="en-IN" sz="1400" b="1">
                          <a:effectLst/>
                        </a:rPr>
                        <a:t>Income Range (₹)</a:t>
                      </a:r>
                    </a:p>
                  </a:txBody>
                  <a:tcPr marL="58763" marR="58763" marT="58763" marB="58763">
                    <a:lnL w="9525" cap="flat" cmpd="sng" algn="ctr">
                      <a:solidFill>
                        <a:srgbClr val="504136"/>
                      </a:solidFill>
                      <a:prstDash val="solid"/>
                      <a:round/>
                      <a:headEnd type="none" w="med" len="med"/>
                      <a:tailEnd type="none" w="med" len="med"/>
                    </a:lnL>
                    <a:lnR w="9525" cap="flat" cmpd="sng" algn="ctr">
                      <a:solidFill>
                        <a:srgbClr val="103C36"/>
                      </a:solidFill>
                      <a:prstDash val="solid"/>
                      <a:round/>
                      <a:headEnd type="none" w="med" len="med"/>
                      <a:tailEnd type="none" w="med" len="med"/>
                    </a:lnR>
                    <a:lnT w="9525" cap="flat" cmpd="sng" algn="ctr">
                      <a:solidFill>
                        <a:srgbClr val="504136"/>
                      </a:solidFill>
                      <a:prstDash val="solid"/>
                      <a:round/>
                      <a:headEnd type="none" w="med" len="med"/>
                      <a:tailEnd type="none" w="med" len="med"/>
                    </a:lnT>
                    <a:lnB w="9525" cap="flat" cmpd="sng" algn="ctr">
                      <a:solidFill>
                        <a:srgbClr val="D05F36"/>
                      </a:solidFill>
                      <a:prstDash val="solid"/>
                      <a:round/>
                      <a:headEnd type="none" w="med" len="med"/>
                      <a:tailEnd type="none" w="med" len="med"/>
                    </a:lnB>
                  </a:tcPr>
                </a:tc>
                <a:tc>
                  <a:txBody>
                    <a:bodyPr/>
                    <a:lstStyle/>
                    <a:p>
                      <a:pPr algn="ctr" fontAlgn="t" latinLnBrk="0"/>
                      <a:r>
                        <a:rPr lang="en-IN" sz="1400" b="1" dirty="0">
                          <a:effectLst/>
                        </a:rPr>
                        <a:t>Individuals below 60 years</a:t>
                      </a:r>
                    </a:p>
                  </a:txBody>
                  <a:tcPr marL="58763" marR="58763" marT="58763" marB="58763">
                    <a:lnL w="9525" cap="flat" cmpd="sng" algn="ctr">
                      <a:solidFill>
                        <a:srgbClr val="103C36"/>
                      </a:solidFill>
                      <a:prstDash val="solid"/>
                      <a:round/>
                      <a:headEnd type="none" w="med" len="med"/>
                      <a:tailEnd type="none" w="med" len="med"/>
                    </a:lnL>
                    <a:lnR w="9525" cap="flat" cmpd="sng" algn="ctr">
                      <a:solidFill>
                        <a:srgbClr val="103C36"/>
                      </a:solidFill>
                      <a:prstDash val="solid"/>
                      <a:round/>
                      <a:headEnd type="none" w="med" len="med"/>
                      <a:tailEnd type="none" w="med" len="med"/>
                    </a:lnR>
                    <a:lnT w="9525" cap="flat" cmpd="sng" algn="ctr">
                      <a:solidFill>
                        <a:srgbClr val="103C36"/>
                      </a:solidFill>
                      <a:prstDash val="solid"/>
                      <a:round/>
                      <a:headEnd type="none" w="med" len="med"/>
                      <a:tailEnd type="none" w="med" len="med"/>
                    </a:lnT>
                    <a:lnB w="9525" cap="flat" cmpd="sng" algn="ctr">
                      <a:solidFill>
                        <a:srgbClr val="905836"/>
                      </a:solidFill>
                      <a:prstDash val="solid"/>
                      <a:round/>
                      <a:headEnd type="none" w="med" len="med"/>
                      <a:tailEnd type="none" w="med" len="med"/>
                    </a:lnB>
                  </a:tcPr>
                </a:tc>
                <a:tc>
                  <a:txBody>
                    <a:bodyPr/>
                    <a:lstStyle/>
                    <a:p>
                      <a:pPr algn="ctr" fontAlgn="t" latinLnBrk="0"/>
                      <a:r>
                        <a:rPr lang="en-IN" sz="1400" b="1">
                          <a:effectLst/>
                        </a:rPr>
                        <a:t>Senior Citizens (60-80 years)</a:t>
                      </a:r>
                    </a:p>
                  </a:txBody>
                  <a:tcPr marL="58763" marR="58763" marT="58763" marB="58763">
                    <a:lnL w="9525" cap="flat" cmpd="sng" algn="ctr">
                      <a:solidFill>
                        <a:srgbClr val="103C36"/>
                      </a:solidFill>
                      <a:prstDash val="solid"/>
                      <a:round/>
                      <a:headEnd type="none" w="med" len="med"/>
                      <a:tailEnd type="none" w="med" len="med"/>
                    </a:lnL>
                    <a:lnR w="9525" cap="flat" cmpd="sng" algn="ctr">
                      <a:solidFill>
                        <a:srgbClr val="904236"/>
                      </a:solidFill>
                      <a:prstDash val="solid"/>
                      <a:round/>
                      <a:headEnd type="none" w="med" len="med"/>
                      <a:tailEnd type="none" w="med" len="med"/>
                    </a:lnR>
                    <a:lnT w="9525" cap="flat" cmpd="sng" algn="ctr">
                      <a:solidFill>
                        <a:srgbClr val="103C36"/>
                      </a:solidFill>
                      <a:prstDash val="solid"/>
                      <a:round/>
                      <a:headEnd type="none" w="med" len="med"/>
                      <a:tailEnd type="none" w="med" len="med"/>
                    </a:lnT>
                    <a:lnB w="9525" cap="flat" cmpd="sng" algn="ctr">
                      <a:solidFill>
                        <a:srgbClr val="505B36"/>
                      </a:solidFill>
                      <a:prstDash val="solid"/>
                      <a:round/>
                      <a:headEnd type="none" w="med" len="med"/>
                      <a:tailEnd type="none" w="med" len="med"/>
                    </a:lnB>
                  </a:tcPr>
                </a:tc>
                <a:tc>
                  <a:txBody>
                    <a:bodyPr/>
                    <a:lstStyle/>
                    <a:p>
                      <a:pPr algn="ctr" fontAlgn="t" latinLnBrk="0"/>
                      <a:r>
                        <a:rPr lang="en-US" sz="1400" b="1" dirty="0">
                          <a:effectLst/>
                        </a:rPr>
                        <a:t>Super Senior Citizens (80+ years)</a:t>
                      </a:r>
                    </a:p>
                  </a:txBody>
                  <a:tcPr marL="58763" marR="58763" marT="58763" marB="58763">
                    <a:lnL w="9525" cap="flat" cmpd="sng" algn="ctr">
                      <a:solidFill>
                        <a:srgbClr val="904236"/>
                      </a:solidFill>
                      <a:prstDash val="solid"/>
                      <a:round/>
                      <a:headEnd type="none" w="med" len="med"/>
                      <a:tailEnd type="none" w="med" len="med"/>
                    </a:lnL>
                    <a:lnR w="9525" cap="flat" cmpd="sng" algn="ctr">
                      <a:solidFill>
                        <a:srgbClr val="904236"/>
                      </a:solidFill>
                      <a:prstDash val="solid"/>
                      <a:round/>
                      <a:headEnd type="none" w="med" len="med"/>
                      <a:tailEnd type="none" w="med" len="med"/>
                    </a:lnR>
                    <a:lnT w="9525" cap="flat" cmpd="sng" algn="ctr">
                      <a:solidFill>
                        <a:srgbClr val="904236"/>
                      </a:solidFill>
                      <a:prstDash val="solid"/>
                      <a:round/>
                      <a:headEnd type="none" w="med" len="med"/>
                      <a:tailEnd type="none" w="med" len="med"/>
                    </a:lnT>
                    <a:lnB w="9525" cap="flat" cmpd="sng" algn="ctr">
                      <a:solidFill>
                        <a:srgbClr val="105C36"/>
                      </a:solidFill>
                      <a:prstDash val="solid"/>
                      <a:round/>
                      <a:headEnd type="none" w="med" len="med"/>
                      <a:tailEnd type="none" w="med" len="med"/>
                    </a:lnB>
                  </a:tcPr>
                </a:tc>
                <a:extLst>
                  <a:ext uri="{0D108BD9-81ED-4DB2-BD59-A6C34878D82A}">
                    <a16:rowId xmlns:a16="http://schemas.microsoft.com/office/drawing/2014/main" val="3460376296"/>
                  </a:ext>
                </a:extLst>
              </a:tr>
              <a:tr h="282064">
                <a:tc>
                  <a:txBody>
                    <a:bodyPr/>
                    <a:lstStyle/>
                    <a:p>
                      <a:pPr fontAlgn="base" latinLnBrk="0"/>
                      <a:r>
                        <a:rPr lang="en-IN" sz="1400">
                          <a:effectLst/>
                        </a:rPr>
                        <a:t>Up to 2,50,000</a:t>
                      </a:r>
                    </a:p>
                  </a:txBody>
                  <a:tcPr marL="58763" marR="58763" marT="35258" marB="35258" anchor="ctr">
                    <a:lnL w="9525" cap="flat" cmpd="sng" algn="ctr">
                      <a:solidFill>
                        <a:srgbClr val="D05F36"/>
                      </a:solidFill>
                      <a:prstDash val="solid"/>
                      <a:round/>
                      <a:headEnd type="none" w="med" len="med"/>
                      <a:tailEnd type="none" w="med" len="med"/>
                    </a:lnL>
                    <a:lnR w="9525" cap="flat" cmpd="sng" algn="ctr">
                      <a:solidFill>
                        <a:srgbClr val="905836"/>
                      </a:solidFill>
                      <a:prstDash val="solid"/>
                      <a:round/>
                      <a:headEnd type="none" w="med" len="med"/>
                      <a:tailEnd type="none" w="med" len="med"/>
                    </a:lnR>
                    <a:lnT w="9525" cap="flat" cmpd="sng" algn="ctr">
                      <a:solidFill>
                        <a:srgbClr val="D05F36"/>
                      </a:solidFill>
                      <a:prstDash val="solid"/>
                      <a:round/>
                      <a:headEnd type="none" w="med" len="med"/>
                      <a:tailEnd type="none" w="med" len="med"/>
                    </a:lnT>
                    <a:lnB w="9525" cap="flat" cmpd="sng" algn="ctr">
                      <a:solidFill>
                        <a:srgbClr val="905E36"/>
                      </a:solidFill>
                      <a:prstDash val="solid"/>
                      <a:round/>
                      <a:headEnd type="none" w="med" len="med"/>
                      <a:tailEnd type="none" w="med" len="med"/>
                    </a:lnB>
                  </a:tcPr>
                </a:tc>
                <a:tc>
                  <a:txBody>
                    <a:bodyPr/>
                    <a:lstStyle/>
                    <a:p>
                      <a:pPr algn="ctr" fontAlgn="base" latinLnBrk="0"/>
                      <a:r>
                        <a:rPr lang="en-IN" sz="1400">
                          <a:effectLst/>
                        </a:rPr>
                        <a:t>Nil</a:t>
                      </a:r>
                    </a:p>
                  </a:txBody>
                  <a:tcPr marL="58763" marR="58763" marT="35258" marB="35258" anchor="ctr">
                    <a:lnL w="9525" cap="flat" cmpd="sng" algn="ctr">
                      <a:solidFill>
                        <a:srgbClr val="905836"/>
                      </a:solidFill>
                      <a:prstDash val="solid"/>
                      <a:round/>
                      <a:headEnd type="none" w="med" len="med"/>
                      <a:tailEnd type="none" w="med" len="med"/>
                    </a:lnL>
                    <a:lnR w="9525" cap="flat" cmpd="sng" algn="ctr">
                      <a:solidFill>
                        <a:srgbClr val="505B36"/>
                      </a:solidFill>
                      <a:prstDash val="solid"/>
                      <a:round/>
                      <a:headEnd type="none" w="med" len="med"/>
                      <a:tailEnd type="none" w="med" len="med"/>
                    </a:lnR>
                    <a:lnT w="9525" cap="flat" cmpd="sng" algn="ctr">
                      <a:solidFill>
                        <a:srgbClr val="905836"/>
                      </a:solidFill>
                      <a:prstDash val="solid"/>
                      <a:round/>
                      <a:headEnd type="none" w="med" len="med"/>
                      <a:tailEnd type="none" w="med" len="med"/>
                    </a:lnT>
                    <a:lnB w="9525" cap="flat" cmpd="sng" algn="ctr">
                      <a:solidFill>
                        <a:srgbClr val="506636"/>
                      </a:solidFill>
                      <a:prstDash val="solid"/>
                      <a:round/>
                      <a:headEnd type="none" w="med" len="med"/>
                      <a:tailEnd type="none" w="med" len="med"/>
                    </a:lnB>
                  </a:tcPr>
                </a:tc>
                <a:tc>
                  <a:txBody>
                    <a:bodyPr/>
                    <a:lstStyle/>
                    <a:p>
                      <a:pPr algn="ctr" fontAlgn="base" latinLnBrk="0"/>
                      <a:endParaRPr lang="en-IN" sz="1400">
                        <a:effectLst/>
                      </a:endParaRPr>
                    </a:p>
                  </a:txBody>
                  <a:tcPr marL="58763" marR="58763" marT="35258" marB="35258" anchor="ctr">
                    <a:lnL w="9525" cap="flat" cmpd="sng" algn="ctr">
                      <a:solidFill>
                        <a:srgbClr val="505B36"/>
                      </a:solidFill>
                      <a:prstDash val="solid"/>
                      <a:round/>
                      <a:headEnd type="none" w="med" len="med"/>
                      <a:tailEnd type="none" w="med" len="med"/>
                    </a:lnL>
                    <a:lnR w="9525" cap="flat" cmpd="sng" algn="ctr">
                      <a:solidFill>
                        <a:srgbClr val="105C36"/>
                      </a:solidFill>
                      <a:prstDash val="solid"/>
                      <a:round/>
                      <a:headEnd type="none" w="med" len="med"/>
                      <a:tailEnd type="none" w="med" len="med"/>
                    </a:lnR>
                    <a:lnT w="9525" cap="flat" cmpd="sng" algn="ctr">
                      <a:solidFill>
                        <a:srgbClr val="505B36"/>
                      </a:solidFill>
                      <a:prstDash val="solid"/>
                      <a:round/>
                      <a:headEnd type="none" w="med" len="med"/>
                      <a:tailEnd type="none" w="med" len="med"/>
                    </a:lnT>
                    <a:lnB w="9525" cap="flat" cmpd="sng" algn="ctr">
                      <a:solidFill>
                        <a:srgbClr val="506636"/>
                      </a:solidFill>
                      <a:prstDash val="solid"/>
                      <a:round/>
                      <a:headEnd type="none" w="med" len="med"/>
                      <a:tailEnd type="none" w="med" len="med"/>
                    </a:lnB>
                  </a:tcPr>
                </a:tc>
                <a:tc>
                  <a:txBody>
                    <a:bodyPr/>
                    <a:lstStyle/>
                    <a:p>
                      <a:pPr algn="ctr" fontAlgn="base" latinLnBrk="0"/>
                      <a:endParaRPr lang="en-IN" sz="1400">
                        <a:effectLst/>
                      </a:endParaRPr>
                    </a:p>
                  </a:txBody>
                  <a:tcPr marL="58763" marR="58763" marT="35258" marB="35258" anchor="ctr">
                    <a:lnL w="9525" cap="flat" cmpd="sng" algn="ctr">
                      <a:solidFill>
                        <a:srgbClr val="105C36"/>
                      </a:solidFill>
                      <a:prstDash val="solid"/>
                      <a:round/>
                      <a:headEnd type="none" w="med" len="med"/>
                      <a:tailEnd type="none" w="med" len="med"/>
                    </a:lnL>
                    <a:lnR w="9525" cap="flat" cmpd="sng" algn="ctr">
                      <a:solidFill>
                        <a:srgbClr val="105C36"/>
                      </a:solidFill>
                      <a:prstDash val="solid"/>
                      <a:round/>
                      <a:headEnd type="none" w="med" len="med"/>
                      <a:tailEnd type="none" w="med" len="med"/>
                    </a:lnR>
                    <a:lnT w="9525" cap="flat" cmpd="sng" algn="ctr">
                      <a:solidFill>
                        <a:srgbClr val="105C36"/>
                      </a:solidFill>
                      <a:prstDash val="solid"/>
                      <a:round/>
                      <a:headEnd type="none" w="med" len="med"/>
                      <a:tailEnd type="none" w="med" len="med"/>
                    </a:lnT>
                    <a:lnB w="9525" cap="flat" cmpd="sng" algn="ctr">
                      <a:solidFill>
                        <a:srgbClr val="D06A36"/>
                      </a:solidFill>
                      <a:prstDash val="solid"/>
                      <a:round/>
                      <a:headEnd type="none" w="med" len="med"/>
                      <a:tailEnd type="none" w="med" len="med"/>
                    </a:lnB>
                  </a:tcPr>
                </a:tc>
                <a:extLst>
                  <a:ext uri="{0D108BD9-81ED-4DB2-BD59-A6C34878D82A}">
                    <a16:rowId xmlns:a16="http://schemas.microsoft.com/office/drawing/2014/main" val="3952456221"/>
                  </a:ext>
                </a:extLst>
              </a:tr>
              <a:tr h="282064">
                <a:tc>
                  <a:txBody>
                    <a:bodyPr/>
                    <a:lstStyle/>
                    <a:p>
                      <a:pPr fontAlgn="base" latinLnBrk="0"/>
                      <a:r>
                        <a:rPr lang="en-IN" sz="1400">
                          <a:effectLst/>
                        </a:rPr>
                        <a:t>Up to 3,00,000</a:t>
                      </a:r>
                    </a:p>
                  </a:txBody>
                  <a:tcPr marL="58763" marR="58763" marT="35258" marB="35258" anchor="ctr">
                    <a:lnL w="9525" cap="flat" cmpd="sng" algn="ctr">
                      <a:solidFill>
                        <a:srgbClr val="905E36"/>
                      </a:solidFill>
                      <a:prstDash val="solid"/>
                      <a:round/>
                      <a:headEnd type="none" w="med" len="med"/>
                      <a:tailEnd type="none" w="med" len="med"/>
                    </a:lnL>
                    <a:lnR w="9525" cap="flat" cmpd="sng" algn="ctr">
                      <a:solidFill>
                        <a:srgbClr val="506636"/>
                      </a:solidFill>
                      <a:prstDash val="solid"/>
                      <a:round/>
                      <a:headEnd type="none" w="med" len="med"/>
                      <a:tailEnd type="none" w="med" len="med"/>
                    </a:lnR>
                    <a:lnT w="9525" cap="flat" cmpd="sng" algn="ctr">
                      <a:solidFill>
                        <a:srgbClr val="905E36"/>
                      </a:solidFill>
                      <a:prstDash val="solid"/>
                      <a:round/>
                      <a:headEnd type="none" w="med" len="med"/>
                      <a:tailEnd type="none" w="med" len="med"/>
                    </a:lnT>
                    <a:lnB w="9525" cap="flat" cmpd="sng" algn="ctr">
                      <a:solidFill>
                        <a:srgbClr val="906E36"/>
                      </a:solidFill>
                      <a:prstDash val="solid"/>
                      <a:round/>
                      <a:headEnd type="none" w="med" len="med"/>
                      <a:tailEnd type="none" w="med" len="med"/>
                    </a:lnB>
                  </a:tcPr>
                </a:tc>
                <a:tc>
                  <a:txBody>
                    <a:bodyPr/>
                    <a:lstStyle/>
                    <a:p>
                      <a:pPr algn="ctr" fontAlgn="base" latinLnBrk="0"/>
                      <a:endParaRPr lang="en-IN" sz="1400">
                        <a:effectLst/>
                      </a:endParaRPr>
                    </a:p>
                  </a:txBody>
                  <a:tcPr marL="58763" marR="58763" marT="35258" marB="35258" anchor="ctr">
                    <a:lnL w="9525" cap="flat" cmpd="sng" algn="ctr">
                      <a:solidFill>
                        <a:srgbClr val="506636"/>
                      </a:solidFill>
                      <a:prstDash val="solid"/>
                      <a:round/>
                      <a:headEnd type="none" w="med" len="med"/>
                      <a:tailEnd type="none" w="med" len="med"/>
                    </a:lnL>
                    <a:lnR w="9525" cap="flat" cmpd="sng" algn="ctr">
                      <a:solidFill>
                        <a:srgbClr val="506636"/>
                      </a:solidFill>
                      <a:prstDash val="solid"/>
                      <a:round/>
                      <a:headEnd type="none" w="med" len="med"/>
                      <a:tailEnd type="none" w="med" len="med"/>
                    </a:lnR>
                    <a:lnT w="9525" cap="flat" cmpd="sng" algn="ctr">
                      <a:solidFill>
                        <a:srgbClr val="506636"/>
                      </a:solidFill>
                      <a:prstDash val="solid"/>
                      <a:round/>
                      <a:headEnd type="none" w="med" len="med"/>
                      <a:tailEnd type="none" w="med" len="med"/>
                    </a:lnT>
                    <a:lnB w="9525" cap="flat" cmpd="sng" algn="ctr">
                      <a:solidFill>
                        <a:srgbClr val="507536"/>
                      </a:solidFill>
                      <a:prstDash val="solid"/>
                      <a:round/>
                      <a:headEnd type="none" w="med" len="med"/>
                      <a:tailEnd type="none" w="med" len="med"/>
                    </a:lnB>
                  </a:tcPr>
                </a:tc>
                <a:tc>
                  <a:txBody>
                    <a:bodyPr/>
                    <a:lstStyle/>
                    <a:p>
                      <a:pPr algn="ctr" fontAlgn="base" latinLnBrk="0"/>
                      <a:r>
                        <a:rPr lang="en-IN" sz="1400">
                          <a:effectLst/>
                        </a:rPr>
                        <a:t>Nil</a:t>
                      </a:r>
                    </a:p>
                  </a:txBody>
                  <a:tcPr marL="58763" marR="58763" marT="35258" marB="35258" anchor="ctr">
                    <a:lnL w="9525" cap="flat" cmpd="sng" algn="ctr">
                      <a:solidFill>
                        <a:srgbClr val="506636"/>
                      </a:solidFill>
                      <a:prstDash val="solid"/>
                      <a:round/>
                      <a:headEnd type="none" w="med" len="med"/>
                      <a:tailEnd type="none" w="med" len="med"/>
                    </a:lnL>
                    <a:lnR w="9525" cap="flat" cmpd="sng" algn="ctr">
                      <a:solidFill>
                        <a:srgbClr val="D06A36"/>
                      </a:solidFill>
                      <a:prstDash val="solid"/>
                      <a:round/>
                      <a:headEnd type="none" w="med" len="med"/>
                      <a:tailEnd type="none" w="med" len="med"/>
                    </a:lnR>
                    <a:lnT w="9525" cap="flat" cmpd="sng" algn="ctr">
                      <a:solidFill>
                        <a:srgbClr val="506636"/>
                      </a:solidFill>
                      <a:prstDash val="solid"/>
                      <a:round/>
                      <a:headEnd type="none" w="med" len="med"/>
                      <a:tailEnd type="none" w="med" len="med"/>
                    </a:lnT>
                    <a:lnB w="9525" cap="flat" cmpd="sng" algn="ctr">
                      <a:solidFill>
                        <a:srgbClr val="D07536"/>
                      </a:solidFill>
                      <a:prstDash val="solid"/>
                      <a:round/>
                      <a:headEnd type="none" w="med" len="med"/>
                      <a:tailEnd type="none" w="med" len="med"/>
                    </a:lnB>
                  </a:tcPr>
                </a:tc>
                <a:tc>
                  <a:txBody>
                    <a:bodyPr/>
                    <a:lstStyle/>
                    <a:p>
                      <a:pPr algn="ctr" fontAlgn="base" latinLnBrk="0"/>
                      <a:endParaRPr lang="en-IN" sz="1400">
                        <a:effectLst/>
                      </a:endParaRPr>
                    </a:p>
                  </a:txBody>
                  <a:tcPr marL="58763" marR="58763" marT="35258" marB="35258" anchor="ctr">
                    <a:lnL w="9525" cap="flat" cmpd="sng" algn="ctr">
                      <a:solidFill>
                        <a:srgbClr val="D06A36"/>
                      </a:solidFill>
                      <a:prstDash val="solid"/>
                      <a:round/>
                      <a:headEnd type="none" w="med" len="med"/>
                      <a:tailEnd type="none" w="med" len="med"/>
                    </a:lnL>
                    <a:lnR w="9525" cap="flat" cmpd="sng" algn="ctr">
                      <a:solidFill>
                        <a:srgbClr val="D06A36"/>
                      </a:solidFill>
                      <a:prstDash val="solid"/>
                      <a:round/>
                      <a:headEnd type="none" w="med" len="med"/>
                      <a:tailEnd type="none" w="med" len="med"/>
                    </a:lnR>
                    <a:lnT w="9525" cap="flat" cmpd="sng" algn="ctr">
                      <a:solidFill>
                        <a:srgbClr val="D06A36"/>
                      </a:solidFill>
                      <a:prstDash val="solid"/>
                      <a:round/>
                      <a:headEnd type="none" w="med" len="med"/>
                      <a:tailEnd type="none" w="med" len="med"/>
                    </a:lnT>
                    <a:lnB w="9525" cap="flat" cmpd="sng" algn="ctr">
                      <a:solidFill>
                        <a:srgbClr val="D07E36"/>
                      </a:solidFill>
                      <a:prstDash val="solid"/>
                      <a:round/>
                      <a:headEnd type="none" w="med" len="med"/>
                      <a:tailEnd type="none" w="med" len="med"/>
                    </a:lnB>
                  </a:tcPr>
                </a:tc>
                <a:extLst>
                  <a:ext uri="{0D108BD9-81ED-4DB2-BD59-A6C34878D82A}">
                    <a16:rowId xmlns:a16="http://schemas.microsoft.com/office/drawing/2014/main" val="3156679047"/>
                  </a:ext>
                </a:extLst>
              </a:tr>
              <a:tr h="282064">
                <a:tc>
                  <a:txBody>
                    <a:bodyPr/>
                    <a:lstStyle/>
                    <a:p>
                      <a:pPr fontAlgn="base" latinLnBrk="0"/>
                      <a:r>
                        <a:rPr lang="en-IN" sz="1400">
                          <a:effectLst/>
                        </a:rPr>
                        <a:t>Up to 5,00,000</a:t>
                      </a:r>
                    </a:p>
                  </a:txBody>
                  <a:tcPr marL="58763" marR="58763" marT="35258" marB="35258" anchor="ctr">
                    <a:lnL w="9525" cap="flat" cmpd="sng" algn="ctr">
                      <a:solidFill>
                        <a:srgbClr val="906E36"/>
                      </a:solidFill>
                      <a:prstDash val="solid"/>
                      <a:round/>
                      <a:headEnd type="none" w="med" len="med"/>
                      <a:tailEnd type="none" w="med" len="med"/>
                    </a:lnL>
                    <a:lnR w="9525" cap="flat" cmpd="sng" algn="ctr">
                      <a:solidFill>
                        <a:srgbClr val="507536"/>
                      </a:solidFill>
                      <a:prstDash val="solid"/>
                      <a:round/>
                      <a:headEnd type="none" w="med" len="med"/>
                      <a:tailEnd type="none" w="med" len="med"/>
                    </a:lnR>
                    <a:lnT w="9525" cap="flat" cmpd="sng" algn="ctr">
                      <a:solidFill>
                        <a:srgbClr val="906E36"/>
                      </a:solidFill>
                      <a:prstDash val="solid"/>
                      <a:round/>
                      <a:headEnd type="none" w="med" len="med"/>
                      <a:tailEnd type="none" w="med" len="med"/>
                    </a:lnT>
                    <a:lnB w="9525" cap="flat" cmpd="sng" algn="ctr">
                      <a:solidFill>
                        <a:srgbClr val="507336"/>
                      </a:solidFill>
                      <a:prstDash val="solid"/>
                      <a:round/>
                      <a:headEnd type="none" w="med" len="med"/>
                      <a:tailEnd type="none" w="med" len="med"/>
                    </a:lnB>
                  </a:tcPr>
                </a:tc>
                <a:tc>
                  <a:txBody>
                    <a:bodyPr/>
                    <a:lstStyle/>
                    <a:p>
                      <a:pPr algn="ctr" fontAlgn="base" latinLnBrk="0"/>
                      <a:endParaRPr lang="en-IN" sz="1400">
                        <a:effectLst/>
                      </a:endParaRPr>
                    </a:p>
                  </a:txBody>
                  <a:tcPr marL="58763" marR="58763" marT="35258" marB="35258" anchor="ctr">
                    <a:lnL w="9525" cap="flat" cmpd="sng" algn="ctr">
                      <a:solidFill>
                        <a:srgbClr val="507536"/>
                      </a:solidFill>
                      <a:prstDash val="solid"/>
                      <a:round/>
                      <a:headEnd type="none" w="med" len="med"/>
                      <a:tailEnd type="none" w="med" len="med"/>
                    </a:lnL>
                    <a:lnR w="9525" cap="flat" cmpd="sng" algn="ctr">
                      <a:solidFill>
                        <a:srgbClr val="D07536"/>
                      </a:solidFill>
                      <a:prstDash val="solid"/>
                      <a:round/>
                      <a:headEnd type="none" w="med" len="med"/>
                      <a:tailEnd type="none" w="med" len="med"/>
                    </a:lnR>
                    <a:lnT w="9525" cap="flat" cmpd="sng" algn="ctr">
                      <a:solidFill>
                        <a:srgbClr val="507536"/>
                      </a:solidFill>
                      <a:prstDash val="solid"/>
                      <a:round/>
                      <a:headEnd type="none" w="med" len="med"/>
                      <a:tailEnd type="none" w="med" len="med"/>
                    </a:lnT>
                    <a:lnB w="9525" cap="flat" cmpd="sng" algn="ctr">
                      <a:solidFill>
                        <a:srgbClr val="507836"/>
                      </a:solidFill>
                      <a:prstDash val="solid"/>
                      <a:round/>
                      <a:headEnd type="none" w="med" len="med"/>
                      <a:tailEnd type="none" w="med" len="med"/>
                    </a:lnB>
                  </a:tcPr>
                </a:tc>
                <a:tc>
                  <a:txBody>
                    <a:bodyPr/>
                    <a:lstStyle/>
                    <a:p>
                      <a:pPr algn="ctr" fontAlgn="base" latinLnBrk="0"/>
                      <a:endParaRPr lang="en-IN" sz="1400">
                        <a:effectLst/>
                      </a:endParaRPr>
                    </a:p>
                  </a:txBody>
                  <a:tcPr marL="58763" marR="58763" marT="35258" marB="35258" anchor="ctr">
                    <a:lnL w="9525" cap="flat" cmpd="sng" algn="ctr">
                      <a:solidFill>
                        <a:srgbClr val="D07536"/>
                      </a:solidFill>
                      <a:prstDash val="solid"/>
                      <a:round/>
                      <a:headEnd type="none" w="med" len="med"/>
                      <a:tailEnd type="none" w="med" len="med"/>
                    </a:lnL>
                    <a:lnR w="9525" cap="flat" cmpd="sng" algn="ctr">
                      <a:solidFill>
                        <a:srgbClr val="D07E36"/>
                      </a:solidFill>
                      <a:prstDash val="solid"/>
                      <a:round/>
                      <a:headEnd type="none" w="med" len="med"/>
                      <a:tailEnd type="none" w="med" len="med"/>
                    </a:lnR>
                    <a:lnT w="9525" cap="flat" cmpd="sng" algn="ctr">
                      <a:solidFill>
                        <a:srgbClr val="D07536"/>
                      </a:solidFill>
                      <a:prstDash val="solid"/>
                      <a:round/>
                      <a:headEnd type="none" w="med" len="med"/>
                      <a:tailEnd type="none" w="med" len="med"/>
                    </a:lnT>
                    <a:lnB w="9525" cap="flat" cmpd="sng" algn="ctr">
                      <a:solidFill>
                        <a:srgbClr val="10AE36"/>
                      </a:solidFill>
                      <a:prstDash val="solid"/>
                      <a:round/>
                      <a:headEnd type="none" w="med" len="med"/>
                      <a:tailEnd type="none" w="med" len="med"/>
                    </a:lnB>
                  </a:tcPr>
                </a:tc>
                <a:tc>
                  <a:txBody>
                    <a:bodyPr/>
                    <a:lstStyle/>
                    <a:p>
                      <a:pPr algn="ctr" fontAlgn="base" latinLnBrk="0"/>
                      <a:r>
                        <a:rPr lang="en-IN" sz="1400">
                          <a:effectLst/>
                        </a:rPr>
                        <a:t>Nil</a:t>
                      </a:r>
                    </a:p>
                  </a:txBody>
                  <a:tcPr marL="58763" marR="58763" marT="35258" marB="35258" anchor="ctr">
                    <a:lnL w="9525" cap="flat" cmpd="sng" algn="ctr">
                      <a:solidFill>
                        <a:srgbClr val="D07E36"/>
                      </a:solidFill>
                      <a:prstDash val="solid"/>
                      <a:round/>
                      <a:headEnd type="none" w="med" len="med"/>
                      <a:tailEnd type="none" w="med" len="med"/>
                    </a:lnL>
                    <a:lnR w="9525" cap="flat" cmpd="sng" algn="ctr">
                      <a:solidFill>
                        <a:srgbClr val="D07E36"/>
                      </a:solidFill>
                      <a:prstDash val="solid"/>
                      <a:round/>
                      <a:headEnd type="none" w="med" len="med"/>
                      <a:tailEnd type="none" w="med" len="med"/>
                    </a:lnR>
                    <a:lnT w="9525" cap="flat" cmpd="sng" algn="ctr">
                      <a:solidFill>
                        <a:srgbClr val="D07E36"/>
                      </a:solidFill>
                      <a:prstDash val="solid"/>
                      <a:round/>
                      <a:headEnd type="none" w="med" len="med"/>
                      <a:tailEnd type="none" w="med" len="med"/>
                    </a:lnT>
                    <a:lnB w="9525" cap="flat" cmpd="sng" algn="ctr">
                      <a:solidFill>
                        <a:srgbClr val="D0AB36"/>
                      </a:solidFill>
                      <a:prstDash val="solid"/>
                      <a:round/>
                      <a:headEnd type="none" w="med" len="med"/>
                      <a:tailEnd type="none" w="med" len="med"/>
                    </a:lnB>
                  </a:tcPr>
                </a:tc>
                <a:extLst>
                  <a:ext uri="{0D108BD9-81ED-4DB2-BD59-A6C34878D82A}">
                    <a16:rowId xmlns:a16="http://schemas.microsoft.com/office/drawing/2014/main" val="220983734"/>
                  </a:ext>
                </a:extLst>
              </a:tr>
              <a:tr h="493611">
                <a:tc>
                  <a:txBody>
                    <a:bodyPr/>
                    <a:lstStyle/>
                    <a:p>
                      <a:pPr fontAlgn="base" latinLnBrk="0"/>
                      <a:r>
                        <a:rPr lang="en-IN" sz="1400">
                          <a:effectLst/>
                        </a:rPr>
                        <a:t>2,50,001 to 5,00,000</a:t>
                      </a:r>
                    </a:p>
                  </a:txBody>
                  <a:tcPr marL="58763" marR="58763" marT="35258" marB="35258" anchor="ctr">
                    <a:lnL w="9525" cap="flat" cmpd="sng" algn="ctr">
                      <a:solidFill>
                        <a:srgbClr val="507336"/>
                      </a:solidFill>
                      <a:prstDash val="solid"/>
                      <a:round/>
                      <a:headEnd type="none" w="med" len="med"/>
                      <a:tailEnd type="none" w="med" len="med"/>
                    </a:lnL>
                    <a:lnR w="9525" cap="flat" cmpd="sng" algn="ctr">
                      <a:solidFill>
                        <a:srgbClr val="507836"/>
                      </a:solidFill>
                      <a:prstDash val="solid"/>
                      <a:round/>
                      <a:headEnd type="none" w="med" len="med"/>
                      <a:tailEnd type="none" w="med" len="med"/>
                    </a:lnR>
                    <a:lnT w="9525" cap="flat" cmpd="sng" algn="ctr">
                      <a:solidFill>
                        <a:srgbClr val="507336"/>
                      </a:solidFill>
                      <a:prstDash val="solid"/>
                      <a:round/>
                      <a:headEnd type="none" w="med" len="med"/>
                      <a:tailEnd type="none" w="med" len="med"/>
                    </a:lnT>
                    <a:lnB w="9525" cap="flat" cmpd="sng" algn="ctr">
                      <a:solidFill>
                        <a:srgbClr val="10C236"/>
                      </a:solidFill>
                      <a:prstDash val="solid"/>
                      <a:round/>
                      <a:headEnd type="none" w="med" len="med"/>
                      <a:tailEnd type="none" w="med" len="med"/>
                    </a:lnB>
                  </a:tcPr>
                </a:tc>
                <a:tc>
                  <a:txBody>
                    <a:bodyPr/>
                    <a:lstStyle/>
                    <a:p>
                      <a:pPr algn="ctr" fontAlgn="base" latinLnBrk="0"/>
                      <a:r>
                        <a:rPr lang="en-IN" sz="1400">
                          <a:effectLst/>
                        </a:rPr>
                        <a:t>5%</a:t>
                      </a:r>
                    </a:p>
                  </a:txBody>
                  <a:tcPr marL="58763" marR="58763" marT="35258" marB="35258" anchor="ctr">
                    <a:lnL w="9525" cap="flat" cmpd="sng" algn="ctr">
                      <a:solidFill>
                        <a:srgbClr val="507836"/>
                      </a:solidFill>
                      <a:prstDash val="solid"/>
                      <a:round/>
                      <a:headEnd type="none" w="med" len="med"/>
                      <a:tailEnd type="none" w="med" len="med"/>
                    </a:lnL>
                    <a:lnR w="9525" cap="flat" cmpd="sng" algn="ctr">
                      <a:solidFill>
                        <a:srgbClr val="10AE36"/>
                      </a:solidFill>
                      <a:prstDash val="solid"/>
                      <a:round/>
                      <a:headEnd type="none" w="med" len="med"/>
                      <a:tailEnd type="none" w="med" len="med"/>
                    </a:lnR>
                    <a:lnT w="9525" cap="flat" cmpd="sng" algn="ctr">
                      <a:solidFill>
                        <a:srgbClr val="507836"/>
                      </a:solidFill>
                      <a:prstDash val="solid"/>
                      <a:round/>
                      <a:headEnd type="none" w="med" len="med"/>
                      <a:tailEnd type="none" w="med" len="med"/>
                    </a:lnT>
                    <a:lnB w="9525" cap="flat" cmpd="sng" algn="ctr">
                      <a:solidFill>
                        <a:srgbClr val="90C936"/>
                      </a:solidFill>
                      <a:prstDash val="solid"/>
                      <a:round/>
                      <a:headEnd type="none" w="med" len="med"/>
                      <a:tailEnd type="none" w="med" len="med"/>
                    </a:lnB>
                  </a:tcPr>
                </a:tc>
                <a:tc>
                  <a:txBody>
                    <a:bodyPr/>
                    <a:lstStyle/>
                    <a:p>
                      <a:pPr algn="ctr" fontAlgn="base" latinLnBrk="0"/>
                      <a:r>
                        <a:rPr lang="en-IN" sz="1400">
                          <a:effectLst/>
                        </a:rPr>
                        <a:t>5% (for 3–5 lakh)</a:t>
                      </a:r>
                    </a:p>
                  </a:txBody>
                  <a:tcPr marL="58763" marR="58763" marT="35258" marB="35258" anchor="ctr">
                    <a:lnL w="9525" cap="flat" cmpd="sng" algn="ctr">
                      <a:solidFill>
                        <a:srgbClr val="10AE36"/>
                      </a:solidFill>
                      <a:prstDash val="solid"/>
                      <a:round/>
                      <a:headEnd type="none" w="med" len="med"/>
                      <a:tailEnd type="none" w="med" len="med"/>
                    </a:lnL>
                    <a:lnR w="9525" cap="flat" cmpd="sng" algn="ctr">
                      <a:solidFill>
                        <a:srgbClr val="D0AB36"/>
                      </a:solidFill>
                      <a:prstDash val="solid"/>
                      <a:round/>
                      <a:headEnd type="none" w="med" len="med"/>
                      <a:tailEnd type="none" w="med" len="med"/>
                    </a:lnR>
                    <a:lnT w="9525" cap="flat" cmpd="sng" algn="ctr">
                      <a:solidFill>
                        <a:srgbClr val="10AE36"/>
                      </a:solidFill>
                      <a:prstDash val="solid"/>
                      <a:round/>
                      <a:headEnd type="none" w="med" len="med"/>
                      <a:tailEnd type="none" w="med" len="med"/>
                    </a:lnT>
                    <a:lnB w="9525" cap="flat" cmpd="sng" algn="ctr">
                      <a:solidFill>
                        <a:srgbClr val="D0CA36"/>
                      </a:solidFill>
                      <a:prstDash val="solid"/>
                      <a:round/>
                      <a:headEnd type="none" w="med" len="med"/>
                      <a:tailEnd type="none" w="med" len="med"/>
                    </a:lnB>
                  </a:tcPr>
                </a:tc>
                <a:tc>
                  <a:txBody>
                    <a:bodyPr/>
                    <a:lstStyle/>
                    <a:p>
                      <a:pPr algn="ctr" fontAlgn="base" latinLnBrk="0"/>
                      <a:endParaRPr lang="en-IN" sz="1400">
                        <a:effectLst/>
                      </a:endParaRPr>
                    </a:p>
                  </a:txBody>
                  <a:tcPr marL="58763" marR="58763" marT="35258" marB="35258" anchor="ctr">
                    <a:lnL w="9525" cap="flat" cmpd="sng" algn="ctr">
                      <a:solidFill>
                        <a:srgbClr val="D0AB36"/>
                      </a:solidFill>
                      <a:prstDash val="solid"/>
                      <a:round/>
                      <a:headEnd type="none" w="med" len="med"/>
                      <a:tailEnd type="none" w="med" len="med"/>
                    </a:lnL>
                    <a:lnR w="9525" cap="flat" cmpd="sng" algn="ctr">
                      <a:solidFill>
                        <a:srgbClr val="D0AB36"/>
                      </a:solidFill>
                      <a:prstDash val="solid"/>
                      <a:round/>
                      <a:headEnd type="none" w="med" len="med"/>
                      <a:tailEnd type="none" w="med" len="med"/>
                    </a:lnR>
                    <a:lnT w="9525" cap="flat" cmpd="sng" algn="ctr">
                      <a:solidFill>
                        <a:srgbClr val="D0AB36"/>
                      </a:solidFill>
                      <a:prstDash val="solid"/>
                      <a:round/>
                      <a:headEnd type="none" w="med" len="med"/>
                      <a:tailEnd type="none" w="med" len="med"/>
                    </a:lnT>
                    <a:lnB w="9525" cap="flat" cmpd="sng" algn="ctr">
                      <a:solidFill>
                        <a:srgbClr val="D0E136"/>
                      </a:solidFill>
                      <a:prstDash val="solid"/>
                      <a:round/>
                      <a:headEnd type="none" w="med" len="med"/>
                      <a:tailEnd type="none" w="med" len="med"/>
                    </a:lnB>
                  </a:tcPr>
                </a:tc>
                <a:extLst>
                  <a:ext uri="{0D108BD9-81ED-4DB2-BD59-A6C34878D82A}">
                    <a16:rowId xmlns:a16="http://schemas.microsoft.com/office/drawing/2014/main" val="988234690"/>
                  </a:ext>
                </a:extLst>
              </a:tr>
              <a:tr h="493611">
                <a:tc>
                  <a:txBody>
                    <a:bodyPr/>
                    <a:lstStyle/>
                    <a:p>
                      <a:pPr fontAlgn="base" latinLnBrk="0"/>
                      <a:r>
                        <a:rPr lang="en-IN" sz="1400">
                          <a:effectLst/>
                        </a:rPr>
                        <a:t>5,00,001 to 10,00,000</a:t>
                      </a:r>
                    </a:p>
                  </a:txBody>
                  <a:tcPr marL="58763" marR="58763" marT="35258" marB="35258" anchor="ctr">
                    <a:lnL w="9525" cap="flat" cmpd="sng" algn="ctr">
                      <a:solidFill>
                        <a:srgbClr val="10C236"/>
                      </a:solidFill>
                      <a:prstDash val="solid"/>
                      <a:round/>
                      <a:headEnd type="none" w="med" len="med"/>
                      <a:tailEnd type="none" w="med" len="med"/>
                    </a:lnL>
                    <a:lnR w="9525" cap="flat" cmpd="sng" algn="ctr">
                      <a:solidFill>
                        <a:srgbClr val="90C936"/>
                      </a:solidFill>
                      <a:prstDash val="solid"/>
                      <a:round/>
                      <a:headEnd type="none" w="med" len="med"/>
                      <a:tailEnd type="none" w="med" len="med"/>
                    </a:lnR>
                    <a:lnT w="9525" cap="flat" cmpd="sng" algn="ctr">
                      <a:solidFill>
                        <a:srgbClr val="10C236"/>
                      </a:solidFill>
                      <a:prstDash val="solid"/>
                      <a:round/>
                      <a:headEnd type="none" w="med" len="med"/>
                      <a:tailEnd type="none" w="med" len="med"/>
                    </a:lnT>
                    <a:lnB w="9525" cap="flat" cmpd="sng" algn="ctr">
                      <a:solidFill>
                        <a:srgbClr val="50DC36"/>
                      </a:solidFill>
                      <a:prstDash val="solid"/>
                      <a:round/>
                      <a:headEnd type="none" w="med" len="med"/>
                      <a:tailEnd type="none" w="med" len="med"/>
                    </a:lnB>
                  </a:tcPr>
                </a:tc>
                <a:tc>
                  <a:txBody>
                    <a:bodyPr/>
                    <a:lstStyle/>
                    <a:p>
                      <a:pPr algn="ctr" fontAlgn="base" latinLnBrk="0"/>
                      <a:r>
                        <a:rPr lang="en-IN" sz="1400">
                          <a:effectLst/>
                        </a:rPr>
                        <a:t>20%</a:t>
                      </a:r>
                    </a:p>
                  </a:txBody>
                  <a:tcPr marL="58763" marR="58763" marT="35258" marB="35258" anchor="ctr">
                    <a:lnL w="9525" cap="flat" cmpd="sng" algn="ctr">
                      <a:solidFill>
                        <a:srgbClr val="90C936"/>
                      </a:solidFill>
                      <a:prstDash val="solid"/>
                      <a:round/>
                      <a:headEnd type="none" w="med" len="med"/>
                      <a:tailEnd type="none" w="med" len="med"/>
                    </a:lnL>
                    <a:lnR w="9525" cap="flat" cmpd="sng" algn="ctr">
                      <a:solidFill>
                        <a:srgbClr val="D0CA36"/>
                      </a:solidFill>
                      <a:prstDash val="solid"/>
                      <a:round/>
                      <a:headEnd type="none" w="med" len="med"/>
                      <a:tailEnd type="none" w="med" len="med"/>
                    </a:lnR>
                    <a:lnT w="9525" cap="flat" cmpd="sng" algn="ctr">
                      <a:solidFill>
                        <a:srgbClr val="90C936"/>
                      </a:solidFill>
                      <a:prstDash val="solid"/>
                      <a:round/>
                      <a:headEnd type="none" w="med" len="med"/>
                      <a:tailEnd type="none" w="med" len="med"/>
                    </a:lnT>
                    <a:lnB w="9525" cap="flat" cmpd="sng" algn="ctr">
                      <a:solidFill>
                        <a:srgbClr val="10D336"/>
                      </a:solidFill>
                      <a:prstDash val="solid"/>
                      <a:round/>
                      <a:headEnd type="none" w="med" len="med"/>
                      <a:tailEnd type="none" w="med" len="med"/>
                    </a:lnB>
                  </a:tcPr>
                </a:tc>
                <a:tc>
                  <a:txBody>
                    <a:bodyPr/>
                    <a:lstStyle/>
                    <a:p>
                      <a:pPr algn="ctr" fontAlgn="base" latinLnBrk="0"/>
                      <a:r>
                        <a:rPr lang="en-IN" sz="1400">
                          <a:effectLst/>
                        </a:rPr>
                        <a:t>20%</a:t>
                      </a:r>
                    </a:p>
                  </a:txBody>
                  <a:tcPr marL="58763" marR="58763" marT="35258" marB="35258" anchor="ctr">
                    <a:lnL w="9525" cap="flat" cmpd="sng" algn="ctr">
                      <a:solidFill>
                        <a:srgbClr val="D0CA36"/>
                      </a:solidFill>
                      <a:prstDash val="solid"/>
                      <a:round/>
                      <a:headEnd type="none" w="med" len="med"/>
                      <a:tailEnd type="none" w="med" len="med"/>
                    </a:lnL>
                    <a:lnR w="9525" cap="flat" cmpd="sng" algn="ctr">
                      <a:solidFill>
                        <a:srgbClr val="D0E136"/>
                      </a:solidFill>
                      <a:prstDash val="solid"/>
                      <a:round/>
                      <a:headEnd type="none" w="med" len="med"/>
                      <a:tailEnd type="none" w="med" len="med"/>
                    </a:lnR>
                    <a:lnT w="9525" cap="flat" cmpd="sng" algn="ctr">
                      <a:solidFill>
                        <a:srgbClr val="D0CA36"/>
                      </a:solidFill>
                      <a:prstDash val="solid"/>
                      <a:round/>
                      <a:headEnd type="none" w="med" len="med"/>
                      <a:tailEnd type="none" w="med" len="med"/>
                    </a:lnT>
                    <a:lnB w="9525" cap="flat" cmpd="sng" algn="ctr">
                      <a:solidFill>
                        <a:srgbClr val="D0E036"/>
                      </a:solidFill>
                      <a:prstDash val="solid"/>
                      <a:round/>
                      <a:headEnd type="none" w="med" len="med"/>
                      <a:tailEnd type="none" w="med" len="med"/>
                    </a:lnB>
                  </a:tcPr>
                </a:tc>
                <a:tc>
                  <a:txBody>
                    <a:bodyPr/>
                    <a:lstStyle/>
                    <a:p>
                      <a:pPr algn="ctr" fontAlgn="base" latinLnBrk="0"/>
                      <a:r>
                        <a:rPr lang="en-IN" sz="1400">
                          <a:effectLst/>
                        </a:rPr>
                        <a:t>20%</a:t>
                      </a:r>
                    </a:p>
                  </a:txBody>
                  <a:tcPr marL="58763" marR="58763" marT="35258" marB="35258" anchor="ctr">
                    <a:lnL w="9525" cap="flat" cmpd="sng" algn="ctr">
                      <a:solidFill>
                        <a:srgbClr val="D0E136"/>
                      </a:solidFill>
                      <a:prstDash val="solid"/>
                      <a:round/>
                      <a:headEnd type="none" w="med" len="med"/>
                      <a:tailEnd type="none" w="med" len="med"/>
                    </a:lnL>
                    <a:lnR w="9525" cap="flat" cmpd="sng" algn="ctr">
                      <a:solidFill>
                        <a:srgbClr val="D0E136"/>
                      </a:solidFill>
                      <a:prstDash val="solid"/>
                      <a:round/>
                      <a:headEnd type="none" w="med" len="med"/>
                      <a:tailEnd type="none" w="med" len="med"/>
                    </a:lnR>
                    <a:lnT w="9525" cap="flat" cmpd="sng" algn="ctr">
                      <a:solidFill>
                        <a:srgbClr val="D0E136"/>
                      </a:solidFill>
                      <a:prstDash val="solid"/>
                      <a:round/>
                      <a:headEnd type="none" w="med" len="med"/>
                      <a:tailEnd type="none" w="med" len="med"/>
                    </a:lnT>
                    <a:lnB w="9525" cap="flat" cmpd="sng" algn="ctr">
                      <a:solidFill>
                        <a:srgbClr val="904235"/>
                      </a:solidFill>
                      <a:prstDash val="solid"/>
                      <a:round/>
                      <a:headEnd type="none" w="med" len="med"/>
                      <a:tailEnd type="none" w="med" len="med"/>
                    </a:lnB>
                  </a:tcPr>
                </a:tc>
                <a:extLst>
                  <a:ext uri="{0D108BD9-81ED-4DB2-BD59-A6C34878D82A}">
                    <a16:rowId xmlns:a16="http://schemas.microsoft.com/office/drawing/2014/main" val="1692441428"/>
                  </a:ext>
                </a:extLst>
              </a:tr>
              <a:tr h="282064">
                <a:tc>
                  <a:txBody>
                    <a:bodyPr/>
                    <a:lstStyle/>
                    <a:p>
                      <a:pPr fontAlgn="base" latinLnBrk="0"/>
                      <a:r>
                        <a:rPr lang="en-IN" sz="1400">
                          <a:effectLst/>
                        </a:rPr>
                        <a:t>Above 10,00,000</a:t>
                      </a:r>
                    </a:p>
                  </a:txBody>
                  <a:tcPr marL="58763" marR="58763" marT="35258" marB="35258" anchor="ctr">
                    <a:lnL w="9525" cap="flat" cmpd="sng" algn="ctr">
                      <a:solidFill>
                        <a:srgbClr val="50DC36"/>
                      </a:solidFill>
                      <a:prstDash val="solid"/>
                      <a:round/>
                      <a:headEnd type="none" w="med" len="med"/>
                      <a:tailEnd type="none" w="med" len="med"/>
                    </a:lnL>
                    <a:lnR w="9525" cap="flat" cmpd="sng" algn="ctr">
                      <a:solidFill>
                        <a:srgbClr val="10D336"/>
                      </a:solidFill>
                      <a:prstDash val="solid"/>
                      <a:round/>
                      <a:headEnd type="none" w="med" len="med"/>
                      <a:tailEnd type="none" w="med" len="med"/>
                    </a:lnR>
                    <a:lnT w="9525" cap="flat" cmpd="sng" algn="ctr">
                      <a:solidFill>
                        <a:srgbClr val="50DC36"/>
                      </a:solidFill>
                      <a:prstDash val="solid"/>
                      <a:round/>
                      <a:headEnd type="none" w="med" len="med"/>
                      <a:tailEnd type="none" w="med" len="med"/>
                    </a:lnT>
                    <a:lnB w="9525" cap="flat" cmpd="sng" algn="ctr">
                      <a:solidFill>
                        <a:srgbClr val="50DC36"/>
                      </a:solidFill>
                      <a:prstDash val="solid"/>
                      <a:round/>
                      <a:headEnd type="none" w="med" len="med"/>
                      <a:tailEnd type="none" w="med" len="med"/>
                    </a:lnB>
                  </a:tcPr>
                </a:tc>
                <a:tc>
                  <a:txBody>
                    <a:bodyPr/>
                    <a:lstStyle/>
                    <a:p>
                      <a:pPr algn="ctr" fontAlgn="base" latinLnBrk="0"/>
                      <a:r>
                        <a:rPr lang="en-IN" sz="1400">
                          <a:effectLst/>
                        </a:rPr>
                        <a:t>30%</a:t>
                      </a:r>
                    </a:p>
                  </a:txBody>
                  <a:tcPr marL="58763" marR="58763" marT="35258" marB="35258" anchor="ctr">
                    <a:lnL w="9525" cap="flat" cmpd="sng" algn="ctr">
                      <a:solidFill>
                        <a:srgbClr val="10D336"/>
                      </a:solidFill>
                      <a:prstDash val="solid"/>
                      <a:round/>
                      <a:headEnd type="none" w="med" len="med"/>
                      <a:tailEnd type="none" w="med" len="med"/>
                    </a:lnL>
                    <a:lnR w="9525" cap="flat" cmpd="sng" algn="ctr">
                      <a:solidFill>
                        <a:srgbClr val="D0E036"/>
                      </a:solidFill>
                      <a:prstDash val="solid"/>
                      <a:round/>
                      <a:headEnd type="none" w="med" len="med"/>
                      <a:tailEnd type="none" w="med" len="med"/>
                    </a:lnR>
                    <a:lnT w="9525" cap="flat" cmpd="sng" algn="ctr">
                      <a:solidFill>
                        <a:srgbClr val="10D336"/>
                      </a:solidFill>
                      <a:prstDash val="solid"/>
                      <a:round/>
                      <a:headEnd type="none" w="med" len="med"/>
                      <a:tailEnd type="none" w="med" len="med"/>
                    </a:lnT>
                    <a:lnB w="9525" cap="flat" cmpd="sng" algn="ctr">
                      <a:solidFill>
                        <a:srgbClr val="10D336"/>
                      </a:solidFill>
                      <a:prstDash val="solid"/>
                      <a:round/>
                      <a:headEnd type="none" w="med" len="med"/>
                      <a:tailEnd type="none" w="med" len="med"/>
                    </a:lnB>
                  </a:tcPr>
                </a:tc>
                <a:tc>
                  <a:txBody>
                    <a:bodyPr/>
                    <a:lstStyle/>
                    <a:p>
                      <a:pPr algn="ctr" fontAlgn="base" latinLnBrk="0"/>
                      <a:r>
                        <a:rPr lang="en-IN" sz="1400">
                          <a:effectLst/>
                        </a:rPr>
                        <a:t>30%</a:t>
                      </a:r>
                    </a:p>
                  </a:txBody>
                  <a:tcPr marL="58763" marR="58763" marT="35258" marB="35258" anchor="ctr">
                    <a:lnL w="9525" cap="flat" cmpd="sng" algn="ctr">
                      <a:solidFill>
                        <a:srgbClr val="D0E036"/>
                      </a:solidFill>
                      <a:prstDash val="solid"/>
                      <a:round/>
                      <a:headEnd type="none" w="med" len="med"/>
                      <a:tailEnd type="none" w="med" len="med"/>
                    </a:lnL>
                    <a:lnR w="9525" cap="flat" cmpd="sng" algn="ctr">
                      <a:solidFill>
                        <a:srgbClr val="904235"/>
                      </a:solidFill>
                      <a:prstDash val="solid"/>
                      <a:round/>
                      <a:headEnd type="none" w="med" len="med"/>
                      <a:tailEnd type="none" w="med" len="med"/>
                    </a:lnR>
                    <a:lnT w="9525" cap="flat" cmpd="sng" algn="ctr">
                      <a:solidFill>
                        <a:srgbClr val="D0E036"/>
                      </a:solidFill>
                      <a:prstDash val="solid"/>
                      <a:round/>
                      <a:headEnd type="none" w="med" len="med"/>
                      <a:tailEnd type="none" w="med" len="med"/>
                    </a:lnT>
                    <a:lnB w="9525" cap="flat" cmpd="sng" algn="ctr">
                      <a:solidFill>
                        <a:srgbClr val="D0E036"/>
                      </a:solidFill>
                      <a:prstDash val="solid"/>
                      <a:round/>
                      <a:headEnd type="none" w="med" len="med"/>
                      <a:tailEnd type="none" w="med" len="med"/>
                    </a:lnB>
                  </a:tcPr>
                </a:tc>
                <a:tc>
                  <a:txBody>
                    <a:bodyPr/>
                    <a:lstStyle/>
                    <a:p>
                      <a:pPr algn="ctr" fontAlgn="base" latinLnBrk="0"/>
                      <a:r>
                        <a:rPr lang="en-IN" sz="1400" dirty="0">
                          <a:effectLst/>
                        </a:rPr>
                        <a:t>30%</a:t>
                      </a:r>
                    </a:p>
                  </a:txBody>
                  <a:tcPr marL="58763" marR="58763" marT="35258" marB="35258" anchor="ctr">
                    <a:lnL w="9525" cap="flat" cmpd="sng" algn="ctr">
                      <a:solidFill>
                        <a:srgbClr val="904235"/>
                      </a:solidFill>
                      <a:prstDash val="solid"/>
                      <a:round/>
                      <a:headEnd type="none" w="med" len="med"/>
                      <a:tailEnd type="none" w="med" len="med"/>
                    </a:lnL>
                    <a:lnR w="9525" cap="flat" cmpd="sng" algn="ctr">
                      <a:solidFill>
                        <a:srgbClr val="904235"/>
                      </a:solidFill>
                      <a:prstDash val="solid"/>
                      <a:round/>
                      <a:headEnd type="none" w="med" len="med"/>
                      <a:tailEnd type="none" w="med" len="med"/>
                    </a:lnR>
                    <a:lnT w="9525" cap="flat" cmpd="sng" algn="ctr">
                      <a:solidFill>
                        <a:srgbClr val="904235"/>
                      </a:solidFill>
                      <a:prstDash val="solid"/>
                      <a:round/>
                      <a:headEnd type="none" w="med" len="med"/>
                      <a:tailEnd type="none" w="med" len="med"/>
                    </a:lnT>
                    <a:lnB w="9525" cap="flat" cmpd="sng" algn="ctr">
                      <a:solidFill>
                        <a:srgbClr val="904235"/>
                      </a:solidFill>
                      <a:prstDash val="solid"/>
                      <a:round/>
                      <a:headEnd type="none" w="med" len="med"/>
                      <a:tailEnd type="none" w="med" len="med"/>
                    </a:lnB>
                  </a:tcPr>
                </a:tc>
                <a:extLst>
                  <a:ext uri="{0D108BD9-81ED-4DB2-BD59-A6C34878D82A}">
                    <a16:rowId xmlns:a16="http://schemas.microsoft.com/office/drawing/2014/main" val="1541192023"/>
                  </a:ext>
                </a:extLst>
              </a:tr>
            </a:tbl>
          </a:graphicData>
        </a:graphic>
      </p:graphicFrame>
      <p:sp>
        <p:nvSpPr>
          <p:cNvPr id="4" name="Slide Number Placeholder 3"/>
          <p:cNvSpPr>
            <a:spLocks noGrp="1"/>
          </p:cNvSpPr>
          <p:nvPr>
            <p:ph type="sldNum" sz="quarter" idx="12"/>
          </p:nvPr>
        </p:nvSpPr>
        <p:spPr/>
        <p:txBody>
          <a:bodyPr/>
          <a:lstStyle/>
          <a:p>
            <a:fld id="{94013DF8-6EF8-4A98-8821-E6468C17C0C3}" type="slidenum">
              <a:rPr lang="en-IN" smtClean="0"/>
              <a:t>57</a:t>
            </a:fld>
            <a:endParaRPr lang="en-IN"/>
          </a:p>
        </p:txBody>
      </p:sp>
      <p:sp>
        <p:nvSpPr>
          <p:cNvPr id="6" name="Rectangle 5"/>
          <p:cNvSpPr/>
          <p:nvPr/>
        </p:nvSpPr>
        <p:spPr>
          <a:xfrm>
            <a:off x="-173665" y="2153650"/>
            <a:ext cx="6096000" cy="3554819"/>
          </a:xfrm>
          <a:prstGeom prst="rect">
            <a:avLst/>
          </a:prstGeom>
        </p:spPr>
        <p:txBody>
          <a:bodyPr>
            <a:spAutoFit/>
          </a:bodyPr>
          <a:lstStyle/>
          <a:p>
            <a:pPr marL="742950" lvl="1" indent="-285750" algn="just">
              <a:spcBef>
                <a:spcPts val="1000"/>
              </a:spcBef>
              <a:buClr>
                <a:schemeClr val="bg2">
                  <a:lumMod val="40000"/>
                  <a:lumOff val="60000"/>
                </a:schemeClr>
              </a:buClr>
              <a:buSzPct val="80000"/>
              <a:buFont typeface="Wingdings 3" charset="2"/>
              <a:buChar char=""/>
            </a:pPr>
            <a:r>
              <a:rPr lang="en-US" sz="2000" dirty="0">
                <a:latin typeface="+mj-lt"/>
                <a:ea typeface="+mj-ea"/>
                <a:cs typeface="+mj-cs"/>
              </a:rPr>
              <a:t>Rebate under Section 87A: Available for total income up to ₹5,00,000, so no tax is payable up to this level for any category.</a:t>
            </a:r>
          </a:p>
          <a:p>
            <a:pPr marL="742950" lvl="1" indent="-285750" algn="just">
              <a:spcBef>
                <a:spcPts val="1000"/>
              </a:spcBef>
              <a:buClr>
                <a:schemeClr val="bg2">
                  <a:lumMod val="40000"/>
                  <a:lumOff val="60000"/>
                </a:schemeClr>
              </a:buClr>
              <a:buSzPct val="80000"/>
              <a:buFont typeface="Wingdings 3" charset="2"/>
              <a:buChar char=""/>
            </a:pPr>
            <a:r>
              <a:rPr lang="en-US" sz="2000" dirty="0">
                <a:latin typeface="+mj-lt"/>
                <a:ea typeface="+mj-ea"/>
                <a:cs typeface="+mj-cs"/>
              </a:rPr>
              <a:t>Deductions: You can claim all major deductions and exemptions, including Section 80C, HRA, standard deduction, LTA, etc.</a:t>
            </a:r>
          </a:p>
          <a:p>
            <a:pPr marL="742950" lvl="1" indent="-285750" algn="just">
              <a:spcBef>
                <a:spcPts val="1000"/>
              </a:spcBef>
              <a:buClr>
                <a:schemeClr val="bg2">
                  <a:lumMod val="40000"/>
                  <a:lumOff val="60000"/>
                </a:schemeClr>
              </a:buClr>
              <a:buSzPct val="80000"/>
              <a:buFont typeface="Wingdings 3" charset="2"/>
              <a:buChar char=""/>
            </a:pPr>
            <a:r>
              <a:rPr lang="en-US" sz="2000" dirty="0" err="1">
                <a:latin typeface="+mj-lt"/>
                <a:ea typeface="+mj-ea"/>
                <a:cs typeface="+mj-cs"/>
              </a:rPr>
              <a:t>Cess</a:t>
            </a:r>
            <a:r>
              <a:rPr lang="en-US" sz="2000" dirty="0">
                <a:latin typeface="+mj-lt"/>
                <a:ea typeface="+mj-ea"/>
                <a:cs typeface="+mj-cs"/>
              </a:rPr>
              <a:t>: Additional Health &amp; Education </a:t>
            </a:r>
            <a:r>
              <a:rPr lang="en-US" sz="2000" dirty="0" err="1">
                <a:latin typeface="+mj-lt"/>
                <a:ea typeface="+mj-ea"/>
                <a:cs typeface="+mj-cs"/>
              </a:rPr>
              <a:t>cess</a:t>
            </a:r>
            <a:r>
              <a:rPr lang="en-US" sz="2000" dirty="0">
                <a:latin typeface="+mj-lt"/>
                <a:ea typeface="+mj-ea"/>
                <a:cs typeface="+mj-cs"/>
              </a:rPr>
              <a:t> at 4% is levied on total tax.</a:t>
            </a:r>
          </a:p>
          <a:p>
            <a:pPr marL="742950" lvl="1" indent="-285750" algn="just">
              <a:spcBef>
                <a:spcPts val="1000"/>
              </a:spcBef>
              <a:buClr>
                <a:schemeClr val="bg2">
                  <a:lumMod val="40000"/>
                  <a:lumOff val="60000"/>
                </a:schemeClr>
              </a:buClr>
              <a:buSzPct val="80000"/>
              <a:buFont typeface="Wingdings 3" charset="2"/>
              <a:buChar char=""/>
            </a:pPr>
            <a:r>
              <a:rPr lang="en-US" sz="2000" dirty="0">
                <a:latin typeface="+mj-lt"/>
                <a:ea typeface="+mj-ea"/>
                <a:cs typeface="+mj-cs"/>
              </a:rPr>
              <a:t>Higher basic exemption: Senior and super senior citizens enjoy higher exemption limits.</a:t>
            </a:r>
          </a:p>
        </p:txBody>
      </p:sp>
    </p:spTree>
    <p:extLst>
      <p:ext uri="{BB962C8B-B14F-4D97-AF65-F5344CB8AC3E}">
        <p14:creationId xmlns:p14="http://schemas.microsoft.com/office/powerpoint/2010/main" val="248968141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C3FF0-2234-6D32-2B69-D84E23615303}"/>
              </a:ext>
            </a:extLst>
          </p:cNvPr>
          <p:cNvSpPr>
            <a:spLocks noGrp="1"/>
          </p:cNvSpPr>
          <p:nvPr>
            <p:ph type="title"/>
          </p:nvPr>
        </p:nvSpPr>
        <p:spPr>
          <a:xfrm>
            <a:off x="654488" y="1750750"/>
            <a:ext cx="9404723" cy="1400530"/>
          </a:xfrm>
        </p:spPr>
        <p:txBody>
          <a:bodyPr/>
          <a:lstStyle/>
          <a:p>
            <a:r>
              <a:rPr lang="en-US" sz="4400" dirty="0"/>
              <a:t>Financial Year (FY 24-25) </a:t>
            </a:r>
            <a:br>
              <a:rPr lang="en-US" sz="4400" dirty="0"/>
            </a:br>
            <a:br>
              <a:rPr lang="en-US" sz="4400" dirty="0"/>
            </a:br>
            <a:r>
              <a:rPr lang="en-US" sz="4400" dirty="0"/>
              <a:t>Assessment Year (AY 25-26)</a:t>
            </a:r>
            <a:br>
              <a:rPr lang="en-US" sz="4400" dirty="0"/>
            </a:br>
            <a:br>
              <a:rPr lang="en-US" sz="4400" dirty="0"/>
            </a:br>
            <a:r>
              <a:rPr lang="en-IN" dirty="0">
                <a:solidFill>
                  <a:srgbClr val="FF0000"/>
                </a:solidFill>
              </a:rPr>
              <a:t>Tax Year</a:t>
            </a:r>
            <a:br>
              <a:rPr lang="en-IN" dirty="0"/>
            </a:br>
            <a:br>
              <a:rPr lang="en-US" sz="4400" dirty="0"/>
            </a:br>
            <a:endParaRPr lang="en-IN" dirty="0"/>
          </a:p>
        </p:txBody>
      </p:sp>
      <p:sp>
        <p:nvSpPr>
          <p:cNvPr id="6" name="Slide Number Placeholder 5">
            <a:extLst>
              <a:ext uri="{FF2B5EF4-FFF2-40B4-BE49-F238E27FC236}">
                <a16:creationId xmlns:a16="http://schemas.microsoft.com/office/drawing/2014/main" id="{F9E80E95-8A24-8B7D-4D4C-190F392D740E}"/>
              </a:ext>
            </a:extLst>
          </p:cNvPr>
          <p:cNvSpPr>
            <a:spLocks noGrp="1"/>
          </p:cNvSpPr>
          <p:nvPr>
            <p:ph type="sldNum" sz="quarter" idx="12"/>
          </p:nvPr>
        </p:nvSpPr>
        <p:spPr/>
        <p:txBody>
          <a:bodyPr/>
          <a:lstStyle/>
          <a:p>
            <a:fld id="{94013DF8-6EF8-4A98-8821-E6468C17C0C3}" type="slidenum">
              <a:rPr lang="en-IN" smtClean="0"/>
              <a:t>58</a:t>
            </a:fld>
            <a:endParaRPr lang="en-IN"/>
          </a:p>
        </p:txBody>
      </p:sp>
    </p:spTree>
    <p:extLst>
      <p:ext uri="{BB962C8B-B14F-4D97-AF65-F5344CB8AC3E}">
        <p14:creationId xmlns:p14="http://schemas.microsoft.com/office/powerpoint/2010/main" val="1544530194"/>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191386" y="1763714"/>
            <a:ext cx="11674549" cy="4484686"/>
          </a:xfrm>
        </p:spPr>
        <p:txBody>
          <a:bodyPr>
            <a:normAutofit fontScale="92500"/>
          </a:bodyPr>
          <a:lstStyle/>
          <a:p>
            <a:pPr marL="0" indent="0" algn="just">
              <a:lnSpc>
                <a:spcPct val="130000"/>
              </a:lnSpc>
              <a:buNone/>
            </a:pPr>
            <a:r>
              <a:rPr lang="en-US" sz="2800" dirty="0">
                <a:solidFill>
                  <a:srgbClr val="000000"/>
                </a:solidFill>
                <a:latin typeface="Cambria" panose="02040503050406030204" pitchFamily="18" charset="0"/>
              </a:rPr>
              <a:t>Under both the Income Tax Act, 1961 and the forthcoming Income Tax Bill, 2025, all income is classified under five main “heads of income.” This structure helps ensure every type of earning is accounted for accurately and taxed appropriately.</a:t>
            </a:r>
          </a:p>
          <a:p>
            <a:pPr lvl="1"/>
            <a:r>
              <a:rPr lang="en-US" sz="2600" dirty="0"/>
              <a:t>Income from Salary</a:t>
            </a:r>
          </a:p>
          <a:p>
            <a:pPr lvl="1"/>
            <a:r>
              <a:rPr lang="en-US" sz="2600" dirty="0"/>
              <a:t>Income from House Property</a:t>
            </a:r>
          </a:p>
          <a:p>
            <a:pPr lvl="1"/>
            <a:r>
              <a:rPr lang="en-US" sz="2600" dirty="0"/>
              <a:t>Income from Profits and Gains from Business or Profession</a:t>
            </a:r>
          </a:p>
          <a:p>
            <a:pPr lvl="1"/>
            <a:r>
              <a:rPr lang="en-US" sz="2600" dirty="0"/>
              <a:t>Income from Capital Gains</a:t>
            </a:r>
          </a:p>
          <a:p>
            <a:pPr lvl="1"/>
            <a:r>
              <a:rPr lang="en-US" sz="2600" dirty="0"/>
              <a:t>Income from Other Sources</a:t>
            </a:r>
          </a:p>
          <a:p>
            <a:pPr marL="252000" indent="-252000" algn="just">
              <a:lnSpc>
                <a:spcPct val="130000"/>
              </a:lnSpc>
              <a:buFont typeface="Wingdings" panose="05000000000000000000" pitchFamily="2" charset="2"/>
              <a:buChar char="§"/>
            </a:pPr>
            <a:endParaRPr lang="en-IN" sz="22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59</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(Section 14)</a:t>
            </a:r>
            <a:endParaRPr lang="en-IN" dirty="0"/>
          </a:p>
        </p:txBody>
      </p:sp>
    </p:spTree>
    <p:extLst>
      <p:ext uri="{BB962C8B-B14F-4D97-AF65-F5344CB8AC3E}">
        <p14:creationId xmlns:p14="http://schemas.microsoft.com/office/powerpoint/2010/main" val="25698362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191386" y="1190847"/>
            <a:ext cx="11674549" cy="5326911"/>
          </a:xfrm>
        </p:spPr>
        <p:txBody>
          <a:bodyPr>
            <a:normAutofit fontScale="92500" lnSpcReduction="10000"/>
          </a:bodyPr>
          <a:lstStyle/>
          <a:p>
            <a:pPr marL="0" indent="0">
              <a:buNone/>
            </a:pPr>
            <a:r>
              <a:rPr lang="en-US" dirty="0"/>
              <a:t>“Five heads of income" is explicitly mentioned in Section 14 of the Income Tax Act, 1961</a:t>
            </a:r>
          </a:p>
          <a:p>
            <a:r>
              <a:rPr lang="en-US" dirty="0"/>
              <a:t>Income from Salary</a:t>
            </a:r>
          </a:p>
          <a:p>
            <a:pPr lvl="1"/>
            <a:r>
              <a:rPr lang="en-US" dirty="0"/>
              <a:t>This includes all income received from employment: salary, wages, commissions, bonuses, pensions, perquisites, gratuity, and any other payments or benefits from an employer.</a:t>
            </a:r>
          </a:p>
          <a:p>
            <a:r>
              <a:rPr lang="en-US" dirty="0"/>
              <a:t>Income from House Property</a:t>
            </a:r>
          </a:p>
          <a:p>
            <a:pPr lvl="1"/>
            <a:r>
              <a:rPr lang="en-US" dirty="0"/>
              <a:t>Encompasses rental income or imputed rent from owning property (such as a house, apartment, or other buildings). Only the property owner is taxed under this head.</a:t>
            </a:r>
          </a:p>
          <a:p>
            <a:r>
              <a:rPr lang="en-US" dirty="0"/>
              <a:t>Profits and Gains from Business or Profession</a:t>
            </a:r>
          </a:p>
          <a:p>
            <a:pPr lvl="1"/>
            <a:r>
              <a:rPr lang="en-US" dirty="0"/>
              <a:t>Covers earnings from operating a business or practicing a profession, including services, manufacturing, trading, freelancing, or consulting activities.</a:t>
            </a:r>
          </a:p>
          <a:p>
            <a:r>
              <a:rPr lang="en-US" dirty="0"/>
              <a:t>Capital Gains</a:t>
            </a:r>
          </a:p>
          <a:p>
            <a:pPr lvl="1"/>
            <a:r>
              <a:rPr lang="en-US" dirty="0"/>
              <a:t>Any profit or gain arising from the sale or transfer of capital assets like land, buildings, shares, mutual funds, bonds, gold, etc., is taxed here. Capital gains can be “short-term” or “long-term” depending on how long the asset was held.</a:t>
            </a:r>
          </a:p>
          <a:p>
            <a:r>
              <a:rPr lang="en-US" dirty="0"/>
              <a:t>Income from Other Sources</a:t>
            </a:r>
          </a:p>
          <a:p>
            <a:pPr lvl="1"/>
            <a:r>
              <a:rPr lang="en-US" dirty="0"/>
              <a:t>All residual income not covered by the other heads, such as interest, dividends, lottery winnings, gifts, and certain types of miscellaneous revenue, is aggregated here.</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60</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a:t>
            </a:r>
            <a:endParaRPr lang="en-IN" dirty="0"/>
          </a:p>
        </p:txBody>
      </p:sp>
    </p:spTree>
    <p:extLst>
      <p:ext uri="{BB962C8B-B14F-4D97-AF65-F5344CB8AC3E}">
        <p14:creationId xmlns:p14="http://schemas.microsoft.com/office/powerpoint/2010/main" val="170827721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138224" y="1063416"/>
            <a:ext cx="11940361" cy="4738686"/>
          </a:xfrm>
        </p:spPr>
        <p:txBody>
          <a:bodyPr>
            <a:noAutofit/>
          </a:bodyPr>
          <a:lstStyle/>
          <a:p>
            <a:pPr marL="252000" indent="-252000" algn="just">
              <a:lnSpc>
                <a:spcPct val="130000"/>
              </a:lnSpc>
              <a:buFont typeface="Wingdings" panose="05000000000000000000" pitchFamily="2" charset="2"/>
              <a:buChar char="§"/>
            </a:pPr>
            <a:r>
              <a:rPr lang="en-US" sz="2800" dirty="0">
                <a:solidFill>
                  <a:srgbClr val="FF0000"/>
                </a:solidFill>
              </a:rPr>
              <a:t>Income from Salary </a:t>
            </a:r>
            <a:r>
              <a:rPr lang="en-US" dirty="0"/>
              <a:t>(Section 15 to 17, Income Tax Act, 1961)</a:t>
            </a:r>
            <a:endParaRPr lang="en-US" sz="2800" dirty="0">
              <a:solidFill>
                <a:srgbClr val="FF0000"/>
              </a:solidFill>
            </a:endParaRPr>
          </a:p>
          <a:p>
            <a:r>
              <a:rPr lang="en-US" dirty="0"/>
              <a:t>Income from salary includes all payments received by an individual from an employer in exchange for services rendered. This encompasses:</a:t>
            </a:r>
          </a:p>
          <a:p>
            <a:pPr lvl="1"/>
            <a:r>
              <a:rPr lang="en-US" dirty="0"/>
              <a:t>Basic salary/wages</a:t>
            </a:r>
          </a:p>
          <a:p>
            <a:pPr lvl="1"/>
            <a:r>
              <a:rPr lang="en-US" dirty="0"/>
              <a:t>Allowances: Dearness allowance, house rent allowance (HRA), transport, entertainment, etc.</a:t>
            </a:r>
          </a:p>
          <a:p>
            <a:pPr lvl="1"/>
            <a:r>
              <a:rPr lang="en-US" dirty="0"/>
              <a:t>Perquisites: Non-monetary benefits like a car, free accommodation, concessional loans, etc.</a:t>
            </a:r>
          </a:p>
          <a:p>
            <a:pPr lvl="1"/>
            <a:r>
              <a:rPr lang="en-US" dirty="0"/>
              <a:t>Bonuses and commissions</a:t>
            </a:r>
          </a:p>
          <a:p>
            <a:pPr lvl="1"/>
            <a:r>
              <a:rPr lang="en-US" dirty="0"/>
              <a:t>Pensions: Received after retirement or superannuation</a:t>
            </a:r>
          </a:p>
          <a:p>
            <a:pPr lvl="1"/>
            <a:r>
              <a:rPr lang="en-US" dirty="0"/>
              <a:t>Gratuity</a:t>
            </a:r>
          </a:p>
          <a:p>
            <a:pPr lvl="1"/>
            <a:r>
              <a:rPr lang="en-US" dirty="0"/>
              <a:t>Leave encashment</a:t>
            </a:r>
          </a:p>
          <a:p>
            <a:pPr lvl="1"/>
            <a:r>
              <a:rPr lang="en-US" dirty="0"/>
              <a:t>Advance salary or arrears</a:t>
            </a:r>
          </a:p>
          <a:p>
            <a:pPr lvl="1"/>
            <a:r>
              <a:rPr lang="en-US" dirty="0"/>
              <a:t>Employer contributions: Like to provident fund or superannuation funds (subject to certain limits)</a:t>
            </a:r>
          </a:p>
          <a:p>
            <a:pPr lvl="1"/>
            <a:r>
              <a:rPr lang="en-US" dirty="0"/>
              <a:t>Any other payment/benefit in connection with employment</a:t>
            </a:r>
          </a:p>
          <a:p>
            <a:pPr marL="252000" indent="-252000" algn="just">
              <a:lnSpc>
                <a:spcPct val="130000"/>
              </a:lnSpc>
              <a:buFont typeface="Wingdings" panose="05000000000000000000" pitchFamily="2" charset="2"/>
              <a:buChar char="§"/>
            </a:pPr>
            <a:endParaRPr lang="en-IN" sz="2400" dirty="0">
              <a:latin typeface="Cambria" panose="02040503050406030204" pitchFamily="18" charset="0"/>
            </a:endParaRPr>
          </a:p>
          <a:p>
            <a:pPr marL="0" indent="0" algn="just">
              <a:lnSpc>
                <a:spcPct val="130000"/>
              </a:lnSpc>
              <a:buNone/>
            </a:pPr>
            <a:endParaRPr lang="en-IN" sz="24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61</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400" dirty="0">
                <a:solidFill>
                  <a:srgbClr val="FF0000"/>
                </a:solidFill>
              </a:rPr>
              <a:t>Income from Salary </a:t>
            </a:r>
            <a:endParaRPr lang="en-IN" dirty="0"/>
          </a:p>
        </p:txBody>
      </p:sp>
    </p:spTree>
    <p:extLst>
      <p:ext uri="{BB962C8B-B14F-4D97-AF65-F5344CB8AC3E}">
        <p14:creationId xmlns:p14="http://schemas.microsoft.com/office/powerpoint/2010/main" val="231323896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5" y="1283423"/>
            <a:ext cx="10488324" cy="4738686"/>
          </a:xfrm>
        </p:spPr>
        <p:txBody>
          <a:bodyPr>
            <a:noAutofit/>
          </a:bodyPr>
          <a:lstStyle/>
          <a:p>
            <a:pPr marL="252000" indent="-252000" algn="just">
              <a:lnSpc>
                <a:spcPct val="130000"/>
              </a:lnSpc>
              <a:buFont typeface="Wingdings" panose="05000000000000000000" pitchFamily="2" charset="2"/>
              <a:buChar char="§"/>
            </a:pPr>
            <a:r>
              <a:rPr lang="en-US" sz="2800" dirty="0">
                <a:solidFill>
                  <a:srgbClr val="FF0000"/>
                </a:solidFill>
              </a:rPr>
              <a:t>Income from Salary </a:t>
            </a:r>
            <a:r>
              <a:rPr lang="en-US" sz="2800" dirty="0"/>
              <a:t>(Section 15 to 17)</a:t>
            </a:r>
          </a:p>
          <a:p>
            <a:pPr marL="252000" indent="-252000" algn="just">
              <a:lnSpc>
                <a:spcPct val="130000"/>
              </a:lnSpc>
              <a:buFont typeface="Wingdings" panose="05000000000000000000" pitchFamily="2" charset="2"/>
              <a:buChar char="§"/>
            </a:pPr>
            <a:endParaRPr lang="en-US" sz="2800" dirty="0"/>
          </a:p>
          <a:p>
            <a:pPr algn="just"/>
            <a:r>
              <a:rPr lang="en-US" sz="2400" dirty="0">
                <a:solidFill>
                  <a:srgbClr val="FF0000"/>
                </a:solidFill>
              </a:rPr>
              <a:t>Section 15 </a:t>
            </a:r>
            <a:r>
              <a:rPr lang="en-US" sz="2400" dirty="0"/>
              <a:t>describes the taxability of income from Salary (between employee &amp; employer)</a:t>
            </a:r>
          </a:p>
          <a:p>
            <a:pPr algn="just"/>
            <a:r>
              <a:rPr lang="en-US" sz="2400" dirty="0">
                <a:solidFill>
                  <a:srgbClr val="FF0000"/>
                </a:solidFill>
              </a:rPr>
              <a:t>Section 16 </a:t>
            </a:r>
            <a:r>
              <a:rPr lang="en-US" sz="2400" dirty="0"/>
              <a:t>explains about deductions available under salaries</a:t>
            </a:r>
          </a:p>
          <a:p>
            <a:pPr algn="just"/>
            <a:r>
              <a:rPr lang="en-US" sz="2400" dirty="0">
                <a:solidFill>
                  <a:srgbClr val="FF0000"/>
                </a:solidFill>
              </a:rPr>
              <a:t>Section 17 </a:t>
            </a:r>
            <a:r>
              <a:rPr lang="en-US" sz="2400" dirty="0"/>
              <a:t>explains the components of the Salary like Monetary compensation, Perquisites, etc.</a:t>
            </a:r>
          </a:p>
          <a:p>
            <a:pPr marL="252000" indent="-252000" algn="just">
              <a:lnSpc>
                <a:spcPct val="130000"/>
              </a:lnSpc>
              <a:buFont typeface="Wingdings" panose="05000000000000000000" pitchFamily="2" charset="2"/>
              <a:buChar char="§"/>
            </a:pPr>
            <a:endParaRPr lang="en-IN" sz="2400" dirty="0">
              <a:latin typeface="Cambria" panose="02040503050406030204" pitchFamily="18" charset="0"/>
            </a:endParaRPr>
          </a:p>
          <a:p>
            <a:pPr marL="0" indent="0" algn="just">
              <a:lnSpc>
                <a:spcPct val="130000"/>
              </a:lnSpc>
              <a:buNone/>
            </a:pPr>
            <a:endParaRPr lang="en-IN" sz="24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62</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400" dirty="0">
                <a:solidFill>
                  <a:srgbClr val="FF0000"/>
                </a:solidFill>
              </a:rPr>
              <a:t>Income from Salary </a:t>
            </a:r>
            <a:endParaRPr lang="en-IN" dirty="0"/>
          </a:p>
        </p:txBody>
      </p:sp>
    </p:spTree>
    <p:extLst>
      <p:ext uri="{BB962C8B-B14F-4D97-AF65-F5344CB8AC3E}">
        <p14:creationId xmlns:p14="http://schemas.microsoft.com/office/powerpoint/2010/main" val="34004707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5" y="1283423"/>
            <a:ext cx="10488324" cy="4738686"/>
          </a:xfrm>
        </p:spPr>
        <p:txBody>
          <a:bodyPr>
            <a:noAutofit/>
          </a:bodyPr>
          <a:lstStyle/>
          <a:p>
            <a:pPr marL="252000" indent="-252000" algn="just">
              <a:lnSpc>
                <a:spcPct val="130000"/>
              </a:lnSpc>
              <a:buFont typeface="Wingdings" panose="05000000000000000000" pitchFamily="2" charset="2"/>
              <a:buChar char="§"/>
            </a:pPr>
            <a:r>
              <a:rPr lang="en-US" sz="2800" dirty="0">
                <a:solidFill>
                  <a:srgbClr val="FF0000"/>
                </a:solidFill>
              </a:rPr>
              <a:t>Income from Salary </a:t>
            </a:r>
            <a:r>
              <a:rPr lang="en-US" sz="2800" dirty="0"/>
              <a:t>(Section 15 to 17)</a:t>
            </a:r>
          </a:p>
          <a:p>
            <a:pPr marL="0" indent="0" algn="just">
              <a:buNone/>
            </a:pPr>
            <a:r>
              <a:rPr lang="en-US" sz="2400" dirty="0">
                <a:solidFill>
                  <a:srgbClr val="FF0000"/>
                </a:solidFill>
              </a:rPr>
              <a:t>Section 15 </a:t>
            </a:r>
            <a:r>
              <a:rPr lang="en-US" sz="2400" dirty="0"/>
              <a:t>describes the taxability of income from Salary (between employee &amp; employer)</a:t>
            </a:r>
          </a:p>
          <a:p>
            <a:pPr algn="just"/>
            <a:r>
              <a:rPr lang="en-US" dirty="0"/>
              <a:t>(</a:t>
            </a:r>
            <a:r>
              <a:rPr lang="en-US" i="1" dirty="0"/>
              <a:t>a</a:t>
            </a:r>
            <a:r>
              <a:rPr lang="en-US" dirty="0"/>
              <a:t>) any salary due from an employer or a former employer to an assesse in the previous year, whether paid or not;</a:t>
            </a:r>
          </a:p>
          <a:p>
            <a:pPr algn="just"/>
            <a:r>
              <a:rPr lang="en-US" dirty="0"/>
              <a:t>(</a:t>
            </a:r>
            <a:r>
              <a:rPr lang="en-US" i="1" dirty="0"/>
              <a:t>b</a:t>
            </a:r>
            <a:r>
              <a:rPr lang="en-US" dirty="0"/>
              <a:t>) any salary paid or allowed to him in the previous year by or on behalf of an employer or a former employer though not due or before it became due to him;</a:t>
            </a:r>
          </a:p>
          <a:p>
            <a:pPr algn="just"/>
            <a:r>
              <a:rPr lang="en-US" dirty="0"/>
              <a:t>(</a:t>
            </a:r>
            <a:r>
              <a:rPr lang="en-US" i="1" dirty="0"/>
              <a:t>c</a:t>
            </a:r>
            <a:r>
              <a:rPr lang="en-US" dirty="0"/>
              <a:t>) any </a:t>
            </a:r>
            <a:r>
              <a:rPr lang="en-US" dirty="0">
                <a:solidFill>
                  <a:srgbClr val="FF0000"/>
                </a:solidFill>
              </a:rPr>
              <a:t>arrears of salary </a:t>
            </a:r>
            <a:r>
              <a:rPr lang="en-US" dirty="0"/>
              <a:t>paid or allowed to him in the previous year by or on behalf of an employer or a former employer, If not charged to income-tax for any earlier previous year.</a:t>
            </a:r>
          </a:p>
          <a:p>
            <a:pPr algn="just"/>
            <a:r>
              <a:rPr lang="en-US" i="1" dirty="0"/>
              <a:t>Explanation.</a:t>
            </a:r>
            <a:r>
              <a:rPr lang="en-US" dirty="0"/>
              <a:t>—For the removal of doubts, it is hereby declared that where any </a:t>
            </a:r>
            <a:r>
              <a:rPr lang="en-US" dirty="0">
                <a:solidFill>
                  <a:srgbClr val="FF0000"/>
                </a:solidFill>
              </a:rPr>
              <a:t>salary paid in advance</a:t>
            </a:r>
            <a:r>
              <a:rPr lang="en-US" dirty="0"/>
              <a:t> is included in the total income of any person for any previous year it shall not be included again in the total income of the person when the salary becomes due.</a:t>
            </a:r>
          </a:p>
          <a:p>
            <a:pPr marL="252000" indent="-252000" algn="just">
              <a:lnSpc>
                <a:spcPct val="130000"/>
              </a:lnSpc>
              <a:buFont typeface="Wingdings" panose="05000000000000000000" pitchFamily="2" charset="2"/>
              <a:buChar char="§"/>
            </a:pPr>
            <a:endParaRPr lang="en-IN" sz="2400" dirty="0">
              <a:latin typeface="Cambria" panose="02040503050406030204" pitchFamily="18" charset="0"/>
            </a:endParaRPr>
          </a:p>
          <a:p>
            <a:pPr marL="0" indent="0" algn="just">
              <a:lnSpc>
                <a:spcPct val="130000"/>
              </a:lnSpc>
              <a:buNone/>
            </a:pPr>
            <a:endParaRPr lang="en-IN" sz="24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63</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400" dirty="0">
                <a:solidFill>
                  <a:srgbClr val="FF0000"/>
                </a:solidFill>
              </a:rPr>
              <a:t>Income from Salary </a:t>
            </a:r>
            <a:endParaRPr lang="en-IN" dirty="0"/>
          </a:p>
        </p:txBody>
      </p:sp>
    </p:spTree>
    <p:extLst>
      <p:ext uri="{BB962C8B-B14F-4D97-AF65-F5344CB8AC3E}">
        <p14:creationId xmlns:p14="http://schemas.microsoft.com/office/powerpoint/2010/main" val="319464039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199199"/>
            <a:ext cx="11760297" cy="4407514"/>
          </a:xfrm>
        </p:spPr>
        <p:txBody>
          <a:bodyPr numCol="2">
            <a:noAutofit/>
          </a:bodyPr>
          <a:lstStyle/>
          <a:p>
            <a:pPr marL="0" indent="0" algn="just">
              <a:lnSpc>
                <a:spcPct val="130000"/>
              </a:lnSpc>
              <a:buNone/>
            </a:pPr>
            <a:r>
              <a:rPr lang="en-US" sz="2800" dirty="0">
                <a:solidFill>
                  <a:srgbClr val="FF0000"/>
                </a:solidFill>
              </a:rPr>
              <a:t>Deductions </a:t>
            </a:r>
          </a:p>
          <a:p>
            <a:pPr marL="0" indent="0" algn="just">
              <a:lnSpc>
                <a:spcPct val="130000"/>
              </a:lnSpc>
              <a:buNone/>
            </a:pPr>
            <a:r>
              <a:rPr lang="en-US" sz="2400" dirty="0">
                <a:solidFill>
                  <a:srgbClr val="FF0000"/>
                </a:solidFill>
              </a:rPr>
              <a:t>Section 16 </a:t>
            </a:r>
            <a:r>
              <a:rPr lang="en-US" sz="2400" dirty="0"/>
              <a:t>of the Income Tax Act, 1961 deals with the deductions that are allowed from “Income from Salary” while calculating an individual’s total taxable income under the salary head. Here’s a clear explanation:</a:t>
            </a:r>
          </a:p>
          <a:p>
            <a:pPr lvl="1"/>
            <a:r>
              <a:rPr lang="en-US" sz="2400" dirty="0"/>
              <a:t>Standard Deduction [Section 16(</a:t>
            </a:r>
            <a:r>
              <a:rPr lang="en-US" sz="2400" dirty="0" err="1"/>
              <a:t>ia</a:t>
            </a:r>
            <a:r>
              <a:rPr lang="en-US" sz="2400" dirty="0"/>
              <a:t>)]</a:t>
            </a:r>
          </a:p>
          <a:p>
            <a:pPr lvl="2"/>
            <a:r>
              <a:rPr lang="en-US" sz="2000" dirty="0"/>
              <a:t>All salaried individuals and pensioners can claim a flat deduction from gross salary income.</a:t>
            </a:r>
          </a:p>
          <a:p>
            <a:pPr lvl="2"/>
            <a:r>
              <a:rPr lang="en-US" sz="2000" dirty="0"/>
              <a:t>For FY 2024-25:</a:t>
            </a:r>
          </a:p>
          <a:p>
            <a:pPr lvl="3"/>
            <a:r>
              <a:rPr lang="en-US" sz="1800" dirty="0"/>
              <a:t>₹75,000 under the new tax regime (default)</a:t>
            </a:r>
          </a:p>
          <a:p>
            <a:pPr lvl="3"/>
            <a:r>
              <a:rPr lang="en-US" sz="1800" dirty="0"/>
              <a:t>₹50,000 under the old tax regime</a:t>
            </a:r>
          </a:p>
          <a:p>
            <a:pPr lvl="1"/>
            <a:r>
              <a:rPr lang="en-US" sz="2400" dirty="0"/>
              <a:t>Entertainment Allowance [Section 16(ii)]</a:t>
            </a:r>
          </a:p>
          <a:p>
            <a:pPr lvl="2"/>
            <a:r>
              <a:rPr lang="en-US" sz="2000" dirty="0"/>
              <a:t>Deductible only for government employees.</a:t>
            </a:r>
          </a:p>
          <a:p>
            <a:pPr lvl="2"/>
            <a:r>
              <a:rPr lang="en-US" sz="2000" dirty="0"/>
              <a:t>Maximum deduction: Least of these three amounts:</a:t>
            </a:r>
          </a:p>
          <a:p>
            <a:pPr lvl="3"/>
            <a:r>
              <a:rPr lang="en-US" sz="1800" dirty="0"/>
              <a:t>Actual entertainment allowance received,</a:t>
            </a:r>
          </a:p>
          <a:p>
            <a:pPr lvl="3"/>
            <a:r>
              <a:rPr lang="en-US" sz="1800" dirty="0"/>
              <a:t>20% of basic salary (excluding allowances/benefits), or</a:t>
            </a:r>
          </a:p>
          <a:p>
            <a:pPr lvl="3"/>
            <a:r>
              <a:rPr lang="en-US" sz="1800" dirty="0"/>
              <a:t>₹5,000</a:t>
            </a:r>
          </a:p>
          <a:p>
            <a:pPr lvl="1"/>
            <a:r>
              <a:rPr lang="en-US" sz="2400" dirty="0"/>
              <a:t>Professional Tax [Section 16(iii)]</a:t>
            </a:r>
          </a:p>
          <a:p>
            <a:pPr lvl="2"/>
            <a:r>
              <a:rPr lang="en-US" sz="2000" dirty="0"/>
              <a:t>Any amount paid on account of professional tax (levied by a state government) during the year is deductible from salary income</a:t>
            </a:r>
            <a:r>
              <a:rPr lang="en-US" sz="1800" dirty="0"/>
              <a:t>.</a:t>
            </a:r>
          </a:p>
          <a:p>
            <a:pPr marL="252000" indent="-252000" algn="just">
              <a:lnSpc>
                <a:spcPct val="130000"/>
              </a:lnSpc>
              <a:buFont typeface="Wingdings" panose="05000000000000000000" pitchFamily="2" charset="2"/>
              <a:buChar char="§"/>
            </a:pPr>
            <a:endParaRPr lang="en-US" sz="2400" dirty="0"/>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64</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837189"/>
          </a:xfrm>
        </p:spPr>
        <p:txBody>
          <a:bodyPr/>
          <a:lstStyle/>
          <a:p>
            <a:r>
              <a:rPr lang="en-US" dirty="0"/>
              <a:t>Heads of Income - </a:t>
            </a:r>
            <a:r>
              <a:rPr lang="en-US" sz="4400" dirty="0">
                <a:solidFill>
                  <a:srgbClr val="FF0000"/>
                </a:solidFill>
              </a:rPr>
              <a:t>Income from Salary </a:t>
            </a:r>
            <a:endParaRPr lang="en-IN" dirty="0"/>
          </a:p>
        </p:txBody>
      </p:sp>
    </p:spTree>
    <p:extLst>
      <p:ext uri="{BB962C8B-B14F-4D97-AF65-F5344CB8AC3E}">
        <p14:creationId xmlns:p14="http://schemas.microsoft.com/office/powerpoint/2010/main" val="144007924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83423"/>
            <a:ext cx="11234431" cy="4738686"/>
          </a:xfrm>
        </p:spPr>
        <p:txBody>
          <a:bodyPr>
            <a:noAutofit/>
          </a:bodyPr>
          <a:lstStyle/>
          <a:p>
            <a:pPr marL="252000" indent="-252000" algn="just">
              <a:lnSpc>
                <a:spcPct val="150000"/>
              </a:lnSpc>
              <a:buFont typeface="Wingdings" panose="05000000000000000000" pitchFamily="2" charset="2"/>
              <a:buChar char="§"/>
            </a:pPr>
            <a:r>
              <a:rPr lang="en-US" sz="2400" dirty="0">
                <a:solidFill>
                  <a:srgbClr val="FF0000"/>
                </a:solidFill>
              </a:rPr>
              <a:t>Deductions &amp; Exemptions </a:t>
            </a:r>
          </a:p>
          <a:p>
            <a:pPr algn="just">
              <a:lnSpc>
                <a:spcPct val="150000"/>
              </a:lnSpc>
            </a:pPr>
            <a:r>
              <a:rPr lang="en-US" sz="2200" dirty="0">
                <a:solidFill>
                  <a:srgbClr val="FF0000"/>
                </a:solidFill>
              </a:rPr>
              <a:t>Deduction</a:t>
            </a:r>
            <a:r>
              <a:rPr lang="en-US" sz="2200" dirty="0"/>
              <a:t> from salary in income tax refers to the amount subtracted from an individual’s gross salary to arrive at the taxable income. </a:t>
            </a:r>
          </a:p>
          <a:p>
            <a:pPr algn="just">
              <a:lnSpc>
                <a:spcPct val="150000"/>
              </a:lnSpc>
            </a:pPr>
            <a:r>
              <a:rPr lang="en-US" sz="2200" dirty="0">
                <a:solidFill>
                  <a:srgbClr val="FF0000"/>
                </a:solidFill>
              </a:rPr>
              <a:t>Exemption</a:t>
            </a:r>
            <a:r>
              <a:rPr lang="en-US" sz="2200" dirty="0"/>
              <a:t> refers to the deduction allowed by the law to reduce the amount of income that would otherwise be taxed. </a:t>
            </a:r>
          </a:p>
          <a:p>
            <a:pPr algn="just">
              <a:lnSpc>
                <a:spcPct val="150000"/>
              </a:lnSpc>
            </a:pPr>
            <a:r>
              <a:rPr lang="en-US" sz="2200" dirty="0">
                <a:solidFill>
                  <a:srgbClr val="FF0000"/>
                </a:solidFill>
              </a:rPr>
              <a:t>Deductions</a:t>
            </a:r>
            <a:r>
              <a:rPr lang="en-US" sz="2200" dirty="0"/>
              <a:t> reduce your taxable income, while </a:t>
            </a:r>
            <a:r>
              <a:rPr lang="en-US" sz="2200" dirty="0">
                <a:solidFill>
                  <a:srgbClr val="FF0000"/>
                </a:solidFill>
              </a:rPr>
              <a:t>exemptions (</a:t>
            </a:r>
            <a:r>
              <a:rPr lang="en-US" sz="2200" i="1" dirty="0">
                <a:solidFill>
                  <a:srgbClr val="7030A0"/>
                </a:solidFill>
              </a:rPr>
              <a:t>under section 10</a:t>
            </a:r>
            <a:r>
              <a:rPr lang="en-US" sz="2200" dirty="0">
                <a:solidFill>
                  <a:srgbClr val="FF0000"/>
                </a:solidFill>
              </a:rPr>
              <a:t>)</a:t>
            </a:r>
            <a:r>
              <a:rPr lang="en-US" sz="2200" dirty="0"/>
              <a:t> exclude certain types of income from taxation altogether.</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65</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837189"/>
          </a:xfrm>
        </p:spPr>
        <p:txBody>
          <a:bodyPr/>
          <a:lstStyle/>
          <a:p>
            <a:r>
              <a:rPr lang="en-US" dirty="0"/>
              <a:t>Heads of Income - </a:t>
            </a:r>
            <a:r>
              <a:rPr lang="en-US" sz="4400" dirty="0">
                <a:solidFill>
                  <a:srgbClr val="FF0000"/>
                </a:solidFill>
              </a:rPr>
              <a:t>Income from Salary </a:t>
            </a:r>
            <a:endParaRPr lang="en-IN" dirty="0"/>
          </a:p>
        </p:txBody>
      </p:sp>
    </p:spTree>
    <p:extLst>
      <p:ext uri="{BB962C8B-B14F-4D97-AF65-F5344CB8AC3E}">
        <p14:creationId xmlns:p14="http://schemas.microsoft.com/office/powerpoint/2010/main" val="187709699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1103312" y="1763714"/>
            <a:ext cx="10488324" cy="4484686"/>
          </a:xfrm>
        </p:spPr>
        <p:txBody>
          <a:bodyPr>
            <a:normAutofit/>
          </a:bodyPr>
          <a:lstStyle/>
          <a:p>
            <a:pPr marL="252000" indent="-252000" algn="just">
              <a:lnSpc>
                <a:spcPct val="130000"/>
              </a:lnSpc>
              <a:buFont typeface="Wingdings" panose="05000000000000000000" pitchFamily="2" charset="2"/>
              <a:buChar char="§"/>
            </a:pPr>
            <a:r>
              <a:rPr lang="en-US" sz="2800" dirty="0"/>
              <a:t>List of Exemptions (Section 10)</a:t>
            </a:r>
          </a:p>
          <a:p>
            <a:pPr lvl="1" algn="just"/>
            <a:r>
              <a:rPr lang="en-IN" sz="2200" dirty="0"/>
              <a:t>Exemption of Agriculture Income</a:t>
            </a:r>
          </a:p>
          <a:p>
            <a:pPr lvl="1" algn="just"/>
            <a:r>
              <a:rPr lang="en-US" sz="2200" dirty="0"/>
              <a:t>Exemption on the Income of a HUF (interest are taxable)</a:t>
            </a:r>
          </a:p>
          <a:p>
            <a:pPr lvl="1" algn="just"/>
            <a:r>
              <a:rPr lang="en-US" sz="2200" dirty="0"/>
              <a:t>Exemption on House Rent Allowance (HRA)</a:t>
            </a:r>
          </a:p>
          <a:p>
            <a:pPr lvl="1" algn="just"/>
            <a:r>
              <a:rPr lang="en-IN" sz="2200" dirty="0"/>
              <a:t>Exemption on allowances (Dearness Allowance, </a:t>
            </a:r>
            <a:r>
              <a:rPr lang="en-US" sz="2200" dirty="0"/>
              <a:t>Leave Travel Allowance (LTA) or Leave Travel Concession (LTC), Mobile Reimbursement, Books and Periodicals, Food Coupons, Relocation Allowance, Children Education Allowances, Children's Hostel Allowances, Leave Encashment, Helper, </a:t>
            </a:r>
            <a:r>
              <a:rPr lang="en-US" sz="2200" dirty="0" err="1"/>
              <a:t>etc</a:t>
            </a:r>
            <a:r>
              <a:rPr lang="en-IN" sz="2200" dirty="0"/>
              <a:t>)</a:t>
            </a:r>
          </a:p>
          <a:p>
            <a:pPr marL="0" indent="0" algn="just">
              <a:lnSpc>
                <a:spcPct val="130000"/>
              </a:lnSpc>
              <a:buNone/>
            </a:pPr>
            <a:endParaRPr lang="en-IN"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66</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30880139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67</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120308072"/>
              </p:ext>
            </p:extLst>
          </p:nvPr>
        </p:nvGraphicFramePr>
        <p:xfrm>
          <a:off x="818147" y="2022786"/>
          <a:ext cx="9901989" cy="4064901"/>
        </p:xfrm>
        <a:graphic>
          <a:graphicData uri="http://schemas.openxmlformats.org/drawingml/2006/table">
            <a:tbl>
              <a:tblPr/>
              <a:tblGrid>
                <a:gridCol w="3300663">
                  <a:extLst>
                    <a:ext uri="{9D8B030D-6E8A-4147-A177-3AD203B41FA5}">
                      <a16:colId xmlns:a16="http://schemas.microsoft.com/office/drawing/2014/main" val="1842132167"/>
                    </a:ext>
                  </a:extLst>
                </a:gridCol>
                <a:gridCol w="1788695">
                  <a:extLst>
                    <a:ext uri="{9D8B030D-6E8A-4147-A177-3AD203B41FA5}">
                      <a16:colId xmlns:a16="http://schemas.microsoft.com/office/drawing/2014/main" val="3545469648"/>
                    </a:ext>
                  </a:extLst>
                </a:gridCol>
                <a:gridCol w="4812631">
                  <a:extLst>
                    <a:ext uri="{9D8B030D-6E8A-4147-A177-3AD203B41FA5}">
                      <a16:colId xmlns:a16="http://schemas.microsoft.com/office/drawing/2014/main" val="4106210394"/>
                    </a:ext>
                  </a:extLst>
                </a:gridCol>
              </a:tblGrid>
              <a:tr h="641932">
                <a:tc>
                  <a:txBody>
                    <a:bodyPr/>
                    <a:lstStyle/>
                    <a:p>
                      <a:pPr algn="l" fontAlgn="t" latinLnBrk="0"/>
                      <a:r>
                        <a:rPr lang="en-IN" sz="1800" b="1" dirty="0">
                          <a:effectLst/>
                        </a:rPr>
                        <a:t>Type of Income/Allowance</a:t>
                      </a:r>
                    </a:p>
                  </a:txBody>
                  <a:tcPr marL="74924" marR="74924" marT="74924" marB="74924">
                    <a:lnL w="9525" cap="flat" cmpd="sng" algn="ctr">
                      <a:solidFill>
                        <a:srgbClr val="40A2CA"/>
                      </a:solidFill>
                      <a:prstDash val="solid"/>
                      <a:round/>
                      <a:headEnd type="none" w="med" len="med"/>
                      <a:tailEnd type="none" w="med" len="med"/>
                    </a:lnL>
                    <a:lnR w="9525" cap="flat" cmpd="sng" algn="ctr">
                      <a:solidFill>
                        <a:srgbClr val="009ECA"/>
                      </a:solidFill>
                      <a:prstDash val="solid"/>
                      <a:round/>
                      <a:headEnd type="none" w="med" len="med"/>
                      <a:tailEnd type="none" w="med" len="med"/>
                    </a:lnR>
                    <a:lnT w="9525" cap="flat" cmpd="sng" algn="ctr">
                      <a:solidFill>
                        <a:srgbClr val="40A2CA"/>
                      </a:solidFill>
                      <a:prstDash val="solid"/>
                      <a:round/>
                      <a:headEnd type="none" w="med" len="med"/>
                      <a:tailEnd type="none" w="med" len="med"/>
                    </a:lnT>
                    <a:lnB w="9525" cap="flat" cmpd="sng" algn="ctr">
                      <a:solidFill>
                        <a:srgbClr val="00B6CA"/>
                      </a:solidFill>
                      <a:prstDash val="solid"/>
                      <a:round/>
                      <a:headEnd type="none" w="med" len="med"/>
                      <a:tailEnd type="none" w="med" len="med"/>
                    </a:lnB>
                  </a:tcPr>
                </a:tc>
                <a:tc>
                  <a:txBody>
                    <a:bodyPr/>
                    <a:lstStyle/>
                    <a:p>
                      <a:pPr algn="ctr" fontAlgn="t" latinLnBrk="0"/>
                      <a:r>
                        <a:rPr lang="en-IN" sz="1800" b="1" dirty="0">
                          <a:effectLst/>
                        </a:rPr>
                        <a:t>Relevant Section</a:t>
                      </a:r>
                    </a:p>
                  </a:txBody>
                  <a:tcPr marL="74924" marR="74924" marT="74924" marB="74924">
                    <a:lnL w="9525" cap="flat" cmpd="sng" algn="ctr">
                      <a:solidFill>
                        <a:srgbClr val="009ECA"/>
                      </a:solidFill>
                      <a:prstDash val="solid"/>
                      <a:round/>
                      <a:headEnd type="none" w="med" len="med"/>
                      <a:tailEnd type="none" w="med" len="med"/>
                    </a:lnL>
                    <a:lnR w="9525" cap="flat" cmpd="sng" algn="ctr">
                      <a:solidFill>
                        <a:srgbClr val="40A1CA"/>
                      </a:solidFill>
                      <a:prstDash val="solid"/>
                      <a:round/>
                      <a:headEnd type="none" w="med" len="med"/>
                      <a:tailEnd type="none" w="med" len="med"/>
                    </a:lnR>
                    <a:lnT w="9525" cap="flat" cmpd="sng" algn="ctr">
                      <a:solidFill>
                        <a:srgbClr val="009ECA"/>
                      </a:solidFill>
                      <a:prstDash val="solid"/>
                      <a:round/>
                      <a:headEnd type="none" w="med" len="med"/>
                      <a:tailEnd type="none" w="med" len="med"/>
                    </a:lnT>
                    <a:lnB w="9525" cap="flat" cmpd="sng" algn="ctr">
                      <a:solidFill>
                        <a:srgbClr val="00C8CA"/>
                      </a:solidFill>
                      <a:prstDash val="solid"/>
                      <a:round/>
                      <a:headEnd type="none" w="med" len="med"/>
                      <a:tailEnd type="none" w="med" len="med"/>
                    </a:lnB>
                  </a:tcPr>
                </a:tc>
                <a:tc>
                  <a:txBody>
                    <a:bodyPr/>
                    <a:lstStyle/>
                    <a:p>
                      <a:pPr algn="l" fontAlgn="t" latinLnBrk="0"/>
                      <a:r>
                        <a:rPr lang="en-IN" sz="1800" b="1" dirty="0">
                          <a:effectLst/>
                        </a:rPr>
                        <a:t>Exempt Limit / Notes</a:t>
                      </a:r>
                    </a:p>
                  </a:txBody>
                  <a:tcPr marL="74924" marR="74924" marT="74924" marB="74924">
                    <a:lnL w="9525" cap="flat" cmpd="sng" algn="ctr">
                      <a:solidFill>
                        <a:srgbClr val="40A1CA"/>
                      </a:solidFill>
                      <a:prstDash val="solid"/>
                      <a:round/>
                      <a:headEnd type="none" w="med" len="med"/>
                      <a:tailEnd type="none" w="med" len="med"/>
                    </a:lnL>
                    <a:lnR w="9525" cap="flat" cmpd="sng" algn="ctr">
                      <a:solidFill>
                        <a:srgbClr val="40A1CA"/>
                      </a:solidFill>
                      <a:prstDash val="solid"/>
                      <a:round/>
                      <a:headEnd type="none" w="med" len="med"/>
                      <a:tailEnd type="none" w="med" len="med"/>
                    </a:lnR>
                    <a:lnT w="9525" cap="flat" cmpd="sng" algn="ctr">
                      <a:solidFill>
                        <a:srgbClr val="40A1CA"/>
                      </a:solidFill>
                      <a:prstDash val="solid"/>
                      <a:round/>
                      <a:headEnd type="none" w="med" len="med"/>
                      <a:tailEnd type="none" w="med" len="med"/>
                    </a:lnT>
                    <a:lnB w="9525" cap="flat" cmpd="sng" algn="ctr">
                      <a:solidFill>
                        <a:srgbClr val="00C2CA"/>
                      </a:solidFill>
                      <a:prstDash val="solid"/>
                      <a:round/>
                      <a:headEnd type="none" w="med" len="med"/>
                      <a:tailEnd type="none" w="med" len="med"/>
                    </a:lnB>
                  </a:tcPr>
                </a:tc>
                <a:extLst>
                  <a:ext uri="{0D108BD9-81ED-4DB2-BD59-A6C34878D82A}">
                    <a16:rowId xmlns:a16="http://schemas.microsoft.com/office/drawing/2014/main" val="2777309698"/>
                  </a:ext>
                </a:extLst>
              </a:tr>
              <a:tr h="617973">
                <a:tc>
                  <a:txBody>
                    <a:bodyPr/>
                    <a:lstStyle/>
                    <a:p>
                      <a:pPr fontAlgn="base" latinLnBrk="0"/>
                      <a:r>
                        <a:rPr lang="en-IN" sz="1800">
                          <a:effectLst/>
                        </a:rPr>
                        <a:t>House Rent Allowance (HRA)</a:t>
                      </a:r>
                    </a:p>
                  </a:txBody>
                  <a:tcPr marL="74924" marR="74924" marT="44955" marB="44955" anchor="ctr">
                    <a:lnL w="9525" cap="flat" cmpd="sng" algn="ctr">
                      <a:solidFill>
                        <a:srgbClr val="00B6CA"/>
                      </a:solidFill>
                      <a:prstDash val="solid"/>
                      <a:round/>
                      <a:headEnd type="none" w="med" len="med"/>
                      <a:tailEnd type="none" w="med" len="med"/>
                    </a:lnL>
                    <a:lnR w="9525" cap="flat" cmpd="sng" algn="ctr">
                      <a:solidFill>
                        <a:srgbClr val="00C8CA"/>
                      </a:solidFill>
                      <a:prstDash val="solid"/>
                      <a:round/>
                      <a:headEnd type="none" w="med" len="med"/>
                      <a:tailEnd type="none" w="med" len="med"/>
                    </a:lnR>
                    <a:lnT w="9525" cap="flat" cmpd="sng" algn="ctr">
                      <a:solidFill>
                        <a:srgbClr val="00B6CA"/>
                      </a:solidFill>
                      <a:prstDash val="solid"/>
                      <a:round/>
                      <a:headEnd type="none" w="med" len="med"/>
                      <a:tailEnd type="none" w="med" len="med"/>
                    </a:lnT>
                    <a:lnB w="9525" cap="flat" cmpd="sng" algn="ctr">
                      <a:solidFill>
                        <a:srgbClr val="C0C3CA"/>
                      </a:solidFill>
                      <a:prstDash val="solid"/>
                      <a:round/>
                      <a:headEnd type="none" w="med" len="med"/>
                      <a:tailEnd type="none" w="med" len="med"/>
                    </a:lnB>
                  </a:tcPr>
                </a:tc>
                <a:tc>
                  <a:txBody>
                    <a:bodyPr/>
                    <a:lstStyle/>
                    <a:p>
                      <a:pPr algn="ctr" fontAlgn="base" latinLnBrk="0"/>
                      <a:r>
                        <a:rPr lang="en-IN" sz="1800" dirty="0">
                          <a:effectLst/>
                        </a:rPr>
                        <a:t>10(13A)</a:t>
                      </a:r>
                    </a:p>
                  </a:txBody>
                  <a:tcPr marL="74924" marR="74924" marT="44955" marB="44955" anchor="ctr">
                    <a:lnL w="9525" cap="flat" cmpd="sng" algn="ctr">
                      <a:solidFill>
                        <a:srgbClr val="00C8CA"/>
                      </a:solidFill>
                      <a:prstDash val="solid"/>
                      <a:round/>
                      <a:headEnd type="none" w="med" len="med"/>
                      <a:tailEnd type="none" w="med" len="med"/>
                    </a:lnL>
                    <a:lnR w="9525" cap="flat" cmpd="sng" algn="ctr">
                      <a:solidFill>
                        <a:srgbClr val="00C2CA"/>
                      </a:solidFill>
                      <a:prstDash val="solid"/>
                      <a:round/>
                      <a:headEnd type="none" w="med" len="med"/>
                      <a:tailEnd type="none" w="med" len="med"/>
                    </a:lnR>
                    <a:lnT w="9525" cap="flat" cmpd="sng" algn="ctr">
                      <a:solidFill>
                        <a:srgbClr val="00C8CA"/>
                      </a:solidFill>
                      <a:prstDash val="solid"/>
                      <a:round/>
                      <a:headEnd type="none" w="med" len="med"/>
                      <a:tailEnd type="none" w="med" len="med"/>
                    </a:lnT>
                    <a:lnB w="9525" cap="flat" cmpd="sng" algn="ctr">
                      <a:solidFill>
                        <a:srgbClr val="80D6CA"/>
                      </a:solidFill>
                      <a:prstDash val="solid"/>
                      <a:round/>
                      <a:headEnd type="none" w="med" len="med"/>
                      <a:tailEnd type="none" w="med" len="med"/>
                    </a:lnB>
                  </a:tcPr>
                </a:tc>
                <a:tc>
                  <a:txBody>
                    <a:bodyPr/>
                    <a:lstStyle/>
                    <a:p>
                      <a:pPr fontAlgn="base" latinLnBrk="0"/>
                      <a:r>
                        <a:rPr lang="en-US" sz="1800" dirty="0">
                          <a:effectLst/>
                        </a:rPr>
                        <a:t>Subject to rules on rent, salary, city, etc.</a:t>
                      </a:r>
                    </a:p>
                  </a:txBody>
                  <a:tcPr marL="74924" marR="74924" marT="44955" marB="44955" anchor="ctr">
                    <a:lnL w="9525" cap="flat" cmpd="sng" algn="ctr">
                      <a:solidFill>
                        <a:srgbClr val="00C2CA"/>
                      </a:solidFill>
                      <a:prstDash val="solid"/>
                      <a:round/>
                      <a:headEnd type="none" w="med" len="med"/>
                      <a:tailEnd type="none" w="med" len="med"/>
                    </a:lnL>
                    <a:lnR w="9525" cap="flat" cmpd="sng" algn="ctr">
                      <a:solidFill>
                        <a:srgbClr val="00C2CA"/>
                      </a:solidFill>
                      <a:prstDash val="solid"/>
                      <a:round/>
                      <a:headEnd type="none" w="med" len="med"/>
                      <a:tailEnd type="none" w="med" len="med"/>
                    </a:lnR>
                    <a:lnT w="9525" cap="flat" cmpd="sng" algn="ctr">
                      <a:solidFill>
                        <a:srgbClr val="00C2CA"/>
                      </a:solidFill>
                      <a:prstDash val="solid"/>
                      <a:round/>
                      <a:headEnd type="none" w="med" len="med"/>
                      <a:tailEnd type="none" w="med" len="med"/>
                    </a:lnT>
                    <a:lnB w="9525" cap="flat" cmpd="sng" algn="ctr">
                      <a:solidFill>
                        <a:srgbClr val="C0CDCA"/>
                      </a:solidFill>
                      <a:prstDash val="solid"/>
                      <a:round/>
                      <a:headEnd type="none" w="med" len="med"/>
                      <a:tailEnd type="none" w="med" len="med"/>
                    </a:lnB>
                  </a:tcPr>
                </a:tc>
                <a:extLst>
                  <a:ext uri="{0D108BD9-81ED-4DB2-BD59-A6C34878D82A}">
                    <a16:rowId xmlns:a16="http://schemas.microsoft.com/office/drawing/2014/main" val="1049940863"/>
                  </a:ext>
                </a:extLst>
              </a:tr>
              <a:tr h="617973">
                <a:tc>
                  <a:txBody>
                    <a:bodyPr/>
                    <a:lstStyle/>
                    <a:p>
                      <a:pPr fontAlgn="base" latinLnBrk="0"/>
                      <a:r>
                        <a:rPr lang="en-IN" sz="1800">
                          <a:effectLst/>
                        </a:rPr>
                        <a:t>Leave Travel Allowance (LTA)</a:t>
                      </a:r>
                    </a:p>
                  </a:txBody>
                  <a:tcPr marL="74924" marR="74924" marT="44955" marB="44955" anchor="ctr">
                    <a:lnL w="9525" cap="flat" cmpd="sng" algn="ctr">
                      <a:solidFill>
                        <a:srgbClr val="C0C3CA"/>
                      </a:solidFill>
                      <a:prstDash val="solid"/>
                      <a:round/>
                      <a:headEnd type="none" w="med" len="med"/>
                      <a:tailEnd type="none" w="med" len="med"/>
                    </a:lnL>
                    <a:lnR w="9525" cap="flat" cmpd="sng" algn="ctr">
                      <a:solidFill>
                        <a:srgbClr val="80D6CA"/>
                      </a:solidFill>
                      <a:prstDash val="solid"/>
                      <a:round/>
                      <a:headEnd type="none" w="med" len="med"/>
                      <a:tailEnd type="none" w="med" len="med"/>
                    </a:lnR>
                    <a:lnT w="9525" cap="flat" cmpd="sng" algn="ctr">
                      <a:solidFill>
                        <a:srgbClr val="C0C3CA"/>
                      </a:solidFill>
                      <a:prstDash val="solid"/>
                      <a:round/>
                      <a:headEnd type="none" w="med" len="med"/>
                      <a:tailEnd type="none" w="med" len="med"/>
                    </a:lnT>
                    <a:lnB w="9525" cap="flat" cmpd="sng" algn="ctr">
                      <a:solidFill>
                        <a:srgbClr val="40CCCA"/>
                      </a:solidFill>
                      <a:prstDash val="solid"/>
                      <a:round/>
                      <a:headEnd type="none" w="med" len="med"/>
                      <a:tailEnd type="none" w="med" len="med"/>
                    </a:lnB>
                  </a:tcPr>
                </a:tc>
                <a:tc>
                  <a:txBody>
                    <a:bodyPr/>
                    <a:lstStyle/>
                    <a:p>
                      <a:pPr algn="ctr" fontAlgn="base" latinLnBrk="0"/>
                      <a:r>
                        <a:rPr lang="en-IN" sz="1800">
                          <a:effectLst/>
                        </a:rPr>
                        <a:t>10(5)</a:t>
                      </a:r>
                    </a:p>
                  </a:txBody>
                  <a:tcPr marL="74924" marR="74924" marT="44955" marB="44955" anchor="ctr">
                    <a:lnL w="9525" cap="flat" cmpd="sng" algn="ctr">
                      <a:solidFill>
                        <a:srgbClr val="80D6CA"/>
                      </a:solidFill>
                      <a:prstDash val="solid"/>
                      <a:round/>
                      <a:headEnd type="none" w="med" len="med"/>
                      <a:tailEnd type="none" w="med" len="med"/>
                    </a:lnL>
                    <a:lnR w="9525" cap="flat" cmpd="sng" algn="ctr">
                      <a:solidFill>
                        <a:srgbClr val="C0CDCA"/>
                      </a:solidFill>
                      <a:prstDash val="solid"/>
                      <a:round/>
                      <a:headEnd type="none" w="med" len="med"/>
                      <a:tailEnd type="none" w="med" len="med"/>
                    </a:lnR>
                    <a:lnT w="9525" cap="flat" cmpd="sng" algn="ctr">
                      <a:solidFill>
                        <a:srgbClr val="80D6CA"/>
                      </a:solidFill>
                      <a:prstDash val="solid"/>
                      <a:round/>
                      <a:headEnd type="none" w="med" len="med"/>
                      <a:tailEnd type="none" w="med" len="med"/>
                    </a:lnT>
                    <a:lnB w="9525" cap="flat" cmpd="sng" algn="ctr">
                      <a:solidFill>
                        <a:srgbClr val="80CECA"/>
                      </a:solidFill>
                      <a:prstDash val="solid"/>
                      <a:round/>
                      <a:headEnd type="none" w="med" len="med"/>
                      <a:tailEnd type="none" w="med" len="med"/>
                    </a:lnB>
                  </a:tcPr>
                </a:tc>
                <a:tc>
                  <a:txBody>
                    <a:bodyPr/>
                    <a:lstStyle/>
                    <a:p>
                      <a:pPr fontAlgn="base" latinLnBrk="0"/>
                      <a:r>
                        <a:rPr lang="en-US" sz="1800" dirty="0">
                          <a:effectLst/>
                        </a:rPr>
                        <a:t>Domestic travel, twice in 4 years</a:t>
                      </a:r>
                    </a:p>
                  </a:txBody>
                  <a:tcPr marL="74924" marR="74924" marT="44955" marB="44955" anchor="ctr">
                    <a:lnL w="9525" cap="flat" cmpd="sng" algn="ctr">
                      <a:solidFill>
                        <a:srgbClr val="C0CDCA"/>
                      </a:solidFill>
                      <a:prstDash val="solid"/>
                      <a:round/>
                      <a:headEnd type="none" w="med" len="med"/>
                      <a:tailEnd type="none" w="med" len="med"/>
                    </a:lnL>
                    <a:lnR w="9525" cap="flat" cmpd="sng" algn="ctr">
                      <a:solidFill>
                        <a:srgbClr val="C0CDCA"/>
                      </a:solidFill>
                      <a:prstDash val="solid"/>
                      <a:round/>
                      <a:headEnd type="none" w="med" len="med"/>
                      <a:tailEnd type="none" w="med" len="med"/>
                    </a:lnR>
                    <a:lnT w="9525" cap="flat" cmpd="sng" algn="ctr">
                      <a:solidFill>
                        <a:srgbClr val="C0CDCA"/>
                      </a:solidFill>
                      <a:prstDash val="solid"/>
                      <a:round/>
                      <a:headEnd type="none" w="med" len="med"/>
                      <a:tailEnd type="none" w="med" len="med"/>
                    </a:lnT>
                    <a:lnB w="9525" cap="flat" cmpd="sng" algn="ctr">
                      <a:solidFill>
                        <a:srgbClr val="80CECA"/>
                      </a:solidFill>
                      <a:prstDash val="solid"/>
                      <a:round/>
                      <a:headEnd type="none" w="med" len="med"/>
                      <a:tailEnd type="none" w="med" len="med"/>
                    </a:lnB>
                  </a:tcPr>
                </a:tc>
                <a:extLst>
                  <a:ext uri="{0D108BD9-81ED-4DB2-BD59-A6C34878D82A}">
                    <a16:rowId xmlns:a16="http://schemas.microsoft.com/office/drawing/2014/main" val="4016284025"/>
                  </a:ext>
                </a:extLst>
              </a:tr>
              <a:tr h="617973">
                <a:tc>
                  <a:txBody>
                    <a:bodyPr/>
                    <a:lstStyle/>
                    <a:p>
                      <a:pPr fontAlgn="base" latinLnBrk="0"/>
                      <a:r>
                        <a:rPr lang="en-IN" sz="1800">
                          <a:effectLst/>
                        </a:rPr>
                        <a:t>Gratuity</a:t>
                      </a:r>
                    </a:p>
                  </a:txBody>
                  <a:tcPr marL="74924" marR="74924" marT="44955" marB="44955" anchor="ctr">
                    <a:lnL w="9525" cap="flat" cmpd="sng" algn="ctr">
                      <a:solidFill>
                        <a:srgbClr val="40CCCA"/>
                      </a:solidFill>
                      <a:prstDash val="solid"/>
                      <a:round/>
                      <a:headEnd type="none" w="med" len="med"/>
                      <a:tailEnd type="none" w="med" len="med"/>
                    </a:lnL>
                    <a:lnR w="9525" cap="flat" cmpd="sng" algn="ctr">
                      <a:solidFill>
                        <a:srgbClr val="80CECA"/>
                      </a:solidFill>
                      <a:prstDash val="solid"/>
                      <a:round/>
                      <a:headEnd type="none" w="med" len="med"/>
                      <a:tailEnd type="none" w="med" len="med"/>
                    </a:lnR>
                    <a:lnT w="9525" cap="flat" cmpd="sng" algn="ctr">
                      <a:solidFill>
                        <a:srgbClr val="40CCCA"/>
                      </a:solidFill>
                      <a:prstDash val="solid"/>
                      <a:round/>
                      <a:headEnd type="none" w="med" len="med"/>
                      <a:tailEnd type="none" w="med" len="med"/>
                    </a:lnT>
                    <a:lnB w="9525" cap="flat" cmpd="sng" algn="ctr">
                      <a:solidFill>
                        <a:srgbClr val="00DCCA"/>
                      </a:solidFill>
                      <a:prstDash val="solid"/>
                      <a:round/>
                      <a:headEnd type="none" w="med" len="med"/>
                      <a:tailEnd type="none" w="med" len="med"/>
                    </a:lnB>
                  </a:tcPr>
                </a:tc>
                <a:tc>
                  <a:txBody>
                    <a:bodyPr/>
                    <a:lstStyle/>
                    <a:p>
                      <a:pPr algn="ctr" fontAlgn="base" latinLnBrk="0"/>
                      <a:r>
                        <a:rPr lang="en-IN" sz="1800">
                          <a:effectLst/>
                        </a:rPr>
                        <a:t>10(10)</a:t>
                      </a:r>
                    </a:p>
                  </a:txBody>
                  <a:tcPr marL="74924" marR="74924" marT="44955" marB="44955" anchor="ctr">
                    <a:lnL w="9525" cap="flat" cmpd="sng" algn="ctr">
                      <a:solidFill>
                        <a:srgbClr val="80CECA"/>
                      </a:solidFill>
                      <a:prstDash val="solid"/>
                      <a:round/>
                      <a:headEnd type="none" w="med" len="med"/>
                      <a:tailEnd type="none" w="med" len="med"/>
                    </a:lnL>
                    <a:lnR w="9525" cap="flat" cmpd="sng" algn="ctr">
                      <a:solidFill>
                        <a:srgbClr val="80CECA"/>
                      </a:solidFill>
                      <a:prstDash val="solid"/>
                      <a:round/>
                      <a:headEnd type="none" w="med" len="med"/>
                      <a:tailEnd type="none" w="med" len="med"/>
                    </a:lnR>
                    <a:lnT w="9525" cap="flat" cmpd="sng" algn="ctr">
                      <a:solidFill>
                        <a:srgbClr val="80CECA"/>
                      </a:solidFill>
                      <a:prstDash val="solid"/>
                      <a:round/>
                      <a:headEnd type="none" w="med" len="med"/>
                      <a:tailEnd type="none" w="med" len="med"/>
                    </a:lnT>
                    <a:lnB w="9525" cap="flat" cmpd="sng" algn="ctr">
                      <a:solidFill>
                        <a:srgbClr val="40E4CA"/>
                      </a:solidFill>
                      <a:prstDash val="solid"/>
                      <a:round/>
                      <a:headEnd type="none" w="med" len="med"/>
                      <a:tailEnd type="none" w="med" len="med"/>
                    </a:lnB>
                  </a:tcPr>
                </a:tc>
                <a:tc>
                  <a:txBody>
                    <a:bodyPr/>
                    <a:lstStyle/>
                    <a:p>
                      <a:pPr fontAlgn="base" latinLnBrk="0"/>
                      <a:r>
                        <a:rPr lang="en-US" sz="1800" dirty="0">
                          <a:effectLst/>
                        </a:rPr>
                        <a:t>Up to ₹20 lakh (Govt.), lesser for others</a:t>
                      </a:r>
                    </a:p>
                  </a:txBody>
                  <a:tcPr marL="74924" marR="74924" marT="44955" marB="44955" anchor="ctr">
                    <a:lnL w="9525" cap="flat" cmpd="sng" algn="ctr">
                      <a:solidFill>
                        <a:srgbClr val="80CECA"/>
                      </a:solidFill>
                      <a:prstDash val="solid"/>
                      <a:round/>
                      <a:headEnd type="none" w="med" len="med"/>
                      <a:tailEnd type="none" w="med" len="med"/>
                    </a:lnL>
                    <a:lnR w="9525" cap="flat" cmpd="sng" algn="ctr">
                      <a:solidFill>
                        <a:srgbClr val="80CECA"/>
                      </a:solidFill>
                      <a:prstDash val="solid"/>
                      <a:round/>
                      <a:headEnd type="none" w="med" len="med"/>
                      <a:tailEnd type="none" w="med" len="med"/>
                    </a:lnR>
                    <a:lnT w="9525" cap="flat" cmpd="sng" algn="ctr">
                      <a:solidFill>
                        <a:srgbClr val="80CECA"/>
                      </a:solidFill>
                      <a:prstDash val="solid"/>
                      <a:round/>
                      <a:headEnd type="none" w="med" len="med"/>
                      <a:tailEnd type="none" w="med" len="med"/>
                    </a:lnT>
                    <a:lnB w="9525" cap="flat" cmpd="sng" algn="ctr">
                      <a:solidFill>
                        <a:srgbClr val="C0E9CA"/>
                      </a:solidFill>
                      <a:prstDash val="solid"/>
                      <a:round/>
                      <a:headEnd type="none" w="med" len="med"/>
                      <a:tailEnd type="none" w="med" len="med"/>
                    </a:lnB>
                  </a:tcPr>
                </a:tc>
                <a:extLst>
                  <a:ext uri="{0D108BD9-81ED-4DB2-BD59-A6C34878D82A}">
                    <a16:rowId xmlns:a16="http://schemas.microsoft.com/office/drawing/2014/main" val="1370182191"/>
                  </a:ext>
                </a:extLst>
              </a:tr>
              <a:tr h="617973">
                <a:tc>
                  <a:txBody>
                    <a:bodyPr/>
                    <a:lstStyle/>
                    <a:p>
                      <a:pPr fontAlgn="base" latinLnBrk="0"/>
                      <a:r>
                        <a:rPr lang="en-IN" sz="1800">
                          <a:effectLst/>
                        </a:rPr>
                        <a:t>PF Interest</a:t>
                      </a:r>
                    </a:p>
                  </a:txBody>
                  <a:tcPr marL="74924" marR="74924" marT="44955" marB="44955" anchor="ctr">
                    <a:lnL w="9525" cap="flat" cmpd="sng" algn="ctr">
                      <a:solidFill>
                        <a:srgbClr val="00DCCA"/>
                      </a:solidFill>
                      <a:prstDash val="solid"/>
                      <a:round/>
                      <a:headEnd type="none" w="med" len="med"/>
                      <a:tailEnd type="none" w="med" len="med"/>
                    </a:lnL>
                    <a:lnR w="9525" cap="flat" cmpd="sng" algn="ctr">
                      <a:solidFill>
                        <a:srgbClr val="40E4CA"/>
                      </a:solidFill>
                      <a:prstDash val="solid"/>
                      <a:round/>
                      <a:headEnd type="none" w="med" len="med"/>
                      <a:tailEnd type="none" w="med" len="med"/>
                    </a:lnR>
                    <a:lnT w="9525" cap="flat" cmpd="sng" algn="ctr">
                      <a:solidFill>
                        <a:srgbClr val="00DCCA"/>
                      </a:solidFill>
                      <a:prstDash val="solid"/>
                      <a:round/>
                      <a:headEnd type="none" w="med" len="med"/>
                      <a:tailEnd type="none" w="med" len="med"/>
                    </a:lnT>
                    <a:lnB w="9525" cap="flat" cmpd="sng" algn="ctr">
                      <a:solidFill>
                        <a:srgbClr val="00E7CA"/>
                      </a:solidFill>
                      <a:prstDash val="solid"/>
                      <a:round/>
                      <a:headEnd type="none" w="med" len="med"/>
                      <a:tailEnd type="none" w="med" len="med"/>
                    </a:lnB>
                  </a:tcPr>
                </a:tc>
                <a:tc>
                  <a:txBody>
                    <a:bodyPr/>
                    <a:lstStyle/>
                    <a:p>
                      <a:pPr algn="ctr" fontAlgn="base" latinLnBrk="0"/>
                      <a:r>
                        <a:rPr lang="en-IN" sz="1800">
                          <a:effectLst/>
                        </a:rPr>
                        <a:t>10(11)</a:t>
                      </a:r>
                    </a:p>
                  </a:txBody>
                  <a:tcPr marL="74924" marR="74924" marT="44955" marB="44955" anchor="ctr">
                    <a:lnL w="9525" cap="flat" cmpd="sng" algn="ctr">
                      <a:solidFill>
                        <a:srgbClr val="40E4CA"/>
                      </a:solidFill>
                      <a:prstDash val="solid"/>
                      <a:round/>
                      <a:headEnd type="none" w="med" len="med"/>
                      <a:tailEnd type="none" w="med" len="med"/>
                    </a:lnL>
                    <a:lnR w="9525" cap="flat" cmpd="sng" algn="ctr">
                      <a:solidFill>
                        <a:srgbClr val="C0E9CA"/>
                      </a:solidFill>
                      <a:prstDash val="solid"/>
                      <a:round/>
                      <a:headEnd type="none" w="med" len="med"/>
                      <a:tailEnd type="none" w="med" len="med"/>
                    </a:lnR>
                    <a:lnT w="9525" cap="flat" cmpd="sng" algn="ctr">
                      <a:solidFill>
                        <a:srgbClr val="40E4CA"/>
                      </a:solidFill>
                      <a:prstDash val="solid"/>
                      <a:round/>
                      <a:headEnd type="none" w="med" len="med"/>
                      <a:tailEnd type="none" w="med" len="med"/>
                    </a:lnT>
                    <a:lnB w="9525" cap="flat" cmpd="sng" algn="ctr">
                      <a:solidFill>
                        <a:srgbClr val="40EDCA"/>
                      </a:solidFill>
                      <a:prstDash val="solid"/>
                      <a:round/>
                      <a:headEnd type="none" w="med" len="med"/>
                      <a:tailEnd type="none" w="med" len="med"/>
                    </a:lnB>
                  </a:tcPr>
                </a:tc>
                <a:tc>
                  <a:txBody>
                    <a:bodyPr/>
                    <a:lstStyle/>
                    <a:p>
                      <a:pPr fontAlgn="base" latinLnBrk="0"/>
                      <a:r>
                        <a:rPr lang="en-US" sz="1800" dirty="0">
                          <a:effectLst/>
                        </a:rPr>
                        <a:t>Up to ₹2.5 lakh interest per year</a:t>
                      </a:r>
                    </a:p>
                  </a:txBody>
                  <a:tcPr marL="74924" marR="74924" marT="44955" marB="44955" anchor="ctr">
                    <a:lnL w="9525" cap="flat" cmpd="sng" algn="ctr">
                      <a:solidFill>
                        <a:srgbClr val="C0E9CA"/>
                      </a:solidFill>
                      <a:prstDash val="solid"/>
                      <a:round/>
                      <a:headEnd type="none" w="med" len="med"/>
                      <a:tailEnd type="none" w="med" len="med"/>
                    </a:lnL>
                    <a:lnR w="9525" cap="flat" cmpd="sng" algn="ctr">
                      <a:solidFill>
                        <a:srgbClr val="C0E9CA"/>
                      </a:solidFill>
                      <a:prstDash val="solid"/>
                      <a:round/>
                      <a:headEnd type="none" w="med" len="med"/>
                      <a:tailEnd type="none" w="med" len="med"/>
                    </a:lnR>
                    <a:lnT w="9525" cap="flat" cmpd="sng" algn="ctr">
                      <a:solidFill>
                        <a:srgbClr val="C0E9CA"/>
                      </a:solidFill>
                      <a:prstDash val="solid"/>
                      <a:round/>
                      <a:headEnd type="none" w="med" len="med"/>
                      <a:tailEnd type="none" w="med" len="med"/>
                    </a:lnT>
                    <a:lnB w="9525" cap="flat" cmpd="sng" algn="ctr">
                      <a:solidFill>
                        <a:srgbClr val="80EFCA"/>
                      </a:solidFill>
                      <a:prstDash val="solid"/>
                      <a:round/>
                      <a:headEnd type="none" w="med" len="med"/>
                      <a:tailEnd type="none" w="med" len="med"/>
                    </a:lnB>
                  </a:tcPr>
                </a:tc>
                <a:extLst>
                  <a:ext uri="{0D108BD9-81ED-4DB2-BD59-A6C34878D82A}">
                    <a16:rowId xmlns:a16="http://schemas.microsoft.com/office/drawing/2014/main" val="1074146234"/>
                  </a:ext>
                </a:extLst>
              </a:tr>
              <a:tr h="586847">
                <a:tc>
                  <a:txBody>
                    <a:bodyPr/>
                    <a:lstStyle/>
                    <a:p>
                      <a:pPr fontAlgn="base" latinLnBrk="0"/>
                      <a:r>
                        <a:rPr lang="en-IN" sz="1800">
                          <a:effectLst/>
                        </a:rPr>
                        <a:t>Life Insurance Maturity</a:t>
                      </a:r>
                    </a:p>
                  </a:txBody>
                  <a:tcPr marL="74924" marR="74924" marT="44955" marB="44955" anchor="ctr">
                    <a:lnL w="9525" cap="flat" cmpd="sng" algn="ctr">
                      <a:solidFill>
                        <a:srgbClr val="00E7CA"/>
                      </a:solidFill>
                      <a:prstDash val="solid"/>
                      <a:round/>
                      <a:headEnd type="none" w="med" len="med"/>
                      <a:tailEnd type="none" w="med" len="med"/>
                    </a:lnL>
                    <a:lnR w="9525" cap="flat" cmpd="sng" algn="ctr">
                      <a:solidFill>
                        <a:srgbClr val="40EDCA"/>
                      </a:solidFill>
                      <a:prstDash val="solid"/>
                      <a:round/>
                      <a:headEnd type="none" w="med" len="med"/>
                      <a:tailEnd type="none" w="med" len="med"/>
                    </a:lnR>
                    <a:lnT w="9525" cap="flat" cmpd="sng" algn="ctr">
                      <a:solidFill>
                        <a:srgbClr val="00E7CA"/>
                      </a:solidFill>
                      <a:prstDash val="solid"/>
                      <a:round/>
                      <a:headEnd type="none" w="med" len="med"/>
                      <a:tailEnd type="none" w="med" len="med"/>
                    </a:lnT>
                    <a:lnB w="9525" cap="flat" cmpd="sng" algn="ctr">
                      <a:solidFill>
                        <a:srgbClr val="80F9CA"/>
                      </a:solidFill>
                      <a:prstDash val="solid"/>
                      <a:round/>
                      <a:headEnd type="none" w="med" len="med"/>
                      <a:tailEnd type="none" w="med" len="med"/>
                    </a:lnB>
                  </a:tcPr>
                </a:tc>
                <a:tc>
                  <a:txBody>
                    <a:bodyPr/>
                    <a:lstStyle/>
                    <a:p>
                      <a:pPr algn="ctr" fontAlgn="base" latinLnBrk="0"/>
                      <a:r>
                        <a:rPr lang="en-IN" sz="1800" dirty="0">
                          <a:effectLst/>
                        </a:rPr>
                        <a:t>10(10D)</a:t>
                      </a:r>
                    </a:p>
                  </a:txBody>
                  <a:tcPr marL="74924" marR="74924" marT="44955" marB="44955" anchor="ctr">
                    <a:lnL w="9525" cap="flat" cmpd="sng" algn="ctr">
                      <a:solidFill>
                        <a:srgbClr val="40EDCA"/>
                      </a:solidFill>
                      <a:prstDash val="solid"/>
                      <a:round/>
                      <a:headEnd type="none" w="med" len="med"/>
                      <a:tailEnd type="none" w="med" len="med"/>
                    </a:lnL>
                    <a:lnR w="9525" cap="flat" cmpd="sng" algn="ctr">
                      <a:solidFill>
                        <a:srgbClr val="80EFCA"/>
                      </a:solidFill>
                      <a:prstDash val="solid"/>
                      <a:round/>
                      <a:headEnd type="none" w="med" len="med"/>
                      <a:tailEnd type="none" w="med" len="med"/>
                    </a:lnR>
                    <a:lnT w="9525" cap="flat" cmpd="sng" algn="ctr">
                      <a:solidFill>
                        <a:srgbClr val="40EDCA"/>
                      </a:solidFill>
                      <a:prstDash val="solid"/>
                      <a:round/>
                      <a:headEnd type="none" w="med" len="med"/>
                      <a:tailEnd type="none" w="med" len="med"/>
                    </a:lnT>
                    <a:lnB w="9525" cap="flat" cmpd="sng" algn="ctr">
                      <a:solidFill>
                        <a:srgbClr val="00F5CA"/>
                      </a:solidFill>
                      <a:prstDash val="solid"/>
                      <a:round/>
                      <a:headEnd type="none" w="med" len="med"/>
                      <a:tailEnd type="none" w="med" len="med"/>
                    </a:lnB>
                  </a:tcPr>
                </a:tc>
                <a:tc>
                  <a:txBody>
                    <a:bodyPr/>
                    <a:lstStyle/>
                    <a:p>
                      <a:pPr fontAlgn="base" latinLnBrk="0"/>
                      <a:r>
                        <a:rPr lang="en-IN" sz="1800" dirty="0">
                          <a:effectLst/>
                        </a:rPr>
                        <a:t>Subject to premium caps</a:t>
                      </a:r>
                    </a:p>
                  </a:txBody>
                  <a:tcPr marL="74924" marR="74924" marT="44955" marB="44955" anchor="ctr">
                    <a:lnL w="9525" cap="flat" cmpd="sng" algn="ctr">
                      <a:solidFill>
                        <a:srgbClr val="80EFCA"/>
                      </a:solidFill>
                      <a:prstDash val="solid"/>
                      <a:round/>
                      <a:headEnd type="none" w="med" len="med"/>
                      <a:tailEnd type="none" w="med" len="med"/>
                    </a:lnL>
                    <a:lnR w="9525" cap="flat" cmpd="sng" algn="ctr">
                      <a:solidFill>
                        <a:srgbClr val="80EFCA"/>
                      </a:solidFill>
                      <a:prstDash val="solid"/>
                      <a:round/>
                      <a:headEnd type="none" w="med" len="med"/>
                      <a:tailEnd type="none" w="med" len="med"/>
                    </a:lnR>
                    <a:lnT w="9525" cap="flat" cmpd="sng" algn="ctr">
                      <a:solidFill>
                        <a:srgbClr val="80EFCA"/>
                      </a:solidFill>
                      <a:prstDash val="solid"/>
                      <a:round/>
                      <a:headEnd type="none" w="med" len="med"/>
                      <a:tailEnd type="none" w="med" len="med"/>
                    </a:lnT>
                    <a:lnB w="9525" cap="flat" cmpd="sng" algn="ctr">
                      <a:solidFill>
                        <a:srgbClr val="4004CB"/>
                      </a:solidFill>
                      <a:prstDash val="solid"/>
                      <a:round/>
                      <a:headEnd type="none" w="med" len="med"/>
                      <a:tailEnd type="none" w="med" len="med"/>
                    </a:lnB>
                  </a:tcPr>
                </a:tc>
                <a:extLst>
                  <a:ext uri="{0D108BD9-81ED-4DB2-BD59-A6C34878D82A}">
                    <a16:rowId xmlns:a16="http://schemas.microsoft.com/office/drawing/2014/main" val="2568809194"/>
                  </a:ext>
                </a:extLst>
              </a:tr>
              <a:tr h="352493">
                <a:tc>
                  <a:txBody>
                    <a:bodyPr/>
                    <a:lstStyle/>
                    <a:p>
                      <a:pPr fontAlgn="base" latinLnBrk="0"/>
                      <a:r>
                        <a:rPr lang="en-IN" sz="1800">
                          <a:effectLst/>
                        </a:rPr>
                        <a:t>Agricultural Income</a:t>
                      </a:r>
                    </a:p>
                  </a:txBody>
                  <a:tcPr marL="74924" marR="74924" marT="44955" marB="44955" anchor="ctr">
                    <a:lnL w="9525" cap="flat" cmpd="sng" algn="ctr">
                      <a:solidFill>
                        <a:srgbClr val="80F9CA"/>
                      </a:solidFill>
                      <a:prstDash val="solid"/>
                      <a:round/>
                      <a:headEnd type="none" w="med" len="med"/>
                      <a:tailEnd type="none" w="med" len="med"/>
                    </a:lnL>
                    <a:lnR w="9525" cap="flat" cmpd="sng" algn="ctr">
                      <a:solidFill>
                        <a:srgbClr val="00F5CA"/>
                      </a:solidFill>
                      <a:prstDash val="solid"/>
                      <a:round/>
                      <a:headEnd type="none" w="med" len="med"/>
                      <a:tailEnd type="none" w="med" len="med"/>
                    </a:lnR>
                    <a:lnT w="9525" cap="flat" cmpd="sng" algn="ctr">
                      <a:solidFill>
                        <a:srgbClr val="80F9CA"/>
                      </a:solidFill>
                      <a:prstDash val="solid"/>
                      <a:round/>
                      <a:headEnd type="none" w="med" len="med"/>
                      <a:tailEnd type="none" w="med" len="med"/>
                    </a:lnT>
                    <a:lnB w="9525" cap="flat" cmpd="sng" algn="ctr">
                      <a:solidFill>
                        <a:srgbClr val="80F9CA"/>
                      </a:solidFill>
                      <a:prstDash val="solid"/>
                      <a:round/>
                      <a:headEnd type="none" w="med" len="med"/>
                      <a:tailEnd type="none" w="med" len="med"/>
                    </a:lnB>
                  </a:tcPr>
                </a:tc>
                <a:tc>
                  <a:txBody>
                    <a:bodyPr/>
                    <a:lstStyle/>
                    <a:p>
                      <a:pPr algn="ctr" fontAlgn="base" latinLnBrk="0"/>
                      <a:r>
                        <a:rPr lang="en-IN" sz="1800" dirty="0">
                          <a:effectLst/>
                        </a:rPr>
                        <a:t>10(1)</a:t>
                      </a:r>
                    </a:p>
                  </a:txBody>
                  <a:tcPr marL="74924" marR="74924" marT="44955" marB="44955" anchor="ctr">
                    <a:lnL w="9525" cap="flat" cmpd="sng" algn="ctr">
                      <a:solidFill>
                        <a:srgbClr val="00F5CA"/>
                      </a:solidFill>
                      <a:prstDash val="solid"/>
                      <a:round/>
                      <a:headEnd type="none" w="med" len="med"/>
                      <a:tailEnd type="none" w="med" len="med"/>
                    </a:lnL>
                    <a:lnR w="9525" cap="flat" cmpd="sng" algn="ctr">
                      <a:solidFill>
                        <a:srgbClr val="4004CB"/>
                      </a:solidFill>
                      <a:prstDash val="solid"/>
                      <a:round/>
                      <a:headEnd type="none" w="med" len="med"/>
                      <a:tailEnd type="none" w="med" len="med"/>
                    </a:lnR>
                    <a:lnT w="9525" cap="flat" cmpd="sng" algn="ctr">
                      <a:solidFill>
                        <a:srgbClr val="00F5CA"/>
                      </a:solidFill>
                      <a:prstDash val="solid"/>
                      <a:round/>
                      <a:headEnd type="none" w="med" len="med"/>
                      <a:tailEnd type="none" w="med" len="med"/>
                    </a:lnT>
                    <a:lnB w="9525" cap="flat" cmpd="sng" algn="ctr">
                      <a:solidFill>
                        <a:srgbClr val="00F5CA"/>
                      </a:solidFill>
                      <a:prstDash val="solid"/>
                      <a:round/>
                      <a:headEnd type="none" w="med" len="med"/>
                      <a:tailEnd type="none" w="med" len="med"/>
                    </a:lnB>
                  </a:tcPr>
                </a:tc>
                <a:tc>
                  <a:txBody>
                    <a:bodyPr/>
                    <a:lstStyle/>
                    <a:p>
                      <a:pPr fontAlgn="base" latinLnBrk="0"/>
                      <a:r>
                        <a:rPr lang="en-IN" sz="1800" dirty="0">
                          <a:effectLst/>
                        </a:rPr>
                        <a:t>100% exempt</a:t>
                      </a:r>
                    </a:p>
                  </a:txBody>
                  <a:tcPr marL="74924" marR="74924" marT="44955" marB="44955" anchor="ctr">
                    <a:lnL w="9525" cap="flat" cmpd="sng" algn="ctr">
                      <a:solidFill>
                        <a:srgbClr val="4004CB"/>
                      </a:solidFill>
                      <a:prstDash val="solid"/>
                      <a:round/>
                      <a:headEnd type="none" w="med" len="med"/>
                      <a:tailEnd type="none" w="med" len="med"/>
                    </a:lnL>
                    <a:lnR w="9525" cap="flat" cmpd="sng" algn="ctr">
                      <a:solidFill>
                        <a:srgbClr val="4004CB"/>
                      </a:solidFill>
                      <a:prstDash val="solid"/>
                      <a:round/>
                      <a:headEnd type="none" w="med" len="med"/>
                      <a:tailEnd type="none" w="med" len="med"/>
                    </a:lnR>
                    <a:lnT w="9525" cap="flat" cmpd="sng" algn="ctr">
                      <a:solidFill>
                        <a:srgbClr val="4004CB"/>
                      </a:solidFill>
                      <a:prstDash val="solid"/>
                      <a:round/>
                      <a:headEnd type="none" w="med" len="med"/>
                      <a:tailEnd type="none" w="med" len="med"/>
                    </a:lnT>
                    <a:lnB w="9525" cap="flat" cmpd="sng" algn="ctr">
                      <a:solidFill>
                        <a:srgbClr val="4004CB"/>
                      </a:solidFill>
                      <a:prstDash val="solid"/>
                      <a:round/>
                      <a:headEnd type="none" w="med" len="med"/>
                      <a:tailEnd type="none" w="med" len="med"/>
                    </a:lnB>
                  </a:tcPr>
                </a:tc>
                <a:extLst>
                  <a:ext uri="{0D108BD9-81ED-4DB2-BD59-A6C34878D82A}">
                    <a16:rowId xmlns:a16="http://schemas.microsoft.com/office/drawing/2014/main" val="2109865987"/>
                  </a:ext>
                </a:extLst>
              </a:tr>
            </a:tbl>
          </a:graphicData>
        </a:graphic>
      </p:graphicFrame>
    </p:spTree>
    <p:extLst>
      <p:ext uri="{BB962C8B-B14F-4D97-AF65-F5344CB8AC3E}">
        <p14:creationId xmlns:p14="http://schemas.microsoft.com/office/powerpoint/2010/main" val="337028015"/>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9351390" y="2373314"/>
            <a:ext cx="2592371" cy="3424171"/>
          </a:xfrm>
        </p:spPr>
        <p:style>
          <a:lnRef idx="1">
            <a:schemeClr val="accent3"/>
          </a:lnRef>
          <a:fillRef idx="2">
            <a:schemeClr val="accent3"/>
          </a:fillRef>
          <a:effectRef idx="1">
            <a:schemeClr val="accent3"/>
          </a:effectRef>
          <a:fontRef idx="minor">
            <a:schemeClr val="dk1"/>
          </a:fontRef>
        </p:style>
        <p:txBody>
          <a:bodyPr>
            <a:normAutofit/>
          </a:bodyPr>
          <a:lstStyle/>
          <a:p>
            <a:pPr marL="252000" indent="-252000" algn="just">
              <a:lnSpc>
                <a:spcPct val="130000"/>
              </a:lnSpc>
              <a:buFont typeface="Wingdings" panose="05000000000000000000" pitchFamily="2" charset="2"/>
              <a:buChar char="§"/>
            </a:pPr>
            <a:r>
              <a:rPr lang="en-US" sz="2800" b="1" dirty="0"/>
              <a:t>Components of Salary</a:t>
            </a:r>
          </a:p>
          <a:p>
            <a:pPr algn="just"/>
            <a:r>
              <a:rPr lang="en-US" sz="2400" dirty="0">
                <a:solidFill>
                  <a:srgbClr val="FF0000"/>
                </a:solidFill>
              </a:rPr>
              <a:t>Basic</a:t>
            </a:r>
          </a:p>
          <a:p>
            <a:pPr algn="just"/>
            <a:r>
              <a:rPr lang="en-US" sz="2400" dirty="0">
                <a:solidFill>
                  <a:srgbClr val="FF0000"/>
                </a:solidFill>
              </a:rPr>
              <a:t>HRA</a:t>
            </a:r>
          </a:p>
          <a:p>
            <a:pPr algn="just"/>
            <a:r>
              <a:rPr lang="en-US" sz="2400" dirty="0">
                <a:solidFill>
                  <a:srgbClr val="FF0000"/>
                </a:solidFill>
                <a:latin typeface="Cambria" panose="02040503050406030204" pitchFamily="18" charset="0"/>
              </a:rPr>
              <a:t>Allowances, </a:t>
            </a:r>
            <a:r>
              <a:rPr lang="en-US" sz="2400" dirty="0" err="1">
                <a:solidFill>
                  <a:srgbClr val="FF0000"/>
                </a:solidFill>
                <a:latin typeface="Cambria" panose="02040503050406030204" pitchFamily="18" charset="0"/>
              </a:rPr>
              <a:t>etc</a:t>
            </a:r>
            <a:endParaRPr lang="en-IN"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68</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
        <p:nvSpPr>
          <p:cNvPr id="5" name="Content Placeholder 2">
            <a:extLst>
              <a:ext uri="{FF2B5EF4-FFF2-40B4-BE49-F238E27FC236}">
                <a16:creationId xmlns:a16="http://schemas.microsoft.com/office/drawing/2014/main" id="{8F7EB8A7-C8B7-75B9-5DB4-2C321372CA13}"/>
              </a:ext>
            </a:extLst>
          </p:cNvPr>
          <p:cNvSpPr txBox="1">
            <a:spLocks/>
          </p:cNvSpPr>
          <p:nvPr/>
        </p:nvSpPr>
        <p:spPr>
          <a:xfrm>
            <a:off x="424439" y="1685204"/>
            <a:ext cx="8317779" cy="4484686"/>
          </a:xfrm>
          <a:prstGeom prst="rect">
            <a:avLst/>
          </a:prstGeom>
        </p:spPr>
        <p:txBody>
          <a:bodyPr vert="horz" lIns="91440" tIns="45720" rIns="91440" bIns="45720" rtlCol="0">
            <a:norm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252000" indent="-252000" algn="just">
              <a:lnSpc>
                <a:spcPct val="130000"/>
              </a:lnSpc>
              <a:buFont typeface="Wingdings" panose="05000000000000000000" pitchFamily="2" charset="2"/>
              <a:buChar char="§"/>
            </a:pPr>
            <a:r>
              <a:rPr lang="en-US" sz="2800" dirty="0"/>
              <a:t>List of Exemptions</a:t>
            </a:r>
          </a:p>
          <a:p>
            <a:pPr algn="just"/>
            <a:r>
              <a:rPr lang="en-US" sz="2400" dirty="0">
                <a:solidFill>
                  <a:srgbClr val="FF0000"/>
                </a:solidFill>
              </a:rPr>
              <a:t>Exemption on House Rent Allowance (HRA)</a:t>
            </a:r>
          </a:p>
          <a:p>
            <a:pPr algn="just">
              <a:buFont typeface="Wingdings" panose="05000000000000000000" pitchFamily="2" charset="2"/>
              <a:buChar char="v"/>
            </a:pPr>
            <a:r>
              <a:rPr lang="en-US" sz="2400" dirty="0"/>
              <a:t>If rent is actually being paid, the individual can get an exemption as per the House Rent Allowance and that will be the </a:t>
            </a:r>
            <a:r>
              <a:rPr lang="en-US" sz="2400" dirty="0">
                <a:solidFill>
                  <a:srgbClr val="FF0000"/>
                </a:solidFill>
              </a:rPr>
              <a:t>least of the following</a:t>
            </a:r>
            <a:r>
              <a:rPr lang="en-US" sz="2400" dirty="0"/>
              <a:t>:</a:t>
            </a:r>
          </a:p>
          <a:p>
            <a:pPr marL="457200" indent="-457200" algn="just">
              <a:buFont typeface="+mj-lt"/>
              <a:buAutoNum type="arabicParenR"/>
            </a:pPr>
            <a:r>
              <a:rPr lang="en-US" sz="2400" dirty="0"/>
              <a:t>Actual House Rent Allowance received </a:t>
            </a:r>
          </a:p>
          <a:p>
            <a:pPr marL="457200" indent="-457200" algn="just">
              <a:buFont typeface="+mj-lt"/>
              <a:buAutoNum type="arabicParenR"/>
            </a:pPr>
            <a:r>
              <a:rPr lang="en-US" sz="2400" dirty="0"/>
              <a:t>Actual Rent paid minus 10% of basic salary </a:t>
            </a:r>
          </a:p>
          <a:p>
            <a:pPr marL="457200" indent="-457200" algn="just">
              <a:buFont typeface="+mj-lt"/>
              <a:buAutoNum type="arabicParenR"/>
            </a:pPr>
            <a:r>
              <a:rPr lang="en-US" sz="2400" dirty="0"/>
              <a:t>40% of basic salary (50% in case of Mumbai, Chennai, Kolkata, Delhi)</a:t>
            </a:r>
            <a:endParaRPr lang="en-IN" dirty="0"/>
          </a:p>
          <a:p>
            <a:pPr marL="252000" indent="-252000" algn="just">
              <a:lnSpc>
                <a:spcPct val="130000"/>
              </a:lnSpc>
              <a:buFont typeface="Wingdings" panose="05000000000000000000" pitchFamily="2" charset="2"/>
              <a:buChar char="§"/>
            </a:pPr>
            <a:endParaRPr lang="en-IN" dirty="0">
              <a:latin typeface="Cambria" panose="02040503050406030204" pitchFamily="18" charset="0"/>
            </a:endParaRPr>
          </a:p>
        </p:txBody>
      </p:sp>
      <p:cxnSp>
        <p:nvCxnSpPr>
          <p:cNvPr id="4" name="Straight Connector 3"/>
          <p:cNvCxnSpPr/>
          <p:nvPr/>
        </p:nvCxnSpPr>
        <p:spPr>
          <a:xfrm>
            <a:off x="8861196" y="1923068"/>
            <a:ext cx="37707" cy="4572000"/>
          </a:xfrm>
          <a:prstGeom prst="line">
            <a:avLst/>
          </a:prstGeom>
          <a:ln w="38100"/>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379473189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9351390" y="2373314"/>
            <a:ext cx="2592371" cy="3424171"/>
          </a:xfrm>
        </p:spPr>
        <p:style>
          <a:lnRef idx="1">
            <a:schemeClr val="accent3"/>
          </a:lnRef>
          <a:fillRef idx="2">
            <a:schemeClr val="accent3"/>
          </a:fillRef>
          <a:effectRef idx="1">
            <a:schemeClr val="accent3"/>
          </a:effectRef>
          <a:fontRef idx="minor">
            <a:schemeClr val="dk1"/>
          </a:fontRef>
        </p:style>
        <p:txBody>
          <a:bodyPr>
            <a:normAutofit/>
          </a:bodyPr>
          <a:lstStyle/>
          <a:p>
            <a:pPr marL="252000" indent="-252000" algn="just">
              <a:lnSpc>
                <a:spcPct val="130000"/>
              </a:lnSpc>
              <a:buFont typeface="Wingdings" panose="05000000000000000000" pitchFamily="2" charset="2"/>
              <a:buChar char="§"/>
            </a:pPr>
            <a:r>
              <a:rPr lang="en-US" sz="2800" b="1" dirty="0"/>
              <a:t>Components of Salary</a:t>
            </a:r>
          </a:p>
          <a:p>
            <a:pPr algn="just"/>
            <a:r>
              <a:rPr lang="en-US" sz="2400" dirty="0">
                <a:solidFill>
                  <a:srgbClr val="FF0000"/>
                </a:solidFill>
              </a:rPr>
              <a:t>Basic</a:t>
            </a:r>
          </a:p>
          <a:p>
            <a:pPr algn="just"/>
            <a:r>
              <a:rPr lang="en-US" sz="2400" dirty="0">
                <a:solidFill>
                  <a:srgbClr val="FF0000"/>
                </a:solidFill>
              </a:rPr>
              <a:t>HRA</a:t>
            </a:r>
          </a:p>
          <a:p>
            <a:pPr algn="just"/>
            <a:r>
              <a:rPr lang="en-US" sz="2400" dirty="0">
                <a:solidFill>
                  <a:srgbClr val="FF0000"/>
                </a:solidFill>
                <a:latin typeface="Cambria" panose="02040503050406030204" pitchFamily="18" charset="0"/>
              </a:rPr>
              <a:t>Allowances, </a:t>
            </a:r>
            <a:r>
              <a:rPr lang="en-US" sz="2400" dirty="0" err="1">
                <a:solidFill>
                  <a:srgbClr val="FF0000"/>
                </a:solidFill>
                <a:latin typeface="Cambria" panose="02040503050406030204" pitchFamily="18" charset="0"/>
              </a:rPr>
              <a:t>etc</a:t>
            </a:r>
            <a:endParaRPr lang="en-IN"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69</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
        <p:nvSpPr>
          <p:cNvPr id="5" name="Content Placeholder 2">
            <a:extLst>
              <a:ext uri="{FF2B5EF4-FFF2-40B4-BE49-F238E27FC236}">
                <a16:creationId xmlns:a16="http://schemas.microsoft.com/office/drawing/2014/main" id="{8F7EB8A7-C8B7-75B9-5DB4-2C321372CA13}"/>
              </a:ext>
            </a:extLst>
          </p:cNvPr>
          <p:cNvSpPr txBox="1">
            <a:spLocks/>
          </p:cNvSpPr>
          <p:nvPr/>
        </p:nvSpPr>
        <p:spPr>
          <a:xfrm>
            <a:off x="424439" y="1685204"/>
            <a:ext cx="8317779" cy="4484686"/>
          </a:xfrm>
          <a:prstGeom prst="rect">
            <a:avLst/>
          </a:prstGeom>
        </p:spPr>
        <p:txBody>
          <a:bodyPr vert="horz" lIns="91440" tIns="45720" rIns="91440" bIns="45720" rtlCol="0">
            <a:normAutofit fontScale="92500" lnSpcReduction="10000"/>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252000" indent="-252000" algn="just">
              <a:lnSpc>
                <a:spcPct val="130000"/>
              </a:lnSpc>
              <a:buFont typeface="Wingdings" panose="05000000000000000000" pitchFamily="2" charset="2"/>
              <a:buChar char="§"/>
            </a:pPr>
            <a:r>
              <a:rPr lang="en-US" sz="2800" dirty="0"/>
              <a:t>Income Tax Exemptions in India (FY 2025-26 / AY 2026-27)</a:t>
            </a:r>
          </a:p>
          <a:p>
            <a:pPr marL="252000" indent="-252000" algn="just">
              <a:lnSpc>
                <a:spcPct val="130000"/>
              </a:lnSpc>
              <a:buFont typeface="Wingdings" panose="05000000000000000000" pitchFamily="2" charset="2"/>
              <a:buChar char="§"/>
            </a:pPr>
            <a:r>
              <a:rPr lang="en-US" sz="2400" dirty="0">
                <a:solidFill>
                  <a:srgbClr val="FF0000"/>
                </a:solidFill>
              </a:rPr>
              <a:t>Exemption on House Rent Allowance (HRA)</a:t>
            </a:r>
          </a:p>
          <a:p>
            <a:pPr algn="just">
              <a:buFont typeface="Wingdings" panose="05000000000000000000" pitchFamily="2" charset="2"/>
              <a:buChar char="v"/>
            </a:pPr>
            <a:r>
              <a:rPr lang="en-US" sz="2400" dirty="0"/>
              <a:t>If rent is actually being paid, the individual can get an exemption as per the House Rent Allowance and that will be the </a:t>
            </a:r>
            <a:r>
              <a:rPr lang="en-US" sz="2400" dirty="0">
                <a:solidFill>
                  <a:srgbClr val="FF0000"/>
                </a:solidFill>
              </a:rPr>
              <a:t>least of the following</a:t>
            </a:r>
            <a:r>
              <a:rPr lang="en-US" sz="2400" dirty="0"/>
              <a:t>:</a:t>
            </a:r>
          </a:p>
          <a:p>
            <a:pPr marL="457200" indent="-457200" algn="just">
              <a:buFont typeface="+mj-lt"/>
              <a:buAutoNum type="arabicParenR"/>
            </a:pPr>
            <a:r>
              <a:rPr lang="en-US" sz="2400" dirty="0"/>
              <a:t>Actual House Rent Allowance received </a:t>
            </a:r>
          </a:p>
          <a:p>
            <a:pPr marL="457200" indent="-457200" algn="just">
              <a:buFont typeface="+mj-lt"/>
              <a:buAutoNum type="arabicParenR"/>
            </a:pPr>
            <a:r>
              <a:rPr lang="en-US" sz="2400" dirty="0"/>
              <a:t>Actual Rent paid minus 10% of basic salary </a:t>
            </a:r>
          </a:p>
          <a:p>
            <a:pPr marL="457200" indent="-457200" algn="just">
              <a:buFont typeface="+mj-lt"/>
              <a:buAutoNum type="arabicParenR"/>
            </a:pPr>
            <a:r>
              <a:rPr lang="en-US" sz="2400" dirty="0"/>
              <a:t>40% of basic salary (50% in case of Mumbai, Chennai, Kolkata, Delhi)</a:t>
            </a:r>
            <a:endParaRPr lang="en-IN" dirty="0"/>
          </a:p>
          <a:p>
            <a:pPr marL="252000" indent="-252000" algn="just">
              <a:lnSpc>
                <a:spcPct val="130000"/>
              </a:lnSpc>
              <a:buFont typeface="Wingdings" panose="05000000000000000000" pitchFamily="2" charset="2"/>
              <a:buChar char="§"/>
            </a:pPr>
            <a:endParaRPr lang="en-IN" dirty="0">
              <a:latin typeface="Cambria" panose="02040503050406030204" pitchFamily="18" charset="0"/>
            </a:endParaRPr>
          </a:p>
        </p:txBody>
      </p:sp>
      <p:cxnSp>
        <p:nvCxnSpPr>
          <p:cNvPr id="4" name="Straight Connector 3"/>
          <p:cNvCxnSpPr/>
          <p:nvPr/>
        </p:nvCxnSpPr>
        <p:spPr>
          <a:xfrm>
            <a:off x="8861196" y="1923068"/>
            <a:ext cx="37707" cy="4572000"/>
          </a:xfrm>
          <a:prstGeom prst="line">
            <a:avLst/>
          </a:prstGeom>
          <a:ln w="38100"/>
        </p:spPr>
        <p:style>
          <a:lnRef idx="1">
            <a:schemeClr val="accent6"/>
          </a:lnRef>
          <a:fillRef idx="0">
            <a:schemeClr val="accent6"/>
          </a:fillRef>
          <a:effectRef idx="0">
            <a:schemeClr val="accent6"/>
          </a:effectRef>
          <a:fontRef idx="minor">
            <a:schemeClr val="tx1"/>
          </a:fontRef>
        </p:style>
      </p:cxnSp>
    </p:spTree>
    <p:extLst>
      <p:ext uri="{BB962C8B-B14F-4D97-AF65-F5344CB8AC3E}">
        <p14:creationId xmlns:p14="http://schemas.microsoft.com/office/powerpoint/2010/main" val="296070994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FEEA6C-7881-BC64-CEB1-4D354DD52E80}"/>
              </a:ext>
            </a:extLst>
          </p:cNvPr>
          <p:cNvSpPr>
            <a:spLocks noGrp="1"/>
          </p:cNvSpPr>
          <p:nvPr>
            <p:ph type="title"/>
          </p:nvPr>
        </p:nvSpPr>
        <p:spPr/>
        <p:txBody>
          <a:bodyPr/>
          <a:lstStyle/>
          <a:p>
            <a:r>
              <a:rPr lang="en-IN" sz="2800" u="sng" dirty="0">
                <a:solidFill>
                  <a:srgbClr val="C00000"/>
                </a:solidFill>
                <a:effectLst>
                  <a:outerShdw blurRad="38100" dist="38100" dir="2700000" algn="tl">
                    <a:srgbClr val="000000">
                      <a:alpha val="43137"/>
                    </a:srgbClr>
                  </a:outerShdw>
                </a:effectLst>
                <a:latin typeface="Cambria" panose="02040503050406030204" pitchFamily="18" charset="0"/>
              </a:rPr>
              <a:t>Section 10(13A): House Rent Allowance(HRA)</a:t>
            </a:r>
            <a:br>
              <a:rPr lang="en-IN" sz="2800" dirty="0">
                <a:solidFill>
                  <a:srgbClr val="C00000"/>
                </a:solidFill>
              </a:rPr>
            </a:br>
            <a:endParaRPr lang="en-IN" sz="2800" dirty="0"/>
          </a:p>
        </p:txBody>
      </p:sp>
      <p:sp>
        <p:nvSpPr>
          <p:cNvPr id="6" name="Slide Number Placeholder 5">
            <a:extLst>
              <a:ext uri="{FF2B5EF4-FFF2-40B4-BE49-F238E27FC236}">
                <a16:creationId xmlns:a16="http://schemas.microsoft.com/office/drawing/2014/main" id="{4D3F6618-8874-A07A-ADEE-672FFC6A29AC}"/>
              </a:ext>
            </a:extLst>
          </p:cNvPr>
          <p:cNvSpPr>
            <a:spLocks noGrp="1"/>
          </p:cNvSpPr>
          <p:nvPr>
            <p:ph type="sldNum" sz="quarter" idx="12"/>
          </p:nvPr>
        </p:nvSpPr>
        <p:spPr/>
        <p:txBody>
          <a:bodyPr/>
          <a:lstStyle/>
          <a:p>
            <a:fld id="{94013DF8-6EF8-4A98-8821-E6468C17C0C3}" type="slidenum">
              <a:rPr lang="en-IN" smtClean="0"/>
              <a:t>70</a:t>
            </a:fld>
            <a:endParaRPr lang="en-IN"/>
          </a:p>
        </p:txBody>
      </p:sp>
      <p:graphicFrame>
        <p:nvGraphicFramePr>
          <p:cNvPr id="7" name="Table 6">
            <a:extLst>
              <a:ext uri="{FF2B5EF4-FFF2-40B4-BE49-F238E27FC236}">
                <a16:creationId xmlns:a16="http://schemas.microsoft.com/office/drawing/2014/main" id="{2E69356E-82E8-1C3D-376C-99670BBA5FF6}"/>
              </a:ext>
            </a:extLst>
          </p:cNvPr>
          <p:cNvGraphicFramePr>
            <a:graphicFrameLocks noGrp="1"/>
          </p:cNvGraphicFramePr>
          <p:nvPr>
            <p:extLst>
              <p:ext uri="{D42A27DB-BD31-4B8C-83A1-F6EECF244321}">
                <p14:modId xmlns:p14="http://schemas.microsoft.com/office/powerpoint/2010/main" val="3119873814"/>
              </p:ext>
            </p:extLst>
          </p:nvPr>
        </p:nvGraphicFramePr>
        <p:xfrm>
          <a:off x="568038" y="1101212"/>
          <a:ext cx="10622701" cy="4770850"/>
        </p:xfrm>
        <a:graphic>
          <a:graphicData uri="http://schemas.openxmlformats.org/drawingml/2006/table">
            <a:tbl>
              <a:tblPr/>
              <a:tblGrid>
                <a:gridCol w="4871697">
                  <a:extLst>
                    <a:ext uri="{9D8B030D-6E8A-4147-A177-3AD203B41FA5}">
                      <a16:colId xmlns:a16="http://schemas.microsoft.com/office/drawing/2014/main" val="4195446719"/>
                    </a:ext>
                  </a:extLst>
                </a:gridCol>
                <a:gridCol w="3024103">
                  <a:extLst>
                    <a:ext uri="{9D8B030D-6E8A-4147-A177-3AD203B41FA5}">
                      <a16:colId xmlns:a16="http://schemas.microsoft.com/office/drawing/2014/main" val="1760983539"/>
                    </a:ext>
                  </a:extLst>
                </a:gridCol>
                <a:gridCol w="2122882">
                  <a:extLst>
                    <a:ext uri="{9D8B030D-6E8A-4147-A177-3AD203B41FA5}">
                      <a16:colId xmlns:a16="http://schemas.microsoft.com/office/drawing/2014/main" val="1047752708"/>
                    </a:ext>
                  </a:extLst>
                </a:gridCol>
                <a:gridCol w="604019">
                  <a:extLst>
                    <a:ext uri="{9D8B030D-6E8A-4147-A177-3AD203B41FA5}">
                      <a16:colId xmlns:a16="http://schemas.microsoft.com/office/drawing/2014/main" val="3330869156"/>
                    </a:ext>
                  </a:extLst>
                </a:gridCol>
              </a:tblGrid>
              <a:tr h="325745">
                <a:tc>
                  <a:txBody>
                    <a:bodyPr/>
                    <a:lstStyle/>
                    <a:p>
                      <a:pPr algn="l" fontAlgn="b"/>
                      <a:r>
                        <a:rPr lang="en-IN" sz="1800" b="0" i="0" u="none" strike="noStrike" dirty="0">
                          <a:solidFill>
                            <a:srgbClr val="000000"/>
                          </a:solidFill>
                          <a:effectLst/>
                          <a:latin typeface="Cambria" panose="02040503050406030204" pitchFamily="18" charset="0"/>
                        </a:rPr>
                        <a:t>BASIC</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a:solidFill>
                            <a:srgbClr val="000000"/>
                          </a:solidFill>
                          <a:effectLst/>
                          <a:latin typeface="Cambria" panose="02040503050406030204" pitchFamily="18" charset="0"/>
                        </a:rPr>
                        <a:t>30,000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IN" sz="1600" b="0" i="0" u="none" strike="noStrike">
                          <a:solidFill>
                            <a:srgbClr val="000000"/>
                          </a:solidFill>
                          <a:effectLst/>
                          <a:latin typeface="Cambria" panose="02040503050406030204" pitchFamily="18" charset="0"/>
                        </a:rPr>
                        <a:t>PF</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600" b="0" i="0" u="none" strike="noStrike" dirty="0">
                          <a:solidFill>
                            <a:srgbClr val="000000"/>
                          </a:solidFill>
                          <a:effectLst/>
                          <a:latin typeface="Cambria" panose="02040503050406030204" pitchFamily="18" charset="0"/>
                        </a:rPr>
                        <a:t>2,000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723733770"/>
                  </a:ext>
                </a:extLst>
              </a:tr>
              <a:tr h="325745">
                <a:tc>
                  <a:txBody>
                    <a:bodyPr/>
                    <a:lstStyle/>
                    <a:p>
                      <a:pPr algn="l" fontAlgn="b"/>
                      <a:r>
                        <a:rPr lang="en-IN" sz="1800" b="0" i="0" u="none" strike="noStrike" dirty="0">
                          <a:solidFill>
                            <a:srgbClr val="000000"/>
                          </a:solidFill>
                          <a:effectLst/>
                          <a:latin typeface="Cambria" panose="02040503050406030204" pitchFamily="18" charset="0"/>
                        </a:rPr>
                        <a:t>HRA</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a:solidFill>
                            <a:srgbClr val="000000"/>
                          </a:solidFill>
                          <a:effectLst/>
                          <a:latin typeface="Cambria" panose="02040503050406030204" pitchFamily="18" charset="0"/>
                        </a:rPr>
                        <a:t>13,000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r>
                        <a:rPr lang="en-IN" sz="1600" b="0" i="0" u="none" strike="noStrike" dirty="0">
                          <a:solidFill>
                            <a:srgbClr val="000000"/>
                          </a:solidFill>
                          <a:effectLst/>
                          <a:latin typeface="Cambria" panose="02040503050406030204" pitchFamily="18" charset="0"/>
                        </a:rPr>
                        <a:t>Professional Tax</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600" b="0" i="0" u="none" strike="noStrike">
                          <a:solidFill>
                            <a:srgbClr val="000000"/>
                          </a:solidFill>
                          <a:effectLst/>
                          <a:latin typeface="Cambria" panose="02040503050406030204" pitchFamily="18" charset="0"/>
                        </a:rPr>
                        <a:t>200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extLst>
                  <a:ext uri="{0D108BD9-81ED-4DB2-BD59-A6C34878D82A}">
                    <a16:rowId xmlns:a16="http://schemas.microsoft.com/office/drawing/2014/main" val="1655339337"/>
                  </a:ext>
                </a:extLst>
              </a:tr>
              <a:tr h="325745">
                <a:tc>
                  <a:txBody>
                    <a:bodyPr/>
                    <a:lstStyle/>
                    <a:p>
                      <a:pPr algn="l" fontAlgn="b"/>
                      <a:r>
                        <a:rPr lang="en-IN" sz="1800" b="0" i="0" u="none" strike="noStrike" dirty="0">
                          <a:solidFill>
                            <a:srgbClr val="000000"/>
                          </a:solidFill>
                          <a:effectLst/>
                          <a:latin typeface="Cambria" panose="02040503050406030204" pitchFamily="18" charset="0"/>
                        </a:rPr>
                        <a:t>CONVEYANCE</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dirty="0">
                          <a:solidFill>
                            <a:srgbClr val="000000"/>
                          </a:solidFill>
                          <a:effectLst/>
                          <a:latin typeface="Cambria" panose="02040503050406030204" pitchFamily="18" charset="0"/>
                        </a:rPr>
                        <a:t>2,000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IN" sz="1600" b="0" i="0" u="none" strike="noStrike">
                        <a:solidFill>
                          <a:srgbClr val="000000"/>
                        </a:solidFill>
                        <a:effectLst/>
                        <a:latin typeface="Calibri" panose="020F0502020204030204" pitchFamily="34" charset="0"/>
                      </a:endParaRPr>
                    </a:p>
                  </a:txBody>
                  <a:tcPr marL="9312" marR="9312" marT="9312" marB="0" anchor="b">
                    <a:lnL w="6350" cap="flat" cmpd="sng" algn="ctr">
                      <a:solidFill>
                        <a:srgbClr val="000000"/>
                      </a:solidFill>
                      <a:prstDash val="solid"/>
                      <a:round/>
                      <a:headEnd type="none" w="med" len="med"/>
                      <a:tailEnd type="none" w="med" len="med"/>
                    </a:lnL>
                    <a:lnR>
                      <a:noFill/>
                    </a:lnR>
                    <a:lnT w="6350" cap="flat" cmpd="sng" algn="ctr">
                      <a:solidFill>
                        <a:srgbClr val="000000"/>
                      </a:solidFill>
                      <a:prstDash val="solid"/>
                      <a:round/>
                      <a:headEnd type="none" w="med" len="med"/>
                      <a:tailEnd type="none" w="med" len="med"/>
                    </a:lnT>
                    <a:lnB>
                      <a:noFill/>
                    </a:lnB>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a:noFill/>
                    </a:lnL>
                    <a:lnR>
                      <a:noFill/>
                    </a:lnR>
                    <a:lnT w="6350" cap="flat" cmpd="sng" algn="ctr">
                      <a:solidFill>
                        <a:srgbClr val="000000"/>
                      </a:solidFill>
                      <a:prstDash val="solid"/>
                      <a:round/>
                      <a:headEnd type="none" w="med" len="med"/>
                      <a:tailEnd type="none" w="med" len="med"/>
                    </a:lnT>
                    <a:lnB>
                      <a:noFill/>
                    </a:lnB>
                  </a:tcPr>
                </a:tc>
                <a:extLst>
                  <a:ext uri="{0D108BD9-81ED-4DB2-BD59-A6C34878D82A}">
                    <a16:rowId xmlns:a16="http://schemas.microsoft.com/office/drawing/2014/main" val="914575599"/>
                  </a:ext>
                </a:extLst>
              </a:tr>
              <a:tr h="325745">
                <a:tc>
                  <a:txBody>
                    <a:bodyPr/>
                    <a:lstStyle/>
                    <a:p>
                      <a:pPr algn="l" fontAlgn="b"/>
                      <a:r>
                        <a:rPr lang="en-IN" sz="1800" b="0" i="0" u="none" strike="noStrike" dirty="0">
                          <a:solidFill>
                            <a:srgbClr val="000000"/>
                          </a:solidFill>
                          <a:effectLst/>
                          <a:latin typeface="Cambria" panose="02040503050406030204" pitchFamily="18" charset="0"/>
                        </a:rPr>
                        <a:t>SPECIAL ALLOWANCE</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a:solidFill>
                            <a:srgbClr val="000000"/>
                          </a:solidFill>
                          <a:effectLst/>
                          <a:latin typeface="Cambria" panose="02040503050406030204" pitchFamily="18" charset="0"/>
                        </a:rPr>
                        <a:t>3,000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IN" sz="1600" b="0" i="0" u="none" strike="noStrike">
                        <a:solidFill>
                          <a:srgbClr val="000000"/>
                        </a:solidFill>
                        <a:effectLst/>
                        <a:latin typeface="Calibri" panose="020F0502020204030204" pitchFamily="34"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312" marR="9312" marT="9312" marB="0" anchor="b">
                    <a:lnL>
                      <a:noFill/>
                    </a:lnL>
                    <a:lnR>
                      <a:noFill/>
                    </a:lnR>
                    <a:lnT>
                      <a:noFill/>
                    </a:lnT>
                    <a:lnB>
                      <a:noFill/>
                    </a:lnB>
                  </a:tcPr>
                </a:tc>
                <a:extLst>
                  <a:ext uri="{0D108BD9-81ED-4DB2-BD59-A6C34878D82A}">
                    <a16:rowId xmlns:a16="http://schemas.microsoft.com/office/drawing/2014/main" val="2935617832"/>
                  </a:ext>
                </a:extLst>
              </a:tr>
              <a:tr h="325745">
                <a:tc>
                  <a:txBody>
                    <a:bodyPr/>
                    <a:lstStyle/>
                    <a:p>
                      <a:pPr algn="l" fontAlgn="b"/>
                      <a:r>
                        <a:rPr lang="en-IN" sz="1800" b="0" i="0" u="none" strike="noStrike" dirty="0">
                          <a:solidFill>
                            <a:srgbClr val="000000"/>
                          </a:solidFill>
                          <a:effectLst/>
                          <a:latin typeface="Cambria" panose="02040503050406030204" pitchFamily="18" charset="0"/>
                        </a:rPr>
                        <a:t>MEDICAL ALLOWANCE</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dirty="0">
                          <a:solidFill>
                            <a:srgbClr val="000000"/>
                          </a:solidFill>
                          <a:effectLst/>
                          <a:latin typeface="Cambria" panose="02040503050406030204" pitchFamily="18" charset="0"/>
                        </a:rPr>
                        <a:t>1,250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a:noFill/>
                    </a:lnL>
                    <a:lnR>
                      <a:noFill/>
                    </a:lnR>
                    <a:lnT>
                      <a:noFill/>
                    </a:lnT>
                    <a:lnB>
                      <a:noFill/>
                    </a:lnB>
                  </a:tcPr>
                </a:tc>
                <a:extLst>
                  <a:ext uri="{0D108BD9-81ED-4DB2-BD59-A6C34878D82A}">
                    <a16:rowId xmlns:a16="http://schemas.microsoft.com/office/drawing/2014/main" val="3631458018"/>
                  </a:ext>
                </a:extLst>
              </a:tr>
              <a:tr h="325745">
                <a:tc>
                  <a:txBody>
                    <a:bodyPr/>
                    <a:lstStyle/>
                    <a:p>
                      <a:pPr algn="l" fontAlgn="b"/>
                      <a:r>
                        <a:rPr lang="en-IN" sz="1800" b="0" i="0" u="none" strike="noStrike" dirty="0">
                          <a:solidFill>
                            <a:srgbClr val="000000"/>
                          </a:solidFill>
                          <a:effectLst/>
                          <a:latin typeface="Cambria" panose="02040503050406030204" pitchFamily="18" charset="0"/>
                        </a:rPr>
                        <a:t>LTA</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r" fontAlgn="b"/>
                      <a:r>
                        <a:rPr lang="en-IN" sz="1800" b="0" i="0" u="none" strike="noStrike" dirty="0">
                          <a:solidFill>
                            <a:srgbClr val="000000"/>
                          </a:solidFill>
                          <a:effectLst/>
                          <a:latin typeface="Cambria" panose="02040503050406030204" pitchFamily="18" charset="0"/>
                        </a:rPr>
                        <a:t>5,000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2F2F2"/>
                    </a:solidFill>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a:solidFill>
                          <a:srgbClr val="000000"/>
                        </a:solidFill>
                        <a:effectLst/>
                        <a:latin typeface="Calibri" panose="020F0502020204030204" pitchFamily="34" charset="0"/>
                      </a:endParaRPr>
                    </a:p>
                  </a:txBody>
                  <a:tcPr marL="9312" marR="9312" marT="9312" marB="0" anchor="b">
                    <a:lnL>
                      <a:noFill/>
                    </a:lnL>
                    <a:lnR>
                      <a:noFill/>
                    </a:lnR>
                    <a:lnT>
                      <a:noFill/>
                    </a:lnT>
                    <a:lnB>
                      <a:noFill/>
                    </a:lnB>
                  </a:tcPr>
                </a:tc>
                <a:extLst>
                  <a:ext uri="{0D108BD9-81ED-4DB2-BD59-A6C34878D82A}">
                    <a16:rowId xmlns:a16="http://schemas.microsoft.com/office/drawing/2014/main" val="1642181118"/>
                  </a:ext>
                </a:extLst>
              </a:tr>
              <a:tr h="355210">
                <a:tc>
                  <a:txBody>
                    <a:bodyPr/>
                    <a:lstStyle/>
                    <a:p>
                      <a:pPr algn="l" fontAlgn="b"/>
                      <a:r>
                        <a:rPr lang="en-IN" sz="1800" b="1" i="0" u="none" strike="noStrike" dirty="0">
                          <a:solidFill>
                            <a:srgbClr val="000000"/>
                          </a:solidFill>
                          <a:effectLst/>
                          <a:latin typeface="Cambria" panose="02040503050406030204" pitchFamily="18" charset="0"/>
                        </a:rPr>
                        <a:t>Total Earnings</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D3EBF3"/>
                    </a:solidFill>
                  </a:tcPr>
                </a:tc>
                <a:tc>
                  <a:txBody>
                    <a:bodyPr/>
                    <a:lstStyle/>
                    <a:p>
                      <a:pPr algn="r" fontAlgn="b"/>
                      <a:r>
                        <a:rPr lang="en-IN" sz="1800" b="1" i="0" u="none" strike="noStrike">
                          <a:solidFill>
                            <a:srgbClr val="000000"/>
                          </a:solidFill>
                          <a:effectLst/>
                          <a:latin typeface="Cambria" panose="02040503050406030204" pitchFamily="18" charset="0"/>
                        </a:rPr>
                        <a:t>54,250</a:t>
                      </a:r>
                    </a:p>
                  </a:txBody>
                  <a:tcPr marL="9312" marR="9312" marT="46559" marB="46559"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25400" cap="flat" cmpd="dbl" algn="ctr">
                      <a:solidFill>
                        <a:srgbClr val="000000"/>
                      </a:solidFill>
                      <a:prstDash val="solid"/>
                      <a:round/>
                      <a:headEnd type="none" w="med" len="med"/>
                      <a:tailEnd type="none" w="med" len="med"/>
                    </a:lnB>
                    <a:solidFill>
                      <a:srgbClr val="D3EBF3"/>
                    </a:solidFill>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dirty="0">
                        <a:solidFill>
                          <a:srgbClr val="000000"/>
                        </a:solidFill>
                        <a:effectLst/>
                        <a:latin typeface="Calibri" panose="020F0502020204030204" pitchFamily="34" charset="0"/>
                      </a:endParaRPr>
                    </a:p>
                  </a:txBody>
                  <a:tcPr marL="9312" marR="9312" marT="9312" marB="0" anchor="b">
                    <a:lnL>
                      <a:noFill/>
                    </a:lnL>
                    <a:lnR>
                      <a:noFill/>
                    </a:lnR>
                    <a:lnT>
                      <a:noFill/>
                    </a:lnT>
                    <a:lnB>
                      <a:noFill/>
                    </a:lnB>
                  </a:tcPr>
                </a:tc>
                <a:extLst>
                  <a:ext uri="{0D108BD9-81ED-4DB2-BD59-A6C34878D82A}">
                    <a16:rowId xmlns:a16="http://schemas.microsoft.com/office/drawing/2014/main" val="589604724"/>
                  </a:ext>
                </a:extLst>
              </a:tr>
              <a:tr h="244727">
                <a:tc>
                  <a:txBody>
                    <a:bodyPr/>
                    <a:lstStyle/>
                    <a:p>
                      <a:pPr algn="l" fontAlgn="b"/>
                      <a:r>
                        <a:rPr lang="en-IN" sz="2000" b="0" i="0" u="none" strike="noStrike" dirty="0">
                          <a:solidFill>
                            <a:srgbClr val="000000"/>
                          </a:solidFill>
                          <a:effectLst/>
                          <a:latin typeface="Cambria" panose="02040503050406030204" pitchFamily="18" charset="0"/>
                        </a:rPr>
                        <a:t>Basic Salary (no commission &amp; DA)</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30,000*12 =3,60,000/-</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25400" cap="flat" cmpd="dbl"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a:solidFill>
                          <a:srgbClr val="000000"/>
                        </a:solidFill>
                        <a:effectLst/>
                        <a:latin typeface="Cambria" panose="02040503050406030204" pitchFamily="18" charset="0"/>
                      </a:endParaRPr>
                    </a:p>
                  </a:txBody>
                  <a:tcPr marL="9312" marR="9312" marT="9312" marB="0" anchor="b">
                    <a:lnL>
                      <a:noFill/>
                    </a:lnL>
                    <a:lnR>
                      <a:noFill/>
                    </a:lnR>
                    <a:lnT>
                      <a:noFill/>
                    </a:lnT>
                    <a:lnB>
                      <a:noFill/>
                    </a:lnB>
                  </a:tcPr>
                </a:tc>
                <a:extLst>
                  <a:ext uri="{0D108BD9-81ED-4DB2-BD59-A6C34878D82A}">
                    <a16:rowId xmlns:a16="http://schemas.microsoft.com/office/drawing/2014/main" val="3786098560"/>
                  </a:ext>
                </a:extLst>
              </a:tr>
              <a:tr h="244727">
                <a:tc>
                  <a:txBody>
                    <a:bodyPr/>
                    <a:lstStyle/>
                    <a:p>
                      <a:pPr algn="l" fontAlgn="b"/>
                      <a:r>
                        <a:rPr lang="en-IN" sz="2000" b="0" i="0" u="none" strike="noStrike" dirty="0">
                          <a:solidFill>
                            <a:srgbClr val="000000"/>
                          </a:solidFill>
                          <a:effectLst/>
                          <a:latin typeface="Cambria" panose="02040503050406030204" pitchFamily="18" charset="0"/>
                        </a:rPr>
                        <a:t>10% of Basic Salary</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3,60,000*10% =36,000/-</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tc>
                  <a:txBody>
                    <a:bodyPr/>
                    <a:lstStyle/>
                    <a:p>
                      <a:pPr algn="l" fontAlgn="b"/>
                      <a:endParaRPr lang="en-IN" sz="1600" b="0" i="0" u="none" strike="noStrike" dirty="0">
                        <a:solidFill>
                          <a:srgbClr val="000000"/>
                        </a:solidFill>
                        <a:effectLst/>
                        <a:latin typeface="Cambria" panose="02040503050406030204" pitchFamily="18" charset="0"/>
                      </a:endParaRPr>
                    </a:p>
                  </a:txBody>
                  <a:tcPr marL="9312" marR="9312" marT="9312" marB="0" anchor="b">
                    <a:lnL>
                      <a:noFill/>
                    </a:lnL>
                    <a:lnR>
                      <a:noFill/>
                    </a:lnR>
                    <a:lnT>
                      <a:noFill/>
                    </a:lnT>
                    <a:lnB>
                      <a:noFill/>
                    </a:lnB>
                  </a:tcPr>
                </a:tc>
                <a:extLst>
                  <a:ext uri="{0D108BD9-81ED-4DB2-BD59-A6C34878D82A}">
                    <a16:rowId xmlns:a16="http://schemas.microsoft.com/office/drawing/2014/main" val="3188104722"/>
                  </a:ext>
                </a:extLst>
              </a:tr>
              <a:tr h="244727">
                <a:tc>
                  <a:txBody>
                    <a:bodyPr/>
                    <a:lstStyle/>
                    <a:p>
                      <a:pPr algn="l" fontAlgn="b"/>
                      <a:r>
                        <a:rPr lang="en-IN" sz="2000" b="0" i="0" u="none" strike="noStrike" dirty="0">
                          <a:solidFill>
                            <a:srgbClr val="FF0000"/>
                          </a:solidFill>
                          <a:effectLst/>
                          <a:latin typeface="Cambria" panose="02040503050406030204" pitchFamily="18" charset="0"/>
                        </a:rPr>
                        <a:t>Rent Paid per month</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10,000/-</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20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mbria" panose="02040503050406030204" pitchFamily="18" charset="0"/>
                      </a:endParaRPr>
                    </a:p>
                  </a:txBody>
                  <a:tcPr marL="9312" marR="9312" marT="9312" marB="0" anchor="b">
                    <a:lnL>
                      <a:noFill/>
                    </a:lnL>
                    <a:lnR>
                      <a:noFill/>
                    </a:lnR>
                    <a:lnT>
                      <a:noFill/>
                    </a:lnT>
                    <a:lnB>
                      <a:noFill/>
                    </a:lnB>
                  </a:tcPr>
                </a:tc>
                <a:extLst>
                  <a:ext uri="{0D108BD9-81ED-4DB2-BD59-A6C34878D82A}">
                    <a16:rowId xmlns:a16="http://schemas.microsoft.com/office/drawing/2014/main" val="698833479"/>
                  </a:ext>
                </a:extLst>
              </a:tr>
              <a:tr h="244727">
                <a:tc>
                  <a:txBody>
                    <a:bodyPr/>
                    <a:lstStyle/>
                    <a:p>
                      <a:pPr algn="l" fontAlgn="b"/>
                      <a:r>
                        <a:rPr lang="en-IN" sz="2000" b="1" i="0" u="none" strike="noStrike" dirty="0">
                          <a:solidFill>
                            <a:srgbClr val="FFFFFF"/>
                          </a:solidFill>
                          <a:effectLst/>
                          <a:latin typeface="Cambria" panose="02040503050406030204" pitchFamily="18" charset="0"/>
                        </a:rPr>
                        <a:t>Particulars</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4162"/>
                    </a:solidFill>
                  </a:tcPr>
                </a:tc>
                <a:tc>
                  <a:txBody>
                    <a:bodyPr/>
                    <a:lstStyle/>
                    <a:p>
                      <a:pPr algn="l" fontAlgn="b"/>
                      <a:r>
                        <a:rPr lang="en-IN" sz="2000" b="1" i="0" u="none" strike="noStrike" dirty="0">
                          <a:solidFill>
                            <a:srgbClr val="FFFFFF"/>
                          </a:solidFill>
                          <a:effectLst/>
                          <a:latin typeface="Cambria" panose="02040503050406030204" pitchFamily="18" charset="0"/>
                        </a:rPr>
                        <a:t>Calculation</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4162"/>
                    </a:solidFill>
                  </a:tcPr>
                </a:tc>
                <a:tc>
                  <a:txBody>
                    <a:bodyPr/>
                    <a:lstStyle/>
                    <a:p>
                      <a:pPr algn="l" fontAlgn="b"/>
                      <a:r>
                        <a:rPr lang="en-IN" sz="2000" b="1" i="0" u="none" strike="noStrike">
                          <a:solidFill>
                            <a:srgbClr val="FFFFFF"/>
                          </a:solidFill>
                          <a:effectLst/>
                          <a:latin typeface="Cambria" panose="02040503050406030204" pitchFamily="18" charset="0"/>
                        </a:rPr>
                        <a:t>Amount(INR)</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134162"/>
                    </a:solidFill>
                  </a:tcPr>
                </a:tc>
                <a:tc>
                  <a:txBody>
                    <a:bodyPr/>
                    <a:lstStyle/>
                    <a:p>
                      <a:pPr algn="l" fontAlgn="b"/>
                      <a:endParaRPr lang="en-IN" sz="16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2156780744"/>
                  </a:ext>
                </a:extLst>
              </a:tr>
              <a:tr h="244727">
                <a:tc>
                  <a:txBody>
                    <a:bodyPr/>
                    <a:lstStyle/>
                    <a:p>
                      <a:pPr algn="l" fontAlgn="b"/>
                      <a:r>
                        <a:rPr lang="en-IN" sz="2000" b="0" i="0" u="none" strike="noStrike" dirty="0">
                          <a:solidFill>
                            <a:srgbClr val="000000"/>
                          </a:solidFill>
                          <a:effectLst/>
                          <a:latin typeface="Cambria" panose="02040503050406030204" pitchFamily="18" charset="0"/>
                        </a:rPr>
                        <a:t>a)Actual HRA Received</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13,000*12</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               1,56,000/- </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4144572318"/>
                  </a:ext>
                </a:extLst>
              </a:tr>
              <a:tr h="244727">
                <a:tc>
                  <a:txBody>
                    <a:bodyPr/>
                    <a:lstStyle/>
                    <a:p>
                      <a:pPr algn="l" fontAlgn="b"/>
                      <a:r>
                        <a:rPr lang="en-IN" sz="2000" b="0" i="0" u="none" strike="noStrike" dirty="0">
                          <a:solidFill>
                            <a:srgbClr val="000000"/>
                          </a:solidFill>
                          <a:effectLst/>
                          <a:latin typeface="Cambria" panose="02040503050406030204" pitchFamily="18" charset="0"/>
                        </a:rPr>
                        <a:t>b) 50% of Basic Salary (Mumbai region)</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3,60,000*50%</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               1,80,000 /-</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3405481228"/>
                  </a:ext>
                </a:extLst>
              </a:tr>
              <a:tr h="244727">
                <a:tc>
                  <a:txBody>
                    <a:bodyPr/>
                    <a:lstStyle/>
                    <a:p>
                      <a:pPr algn="l" fontAlgn="b"/>
                      <a:r>
                        <a:rPr lang="en-US" sz="2000" b="0" i="0" u="none" strike="noStrike" dirty="0">
                          <a:solidFill>
                            <a:srgbClr val="000000"/>
                          </a:solidFill>
                          <a:effectLst/>
                          <a:latin typeface="Cambria" panose="02040503050406030204" pitchFamily="18" charset="0"/>
                        </a:rPr>
                        <a:t>c)Rent paid (-)10% of basic salary</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a:solidFill>
                            <a:srgbClr val="000000"/>
                          </a:solidFill>
                          <a:effectLst/>
                          <a:latin typeface="Cambria" panose="02040503050406030204" pitchFamily="18" charset="0"/>
                        </a:rPr>
                        <a:t>(10,000*12)-36,000/-</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r>
                        <a:rPr lang="en-IN" sz="2000" b="0" i="0" u="none" strike="noStrike" dirty="0">
                          <a:solidFill>
                            <a:srgbClr val="000000"/>
                          </a:solidFill>
                          <a:effectLst/>
                          <a:latin typeface="Cambria" panose="02040503050406030204" pitchFamily="18" charset="0"/>
                        </a:rPr>
                        <a:t>                   </a:t>
                      </a:r>
                      <a:r>
                        <a:rPr lang="en-IN" sz="2000" b="1" i="0" u="none" strike="noStrike" dirty="0">
                          <a:solidFill>
                            <a:srgbClr val="FF0000"/>
                          </a:solidFill>
                          <a:effectLst/>
                          <a:latin typeface="Cambria" panose="02040503050406030204" pitchFamily="18" charset="0"/>
                        </a:rPr>
                        <a:t>84,000/- </a:t>
                      </a:r>
                    </a:p>
                  </a:txBody>
                  <a:tcPr marL="9312" marR="9312" marT="9312"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l" fontAlgn="b"/>
                      <a:endParaRPr lang="en-IN" sz="1600" b="0" i="0" u="none" strike="noStrike" dirty="0">
                        <a:solidFill>
                          <a:srgbClr val="000000"/>
                        </a:solidFill>
                        <a:effectLst/>
                        <a:latin typeface="Cambria" panose="02040503050406030204" pitchFamily="18" charset="0"/>
                      </a:endParaRPr>
                    </a:p>
                  </a:txBody>
                  <a:tcPr marL="9312" marR="9312" marT="9312" marB="0" anchor="b">
                    <a:lnL w="6350" cap="flat" cmpd="sng" algn="ctr">
                      <a:solidFill>
                        <a:srgbClr val="000000"/>
                      </a:solidFill>
                      <a:prstDash val="solid"/>
                      <a:round/>
                      <a:headEnd type="none" w="med" len="med"/>
                      <a:tailEnd type="none" w="med" len="med"/>
                    </a:lnL>
                    <a:lnR>
                      <a:noFill/>
                    </a:lnR>
                    <a:lnT>
                      <a:noFill/>
                    </a:lnT>
                    <a:lnB>
                      <a:noFill/>
                    </a:lnB>
                  </a:tcPr>
                </a:tc>
                <a:extLst>
                  <a:ext uri="{0D108BD9-81ED-4DB2-BD59-A6C34878D82A}">
                    <a16:rowId xmlns:a16="http://schemas.microsoft.com/office/drawing/2014/main" val="1342550775"/>
                  </a:ext>
                </a:extLst>
              </a:tr>
            </a:tbl>
          </a:graphicData>
        </a:graphic>
      </p:graphicFrame>
      <p:pic>
        <p:nvPicPr>
          <p:cNvPr id="8" name="Picture 6" descr="Image result for income from house property">
            <a:extLst>
              <a:ext uri="{FF2B5EF4-FFF2-40B4-BE49-F238E27FC236}">
                <a16:creationId xmlns:a16="http://schemas.microsoft.com/office/drawing/2014/main" id="{2F610F36-E179-4DDD-7DE4-04C35068E564}"/>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9414"/>
          <a:stretch/>
        </p:blipFill>
        <p:spPr bwMode="auto">
          <a:xfrm>
            <a:off x="10415308" y="5909858"/>
            <a:ext cx="1771370" cy="8985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04352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New Regime (Default from FY 2025-26):</a:t>
            </a:r>
            <a:br>
              <a:rPr lang="en-US" dirty="0"/>
            </a:br>
            <a:endParaRPr lang="en-IN" dirty="0"/>
          </a:p>
        </p:txBody>
      </p:sp>
      <p:sp>
        <p:nvSpPr>
          <p:cNvPr id="3" name="Content Placeholder 2"/>
          <p:cNvSpPr>
            <a:spLocks noGrp="1"/>
          </p:cNvSpPr>
          <p:nvPr>
            <p:ph idx="1"/>
          </p:nvPr>
        </p:nvSpPr>
        <p:spPr>
          <a:xfrm>
            <a:off x="1103312" y="2052918"/>
            <a:ext cx="10639509" cy="4195481"/>
          </a:xfrm>
        </p:spPr>
        <p:txBody>
          <a:bodyPr/>
          <a:lstStyle/>
          <a:p>
            <a:pPr>
              <a:lnSpc>
                <a:spcPct val="150000"/>
              </a:lnSpc>
            </a:pPr>
            <a:r>
              <a:rPr lang="en-US" sz="2400" dirty="0"/>
              <a:t>Greatly reduced number of exemptions; most Section 10 exemptions (like HRA, LTA, 80C, etc.) are not allowed.</a:t>
            </a:r>
          </a:p>
          <a:p>
            <a:pPr>
              <a:lnSpc>
                <a:spcPct val="150000"/>
              </a:lnSpc>
            </a:pPr>
            <a:r>
              <a:rPr lang="en-US" sz="2400" dirty="0"/>
              <a:t>Standard deduction (₹75,000) for salaried and pensioners, and employer NPS contributions are still available.</a:t>
            </a:r>
          </a:p>
          <a:p>
            <a:pPr>
              <a:lnSpc>
                <a:spcPct val="150000"/>
              </a:lnSpc>
            </a:pPr>
            <a:r>
              <a:rPr lang="en-US" sz="2400" dirty="0"/>
              <a:t>Very high basic exemption and rebate (no tax up to ₹12 lakh taxable income after standard deduction for salaried individuals)</a:t>
            </a:r>
          </a:p>
          <a:p>
            <a:endParaRPr lang="en-IN" dirty="0"/>
          </a:p>
        </p:txBody>
      </p:sp>
      <p:sp>
        <p:nvSpPr>
          <p:cNvPr id="4" name="Slide Number Placeholder 3"/>
          <p:cNvSpPr>
            <a:spLocks noGrp="1"/>
          </p:cNvSpPr>
          <p:nvPr>
            <p:ph type="sldNum" sz="quarter" idx="12"/>
          </p:nvPr>
        </p:nvSpPr>
        <p:spPr/>
        <p:txBody>
          <a:bodyPr/>
          <a:lstStyle/>
          <a:p>
            <a:fld id="{94013DF8-6EF8-4A98-8821-E6468C17C0C3}" type="slidenum">
              <a:rPr lang="en-IN" smtClean="0"/>
              <a:t>71</a:t>
            </a:fld>
            <a:endParaRPr lang="en-IN"/>
          </a:p>
        </p:txBody>
      </p:sp>
    </p:spTree>
    <p:extLst>
      <p:ext uri="{BB962C8B-B14F-4D97-AF65-F5344CB8AC3E}">
        <p14:creationId xmlns:p14="http://schemas.microsoft.com/office/powerpoint/2010/main" val="3406416276"/>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Section 80 Deductions</a:t>
            </a:r>
            <a:br>
              <a:rPr lang="en-IN" dirty="0"/>
            </a:br>
            <a:endParaRPr lang="en-IN" dirty="0"/>
          </a:p>
        </p:txBody>
      </p:sp>
      <p:sp>
        <p:nvSpPr>
          <p:cNvPr id="3" name="Content Placeholder 2"/>
          <p:cNvSpPr>
            <a:spLocks noGrp="1"/>
          </p:cNvSpPr>
          <p:nvPr>
            <p:ph idx="1"/>
          </p:nvPr>
        </p:nvSpPr>
        <p:spPr>
          <a:xfrm>
            <a:off x="312821" y="1403213"/>
            <a:ext cx="11682663" cy="5129934"/>
          </a:xfrm>
        </p:spPr>
        <p:txBody>
          <a:bodyPr>
            <a:normAutofit fontScale="92500" lnSpcReduction="20000"/>
          </a:bodyPr>
          <a:lstStyle/>
          <a:p>
            <a:pPr>
              <a:lnSpc>
                <a:spcPct val="150000"/>
              </a:lnSpc>
            </a:pPr>
            <a:r>
              <a:rPr lang="en-US" sz="2800" dirty="0"/>
              <a:t>Applies to a BROAD range of taxpayers—salaried, business owners, professionals, HUFs, and more. Where as section 16 applies ONLY to “Income from Salary” (i.e., applicable to salaried individuals and pensioners).</a:t>
            </a:r>
          </a:p>
          <a:p>
            <a:pPr>
              <a:lnSpc>
                <a:spcPct val="150000"/>
              </a:lnSpc>
            </a:pPr>
            <a:r>
              <a:rPr lang="en-US" sz="2800" dirty="0"/>
              <a:t>Types of Deductions: Cover various investments, payments, and spending, including:</a:t>
            </a:r>
          </a:p>
          <a:p>
            <a:pPr lvl="1">
              <a:lnSpc>
                <a:spcPct val="150000"/>
              </a:lnSpc>
            </a:pPr>
            <a:r>
              <a:rPr lang="en-US" sz="2200" dirty="0"/>
              <a:t>Section 80C: Investments in PPF, NSC, LIC, tuition fees, ELSS, home loan principal repayment, etc. (up to ₹1.5 lakh).</a:t>
            </a:r>
          </a:p>
          <a:p>
            <a:pPr lvl="1">
              <a:lnSpc>
                <a:spcPct val="150000"/>
              </a:lnSpc>
            </a:pPr>
            <a:r>
              <a:rPr lang="en-US" sz="2200" dirty="0"/>
              <a:t>Section 80D: Health insurance premium for self and family.</a:t>
            </a:r>
          </a:p>
          <a:p>
            <a:pPr lvl="1">
              <a:lnSpc>
                <a:spcPct val="150000"/>
              </a:lnSpc>
            </a:pPr>
            <a:r>
              <a:rPr lang="en-US" sz="2200" dirty="0"/>
              <a:t>Section 80E/80G/80GG: Interest on education loans, donations to charity, rent paid, disability-related expenses, and many others.</a:t>
            </a:r>
          </a:p>
        </p:txBody>
      </p:sp>
      <p:sp>
        <p:nvSpPr>
          <p:cNvPr id="4" name="Slide Number Placeholder 3"/>
          <p:cNvSpPr>
            <a:spLocks noGrp="1"/>
          </p:cNvSpPr>
          <p:nvPr>
            <p:ph type="sldNum" sz="quarter" idx="12"/>
          </p:nvPr>
        </p:nvSpPr>
        <p:spPr/>
        <p:txBody>
          <a:bodyPr/>
          <a:lstStyle/>
          <a:p>
            <a:fld id="{94013DF8-6EF8-4A98-8821-E6468C17C0C3}" type="slidenum">
              <a:rPr lang="en-IN" smtClean="0"/>
              <a:t>72</a:t>
            </a:fld>
            <a:endParaRPr lang="en-IN"/>
          </a:p>
        </p:txBody>
      </p:sp>
    </p:spTree>
    <p:extLst>
      <p:ext uri="{BB962C8B-B14F-4D97-AF65-F5344CB8AC3E}">
        <p14:creationId xmlns:p14="http://schemas.microsoft.com/office/powerpoint/2010/main" val="47496780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1103312" y="1763714"/>
            <a:ext cx="10488324" cy="4484686"/>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t>Standard deduction (</a:t>
            </a:r>
            <a:r>
              <a:rPr lang="en-US" sz="2400" dirty="0">
                <a:solidFill>
                  <a:srgbClr val="FF0000"/>
                </a:solidFill>
              </a:rPr>
              <a:t>Old Regime </a:t>
            </a:r>
            <a:r>
              <a:rPr lang="en-US" sz="2400" dirty="0"/>
              <a:t>- </a:t>
            </a:r>
            <a:r>
              <a:rPr lang="en-US" sz="2400" dirty="0" err="1"/>
              <a:t>Rs</a:t>
            </a:r>
            <a:r>
              <a:rPr lang="en-US" sz="2400" dirty="0"/>
              <a:t> 50,000 &amp; </a:t>
            </a:r>
            <a:r>
              <a:rPr lang="en-US" sz="2400" dirty="0">
                <a:solidFill>
                  <a:srgbClr val="FF0000"/>
                </a:solidFill>
              </a:rPr>
              <a:t>New Regime </a:t>
            </a:r>
            <a:r>
              <a:rPr lang="en-US" sz="2400" dirty="0"/>
              <a:t>- </a:t>
            </a:r>
            <a:r>
              <a:rPr lang="en-US" sz="2400" dirty="0" err="1"/>
              <a:t>Rs</a:t>
            </a:r>
            <a:r>
              <a:rPr lang="en-US" sz="2400" dirty="0"/>
              <a:t> 75,000)</a:t>
            </a:r>
          </a:p>
          <a:p>
            <a:pPr algn="just"/>
            <a:r>
              <a:rPr lang="en-US" sz="2400" dirty="0"/>
              <a:t>Income Tax Deduction under </a:t>
            </a:r>
            <a:r>
              <a:rPr lang="en-US" sz="2400" dirty="0">
                <a:solidFill>
                  <a:srgbClr val="FF0000"/>
                </a:solidFill>
              </a:rPr>
              <a:t>Section 80C </a:t>
            </a:r>
            <a:r>
              <a:rPr lang="en-US" sz="2400" dirty="0" err="1">
                <a:solidFill>
                  <a:srgbClr val="0070C0"/>
                </a:solidFill>
              </a:rPr>
              <a:t>upto</a:t>
            </a:r>
            <a:r>
              <a:rPr lang="en-US" sz="2400" dirty="0">
                <a:solidFill>
                  <a:srgbClr val="0070C0"/>
                </a:solidFill>
              </a:rPr>
              <a:t> </a:t>
            </a:r>
            <a:r>
              <a:rPr lang="en-US" sz="2400" dirty="0" err="1">
                <a:solidFill>
                  <a:srgbClr val="0070C0"/>
                </a:solidFill>
              </a:rPr>
              <a:t>Rs</a:t>
            </a:r>
            <a:r>
              <a:rPr lang="en-US" sz="2400" dirty="0">
                <a:solidFill>
                  <a:srgbClr val="0070C0"/>
                </a:solidFill>
              </a:rPr>
              <a:t>. 1.5 Lakhs </a:t>
            </a:r>
            <a:r>
              <a:rPr lang="en-US" sz="2400" dirty="0"/>
              <a:t>(includes Life insurance, Public Provident Fund, Employee Provident Fund, Equity Linked Savings Scheme, Tuition fees, Home loan repayment (Principal amount), National Savings Certificate, National Pension Schemes, Sukanya Samriddhi Yojana, Tax saving bank deposits and post office deposits, Post Office Senior Citizens Savings Scheme)</a:t>
            </a:r>
          </a:p>
          <a:p>
            <a:pPr marL="252000" indent="-252000" algn="just">
              <a:lnSpc>
                <a:spcPct val="130000"/>
              </a:lnSpc>
              <a:buFont typeface="Wingdings" panose="05000000000000000000" pitchFamily="2" charset="2"/>
              <a:buChar char="§"/>
            </a:pPr>
            <a:endParaRPr lang="en-IN" sz="22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73</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218329316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644525" y="1763714"/>
            <a:ext cx="11113365" cy="4484686"/>
          </a:xfrm>
        </p:spPr>
        <p:txBody>
          <a:bodyPr>
            <a:normAutofit lnSpcReduction="10000"/>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b="1" i="1" dirty="0">
                <a:solidFill>
                  <a:srgbClr val="7030A0"/>
                </a:solidFill>
              </a:rPr>
              <a:t>Subsections of Section 80C</a:t>
            </a:r>
          </a:p>
          <a:p>
            <a:pPr algn="just"/>
            <a:r>
              <a:rPr lang="en-US" sz="2400" dirty="0">
                <a:solidFill>
                  <a:srgbClr val="FF0000"/>
                </a:solidFill>
              </a:rPr>
              <a:t>Section 80CCC </a:t>
            </a:r>
            <a:r>
              <a:rPr lang="en-US" sz="2400" dirty="0"/>
              <a:t>- Tax deduction to investments made in annuity plans of </a:t>
            </a:r>
            <a:r>
              <a:rPr lang="en-US" sz="2400" dirty="0">
                <a:solidFill>
                  <a:srgbClr val="FF0000"/>
                </a:solidFill>
              </a:rPr>
              <a:t>life insurance companies</a:t>
            </a:r>
            <a:r>
              <a:rPr lang="en-US" sz="2400" dirty="0"/>
              <a:t>.</a:t>
            </a:r>
          </a:p>
          <a:p>
            <a:pPr algn="just"/>
            <a:r>
              <a:rPr lang="en-US" sz="2400" dirty="0">
                <a:solidFill>
                  <a:srgbClr val="FF0000"/>
                </a:solidFill>
              </a:rPr>
              <a:t>Section 80CCD </a:t>
            </a:r>
            <a:r>
              <a:rPr lang="en-US" sz="2400" dirty="0"/>
              <a:t>- Tax deduction for investments made in government-based pension schemes such as the </a:t>
            </a:r>
            <a:r>
              <a:rPr lang="en-US" sz="2400" b="1" dirty="0">
                <a:solidFill>
                  <a:srgbClr val="7030A0"/>
                </a:solidFill>
              </a:rPr>
              <a:t>National Pension Scheme</a:t>
            </a:r>
            <a:r>
              <a:rPr lang="en-US" sz="2400" dirty="0"/>
              <a:t>.</a:t>
            </a:r>
          </a:p>
          <a:p>
            <a:pPr algn="just"/>
            <a:r>
              <a:rPr lang="en-US" sz="2400" dirty="0">
                <a:solidFill>
                  <a:srgbClr val="FF0000"/>
                </a:solidFill>
              </a:rPr>
              <a:t>Section 80CCF </a:t>
            </a:r>
            <a:r>
              <a:rPr lang="en-US" sz="2400" dirty="0"/>
              <a:t>- Tax deduction for investments made in </a:t>
            </a:r>
            <a:r>
              <a:rPr lang="en-US" sz="2400" dirty="0">
                <a:solidFill>
                  <a:srgbClr val="FF0000"/>
                </a:solidFill>
              </a:rPr>
              <a:t>long-term government infrastructure bonds</a:t>
            </a:r>
            <a:r>
              <a:rPr lang="en-US" sz="2400" dirty="0"/>
              <a:t>.</a:t>
            </a:r>
          </a:p>
          <a:p>
            <a:pPr algn="just"/>
            <a:r>
              <a:rPr lang="en-US" sz="2400" dirty="0">
                <a:solidFill>
                  <a:srgbClr val="FF0000"/>
                </a:solidFill>
              </a:rPr>
              <a:t>Section 80CCG </a:t>
            </a:r>
            <a:r>
              <a:rPr lang="en-US" sz="2400" dirty="0"/>
              <a:t>- Tax deduction for the investments made in </a:t>
            </a:r>
            <a:r>
              <a:rPr lang="en-US" sz="2400" dirty="0">
                <a:solidFill>
                  <a:srgbClr val="FF0000"/>
                </a:solidFill>
              </a:rPr>
              <a:t>equity savings schemes </a:t>
            </a:r>
            <a:r>
              <a:rPr lang="en-US" sz="2400" dirty="0"/>
              <a:t>approved by the government.</a:t>
            </a:r>
          </a:p>
          <a:p>
            <a:pPr algn="just"/>
            <a:endParaRPr lang="en-IN" sz="22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74</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1285101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52582" y="1763713"/>
            <a:ext cx="11139054" cy="5006541"/>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solidFill>
                  <a:srgbClr val="FF0000"/>
                </a:solidFill>
              </a:rPr>
              <a:t>Section 80D </a:t>
            </a:r>
            <a:r>
              <a:rPr lang="en-US" sz="2400" dirty="0"/>
              <a:t>provides a tax deduction for the amount paid as </a:t>
            </a:r>
            <a:r>
              <a:rPr lang="en-US" sz="2400" dirty="0">
                <a:solidFill>
                  <a:srgbClr val="7030A0"/>
                </a:solidFill>
              </a:rPr>
              <a:t>premiums for health insurance plans</a:t>
            </a:r>
            <a:r>
              <a:rPr lang="en-US" sz="2400" dirty="0"/>
              <a:t>. It can be for the health insurance plans for self, spouse, children and dependent parents. (The allowable tax deduction is ₹25,000 for self or family and ₹50,000 if you are a senior citizen, ₹50,000 for senior citizen parents)</a:t>
            </a:r>
          </a:p>
          <a:p>
            <a:pPr algn="just"/>
            <a:endParaRPr lang="en-US" sz="2400" dirty="0"/>
          </a:p>
          <a:p>
            <a:pPr algn="just"/>
            <a:r>
              <a:rPr lang="en-US" sz="2400" dirty="0">
                <a:solidFill>
                  <a:srgbClr val="FF0000"/>
                </a:solidFill>
              </a:rPr>
              <a:t>Section 80DD </a:t>
            </a:r>
            <a:r>
              <a:rPr lang="en-US" sz="2400" dirty="0"/>
              <a:t>provides deduction to </a:t>
            </a:r>
            <a:r>
              <a:rPr lang="en-US" sz="2400" dirty="0">
                <a:solidFill>
                  <a:srgbClr val="7030A0"/>
                </a:solidFill>
              </a:rPr>
              <a:t>families of disabled persons for the purpose of caring for a disabled dependent</a:t>
            </a:r>
            <a:r>
              <a:rPr lang="en-US" sz="2400" dirty="0"/>
              <a:t>. Deductions under Section-80DD can be claimed by families of disabled dependents and not the dependents themselves. (maximum deduction limit is Rs. 75,000 for medical expenses incurred on a dependent person with a disability. It can go as high as Rs. 1,25,000 for severe disability)</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75</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3184830793"/>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52582" y="1763713"/>
            <a:ext cx="11139054" cy="5006541"/>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solidFill>
                  <a:srgbClr val="FF0000"/>
                </a:solidFill>
              </a:rPr>
              <a:t>Section 80DDB </a:t>
            </a:r>
            <a:r>
              <a:rPr lang="en-US" sz="2400" dirty="0"/>
              <a:t>provides for a deduction to Individuals for medical expenses incurred for the </a:t>
            </a:r>
            <a:r>
              <a:rPr lang="en-US" sz="2400" dirty="0">
                <a:solidFill>
                  <a:srgbClr val="7030A0"/>
                </a:solidFill>
              </a:rPr>
              <a:t>treatment of specified diseases or ailments</a:t>
            </a:r>
            <a:r>
              <a:rPr lang="en-US" sz="2400" dirty="0"/>
              <a:t>. Such expense is allowed as a deduction, subject to such conditions, and capped at such amount as specified. (The </a:t>
            </a:r>
            <a:r>
              <a:rPr lang="en-US" sz="2400" dirty="0">
                <a:solidFill>
                  <a:srgbClr val="FF0000"/>
                </a:solidFill>
              </a:rPr>
              <a:t>amount of the deduction depends on two factors </a:t>
            </a:r>
            <a:r>
              <a:rPr lang="en-US" sz="2400" dirty="0"/>
              <a:t>- the age of the patient and the actual amount of expenditure. The deduction is up to Rs. 40,000 or the actual amount paid (whichever is less) for patients under 60 years of age and Rs. 1 lakh or the actual amount (whichever is less) for patients above 60 years of age)</a:t>
            </a:r>
          </a:p>
          <a:p>
            <a:pPr algn="just"/>
            <a:r>
              <a:rPr lang="en-US" sz="2400" dirty="0">
                <a:latin typeface="Cambria" panose="02040503050406030204" pitchFamily="18" charset="0"/>
              </a:rPr>
              <a:t>List of diseases: Neurological Diseases, Malignant Cancers, Full blown Acquired </a:t>
            </a:r>
            <a:r>
              <a:rPr lang="en-US" sz="2400" dirty="0" err="1">
                <a:latin typeface="Cambria" panose="02040503050406030204" pitchFamily="18" charset="0"/>
              </a:rPr>
              <a:t>Immuno</a:t>
            </a:r>
            <a:r>
              <a:rPr lang="en-US" sz="2400" dirty="0">
                <a:latin typeface="Cambria" panose="02040503050406030204" pitchFamily="18" charset="0"/>
              </a:rPr>
              <a:t> Deficiency Syndrome, Chronic Renal Failure, Hematological Disorders.</a:t>
            </a:r>
            <a:endParaRPr lang="en-IN" sz="2400" dirty="0">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76</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2323702456"/>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52582" y="1763713"/>
            <a:ext cx="11139054" cy="5006541"/>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solidFill>
                  <a:srgbClr val="FF0000"/>
                </a:solidFill>
              </a:rPr>
              <a:t>Section 80E </a:t>
            </a:r>
            <a:r>
              <a:rPr lang="en-US" sz="2400" dirty="0"/>
              <a:t>allows you to claim a deduction for the </a:t>
            </a:r>
            <a:r>
              <a:rPr lang="en-US" sz="2400" dirty="0">
                <a:solidFill>
                  <a:srgbClr val="FF0000"/>
                </a:solidFill>
              </a:rPr>
              <a:t>education loan </a:t>
            </a:r>
            <a:r>
              <a:rPr lang="en-US" sz="2400" dirty="0"/>
              <a:t>taken from any financial institution or approved charitable institution. There is no maximum limit specified under Section 80E of the Income Tax Act for the deduction on the interest paid on education loans. The deduction is allowed for the actual interest amount paid.</a:t>
            </a:r>
          </a:p>
          <a:p>
            <a:pPr algn="just"/>
            <a:endParaRPr lang="en-US" sz="2400" dirty="0"/>
          </a:p>
          <a:p>
            <a:pPr algn="just"/>
            <a:r>
              <a:rPr lang="en-US" sz="2400" dirty="0">
                <a:solidFill>
                  <a:srgbClr val="FF0000"/>
                </a:solidFill>
              </a:rPr>
              <a:t>Section 80EE </a:t>
            </a:r>
            <a:r>
              <a:rPr lang="en-US" sz="2400" dirty="0"/>
              <a:t>of the Indian Income Tax law allows </a:t>
            </a:r>
            <a:r>
              <a:rPr lang="en-US" sz="2400" dirty="0">
                <a:solidFill>
                  <a:srgbClr val="FF0000"/>
                </a:solidFill>
              </a:rPr>
              <a:t>first-time home buyers </a:t>
            </a:r>
            <a:r>
              <a:rPr lang="en-US" sz="2400" dirty="0"/>
              <a:t>to get tax deductions on the interest they need to pay on a Home Loan. You can claim a deduction of up to ₹50,000 per financial year as per this section. You can continue to claim this deduction until you have fully repaid the loan.</a:t>
            </a:r>
          </a:p>
          <a:p>
            <a:pPr algn="just"/>
            <a:endParaRPr lang="en-US" sz="2200" dirty="0">
              <a:solidFill>
                <a:srgbClr val="FF0000"/>
              </a:solidFill>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77</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1900146270"/>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52582" y="1763713"/>
            <a:ext cx="11139054" cy="5006541"/>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solidFill>
                  <a:srgbClr val="FF0000"/>
                </a:solidFill>
              </a:rPr>
              <a:t>Section 80EEB </a:t>
            </a:r>
            <a:r>
              <a:rPr lang="en-US" sz="2400" dirty="0"/>
              <a:t>of the Income Tax Act allows you to claim tax savings of up to Rs. 1.5 lakh on interest paid on a loan made specifically to purchase an </a:t>
            </a:r>
            <a:r>
              <a:rPr lang="en-US" sz="2400" dirty="0">
                <a:solidFill>
                  <a:srgbClr val="FF0000"/>
                </a:solidFill>
              </a:rPr>
              <a:t>electric car</a:t>
            </a:r>
            <a:r>
              <a:rPr lang="en-US" sz="2400" dirty="0"/>
              <a:t>. </a:t>
            </a:r>
          </a:p>
          <a:p>
            <a:pPr algn="just"/>
            <a:r>
              <a:rPr lang="en-US" sz="2400" dirty="0"/>
              <a:t>The deduction under Section 80EEB is allowed on interest payments in all the subsequent years until the loan is fully paid. The deduction is only applicable for loans sanctioned between January 1, 2019, and March 31, 2023.</a:t>
            </a:r>
          </a:p>
          <a:p>
            <a:pPr algn="just"/>
            <a:endParaRPr lang="en-US" sz="2400" dirty="0"/>
          </a:p>
          <a:p>
            <a:pPr algn="just"/>
            <a:r>
              <a:rPr lang="en-US" sz="2400" dirty="0">
                <a:solidFill>
                  <a:srgbClr val="FF0000"/>
                </a:solidFill>
              </a:rPr>
              <a:t>Section 80G </a:t>
            </a:r>
            <a:r>
              <a:rPr lang="en-US" sz="2400" dirty="0"/>
              <a:t>offers income tax deduction to an assesse, who makes </a:t>
            </a:r>
            <a:r>
              <a:rPr lang="en-US" sz="2400" dirty="0">
                <a:solidFill>
                  <a:srgbClr val="FF0000"/>
                </a:solidFill>
              </a:rPr>
              <a:t>donations to charitable organizations</a:t>
            </a:r>
            <a:r>
              <a:rPr lang="en-US" sz="2400" dirty="0"/>
              <a:t>.</a:t>
            </a:r>
          </a:p>
          <a:p>
            <a:pPr algn="just"/>
            <a:endParaRPr lang="en-US" sz="2400" dirty="0"/>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78</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422486833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452582" y="1763713"/>
            <a:ext cx="11139054" cy="4606607"/>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2400" dirty="0">
                <a:solidFill>
                  <a:srgbClr val="FF0000"/>
                </a:solidFill>
              </a:rPr>
              <a:t>Section 24 </a:t>
            </a:r>
            <a:r>
              <a:rPr lang="en-US" sz="2400" dirty="0"/>
              <a:t>of the Income Tax Act lets homeowners claim a deduction of up to Rs. 2 lakhs on their </a:t>
            </a:r>
            <a:r>
              <a:rPr lang="en-US" sz="2400" dirty="0">
                <a:solidFill>
                  <a:srgbClr val="FF0000"/>
                </a:solidFill>
              </a:rPr>
              <a:t>home loan interest </a:t>
            </a:r>
            <a:r>
              <a:rPr lang="en-US" sz="2400" dirty="0"/>
              <a:t>if the owner or his family reside in the house property.</a:t>
            </a:r>
          </a:p>
          <a:p>
            <a:pPr algn="just"/>
            <a:endParaRPr lang="en-US" sz="2400" dirty="0"/>
          </a:p>
          <a:p>
            <a:pPr algn="just"/>
            <a:r>
              <a:rPr lang="en-US" sz="2400" dirty="0">
                <a:solidFill>
                  <a:srgbClr val="FF0000"/>
                </a:solidFill>
              </a:rPr>
              <a:t>Section 80TTA </a:t>
            </a:r>
            <a:r>
              <a:rPr lang="en-US" sz="2400" dirty="0"/>
              <a:t>offers a deduction of up to Rs 10,000 on </a:t>
            </a:r>
            <a:r>
              <a:rPr lang="en-US" sz="2400" dirty="0">
                <a:solidFill>
                  <a:srgbClr val="FF0000"/>
                </a:solidFill>
              </a:rPr>
              <a:t>income earned from savings account interest </a:t>
            </a:r>
            <a:r>
              <a:rPr lang="en-US" sz="2400" dirty="0"/>
              <a:t>made in a bank, co-operative society or post office.</a:t>
            </a:r>
          </a:p>
          <a:p>
            <a:pPr algn="just"/>
            <a:endParaRPr lang="en-US" sz="2400" dirty="0"/>
          </a:p>
          <a:p>
            <a:pPr algn="just"/>
            <a:r>
              <a:rPr lang="en-US" sz="2400" dirty="0">
                <a:solidFill>
                  <a:srgbClr val="FF0000"/>
                </a:solidFill>
              </a:rPr>
              <a:t>Section 80TTB </a:t>
            </a:r>
            <a:r>
              <a:rPr lang="en-US" sz="2400" dirty="0"/>
              <a:t>offers a deduction of up to Rs 50,000 on </a:t>
            </a:r>
            <a:r>
              <a:rPr lang="en-US" sz="2400" dirty="0">
                <a:solidFill>
                  <a:srgbClr val="FF0000"/>
                </a:solidFill>
              </a:rPr>
              <a:t>income earned from interest </a:t>
            </a:r>
            <a:r>
              <a:rPr lang="en-US" sz="2400" dirty="0"/>
              <a:t>on all kinds of deposits for </a:t>
            </a:r>
            <a:r>
              <a:rPr lang="en-US" sz="2400" dirty="0">
                <a:solidFill>
                  <a:srgbClr val="FF0000"/>
                </a:solidFill>
              </a:rPr>
              <a:t>senior citizens</a:t>
            </a:r>
            <a:r>
              <a:rPr lang="en-US" sz="2400" dirty="0"/>
              <a:t>.</a:t>
            </a:r>
          </a:p>
          <a:p>
            <a:pPr algn="just"/>
            <a:endParaRPr lang="en-US" sz="2400" dirty="0"/>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79</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51895456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80</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3408791608"/>
              </p:ext>
            </p:extLst>
          </p:nvPr>
        </p:nvGraphicFramePr>
        <p:xfrm>
          <a:off x="1463090" y="2012107"/>
          <a:ext cx="9966909" cy="4063839"/>
        </p:xfrm>
        <a:graphic>
          <a:graphicData uri="http://schemas.openxmlformats.org/drawingml/2006/table">
            <a:tbl>
              <a:tblPr/>
              <a:tblGrid>
                <a:gridCol w="2062163">
                  <a:extLst>
                    <a:ext uri="{9D8B030D-6E8A-4147-A177-3AD203B41FA5}">
                      <a16:colId xmlns:a16="http://schemas.microsoft.com/office/drawing/2014/main" val="602479759"/>
                    </a:ext>
                  </a:extLst>
                </a:gridCol>
                <a:gridCol w="4582443">
                  <a:extLst>
                    <a:ext uri="{9D8B030D-6E8A-4147-A177-3AD203B41FA5}">
                      <a16:colId xmlns:a16="http://schemas.microsoft.com/office/drawing/2014/main" val="3859954648"/>
                    </a:ext>
                  </a:extLst>
                </a:gridCol>
                <a:gridCol w="3322303">
                  <a:extLst>
                    <a:ext uri="{9D8B030D-6E8A-4147-A177-3AD203B41FA5}">
                      <a16:colId xmlns:a16="http://schemas.microsoft.com/office/drawing/2014/main" val="717374213"/>
                    </a:ext>
                  </a:extLst>
                </a:gridCol>
              </a:tblGrid>
              <a:tr h="478099">
                <a:tc>
                  <a:txBody>
                    <a:bodyPr/>
                    <a:lstStyle/>
                    <a:p>
                      <a:pPr algn="ctr" fontAlgn="t" latinLnBrk="0"/>
                      <a:r>
                        <a:rPr lang="en-IN" sz="2000" b="1" dirty="0">
                          <a:effectLst/>
                        </a:rPr>
                        <a:t>Section</a:t>
                      </a:r>
                    </a:p>
                  </a:txBody>
                  <a:tcPr marL="76200" marR="76200" marT="76200" marB="76200">
                    <a:lnL w="9525" cap="flat" cmpd="sng" algn="ctr">
                      <a:solidFill>
                        <a:srgbClr val="A00C6A"/>
                      </a:solidFill>
                      <a:prstDash val="solid"/>
                      <a:round/>
                      <a:headEnd type="none" w="med" len="med"/>
                      <a:tailEnd type="none" w="med" len="med"/>
                    </a:lnL>
                    <a:lnR w="9525" cap="flat" cmpd="sng" algn="ctr">
                      <a:solidFill>
                        <a:srgbClr val="E0076A"/>
                      </a:solidFill>
                      <a:prstDash val="solid"/>
                      <a:round/>
                      <a:headEnd type="none" w="med" len="med"/>
                      <a:tailEnd type="none" w="med" len="med"/>
                    </a:lnR>
                    <a:lnT w="9525" cap="flat" cmpd="sng" algn="ctr">
                      <a:solidFill>
                        <a:srgbClr val="A00C6A"/>
                      </a:solidFill>
                      <a:prstDash val="solid"/>
                      <a:round/>
                      <a:headEnd type="none" w="med" len="med"/>
                      <a:tailEnd type="none" w="med" len="med"/>
                    </a:lnT>
                    <a:lnB w="9525" cap="flat" cmpd="sng" algn="ctr">
                      <a:solidFill>
                        <a:srgbClr val="600B6A"/>
                      </a:solidFill>
                      <a:prstDash val="solid"/>
                      <a:round/>
                      <a:headEnd type="none" w="med" len="med"/>
                      <a:tailEnd type="none" w="med" len="med"/>
                    </a:lnB>
                  </a:tcPr>
                </a:tc>
                <a:tc>
                  <a:txBody>
                    <a:bodyPr/>
                    <a:lstStyle/>
                    <a:p>
                      <a:pPr algn="l" fontAlgn="t" latinLnBrk="0"/>
                      <a:r>
                        <a:rPr lang="en-IN" sz="2000" b="1" dirty="0">
                          <a:effectLst/>
                        </a:rPr>
                        <a:t>Type of Deduction</a:t>
                      </a:r>
                    </a:p>
                  </a:txBody>
                  <a:tcPr marL="76200" marR="76200" marT="76200" marB="76200">
                    <a:lnL w="9525" cap="flat" cmpd="sng" algn="ctr">
                      <a:solidFill>
                        <a:srgbClr val="E0076A"/>
                      </a:solidFill>
                      <a:prstDash val="solid"/>
                      <a:round/>
                      <a:headEnd type="none" w="med" len="med"/>
                      <a:tailEnd type="none" w="med" len="med"/>
                    </a:lnL>
                    <a:lnR w="9525" cap="flat" cmpd="sng" algn="ctr">
                      <a:solidFill>
                        <a:srgbClr val="600D6A"/>
                      </a:solidFill>
                      <a:prstDash val="solid"/>
                      <a:round/>
                      <a:headEnd type="none" w="med" len="med"/>
                      <a:tailEnd type="none" w="med" len="med"/>
                    </a:lnR>
                    <a:lnT w="9525" cap="flat" cmpd="sng" algn="ctr">
                      <a:solidFill>
                        <a:srgbClr val="E0076A"/>
                      </a:solidFill>
                      <a:prstDash val="solid"/>
                      <a:round/>
                      <a:headEnd type="none" w="med" len="med"/>
                      <a:tailEnd type="none" w="med" len="med"/>
                    </a:lnT>
                    <a:lnB w="9525" cap="flat" cmpd="sng" algn="ctr">
                      <a:solidFill>
                        <a:srgbClr val="20086A"/>
                      </a:solidFill>
                      <a:prstDash val="solid"/>
                      <a:round/>
                      <a:headEnd type="none" w="med" len="med"/>
                      <a:tailEnd type="none" w="med" len="med"/>
                    </a:lnB>
                  </a:tcPr>
                </a:tc>
                <a:tc>
                  <a:txBody>
                    <a:bodyPr/>
                    <a:lstStyle/>
                    <a:p>
                      <a:pPr algn="l" fontAlgn="t" latinLnBrk="0"/>
                      <a:r>
                        <a:rPr lang="en-IN" sz="2000" b="1" dirty="0">
                          <a:effectLst/>
                        </a:rPr>
                        <a:t>Limit/Details</a:t>
                      </a:r>
                    </a:p>
                  </a:txBody>
                  <a:tcPr marL="76200" marR="76200" marT="76200" marB="76200">
                    <a:lnL w="9525" cap="flat" cmpd="sng" algn="ctr">
                      <a:solidFill>
                        <a:srgbClr val="600D6A"/>
                      </a:solidFill>
                      <a:prstDash val="solid"/>
                      <a:round/>
                      <a:headEnd type="none" w="med" len="med"/>
                      <a:tailEnd type="none" w="med" len="med"/>
                    </a:lnL>
                    <a:lnR w="9525" cap="flat" cmpd="sng" algn="ctr">
                      <a:solidFill>
                        <a:srgbClr val="600D6A"/>
                      </a:solidFill>
                      <a:prstDash val="solid"/>
                      <a:round/>
                      <a:headEnd type="none" w="med" len="med"/>
                      <a:tailEnd type="none" w="med" len="med"/>
                    </a:lnR>
                    <a:lnT w="9525" cap="flat" cmpd="sng" algn="ctr">
                      <a:solidFill>
                        <a:srgbClr val="600D6A"/>
                      </a:solidFill>
                      <a:prstDash val="solid"/>
                      <a:round/>
                      <a:headEnd type="none" w="med" len="med"/>
                      <a:tailEnd type="none" w="med" len="med"/>
                    </a:lnT>
                    <a:lnB w="9525" cap="flat" cmpd="sng" algn="ctr">
                      <a:solidFill>
                        <a:srgbClr val="E01C6A"/>
                      </a:solidFill>
                      <a:prstDash val="solid"/>
                      <a:round/>
                      <a:headEnd type="none" w="med" len="med"/>
                      <a:tailEnd type="none" w="med" len="med"/>
                    </a:lnB>
                  </a:tcPr>
                </a:tc>
                <a:extLst>
                  <a:ext uri="{0D108BD9-81ED-4DB2-BD59-A6C34878D82A}">
                    <a16:rowId xmlns:a16="http://schemas.microsoft.com/office/drawing/2014/main" val="497622289"/>
                  </a:ext>
                </a:extLst>
              </a:tr>
              <a:tr h="717148">
                <a:tc>
                  <a:txBody>
                    <a:bodyPr/>
                    <a:lstStyle/>
                    <a:p>
                      <a:pPr algn="ctr" fontAlgn="base" latinLnBrk="0"/>
                      <a:r>
                        <a:rPr lang="en-IN" sz="2000">
                          <a:effectLst/>
                        </a:rPr>
                        <a:t>80C</a:t>
                      </a:r>
                    </a:p>
                  </a:txBody>
                  <a:tcPr marL="76200" marR="76200" anchor="ctr">
                    <a:lnL w="9525" cap="flat" cmpd="sng" algn="ctr">
                      <a:solidFill>
                        <a:srgbClr val="600B6A"/>
                      </a:solidFill>
                      <a:prstDash val="solid"/>
                      <a:round/>
                      <a:headEnd type="none" w="med" len="med"/>
                      <a:tailEnd type="none" w="med" len="med"/>
                    </a:lnL>
                    <a:lnR w="9525" cap="flat" cmpd="sng" algn="ctr">
                      <a:solidFill>
                        <a:srgbClr val="20086A"/>
                      </a:solidFill>
                      <a:prstDash val="solid"/>
                      <a:round/>
                      <a:headEnd type="none" w="med" len="med"/>
                      <a:tailEnd type="none" w="med" len="med"/>
                    </a:lnR>
                    <a:lnT w="9525" cap="flat" cmpd="sng" algn="ctr">
                      <a:solidFill>
                        <a:srgbClr val="600B6A"/>
                      </a:solidFill>
                      <a:prstDash val="solid"/>
                      <a:round/>
                      <a:headEnd type="none" w="med" len="med"/>
                      <a:tailEnd type="none" w="med" len="med"/>
                    </a:lnT>
                    <a:lnB w="9525" cap="flat" cmpd="sng" algn="ctr">
                      <a:solidFill>
                        <a:srgbClr val="E0196A"/>
                      </a:solidFill>
                      <a:prstDash val="solid"/>
                      <a:round/>
                      <a:headEnd type="none" w="med" len="med"/>
                      <a:tailEnd type="none" w="med" len="med"/>
                    </a:lnB>
                  </a:tcPr>
                </a:tc>
                <a:tc>
                  <a:txBody>
                    <a:bodyPr/>
                    <a:lstStyle/>
                    <a:p>
                      <a:pPr fontAlgn="base" latinLnBrk="0"/>
                      <a:r>
                        <a:rPr lang="en-IN" sz="2000">
                          <a:effectLst/>
                        </a:rPr>
                        <a:t>Investments &amp; expenses</a:t>
                      </a:r>
                    </a:p>
                  </a:txBody>
                  <a:tcPr marL="76200" marR="76200" anchor="ctr">
                    <a:lnL w="9525" cap="flat" cmpd="sng" algn="ctr">
                      <a:solidFill>
                        <a:srgbClr val="20086A"/>
                      </a:solidFill>
                      <a:prstDash val="solid"/>
                      <a:round/>
                      <a:headEnd type="none" w="med" len="med"/>
                      <a:tailEnd type="none" w="med" len="med"/>
                    </a:lnL>
                    <a:lnR w="9525" cap="flat" cmpd="sng" algn="ctr">
                      <a:solidFill>
                        <a:srgbClr val="E01C6A"/>
                      </a:solidFill>
                      <a:prstDash val="solid"/>
                      <a:round/>
                      <a:headEnd type="none" w="med" len="med"/>
                      <a:tailEnd type="none" w="med" len="med"/>
                    </a:lnR>
                    <a:lnT w="9525" cap="flat" cmpd="sng" algn="ctr">
                      <a:solidFill>
                        <a:srgbClr val="20086A"/>
                      </a:solidFill>
                      <a:prstDash val="solid"/>
                      <a:round/>
                      <a:headEnd type="none" w="med" len="med"/>
                      <a:tailEnd type="none" w="med" len="med"/>
                    </a:lnT>
                    <a:lnB w="9525" cap="flat" cmpd="sng" algn="ctr">
                      <a:solidFill>
                        <a:srgbClr val="20286A"/>
                      </a:solidFill>
                      <a:prstDash val="solid"/>
                      <a:round/>
                      <a:headEnd type="none" w="med" len="med"/>
                      <a:tailEnd type="none" w="med" len="med"/>
                    </a:lnB>
                  </a:tcPr>
                </a:tc>
                <a:tc>
                  <a:txBody>
                    <a:bodyPr/>
                    <a:lstStyle/>
                    <a:p>
                      <a:pPr fontAlgn="base" latinLnBrk="0"/>
                      <a:r>
                        <a:rPr lang="en-US" sz="2000">
                          <a:effectLst/>
                        </a:rPr>
                        <a:t>Up to ₹1.5 lakh per year</a:t>
                      </a:r>
                    </a:p>
                  </a:txBody>
                  <a:tcPr marL="76200" marR="76200" anchor="ctr">
                    <a:lnL w="9525" cap="flat" cmpd="sng" algn="ctr">
                      <a:solidFill>
                        <a:srgbClr val="E01C6A"/>
                      </a:solidFill>
                      <a:prstDash val="solid"/>
                      <a:round/>
                      <a:headEnd type="none" w="med" len="med"/>
                      <a:tailEnd type="none" w="med" len="med"/>
                    </a:lnL>
                    <a:lnR w="9525" cap="flat" cmpd="sng" algn="ctr">
                      <a:solidFill>
                        <a:srgbClr val="E01C6A"/>
                      </a:solidFill>
                      <a:prstDash val="solid"/>
                      <a:round/>
                      <a:headEnd type="none" w="med" len="med"/>
                      <a:tailEnd type="none" w="med" len="med"/>
                    </a:lnR>
                    <a:lnT w="9525" cap="flat" cmpd="sng" algn="ctr">
                      <a:solidFill>
                        <a:srgbClr val="E01C6A"/>
                      </a:solidFill>
                      <a:prstDash val="solid"/>
                      <a:round/>
                      <a:headEnd type="none" w="med" len="med"/>
                      <a:tailEnd type="none" w="med" len="med"/>
                    </a:lnT>
                    <a:lnB w="9525" cap="flat" cmpd="sng" algn="ctr">
                      <a:solidFill>
                        <a:srgbClr val="A02B6A"/>
                      </a:solidFill>
                      <a:prstDash val="solid"/>
                      <a:round/>
                      <a:headEnd type="none" w="med" len="med"/>
                      <a:tailEnd type="none" w="med" len="med"/>
                    </a:lnB>
                  </a:tcPr>
                </a:tc>
                <a:extLst>
                  <a:ext uri="{0D108BD9-81ED-4DB2-BD59-A6C34878D82A}">
                    <a16:rowId xmlns:a16="http://schemas.microsoft.com/office/drawing/2014/main" val="4027479620"/>
                  </a:ext>
                </a:extLst>
              </a:tr>
              <a:tr h="717148">
                <a:tc>
                  <a:txBody>
                    <a:bodyPr/>
                    <a:lstStyle/>
                    <a:p>
                      <a:pPr algn="ctr" fontAlgn="base" latinLnBrk="0"/>
                      <a:r>
                        <a:rPr lang="en-IN" sz="2000" dirty="0">
                          <a:effectLst/>
                        </a:rPr>
                        <a:t>80D</a:t>
                      </a:r>
                    </a:p>
                  </a:txBody>
                  <a:tcPr marL="76200" marR="76200" anchor="ctr">
                    <a:lnL w="9525" cap="flat" cmpd="sng" algn="ctr">
                      <a:solidFill>
                        <a:srgbClr val="E0196A"/>
                      </a:solidFill>
                      <a:prstDash val="solid"/>
                      <a:round/>
                      <a:headEnd type="none" w="med" len="med"/>
                      <a:tailEnd type="none" w="med" len="med"/>
                    </a:lnL>
                    <a:lnR w="9525" cap="flat" cmpd="sng" algn="ctr">
                      <a:solidFill>
                        <a:srgbClr val="20286A"/>
                      </a:solidFill>
                      <a:prstDash val="solid"/>
                      <a:round/>
                      <a:headEnd type="none" w="med" len="med"/>
                      <a:tailEnd type="none" w="med" len="med"/>
                    </a:lnR>
                    <a:lnT w="9525" cap="flat" cmpd="sng" algn="ctr">
                      <a:solidFill>
                        <a:srgbClr val="E0196A"/>
                      </a:solidFill>
                      <a:prstDash val="solid"/>
                      <a:round/>
                      <a:headEnd type="none" w="med" len="med"/>
                      <a:tailEnd type="none" w="med" len="med"/>
                    </a:lnT>
                    <a:lnB w="9525" cap="flat" cmpd="sng" algn="ctr">
                      <a:solidFill>
                        <a:srgbClr val="E0216A"/>
                      </a:solidFill>
                      <a:prstDash val="solid"/>
                      <a:round/>
                      <a:headEnd type="none" w="med" len="med"/>
                      <a:tailEnd type="none" w="med" len="med"/>
                    </a:lnB>
                  </a:tcPr>
                </a:tc>
                <a:tc>
                  <a:txBody>
                    <a:bodyPr/>
                    <a:lstStyle/>
                    <a:p>
                      <a:pPr fontAlgn="base" latinLnBrk="0"/>
                      <a:r>
                        <a:rPr lang="en-IN" sz="2000">
                          <a:effectLst/>
                        </a:rPr>
                        <a:t>Health insurance premium</a:t>
                      </a:r>
                    </a:p>
                  </a:txBody>
                  <a:tcPr marL="76200" marR="76200" anchor="ctr">
                    <a:lnL w="9525" cap="flat" cmpd="sng" algn="ctr">
                      <a:solidFill>
                        <a:srgbClr val="20286A"/>
                      </a:solidFill>
                      <a:prstDash val="solid"/>
                      <a:round/>
                      <a:headEnd type="none" w="med" len="med"/>
                      <a:tailEnd type="none" w="med" len="med"/>
                    </a:lnL>
                    <a:lnR w="9525" cap="flat" cmpd="sng" algn="ctr">
                      <a:solidFill>
                        <a:srgbClr val="A02B6A"/>
                      </a:solidFill>
                      <a:prstDash val="solid"/>
                      <a:round/>
                      <a:headEnd type="none" w="med" len="med"/>
                      <a:tailEnd type="none" w="med" len="med"/>
                    </a:lnR>
                    <a:lnT w="9525" cap="flat" cmpd="sng" algn="ctr">
                      <a:solidFill>
                        <a:srgbClr val="20286A"/>
                      </a:solidFill>
                      <a:prstDash val="solid"/>
                      <a:round/>
                      <a:headEnd type="none" w="med" len="med"/>
                      <a:tailEnd type="none" w="med" len="med"/>
                    </a:lnT>
                    <a:lnB w="9525" cap="flat" cmpd="sng" algn="ctr">
                      <a:solidFill>
                        <a:srgbClr val="E0286A"/>
                      </a:solidFill>
                      <a:prstDash val="solid"/>
                      <a:round/>
                      <a:headEnd type="none" w="med" len="med"/>
                      <a:tailEnd type="none" w="med" len="med"/>
                    </a:lnB>
                  </a:tcPr>
                </a:tc>
                <a:tc>
                  <a:txBody>
                    <a:bodyPr/>
                    <a:lstStyle/>
                    <a:p>
                      <a:pPr fontAlgn="base" latinLnBrk="0"/>
                      <a:r>
                        <a:rPr lang="en-US" sz="2000">
                          <a:effectLst/>
                        </a:rPr>
                        <a:t>Up to ₹1 lakh (varies by age)</a:t>
                      </a:r>
                    </a:p>
                  </a:txBody>
                  <a:tcPr marL="76200" marR="76200" anchor="ctr">
                    <a:lnL w="9525" cap="flat" cmpd="sng" algn="ctr">
                      <a:solidFill>
                        <a:srgbClr val="A02B6A"/>
                      </a:solidFill>
                      <a:prstDash val="solid"/>
                      <a:round/>
                      <a:headEnd type="none" w="med" len="med"/>
                      <a:tailEnd type="none" w="med" len="med"/>
                    </a:lnL>
                    <a:lnR w="9525" cap="flat" cmpd="sng" algn="ctr">
                      <a:solidFill>
                        <a:srgbClr val="A02B6A"/>
                      </a:solidFill>
                      <a:prstDash val="solid"/>
                      <a:round/>
                      <a:headEnd type="none" w="med" len="med"/>
                      <a:tailEnd type="none" w="med" len="med"/>
                    </a:lnR>
                    <a:lnT w="9525" cap="flat" cmpd="sng" algn="ctr">
                      <a:solidFill>
                        <a:srgbClr val="A02B6A"/>
                      </a:solidFill>
                      <a:prstDash val="solid"/>
                      <a:round/>
                      <a:headEnd type="none" w="med" len="med"/>
                      <a:tailEnd type="none" w="med" len="med"/>
                    </a:lnT>
                    <a:lnB w="9525" cap="flat" cmpd="sng" algn="ctr">
                      <a:solidFill>
                        <a:srgbClr val="E0336A"/>
                      </a:solidFill>
                      <a:prstDash val="solid"/>
                      <a:round/>
                      <a:headEnd type="none" w="med" len="med"/>
                      <a:tailEnd type="none" w="med" len="med"/>
                    </a:lnB>
                  </a:tcPr>
                </a:tc>
                <a:extLst>
                  <a:ext uri="{0D108BD9-81ED-4DB2-BD59-A6C34878D82A}">
                    <a16:rowId xmlns:a16="http://schemas.microsoft.com/office/drawing/2014/main" val="3146712099"/>
                  </a:ext>
                </a:extLst>
              </a:tr>
              <a:tr h="717148">
                <a:tc>
                  <a:txBody>
                    <a:bodyPr/>
                    <a:lstStyle/>
                    <a:p>
                      <a:pPr algn="ctr" fontAlgn="base" latinLnBrk="0"/>
                      <a:r>
                        <a:rPr lang="en-IN" sz="2000">
                          <a:effectLst/>
                        </a:rPr>
                        <a:t>80E</a:t>
                      </a:r>
                    </a:p>
                  </a:txBody>
                  <a:tcPr marL="76200" marR="76200" anchor="ctr">
                    <a:lnL w="9525" cap="flat" cmpd="sng" algn="ctr">
                      <a:solidFill>
                        <a:srgbClr val="E0216A"/>
                      </a:solidFill>
                      <a:prstDash val="solid"/>
                      <a:round/>
                      <a:headEnd type="none" w="med" len="med"/>
                      <a:tailEnd type="none" w="med" len="med"/>
                    </a:lnL>
                    <a:lnR w="9525" cap="flat" cmpd="sng" algn="ctr">
                      <a:solidFill>
                        <a:srgbClr val="E0286A"/>
                      </a:solidFill>
                      <a:prstDash val="solid"/>
                      <a:round/>
                      <a:headEnd type="none" w="med" len="med"/>
                      <a:tailEnd type="none" w="med" len="med"/>
                    </a:lnR>
                    <a:lnT w="9525" cap="flat" cmpd="sng" algn="ctr">
                      <a:solidFill>
                        <a:srgbClr val="E0216A"/>
                      </a:solidFill>
                      <a:prstDash val="solid"/>
                      <a:round/>
                      <a:headEnd type="none" w="med" len="med"/>
                      <a:tailEnd type="none" w="med" len="med"/>
                    </a:lnT>
                    <a:lnB w="9525" cap="flat" cmpd="sng" algn="ctr">
                      <a:solidFill>
                        <a:srgbClr val="A03F6A"/>
                      </a:solidFill>
                      <a:prstDash val="solid"/>
                      <a:round/>
                      <a:headEnd type="none" w="med" len="med"/>
                      <a:tailEnd type="none" w="med" len="med"/>
                    </a:lnB>
                  </a:tcPr>
                </a:tc>
                <a:tc>
                  <a:txBody>
                    <a:bodyPr/>
                    <a:lstStyle/>
                    <a:p>
                      <a:pPr fontAlgn="base" latinLnBrk="0"/>
                      <a:r>
                        <a:rPr lang="en-IN" sz="2000">
                          <a:effectLst/>
                        </a:rPr>
                        <a:t>Interest on education loan</a:t>
                      </a:r>
                    </a:p>
                  </a:txBody>
                  <a:tcPr marL="76200" marR="76200" anchor="ctr">
                    <a:lnL w="9525" cap="flat" cmpd="sng" algn="ctr">
                      <a:solidFill>
                        <a:srgbClr val="E0286A"/>
                      </a:solidFill>
                      <a:prstDash val="solid"/>
                      <a:round/>
                      <a:headEnd type="none" w="med" len="med"/>
                      <a:tailEnd type="none" w="med" len="med"/>
                    </a:lnL>
                    <a:lnR w="9525" cap="flat" cmpd="sng" algn="ctr">
                      <a:solidFill>
                        <a:srgbClr val="E0336A"/>
                      </a:solidFill>
                      <a:prstDash val="solid"/>
                      <a:round/>
                      <a:headEnd type="none" w="med" len="med"/>
                      <a:tailEnd type="none" w="med" len="med"/>
                    </a:lnR>
                    <a:lnT w="9525" cap="flat" cmpd="sng" algn="ctr">
                      <a:solidFill>
                        <a:srgbClr val="E0286A"/>
                      </a:solidFill>
                      <a:prstDash val="solid"/>
                      <a:round/>
                      <a:headEnd type="none" w="med" len="med"/>
                      <a:tailEnd type="none" w="med" len="med"/>
                    </a:lnT>
                    <a:lnB w="9525" cap="flat" cmpd="sng" algn="ctr">
                      <a:solidFill>
                        <a:srgbClr val="E0306A"/>
                      </a:solidFill>
                      <a:prstDash val="solid"/>
                      <a:round/>
                      <a:headEnd type="none" w="med" len="med"/>
                      <a:tailEnd type="none" w="med" len="med"/>
                    </a:lnB>
                  </a:tcPr>
                </a:tc>
                <a:tc>
                  <a:txBody>
                    <a:bodyPr/>
                    <a:lstStyle/>
                    <a:p>
                      <a:pPr fontAlgn="base" latinLnBrk="0"/>
                      <a:r>
                        <a:rPr lang="en-IN" sz="2000">
                          <a:effectLst/>
                        </a:rPr>
                        <a:t>No upper limit</a:t>
                      </a:r>
                    </a:p>
                  </a:txBody>
                  <a:tcPr marL="76200" marR="76200" anchor="ctr">
                    <a:lnL w="9525" cap="flat" cmpd="sng" algn="ctr">
                      <a:solidFill>
                        <a:srgbClr val="E0336A"/>
                      </a:solidFill>
                      <a:prstDash val="solid"/>
                      <a:round/>
                      <a:headEnd type="none" w="med" len="med"/>
                      <a:tailEnd type="none" w="med" len="med"/>
                    </a:lnL>
                    <a:lnR w="9525" cap="flat" cmpd="sng" algn="ctr">
                      <a:solidFill>
                        <a:srgbClr val="E0336A"/>
                      </a:solidFill>
                      <a:prstDash val="solid"/>
                      <a:round/>
                      <a:headEnd type="none" w="med" len="med"/>
                      <a:tailEnd type="none" w="med" len="med"/>
                    </a:lnR>
                    <a:lnT w="9525" cap="flat" cmpd="sng" algn="ctr">
                      <a:solidFill>
                        <a:srgbClr val="E0336A"/>
                      </a:solidFill>
                      <a:prstDash val="solid"/>
                      <a:round/>
                      <a:headEnd type="none" w="med" len="med"/>
                      <a:tailEnd type="none" w="med" len="med"/>
                    </a:lnT>
                    <a:lnB w="9525" cap="flat" cmpd="sng" algn="ctr">
                      <a:solidFill>
                        <a:srgbClr val="203B6A"/>
                      </a:solidFill>
                      <a:prstDash val="solid"/>
                      <a:round/>
                      <a:headEnd type="none" w="med" len="med"/>
                      <a:tailEnd type="none" w="med" len="med"/>
                    </a:lnB>
                  </a:tcPr>
                </a:tc>
                <a:extLst>
                  <a:ext uri="{0D108BD9-81ED-4DB2-BD59-A6C34878D82A}">
                    <a16:rowId xmlns:a16="http://schemas.microsoft.com/office/drawing/2014/main" val="2652253465"/>
                  </a:ext>
                </a:extLst>
              </a:tr>
              <a:tr h="717148">
                <a:tc>
                  <a:txBody>
                    <a:bodyPr/>
                    <a:lstStyle/>
                    <a:p>
                      <a:pPr algn="ctr" fontAlgn="base" latinLnBrk="0"/>
                      <a:r>
                        <a:rPr lang="en-IN" sz="2000" dirty="0">
                          <a:effectLst/>
                        </a:rPr>
                        <a:t>80G</a:t>
                      </a:r>
                    </a:p>
                  </a:txBody>
                  <a:tcPr marL="76200" marR="76200" anchor="ctr">
                    <a:lnL w="9525" cap="flat" cmpd="sng" algn="ctr">
                      <a:solidFill>
                        <a:srgbClr val="A03F6A"/>
                      </a:solidFill>
                      <a:prstDash val="solid"/>
                      <a:round/>
                      <a:headEnd type="none" w="med" len="med"/>
                      <a:tailEnd type="none" w="med" len="med"/>
                    </a:lnL>
                    <a:lnR w="9525" cap="flat" cmpd="sng" algn="ctr">
                      <a:solidFill>
                        <a:srgbClr val="E0306A"/>
                      </a:solidFill>
                      <a:prstDash val="solid"/>
                      <a:round/>
                      <a:headEnd type="none" w="med" len="med"/>
                      <a:tailEnd type="none" w="med" len="med"/>
                    </a:lnR>
                    <a:lnT w="9525" cap="flat" cmpd="sng" algn="ctr">
                      <a:solidFill>
                        <a:srgbClr val="A03F6A"/>
                      </a:solidFill>
                      <a:prstDash val="solid"/>
                      <a:round/>
                      <a:headEnd type="none" w="med" len="med"/>
                      <a:tailEnd type="none" w="med" len="med"/>
                    </a:lnT>
                    <a:lnB w="9525" cap="flat" cmpd="sng" algn="ctr">
                      <a:solidFill>
                        <a:srgbClr val="60336A"/>
                      </a:solidFill>
                      <a:prstDash val="solid"/>
                      <a:round/>
                      <a:headEnd type="none" w="med" len="med"/>
                      <a:tailEnd type="none" w="med" len="med"/>
                    </a:lnB>
                  </a:tcPr>
                </a:tc>
                <a:tc>
                  <a:txBody>
                    <a:bodyPr/>
                    <a:lstStyle/>
                    <a:p>
                      <a:pPr fontAlgn="base" latinLnBrk="0"/>
                      <a:r>
                        <a:rPr lang="en-IN" sz="2000">
                          <a:effectLst/>
                        </a:rPr>
                        <a:t>Donations to charity</a:t>
                      </a:r>
                    </a:p>
                  </a:txBody>
                  <a:tcPr marL="76200" marR="76200" anchor="ctr">
                    <a:lnL w="9525" cap="flat" cmpd="sng" algn="ctr">
                      <a:solidFill>
                        <a:srgbClr val="E0306A"/>
                      </a:solidFill>
                      <a:prstDash val="solid"/>
                      <a:round/>
                      <a:headEnd type="none" w="med" len="med"/>
                      <a:tailEnd type="none" w="med" len="med"/>
                    </a:lnL>
                    <a:lnR w="9525" cap="flat" cmpd="sng" algn="ctr">
                      <a:solidFill>
                        <a:srgbClr val="203B6A"/>
                      </a:solidFill>
                      <a:prstDash val="solid"/>
                      <a:round/>
                      <a:headEnd type="none" w="med" len="med"/>
                      <a:tailEnd type="none" w="med" len="med"/>
                    </a:lnR>
                    <a:lnT w="9525" cap="flat" cmpd="sng" algn="ctr">
                      <a:solidFill>
                        <a:srgbClr val="E0306A"/>
                      </a:solidFill>
                      <a:prstDash val="solid"/>
                      <a:round/>
                      <a:headEnd type="none" w="med" len="med"/>
                      <a:tailEnd type="none" w="med" len="med"/>
                    </a:lnT>
                    <a:lnB w="9525" cap="flat" cmpd="sng" algn="ctr">
                      <a:solidFill>
                        <a:srgbClr val="604E6A"/>
                      </a:solidFill>
                      <a:prstDash val="solid"/>
                      <a:round/>
                      <a:headEnd type="none" w="med" len="med"/>
                      <a:tailEnd type="none" w="med" len="med"/>
                    </a:lnB>
                  </a:tcPr>
                </a:tc>
                <a:tc>
                  <a:txBody>
                    <a:bodyPr/>
                    <a:lstStyle/>
                    <a:p>
                      <a:pPr fontAlgn="base" latinLnBrk="0"/>
                      <a:r>
                        <a:rPr lang="en-US" sz="2000">
                          <a:effectLst/>
                        </a:rPr>
                        <a:t>Amount varies by donee and donation</a:t>
                      </a:r>
                    </a:p>
                  </a:txBody>
                  <a:tcPr marL="76200" marR="76200" anchor="ctr">
                    <a:lnL w="9525" cap="flat" cmpd="sng" algn="ctr">
                      <a:solidFill>
                        <a:srgbClr val="203B6A"/>
                      </a:solidFill>
                      <a:prstDash val="solid"/>
                      <a:round/>
                      <a:headEnd type="none" w="med" len="med"/>
                      <a:tailEnd type="none" w="med" len="med"/>
                    </a:lnL>
                    <a:lnR w="9525" cap="flat" cmpd="sng" algn="ctr">
                      <a:solidFill>
                        <a:srgbClr val="203B6A"/>
                      </a:solidFill>
                      <a:prstDash val="solid"/>
                      <a:round/>
                      <a:headEnd type="none" w="med" len="med"/>
                      <a:tailEnd type="none" w="med" len="med"/>
                    </a:lnR>
                    <a:lnT w="9525" cap="flat" cmpd="sng" algn="ctr">
                      <a:solidFill>
                        <a:srgbClr val="203B6A"/>
                      </a:solidFill>
                      <a:prstDash val="solid"/>
                      <a:round/>
                      <a:headEnd type="none" w="med" len="med"/>
                      <a:tailEnd type="none" w="med" len="med"/>
                    </a:lnT>
                    <a:lnB w="9525" cap="flat" cmpd="sng" algn="ctr">
                      <a:solidFill>
                        <a:srgbClr val="A0486A"/>
                      </a:solidFill>
                      <a:prstDash val="solid"/>
                      <a:round/>
                      <a:headEnd type="none" w="med" len="med"/>
                      <a:tailEnd type="none" w="med" len="med"/>
                    </a:lnB>
                  </a:tcPr>
                </a:tc>
                <a:extLst>
                  <a:ext uri="{0D108BD9-81ED-4DB2-BD59-A6C34878D82A}">
                    <a16:rowId xmlns:a16="http://schemas.microsoft.com/office/drawing/2014/main" val="3491339104"/>
                  </a:ext>
                </a:extLst>
              </a:tr>
              <a:tr h="717148">
                <a:tc>
                  <a:txBody>
                    <a:bodyPr/>
                    <a:lstStyle/>
                    <a:p>
                      <a:pPr algn="ctr" fontAlgn="base" latinLnBrk="0"/>
                      <a:r>
                        <a:rPr lang="en-IN" sz="2000" dirty="0">
                          <a:effectLst/>
                        </a:rPr>
                        <a:t>80GG</a:t>
                      </a:r>
                    </a:p>
                  </a:txBody>
                  <a:tcPr marL="76200" marR="76200" anchor="ctr">
                    <a:lnL w="9525" cap="flat" cmpd="sng" algn="ctr">
                      <a:solidFill>
                        <a:srgbClr val="60336A"/>
                      </a:solidFill>
                      <a:prstDash val="solid"/>
                      <a:round/>
                      <a:headEnd type="none" w="med" len="med"/>
                      <a:tailEnd type="none" w="med" len="med"/>
                    </a:lnL>
                    <a:lnR w="9525" cap="flat" cmpd="sng" algn="ctr">
                      <a:solidFill>
                        <a:srgbClr val="604E6A"/>
                      </a:solidFill>
                      <a:prstDash val="solid"/>
                      <a:round/>
                      <a:headEnd type="none" w="med" len="med"/>
                      <a:tailEnd type="none" w="med" len="med"/>
                    </a:lnR>
                    <a:lnT w="9525" cap="flat" cmpd="sng" algn="ctr">
                      <a:solidFill>
                        <a:srgbClr val="60336A"/>
                      </a:solidFill>
                      <a:prstDash val="solid"/>
                      <a:round/>
                      <a:headEnd type="none" w="med" len="med"/>
                      <a:tailEnd type="none" w="med" len="med"/>
                    </a:lnT>
                    <a:lnB w="9525" cap="flat" cmpd="sng" algn="ctr">
                      <a:solidFill>
                        <a:srgbClr val="60336A"/>
                      </a:solidFill>
                      <a:prstDash val="solid"/>
                      <a:round/>
                      <a:headEnd type="none" w="med" len="med"/>
                      <a:tailEnd type="none" w="med" len="med"/>
                    </a:lnB>
                  </a:tcPr>
                </a:tc>
                <a:tc>
                  <a:txBody>
                    <a:bodyPr/>
                    <a:lstStyle/>
                    <a:p>
                      <a:pPr fontAlgn="base" latinLnBrk="0"/>
                      <a:r>
                        <a:rPr lang="en-US" sz="2000">
                          <a:effectLst/>
                        </a:rPr>
                        <a:t>Rent paid by non-HRA receivers</a:t>
                      </a:r>
                    </a:p>
                  </a:txBody>
                  <a:tcPr marL="76200" marR="76200" anchor="ctr">
                    <a:lnL w="9525" cap="flat" cmpd="sng" algn="ctr">
                      <a:solidFill>
                        <a:srgbClr val="604E6A"/>
                      </a:solidFill>
                      <a:prstDash val="solid"/>
                      <a:round/>
                      <a:headEnd type="none" w="med" len="med"/>
                      <a:tailEnd type="none" w="med" len="med"/>
                    </a:lnL>
                    <a:lnR w="9525" cap="flat" cmpd="sng" algn="ctr">
                      <a:solidFill>
                        <a:srgbClr val="A0486A"/>
                      </a:solidFill>
                      <a:prstDash val="solid"/>
                      <a:round/>
                      <a:headEnd type="none" w="med" len="med"/>
                      <a:tailEnd type="none" w="med" len="med"/>
                    </a:lnR>
                    <a:lnT w="9525" cap="flat" cmpd="sng" algn="ctr">
                      <a:solidFill>
                        <a:srgbClr val="604E6A"/>
                      </a:solidFill>
                      <a:prstDash val="solid"/>
                      <a:round/>
                      <a:headEnd type="none" w="med" len="med"/>
                      <a:tailEnd type="none" w="med" len="med"/>
                    </a:lnT>
                    <a:lnB w="9525" cap="flat" cmpd="sng" algn="ctr">
                      <a:solidFill>
                        <a:srgbClr val="604E6A"/>
                      </a:solidFill>
                      <a:prstDash val="solid"/>
                      <a:round/>
                      <a:headEnd type="none" w="med" len="med"/>
                      <a:tailEnd type="none" w="med" len="med"/>
                    </a:lnB>
                  </a:tcPr>
                </a:tc>
                <a:tc>
                  <a:txBody>
                    <a:bodyPr/>
                    <a:lstStyle/>
                    <a:p>
                      <a:pPr fontAlgn="base" latinLnBrk="0"/>
                      <a:r>
                        <a:rPr lang="en-US" sz="2000" dirty="0">
                          <a:effectLst/>
                        </a:rPr>
                        <a:t>Up to ₹5,000 per month or 25% income</a:t>
                      </a:r>
                    </a:p>
                  </a:txBody>
                  <a:tcPr marL="76200" marR="76200" anchor="ctr">
                    <a:lnL w="9525" cap="flat" cmpd="sng" algn="ctr">
                      <a:solidFill>
                        <a:srgbClr val="A0486A"/>
                      </a:solidFill>
                      <a:prstDash val="solid"/>
                      <a:round/>
                      <a:headEnd type="none" w="med" len="med"/>
                      <a:tailEnd type="none" w="med" len="med"/>
                    </a:lnL>
                    <a:lnR w="9525" cap="flat" cmpd="sng" algn="ctr">
                      <a:solidFill>
                        <a:srgbClr val="A0486A"/>
                      </a:solidFill>
                      <a:prstDash val="solid"/>
                      <a:round/>
                      <a:headEnd type="none" w="med" len="med"/>
                      <a:tailEnd type="none" w="med" len="med"/>
                    </a:lnR>
                    <a:lnT w="9525" cap="flat" cmpd="sng" algn="ctr">
                      <a:solidFill>
                        <a:srgbClr val="A0486A"/>
                      </a:solidFill>
                      <a:prstDash val="solid"/>
                      <a:round/>
                      <a:headEnd type="none" w="med" len="med"/>
                      <a:tailEnd type="none" w="med" len="med"/>
                    </a:lnT>
                    <a:lnB w="9525" cap="flat" cmpd="sng" algn="ctr">
                      <a:solidFill>
                        <a:srgbClr val="A0486A"/>
                      </a:solidFill>
                      <a:prstDash val="solid"/>
                      <a:round/>
                      <a:headEnd type="none" w="med" len="med"/>
                      <a:tailEnd type="none" w="med" len="med"/>
                    </a:lnB>
                  </a:tcPr>
                </a:tc>
                <a:extLst>
                  <a:ext uri="{0D108BD9-81ED-4DB2-BD59-A6C34878D82A}">
                    <a16:rowId xmlns:a16="http://schemas.microsoft.com/office/drawing/2014/main" val="326713112"/>
                  </a:ext>
                </a:extLst>
              </a:tr>
            </a:tbl>
          </a:graphicData>
        </a:graphic>
      </p:graphicFrame>
    </p:spTree>
    <p:extLst>
      <p:ext uri="{BB962C8B-B14F-4D97-AF65-F5344CB8AC3E}">
        <p14:creationId xmlns:p14="http://schemas.microsoft.com/office/powerpoint/2010/main" val="347598962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1103312" y="1763714"/>
            <a:ext cx="10488324" cy="4484686"/>
          </a:xfrm>
        </p:spPr>
        <p:txBody>
          <a:bodyPr>
            <a:normAutofit/>
          </a:bodyPr>
          <a:lstStyle/>
          <a:p>
            <a:pPr marL="252000" indent="-252000" algn="just">
              <a:lnSpc>
                <a:spcPct val="130000"/>
              </a:lnSpc>
              <a:buFont typeface="Wingdings" panose="05000000000000000000" pitchFamily="2" charset="2"/>
              <a:buChar char="§"/>
            </a:pPr>
            <a:r>
              <a:rPr lang="en-US" sz="2800" dirty="0"/>
              <a:t>List of Deductions</a:t>
            </a:r>
          </a:p>
          <a:p>
            <a:pPr algn="just"/>
            <a:r>
              <a:rPr lang="en-US" sz="3200" b="1" dirty="0">
                <a:solidFill>
                  <a:schemeClr val="bg2">
                    <a:lumMod val="50000"/>
                  </a:schemeClr>
                </a:solidFill>
              </a:rPr>
              <a:t>NO DEDUCTIONS APPLICABLE UNDER NEW TAX REGIME (except standard deduction of Rs 75,000/-)</a:t>
            </a:r>
            <a:endParaRPr lang="en-IN" sz="3200" b="1" dirty="0">
              <a:solidFill>
                <a:schemeClr val="bg2">
                  <a:lumMod val="50000"/>
                </a:schemeClr>
              </a:solidFill>
              <a:latin typeface="Cambria" panose="02040503050406030204" pitchFamily="18" charset="0"/>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81</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8"/>
            <a:ext cx="9405938" cy="1400175"/>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395231872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38125" cy="4484686"/>
          </a:xfrm>
        </p:spPr>
        <p:txBody>
          <a:bodyPr>
            <a:normAutofit/>
          </a:bodyPr>
          <a:lstStyle/>
          <a:p>
            <a:pPr marL="0" indent="0">
              <a:buNone/>
            </a:pPr>
            <a:r>
              <a:rPr lang="en-US" sz="2400" dirty="0">
                <a:solidFill>
                  <a:srgbClr val="FF0000"/>
                </a:solidFill>
              </a:rPr>
              <a:t>Section 17 </a:t>
            </a:r>
            <a:r>
              <a:rPr lang="en-US" sz="2400" dirty="0"/>
              <a:t>of the Act has mentioned the term ‘</a:t>
            </a:r>
            <a:r>
              <a:rPr lang="en-US" sz="2400" dirty="0">
                <a:solidFill>
                  <a:srgbClr val="FF0000"/>
                </a:solidFill>
              </a:rPr>
              <a:t>salary</a:t>
            </a:r>
            <a:r>
              <a:rPr lang="en-US" sz="2400" dirty="0"/>
              <a:t>’, which included-</a:t>
            </a:r>
          </a:p>
          <a:p>
            <a:r>
              <a:rPr lang="en-US" sz="2400" dirty="0"/>
              <a:t>Wages;</a:t>
            </a:r>
          </a:p>
          <a:p>
            <a:r>
              <a:rPr lang="en-US" sz="2400" dirty="0"/>
              <a:t>Any annuity or pension;</a:t>
            </a:r>
          </a:p>
          <a:p>
            <a:r>
              <a:rPr lang="en-US" sz="2400" dirty="0"/>
              <a:t>Any gratuity;</a:t>
            </a:r>
          </a:p>
          <a:p>
            <a:r>
              <a:rPr lang="en-US" sz="2400" dirty="0"/>
              <a:t>Any charges, commissions, perquisites or benefits in lieu of or notwithstanding any compensation or wages;</a:t>
            </a:r>
          </a:p>
          <a:p>
            <a:r>
              <a:rPr lang="en-US" sz="2400" dirty="0"/>
              <a:t>any advance of salary;</a:t>
            </a:r>
          </a:p>
          <a:p>
            <a:r>
              <a:rPr lang="en-US" sz="2400" dirty="0"/>
              <a:t>Any payment received by a worker in regard to any time of leave not availed by him;</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82</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214797853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4484686"/>
          </a:xfrm>
        </p:spPr>
        <p:txBody>
          <a:bodyPr>
            <a:noAutofit/>
          </a:bodyPr>
          <a:lstStyle/>
          <a:p>
            <a:pPr marL="0" indent="0" algn="just">
              <a:buNone/>
            </a:pPr>
            <a:r>
              <a:rPr lang="en-US" sz="2400" dirty="0">
                <a:solidFill>
                  <a:srgbClr val="FF0000"/>
                </a:solidFill>
              </a:rPr>
              <a:t>Section 17 </a:t>
            </a:r>
            <a:r>
              <a:rPr lang="en-US" sz="2400" dirty="0"/>
              <a:t>of the Act has mentioned the term ‘</a:t>
            </a:r>
            <a:r>
              <a:rPr lang="en-IN" sz="2400" dirty="0">
                <a:solidFill>
                  <a:srgbClr val="FF0000"/>
                </a:solidFill>
              </a:rPr>
              <a:t>perquisite</a:t>
            </a:r>
            <a:r>
              <a:rPr lang="en-US" sz="2400" dirty="0"/>
              <a:t>’ (something special like a privilege to which a person has a special right because of his social position), which included-</a:t>
            </a:r>
          </a:p>
          <a:p>
            <a:pPr marL="0" indent="0" algn="just">
              <a:buNone/>
            </a:pPr>
            <a:endParaRPr lang="en-US" sz="2400" dirty="0"/>
          </a:p>
          <a:p>
            <a:pPr algn="just"/>
            <a:r>
              <a:rPr lang="en-US" sz="2400" dirty="0"/>
              <a:t>In addition to their salary, the employees are often given some other benefits which may or may not be in cash form. For example, </a:t>
            </a:r>
            <a:r>
              <a:rPr lang="en-US" sz="2400" dirty="0">
                <a:solidFill>
                  <a:srgbClr val="0070C0"/>
                </a:solidFill>
              </a:rPr>
              <a:t>rent-free accommodation </a:t>
            </a:r>
            <a:r>
              <a:rPr lang="en-US" sz="2400" dirty="0">
                <a:solidFill>
                  <a:schemeClr val="bg1">
                    <a:lumMod val="50000"/>
                    <a:lumOff val="50000"/>
                  </a:schemeClr>
                </a:solidFill>
              </a:rPr>
              <a:t>or car </a:t>
            </a:r>
            <a:r>
              <a:rPr lang="en-US" sz="2400" dirty="0"/>
              <a:t>given by the employer to the employee.</a:t>
            </a:r>
          </a:p>
          <a:p>
            <a:pPr algn="just"/>
            <a:endParaRPr lang="en-US" sz="2400" dirty="0"/>
          </a:p>
          <a:p>
            <a:pPr algn="just"/>
            <a:r>
              <a:rPr lang="en-US" sz="2400" dirty="0"/>
              <a:t>Interest free loans, Movable assets, Educational expenses, Insurance premium paid on behalf of employees</a:t>
            </a:r>
          </a:p>
          <a:p>
            <a:pPr algn="just"/>
            <a:endParaRPr lang="en-US" sz="2400" dirty="0"/>
          </a:p>
          <a:p>
            <a:pPr algn="just"/>
            <a:endParaRPr lang="en-US" sz="2400" dirty="0"/>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83</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21321499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4484686"/>
          </a:xfrm>
        </p:spPr>
        <p:txBody>
          <a:bodyPr>
            <a:noAutofit/>
          </a:bodyPr>
          <a:lstStyle/>
          <a:p>
            <a:pPr marL="0" indent="0" algn="just">
              <a:buNone/>
            </a:pPr>
            <a:r>
              <a:rPr lang="en-US" sz="2400" dirty="0">
                <a:solidFill>
                  <a:srgbClr val="FF0000"/>
                </a:solidFill>
              </a:rPr>
              <a:t>Section 17 </a:t>
            </a:r>
            <a:r>
              <a:rPr lang="en-US" sz="2400" dirty="0"/>
              <a:t>of the Act has mentioned the term ‘</a:t>
            </a:r>
            <a:r>
              <a:rPr lang="en-IN" sz="2400" dirty="0">
                <a:solidFill>
                  <a:srgbClr val="FF0000"/>
                </a:solidFill>
              </a:rPr>
              <a:t>profits in lieu of salary</a:t>
            </a:r>
            <a:r>
              <a:rPr lang="en-US" sz="2400" dirty="0"/>
              <a:t>’, which included-</a:t>
            </a:r>
          </a:p>
          <a:p>
            <a:pPr marL="0" indent="0" algn="just">
              <a:buNone/>
            </a:pPr>
            <a:endParaRPr lang="en-US" sz="2400" dirty="0"/>
          </a:p>
          <a:p>
            <a:pPr algn="just"/>
            <a:r>
              <a:rPr lang="en-US" sz="2400" dirty="0"/>
              <a:t>the amount of any compensation due to or received by an assesse from his employer or former employer at or in connection with the termination of his employment or the modification of the terms and conditions relating thereto</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84</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Heads of Income - </a:t>
            </a:r>
            <a:r>
              <a:rPr lang="en-US" sz="4000" dirty="0">
                <a:solidFill>
                  <a:srgbClr val="FF0000"/>
                </a:solidFill>
              </a:rPr>
              <a:t>Income from Salary </a:t>
            </a:r>
            <a:endParaRPr lang="en-IN" dirty="0"/>
          </a:p>
        </p:txBody>
      </p:sp>
    </p:spTree>
    <p:extLst>
      <p:ext uri="{BB962C8B-B14F-4D97-AF65-F5344CB8AC3E}">
        <p14:creationId xmlns:p14="http://schemas.microsoft.com/office/powerpoint/2010/main" val="262371900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5357522"/>
          </a:xfrm>
        </p:spPr>
        <p:txBody>
          <a:bodyPr>
            <a:noAutofit/>
          </a:bodyPr>
          <a:lstStyle/>
          <a:p>
            <a:pPr algn="just" fontAlgn="base"/>
            <a:r>
              <a:rPr lang="en-US" sz="2200" dirty="0"/>
              <a:t>The amount of tax calculated is directly deducted from your salary before crediting it to your account. This amount deducted by the employer is known as TDS (Tax Deducted at Source).</a:t>
            </a:r>
          </a:p>
          <a:p>
            <a:pPr algn="just" fontAlgn="base">
              <a:buFont typeface="Wingdings" panose="05000000000000000000" pitchFamily="2" charset="2"/>
              <a:buChar char="v"/>
            </a:pPr>
            <a:r>
              <a:rPr lang="en-US" sz="2200" b="1" dirty="0">
                <a:solidFill>
                  <a:srgbClr val="7030A0"/>
                </a:solidFill>
              </a:rPr>
              <a:t>Gross Salary</a:t>
            </a:r>
          </a:p>
          <a:p>
            <a:pPr algn="just" fontAlgn="base"/>
            <a:r>
              <a:rPr lang="en-US" sz="2200" dirty="0"/>
              <a:t>It is the total salary before accounting for various deductions. Gross salary can be arrived at by adding the basic salary, HRA, bonus, and allowances. </a:t>
            </a:r>
          </a:p>
          <a:p>
            <a:pPr algn="just" fontAlgn="base">
              <a:buFont typeface="Wingdings" panose="05000000000000000000" pitchFamily="2" charset="2"/>
              <a:buChar char="v"/>
            </a:pPr>
            <a:r>
              <a:rPr lang="en-US" sz="2200" b="1" dirty="0">
                <a:solidFill>
                  <a:srgbClr val="7030A0"/>
                </a:solidFill>
              </a:rPr>
              <a:t>In-hand or Take-Home Salary</a:t>
            </a:r>
          </a:p>
          <a:p>
            <a:pPr algn="just" fontAlgn="base"/>
            <a:r>
              <a:rPr lang="en-US" sz="2200" dirty="0"/>
              <a:t>The amount left after all the above adjustments are made is known as the in-hand or take-home salary. It is the salary that employees receive at the end of every month. In other words, it is the amount that is credited into employees’ bank accounts every month. </a:t>
            </a:r>
          </a:p>
          <a:p>
            <a:pPr algn="just" fontAlgn="base"/>
            <a:r>
              <a:rPr lang="en-US" sz="2200" dirty="0"/>
              <a:t>Here is the formula to calculate in-hand salary –</a:t>
            </a:r>
          </a:p>
          <a:p>
            <a:pPr algn="just" fontAlgn="base"/>
            <a:r>
              <a:rPr lang="en-US" sz="2200" b="1" dirty="0"/>
              <a:t>Net Salary = Basic Salary + Allowances – (Provident fund + Gratuity + TDS + Professional Tax)</a:t>
            </a:r>
            <a:endParaRPr lang="en-US" sz="2200" dirty="0"/>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85</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SALARY</a:t>
            </a:r>
            <a:endParaRPr lang="en-IN" dirty="0">
              <a:solidFill>
                <a:srgbClr val="FF0000"/>
              </a:solidFill>
            </a:endParaRPr>
          </a:p>
        </p:txBody>
      </p:sp>
    </p:spTree>
    <p:extLst>
      <p:ext uri="{BB962C8B-B14F-4D97-AF65-F5344CB8AC3E}">
        <p14:creationId xmlns:p14="http://schemas.microsoft.com/office/powerpoint/2010/main" val="390037020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3" y="987860"/>
            <a:ext cx="11243667" cy="914831"/>
          </a:xfrm>
        </p:spPr>
        <p:txBody>
          <a:bodyPr>
            <a:noAutofit/>
          </a:bodyPr>
          <a:lstStyle/>
          <a:p>
            <a:pPr marL="0" indent="0" algn="ctr">
              <a:buNone/>
            </a:pPr>
            <a:r>
              <a:rPr lang="en-IN" sz="2400" b="1" dirty="0">
                <a:solidFill>
                  <a:srgbClr val="7030A0"/>
                </a:solidFill>
              </a:rPr>
              <a:t>FINANCIAL YEAR 2024-25 (A.Y. 2025-26)</a:t>
            </a:r>
          </a:p>
          <a:p>
            <a:pPr marL="0" indent="0" algn="ctr">
              <a:buNone/>
            </a:pPr>
            <a:r>
              <a:rPr lang="en-IN" sz="2400" b="1" dirty="0">
                <a:solidFill>
                  <a:srgbClr val="FF0000"/>
                </a:solidFill>
              </a:rPr>
              <a:t>NEW TAX REGIME</a:t>
            </a:r>
            <a:endParaRPr lang="en-US" sz="2400" b="1" dirty="0">
              <a:solidFill>
                <a:srgbClr val="FF0000"/>
              </a:solidFill>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86</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TAX SLAB</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3655856811"/>
              </p:ext>
            </p:extLst>
          </p:nvPr>
        </p:nvGraphicFramePr>
        <p:xfrm>
          <a:off x="375675" y="1902691"/>
          <a:ext cx="11058941" cy="4632960"/>
        </p:xfrm>
        <a:graphic>
          <a:graphicData uri="http://schemas.openxmlformats.org/drawingml/2006/table">
            <a:tbl>
              <a:tblPr>
                <a:tableStyleId>{93296810-A885-4BE3-A3E7-6D5BEEA58F35}</a:tableStyleId>
              </a:tblPr>
              <a:tblGrid>
                <a:gridCol w="2418325">
                  <a:extLst>
                    <a:ext uri="{9D8B030D-6E8A-4147-A177-3AD203B41FA5}">
                      <a16:colId xmlns:a16="http://schemas.microsoft.com/office/drawing/2014/main" val="3259599746"/>
                    </a:ext>
                  </a:extLst>
                </a:gridCol>
                <a:gridCol w="3129280">
                  <a:extLst>
                    <a:ext uri="{9D8B030D-6E8A-4147-A177-3AD203B41FA5}">
                      <a16:colId xmlns:a16="http://schemas.microsoft.com/office/drawing/2014/main" val="488731640"/>
                    </a:ext>
                  </a:extLst>
                </a:gridCol>
                <a:gridCol w="5511336">
                  <a:extLst>
                    <a:ext uri="{9D8B030D-6E8A-4147-A177-3AD203B41FA5}">
                      <a16:colId xmlns:a16="http://schemas.microsoft.com/office/drawing/2014/main" val="1583798346"/>
                    </a:ext>
                  </a:extLst>
                </a:gridCol>
              </a:tblGrid>
              <a:tr h="424697">
                <a:tc>
                  <a:txBody>
                    <a:bodyPr/>
                    <a:lstStyle/>
                    <a:p>
                      <a:pPr algn="ctr" fontAlgn="t">
                        <a:lnSpc>
                          <a:spcPct val="100000"/>
                        </a:lnSpc>
                      </a:pPr>
                      <a:r>
                        <a:rPr lang="en-IN" sz="1700" b="1" dirty="0">
                          <a:effectLst/>
                        </a:rPr>
                        <a:t>Income Range</a:t>
                      </a:r>
                    </a:p>
                  </a:txBody>
                  <a:tcPr marL="95250" marR="95250" marT="95250" marB="95250"/>
                </a:tc>
                <a:tc>
                  <a:txBody>
                    <a:bodyPr/>
                    <a:lstStyle/>
                    <a:p>
                      <a:pPr algn="ctr" fontAlgn="t">
                        <a:lnSpc>
                          <a:spcPct val="100000"/>
                        </a:lnSpc>
                      </a:pPr>
                      <a:r>
                        <a:rPr lang="en-IN" sz="1700" b="1" dirty="0">
                          <a:effectLst/>
                        </a:rPr>
                        <a:t>Tax Rate</a:t>
                      </a:r>
                    </a:p>
                  </a:txBody>
                  <a:tcPr marL="95250" marR="95250" marT="95250" marB="95250"/>
                </a:tc>
                <a:tc>
                  <a:txBody>
                    <a:bodyPr/>
                    <a:lstStyle/>
                    <a:p>
                      <a:pPr algn="just" fontAlgn="t">
                        <a:lnSpc>
                          <a:spcPct val="100000"/>
                        </a:lnSpc>
                      </a:pPr>
                      <a:endParaRPr lang="en-IN" sz="1700" b="0" dirty="0">
                        <a:effectLst/>
                      </a:endParaRPr>
                    </a:p>
                  </a:txBody>
                  <a:tcPr marL="95250" marR="95250" marT="95250" marB="95250"/>
                </a:tc>
                <a:extLst>
                  <a:ext uri="{0D108BD9-81ED-4DB2-BD59-A6C34878D82A}">
                    <a16:rowId xmlns:a16="http://schemas.microsoft.com/office/drawing/2014/main" val="3465161455"/>
                  </a:ext>
                </a:extLst>
              </a:tr>
              <a:tr h="424697">
                <a:tc>
                  <a:txBody>
                    <a:bodyPr/>
                    <a:lstStyle/>
                    <a:p>
                      <a:pPr algn="just" fontAlgn="t">
                        <a:lnSpc>
                          <a:spcPct val="100000"/>
                        </a:lnSpc>
                      </a:pPr>
                      <a:r>
                        <a:rPr lang="en-IN" sz="1700" dirty="0">
                          <a:effectLst/>
                        </a:rPr>
                        <a:t>0 - ₹3,00,000</a:t>
                      </a:r>
                    </a:p>
                  </a:txBody>
                  <a:tcPr marL="95250" marR="95250" marT="95250" marB="95250"/>
                </a:tc>
                <a:tc>
                  <a:txBody>
                    <a:bodyPr/>
                    <a:lstStyle/>
                    <a:p>
                      <a:pPr algn="ctr" fontAlgn="t">
                        <a:lnSpc>
                          <a:spcPct val="100000"/>
                        </a:lnSpc>
                      </a:pPr>
                      <a:r>
                        <a:rPr lang="en-IN" sz="1700" dirty="0">
                          <a:effectLst/>
                        </a:rPr>
                        <a:t>0%</a:t>
                      </a:r>
                    </a:p>
                  </a:txBody>
                  <a:tcPr marL="95250" marR="95250" marT="95250" marB="95250"/>
                </a:tc>
                <a:tc>
                  <a:txBody>
                    <a:bodyPr/>
                    <a:lstStyle/>
                    <a:p>
                      <a:pPr algn="just" fontAlgn="t">
                        <a:lnSpc>
                          <a:spcPct val="100000"/>
                        </a:lnSpc>
                      </a:pPr>
                      <a:r>
                        <a:rPr lang="en-IN" sz="1700" b="0" dirty="0">
                          <a:effectLst/>
                        </a:rPr>
                        <a:t>NIL</a:t>
                      </a:r>
                    </a:p>
                  </a:txBody>
                  <a:tcPr marL="95250" marR="95250" marT="95250" marB="95250"/>
                </a:tc>
                <a:extLst>
                  <a:ext uri="{0D108BD9-81ED-4DB2-BD59-A6C34878D82A}">
                    <a16:rowId xmlns:a16="http://schemas.microsoft.com/office/drawing/2014/main" val="3673737190"/>
                  </a:ext>
                </a:extLst>
              </a:tr>
              <a:tr h="663123">
                <a:tc>
                  <a:txBody>
                    <a:bodyPr/>
                    <a:lstStyle/>
                    <a:p>
                      <a:pPr algn="just" fontAlgn="t">
                        <a:lnSpc>
                          <a:spcPct val="100000"/>
                        </a:lnSpc>
                      </a:pPr>
                      <a:r>
                        <a:rPr lang="en-IN" sz="1700" dirty="0">
                          <a:effectLst/>
                        </a:rPr>
                        <a:t>₹3,00,001 - ₹7,00,000</a:t>
                      </a:r>
                    </a:p>
                  </a:txBody>
                  <a:tcPr marL="95250" marR="95250" marT="95250" marB="95250"/>
                </a:tc>
                <a:tc>
                  <a:txBody>
                    <a:bodyPr/>
                    <a:lstStyle/>
                    <a:p>
                      <a:pPr algn="ctr" fontAlgn="t">
                        <a:lnSpc>
                          <a:spcPct val="100000"/>
                        </a:lnSpc>
                      </a:pPr>
                      <a:r>
                        <a:rPr lang="en-IN" sz="1700" dirty="0">
                          <a:effectLst/>
                        </a:rPr>
                        <a:t>5% </a:t>
                      </a:r>
                    </a:p>
                    <a:p>
                      <a:pPr algn="ctr" fontAlgn="t">
                        <a:lnSpc>
                          <a:spcPct val="100000"/>
                        </a:lnSpc>
                      </a:pPr>
                      <a:r>
                        <a:rPr lang="en-IN" sz="1700" dirty="0">
                          <a:effectLst/>
                        </a:rPr>
                        <a:t>(</a:t>
                      </a:r>
                      <a:r>
                        <a:rPr lang="en-IN" sz="1700" b="1" i="1" dirty="0">
                          <a:solidFill>
                            <a:srgbClr val="FF0000"/>
                          </a:solidFill>
                          <a:effectLst/>
                        </a:rPr>
                        <a:t>tax rebate u/s 87A </a:t>
                      </a:r>
                      <a:r>
                        <a:rPr lang="en-IN" sz="1700" b="1" i="1" dirty="0" err="1">
                          <a:solidFill>
                            <a:srgbClr val="FF0000"/>
                          </a:solidFill>
                          <a:effectLst/>
                        </a:rPr>
                        <a:t>upto</a:t>
                      </a:r>
                      <a:r>
                        <a:rPr lang="en-IN" sz="1700" b="1" i="1" dirty="0">
                          <a:solidFill>
                            <a:srgbClr val="FF0000"/>
                          </a:solidFill>
                          <a:effectLst/>
                        </a:rPr>
                        <a:t> 7 lacs</a:t>
                      </a:r>
                      <a:r>
                        <a:rPr lang="en-IN" sz="1700" dirty="0">
                          <a:effectLst/>
                        </a:rPr>
                        <a:t>)</a:t>
                      </a:r>
                    </a:p>
                  </a:txBody>
                  <a:tcPr marL="95250" marR="95250" marT="95250" marB="95250"/>
                </a:tc>
                <a:tc>
                  <a:txBody>
                    <a:bodyPr/>
                    <a:lstStyle/>
                    <a:p>
                      <a:pPr algn="just" fontAlgn="t">
                        <a:lnSpc>
                          <a:spcPct val="100000"/>
                        </a:lnSpc>
                      </a:pPr>
                      <a:r>
                        <a:rPr lang="en-US" sz="1700" b="0" dirty="0">
                          <a:effectLst/>
                        </a:rPr>
                        <a:t>5% on income which exceeds Rs 3,00,000 (</a:t>
                      </a:r>
                      <a:r>
                        <a:rPr lang="en-US" sz="1700" b="1" dirty="0">
                          <a:effectLst/>
                        </a:rPr>
                        <a:t>Rs 20,000/-</a:t>
                      </a:r>
                      <a:r>
                        <a:rPr lang="en-US" sz="1700" b="0" dirty="0">
                          <a:effectLst/>
                        </a:rPr>
                        <a:t>)</a:t>
                      </a:r>
                    </a:p>
                    <a:p>
                      <a:pPr marL="0" marR="0" lvl="0" indent="0" algn="just" defTabSz="457200" rtl="0" eaLnBrk="1" fontAlgn="t" latinLnBrk="0" hangingPunct="1">
                        <a:lnSpc>
                          <a:spcPct val="100000"/>
                        </a:lnSpc>
                        <a:spcBef>
                          <a:spcPts val="0"/>
                        </a:spcBef>
                        <a:spcAft>
                          <a:spcPts val="0"/>
                        </a:spcAft>
                        <a:buClrTx/>
                        <a:buSzTx/>
                        <a:buFontTx/>
                        <a:buNone/>
                        <a:tabLst/>
                        <a:defRPr/>
                      </a:pPr>
                      <a:r>
                        <a:rPr lang="en-IN" sz="1700" dirty="0">
                          <a:effectLst/>
                        </a:rPr>
                        <a:t>(</a:t>
                      </a:r>
                      <a:r>
                        <a:rPr lang="en-IN" sz="1700" b="1" i="1" dirty="0">
                          <a:solidFill>
                            <a:srgbClr val="FF0000"/>
                          </a:solidFill>
                          <a:effectLst/>
                        </a:rPr>
                        <a:t>tax rebate u/s 87A </a:t>
                      </a:r>
                      <a:r>
                        <a:rPr lang="en-IN" sz="1700" b="1" i="1" dirty="0" err="1">
                          <a:solidFill>
                            <a:srgbClr val="FF0000"/>
                          </a:solidFill>
                          <a:effectLst/>
                        </a:rPr>
                        <a:t>upto</a:t>
                      </a:r>
                      <a:r>
                        <a:rPr lang="en-IN" sz="1700" b="1" i="1" dirty="0">
                          <a:solidFill>
                            <a:srgbClr val="FF0000"/>
                          </a:solidFill>
                          <a:effectLst/>
                        </a:rPr>
                        <a:t> 7 lacs</a:t>
                      </a:r>
                      <a:r>
                        <a:rPr lang="en-IN" sz="1700" dirty="0">
                          <a:effectLst/>
                        </a:rPr>
                        <a:t>)</a:t>
                      </a:r>
                    </a:p>
                  </a:txBody>
                  <a:tcPr marL="95250" marR="95250" marT="95250" marB="95250"/>
                </a:tc>
                <a:extLst>
                  <a:ext uri="{0D108BD9-81ED-4DB2-BD59-A6C34878D82A}">
                    <a16:rowId xmlns:a16="http://schemas.microsoft.com/office/drawing/2014/main" val="4163486681"/>
                  </a:ext>
                </a:extLst>
              </a:tr>
              <a:tr h="424697">
                <a:tc>
                  <a:txBody>
                    <a:bodyPr/>
                    <a:lstStyle/>
                    <a:p>
                      <a:pPr algn="just" fontAlgn="t">
                        <a:lnSpc>
                          <a:spcPct val="100000"/>
                        </a:lnSpc>
                      </a:pPr>
                      <a:r>
                        <a:rPr lang="en-IN" sz="1700" dirty="0">
                          <a:effectLst/>
                        </a:rPr>
                        <a:t>₹7,00,001 - ₹10,00,000</a:t>
                      </a:r>
                    </a:p>
                  </a:txBody>
                  <a:tcPr marL="95250" marR="95250" marT="95250" marB="95250"/>
                </a:tc>
                <a:tc>
                  <a:txBody>
                    <a:bodyPr/>
                    <a:lstStyle/>
                    <a:p>
                      <a:pPr algn="ctr" fontAlgn="t">
                        <a:lnSpc>
                          <a:spcPct val="100000"/>
                        </a:lnSpc>
                      </a:pPr>
                      <a:r>
                        <a:rPr lang="en-IN" sz="1700" dirty="0">
                          <a:effectLst/>
                        </a:rPr>
                        <a:t>10%</a:t>
                      </a:r>
                    </a:p>
                  </a:txBody>
                  <a:tcPr marL="95250" marR="95250" marT="95250" marB="95250"/>
                </a:tc>
                <a:tc>
                  <a:txBody>
                    <a:bodyPr/>
                    <a:lstStyle/>
                    <a:p>
                      <a:pPr algn="just" fontAlgn="t">
                        <a:lnSpc>
                          <a:spcPct val="100000"/>
                        </a:lnSpc>
                      </a:pPr>
                      <a:r>
                        <a:rPr lang="en-US" sz="1700" b="0" i="0" kern="1200" dirty="0">
                          <a:solidFill>
                            <a:schemeClr val="dk1"/>
                          </a:solidFill>
                          <a:effectLst/>
                          <a:latin typeface="+mn-lt"/>
                          <a:ea typeface="+mn-ea"/>
                          <a:cs typeface="+mn-cs"/>
                        </a:rPr>
                        <a:t>Rs. 20,000 + 10% on income more than Rs 7,00,000 </a:t>
                      </a:r>
                      <a:r>
                        <a:rPr lang="en-US" sz="1700" b="0" dirty="0">
                          <a:effectLst/>
                        </a:rPr>
                        <a:t>(</a:t>
                      </a:r>
                      <a:r>
                        <a:rPr lang="en-US" sz="1700" b="1" dirty="0">
                          <a:effectLst/>
                        </a:rPr>
                        <a:t>Rs 50,000/-</a:t>
                      </a:r>
                      <a:r>
                        <a:rPr lang="en-US" sz="1700" b="0" dirty="0">
                          <a:effectLst/>
                        </a:rPr>
                        <a:t>)</a:t>
                      </a:r>
                      <a:endParaRPr lang="en-IN" sz="1700" b="0" dirty="0">
                        <a:effectLst/>
                      </a:endParaRPr>
                    </a:p>
                  </a:txBody>
                  <a:tcPr marL="95250" marR="95250" marT="95250" marB="95250"/>
                </a:tc>
                <a:extLst>
                  <a:ext uri="{0D108BD9-81ED-4DB2-BD59-A6C34878D82A}">
                    <a16:rowId xmlns:a16="http://schemas.microsoft.com/office/drawing/2014/main" val="3191942537"/>
                  </a:ext>
                </a:extLst>
              </a:tr>
              <a:tr h="424697">
                <a:tc>
                  <a:txBody>
                    <a:bodyPr/>
                    <a:lstStyle/>
                    <a:p>
                      <a:pPr algn="just" fontAlgn="t">
                        <a:lnSpc>
                          <a:spcPct val="100000"/>
                        </a:lnSpc>
                      </a:pPr>
                      <a:r>
                        <a:rPr lang="en-IN" sz="1700" dirty="0">
                          <a:effectLst/>
                        </a:rPr>
                        <a:t>₹10,00,001 - ₹12,00,000</a:t>
                      </a:r>
                    </a:p>
                  </a:txBody>
                  <a:tcPr marL="95250" marR="95250" marT="95250" marB="95250"/>
                </a:tc>
                <a:tc>
                  <a:txBody>
                    <a:bodyPr/>
                    <a:lstStyle/>
                    <a:p>
                      <a:pPr algn="ctr" fontAlgn="t">
                        <a:lnSpc>
                          <a:spcPct val="100000"/>
                        </a:lnSpc>
                      </a:pPr>
                      <a:r>
                        <a:rPr lang="en-IN" sz="1700" dirty="0">
                          <a:effectLst/>
                        </a:rPr>
                        <a:t>15%</a:t>
                      </a:r>
                    </a:p>
                  </a:txBody>
                  <a:tcPr marL="95250" marR="95250" marT="95250" marB="95250"/>
                </a:tc>
                <a:tc>
                  <a:txBody>
                    <a:bodyPr/>
                    <a:lstStyle/>
                    <a:p>
                      <a:pPr algn="just" fontAlgn="t">
                        <a:lnSpc>
                          <a:spcPct val="100000"/>
                        </a:lnSpc>
                      </a:pPr>
                      <a:r>
                        <a:rPr lang="en-US" sz="1700" b="0" i="0" kern="1200" dirty="0">
                          <a:solidFill>
                            <a:schemeClr val="dk1"/>
                          </a:solidFill>
                          <a:effectLst/>
                          <a:latin typeface="+mn-lt"/>
                          <a:ea typeface="+mn-ea"/>
                          <a:cs typeface="+mn-cs"/>
                        </a:rPr>
                        <a:t>Rs. 50,000 + 15% on income more than Rs 10,00,000 </a:t>
                      </a:r>
                      <a:r>
                        <a:rPr lang="en-US" sz="1700" b="0" dirty="0">
                          <a:effectLst/>
                        </a:rPr>
                        <a:t>(</a:t>
                      </a:r>
                      <a:r>
                        <a:rPr lang="en-US" sz="1700" b="1" dirty="0">
                          <a:effectLst/>
                        </a:rPr>
                        <a:t>Rs 80,000/-</a:t>
                      </a:r>
                      <a:r>
                        <a:rPr lang="en-US" sz="1700" b="0" dirty="0">
                          <a:effectLst/>
                        </a:rPr>
                        <a:t>)</a:t>
                      </a:r>
                      <a:endParaRPr lang="en-IN" sz="1700" b="0" dirty="0">
                        <a:effectLst/>
                      </a:endParaRPr>
                    </a:p>
                  </a:txBody>
                  <a:tcPr marL="95250" marR="95250" marT="95250" marB="95250"/>
                </a:tc>
                <a:extLst>
                  <a:ext uri="{0D108BD9-81ED-4DB2-BD59-A6C34878D82A}">
                    <a16:rowId xmlns:a16="http://schemas.microsoft.com/office/drawing/2014/main" val="3867720616"/>
                  </a:ext>
                </a:extLst>
              </a:tr>
              <a:tr h="424697">
                <a:tc>
                  <a:txBody>
                    <a:bodyPr/>
                    <a:lstStyle/>
                    <a:p>
                      <a:pPr algn="just" fontAlgn="t">
                        <a:lnSpc>
                          <a:spcPct val="100000"/>
                        </a:lnSpc>
                      </a:pPr>
                      <a:r>
                        <a:rPr lang="en-IN" sz="1700" dirty="0">
                          <a:effectLst/>
                        </a:rPr>
                        <a:t>₹12,00,001 - ₹15,00,000</a:t>
                      </a:r>
                    </a:p>
                  </a:txBody>
                  <a:tcPr marL="95250" marR="95250" marT="95250" marB="95250"/>
                </a:tc>
                <a:tc>
                  <a:txBody>
                    <a:bodyPr/>
                    <a:lstStyle/>
                    <a:p>
                      <a:pPr algn="ctr" fontAlgn="t">
                        <a:lnSpc>
                          <a:spcPct val="100000"/>
                        </a:lnSpc>
                      </a:pPr>
                      <a:r>
                        <a:rPr lang="en-IN" sz="1700" dirty="0">
                          <a:effectLst/>
                        </a:rPr>
                        <a:t>20%</a:t>
                      </a:r>
                    </a:p>
                  </a:txBody>
                  <a:tcPr marL="95250" marR="95250" marT="95250" marB="95250"/>
                </a:tc>
                <a:tc>
                  <a:txBody>
                    <a:bodyPr/>
                    <a:lstStyle/>
                    <a:p>
                      <a:pPr algn="just" fontAlgn="t">
                        <a:lnSpc>
                          <a:spcPct val="100000"/>
                        </a:lnSpc>
                      </a:pPr>
                      <a:r>
                        <a:rPr lang="en-US" sz="1700" b="0" i="0" kern="1200" dirty="0">
                          <a:solidFill>
                            <a:schemeClr val="dk1"/>
                          </a:solidFill>
                          <a:effectLst/>
                          <a:latin typeface="+mn-lt"/>
                          <a:ea typeface="+mn-ea"/>
                          <a:cs typeface="+mn-cs"/>
                        </a:rPr>
                        <a:t>Rs. 80,000 + 20% on income more than Rs 12,00,000 </a:t>
                      </a:r>
                      <a:r>
                        <a:rPr lang="en-US" sz="1700" b="0" dirty="0">
                          <a:effectLst/>
                        </a:rPr>
                        <a:t>(</a:t>
                      </a:r>
                      <a:r>
                        <a:rPr lang="en-US" sz="1700" b="1" dirty="0">
                          <a:effectLst/>
                        </a:rPr>
                        <a:t>Rs 1,40,000/-</a:t>
                      </a:r>
                      <a:r>
                        <a:rPr lang="en-US" sz="1700" b="0" dirty="0">
                          <a:effectLst/>
                        </a:rPr>
                        <a:t>)</a:t>
                      </a:r>
                      <a:endParaRPr lang="en-IN" sz="1700" b="0" dirty="0">
                        <a:effectLst/>
                      </a:endParaRPr>
                    </a:p>
                  </a:txBody>
                  <a:tcPr marL="95250" marR="95250" marT="95250" marB="95250"/>
                </a:tc>
                <a:extLst>
                  <a:ext uri="{0D108BD9-81ED-4DB2-BD59-A6C34878D82A}">
                    <a16:rowId xmlns:a16="http://schemas.microsoft.com/office/drawing/2014/main" val="1793247135"/>
                  </a:ext>
                </a:extLst>
              </a:tr>
              <a:tr h="424697">
                <a:tc>
                  <a:txBody>
                    <a:bodyPr/>
                    <a:lstStyle/>
                    <a:p>
                      <a:pPr algn="just" fontAlgn="t">
                        <a:lnSpc>
                          <a:spcPct val="100000"/>
                        </a:lnSpc>
                      </a:pPr>
                      <a:r>
                        <a:rPr lang="en-IN" sz="1700">
                          <a:effectLst/>
                        </a:rPr>
                        <a:t>Above ₹15,00,000</a:t>
                      </a:r>
                    </a:p>
                  </a:txBody>
                  <a:tcPr marL="95250" marR="95250" marT="95250" marB="95250"/>
                </a:tc>
                <a:tc>
                  <a:txBody>
                    <a:bodyPr/>
                    <a:lstStyle/>
                    <a:p>
                      <a:pPr algn="ctr" fontAlgn="t">
                        <a:lnSpc>
                          <a:spcPct val="100000"/>
                        </a:lnSpc>
                      </a:pPr>
                      <a:r>
                        <a:rPr lang="en-IN" sz="1700" dirty="0">
                          <a:effectLst/>
                        </a:rPr>
                        <a:t>30%</a:t>
                      </a:r>
                    </a:p>
                  </a:txBody>
                  <a:tcPr marL="95250" marR="95250" marT="95250" marB="95250"/>
                </a:tc>
                <a:tc>
                  <a:txBody>
                    <a:bodyPr/>
                    <a:lstStyle/>
                    <a:p>
                      <a:pPr algn="just" fontAlgn="t">
                        <a:lnSpc>
                          <a:spcPct val="100000"/>
                        </a:lnSpc>
                      </a:pPr>
                      <a:r>
                        <a:rPr lang="en-US" sz="1700" b="0" i="0" kern="1200" dirty="0">
                          <a:solidFill>
                            <a:schemeClr val="dk1"/>
                          </a:solidFill>
                          <a:effectLst/>
                          <a:latin typeface="+mn-lt"/>
                          <a:ea typeface="+mn-ea"/>
                          <a:cs typeface="+mn-cs"/>
                        </a:rPr>
                        <a:t>Rs. 1,40,000 + 30% on income more than Rs 15,00,000</a:t>
                      </a:r>
                      <a:endParaRPr lang="en-IN" sz="1700" b="0" dirty="0">
                        <a:effectLst/>
                      </a:endParaRPr>
                    </a:p>
                  </a:txBody>
                  <a:tcPr marL="95250" marR="95250" marT="95250" marB="95250"/>
                </a:tc>
                <a:extLst>
                  <a:ext uri="{0D108BD9-81ED-4DB2-BD59-A6C34878D82A}">
                    <a16:rowId xmlns:a16="http://schemas.microsoft.com/office/drawing/2014/main" val="321854111"/>
                  </a:ext>
                </a:extLst>
              </a:tr>
              <a:tr h="424697">
                <a:tc>
                  <a:txBody>
                    <a:bodyPr/>
                    <a:lstStyle/>
                    <a:p>
                      <a:pPr algn="just" fontAlgn="t">
                        <a:lnSpc>
                          <a:spcPct val="100000"/>
                        </a:lnSpc>
                      </a:pPr>
                      <a:r>
                        <a:rPr lang="en-IN" sz="1700" dirty="0">
                          <a:effectLst/>
                        </a:rPr>
                        <a:t>Cess</a:t>
                      </a:r>
                    </a:p>
                  </a:txBody>
                  <a:tcPr marL="95250" marR="95250" marT="95250" marB="95250"/>
                </a:tc>
                <a:tc>
                  <a:txBody>
                    <a:bodyPr/>
                    <a:lstStyle/>
                    <a:p>
                      <a:pPr algn="ctr" fontAlgn="t">
                        <a:lnSpc>
                          <a:spcPct val="100000"/>
                        </a:lnSpc>
                      </a:pPr>
                      <a:r>
                        <a:rPr lang="en-US" sz="1700" dirty="0">
                          <a:effectLst/>
                        </a:rPr>
                        <a:t>4% p.a. of Taxable Income</a:t>
                      </a:r>
                    </a:p>
                  </a:txBody>
                  <a:tcPr marL="95250" marR="95250" marT="95250" marB="95250"/>
                </a:tc>
                <a:tc>
                  <a:txBody>
                    <a:bodyPr/>
                    <a:lstStyle/>
                    <a:p>
                      <a:pPr algn="just" fontAlgn="t">
                        <a:lnSpc>
                          <a:spcPct val="100000"/>
                        </a:lnSpc>
                      </a:pPr>
                      <a:endParaRPr lang="en-US" sz="1700" b="0" dirty="0">
                        <a:effectLst/>
                      </a:endParaRPr>
                    </a:p>
                  </a:txBody>
                  <a:tcPr marL="95250" marR="95250" marT="95250" marB="95250"/>
                </a:tc>
                <a:extLst>
                  <a:ext uri="{0D108BD9-81ED-4DB2-BD59-A6C34878D82A}">
                    <a16:rowId xmlns:a16="http://schemas.microsoft.com/office/drawing/2014/main" val="23666444"/>
                  </a:ext>
                </a:extLst>
              </a:tr>
            </a:tbl>
          </a:graphicData>
        </a:graphic>
      </p:graphicFrame>
    </p:spTree>
    <p:extLst>
      <p:ext uri="{BB962C8B-B14F-4D97-AF65-F5344CB8AC3E}">
        <p14:creationId xmlns:p14="http://schemas.microsoft.com/office/powerpoint/2010/main" val="397813476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914831"/>
          </a:xfrm>
        </p:spPr>
        <p:txBody>
          <a:bodyPr>
            <a:noAutofit/>
          </a:bodyPr>
          <a:lstStyle/>
          <a:p>
            <a:pPr marL="0" indent="0" algn="ctr">
              <a:buNone/>
            </a:pPr>
            <a:r>
              <a:rPr lang="en-IN" sz="2400" b="1" dirty="0">
                <a:solidFill>
                  <a:srgbClr val="7030A0"/>
                </a:solidFill>
              </a:rPr>
              <a:t>FINANCIAL YEAR 2024-25 (A.Y. 2025-26)</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87</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Example - </a:t>
            </a:r>
            <a:r>
              <a:rPr lang="en-IN" sz="4400" b="1" dirty="0">
                <a:solidFill>
                  <a:srgbClr val="FF0000"/>
                </a:solidFill>
              </a:rPr>
              <a:t>NEW TAX REGIME</a:t>
            </a:r>
            <a:br>
              <a:rPr lang="en-US" sz="4400" b="1" dirty="0">
                <a:solidFill>
                  <a:schemeClr val="bg2">
                    <a:lumMod val="50000"/>
                  </a:schemeClr>
                </a:solidFill>
              </a:rPr>
            </a:br>
            <a:r>
              <a:rPr lang="en-US" dirty="0"/>
              <a:t> </a:t>
            </a:r>
            <a:endParaRPr lang="en-IN" dirty="0"/>
          </a:p>
        </p:txBody>
      </p:sp>
      <p:graphicFrame>
        <p:nvGraphicFramePr>
          <p:cNvPr id="2" name="Table 1"/>
          <p:cNvGraphicFramePr>
            <a:graphicFrameLocks noGrp="1"/>
          </p:cNvGraphicFramePr>
          <p:nvPr>
            <p:extLst>
              <p:ext uri="{D42A27DB-BD31-4B8C-83A1-F6EECF244321}">
                <p14:modId xmlns:p14="http://schemas.microsoft.com/office/powerpoint/2010/main" val="266018458"/>
              </p:ext>
            </p:extLst>
          </p:nvPr>
        </p:nvGraphicFramePr>
        <p:xfrm>
          <a:off x="1013979" y="1956443"/>
          <a:ext cx="8947150" cy="2202740"/>
        </p:xfrm>
        <a:graphic>
          <a:graphicData uri="http://schemas.openxmlformats.org/drawingml/2006/table">
            <a:tbl>
              <a:tblPr/>
              <a:tblGrid>
                <a:gridCol w="5798502">
                  <a:extLst>
                    <a:ext uri="{9D8B030D-6E8A-4147-A177-3AD203B41FA5}">
                      <a16:colId xmlns:a16="http://schemas.microsoft.com/office/drawing/2014/main" val="771668158"/>
                    </a:ext>
                  </a:extLst>
                </a:gridCol>
                <a:gridCol w="3148648">
                  <a:extLst>
                    <a:ext uri="{9D8B030D-6E8A-4147-A177-3AD203B41FA5}">
                      <a16:colId xmlns:a16="http://schemas.microsoft.com/office/drawing/2014/main" val="893381468"/>
                    </a:ext>
                  </a:extLst>
                </a:gridCol>
              </a:tblGrid>
              <a:tr h="600000">
                <a:tc>
                  <a:txBody>
                    <a:bodyPr/>
                    <a:lstStyle/>
                    <a:p>
                      <a:pPr algn="ctr" fontAlgn="ctr">
                        <a:lnSpc>
                          <a:spcPct val="150000"/>
                        </a:lnSpc>
                      </a:pPr>
                      <a:r>
                        <a:rPr lang="en-IN" sz="2000" b="1" dirty="0">
                          <a:effectLst/>
                          <a:latin typeface="Cambria" panose="02040503050406030204" pitchFamily="18" charset="0"/>
                          <a:ea typeface="Cambria" panose="02040503050406030204" pitchFamily="18" charset="0"/>
                        </a:rPr>
                        <a:t>Particulars</a:t>
                      </a:r>
                      <a:endParaRPr lang="en-IN" sz="2000" b="0" dirty="0">
                        <a:effectLst/>
                        <a:latin typeface="Cambria" panose="02040503050406030204" pitchFamily="18" charset="0"/>
                        <a:ea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tc>
                  <a:txBody>
                    <a:bodyPr/>
                    <a:lstStyle/>
                    <a:p>
                      <a:pPr algn="ctr" fontAlgn="ctr">
                        <a:lnSpc>
                          <a:spcPct val="150000"/>
                        </a:lnSpc>
                      </a:pPr>
                      <a:r>
                        <a:rPr lang="en-IN" sz="2000" b="1" dirty="0">
                          <a:effectLst/>
                          <a:latin typeface="Cambria" panose="02040503050406030204" pitchFamily="18" charset="0"/>
                          <a:ea typeface="Cambria" panose="02040503050406030204" pitchFamily="18" charset="0"/>
                        </a:rPr>
                        <a:t>Amount (In Rs)</a:t>
                      </a:r>
                      <a:endParaRPr lang="en-IN" sz="2000" b="0" dirty="0">
                        <a:effectLst/>
                        <a:latin typeface="Cambria" panose="02040503050406030204" pitchFamily="18" charset="0"/>
                        <a:ea typeface="Cambria" panose="02040503050406030204" pitchFamily="18" charset="0"/>
                      </a:endParaRP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extLst>
                  <a:ext uri="{0D108BD9-81ED-4DB2-BD59-A6C34878D82A}">
                    <a16:rowId xmlns:a16="http://schemas.microsoft.com/office/drawing/2014/main" val="1972381456"/>
                  </a:ext>
                </a:extLst>
              </a:tr>
              <a:tr h="300000">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Gross total income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20,00,000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95854462"/>
                  </a:ext>
                </a:extLst>
              </a:tr>
              <a:tr h="300000">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Standard deduction from salary/pension</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(75,000)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139556879"/>
                  </a:ext>
                </a:extLst>
              </a:tr>
              <a:tr h="300000">
                <a:tc>
                  <a:txBody>
                    <a:bodyPr/>
                    <a:lstStyle/>
                    <a:p>
                      <a:pPr algn="ctr" fontAlgn="base">
                        <a:lnSpc>
                          <a:spcPct val="150000"/>
                        </a:lnSpc>
                      </a:pPr>
                      <a:r>
                        <a:rPr lang="en-US" sz="2000" b="0" dirty="0">
                          <a:effectLst/>
                          <a:latin typeface="Cambria" panose="02040503050406030204" pitchFamily="18" charset="0"/>
                          <a:ea typeface="Cambria" panose="02040503050406030204" pitchFamily="18" charset="0"/>
                        </a:rPr>
                        <a:t>Deduction under section 80CCD (2)</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(2,00,000)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058506540"/>
                  </a:ext>
                </a:extLst>
              </a:tr>
              <a:tr h="300000">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Net taxable income</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2000" b="0" dirty="0">
                          <a:effectLst/>
                          <a:latin typeface="Cambria" panose="02040503050406030204" pitchFamily="18" charset="0"/>
                          <a:ea typeface="Cambria" panose="02040503050406030204" pitchFamily="18" charset="0"/>
                        </a:rPr>
                        <a:t>17,25,000</a:t>
                      </a:r>
                    </a:p>
                  </a:txBody>
                  <a:tcPr marL="0" marR="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793297301"/>
                  </a:ext>
                </a:extLst>
              </a:tr>
            </a:tbl>
          </a:graphicData>
        </a:graphic>
      </p:graphicFrame>
      <p:sp>
        <p:nvSpPr>
          <p:cNvPr id="5" name="Rectangle 4"/>
          <p:cNvSpPr/>
          <p:nvPr/>
        </p:nvSpPr>
        <p:spPr>
          <a:xfrm>
            <a:off x="505980" y="4808813"/>
            <a:ext cx="11335039" cy="1569660"/>
          </a:xfrm>
          <a:prstGeom prst="rect">
            <a:avLst/>
          </a:prstGeom>
        </p:spPr>
        <p:txBody>
          <a:bodyPr wrap="square">
            <a:spAutoFit/>
          </a:bodyPr>
          <a:lstStyle/>
          <a:p>
            <a:pPr marL="342900" indent="-342900">
              <a:buFont typeface="Wingdings" panose="05000000000000000000" pitchFamily="2" charset="2"/>
              <a:buChar char="Ø"/>
            </a:pPr>
            <a:r>
              <a:rPr lang="en-US" sz="2400" dirty="0"/>
              <a:t>Total </a:t>
            </a:r>
            <a:r>
              <a:rPr lang="en-US" sz="2400" dirty="0">
                <a:solidFill>
                  <a:srgbClr val="FF0000"/>
                </a:solidFill>
              </a:rPr>
              <a:t>income tax liability </a:t>
            </a:r>
            <a:r>
              <a:rPr lang="en-US" sz="2400" dirty="0"/>
              <a:t>Rs 2,07,500/-</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IN" sz="2400" dirty="0"/>
              <a:t>The </a:t>
            </a:r>
            <a:r>
              <a:rPr lang="en-IN" sz="2400" dirty="0">
                <a:solidFill>
                  <a:srgbClr val="FF0000"/>
                </a:solidFill>
              </a:rPr>
              <a:t>final tax payable </a:t>
            </a:r>
            <a:r>
              <a:rPr lang="en-IN" sz="2400" dirty="0"/>
              <a:t>on gross income of Rs 20 lakh is </a:t>
            </a:r>
            <a:r>
              <a:rPr lang="en-IN" sz="2400" dirty="0">
                <a:solidFill>
                  <a:srgbClr val="FF0000"/>
                </a:solidFill>
              </a:rPr>
              <a:t>Rs 2,15,800 (including 4% cess)</a:t>
            </a:r>
            <a:r>
              <a:rPr lang="en-IN" sz="2400" dirty="0"/>
              <a:t>, after claiming deductions of Rs 2.75 lakh. </a:t>
            </a:r>
          </a:p>
        </p:txBody>
      </p:sp>
    </p:spTree>
    <p:extLst>
      <p:ext uri="{BB962C8B-B14F-4D97-AF65-F5344CB8AC3E}">
        <p14:creationId xmlns:p14="http://schemas.microsoft.com/office/powerpoint/2010/main" val="3995878054"/>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914831"/>
          </a:xfrm>
        </p:spPr>
        <p:txBody>
          <a:bodyPr>
            <a:noAutofit/>
          </a:bodyPr>
          <a:lstStyle/>
          <a:p>
            <a:pPr marL="0" indent="0" algn="ctr">
              <a:buNone/>
            </a:pPr>
            <a:r>
              <a:rPr lang="en-IN" sz="2400" b="1" dirty="0">
                <a:solidFill>
                  <a:srgbClr val="7030A0"/>
                </a:solidFill>
              </a:rPr>
              <a:t>FINANCIAL YEAR 2024-25 (A.Y. 2025-26)</a:t>
            </a:r>
          </a:p>
          <a:p>
            <a:pPr marL="0" indent="0" algn="ctr">
              <a:buNone/>
            </a:pPr>
            <a:r>
              <a:rPr lang="en-IN" sz="2400" b="1" dirty="0">
                <a:solidFill>
                  <a:srgbClr val="FF0000"/>
                </a:solidFill>
              </a:rPr>
              <a:t>OLD TAX REGIME</a:t>
            </a:r>
            <a:r>
              <a:rPr lang="en-IN" sz="2400" b="1" dirty="0">
                <a:solidFill>
                  <a:schemeClr val="bg2">
                    <a:lumMod val="50000"/>
                  </a:schemeClr>
                </a:solidFill>
              </a:rPr>
              <a:t>*</a:t>
            </a:r>
            <a:endParaRPr lang="en-US" sz="2400" b="1" dirty="0">
              <a:solidFill>
                <a:schemeClr val="bg2">
                  <a:lumMod val="50000"/>
                </a:schemeClr>
              </a:solidFill>
            </a:endParaRP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88</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TAX SLAB</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2061765511"/>
              </p:ext>
            </p:extLst>
          </p:nvPr>
        </p:nvGraphicFramePr>
        <p:xfrm>
          <a:off x="2412971" y="2436734"/>
          <a:ext cx="7414518" cy="3337560"/>
        </p:xfrm>
        <a:graphic>
          <a:graphicData uri="http://schemas.openxmlformats.org/drawingml/2006/table">
            <a:tbl>
              <a:tblPr>
                <a:tableStyleId>{93296810-A885-4BE3-A3E7-6D5BEEA58F35}</a:tableStyleId>
              </a:tblPr>
              <a:tblGrid>
                <a:gridCol w="3707259">
                  <a:extLst>
                    <a:ext uri="{9D8B030D-6E8A-4147-A177-3AD203B41FA5}">
                      <a16:colId xmlns:a16="http://schemas.microsoft.com/office/drawing/2014/main" val="3259599746"/>
                    </a:ext>
                  </a:extLst>
                </a:gridCol>
                <a:gridCol w="3707259">
                  <a:extLst>
                    <a:ext uri="{9D8B030D-6E8A-4147-A177-3AD203B41FA5}">
                      <a16:colId xmlns:a16="http://schemas.microsoft.com/office/drawing/2014/main" val="488731640"/>
                    </a:ext>
                  </a:extLst>
                </a:gridCol>
              </a:tblGrid>
              <a:tr h="494354">
                <a:tc>
                  <a:txBody>
                    <a:bodyPr/>
                    <a:lstStyle/>
                    <a:p>
                      <a:pPr algn="l" fontAlgn="t"/>
                      <a:r>
                        <a:rPr lang="en-IN" sz="2400" b="1" dirty="0">
                          <a:effectLst/>
                        </a:rPr>
                        <a:t>Income Range</a:t>
                      </a:r>
                    </a:p>
                  </a:txBody>
                  <a:tcPr marL="95250" marR="95250" marT="95250" marB="95250"/>
                </a:tc>
                <a:tc>
                  <a:txBody>
                    <a:bodyPr/>
                    <a:lstStyle/>
                    <a:p>
                      <a:pPr algn="l" fontAlgn="t"/>
                      <a:r>
                        <a:rPr lang="en-IN" sz="2400" b="1" dirty="0">
                          <a:effectLst/>
                        </a:rPr>
                        <a:t>Tax Rate</a:t>
                      </a:r>
                    </a:p>
                  </a:txBody>
                  <a:tcPr marL="95250" marR="95250" marT="95250" marB="95250"/>
                </a:tc>
                <a:extLst>
                  <a:ext uri="{0D108BD9-81ED-4DB2-BD59-A6C34878D82A}">
                    <a16:rowId xmlns:a16="http://schemas.microsoft.com/office/drawing/2014/main" val="3465161455"/>
                  </a:ext>
                </a:extLst>
              </a:tr>
              <a:tr h="494354">
                <a:tc>
                  <a:txBody>
                    <a:bodyPr/>
                    <a:lstStyle/>
                    <a:p>
                      <a:pPr algn="l" fontAlgn="t"/>
                      <a:r>
                        <a:rPr lang="en-IN" sz="2400" dirty="0">
                          <a:effectLst/>
                        </a:rPr>
                        <a:t>0 - ₹2,50,000</a:t>
                      </a:r>
                    </a:p>
                  </a:txBody>
                  <a:tcPr marL="95250" marR="95250" marT="95250" marB="95250"/>
                </a:tc>
                <a:tc>
                  <a:txBody>
                    <a:bodyPr/>
                    <a:lstStyle/>
                    <a:p>
                      <a:pPr algn="l" fontAlgn="t"/>
                      <a:r>
                        <a:rPr lang="en-IN" sz="2400" dirty="0">
                          <a:effectLst/>
                        </a:rPr>
                        <a:t>0%</a:t>
                      </a:r>
                    </a:p>
                  </a:txBody>
                  <a:tcPr marL="95250" marR="95250" marT="95250" marB="95250"/>
                </a:tc>
                <a:extLst>
                  <a:ext uri="{0D108BD9-81ED-4DB2-BD59-A6C34878D82A}">
                    <a16:rowId xmlns:a16="http://schemas.microsoft.com/office/drawing/2014/main" val="3673737190"/>
                  </a:ext>
                </a:extLst>
              </a:tr>
              <a:tr h="494354">
                <a:tc>
                  <a:txBody>
                    <a:bodyPr/>
                    <a:lstStyle/>
                    <a:p>
                      <a:pPr algn="l" fontAlgn="t"/>
                      <a:r>
                        <a:rPr lang="en-IN" sz="2400" dirty="0">
                          <a:effectLst/>
                        </a:rPr>
                        <a:t>₹2,50,001 - ₹5,00,000</a:t>
                      </a:r>
                    </a:p>
                  </a:txBody>
                  <a:tcPr marL="95250" marR="95250" marT="95250" marB="95250"/>
                </a:tc>
                <a:tc>
                  <a:txBody>
                    <a:bodyPr/>
                    <a:lstStyle/>
                    <a:p>
                      <a:pPr algn="l" fontAlgn="t"/>
                      <a:r>
                        <a:rPr lang="en-IN" sz="2400" dirty="0">
                          <a:effectLst/>
                        </a:rPr>
                        <a:t>5%</a:t>
                      </a:r>
                    </a:p>
                  </a:txBody>
                  <a:tcPr marL="95250" marR="95250" marT="95250" marB="95250"/>
                </a:tc>
                <a:extLst>
                  <a:ext uri="{0D108BD9-81ED-4DB2-BD59-A6C34878D82A}">
                    <a16:rowId xmlns:a16="http://schemas.microsoft.com/office/drawing/2014/main" val="4163486681"/>
                  </a:ext>
                </a:extLst>
              </a:tr>
              <a:tr h="494354">
                <a:tc>
                  <a:txBody>
                    <a:bodyPr/>
                    <a:lstStyle/>
                    <a:p>
                      <a:pPr algn="l" fontAlgn="t"/>
                      <a:r>
                        <a:rPr lang="en-IN" sz="2400" dirty="0">
                          <a:effectLst/>
                        </a:rPr>
                        <a:t>₹5,00,001 - ₹10,00,000</a:t>
                      </a:r>
                    </a:p>
                  </a:txBody>
                  <a:tcPr marL="95250" marR="95250" marT="95250" marB="95250"/>
                </a:tc>
                <a:tc>
                  <a:txBody>
                    <a:bodyPr/>
                    <a:lstStyle/>
                    <a:p>
                      <a:pPr algn="l" fontAlgn="t"/>
                      <a:r>
                        <a:rPr lang="en-IN" sz="2400" dirty="0">
                          <a:effectLst/>
                        </a:rPr>
                        <a:t>20%</a:t>
                      </a:r>
                    </a:p>
                  </a:txBody>
                  <a:tcPr marL="95250" marR="95250" marT="95250" marB="95250"/>
                </a:tc>
                <a:extLst>
                  <a:ext uri="{0D108BD9-81ED-4DB2-BD59-A6C34878D82A}">
                    <a16:rowId xmlns:a16="http://schemas.microsoft.com/office/drawing/2014/main" val="3191942537"/>
                  </a:ext>
                </a:extLst>
              </a:tr>
              <a:tr h="494354">
                <a:tc>
                  <a:txBody>
                    <a:bodyPr/>
                    <a:lstStyle/>
                    <a:p>
                      <a:pPr algn="l" fontAlgn="t"/>
                      <a:r>
                        <a:rPr lang="en-IN" sz="2400" dirty="0">
                          <a:effectLst/>
                        </a:rPr>
                        <a:t>Above ₹10,00,001</a:t>
                      </a:r>
                    </a:p>
                  </a:txBody>
                  <a:tcPr marL="95250" marR="95250" marT="95250" marB="95250"/>
                </a:tc>
                <a:tc>
                  <a:txBody>
                    <a:bodyPr/>
                    <a:lstStyle/>
                    <a:p>
                      <a:pPr algn="l" fontAlgn="t"/>
                      <a:r>
                        <a:rPr lang="en-IN" sz="2400" dirty="0">
                          <a:effectLst/>
                        </a:rPr>
                        <a:t>30%</a:t>
                      </a:r>
                    </a:p>
                  </a:txBody>
                  <a:tcPr marL="95250" marR="95250" marT="95250" marB="95250"/>
                </a:tc>
                <a:extLst>
                  <a:ext uri="{0D108BD9-81ED-4DB2-BD59-A6C34878D82A}">
                    <a16:rowId xmlns:a16="http://schemas.microsoft.com/office/drawing/2014/main" val="3867720616"/>
                  </a:ext>
                </a:extLst>
              </a:tr>
              <a:tr h="494354">
                <a:tc>
                  <a:txBody>
                    <a:bodyPr/>
                    <a:lstStyle/>
                    <a:p>
                      <a:pPr algn="l" fontAlgn="t"/>
                      <a:r>
                        <a:rPr lang="en-IN" sz="2400" dirty="0">
                          <a:effectLst/>
                        </a:rPr>
                        <a:t>Cess</a:t>
                      </a:r>
                    </a:p>
                  </a:txBody>
                  <a:tcPr marL="95250" marR="95250" marT="95250" marB="95250"/>
                </a:tc>
                <a:tc>
                  <a:txBody>
                    <a:bodyPr/>
                    <a:lstStyle/>
                    <a:p>
                      <a:pPr marL="0" marR="0" lvl="0" indent="0" algn="l" defTabSz="457200" rtl="0" eaLnBrk="1" fontAlgn="t" latinLnBrk="0" hangingPunct="1">
                        <a:lnSpc>
                          <a:spcPct val="100000"/>
                        </a:lnSpc>
                        <a:spcBef>
                          <a:spcPts val="0"/>
                        </a:spcBef>
                        <a:spcAft>
                          <a:spcPts val="0"/>
                        </a:spcAft>
                        <a:buClrTx/>
                        <a:buSzTx/>
                        <a:buFontTx/>
                        <a:buNone/>
                        <a:tabLst/>
                        <a:defRPr/>
                      </a:pPr>
                      <a:r>
                        <a:rPr lang="en-US" sz="2400" dirty="0">
                          <a:effectLst/>
                        </a:rPr>
                        <a:t>4% p.a. of Taxable Income</a:t>
                      </a:r>
                    </a:p>
                  </a:txBody>
                  <a:tcPr marL="95250" marR="95250" marT="95250" marB="95250"/>
                </a:tc>
                <a:extLst>
                  <a:ext uri="{0D108BD9-81ED-4DB2-BD59-A6C34878D82A}">
                    <a16:rowId xmlns:a16="http://schemas.microsoft.com/office/drawing/2014/main" val="23666444"/>
                  </a:ext>
                </a:extLst>
              </a:tr>
            </a:tbl>
          </a:graphicData>
        </a:graphic>
      </p:graphicFrame>
      <p:sp>
        <p:nvSpPr>
          <p:cNvPr id="8" name="Content Placeholder 2">
            <a:extLst>
              <a:ext uri="{FF2B5EF4-FFF2-40B4-BE49-F238E27FC236}">
                <a16:creationId xmlns:a16="http://schemas.microsoft.com/office/drawing/2014/main" id="{8F7EB8A7-C8B7-75B9-5DB4-2C321372CA13}"/>
              </a:ext>
            </a:extLst>
          </p:cNvPr>
          <p:cNvSpPr txBox="1">
            <a:spLocks/>
          </p:cNvSpPr>
          <p:nvPr/>
        </p:nvSpPr>
        <p:spPr>
          <a:xfrm>
            <a:off x="644525" y="5774294"/>
            <a:ext cx="11243667" cy="914831"/>
          </a:xfrm>
          <a:prstGeom prst="rect">
            <a:avLst/>
          </a:prstGeom>
        </p:spPr>
        <p:txBody>
          <a:bodyPr vert="horz" lIns="91440" tIns="45720" rIns="91440" bIns="45720" rtlCol="0">
            <a:noAutofit/>
          </a:bodyPr>
          <a:lst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a:lstStyle>
          <a:p>
            <a:pPr marL="0" indent="0" algn="ctr">
              <a:buFont typeface="Wingdings 3" charset="2"/>
              <a:buNone/>
            </a:pPr>
            <a:r>
              <a:rPr lang="en-IN" sz="2400" b="1" dirty="0">
                <a:solidFill>
                  <a:schemeClr val="bg2">
                    <a:lumMod val="50000"/>
                  </a:schemeClr>
                </a:solidFill>
              </a:rPr>
              <a:t>*</a:t>
            </a:r>
            <a:r>
              <a:rPr lang="en-IN" sz="2400" b="1" dirty="0">
                <a:solidFill>
                  <a:srgbClr val="7030A0"/>
                </a:solidFill>
              </a:rPr>
              <a:t>APPLICABLE TO NON-SENIOR CITIZEN </a:t>
            </a:r>
            <a:endParaRPr lang="en-US" sz="2400" b="1" dirty="0">
              <a:solidFill>
                <a:srgbClr val="7030A0"/>
              </a:solidFill>
            </a:endParaRPr>
          </a:p>
        </p:txBody>
      </p:sp>
    </p:spTree>
    <p:extLst>
      <p:ext uri="{BB962C8B-B14F-4D97-AF65-F5344CB8AC3E}">
        <p14:creationId xmlns:p14="http://schemas.microsoft.com/office/powerpoint/2010/main" val="2246457787"/>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914831"/>
          </a:xfrm>
        </p:spPr>
        <p:txBody>
          <a:bodyPr>
            <a:noAutofit/>
          </a:bodyPr>
          <a:lstStyle/>
          <a:p>
            <a:pPr marL="0" indent="0" algn="ctr">
              <a:buNone/>
            </a:pPr>
            <a:r>
              <a:rPr lang="en-IN" sz="2400" b="1" dirty="0">
                <a:solidFill>
                  <a:srgbClr val="7030A0"/>
                </a:solidFill>
              </a:rPr>
              <a:t>FINANCIAL YEAR 2024-25 (A.Y. 2025-26)</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89</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t>Example - </a:t>
            </a:r>
            <a:r>
              <a:rPr lang="en-IN" sz="4400" b="1" dirty="0">
                <a:solidFill>
                  <a:srgbClr val="FF0000"/>
                </a:solidFill>
              </a:rPr>
              <a:t>OLD TAX REGIME</a:t>
            </a:r>
            <a:br>
              <a:rPr lang="en-US" sz="4400" b="1" dirty="0">
                <a:solidFill>
                  <a:schemeClr val="bg2">
                    <a:lumMod val="50000"/>
                  </a:schemeClr>
                </a:solidFill>
              </a:rPr>
            </a:br>
            <a:r>
              <a:rPr lang="en-US" dirty="0"/>
              <a:t> </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1714282"/>
              </p:ext>
            </p:extLst>
          </p:nvPr>
        </p:nvGraphicFramePr>
        <p:xfrm>
          <a:off x="1103313" y="1954978"/>
          <a:ext cx="8947150" cy="2575182"/>
        </p:xfrm>
        <a:graphic>
          <a:graphicData uri="http://schemas.openxmlformats.org/drawingml/2006/table">
            <a:tbl>
              <a:tblPr/>
              <a:tblGrid>
                <a:gridCol w="4473575">
                  <a:extLst>
                    <a:ext uri="{9D8B030D-6E8A-4147-A177-3AD203B41FA5}">
                      <a16:colId xmlns:a16="http://schemas.microsoft.com/office/drawing/2014/main" val="508977335"/>
                    </a:ext>
                  </a:extLst>
                </a:gridCol>
                <a:gridCol w="4473575">
                  <a:extLst>
                    <a:ext uri="{9D8B030D-6E8A-4147-A177-3AD203B41FA5}">
                      <a16:colId xmlns:a16="http://schemas.microsoft.com/office/drawing/2014/main" val="2196072715"/>
                    </a:ext>
                  </a:extLst>
                </a:gridCol>
              </a:tblGrid>
              <a:tr h="408415">
                <a:tc>
                  <a:txBody>
                    <a:bodyPr/>
                    <a:lstStyle/>
                    <a:p>
                      <a:pPr algn="ctr" fontAlgn="ctr">
                        <a:lnSpc>
                          <a:spcPct val="150000"/>
                        </a:lnSpc>
                      </a:pPr>
                      <a:r>
                        <a:rPr lang="en-IN" sz="1800" b="1" dirty="0">
                          <a:effectLst/>
                          <a:latin typeface="Cambria" panose="02040503050406030204" pitchFamily="18" charset="0"/>
                          <a:ea typeface="Cambria" panose="02040503050406030204" pitchFamily="18" charset="0"/>
                        </a:rPr>
                        <a:t>Particulars</a:t>
                      </a:r>
                      <a:endParaRPr lang="en-IN" sz="1800" b="0" dirty="0">
                        <a:effectLst/>
                        <a:latin typeface="Cambria" panose="02040503050406030204" pitchFamily="18" charset="0"/>
                        <a:ea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tc>
                  <a:txBody>
                    <a:bodyPr/>
                    <a:lstStyle/>
                    <a:p>
                      <a:pPr algn="ctr" fontAlgn="ctr">
                        <a:lnSpc>
                          <a:spcPct val="150000"/>
                        </a:lnSpc>
                      </a:pPr>
                      <a:r>
                        <a:rPr lang="en-IN" sz="1800" b="1" dirty="0">
                          <a:effectLst/>
                          <a:latin typeface="Cambria" panose="02040503050406030204" pitchFamily="18" charset="0"/>
                          <a:ea typeface="Cambria" panose="02040503050406030204" pitchFamily="18" charset="0"/>
                        </a:rPr>
                        <a:t>Amount (in Rs)</a:t>
                      </a:r>
                      <a:endParaRPr lang="en-IN" sz="1800" b="0" dirty="0">
                        <a:effectLst/>
                        <a:latin typeface="Cambria" panose="02040503050406030204" pitchFamily="18" charset="0"/>
                        <a:ea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extLst>
                  <a:ext uri="{0D108BD9-81ED-4DB2-BD59-A6C34878D82A}">
                    <a16:rowId xmlns:a16="http://schemas.microsoft.com/office/drawing/2014/main" val="605337265"/>
                  </a:ext>
                </a:extLst>
              </a:tr>
              <a:tr h="357931">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Gross total income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17,00,000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808237532"/>
                  </a:ext>
                </a:extLst>
              </a:tr>
              <a:tr h="357931">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Section 80C</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(1,50,000)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55235563"/>
                  </a:ext>
                </a:extLst>
              </a:tr>
              <a:tr h="357931">
                <a:tc>
                  <a:txBody>
                    <a:bodyPr/>
                    <a:lstStyle/>
                    <a:p>
                      <a:pPr algn="ctr" fontAlgn="base">
                        <a:lnSpc>
                          <a:spcPct val="150000"/>
                        </a:lnSpc>
                      </a:pPr>
                      <a:r>
                        <a:rPr lang="en-US" sz="1800" b="0" dirty="0">
                          <a:effectLst/>
                          <a:latin typeface="Cambria" panose="02040503050406030204" pitchFamily="18" charset="0"/>
                          <a:ea typeface="Cambria" panose="02040503050406030204" pitchFamily="18" charset="0"/>
                        </a:rPr>
                        <a:t>Section 80 CCD(1b) NPS investment</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(50,000)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68458330"/>
                  </a:ext>
                </a:extLst>
              </a:tr>
              <a:tr h="357931">
                <a:tc>
                  <a:txBody>
                    <a:bodyPr/>
                    <a:lstStyle/>
                    <a:p>
                      <a:pPr algn="ctr" fontAlgn="base">
                        <a:lnSpc>
                          <a:spcPct val="150000"/>
                        </a:lnSpc>
                      </a:pPr>
                      <a:r>
                        <a:rPr lang="en-US" sz="1800" b="0" dirty="0">
                          <a:effectLst/>
                          <a:latin typeface="Cambria" panose="02040503050406030204" pitchFamily="18" charset="0"/>
                          <a:ea typeface="Cambria" panose="02040503050406030204" pitchFamily="18" charset="0"/>
                        </a:rPr>
                        <a:t>Section 80D – medical insurance premium</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(25,000)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97490592"/>
                  </a:ext>
                </a:extLst>
              </a:tr>
              <a:tr h="357931">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Section 80TTA</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0" dirty="0">
                          <a:effectLst/>
                          <a:latin typeface="Cambria" panose="02040503050406030204" pitchFamily="18" charset="0"/>
                          <a:ea typeface="Cambria" panose="02040503050406030204" pitchFamily="18" charset="0"/>
                        </a:rPr>
                        <a:t>(10,000)</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753014088"/>
                  </a:ext>
                </a:extLst>
              </a:tr>
              <a:tr h="357931">
                <a:tc>
                  <a:txBody>
                    <a:bodyPr/>
                    <a:lstStyle/>
                    <a:p>
                      <a:pPr algn="ctr" fontAlgn="base">
                        <a:lnSpc>
                          <a:spcPct val="150000"/>
                        </a:lnSpc>
                      </a:pPr>
                      <a:r>
                        <a:rPr lang="en-IN" sz="1800" b="1" dirty="0">
                          <a:effectLst/>
                          <a:latin typeface="Cambria" panose="02040503050406030204" pitchFamily="18" charset="0"/>
                          <a:ea typeface="Cambria" panose="02040503050406030204" pitchFamily="18" charset="0"/>
                        </a:rPr>
                        <a:t>Net taxable income</a:t>
                      </a:r>
                      <a:endParaRPr lang="en-IN" sz="1800" b="0" dirty="0">
                        <a:effectLst/>
                        <a:latin typeface="Cambria" panose="02040503050406030204" pitchFamily="18" charset="0"/>
                        <a:ea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algn="ctr" fontAlgn="base">
                        <a:lnSpc>
                          <a:spcPct val="150000"/>
                        </a:lnSpc>
                      </a:pPr>
                      <a:r>
                        <a:rPr lang="en-IN" sz="1800" b="1" dirty="0">
                          <a:effectLst/>
                          <a:latin typeface="Cambria" panose="02040503050406030204" pitchFamily="18" charset="0"/>
                          <a:ea typeface="Cambria" panose="02040503050406030204" pitchFamily="18" charset="0"/>
                        </a:rPr>
                        <a:t>14,65,000</a:t>
                      </a:r>
                      <a:endParaRPr lang="en-IN" sz="1800" b="0" dirty="0">
                        <a:effectLst/>
                        <a:latin typeface="Cambria" panose="02040503050406030204" pitchFamily="18" charset="0"/>
                        <a:ea typeface="Cambria" panose="020405030504060302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14688649"/>
                  </a:ext>
                </a:extLst>
              </a:tr>
            </a:tbl>
          </a:graphicData>
        </a:graphic>
      </p:graphicFrame>
      <p:sp>
        <p:nvSpPr>
          <p:cNvPr id="8" name="Rectangle 7"/>
          <p:cNvSpPr/>
          <p:nvPr/>
        </p:nvSpPr>
        <p:spPr>
          <a:xfrm>
            <a:off x="459798" y="4993540"/>
            <a:ext cx="11335039" cy="1569660"/>
          </a:xfrm>
          <a:prstGeom prst="rect">
            <a:avLst/>
          </a:prstGeom>
        </p:spPr>
        <p:txBody>
          <a:bodyPr wrap="square">
            <a:spAutoFit/>
          </a:bodyPr>
          <a:lstStyle/>
          <a:p>
            <a:pPr marL="342900" indent="-342900">
              <a:buFont typeface="Wingdings" panose="05000000000000000000" pitchFamily="2" charset="2"/>
              <a:buChar char="Ø"/>
            </a:pPr>
            <a:r>
              <a:rPr lang="en-US" sz="2400" dirty="0"/>
              <a:t>Total </a:t>
            </a:r>
            <a:r>
              <a:rPr lang="en-US" sz="2400" dirty="0">
                <a:solidFill>
                  <a:srgbClr val="FF0000"/>
                </a:solidFill>
              </a:rPr>
              <a:t>income tax liability </a:t>
            </a:r>
            <a:r>
              <a:rPr lang="en-US" sz="2400" dirty="0"/>
              <a:t>Rs 2,52,000/-</a:t>
            </a:r>
          </a:p>
          <a:p>
            <a:pPr marL="342900" indent="-342900">
              <a:buFont typeface="Wingdings" panose="05000000000000000000" pitchFamily="2" charset="2"/>
              <a:buChar char="Ø"/>
            </a:pPr>
            <a:endParaRPr lang="en-US" sz="2400" dirty="0"/>
          </a:p>
          <a:p>
            <a:pPr marL="342900" indent="-342900">
              <a:buFont typeface="Wingdings" panose="05000000000000000000" pitchFamily="2" charset="2"/>
              <a:buChar char="Ø"/>
            </a:pPr>
            <a:r>
              <a:rPr lang="en-IN" sz="2400" dirty="0"/>
              <a:t>The </a:t>
            </a:r>
            <a:r>
              <a:rPr lang="en-IN" sz="2400" dirty="0">
                <a:solidFill>
                  <a:srgbClr val="FF0000"/>
                </a:solidFill>
              </a:rPr>
              <a:t>final tax payable </a:t>
            </a:r>
            <a:r>
              <a:rPr lang="en-IN" sz="2400" dirty="0"/>
              <a:t>on gross income of Rs 17 lakh is </a:t>
            </a:r>
            <a:r>
              <a:rPr lang="en-IN" sz="2400" dirty="0">
                <a:solidFill>
                  <a:srgbClr val="FF0000"/>
                </a:solidFill>
              </a:rPr>
              <a:t>Rs 2,62,080 (including 4% cess)</a:t>
            </a:r>
            <a:r>
              <a:rPr lang="en-IN" sz="2400" dirty="0"/>
              <a:t>, after claiming deductions of Rs 2.75 lakh. </a:t>
            </a:r>
          </a:p>
        </p:txBody>
      </p:sp>
    </p:spTree>
    <p:extLst>
      <p:ext uri="{BB962C8B-B14F-4D97-AF65-F5344CB8AC3E}">
        <p14:creationId xmlns:p14="http://schemas.microsoft.com/office/powerpoint/2010/main" val="3805527051"/>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5357522"/>
          </a:xfrm>
        </p:spPr>
        <p:txBody>
          <a:bodyPr>
            <a:noAutofit/>
          </a:bodyPr>
          <a:lstStyle/>
          <a:p>
            <a:pPr algn="just" fontAlgn="base"/>
            <a:r>
              <a:rPr lang="en-US" sz="2800" dirty="0"/>
              <a:t>If an individual's net taxable income exceeds a specified level, then a surcharge is levied. </a:t>
            </a:r>
          </a:p>
          <a:p>
            <a:pPr algn="just" fontAlgn="base"/>
            <a:endParaRPr lang="en-US" sz="2800" dirty="0"/>
          </a:p>
          <a:p>
            <a:pPr algn="just" fontAlgn="base"/>
            <a:r>
              <a:rPr lang="en-US" sz="2800" dirty="0"/>
              <a:t>The </a:t>
            </a:r>
            <a:r>
              <a:rPr lang="en-US" sz="2800" b="1" dirty="0">
                <a:solidFill>
                  <a:srgbClr val="FF0000"/>
                </a:solidFill>
              </a:rPr>
              <a:t>surcharge is levied on the income tax payable </a:t>
            </a:r>
            <a:r>
              <a:rPr lang="en-US" sz="2800" dirty="0"/>
              <a:t>amount </a:t>
            </a:r>
            <a:r>
              <a:rPr lang="en-US" sz="2800" b="1" dirty="0">
                <a:solidFill>
                  <a:srgbClr val="FF0000"/>
                </a:solidFill>
              </a:rPr>
              <a:t>before</a:t>
            </a:r>
            <a:r>
              <a:rPr lang="en-US" sz="2800" dirty="0"/>
              <a:t> the levy of </a:t>
            </a:r>
            <a:r>
              <a:rPr lang="en-US" sz="2800" dirty="0" err="1"/>
              <a:t>cess</a:t>
            </a:r>
            <a:r>
              <a:rPr lang="en-US" sz="2800" dirty="0"/>
              <a:t>. </a:t>
            </a:r>
          </a:p>
          <a:p>
            <a:pPr algn="just" fontAlgn="base"/>
            <a:endParaRPr lang="en-US" sz="2800" dirty="0"/>
          </a:p>
          <a:p>
            <a:pPr algn="just" fontAlgn="base"/>
            <a:r>
              <a:rPr lang="en-US" sz="2800" dirty="0"/>
              <a:t>According to income tax laws, a surcharge is applicable if an individual's taxable income exceeds Rs 50 lakh.</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90</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spTree>
    <p:extLst>
      <p:ext uri="{BB962C8B-B14F-4D97-AF65-F5344CB8AC3E}">
        <p14:creationId xmlns:p14="http://schemas.microsoft.com/office/powerpoint/2010/main" val="2384859164"/>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91</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graphicFrame>
        <p:nvGraphicFramePr>
          <p:cNvPr id="2" name="Table 1"/>
          <p:cNvGraphicFramePr>
            <a:graphicFrameLocks noGrp="1"/>
          </p:cNvGraphicFramePr>
          <p:nvPr>
            <p:extLst>
              <p:ext uri="{D42A27DB-BD31-4B8C-83A1-F6EECF244321}">
                <p14:modId xmlns:p14="http://schemas.microsoft.com/office/powerpoint/2010/main" val="673009657"/>
              </p:ext>
            </p:extLst>
          </p:nvPr>
        </p:nvGraphicFramePr>
        <p:xfrm>
          <a:off x="301787" y="1161607"/>
          <a:ext cx="8852373" cy="2382580"/>
        </p:xfrm>
        <a:graphic>
          <a:graphicData uri="http://schemas.openxmlformats.org/drawingml/2006/table">
            <a:tbl>
              <a:tblPr/>
              <a:tblGrid>
                <a:gridCol w="4866691">
                  <a:extLst>
                    <a:ext uri="{9D8B030D-6E8A-4147-A177-3AD203B41FA5}">
                      <a16:colId xmlns:a16="http://schemas.microsoft.com/office/drawing/2014/main" val="1743914519"/>
                    </a:ext>
                  </a:extLst>
                </a:gridCol>
                <a:gridCol w="3985682">
                  <a:extLst>
                    <a:ext uri="{9D8B030D-6E8A-4147-A177-3AD203B41FA5}">
                      <a16:colId xmlns:a16="http://schemas.microsoft.com/office/drawing/2014/main" val="3080721745"/>
                    </a:ext>
                  </a:extLst>
                </a:gridCol>
              </a:tblGrid>
              <a:tr h="239482">
                <a:tc gridSpan="2">
                  <a:txBody>
                    <a:bodyPr/>
                    <a:lstStyle/>
                    <a:p>
                      <a:pPr algn="l" fontAlgn="base"/>
                      <a:r>
                        <a:rPr lang="en-US" sz="1600" b="1" dirty="0">
                          <a:solidFill>
                            <a:srgbClr val="7030A0"/>
                          </a:solidFill>
                          <a:effectLst/>
                          <a:latin typeface="Cambria" panose="02040503050406030204" pitchFamily="18" charset="0"/>
                          <a:ea typeface="Cambria" panose="02040503050406030204" pitchFamily="18" charset="0"/>
                        </a:rPr>
                        <a:t>Surcharge rate from April 1, 2023 under </a:t>
                      </a:r>
                      <a:r>
                        <a:rPr lang="en-US" sz="1600" b="1" dirty="0">
                          <a:solidFill>
                            <a:srgbClr val="FF0000"/>
                          </a:solidFill>
                          <a:effectLst/>
                          <a:latin typeface="Cambria" panose="02040503050406030204" pitchFamily="18" charset="0"/>
                          <a:ea typeface="Cambria" panose="02040503050406030204" pitchFamily="18" charset="0"/>
                        </a:rPr>
                        <a:t>NEW TAX REGIME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2855359835"/>
                  </a:ext>
                </a:extLst>
              </a:tr>
              <a:tr h="420104">
                <a:tc>
                  <a:txBody>
                    <a:bodyPr/>
                    <a:lstStyle/>
                    <a:p>
                      <a:pPr algn="l" fontAlgn="ctr"/>
                      <a:r>
                        <a:rPr lang="en-IN" sz="1600" b="0" dirty="0">
                          <a:effectLst/>
                          <a:latin typeface="Cambria" panose="02040503050406030204" pitchFamily="18" charset="0"/>
                          <a:ea typeface="Cambria" panose="02040503050406030204" pitchFamily="18" charset="0"/>
                        </a:rPr>
                        <a:t>Income range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tc>
                  <a:txBody>
                    <a:bodyPr/>
                    <a:lstStyle/>
                    <a:p>
                      <a:pPr algn="l" fontAlgn="ctr"/>
                      <a:r>
                        <a:rPr lang="en-IN" sz="1600" b="0">
                          <a:effectLst/>
                          <a:latin typeface="Cambria" panose="02040503050406030204" pitchFamily="18" charset="0"/>
                          <a:ea typeface="Cambria" panose="02040503050406030204" pitchFamily="18" charset="0"/>
                        </a:rPr>
                        <a:t>Surcharge rate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extLst>
                  <a:ext uri="{0D108BD9-81ED-4DB2-BD59-A6C34878D82A}">
                    <a16:rowId xmlns:a16="http://schemas.microsoft.com/office/drawing/2014/main" val="879892776"/>
                  </a:ext>
                </a:extLst>
              </a:tr>
              <a:tr h="420104">
                <a:tc>
                  <a:txBody>
                    <a:bodyPr/>
                    <a:lstStyle/>
                    <a:p>
                      <a:pPr fontAlgn="base"/>
                      <a:r>
                        <a:rPr lang="en-US" sz="1600" b="0" dirty="0">
                          <a:effectLst/>
                          <a:latin typeface="Cambria" panose="02040503050406030204" pitchFamily="18" charset="0"/>
                          <a:ea typeface="Cambria" panose="02040503050406030204" pitchFamily="18" charset="0"/>
                        </a:rPr>
                        <a:t>Up to Rs 50 lakh</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a:effectLst/>
                          <a:latin typeface="Cambria" panose="02040503050406030204" pitchFamily="18" charset="0"/>
                          <a:ea typeface="Cambria" panose="02040503050406030204" pitchFamily="18" charset="0"/>
                        </a:rPr>
                        <a:t>Nil</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4161359861"/>
                  </a:ext>
                </a:extLst>
              </a:tr>
              <a:tr h="420104">
                <a:tc>
                  <a:txBody>
                    <a:bodyPr/>
                    <a:lstStyle/>
                    <a:p>
                      <a:pPr fontAlgn="base"/>
                      <a:r>
                        <a:rPr lang="en-US" sz="1600" b="0">
                          <a:effectLst/>
                          <a:latin typeface="Cambria" panose="02040503050406030204" pitchFamily="18" charset="0"/>
                          <a:ea typeface="Cambria" panose="02040503050406030204" pitchFamily="18" charset="0"/>
                        </a:rPr>
                        <a:t>More than Rs 50 lakh but up to Rs 1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dirty="0">
                          <a:effectLst/>
                          <a:latin typeface="Cambria" panose="02040503050406030204" pitchFamily="18" charset="0"/>
                          <a:ea typeface="Cambria" panose="02040503050406030204" pitchFamily="18" charset="0"/>
                        </a:rPr>
                        <a:t>10%</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682323040"/>
                  </a:ext>
                </a:extLst>
              </a:tr>
              <a:tr h="420104">
                <a:tc>
                  <a:txBody>
                    <a:bodyPr/>
                    <a:lstStyle/>
                    <a:p>
                      <a:pPr fontAlgn="base"/>
                      <a:r>
                        <a:rPr lang="en-US" sz="1600" b="0">
                          <a:effectLst/>
                          <a:latin typeface="Cambria" panose="02040503050406030204" pitchFamily="18" charset="0"/>
                          <a:ea typeface="Cambria" panose="02040503050406030204" pitchFamily="18" charset="0"/>
                        </a:rPr>
                        <a:t>More than Rs 1 crore but up to Rs 2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a:effectLst/>
                          <a:latin typeface="Cambria" panose="02040503050406030204" pitchFamily="18" charset="0"/>
                          <a:ea typeface="Cambria" panose="02040503050406030204" pitchFamily="18" charset="0"/>
                        </a:rPr>
                        <a:t>15%</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272837836"/>
                  </a:ext>
                </a:extLst>
              </a:tr>
              <a:tr h="420104">
                <a:tc>
                  <a:txBody>
                    <a:bodyPr/>
                    <a:lstStyle/>
                    <a:p>
                      <a:pPr fontAlgn="base"/>
                      <a:r>
                        <a:rPr lang="en-US" sz="1600" b="0">
                          <a:effectLst/>
                          <a:latin typeface="Cambria" panose="02040503050406030204" pitchFamily="18" charset="0"/>
                          <a:ea typeface="Cambria" panose="02040503050406030204" pitchFamily="18" charset="0"/>
                        </a:rPr>
                        <a:t>More than Rs 2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dirty="0">
                          <a:effectLst/>
                          <a:latin typeface="Cambria" panose="02040503050406030204" pitchFamily="18" charset="0"/>
                          <a:ea typeface="Cambria" panose="02040503050406030204" pitchFamily="18" charset="0"/>
                        </a:rPr>
                        <a:t>25%</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72468962"/>
                  </a:ext>
                </a:extLst>
              </a:tr>
            </a:tbl>
          </a:graphicData>
        </a:graphic>
      </p:graphicFrame>
      <p:graphicFrame>
        <p:nvGraphicFramePr>
          <p:cNvPr id="4" name="Table 3"/>
          <p:cNvGraphicFramePr>
            <a:graphicFrameLocks noGrp="1"/>
          </p:cNvGraphicFramePr>
          <p:nvPr>
            <p:extLst>
              <p:ext uri="{D42A27DB-BD31-4B8C-83A1-F6EECF244321}">
                <p14:modId xmlns:p14="http://schemas.microsoft.com/office/powerpoint/2010/main" val="2748588619"/>
              </p:ext>
            </p:extLst>
          </p:nvPr>
        </p:nvGraphicFramePr>
        <p:xfrm>
          <a:off x="301787" y="3842806"/>
          <a:ext cx="8947150" cy="2810328"/>
        </p:xfrm>
        <a:graphic>
          <a:graphicData uri="http://schemas.openxmlformats.org/drawingml/2006/table">
            <a:tbl>
              <a:tblPr/>
              <a:tblGrid>
                <a:gridCol w="4935231">
                  <a:extLst>
                    <a:ext uri="{9D8B030D-6E8A-4147-A177-3AD203B41FA5}">
                      <a16:colId xmlns:a16="http://schemas.microsoft.com/office/drawing/2014/main" val="1096275435"/>
                    </a:ext>
                  </a:extLst>
                </a:gridCol>
                <a:gridCol w="4011919">
                  <a:extLst>
                    <a:ext uri="{9D8B030D-6E8A-4147-A177-3AD203B41FA5}">
                      <a16:colId xmlns:a16="http://schemas.microsoft.com/office/drawing/2014/main" val="123916468"/>
                    </a:ext>
                  </a:extLst>
                </a:gridCol>
              </a:tblGrid>
              <a:tr h="240514">
                <a:tc gridSpan="2">
                  <a:txBody>
                    <a:bodyPr/>
                    <a:lstStyle/>
                    <a:p>
                      <a:pPr algn="l" fontAlgn="base"/>
                      <a:r>
                        <a:rPr lang="en-US" sz="1600" b="1" dirty="0">
                          <a:solidFill>
                            <a:srgbClr val="7030A0"/>
                          </a:solidFill>
                          <a:effectLst/>
                          <a:latin typeface="Cambria" panose="02040503050406030204" pitchFamily="18" charset="0"/>
                          <a:ea typeface="Cambria" panose="02040503050406030204" pitchFamily="18" charset="0"/>
                        </a:rPr>
                        <a:t>Surcharge rate under </a:t>
                      </a:r>
                      <a:r>
                        <a:rPr lang="en-US" sz="1600" b="1" dirty="0">
                          <a:solidFill>
                            <a:srgbClr val="FF0000"/>
                          </a:solidFill>
                          <a:effectLst/>
                          <a:latin typeface="Cambria" panose="02040503050406030204" pitchFamily="18" charset="0"/>
                          <a:ea typeface="Cambria" panose="02040503050406030204" pitchFamily="18" charset="0"/>
                        </a:rPr>
                        <a:t>OLD TAX REGIME</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hMerge="1">
                  <a:txBody>
                    <a:bodyPr/>
                    <a:lstStyle/>
                    <a:p>
                      <a:endParaRPr lang="en-IN"/>
                    </a:p>
                  </a:txBody>
                  <a:tcPr/>
                </a:tc>
                <a:extLst>
                  <a:ext uri="{0D108BD9-81ED-4DB2-BD59-A6C34878D82A}">
                    <a16:rowId xmlns:a16="http://schemas.microsoft.com/office/drawing/2014/main" val="2252691452"/>
                  </a:ext>
                </a:extLst>
              </a:tr>
              <a:tr h="421914">
                <a:tc>
                  <a:txBody>
                    <a:bodyPr/>
                    <a:lstStyle/>
                    <a:p>
                      <a:pPr algn="l" fontAlgn="ctr"/>
                      <a:r>
                        <a:rPr lang="en-IN" sz="1600" b="0" dirty="0">
                          <a:effectLst/>
                          <a:latin typeface="Cambria" panose="02040503050406030204" pitchFamily="18" charset="0"/>
                          <a:ea typeface="Cambria" panose="02040503050406030204" pitchFamily="18" charset="0"/>
                        </a:rPr>
                        <a:t>Income range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tc>
                  <a:txBody>
                    <a:bodyPr/>
                    <a:lstStyle/>
                    <a:p>
                      <a:pPr algn="l" fontAlgn="ctr"/>
                      <a:r>
                        <a:rPr lang="en-IN" sz="1600" b="0">
                          <a:effectLst/>
                          <a:latin typeface="Cambria" panose="02040503050406030204" pitchFamily="18" charset="0"/>
                          <a:ea typeface="Cambria" panose="02040503050406030204" pitchFamily="18" charset="0"/>
                        </a:rPr>
                        <a:t>Surcharge rate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0F0"/>
                    </a:solidFill>
                  </a:tcPr>
                </a:tc>
                <a:extLst>
                  <a:ext uri="{0D108BD9-81ED-4DB2-BD59-A6C34878D82A}">
                    <a16:rowId xmlns:a16="http://schemas.microsoft.com/office/drawing/2014/main" val="621966489"/>
                  </a:ext>
                </a:extLst>
              </a:tr>
              <a:tr h="421914">
                <a:tc>
                  <a:txBody>
                    <a:bodyPr/>
                    <a:lstStyle/>
                    <a:p>
                      <a:pPr fontAlgn="base"/>
                      <a:r>
                        <a:rPr lang="en-IN" sz="1600" b="0" dirty="0" err="1">
                          <a:effectLst/>
                          <a:latin typeface="Cambria" panose="02040503050406030204" pitchFamily="18" charset="0"/>
                          <a:ea typeface="Cambria" panose="02040503050406030204" pitchFamily="18" charset="0"/>
                        </a:rPr>
                        <a:t>Upto</a:t>
                      </a:r>
                      <a:r>
                        <a:rPr lang="en-IN" sz="1600" b="0" dirty="0">
                          <a:effectLst/>
                          <a:latin typeface="Cambria" panose="02040503050406030204" pitchFamily="18" charset="0"/>
                          <a:ea typeface="Cambria" panose="02040503050406030204" pitchFamily="18" charset="0"/>
                        </a:rPr>
                        <a:t> Rs 50 lakh</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a:effectLst/>
                          <a:latin typeface="Cambria" panose="02040503050406030204" pitchFamily="18" charset="0"/>
                          <a:ea typeface="Cambria" panose="02040503050406030204" pitchFamily="18" charset="0"/>
                        </a:rPr>
                        <a:t>Nil</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67202516"/>
                  </a:ext>
                </a:extLst>
              </a:tr>
              <a:tr h="421914">
                <a:tc>
                  <a:txBody>
                    <a:bodyPr/>
                    <a:lstStyle/>
                    <a:p>
                      <a:pPr fontAlgn="base"/>
                      <a:r>
                        <a:rPr lang="en-US" sz="1600" b="0" dirty="0">
                          <a:effectLst/>
                          <a:latin typeface="Cambria" panose="02040503050406030204" pitchFamily="18" charset="0"/>
                          <a:ea typeface="Cambria" panose="02040503050406030204" pitchFamily="18" charset="0"/>
                        </a:rPr>
                        <a:t>More than Rs 50 lakh but up to Rs 1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dirty="0">
                          <a:effectLst/>
                          <a:latin typeface="Cambria" panose="02040503050406030204" pitchFamily="18" charset="0"/>
                          <a:ea typeface="Cambria" panose="02040503050406030204" pitchFamily="18" charset="0"/>
                        </a:rPr>
                        <a:t>10%</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533150631"/>
                  </a:ext>
                </a:extLst>
              </a:tr>
              <a:tr h="421914">
                <a:tc>
                  <a:txBody>
                    <a:bodyPr/>
                    <a:lstStyle/>
                    <a:p>
                      <a:pPr fontAlgn="base"/>
                      <a:r>
                        <a:rPr lang="en-US" sz="1600" b="0">
                          <a:effectLst/>
                          <a:latin typeface="Cambria" panose="02040503050406030204" pitchFamily="18" charset="0"/>
                          <a:ea typeface="Cambria" panose="02040503050406030204" pitchFamily="18" charset="0"/>
                        </a:rPr>
                        <a:t>More than Rs 1 crore but up to Rs 2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a:effectLst/>
                          <a:latin typeface="Cambria" panose="02040503050406030204" pitchFamily="18" charset="0"/>
                          <a:ea typeface="Cambria" panose="02040503050406030204" pitchFamily="18" charset="0"/>
                        </a:rPr>
                        <a:t>15%</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1362153804"/>
                  </a:ext>
                </a:extLst>
              </a:tr>
              <a:tr h="421914">
                <a:tc>
                  <a:txBody>
                    <a:bodyPr/>
                    <a:lstStyle/>
                    <a:p>
                      <a:pPr fontAlgn="base"/>
                      <a:r>
                        <a:rPr lang="en-US" sz="1600" b="0" dirty="0">
                          <a:effectLst/>
                          <a:latin typeface="Cambria" panose="02040503050406030204" pitchFamily="18" charset="0"/>
                          <a:ea typeface="Cambria" panose="02040503050406030204" pitchFamily="18" charset="0"/>
                        </a:rPr>
                        <a:t>More than Rs 2 crore but up to Rs 5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a:effectLst/>
                          <a:latin typeface="Cambria" panose="02040503050406030204" pitchFamily="18" charset="0"/>
                          <a:ea typeface="Cambria" panose="02040503050406030204" pitchFamily="18" charset="0"/>
                        </a:rPr>
                        <a:t>25%</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2432311127"/>
                  </a:ext>
                </a:extLst>
              </a:tr>
              <a:tr h="421914">
                <a:tc>
                  <a:txBody>
                    <a:bodyPr/>
                    <a:lstStyle/>
                    <a:p>
                      <a:pPr fontAlgn="base"/>
                      <a:r>
                        <a:rPr lang="en-US" sz="1600" b="0">
                          <a:effectLst/>
                          <a:latin typeface="Cambria" panose="02040503050406030204" pitchFamily="18" charset="0"/>
                          <a:ea typeface="Cambria" panose="02040503050406030204" pitchFamily="18" charset="0"/>
                        </a:rPr>
                        <a:t>More than Rs 5 crore</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tc>
                  <a:txBody>
                    <a:bodyPr/>
                    <a:lstStyle/>
                    <a:p>
                      <a:pPr fontAlgn="base"/>
                      <a:r>
                        <a:rPr lang="en-IN" sz="1600" b="0" dirty="0">
                          <a:effectLst/>
                          <a:latin typeface="Cambria" panose="02040503050406030204" pitchFamily="18" charset="0"/>
                          <a:ea typeface="Cambria" panose="02040503050406030204" pitchFamily="18" charset="0"/>
                        </a:rPr>
                        <a:t>37%</a:t>
                      </a:r>
                    </a:p>
                  </a:txBody>
                  <a:tcPr marL="91954" marR="91954" marT="91954" marB="91954"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FFFFFF"/>
                    </a:solidFill>
                  </a:tcPr>
                </a:tc>
                <a:extLst>
                  <a:ext uri="{0D108BD9-81ED-4DB2-BD59-A6C34878D82A}">
                    <a16:rowId xmlns:a16="http://schemas.microsoft.com/office/drawing/2014/main" val="3431103714"/>
                  </a:ext>
                </a:extLst>
              </a:tr>
            </a:tbl>
          </a:graphicData>
        </a:graphic>
      </p:graphicFrame>
    </p:spTree>
    <p:extLst>
      <p:ext uri="{BB962C8B-B14F-4D97-AF65-F5344CB8AC3E}">
        <p14:creationId xmlns:p14="http://schemas.microsoft.com/office/powerpoint/2010/main" val="481334979"/>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0907425" cy="5357522"/>
          </a:xfrm>
        </p:spPr>
        <p:txBody>
          <a:bodyPr>
            <a:noAutofit/>
          </a:bodyPr>
          <a:lstStyle/>
          <a:p>
            <a:pPr algn="just" fontAlgn="base"/>
            <a:r>
              <a:rPr lang="en-US" sz="2800" dirty="0"/>
              <a:t>There are certain exceptions to the surcharge rates mentioned above. If an </a:t>
            </a:r>
            <a:r>
              <a:rPr lang="en-US" sz="2800" dirty="0">
                <a:solidFill>
                  <a:srgbClr val="FF0000"/>
                </a:solidFill>
              </a:rPr>
              <a:t>individual has earned income from </a:t>
            </a:r>
            <a:r>
              <a:rPr lang="en-US" sz="2800" dirty="0"/>
              <a:t>capital gains (short term or long term) through the sale of equity shares and equity mutual funds or dividend income, the surcharge will not exceed 15%, irrespective of the income range.</a:t>
            </a:r>
          </a:p>
          <a:p>
            <a:pPr algn="just" fontAlgn="base"/>
            <a:endParaRPr lang="en-US" sz="2800" dirty="0"/>
          </a:p>
          <a:p>
            <a:pPr algn="just" fontAlgn="base"/>
            <a:r>
              <a:rPr lang="en-US" sz="2800" dirty="0"/>
              <a:t>While understanding the concept of </a:t>
            </a:r>
            <a:r>
              <a:rPr lang="en-US" sz="2800" b="1" dirty="0">
                <a:solidFill>
                  <a:srgbClr val="FF0000"/>
                </a:solidFill>
              </a:rPr>
              <a:t>surcharge</a:t>
            </a:r>
            <a:r>
              <a:rPr lang="en-US" sz="2800" dirty="0"/>
              <a:t>, one must also know the term </a:t>
            </a:r>
            <a:r>
              <a:rPr lang="en-US" sz="2800" b="1" dirty="0">
                <a:solidFill>
                  <a:srgbClr val="FF0000"/>
                </a:solidFill>
              </a:rPr>
              <a:t>marginal relief</a:t>
            </a:r>
            <a:r>
              <a:rPr lang="en-US" sz="2800" dirty="0"/>
              <a:t>. The concept of marginal relief kicks in when the amount of surcharge on income tax payable exceeds the increase in income over the specified limit.</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92</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spTree>
    <p:extLst>
      <p:ext uri="{BB962C8B-B14F-4D97-AF65-F5344CB8AC3E}">
        <p14:creationId xmlns:p14="http://schemas.microsoft.com/office/powerpoint/2010/main" val="2671156404"/>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243667" cy="5357522"/>
          </a:xfrm>
        </p:spPr>
        <p:txBody>
          <a:bodyPr>
            <a:noAutofit/>
          </a:bodyPr>
          <a:lstStyle/>
          <a:p>
            <a:pPr algn="just" fontAlgn="base"/>
            <a:r>
              <a:rPr lang="en-US" sz="2800" dirty="0"/>
              <a:t>Suppose an individual has a </a:t>
            </a:r>
            <a:r>
              <a:rPr lang="en-US" sz="2800" dirty="0">
                <a:solidFill>
                  <a:srgbClr val="FF0000"/>
                </a:solidFill>
              </a:rPr>
              <a:t>net taxable income of </a:t>
            </a:r>
            <a:r>
              <a:rPr lang="en-US" sz="2800" dirty="0"/>
              <a:t>Rs 51 lakh. As the income exceeds Rs 50 lakh, the surcharge will be applicable at the rate of 10%. </a:t>
            </a:r>
          </a:p>
          <a:p>
            <a:pPr algn="just" fontAlgn="base"/>
            <a:endParaRPr lang="en-US" sz="2800" dirty="0"/>
          </a:p>
          <a:p>
            <a:pPr algn="just" fontAlgn="base"/>
            <a:r>
              <a:rPr lang="en-US" sz="2800" dirty="0"/>
              <a:t>The tax payable on Rs 51 lakh (</a:t>
            </a:r>
            <a:r>
              <a:rPr lang="en-US" sz="2800" dirty="0">
                <a:solidFill>
                  <a:srgbClr val="FF0000"/>
                </a:solidFill>
              </a:rPr>
              <a:t>without surcharge) is Rs </a:t>
            </a:r>
            <a:r>
              <a:rPr lang="en-US" sz="2800" b="1" dirty="0">
                <a:solidFill>
                  <a:srgbClr val="7030A0"/>
                </a:solidFill>
              </a:rPr>
              <a:t>13,42,500</a:t>
            </a:r>
            <a:r>
              <a:rPr lang="en-US" sz="2800" dirty="0"/>
              <a:t>. The </a:t>
            </a:r>
            <a:r>
              <a:rPr lang="en-US" sz="2800" dirty="0">
                <a:solidFill>
                  <a:srgbClr val="FF0000"/>
                </a:solidFill>
              </a:rPr>
              <a:t>surcharge amount </a:t>
            </a:r>
            <a:r>
              <a:rPr lang="en-US" sz="2800" dirty="0"/>
              <a:t>will be Rs 1,34,250 (at 10% of tax payable).</a:t>
            </a:r>
          </a:p>
          <a:p>
            <a:pPr algn="just" fontAlgn="base"/>
            <a:endParaRPr lang="en-US" sz="2800" dirty="0"/>
          </a:p>
          <a:p>
            <a:pPr algn="just" fontAlgn="base"/>
            <a:r>
              <a:rPr lang="en-US" sz="2800" dirty="0"/>
              <a:t>Here the surcharge amount Rs 1,34,250 is higher than the additional income above Rs 50 lakh (Rs 1,00,000). This is where the concept of marginal relief kicks in.</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93</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spTree>
    <p:extLst>
      <p:ext uri="{BB962C8B-B14F-4D97-AF65-F5344CB8AC3E}">
        <p14:creationId xmlns:p14="http://schemas.microsoft.com/office/powerpoint/2010/main" val="278453868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797850" cy="5037020"/>
          </a:xfrm>
        </p:spPr>
        <p:txBody>
          <a:bodyPr>
            <a:noAutofit/>
          </a:bodyPr>
          <a:lstStyle/>
          <a:p>
            <a:pPr algn="just" fontAlgn="base"/>
            <a:r>
              <a:rPr lang="en-US" sz="2800" dirty="0"/>
              <a:t>To know the amount of </a:t>
            </a:r>
            <a:r>
              <a:rPr lang="en-US" sz="2800" b="1" dirty="0">
                <a:solidFill>
                  <a:srgbClr val="FF0000"/>
                </a:solidFill>
              </a:rPr>
              <a:t>marginal relief </a:t>
            </a:r>
            <a:r>
              <a:rPr lang="en-US" sz="2800" dirty="0"/>
              <a:t>that is applicable, one needs to calculate income tax payable on Rs 50 lakh. This is because no surcharge will be applicable till the income exceeds Rs 50 lakh. The income tax payable will be Rs 13,12,500. </a:t>
            </a:r>
          </a:p>
          <a:p>
            <a:pPr algn="just" fontAlgn="base"/>
            <a:endParaRPr lang="en-US" sz="2800" dirty="0"/>
          </a:p>
          <a:p>
            <a:pPr algn="just" fontAlgn="base"/>
            <a:r>
              <a:rPr lang="en-US" sz="2800" dirty="0"/>
              <a:t>Now add income above Rs 50 lakh (Rs 1 lakh) to the income tax payable amount. The </a:t>
            </a:r>
            <a:r>
              <a:rPr lang="en-US" sz="2800" dirty="0">
                <a:solidFill>
                  <a:srgbClr val="FF0000"/>
                </a:solidFill>
              </a:rPr>
              <a:t>tax payable amount under marginal relief will be Rs </a:t>
            </a:r>
            <a:r>
              <a:rPr lang="en-US" sz="2800" b="1" dirty="0">
                <a:solidFill>
                  <a:srgbClr val="7030A0"/>
                </a:solidFill>
              </a:rPr>
              <a:t>14,12,500</a:t>
            </a:r>
            <a:r>
              <a:rPr lang="en-US" sz="2800" dirty="0"/>
              <a:t>.</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94</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spTree>
    <p:extLst>
      <p:ext uri="{BB962C8B-B14F-4D97-AF65-F5344CB8AC3E}">
        <p14:creationId xmlns:p14="http://schemas.microsoft.com/office/powerpoint/2010/main" val="2536747185"/>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7EB8A7-C8B7-75B9-5DB4-2C321372CA13}"/>
              </a:ext>
            </a:extLst>
          </p:cNvPr>
          <p:cNvSpPr>
            <a:spLocks noGrp="1"/>
          </p:cNvSpPr>
          <p:nvPr>
            <p:ph idx="1"/>
          </p:nvPr>
        </p:nvSpPr>
        <p:spPr>
          <a:xfrm>
            <a:off x="283314" y="1292660"/>
            <a:ext cx="11797850" cy="5357522"/>
          </a:xfrm>
        </p:spPr>
        <p:txBody>
          <a:bodyPr>
            <a:noAutofit/>
          </a:bodyPr>
          <a:lstStyle/>
          <a:p>
            <a:pPr algn="just" fontAlgn="base"/>
            <a:r>
              <a:rPr lang="en-US" sz="2800" dirty="0"/>
              <a:t>To ascertain the actual income tax payable with surcharge, </a:t>
            </a:r>
            <a:r>
              <a:rPr lang="en-US" sz="2800" b="1" dirty="0">
                <a:solidFill>
                  <a:srgbClr val="FF0000"/>
                </a:solidFill>
              </a:rPr>
              <a:t>compare</a:t>
            </a:r>
            <a:r>
              <a:rPr lang="en-US" sz="2800" dirty="0"/>
              <a:t> the normal tax liability (before surcharge and </a:t>
            </a:r>
            <a:r>
              <a:rPr lang="en-US" sz="2800" dirty="0" err="1"/>
              <a:t>cess</a:t>
            </a:r>
            <a:r>
              <a:rPr lang="en-US" sz="2800" dirty="0"/>
              <a:t>) and tax liability after marginal tax relief (without </a:t>
            </a:r>
            <a:r>
              <a:rPr lang="en-US" sz="2800" dirty="0" err="1"/>
              <a:t>cess</a:t>
            </a:r>
            <a:r>
              <a:rPr lang="en-US" sz="2800" dirty="0"/>
              <a:t>). </a:t>
            </a:r>
          </a:p>
          <a:p>
            <a:pPr algn="just" fontAlgn="base"/>
            <a:endParaRPr lang="en-US" sz="2800" dirty="0"/>
          </a:p>
          <a:p>
            <a:pPr algn="just" fontAlgn="base"/>
            <a:r>
              <a:rPr lang="en-US" sz="2800" dirty="0"/>
              <a:t>Normal tax liability is Rs 13,42,500 and tax liability after marginal tax relief is Rs 14,12,500. The </a:t>
            </a:r>
            <a:r>
              <a:rPr lang="en-US" sz="2800" dirty="0">
                <a:solidFill>
                  <a:srgbClr val="FF0000"/>
                </a:solidFill>
              </a:rPr>
              <a:t>surcharge that will be applicable </a:t>
            </a:r>
            <a:r>
              <a:rPr lang="en-US" sz="2800" dirty="0"/>
              <a:t>is Rs </a:t>
            </a:r>
            <a:r>
              <a:rPr lang="en-US" sz="2800" b="1" dirty="0">
                <a:solidFill>
                  <a:srgbClr val="7030A0"/>
                </a:solidFill>
              </a:rPr>
              <a:t>70,000</a:t>
            </a:r>
            <a:r>
              <a:rPr lang="en-US" sz="2800" dirty="0"/>
              <a:t> (Rs 14,12,500 - Rs 13,42,500).</a:t>
            </a:r>
          </a:p>
          <a:p>
            <a:pPr algn="just" fontAlgn="base"/>
            <a:endParaRPr lang="en-US" sz="2800" dirty="0"/>
          </a:p>
          <a:p>
            <a:pPr algn="just" fontAlgn="base"/>
            <a:r>
              <a:rPr lang="en-US" sz="2800" dirty="0"/>
              <a:t>The </a:t>
            </a:r>
            <a:r>
              <a:rPr lang="en-US" sz="2800" b="1" dirty="0">
                <a:solidFill>
                  <a:srgbClr val="FF0000"/>
                </a:solidFill>
              </a:rPr>
              <a:t>final tax payable amount </a:t>
            </a:r>
            <a:r>
              <a:rPr lang="en-US" sz="2800" dirty="0"/>
              <a:t>will be Rs 13,42,500 (Tax payable amount) + Rs 70,000 (Surcharge) + Rs 56,500 (</a:t>
            </a:r>
            <a:r>
              <a:rPr lang="en-US" sz="2800" dirty="0" err="1"/>
              <a:t>Cess</a:t>
            </a:r>
            <a:r>
              <a:rPr lang="en-US" sz="2800" dirty="0"/>
              <a:t> at 4% on Rs 14,12,500) = </a:t>
            </a:r>
            <a:r>
              <a:rPr lang="en-US" sz="2800" b="1" dirty="0">
                <a:solidFill>
                  <a:srgbClr val="FF0000"/>
                </a:solidFill>
              </a:rPr>
              <a:t>Rs 14,69,000.</a:t>
            </a:r>
          </a:p>
        </p:txBody>
      </p:sp>
      <p:sp>
        <p:nvSpPr>
          <p:cNvPr id="6" name="Slide Number Placeholder 5">
            <a:extLst>
              <a:ext uri="{FF2B5EF4-FFF2-40B4-BE49-F238E27FC236}">
                <a16:creationId xmlns:a16="http://schemas.microsoft.com/office/drawing/2014/main" id="{2E7FB3DF-C108-6E40-E7F9-E7614124D28D}"/>
              </a:ext>
            </a:extLst>
          </p:cNvPr>
          <p:cNvSpPr>
            <a:spLocks noGrp="1"/>
          </p:cNvSpPr>
          <p:nvPr>
            <p:ph type="sldNum" sz="quarter" idx="12"/>
          </p:nvPr>
        </p:nvSpPr>
        <p:spPr/>
        <p:txBody>
          <a:bodyPr/>
          <a:lstStyle/>
          <a:p>
            <a:fld id="{94013DF8-6EF8-4A98-8821-E6468C17C0C3}" type="slidenum">
              <a:rPr lang="en-IN" smtClean="0"/>
              <a:t>95</a:t>
            </a:fld>
            <a:endParaRPr lang="en-IN"/>
          </a:p>
        </p:txBody>
      </p:sp>
      <p:sp>
        <p:nvSpPr>
          <p:cNvPr id="7" name="Title 1">
            <a:extLst>
              <a:ext uri="{FF2B5EF4-FFF2-40B4-BE49-F238E27FC236}">
                <a16:creationId xmlns:a16="http://schemas.microsoft.com/office/drawing/2014/main" id="{F8475E7D-80E3-2B19-20FE-AC7B6E916EC5}"/>
              </a:ext>
            </a:extLst>
          </p:cNvPr>
          <p:cNvSpPr>
            <a:spLocks noGrp="1"/>
          </p:cNvSpPr>
          <p:nvPr>
            <p:ph type="title"/>
          </p:nvPr>
        </p:nvSpPr>
        <p:spPr>
          <a:xfrm>
            <a:off x="644525" y="363539"/>
            <a:ext cx="9405938" cy="699878"/>
          </a:xfrm>
        </p:spPr>
        <p:txBody>
          <a:bodyPr/>
          <a:lstStyle/>
          <a:p>
            <a:r>
              <a:rPr lang="en-US" dirty="0">
                <a:solidFill>
                  <a:srgbClr val="FF0000"/>
                </a:solidFill>
              </a:rPr>
              <a:t>SURCHARGE</a:t>
            </a:r>
            <a:endParaRPr lang="en-IN" dirty="0">
              <a:solidFill>
                <a:srgbClr val="FF0000"/>
              </a:solidFill>
            </a:endParaRPr>
          </a:p>
        </p:txBody>
      </p:sp>
    </p:spTree>
    <p:extLst>
      <p:ext uri="{BB962C8B-B14F-4D97-AF65-F5344CB8AC3E}">
        <p14:creationId xmlns:p14="http://schemas.microsoft.com/office/powerpoint/2010/main" val="2252495482"/>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5FD20B-17FA-D62E-8628-DBADC34436B3}"/>
              </a:ext>
            </a:extLst>
          </p:cNvPr>
          <p:cNvSpPr>
            <a:spLocks noGrp="1"/>
          </p:cNvSpPr>
          <p:nvPr>
            <p:ph idx="1"/>
          </p:nvPr>
        </p:nvSpPr>
        <p:spPr>
          <a:xfrm>
            <a:off x="466003" y="1293091"/>
            <a:ext cx="10724736" cy="4918528"/>
          </a:xfrm>
        </p:spPr>
        <p:txBody>
          <a:bodyPr>
            <a:normAutofit/>
          </a:bodyPr>
          <a:lstStyle/>
          <a:p>
            <a:pPr marL="0" indent="0" algn="just">
              <a:buNone/>
            </a:pPr>
            <a:r>
              <a:rPr lang="en-US" sz="2800" b="1" dirty="0"/>
              <a:t>Residential Status</a:t>
            </a:r>
          </a:p>
          <a:p>
            <a:pPr marL="0" indent="0" algn="just">
              <a:buNone/>
            </a:pPr>
            <a:r>
              <a:rPr lang="en-US" sz="2800" b="1" dirty="0"/>
              <a:t>Resident </a:t>
            </a:r>
            <a:r>
              <a:rPr lang="en-US" sz="2800" dirty="0"/>
              <a:t>– World income is taxable in India</a:t>
            </a:r>
          </a:p>
          <a:p>
            <a:pPr marL="0" indent="0" algn="just">
              <a:buNone/>
            </a:pPr>
            <a:r>
              <a:rPr lang="en-US" sz="2800" b="1" dirty="0"/>
              <a:t>Non Resident Indian (NRI</a:t>
            </a:r>
            <a:r>
              <a:rPr lang="en-US" sz="2800" dirty="0"/>
              <a:t>) – Only income arising or accruing in India is taxable in India </a:t>
            </a:r>
          </a:p>
          <a:p>
            <a:pPr marL="0" indent="0" algn="just">
              <a:buNone/>
            </a:pPr>
            <a:endParaRPr lang="en-US" sz="2800" dirty="0"/>
          </a:p>
          <a:p>
            <a:pPr algn="just">
              <a:buFont typeface="Wingdings" panose="05000000000000000000" pitchFamily="2" charset="2"/>
              <a:buChar char="Ø"/>
            </a:pPr>
            <a:r>
              <a:rPr lang="en-US" sz="2800" dirty="0"/>
              <a:t>The </a:t>
            </a:r>
            <a:r>
              <a:rPr lang="en-US" sz="2800" b="1" dirty="0"/>
              <a:t>Reserve Bank of India </a:t>
            </a:r>
            <a:r>
              <a:rPr lang="en-US" sz="2800" dirty="0"/>
              <a:t>(RBI) and the </a:t>
            </a:r>
            <a:r>
              <a:rPr lang="en-US" sz="2800" b="1" dirty="0"/>
              <a:t>Income Tax Act </a:t>
            </a:r>
            <a:r>
              <a:rPr lang="en-US" sz="2800" dirty="0"/>
              <a:t>have </a:t>
            </a:r>
            <a:r>
              <a:rPr lang="en-US" sz="2800" dirty="0">
                <a:solidFill>
                  <a:srgbClr val="FF0000"/>
                </a:solidFill>
              </a:rPr>
              <a:t>distinct definitions of an NRI</a:t>
            </a:r>
            <a:r>
              <a:rPr lang="en-US" sz="2800" dirty="0"/>
              <a:t>. The definition of NRI as per RBI focuses on the intention of stay, whereas NRI status as per income tax is determined by the actual duration of stay in India.</a:t>
            </a:r>
          </a:p>
        </p:txBody>
      </p:sp>
      <p:sp>
        <p:nvSpPr>
          <p:cNvPr id="6" name="Slide Number Placeholder 5">
            <a:extLst>
              <a:ext uri="{FF2B5EF4-FFF2-40B4-BE49-F238E27FC236}">
                <a16:creationId xmlns:a16="http://schemas.microsoft.com/office/drawing/2014/main" id="{567BE266-D532-7423-C4E3-03791B7227AB}"/>
              </a:ext>
            </a:extLst>
          </p:cNvPr>
          <p:cNvSpPr>
            <a:spLocks noGrp="1"/>
          </p:cNvSpPr>
          <p:nvPr>
            <p:ph type="sldNum" sz="quarter" idx="12"/>
          </p:nvPr>
        </p:nvSpPr>
        <p:spPr/>
        <p:txBody>
          <a:bodyPr/>
          <a:lstStyle/>
          <a:p>
            <a:fld id="{94013DF8-6EF8-4A98-8821-E6468C17C0C3}" type="slidenum">
              <a:rPr lang="en-IN" smtClean="0"/>
              <a:t>96</a:t>
            </a:fld>
            <a:endParaRPr lang="en-IN"/>
          </a:p>
        </p:txBody>
      </p:sp>
      <p:sp>
        <p:nvSpPr>
          <p:cNvPr id="7" name="Title 1">
            <a:extLst>
              <a:ext uri="{FF2B5EF4-FFF2-40B4-BE49-F238E27FC236}">
                <a16:creationId xmlns:a16="http://schemas.microsoft.com/office/drawing/2014/main" id="{C0770AAB-2855-84CB-6032-7D911AD4884F}"/>
              </a:ext>
            </a:extLst>
          </p:cNvPr>
          <p:cNvSpPr>
            <a:spLocks noGrp="1"/>
          </p:cNvSpPr>
          <p:nvPr>
            <p:ph type="title"/>
          </p:nvPr>
        </p:nvSpPr>
        <p:spPr>
          <a:xfrm>
            <a:off x="645130" y="506451"/>
            <a:ext cx="9404723" cy="786640"/>
          </a:xfrm>
        </p:spPr>
        <p:txBody>
          <a:bodyPr/>
          <a:lstStyle/>
          <a:p>
            <a:r>
              <a:rPr lang="en-IN" dirty="0"/>
              <a:t>Important Terminologies</a:t>
            </a:r>
          </a:p>
        </p:txBody>
      </p:sp>
    </p:spTree>
    <p:extLst>
      <p:ext uri="{BB962C8B-B14F-4D97-AF65-F5344CB8AC3E}">
        <p14:creationId xmlns:p14="http://schemas.microsoft.com/office/powerpoint/2010/main" val="2533404817"/>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5FD20B-17FA-D62E-8628-DBADC34436B3}"/>
              </a:ext>
            </a:extLst>
          </p:cNvPr>
          <p:cNvSpPr>
            <a:spLocks noGrp="1"/>
          </p:cNvSpPr>
          <p:nvPr>
            <p:ph idx="1"/>
          </p:nvPr>
        </p:nvSpPr>
        <p:spPr>
          <a:xfrm>
            <a:off x="466003" y="1570181"/>
            <a:ext cx="10724736" cy="4641437"/>
          </a:xfrm>
        </p:spPr>
        <p:txBody>
          <a:bodyPr>
            <a:normAutofit/>
          </a:bodyPr>
          <a:lstStyle/>
          <a:p>
            <a:pPr algn="just">
              <a:buFont typeface="Wingdings" panose="05000000000000000000" pitchFamily="2" charset="2"/>
              <a:buChar char="Ø"/>
            </a:pPr>
            <a:r>
              <a:rPr lang="en-US" sz="2800" b="1" dirty="0"/>
              <a:t>RBI's NRI Definition</a:t>
            </a:r>
            <a:r>
              <a:rPr lang="en-US" sz="2800" dirty="0"/>
              <a:t>: An individual is an NRI if they've not resided in India for more than 182 days during the preceding financial year.</a:t>
            </a:r>
          </a:p>
          <a:p>
            <a:pPr algn="just">
              <a:buFont typeface="Wingdings" panose="05000000000000000000" pitchFamily="2" charset="2"/>
              <a:buChar char="Ø"/>
            </a:pPr>
            <a:endParaRPr lang="en-US" sz="2800" dirty="0"/>
          </a:p>
          <a:p>
            <a:pPr algn="just">
              <a:buFont typeface="Wingdings" panose="05000000000000000000" pitchFamily="2" charset="2"/>
              <a:buChar char="Ø"/>
            </a:pPr>
            <a:r>
              <a:rPr lang="en-US" sz="2800" b="1" dirty="0"/>
              <a:t>Income Tax Act's NRI Definition</a:t>
            </a:r>
            <a:r>
              <a:rPr lang="en-US" sz="2800" dirty="0"/>
              <a:t>: An individual is an NRI if they've been in India for less than 182 days in the preceding financial year or if they've been in India for less than 60 days during the previous year and 365 days or less during the past four years.</a:t>
            </a:r>
          </a:p>
        </p:txBody>
      </p:sp>
      <p:sp>
        <p:nvSpPr>
          <p:cNvPr id="6" name="Slide Number Placeholder 5">
            <a:extLst>
              <a:ext uri="{FF2B5EF4-FFF2-40B4-BE49-F238E27FC236}">
                <a16:creationId xmlns:a16="http://schemas.microsoft.com/office/drawing/2014/main" id="{567BE266-D532-7423-C4E3-03791B7227AB}"/>
              </a:ext>
            </a:extLst>
          </p:cNvPr>
          <p:cNvSpPr>
            <a:spLocks noGrp="1"/>
          </p:cNvSpPr>
          <p:nvPr>
            <p:ph type="sldNum" sz="quarter" idx="12"/>
          </p:nvPr>
        </p:nvSpPr>
        <p:spPr/>
        <p:txBody>
          <a:bodyPr/>
          <a:lstStyle/>
          <a:p>
            <a:fld id="{94013DF8-6EF8-4A98-8821-E6468C17C0C3}" type="slidenum">
              <a:rPr lang="en-IN" smtClean="0"/>
              <a:t>97</a:t>
            </a:fld>
            <a:endParaRPr lang="en-IN"/>
          </a:p>
        </p:txBody>
      </p:sp>
      <p:sp>
        <p:nvSpPr>
          <p:cNvPr id="7" name="Title 1">
            <a:extLst>
              <a:ext uri="{FF2B5EF4-FFF2-40B4-BE49-F238E27FC236}">
                <a16:creationId xmlns:a16="http://schemas.microsoft.com/office/drawing/2014/main" id="{C0770AAB-2855-84CB-6032-7D911AD4884F}"/>
              </a:ext>
            </a:extLst>
          </p:cNvPr>
          <p:cNvSpPr>
            <a:spLocks noGrp="1"/>
          </p:cNvSpPr>
          <p:nvPr>
            <p:ph type="title"/>
          </p:nvPr>
        </p:nvSpPr>
        <p:spPr>
          <a:xfrm>
            <a:off x="645130" y="506451"/>
            <a:ext cx="9404723" cy="786640"/>
          </a:xfrm>
        </p:spPr>
        <p:txBody>
          <a:bodyPr/>
          <a:lstStyle/>
          <a:p>
            <a:r>
              <a:rPr lang="en-IN" dirty="0"/>
              <a:t>Important Terminologies</a:t>
            </a:r>
          </a:p>
        </p:txBody>
      </p:sp>
    </p:spTree>
    <p:extLst>
      <p:ext uri="{BB962C8B-B14F-4D97-AF65-F5344CB8AC3E}">
        <p14:creationId xmlns:p14="http://schemas.microsoft.com/office/powerpoint/2010/main" val="3207900648"/>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ABEF6F-57FD-CD98-517F-2FF78239ABDC}"/>
              </a:ext>
            </a:extLst>
          </p:cNvPr>
          <p:cNvSpPr>
            <a:spLocks noGrp="1"/>
          </p:cNvSpPr>
          <p:nvPr>
            <p:ph type="title"/>
          </p:nvPr>
        </p:nvSpPr>
        <p:spPr/>
        <p:txBody>
          <a:bodyPr/>
          <a:lstStyle/>
          <a:p>
            <a:r>
              <a:rPr lang="en-IN" dirty="0"/>
              <a:t>HEADS OF INCOME</a:t>
            </a:r>
          </a:p>
        </p:txBody>
      </p:sp>
      <p:sp>
        <p:nvSpPr>
          <p:cNvPr id="3" name="Content Placeholder 2">
            <a:extLst>
              <a:ext uri="{FF2B5EF4-FFF2-40B4-BE49-F238E27FC236}">
                <a16:creationId xmlns:a16="http://schemas.microsoft.com/office/drawing/2014/main" id="{994251AE-8A65-19F8-C904-952A05E43FBE}"/>
              </a:ext>
            </a:extLst>
          </p:cNvPr>
          <p:cNvSpPr>
            <a:spLocks noGrp="1"/>
          </p:cNvSpPr>
          <p:nvPr>
            <p:ph idx="1"/>
          </p:nvPr>
        </p:nvSpPr>
        <p:spPr>
          <a:xfrm>
            <a:off x="1103312" y="1447800"/>
            <a:ext cx="10087427" cy="5114471"/>
          </a:xfrm>
        </p:spPr>
        <p:txBody>
          <a:bodyPr>
            <a:normAutofit fontScale="92500" lnSpcReduction="10000"/>
          </a:bodyPr>
          <a:lstStyle/>
          <a:p>
            <a:pPr marL="0" indent="0">
              <a:buNone/>
            </a:pPr>
            <a:r>
              <a:rPr lang="en-IN" sz="2800" dirty="0">
                <a:solidFill>
                  <a:srgbClr val="FF0000"/>
                </a:solidFill>
                <a:latin typeface="Algerian" panose="04020705040A02060702" pitchFamily="82" charset="0"/>
              </a:rPr>
              <a:t>Income From Salary </a:t>
            </a:r>
          </a:p>
          <a:p>
            <a:pPr marL="0" indent="0">
              <a:buNone/>
            </a:pPr>
            <a:r>
              <a:rPr lang="en-IN" sz="2400" b="1" i="1" dirty="0">
                <a:solidFill>
                  <a:srgbClr val="C00000"/>
                </a:solidFill>
                <a:latin typeface="Cambria" panose="02040503050406030204" pitchFamily="18" charset="0"/>
              </a:rPr>
              <a:t>Meaning of Salary:</a:t>
            </a:r>
          </a:p>
          <a:p>
            <a:pPr algn="just">
              <a:buFont typeface="Wingdings" panose="05000000000000000000" pitchFamily="2" charset="2"/>
              <a:buChar char="ü"/>
            </a:pPr>
            <a:r>
              <a:rPr lang="en-US" dirty="0">
                <a:latin typeface="Cambria" panose="02040503050406030204" pitchFamily="18" charset="0"/>
              </a:rPr>
              <a:t>	Wages</a:t>
            </a:r>
          </a:p>
          <a:p>
            <a:pPr algn="just">
              <a:buFont typeface="Wingdings" panose="05000000000000000000" pitchFamily="2" charset="2"/>
              <a:buChar char="ü"/>
            </a:pPr>
            <a:r>
              <a:rPr lang="en-US" dirty="0">
                <a:latin typeface="Cambria" panose="02040503050406030204" pitchFamily="18" charset="0"/>
              </a:rPr>
              <a:t>	Pension</a:t>
            </a:r>
          </a:p>
          <a:p>
            <a:pPr algn="just">
              <a:buFont typeface="Wingdings" panose="05000000000000000000" pitchFamily="2" charset="2"/>
              <a:buChar char="ü"/>
            </a:pPr>
            <a:r>
              <a:rPr lang="en-US" dirty="0">
                <a:latin typeface="Cambria" panose="02040503050406030204" pitchFamily="18" charset="0"/>
              </a:rPr>
              <a:t>	Annuity</a:t>
            </a:r>
          </a:p>
          <a:p>
            <a:pPr algn="just">
              <a:buFont typeface="Wingdings" panose="05000000000000000000" pitchFamily="2" charset="2"/>
              <a:buChar char="ü"/>
            </a:pPr>
            <a:r>
              <a:rPr lang="en-US" dirty="0">
                <a:latin typeface="Cambria" panose="02040503050406030204" pitchFamily="18" charset="0"/>
              </a:rPr>
              <a:t>	Gratuity</a:t>
            </a:r>
          </a:p>
          <a:p>
            <a:pPr algn="just">
              <a:buFont typeface="Wingdings" panose="05000000000000000000" pitchFamily="2" charset="2"/>
              <a:buChar char="ü"/>
            </a:pPr>
            <a:r>
              <a:rPr lang="en-US" dirty="0">
                <a:latin typeface="Cambria" panose="02040503050406030204" pitchFamily="18" charset="0"/>
              </a:rPr>
              <a:t>	Advance Salary paid</a:t>
            </a:r>
          </a:p>
          <a:p>
            <a:pPr algn="just">
              <a:buFont typeface="Wingdings" panose="05000000000000000000" pitchFamily="2" charset="2"/>
              <a:buChar char="ü"/>
            </a:pPr>
            <a:r>
              <a:rPr lang="en-US" dirty="0">
                <a:latin typeface="Cambria" panose="02040503050406030204" pitchFamily="18" charset="0"/>
              </a:rPr>
              <a:t>	Fees, Commission, Perquisites, Profits in lieu of or in addition to Salary or Wages</a:t>
            </a:r>
          </a:p>
          <a:p>
            <a:pPr algn="just">
              <a:buFont typeface="Wingdings" panose="05000000000000000000" pitchFamily="2" charset="2"/>
              <a:buChar char="ü"/>
            </a:pPr>
            <a:r>
              <a:rPr lang="en-US" dirty="0">
                <a:latin typeface="Cambria" panose="02040503050406030204" pitchFamily="18" charset="0"/>
              </a:rPr>
              <a:t>	Annual accretion to the balance of Recognized Provident Fund</a:t>
            </a:r>
          </a:p>
          <a:p>
            <a:pPr algn="just">
              <a:buFont typeface="Wingdings" panose="05000000000000000000" pitchFamily="2" charset="2"/>
              <a:buChar char="ü"/>
            </a:pPr>
            <a:r>
              <a:rPr lang="en-US" dirty="0">
                <a:latin typeface="Cambria" panose="02040503050406030204" pitchFamily="18" charset="0"/>
              </a:rPr>
              <a:t>	Leave Encashment</a:t>
            </a:r>
          </a:p>
          <a:p>
            <a:pPr algn="just">
              <a:buFont typeface="Wingdings" panose="05000000000000000000" pitchFamily="2" charset="2"/>
              <a:buChar char="ü"/>
            </a:pPr>
            <a:r>
              <a:rPr lang="en-US" dirty="0">
                <a:latin typeface="Cambria" panose="02040503050406030204" pitchFamily="18" charset="0"/>
              </a:rPr>
              <a:t>	Transferred balance in Recognized Provident Fund</a:t>
            </a:r>
          </a:p>
          <a:p>
            <a:pPr algn="just">
              <a:buFont typeface="Wingdings" panose="05000000000000000000" pitchFamily="2" charset="2"/>
              <a:buChar char="ü"/>
            </a:pPr>
            <a:r>
              <a:rPr lang="en-US" dirty="0">
                <a:latin typeface="Cambria" panose="02040503050406030204" pitchFamily="18" charset="0"/>
              </a:rPr>
              <a:t>	Contribution by Central Govt. or any other employer to Employees Pension A/c as 			referred in Sec. 80CCD.</a:t>
            </a:r>
          </a:p>
          <a:p>
            <a:endParaRPr lang="en-IN" dirty="0"/>
          </a:p>
        </p:txBody>
      </p:sp>
      <p:sp>
        <p:nvSpPr>
          <p:cNvPr id="6" name="Slide Number Placeholder 5">
            <a:extLst>
              <a:ext uri="{FF2B5EF4-FFF2-40B4-BE49-F238E27FC236}">
                <a16:creationId xmlns:a16="http://schemas.microsoft.com/office/drawing/2014/main" id="{FFCBAF37-D7F2-C74F-50D7-6BB9811321AC}"/>
              </a:ext>
            </a:extLst>
          </p:cNvPr>
          <p:cNvSpPr>
            <a:spLocks noGrp="1"/>
          </p:cNvSpPr>
          <p:nvPr>
            <p:ph type="sldNum" sz="quarter" idx="12"/>
          </p:nvPr>
        </p:nvSpPr>
        <p:spPr/>
        <p:txBody>
          <a:bodyPr/>
          <a:lstStyle/>
          <a:p>
            <a:fld id="{94013DF8-6EF8-4A98-8821-E6468C17C0C3}" type="slidenum">
              <a:rPr lang="en-IN" smtClean="0"/>
              <a:t>98</a:t>
            </a:fld>
            <a:endParaRPr lang="en-IN"/>
          </a:p>
        </p:txBody>
      </p:sp>
    </p:spTree>
    <p:extLst>
      <p:ext uri="{BB962C8B-B14F-4D97-AF65-F5344CB8AC3E}">
        <p14:creationId xmlns:p14="http://schemas.microsoft.com/office/powerpoint/2010/main" val="54169629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EDF0DC1-886B-3FD5-D09F-8F654970CFE7}"/>
              </a:ext>
            </a:extLst>
          </p:cNvPr>
          <p:cNvSpPr>
            <a:spLocks noGrp="1"/>
          </p:cNvSpPr>
          <p:nvPr>
            <p:ph idx="1"/>
          </p:nvPr>
        </p:nvSpPr>
        <p:spPr>
          <a:xfrm>
            <a:off x="1103312" y="1632857"/>
            <a:ext cx="10087427" cy="5225143"/>
          </a:xfrm>
        </p:spPr>
        <p:txBody>
          <a:bodyPr>
            <a:normAutofit/>
          </a:bodyPr>
          <a:lstStyle/>
          <a:p>
            <a:pPr marL="0" indent="0" algn="just">
              <a:buNone/>
            </a:pPr>
            <a:r>
              <a:rPr lang="en-US" sz="2400" dirty="0">
                <a:latin typeface="Cambria" panose="02040503050406030204" pitchFamily="18" charset="0"/>
                <a:ea typeface="Cambria" panose="02040503050406030204" pitchFamily="18" charset="0"/>
              </a:rPr>
              <a:t>1. CTC</a:t>
            </a:r>
          </a:p>
          <a:p>
            <a:pPr marL="0" indent="0" algn="just">
              <a:buNone/>
            </a:pPr>
            <a:r>
              <a:rPr lang="en-US" sz="2400" dirty="0">
                <a:latin typeface="Cambria" panose="02040503050406030204" pitchFamily="18" charset="0"/>
                <a:ea typeface="Cambria" panose="02040503050406030204" pitchFamily="18" charset="0"/>
              </a:rPr>
              <a:t>2. Gross Salary</a:t>
            </a:r>
          </a:p>
          <a:p>
            <a:pPr marL="0" indent="0" algn="just">
              <a:buNone/>
            </a:pPr>
            <a:r>
              <a:rPr lang="en-US" sz="2400" dirty="0">
                <a:latin typeface="Cambria" panose="02040503050406030204" pitchFamily="18" charset="0"/>
                <a:ea typeface="Cambria" panose="02040503050406030204" pitchFamily="18" charset="0"/>
              </a:rPr>
              <a:t>-is </a:t>
            </a:r>
            <a:r>
              <a:rPr lang="en-US" sz="2400" dirty="0">
                <a:solidFill>
                  <a:srgbClr val="7030A0"/>
                </a:solidFill>
                <a:latin typeface="Cambria" panose="02040503050406030204" pitchFamily="18" charset="0"/>
                <a:ea typeface="Cambria" panose="02040503050406030204" pitchFamily="18" charset="0"/>
              </a:rPr>
              <a:t>employee provident fund </a:t>
            </a:r>
            <a:r>
              <a:rPr lang="en-US" sz="2400" dirty="0">
                <a:latin typeface="Cambria" panose="02040503050406030204" pitchFamily="18" charset="0"/>
                <a:ea typeface="Cambria" panose="02040503050406030204" pitchFamily="18" charset="0"/>
              </a:rPr>
              <a:t>(EPF) and gratuity subtracted from the </a:t>
            </a:r>
            <a:r>
              <a:rPr lang="en-US" sz="2400" dirty="0">
                <a:solidFill>
                  <a:srgbClr val="7030A0"/>
                </a:solidFill>
                <a:latin typeface="Cambria" panose="02040503050406030204" pitchFamily="18" charset="0"/>
                <a:ea typeface="Cambria" panose="02040503050406030204" pitchFamily="18" charset="0"/>
              </a:rPr>
              <a:t>Cost to Company </a:t>
            </a:r>
            <a:r>
              <a:rPr lang="en-US" sz="2400" dirty="0">
                <a:latin typeface="Cambria" panose="02040503050406030204" pitchFamily="18" charset="0"/>
                <a:ea typeface="Cambria" panose="02040503050406030204" pitchFamily="18" charset="0"/>
              </a:rPr>
              <a:t>(CTC). To put it in simpler terms, </a:t>
            </a:r>
            <a:r>
              <a:rPr lang="en-US" sz="2400" dirty="0">
                <a:solidFill>
                  <a:srgbClr val="FF0000"/>
                </a:solidFill>
                <a:latin typeface="Cambria" panose="02040503050406030204" pitchFamily="18" charset="0"/>
                <a:ea typeface="Cambria" panose="02040503050406030204" pitchFamily="18" charset="0"/>
              </a:rPr>
              <a:t>Gross Salary is the amount paid before deduction of taxes </a:t>
            </a:r>
            <a:r>
              <a:rPr lang="en-US" sz="2400" dirty="0">
                <a:latin typeface="Cambria" panose="02040503050406030204" pitchFamily="18" charset="0"/>
                <a:ea typeface="Cambria" panose="02040503050406030204" pitchFamily="18" charset="0"/>
              </a:rPr>
              <a:t>or other deductions and is inclusive of bonuses, over-time pay, holiday pay, and other differentials.</a:t>
            </a:r>
          </a:p>
          <a:p>
            <a:pPr marL="0" indent="0" algn="just">
              <a:buNone/>
            </a:pPr>
            <a:endParaRPr lang="en-US" sz="2400" dirty="0">
              <a:latin typeface="Cambria" panose="02040503050406030204" pitchFamily="18" charset="0"/>
              <a:ea typeface="Cambria" panose="02040503050406030204" pitchFamily="18" charset="0"/>
            </a:endParaRPr>
          </a:p>
          <a:p>
            <a:pPr marL="0" indent="0" algn="just">
              <a:buNone/>
            </a:pPr>
            <a:r>
              <a:rPr lang="en-US" sz="2400" dirty="0">
                <a:latin typeface="Cambria" panose="02040503050406030204" pitchFamily="18" charset="0"/>
                <a:ea typeface="Cambria" panose="02040503050406030204" pitchFamily="18" charset="0"/>
              </a:rPr>
              <a:t>For the same example listed above, let’s deduce Mr. A yearly salary by subtracting gratuity and Employee Provident Fund contributions.</a:t>
            </a:r>
          </a:p>
          <a:p>
            <a:pPr marL="0" indent="0" algn="just">
              <a:buNone/>
            </a:pPr>
            <a:r>
              <a:rPr lang="en-US" sz="2400" dirty="0">
                <a:latin typeface="Cambria" panose="02040503050406030204" pitchFamily="18" charset="0"/>
                <a:ea typeface="Cambria" panose="02040503050406030204" pitchFamily="18" charset="0"/>
              </a:rPr>
              <a:t>Rs. 4,00,000 - Rs. 21,600 - Rs. 18,326 = Rs. 3,60,074</a:t>
            </a:r>
            <a:endParaRPr lang="en-IN" sz="2400"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65139D16-6640-C9D3-188D-861BAB6B0A94}"/>
              </a:ext>
            </a:extLst>
          </p:cNvPr>
          <p:cNvSpPr>
            <a:spLocks noGrp="1"/>
          </p:cNvSpPr>
          <p:nvPr>
            <p:ph type="sldNum" sz="quarter" idx="12"/>
          </p:nvPr>
        </p:nvSpPr>
        <p:spPr/>
        <p:txBody>
          <a:bodyPr/>
          <a:lstStyle/>
          <a:p>
            <a:fld id="{94013DF8-6EF8-4A98-8821-E6468C17C0C3}" type="slidenum">
              <a:rPr lang="en-IN" smtClean="0"/>
              <a:t>99</a:t>
            </a:fld>
            <a:endParaRPr lang="en-IN"/>
          </a:p>
        </p:txBody>
      </p:sp>
      <p:sp>
        <p:nvSpPr>
          <p:cNvPr id="7" name="Title 1">
            <a:extLst>
              <a:ext uri="{FF2B5EF4-FFF2-40B4-BE49-F238E27FC236}">
                <a16:creationId xmlns:a16="http://schemas.microsoft.com/office/drawing/2014/main" id="{85D9F6A3-C76D-95B7-D49E-E98F1123110A}"/>
              </a:ext>
            </a:extLst>
          </p:cNvPr>
          <p:cNvSpPr>
            <a:spLocks noGrp="1"/>
          </p:cNvSpPr>
          <p:nvPr>
            <p:ph type="title"/>
          </p:nvPr>
        </p:nvSpPr>
        <p:spPr>
          <a:xfrm>
            <a:off x="1001261" y="452718"/>
            <a:ext cx="9049573" cy="973311"/>
          </a:xfrm>
        </p:spPr>
        <p:txBody>
          <a:bodyPr/>
          <a:lstStyle/>
          <a:p>
            <a:r>
              <a:rPr lang="en-IN" dirty="0"/>
              <a:t>Income From Salary </a:t>
            </a:r>
          </a:p>
        </p:txBody>
      </p:sp>
    </p:spTree>
    <p:extLst>
      <p:ext uri="{BB962C8B-B14F-4D97-AF65-F5344CB8AC3E}">
        <p14:creationId xmlns:p14="http://schemas.microsoft.com/office/powerpoint/2010/main" val="3250158405"/>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75CB6E59-126E-F972-103E-CE19AE420831}"/>
              </a:ext>
            </a:extLst>
          </p:cNvPr>
          <p:cNvSpPr>
            <a:spLocks noGrp="1"/>
          </p:cNvSpPr>
          <p:nvPr>
            <p:ph type="sldNum" sz="quarter" idx="12"/>
          </p:nvPr>
        </p:nvSpPr>
        <p:spPr/>
        <p:txBody>
          <a:bodyPr/>
          <a:lstStyle/>
          <a:p>
            <a:fld id="{94013DF8-6EF8-4A98-8821-E6468C17C0C3}" type="slidenum">
              <a:rPr lang="en-IN" smtClean="0"/>
              <a:t>100</a:t>
            </a:fld>
            <a:endParaRPr lang="en-IN"/>
          </a:p>
        </p:txBody>
      </p:sp>
      <p:sp>
        <p:nvSpPr>
          <p:cNvPr id="7" name="Title 1">
            <a:extLst>
              <a:ext uri="{FF2B5EF4-FFF2-40B4-BE49-F238E27FC236}">
                <a16:creationId xmlns:a16="http://schemas.microsoft.com/office/drawing/2014/main" id="{7D050152-B92C-DBB5-48C2-F6DC24AA7C4D}"/>
              </a:ext>
            </a:extLst>
          </p:cNvPr>
          <p:cNvSpPr>
            <a:spLocks noGrp="1"/>
          </p:cNvSpPr>
          <p:nvPr>
            <p:ph type="title"/>
          </p:nvPr>
        </p:nvSpPr>
        <p:spPr>
          <a:xfrm>
            <a:off x="1001261" y="452718"/>
            <a:ext cx="9049573" cy="973311"/>
          </a:xfrm>
        </p:spPr>
        <p:txBody>
          <a:bodyPr/>
          <a:lstStyle/>
          <a:p>
            <a:r>
              <a:rPr lang="en-IN" dirty="0"/>
              <a:t>Income From Salary </a:t>
            </a:r>
          </a:p>
        </p:txBody>
      </p:sp>
      <p:graphicFrame>
        <p:nvGraphicFramePr>
          <p:cNvPr id="8" name="Table 7">
            <a:extLst>
              <a:ext uri="{FF2B5EF4-FFF2-40B4-BE49-F238E27FC236}">
                <a16:creationId xmlns:a16="http://schemas.microsoft.com/office/drawing/2014/main" id="{3AFE2F61-F403-4FBE-1993-0932CF6CC563}"/>
              </a:ext>
            </a:extLst>
          </p:cNvPr>
          <p:cNvGraphicFramePr>
            <a:graphicFrameLocks noGrp="1"/>
          </p:cNvGraphicFramePr>
          <p:nvPr>
            <p:extLst>
              <p:ext uri="{D42A27DB-BD31-4B8C-83A1-F6EECF244321}">
                <p14:modId xmlns:p14="http://schemas.microsoft.com/office/powerpoint/2010/main" val="22282079"/>
              </p:ext>
            </p:extLst>
          </p:nvPr>
        </p:nvGraphicFramePr>
        <p:xfrm>
          <a:off x="670561" y="1228341"/>
          <a:ext cx="9380273" cy="5497766"/>
        </p:xfrm>
        <a:graphic>
          <a:graphicData uri="http://schemas.openxmlformats.org/drawingml/2006/table">
            <a:tbl>
              <a:tblPr>
                <a:tableStyleId>{22838BEF-8BB2-4498-84A7-C5851F593DF1}</a:tableStyleId>
              </a:tblPr>
              <a:tblGrid>
                <a:gridCol w="6572719">
                  <a:extLst>
                    <a:ext uri="{9D8B030D-6E8A-4147-A177-3AD203B41FA5}">
                      <a16:colId xmlns:a16="http://schemas.microsoft.com/office/drawing/2014/main" val="1949391029"/>
                    </a:ext>
                  </a:extLst>
                </a:gridCol>
                <a:gridCol w="2807554">
                  <a:extLst>
                    <a:ext uri="{9D8B030D-6E8A-4147-A177-3AD203B41FA5}">
                      <a16:colId xmlns:a16="http://schemas.microsoft.com/office/drawing/2014/main" val="1052854170"/>
                    </a:ext>
                  </a:extLst>
                </a:gridCol>
              </a:tblGrid>
              <a:tr h="422927">
                <a:tc>
                  <a:txBody>
                    <a:bodyPr/>
                    <a:lstStyle/>
                    <a:p>
                      <a:pPr algn="ctr"/>
                      <a:r>
                        <a:rPr lang="en-IN" sz="1800" dirty="0">
                          <a:effectLst>
                            <a:outerShdw blurRad="38100" dist="38100" dir="2700000" algn="tl">
                              <a:srgbClr val="000000">
                                <a:alpha val="43137"/>
                              </a:srgbClr>
                            </a:outerShdw>
                          </a:effectLst>
                        </a:rPr>
                        <a:t>Particulars</a:t>
                      </a:r>
                      <a:endParaRPr lang="en-IN" sz="1800" b="0" dirty="0">
                        <a:solidFill>
                          <a:schemeClr val="tx1"/>
                        </a:solidFill>
                        <a:effectLst>
                          <a:outerShdw blurRad="38100" dist="38100" dir="2700000" algn="tl">
                            <a:srgbClr val="000000">
                              <a:alpha val="43137"/>
                            </a:srgbClr>
                          </a:outerShdw>
                        </a:effectLst>
                        <a:latin typeface="Roboto"/>
                      </a:endParaRPr>
                    </a:p>
                  </a:txBody>
                  <a:tcPr marL="122944" marR="122944" marT="122944" marB="122944" anchor="ctr">
                    <a:solidFill>
                      <a:schemeClr val="accent1">
                        <a:lumMod val="75000"/>
                      </a:schemeClr>
                    </a:solidFill>
                  </a:tcPr>
                </a:tc>
                <a:tc>
                  <a:txBody>
                    <a:bodyPr/>
                    <a:lstStyle/>
                    <a:p>
                      <a:pPr algn="ctr"/>
                      <a:r>
                        <a:rPr lang="en-IN" sz="1800" dirty="0">
                          <a:effectLst>
                            <a:outerShdw blurRad="38100" dist="38100" dir="2700000" algn="tl">
                              <a:srgbClr val="000000">
                                <a:alpha val="43137"/>
                              </a:srgbClr>
                            </a:outerShdw>
                          </a:effectLst>
                        </a:rPr>
                        <a:t>Amount</a:t>
                      </a:r>
                      <a:endParaRPr lang="en-IN" sz="1800" b="0" dirty="0">
                        <a:solidFill>
                          <a:schemeClr val="tx1"/>
                        </a:solidFill>
                        <a:effectLst>
                          <a:outerShdw blurRad="38100" dist="38100" dir="2700000" algn="tl">
                            <a:srgbClr val="000000">
                              <a:alpha val="43137"/>
                            </a:srgbClr>
                          </a:outerShdw>
                        </a:effectLst>
                        <a:latin typeface="Roboto"/>
                      </a:endParaRPr>
                    </a:p>
                  </a:txBody>
                  <a:tcPr marL="122944" marR="122944" marT="122944" marB="122944" anchor="ctr">
                    <a:solidFill>
                      <a:schemeClr val="accent1">
                        <a:lumMod val="75000"/>
                      </a:schemeClr>
                    </a:solidFill>
                  </a:tcPr>
                </a:tc>
                <a:extLst>
                  <a:ext uri="{0D108BD9-81ED-4DB2-BD59-A6C34878D82A}">
                    <a16:rowId xmlns:a16="http://schemas.microsoft.com/office/drawing/2014/main" val="4006213745"/>
                  </a:ext>
                </a:extLst>
              </a:tr>
              <a:tr h="299983">
                <a:tc>
                  <a:txBody>
                    <a:bodyPr/>
                    <a:lstStyle/>
                    <a:p>
                      <a:pPr algn="l"/>
                      <a:r>
                        <a:rPr lang="en-IN" sz="1800" dirty="0">
                          <a:effectLst/>
                        </a:rPr>
                        <a:t>Basic Salary</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3835938624"/>
                  </a:ext>
                </a:extLst>
              </a:tr>
              <a:tr h="299983">
                <a:tc>
                  <a:txBody>
                    <a:bodyPr/>
                    <a:lstStyle/>
                    <a:p>
                      <a:pPr algn="l"/>
                      <a:r>
                        <a:rPr lang="en-IN" sz="1800" dirty="0">
                          <a:effectLst/>
                        </a:rPr>
                        <a:t>Add:</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3306382736"/>
                  </a:ext>
                </a:extLst>
              </a:tr>
              <a:tr h="299983">
                <a:tc>
                  <a:txBody>
                    <a:bodyPr/>
                    <a:lstStyle/>
                    <a:p>
                      <a:pPr algn="l"/>
                      <a:r>
                        <a:rPr lang="en-US" sz="1800" dirty="0">
                          <a:effectLst/>
                        </a:rPr>
                        <a:t>1. Fees, Commission and Bonus</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1610966936"/>
                  </a:ext>
                </a:extLst>
              </a:tr>
              <a:tr h="299983">
                <a:tc>
                  <a:txBody>
                    <a:bodyPr/>
                    <a:lstStyle/>
                    <a:p>
                      <a:pPr algn="l"/>
                      <a:r>
                        <a:rPr lang="en-IN" sz="1800" dirty="0">
                          <a:effectLst/>
                        </a:rPr>
                        <a:t>2. Allowances</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2343589142"/>
                  </a:ext>
                </a:extLst>
              </a:tr>
              <a:tr h="299983">
                <a:tc>
                  <a:txBody>
                    <a:bodyPr/>
                    <a:lstStyle/>
                    <a:p>
                      <a:pPr algn="l"/>
                      <a:r>
                        <a:rPr lang="en-IN" sz="1800" dirty="0">
                          <a:effectLst/>
                        </a:rPr>
                        <a:t>3. Perquisites (Company car, fuel reimbursement </a:t>
                      </a:r>
                      <a:r>
                        <a:rPr lang="en-IN" sz="1800" dirty="0" err="1">
                          <a:effectLst/>
                        </a:rPr>
                        <a:t>etc</a:t>
                      </a:r>
                      <a:r>
                        <a:rPr lang="en-IN" sz="1800" dirty="0">
                          <a:effectLst/>
                        </a:rPr>
                        <a:t>)</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1546651043"/>
                  </a:ext>
                </a:extLst>
              </a:tr>
              <a:tr h="299983">
                <a:tc>
                  <a:txBody>
                    <a:bodyPr/>
                    <a:lstStyle/>
                    <a:p>
                      <a:pPr algn="l"/>
                      <a:r>
                        <a:rPr lang="en-IN" sz="1800" dirty="0">
                          <a:effectLst/>
                        </a:rPr>
                        <a:t>4. Retirement Benefits</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1336813936"/>
                  </a:ext>
                </a:extLst>
              </a:tr>
              <a:tr h="299983">
                <a:tc>
                  <a:txBody>
                    <a:bodyPr/>
                    <a:lstStyle/>
                    <a:p>
                      <a:pPr algn="l"/>
                      <a:r>
                        <a:rPr lang="en-US" sz="1800" dirty="0">
                          <a:effectLst/>
                        </a:rPr>
                        <a:t>5. Fees, Commission and Bonus</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616620500"/>
                  </a:ext>
                </a:extLst>
              </a:tr>
              <a:tr h="299983">
                <a:tc>
                  <a:txBody>
                    <a:bodyPr/>
                    <a:lstStyle/>
                    <a:p>
                      <a:pPr algn="l"/>
                      <a:r>
                        <a:rPr lang="en-IN" sz="1800" b="1" dirty="0">
                          <a:effectLst/>
                        </a:rPr>
                        <a:t>Gross Salary</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643637765"/>
                  </a:ext>
                </a:extLst>
              </a:tr>
              <a:tr h="299983">
                <a:tc>
                  <a:txBody>
                    <a:bodyPr/>
                    <a:lstStyle/>
                    <a:p>
                      <a:pPr algn="l"/>
                      <a:r>
                        <a:rPr lang="en-IN" sz="1800" dirty="0">
                          <a:effectLst/>
                        </a:rPr>
                        <a:t>Less: Deductions from Salary</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3438261019"/>
                  </a:ext>
                </a:extLst>
              </a:tr>
              <a:tr h="299983">
                <a:tc>
                  <a:txBody>
                    <a:bodyPr/>
                    <a:lstStyle/>
                    <a:p>
                      <a:pPr algn="l"/>
                      <a:r>
                        <a:rPr lang="en-US" sz="1800" dirty="0">
                          <a:effectLst/>
                        </a:rPr>
                        <a:t>1. Entertainment Allowance u/s 16</a:t>
                      </a:r>
                    </a:p>
                  </a:txBody>
                  <a:tcPr marL="122944" marR="122944" marT="61472" marB="61472" anchor="ctr"/>
                </a:tc>
                <a:tc>
                  <a:txBody>
                    <a:bodyPr/>
                    <a:lstStyle/>
                    <a:p>
                      <a:pPr algn="ctr"/>
                      <a:r>
                        <a:rPr lang="en-IN" sz="1800">
                          <a:effectLst/>
                        </a:rPr>
                        <a:t>—</a:t>
                      </a:r>
                    </a:p>
                  </a:txBody>
                  <a:tcPr marL="122944" marR="122944" marT="61472" marB="61472" anchor="ctr"/>
                </a:tc>
                <a:extLst>
                  <a:ext uri="{0D108BD9-81ED-4DB2-BD59-A6C34878D82A}">
                    <a16:rowId xmlns:a16="http://schemas.microsoft.com/office/drawing/2014/main" val="3407733903"/>
                  </a:ext>
                </a:extLst>
              </a:tr>
              <a:tr h="299983">
                <a:tc>
                  <a:txBody>
                    <a:bodyPr/>
                    <a:lstStyle/>
                    <a:p>
                      <a:pPr algn="l"/>
                      <a:r>
                        <a:rPr lang="en-IN" sz="1800" dirty="0">
                          <a:effectLst/>
                        </a:rPr>
                        <a:t>2. Professional Tax u/s 16</a:t>
                      </a:r>
                    </a:p>
                  </a:txBody>
                  <a:tcPr marL="122944" marR="122944" marT="61472" marB="61472" anchor="ctr"/>
                </a:tc>
                <a:tc>
                  <a:txBody>
                    <a:bodyPr/>
                    <a:lstStyle/>
                    <a:p>
                      <a:pPr algn="ctr"/>
                      <a:r>
                        <a:rPr lang="en-IN" sz="1800" dirty="0">
                          <a:effectLst/>
                        </a:rPr>
                        <a:t>—</a:t>
                      </a:r>
                    </a:p>
                  </a:txBody>
                  <a:tcPr marL="122944" marR="122944" marT="61472" marB="61472" anchor="ctr"/>
                </a:tc>
                <a:extLst>
                  <a:ext uri="{0D108BD9-81ED-4DB2-BD59-A6C34878D82A}">
                    <a16:rowId xmlns:a16="http://schemas.microsoft.com/office/drawing/2014/main" val="3374388799"/>
                  </a:ext>
                </a:extLst>
              </a:tr>
              <a:tr h="299983">
                <a:tc>
                  <a:txBody>
                    <a:bodyPr/>
                    <a:lstStyle/>
                    <a:p>
                      <a:pPr algn="l"/>
                      <a:r>
                        <a:rPr lang="en-IN" sz="1800" b="1" dirty="0">
                          <a:effectLst/>
                        </a:rPr>
                        <a:t>Net Salary</a:t>
                      </a:r>
                    </a:p>
                  </a:txBody>
                  <a:tcPr marL="122944" marR="122944" marT="61472" marB="61472"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IN" sz="1800" dirty="0">
                          <a:effectLst/>
                        </a:rPr>
                        <a:t>—</a:t>
                      </a:r>
                    </a:p>
                    <a:p>
                      <a:endParaRPr lang="en-IN" sz="1800" dirty="0"/>
                    </a:p>
                  </a:txBody>
                  <a:tcPr marL="59013" marR="59013" marT="29507" marB="29507"/>
                </a:tc>
                <a:extLst>
                  <a:ext uri="{0D108BD9-81ED-4DB2-BD59-A6C34878D82A}">
                    <a16:rowId xmlns:a16="http://schemas.microsoft.com/office/drawing/2014/main" val="1932057835"/>
                  </a:ext>
                </a:extLst>
              </a:tr>
            </a:tbl>
          </a:graphicData>
        </a:graphic>
      </p:graphicFrame>
    </p:spTree>
    <p:extLst>
      <p:ext uri="{BB962C8B-B14F-4D97-AF65-F5344CB8AC3E}">
        <p14:creationId xmlns:p14="http://schemas.microsoft.com/office/powerpoint/2010/main" val="1435269473"/>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CEB114-B780-6261-EE2A-FF9CC5A05137}"/>
              </a:ext>
            </a:extLst>
          </p:cNvPr>
          <p:cNvSpPr>
            <a:spLocks noGrp="1"/>
          </p:cNvSpPr>
          <p:nvPr>
            <p:ph idx="1"/>
          </p:nvPr>
        </p:nvSpPr>
        <p:spPr>
          <a:xfrm>
            <a:off x="1103312" y="1516134"/>
            <a:ext cx="10087427" cy="4732265"/>
          </a:xfrm>
        </p:spPr>
        <p:txBody>
          <a:bodyPr>
            <a:normAutofit/>
          </a:bodyPr>
          <a:lstStyle/>
          <a:p>
            <a:pPr marL="0" indent="0">
              <a:buNone/>
            </a:pPr>
            <a:r>
              <a:rPr lang="en-IN" sz="3600" b="1" dirty="0">
                <a:solidFill>
                  <a:srgbClr val="FF0000"/>
                </a:solidFill>
              </a:rPr>
              <a:t>Deduction/Exemption</a:t>
            </a:r>
          </a:p>
          <a:p>
            <a:pPr marL="0" indent="0">
              <a:buNone/>
            </a:pPr>
            <a:r>
              <a:rPr lang="en-US" sz="2200" u="sng" dirty="0">
                <a:solidFill>
                  <a:srgbClr val="FF0000"/>
                </a:solidFill>
                <a:latin typeface="Cambria" panose="02040503050406030204" pitchFamily="18" charset="0"/>
                <a:ea typeface="Cambria" panose="02040503050406030204" pitchFamily="18" charset="0"/>
              </a:rPr>
              <a:t>What is the difference between Exemption and deduction?</a:t>
            </a:r>
          </a:p>
          <a:p>
            <a:pPr marL="0" indent="0" algn="just">
              <a:lnSpc>
                <a:spcPct val="150000"/>
              </a:lnSpc>
              <a:buNone/>
            </a:pPr>
            <a:r>
              <a:rPr lang="en-US" sz="2200" dirty="0">
                <a:latin typeface="Cambria" panose="02040503050406030204" pitchFamily="18" charset="0"/>
                <a:ea typeface="Cambria" panose="02040503050406030204" pitchFamily="18" charset="0"/>
              </a:rPr>
              <a:t>If an </a:t>
            </a:r>
            <a:r>
              <a:rPr lang="en-US" sz="2200" dirty="0">
                <a:solidFill>
                  <a:srgbClr val="7030A0"/>
                </a:solidFill>
                <a:latin typeface="Cambria" panose="02040503050406030204" pitchFamily="18" charset="0"/>
                <a:ea typeface="Cambria" panose="02040503050406030204" pitchFamily="18" charset="0"/>
              </a:rPr>
              <a:t>income is exempt </a:t>
            </a:r>
            <a:r>
              <a:rPr lang="en-US" sz="2200" dirty="0">
                <a:latin typeface="Cambria" panose="02040503050406030204" pitchFamily="18" charset="0"/>
                <a:ea typeface="Cambria" panose="02040503050406030204" pitchFamily="18" charset="0"/>
              </a:rPr>
              <a:t>from tax, then </a:t>
            </a:r>
            <a:r>
              <a:rPr lang="en-US" sz="2200" dirty="0">
                <a:solidFill>
                  <a:srgbClr val="7030A0"/>
                </a:solidFill>
                <a:latin typeface="Cambria" panose="02040503050406030204" pitchFamily="18" charset="0"/>
                <a:ea typeface="Cambria" panose="02040503050406030204" pitchFamily="18" charset="0"/>
              </a:rPr>
              <a:t>it is not included in the computation of income</a:t>
            </a:r>
            <a:r>
              <a:rPr lang="en-US" sz="2200" dirty="0">
                <a:latin typeface="Cambria" panose="02040503050406030204" pitchFamily="18" charset="0"/>
                <a:ea typeface="Cambria" panose="02040503050406030204" pitchFamily="18" charset="0"/>
              </a:rPr>
              <a:t>. However, the </a:t>
            </a:r>
            <a:r>
              <a:rPr lang="en-US" sz="2200" dirty="0">
                <a:solidFill>
                  <a:srgbClr val="0070C0"/>
                </a:solidFill>
                <a:latin typeface="Cambria" panose="02040503050406030204" pitchFamily="18" charset="0"/>
                <a:ea typeface="Cambria" panose="02040503050406030204" pitchFamily="18" charset="0"/>
              </a:rPr>
              <a:t>deduction is given from income chargeable to tax</a:t>
            </a:r>
            <a:r>
              <a:rPr lang="en-US" sz="2200" dirty="0">
                <a:latin typeface="Cambria" panose="02040503050406030204" pitchFamily="18" charset="0"/>
                <a:ea typeface="Cambria" panose="02040503050406030204" pitchFamily="18" charset="0"/>
              </a:rPr>
              <a:t>. Exempt income will never exceed the amount of income. However, the deduct may be less than or equal to or more than the amount of income. </a:t>
            </a:r>
          </a:p>
          <a:p>
            <a:pPr marL="457200" indent="-457200">
              <a:lnSpc>
                <a:spcPct val="150000"/>
              </a:lnSpc>
              <a:buFont typeface="Wingdings" panose="05000000000000000000" pitchFamily="2" charset="2"/>
              <a:buChar char="ü"/>
            </a:pPr>
            <a:r>
              <a:rPr lang="en-US" sz="2200" b="1" u="sng"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Exemption</a:t>
            </a:r>
            <a:r>
              <a:rPr lang="en-US" sz="2200" b="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2200" dirty="0">
                <a:solidFill>
                  <a:srgbClr val="FF0000"/>
                </a:solidFill>
                <a:latin typeface="Cambria" panose="02040503050406030204" pitchFamily="18" charset="0"/>
                <a:ea typeface="Cambria" panose="02040503050406030204" pitchFamily="18" charset="0"/>
              </a:rPr>
              <a:t>Section 10 </a:t>
            </a:r>
            <a:r>
              <a:rPr lang="en-US" sz="2200" dirty="0">
                <a:latin typeface="Cambria" panose="02040503050406030204" pitchFamily="18" charset="0"/>
                <a:ea typeface="Cambria" panose="02040503050406030204" pitchFamily="18" charset="0"/>
              </a:rPr>
              <a:t>deals with </a:t>
            </a:r>
            <a:r>
              <a:rPr lang="en-US" sz="2200" dirty="0">
                <a:solidFill>
                  <a:srgbClr val="FF0000"/>
                </a:solidFill>
                <a:latin typeface="Cambria" panose="02040503050406030204" pitchFamily="18" charset="0"/>
                <a:ea typeface="Cambria" panose="02040503050406030204" pitchFamily="18" charset="0"/>
              </a:rPr>
              <a:t>exemptions</a:t>
            </a:r>
          </a:p>
          <a:p>
            <a:pPr marL="457200" indent="-457200">
              <a:lnSpc>
                <a:spcPct val="150000"/>
              </a:lnSpc>
              <a:buFont typeface="Wingdings" panose="05000000000000000000" pitchFamily="2" charset="2"/>
              <a:buChar char="ü"/>
            </a:pPr>
            <a:r>
              <a:rPr lang="en-US" sz="2200" b="1" u="sng"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Deduction</a:t>
            </a:r>
            <a:r>
              <a:rPr lang="en-US" sz="2200" b="1" dirty="0">
                <a:effectLst>
                  <a:outerShdw blurRad="38100" dist="38100" dir="2700000" algn="tl">
                    <a:srgbClr val="000000">
                      <a:alpha val="43137"/>
                    </a:srgbClr>
                  </a:outerShdw>
                </a:effectLst>
                <a:latin typeface="Cambria" panose="02040503050406030204" pitchFamily="18" charset="0"/>
                <a:ea typeface="Cambria" panose="02040503050406030204" pitchFamily="18" charset="0"/>
              </a:rPr>
              <a:t>: </a:t>
            </a:r>
            <a:r>
              <a:rPr lang="en-US" sz="2200" dirty="0">
                <a:solidFill>
                  <a:srgbClr val="FF0000"/>
                </a:solidFill>
                <a:latin typeface="Cambria" panose="02040503050406030204" pitchFamily="18" charset="0"/>
                <a:ea typeface="Cambria" panose="02040503050406030204" pitchFamily="18" charset="0"/>
              </a:rPr>
              <a:t>Section 80 C to 80 U </a:t>
            </a:r>
            <a:r>
              <a:rPr lang="en-US" sz="2200" dirty="0">
                <a:latin typeface="Cambria" panose="02040503050406030204" pitchFamily="18" charset="0"/>
                <a:ea typeface="Cambria" panose="02040503050406030204" pitchFamily="18" charset="0"/>
              </a:rPr>
              <a:t>deals with </a:t>
            </a:r>
            <a:r>
              <a:rPr lang="en-US" sz="2200" dirty="0">
                <a:solidFill>
                  <a:srgbClr val="FF0000"/>
                </a:solidFill>
                <a:latin typeface="Cambria" panose="02040503050406030204" pitchFamily="18" charset="0"/>
                <a:ea typeface="Cambria" panose="02040503050406030204" pitchFamily="18" charset="0"/>
              </a:rPr>
              <a:t>deduction</a:t>
            </a:r>
            <a:endParaRPr lang="en-US" sz="2200" u="sng" dirty="0">
              <a:solidFill>
                <a:srgbClr val="FF0000"/>
              </a:solidFill>
              <a:effectLst>
                <a:outerShdw blurRad="38100" dist="38100" dir="2700000" algn="tl">
                  <a:srgbClr val="000000">
                    <a:alpha val="43137"/>
                  </a:srgbClr>
                </a:outerShdw>
              </a:effectLst>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0B2210EF-2D01-71E2-363E-9567E8573E85}"/>
              </a:ext>
            </a:extLst>
          </p:cNvPr>
          <p:cNvSpPr>
            <a:spLocks noGrp="1"/>
          </p:cNvSpPr>
          <p:nvPr>
            <p:ph type="sldNum" sz="quarter" idx="12"/>
          </p:nvPr>
        </p:nvSpPr>
        <p:spPr/>
        <p:txBody>
          <a:bodyPr/>
          <a:lstStyle/>
          <a:p>
            <a:fld id="{94013DF8-6EF8-4A98-8821-E6468C17C0C3}" type="slidenum">
              <a:rPr lang="en-IN" smtClean="0"/>
              <a:t>101</a:t>
            </a:fld>
            <a:endParaRPr lang="en-IN"/>
          </a:p>
        </p:txBody>
      </p:sp>
      <p:sp>
        <p:nvSpPr>
          <p:cNvPr id="7" name="Title 1">
            <a:extLst>
              <a:ext uri="{FF2B5EF4-FFF2-40B4-BE49-F238E27FC236}">
                <a16:creationId xmlns:a16="http://schemas.microsoft.com/office/drawing/2014/main" id="{4ED427C1-6818-18F7-4D72-8D0851B80827}"/>
              </a:ext>
            </a:extLst>
          </p:cNvPr>
          <p:cNvSpPr>
            <a:spLocks noGrp="1"/>
          </p:cNvSpPr>
          <p:nvPr>
            <p:ph type="title"/>
          </p:nvPr>
        </p:nvSpPr>
        <p:spPr>
          <a:xfrm>
            <a:off x="1001261" y="452718"/>
            <a:ext cx="9049573" cy="973311"/>
          </a:xfrm>
        </p:spPr>
        <p:txBody>
          <a:bodyPr/>
          <a:lstStyle/>
          <a:p>
            <a:r>
              <a:rPr lang="en-IN" dirty="0"/>
              <a:t>Income From Salary </a:t>
            </a:r>
          </a:p>
        </p:txBody>
      </p:sp>
      <p:pic>
        <p:nvPicPr>
          <p:cNvPr id="8" name="Picture 2" descr="https://keydifferences.com/wp-content/uploads/2015/10/exemption-vs-deduction2.jpg">
            <a:extLst>
              <a:ext uri="{FF2B5EF4-FFF2-40B4-BE49-F238E27FC236}">
                <a16:creationId xmlns:a16="http://schemas.microsoft.com/office/drawing/2014/main" id="{182C5D84-7C8F-0C37-2F09-AACBD8F5063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8060385" y="0"/>
            <a:ext cx="2292155" cy="13661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854587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72F7E4-7068-952E-0026-15C6235C07A3}"/>
              </a:ext>
            </a:extLst>
          </p:cNvPr>
          <p:cNvSpPr>
            <a:spLocks noGrp="1"/>
          </p:cNvSpPr>
          <p:nvPr>
            <p:ph idx="1"/>
          </p:nvPr>
        </p:nvSpPr>
        <p:spPr>
          <a:xfrm>
            <a:off x="1103313" y="2526569"/>
            <a:ext cx="10087426" cy="4331431"/>
          </a:xfrm>
        </p:spPr>
        <p:txBody>
          <a:bodyPr>
            <a:normAutofit fontScale="85000" lnSpcReduction="10000"/>
          </a:bodyPr>
          <a:lstStyle/>
          <a:p>
            <a:pPr marL="0" indent="0">
              <a:buNone/>
            </a:pPr>
            <a:r>
              <a:rPr lang="en-IN" sz="2400" u="sng" dirty="0">
                <a:solidFill>
                  <a:srgbClr val="FF0000"/>
                </a:solidFill>
                <a:effectLst>
                  <a:outerShdw blurRad="38100" dist="38100" dir="2700000" algn="tl">
                    <a:srgbClr val="000000">
                      <a:alpha val="43137"/>
                    </a:srgbClr>
                  </a:outerShdw>
                </a:effectLst>
                <a:latin typeface="Cambria" panose="02040503050406030204" pitchFamily="18" charset="0"/>
              </a:rPr>
              <a:t>Section 10(5)-Leave Travel Allowance</a:t>
            </a:r>
            <a:endParaRPr lang="en-IN" sz="4000" u="sng" dirty="0">
              <a:solidFill>
                <a:srgbClr val="9687CB"/>
              </a:solidFill>
              <a:effectLst>
                <a:outerShdw blurRad="38100" dist="38100" dir="2700000" algn="tl">
                  <a:srgbClr val="000000">
                    <a:alpha val="43137"/>
                  </a:srgbClr>
                </a:outerShdw>
              </a:effectLst>
              <a:latin typeface="Cambria" panose="02040503050406030204" pitchFamily="18" charset="0"/>
            </a:endParaRPr>
          </a:p>
          <a:p>
            <a:pPr marL="0" indent="0">
              <a:buNone/>
            </a:pPr>
            <a:r>
              <a:rPr lang="en-US" dirty="0">
                <a:solidFill>
                  <a:srgbClr val="00B0F0"/>
                </a:solidFill>
                <a:effectLst>
                  <a:outerShdw blurRad="38100" dist="38100" dir="2700000" algn="tl">
                    <a:srgbClr val="000000">
                      <a:alpha val="43137"/>
                    </a:srgbClr>
                  </a:outerShdw>
                </a:effectLst>
                <a:latin typeface="Cambria" panose="02040503050406030204" pitchFamily="18" charset="0"/>
              </a:rPr>
              <a:t>The bills for your travel against LTA can be claimed for exemption. It is allowed to be claimed twice in a block of four years. The current block is 2018 to 2022.</a:t>
            </a:r>
          </a:p>
          <a:p>
            <a:pPr marL="0" indent="0">
              <a:buNone/>
            </a:pPr>
            <a:r>
              <a:rPr lang="en-US" dirty="0">
                <a:latin typeface="Cambria" panose="02040503050406030204" pitchFamily="18" charset="0"/>
              </a:rPr>
              <a:t>Exempt from tax in the hands of employee as per following.</a:t>
            </a:r>
          </a:p>
          <a:p>
            <a:pPr marL="285750" indent="-285750">
              <a:buFont typeface="Wingdings" panose="05000000000000000000" pitchFamily="2" charset="2"/>
              <a:buChar char="ü"/>
            </a:pPr>
            <a:r>
              <a:rPr lang="en-US" dirty="0">
                <a:latin typeface="Cambria" panose="02040503050406030204" pitchFamily="18" charset="0"/>
              </a:rPr>
              <a:t>If journey by </a:t>
            </a:r>
            <a:r>
              <a:rPr lang="en-US" b="1" dirty="0">
                <a:solidFill>
                  <a:srgbClr val="002060"/>
                </a:solidFill>
                <a:latin typeface="Cambria" panose="02040503050406030204" pitchFamily="18" charset="0"/>
              </a:rPr>
              <a:t>Air</a:t>
            </a:r>
            <a:r>
              <a:rPr lang="en-US" dirty="0">
                <a:latin typeface="Cambria" panose="02040503050406030204" pitchFamily="18" charset="0"/>
              </a:rPr>
              <a:t> –</a:t>
            </a:r>
            <a:r>
              <a:rPr lang="en-US" dirty="0">
                <a:effectLst>
                  <a:outerShdw blurRad="38100" dist="38100" dir="2700000" algn="tl">
                    <a:srgbClr val="000000">
                      <a:alpha val="43137"/>
                    </a:srgbClr>
                  </a:outerShdw>
                </a:effectLst>
                <a:latin typeface="Cambria" panose="02040503050406030204" pitchFamily="18" charset="0"/>
              </a:rPr>
              <a:t>Economy class fare </a:t>
            </a:r>
            <a:r>
              <a:rPr lang="en-US" dirty="0">
                <a:latin typeface="Cambria" panose="02040503050406030204" pitchFamily="18" charset="0"/>
              </a:rPr>
              <a:t>of the national carrier( Air India) by shortest route or the </a:t>
            </a:r>
            <a:r>
              <a:rPr lang="en-US" dirty="0">
                <a:effectLst>
                  <a:outerShdw blurRad="38100" dist="38100" dir="2700000" algn="tl">
                    <a:srgbClr val="000000">
                      <a:alpha val="43137"/>
                    </a:srgbClr>
                  </a:outerShdw>
                </a:effectLst>
                <a:latin typeface="Cambria" panose="02040503050406030204" pitchFamily="18" charset="0"/>
              </a:rPr>
              <a:t>amount spent </a:t>
            </a:r>
            <a:r>
              <a:rPr lang="en-US" dirty="0">
                <a:solidFill>
                  <a:srgbClr val="FF0000"/>
                </a:solidFill>
                <a:latin typeface="Cambria" panose="02040503050406030204" pitchFamily="18" charset="0"/>
              </a:rPr>
              <a:t>whichever is less.</a:t>
            </a:r>
          </a:p>
          <a:p>
            <a:pPr marL="285750" indent="-285750">
              <a:buFont typeface="Wingdings" panose="05000000000000000000" pitchFamily="2" charset="2"/>
              <a:buChar char="ü"/>
            </a:pPr>
            <a:r>
              <a:rPr lang="en-US" dirty="0">
                <a:latin typeface="Cambria" panose="02040503050406030204" pitchFamily="18" charset="0"/>
              </a:rPr>
              <a:t>If journey by </a:t>
            </a:r>
            <a:r>
              <a:rPr lang="en-US" b="1" dirty="0">
                <a:solidFill>
                  <a:srgbClr val="002060"/>
                </a:solidFill>
                <a:latin typeface="Cambria" panose="02040503050406030204" pitchFamily="18" charset="0"/>
              </a:rPr>
              <a:t>Rail</a:t>
            </a:r>
            <a:r>
              <a:rPr lang="en-US" dirty="0">
                <a:latin typeface="Cambria" panose="02040503050406030204" pitchFamily="18" charset="0"/>
              </a:rPr>
              <a:t> – </a:t>
            </a:r>
            <a:r>
              <a:rPr lang="en-US" dirty="0">
                <a:effectLst>
                  <a:outerShdw blurRad="38100" dist="38100" dir="2700000" algn="tl">
                    <a:srgbClr val="000000">
                      <a:alpha val="43137"/>
                    </a:srgbClr>
                  </a:outerShdw>
                </a:effectLst>
                <a:latin typeface="Cambria" panose="02040503050406030204" pitchFamily="18" charset="0"/>
              </a:rPr>
              <a:t>AC First class </a:t>
            </a:r>
            <a:r>
              <a:rPr lang="en-US" dirty="0">
                <a:latin typeface="Cambria" panose="02040503050406030204" pitchFamily="18" charset="0"/>
              </a:rPr>
              <a:t>fare by shortest route or the </a:t>
            </a:r>
            <a:r>
              <a:rPr lang="en-US" dirty="0">
                <a:effectLst>
                  <a:outerShdw blurRad="38100" dist="38100" dir="2700000" algn="tl">
                    <a:srgbClr val="000000">
                      <a:alpha val="43137"/>
                    </a:srgbClr>
                  </a:outerShdw>
                </a:effectLst>
                <a:latin typeface="Cambria" panose="02040503050406030204" pitchFamily="18" charset="0"/>
              </a:rPr>
              <a:t>amount spent </a:t>
            </a:r>
            <a:r>
              <a:rPr lang="en-US" dirty="0">
                <a:latin typeface="Cambria" panose="02040503050406030204" pitchFamily="18" charset="0"/>
              </a:rPr>
              <a:t>whichever </a:t>
            </a:r>
            <a:r>
              <a:rPr lang="en-US" dirty="0">
                <a:solidFill>
                  <a:srgbClr val="FF0000"/>
                </a:solidFill>
                <a:latin typeface="Cambria" panose="02040503050406030204" pitchFamily="18" charset="0"/>
              </a:rPr>
              <a:t>is less</a:t>
            </a:r>
          </a:p>
          <a:p>
            <a:pPr marL="742950" lvl="1" indent="-285750">
              <a:buFont typeface="Wingdings" panose="05000000000000000000" pitchFamily="2" charset="2"/>
              <a:buChar char="q"/>
            </a:pPr>
            <a:r>
              <a:rPr lang="en-US" dirty="0">
                <a:latin typeface="Cambria" panose="02040503050406030204" pitchFamily="18" charset="0"/>
              </a:rPr>
              <a:t>Where places of origin of Journey and destination are connected by rail &amp; journey is performed by any other mode of transport- AC First class fare by shortest route or the amount spent whichever is less.</a:t>
            </a:r>
          </a:p>
          <a:p>
            <a:pPr marL="285750" indent="-285750">
              <a:buFont typeface="Wingdings" panose="05000000000000000000" pitchFamily="2" charset="2"/>
              <a:buChar char="ü"/>
            </a:pPr>
            <a:r>
              <a:rPr lang="en-US" dirty="0">
                <a:solidFill>
                  <a:srgbClr val="C00000"/>
                </a:solidFill>
                <a:latin typeface="Cambria" panose="02040503050406030204" pitchFamily="18" charset="0"/>
              </a:rPr>
              <a:t>Where places of origin of Journey and destination are not connected by rail,</a:t>
            </a:r>
          </a:p>
          <a:p>
            <a:pPr marL="742950" lvl="1" indent="-285750">
              <a:buFont typeface="Wingdings" panose="05000000000000000000" pitchFamily="2" charset="2"/>
              <a:buChar char="q"/>
            </a:pPr>
            <a:r>
              <a:rPr lang="en-US" dirty="0">
                <a:latin typeface="Cambria" panose="02040503050406030204" pitchFamily="18" charset="0"/>
              </a:rPr>
              <a:t>a)  Recognized public transport exists- First class or deluxe class fare by the shortest route or the amount spent, whichever is less.</a:t>
            </a:r>
          </a:p>
          <a:p>
            <a:pPr marL="742950" lvl="1" indent="-285750">
              <a:buFont typeface="Wingdings" panose="05000000000000000000" pitchFamily="2" charset="2"/>
              <a:buChar char="q"/>
            </a:pPr>
            <a:r>
              <a:rPr lang="en-US" dirty="0">
                <a:latin typeface="Cambria" panose="02040503050406030204" pitchFamily="18" charset="0"/>
              </a:rPr>
              <a:t> b) No recognized public transport exists - AC First class rail fare by Shortest route or the amount spent whichever is less</a:t>
            </a:r>
            <a:endParaRPr lang="en-IN" dirty="0"/>
          </a:p>
        </p:txBody>
      </p:sp>
      <p:sp>
        <p:nvSpPr>
          <p:cNvPr id="6" name="Slide Number Placeholder 5">
            <a:extLst>
              <a:ext uri="{FF2B5EF4-FFF2-40B4-BE49-F238E27FC236}">
                <a16:creationId xmlns:a16="http://schemas.microsoft.com/office/drawing/2014/main" id="{F056FEA0-02B9-B8F6-864F-609D35FD3B53}"/>
              </a:ext>
            </a:extLst>
          </p:cNvPr>
          <p:cNvSpPr>
            <a:spLocks noGrp="1"/>
          </p:cNvSpPr>
          <p:nvPr>
            <p:ph type="sldNum" sz="quarter" idx="12"/>
          </p:nvPr>
        </p:nvSpPr>
        <p:spPr/>
        <p:txBody>
          <a:bodyPr/>
          <a:lstStyle/>
          <a:p>
            <a:fld id="{94013DF8-6EF8-4A98-8821-E6468C17C0C3}" type="slidenum">
              <a:rPr lang="en-IN" smtClean="0"/>
              <a:t>102</a:t>
            </a:fld>
            <a:endParaRPr lang="en-IN"/>
          </a:p>
        </p:txBody>
      </p:sp>
      <p:sp>
        <p:nvSpPr>
          <p:cNvPr id="7" name="Title 1">
            <a:extLst>
              <a:ext uri="{FF2B5EF4-FFF2-40B4-BE49-F238E27FC236}">
                <a16:creationId xmlns:a16="http://schemas.microsoft.com/office/drawing/2014/main" id="{766C2D0F-13D4-A9C2-649F-67BCE27A48DE}"/>
              </a:ext>
            </a:extLst>
          </p:cNvPr>
          <p:cNvSpPr>
            <a:spLocks noGrp="1"/>
          </p:cNvSpPr>
          <p:nvPr>
            <p:ph type="title"/>
          </p:nvPr>
        </p:nvSpPr>
        <p:spPr>
          <a:xfrm>
            <a:off x="1001261" y="452718"/>
            <a:ext cx="9049573" cy="973311"/>
          </a:xfrm>
        </p:spPr>
        <p:txBody>
          <a:bodyPr/>
          <a:lstStyle/>
          <a:p>
            <a:r>
              <a:rPr lang="en-IN" dirty="0"/>
              <a:t>Income From Salary </a:t>
            </a:r>
          </a:p>
        </p:txBody>
      </p:sp>
      <p:sp>
        <p:nvSpPr>
          <p:cNvPr id="8" name="Rectangle 7">
            <a:extLst>
              <a:ext uri="{FF2B5EF4-FFF2-40B4-BE49-F238E27FC236}">
                <a16:creationId xmlns:a16="http://schemas.microsoft.com/office/drawing/2014/main" id="{4711B5F2-3873-3AA9-5244-3BDED8A561BD}"/>
              </a:ext>
            </a:extLst>
          </p:cNvPr>
          <p:cNvSpPr/>
          <p:nvPr/>
        </p:nvSpPr>
        <p:spPr>
          <a:xfrm>
            <a:off x="1001261" y="1225606"/>
            <a:ext cx="9389648" cy="1015663"/>
          </a:xfrm>
          <a:prstGeom prst="rect">
            <a:avLst/>
          </a:prstGeom>
        </p:spPr>
        <p:txBody>
          <a:bodyPr wrap="square">
            <a:spAutoFit/>
          </a:bodyPr>
          <a:lstStyle/>
          <a:p>
            <a:r>
              <a:rPr lang="en-US" sz="3200" b="1" u="sng" dirty="0">
                <a:effectLst>
                  <a:outerShdw blurRad="38100" dist="38100" dir="2700000" algn="tl">
                    <a:srgbClr val="000000">
                      <a:alpha val="43137"/>
                    </a:srgbClr>
                  </a:outerShdw>
                </a:effectLst>
              </a:rPr>
              <a:t>Exemption</a:t>
            </a:r>
          </a:p>
          <a:p>
            <a:r>
              <a:rPr lang="en-US" sz="2800" dirty="0">
                <a:effectLst>
                  <a:outerShdw blurRad="38100" dist="38100" dir="2700000" algn="tl">
                    <a:srgbClr val="000000">
                      <a:alpha val="43137"/>
                    </a:srgbClr>
                  </a:outerShdw>
                </a:effectLst>
              </a:rPr>
              <a:t>Section 10(1) to Section 10(38) Deals with </a:t>
            </a:r>
            <a:r>
              <a:rPr lang="en-US" sz="2800" dirty="0">
                <a:effectLst>
                  <a:outerShdw blurRad="38100" dist="38100" dir="2700000" algn="tl">
                    <a:srgbClr val="000000">
                      <a:alpha val="43137"/>
                    </a:srgbClr>
                  </a:outerShdw>
                </a:effectLst>
                <a:hlinkClick r:id="rId2" action="ppaction://hlinkfile"/>
              </a:rPr>
              <a:t>exempt Income</a:t>
            </a:r>
            <a:endParaRPr lang="en-US" sz="2800" dirty="0"/>
          </a:p>
        </p:txBody>
      </p:sp>
      <p:pic>
        <p:nvPicPr>
          <p:cNvPr id="9" name="Picture 2" descr="Image result for exemption">
            <a:extLst>
              <a:ext uri="{FF2B5EF4-FFF2-40B4-BE49-F238E27FC236}">
                <a16:creationId xmlns:a16="http://schemas.microsoft.com/office/drawing/2014/main" id="{8B9DA81D-5C80-984F-BCC0-1A29BDDC4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6691" y="14683"/>
            <a:ext cx="1884218" cy="1411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574388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72F7E4-7068-952E-0026-15C6235C07A3}"/>
              </a:ext>
            </a:extLst>
          </p:cNvPr>
          <p:cNvSpPr>
            <a:spLocks noGrp="1"/>
          </p:cNvSpPr>
          <p:nvPr>
            <p:ph idx="1"/>
          </p:nvPr>
        </p:nvSpPr>
        <p:spPr>
          <a:xfrm>
            <a:off x="1103313" y="2526569"/>
            <a:ext cx="10087426" cy="4331431"/>
          </a:xfrm>
        </p:spPr>
        <p:txBody>
          <a:bodyPr>
            <a:normAutofit/>
          </a:bodyPr>
          <a:lstStyle/>
          <a:p>
            <a:pPr marL="0" indent="0">
              <a:buNone/>
            </a:pPr>
            <a:r>
              <a:rPr lang="en-IN" sz="2400" dirty="0">
                <a:solidFill>
                  <a:srgbClr val="FF0000"/>
                </a:solidFill>
                <a:latin typeface="Cambria" panose="02040503050406030204" pitchFamily="18" charset="0"/>
              </a:rPr>
              <a:t>Section 10(5)-Leave Travel Allowance Conditions:</a:t>
            </a:r>
            <a:endParaRPr lang="en-IN" sz="2400" dirty="0">
              <a:solidFill>
                <a:srgbClr val="9687CB"/>
              </a:solidFill>
              <a:latin typeface="Cambria" panose="02040503050406030204" pitchFamily="18" charset="0"/>
            </a:endParaRPr>
          </a:p>
          <a:p>
            <a:pPr algn="just">
              <a:buFont typeface="Wingdings" panose="05000000000000000000" pitchFamily="2" charset="2"/>
              <a:buChar char="ü"/>
            </a:pPr>
            <a:r>
              <a:rPr lang="en-US" sz="2000" dirty="0">
                <a:latin typeface="Cambria" panose="02040503050406030204" pitchFamily="18" charset="0"/>
              </a:rPr>
              <a:t>LTA should be uniform to all the employees</a:t>
            </a:r>
          </a:p>
          <a:p>
            <a:pPr algn="just">
              <a:buFont typeface="Wingdings" panose="05000000000000000000" pitchFamily="2" charset="2"/>
              <a:buChar char="ü"/>
            </a:pPr>
            <a:r>
              <a:rPr lang="en-US" dirty="0">
                <a:latin typeface="Cambria" panose="02040503050406030204" pitchFamily="18" charset="0"/>
              </a:rPr>
              <a:t>E</a:t>
            </a:r>
            <a:r>
              <a:rPr lang="en-US" sz="2000" dirty="0">
                <a:latin typeface="Cambria" panose="02040503050406030204" pitchFamily="18" charset="0"/>
              </a:rPr>
              <a:t>mployers need to collect and scrutinize the proof of travel (ticket etc.)</a:t>
            </a:r>
          </a:p>
          <a:p>
            <a:pPr algn="just">
              <a:buFont typeface="Wingdings" panose="05000000000000000000" pitchFamily="2" charset="2"/>
              <a:buChar char="ü"/>
            </a:pPr>
            <a:r>
              <a:rPr lang="en-US" sz="2000" dirty="0">
                <a:latin typeface="Cambria" panose="02040503050406030204" pitchFamily="18" charset="0"/>
              </a:rPr>
              <a:t>Limited to the actual expenses incurred</a:t>
            </a:r>
          </a:p>
          <a:p>
            <a:pPr algn="just">
              <a:buFont typeface="Wingdings" panose="05000000000000000000" pitchFamily="2" charset="2"/>
              <a:buChar char="ü"/>
            </a:pPr>
            <a:r>
              <a:rPr lang="en-US" sz="2000" dirty="0">
                <a:latin typeface="Cambria" panose="02040503050406030204" pitchFamily="18" charset="0"/>
              </a:rPr>
              <a:t>Any Leave </a:t>
            </a:r>
            <a:r>
              <a:rPr lang="en-US" sz="2000" dirty="0" err="1">
                <a:latin typeface="Cambria" panose="02040503050406030204" pitchFamily="18" charset="0"/>
              </a:rPr>
              <a:t>encashed</a:t>
            </a:r>
            <a:r>
              <a:rPr lang="en-US" sz="2000" dirty="0">
                <a:latin typeface="Cambria" panose="02040503050406030204" pitchFamily="18" charset="0"/>
              </a:rPr>
              <a:t> for the purpose of Leave travel or home travel concession is taxable.</a:t>
            </a:r>
          </a:p>
          <a:p>
            <a:pPr algn="just">
              <a:buFont typeface="Wingdings" panose="05000000000000000000" pitchFamily="2" charset="2"/>
              <a:buChar char="ü"/>
            </a:pPr>
            <a:r>
              <a:rPr lang="en-US" sz="2000" dirty="0">
                <a:latin typeface="Cambria" panose="02040503050406030204" pitchFamily="18" charset="0"/>
              </a:rPr>
              <a:t>Foreign Travel – The exemption is not available in case of Foreign Travel</a:t>
            </a:r>
          </a:p>
          <a:p>
            <a:pPr algn="just">
              <a:buFont typeface="Wingdings" panose="05000000000000000000" pitchFamily="2" charset="2"/>
              <a:buChar char="ü"/>
            </a:pPr>
            <a:r>
              <a:rPr lang="en-US" sz="2000" dirty="0">
                <a:latin typeface="Cambria" panose="02040503050406030204" pitchFamily="18" charset="0"/>
              </a:rPr>
              <a:t>The Exemption is not available to more than 2 surviving children of an individual born after 1.10.1998. However, this restriction is not there in respect of children born before 1.10.1998.</a:t>
            </a:r>
            <a:endParaRPr lang="en-IN" dirty="0"/>
          </a:p>
        </p:txBody>
      </p:sp>
      <p:sp>
        <p:nvSpPr>
          <p:cNvPr id="6" name="Slide Number Placeholder 5">
            <a:extLst>
              <a:ext uri="{FF2B5EF4-FFF2-40B4-BE49-F238E27FC236}">
                <a16:creationId xmlns:a16="http://schemas.microsoft.com/office/drawing/2014/main" id="{F056FEA0-02B9-B8F6-864F-609D35FD3B53}"/>
              </a:ext>
            </a:extLst>
          </p:cNvPr>
          <p:cNvSpPr>
            <a:spLocks noGrp="1"/>
          </p:cNvSpPr>
          <p:nvPr>
            <p:ph type="sldNum" sz="quarter" idx="12"/>
          </p:nvPr>
        </p:nvSpPr>
        <p:spPr/>
        <p:txBody>
          <a:bodyPr/>
          <a:lstStyle/>
          <a:p>
            <a:fld id="{94013DF8-6EF8-4A98-8821-E6468C17C0C3}" type="slidenum">
              <a:rPr lang="en-IN" smtClean="0"/>
              <a:t>103</a:t>
            </a:fld>
            <a:endParaRPr lang="en-IN"/>
          </a:p>
        </p:txBody>
      </p:sp>
      <p:sp>
        <p:nvSpPr>
          <p:cNvPr id="7" name="Title 1">
            <a:extLst>
              <a:ext uri="{FF2B5EF4-FFF2-40B4-BE49-F238E27FC236}">
                <a16:creationId xmlns:a16="http://schemas.microsoft.com/office/drawing/2014/main" id="{766C2D0F-13D4-A9C2-649F-67BCE27A48DE}"/>
              </a:ext>
            </a:extLst>
          </p:cNvPr>
          <p:cNvSpPr>
            <a:spLocks noGrp="1"/>
          </p:cNvSpPr>
          <p:nvPr>
            <p:ph type="title"/>
          </p:nvPr>
        </p:nvSpPr>
        <p:spPr>
          <a:xfrm>
            <a:off x="1001261" y="452718"/>
            <a:ext cx="9049573" cy="973311"/>
          </a:xfrm>
        </p:spPr>
        <p:txBody>
          <a:bodyPr/>
          <a:lstStyle/>
          <a:p>
            <a:r>
              <a:rPr lang="en-IN" dirty="0"/>
              <a:t>Income From Salary </a:t>
            </a:r>
          </a:p>
        </p:txBody>
      </p:sp>
      <p:sp>
        <p:nvSpPr>
          <p:cNvPr id="8" name="Rectangle 7">
            <a:extLst>
              <a:ext uri="{FF2B5EF4-FFF2-40B4-BE49-F238E27FC236}">
                <a16:creationId xmlns:a16="http://schemas.microsoft.com/office/drawing/2014/main" id="{4711B5F2-3873-3AA9-5244-3BDED8A561BD}"/>
              </a:ext>
            </a:extLst>
          </p:cNvPr>
          <p:cNvSpPr/>
          <p:nvPr/>
        </p:nvSpPr>
        <p:spPr>
          <a:xfrm>
            <a:off x="1001261" y="1225606"/>
            <a:ext cx="9389648" cy="1015663"/>
          </a:xfrm>
          <a:prstGeom prst="rect">
            <a:avLst/>
          </a:prstGeom>
        </p:spPr>
        <p:txBody>
          <a:bodyPr wrap="square">
            <a:spAutoFit/>
          </a:bodyPr>
          <a:lstStyle/>
          <a:p>
            <a:r>
              <a:rPr lang="en-US" sz="3200" b="1" u="sng" dirty="0">
                <a:effectLst>
                  <a:outerShdw blurRad="38100" dist="38100" dir="2700000" algn="tl">
                    <a:srgbClr val="000000">
                      <a:alpha val="43137"/>
                    </a:srgbClr>
                  </a:outerShdw>
                </a:effectLst>
              </a:rPr>
              <a:t>Exemption</a:t>
            </a:r>
          </a:p>
          <a:p>
            <a:r>
              <a:rPr lang="en-US" sz="2800" dirty="0">
                <a:effectLst>
                  <a:outerShdw blurRad="38100" dist="38100" dir="2700000" algn="tl">
                    <a:srgbClr val="000000">
                      <a:alpha val="43137"/>
                    </a:srgbClr>
                  </a:outerShdw>
                </a:effectLst>
              </a:rPr>
              <a:t>Section 10(1) to Section 10(38) Deals with </a:t>
            </a:r>
            <a:r>
              <a:rPr lang="en-US" sz="2800" dirty="0">
                <a:effectLst>
                  <a:outerShdw blurRad="38100" dist="38100" dir="2700000" algn="tl">
                    <a:srgbClr val="000000">
                      <a:alpha val="43137"/>
                    </a:srgbClr>
                  </a:outerShdw>
                </a:effectLst>
                <a:hlinkClick r:id="rId2" action="ppaction://hlinkfile"/>
              </a:rPr>
              <a:t>exempt Income</a:t>
            </a:r>
            <a:endParaRPr lang="en-US" sz="2800" dirty="0"/>
          </a:p>
        </p:txBody>
      </p:sp>
      <p:pic>
        <p:nvPicPr>
          <p:cNvPr id="9" name="Picture 2" descr="Image result for exemption">
            <a:extLst>
              <a:ext uri="{FF2B5EF4-FFF2-40B4-BE49-F238E27FC236}">
                <a16:creationId xmlns:a16="http://schemas.microsoft.com/office/drawing/2014/main" id="{8B9DA81D-5C80-984F-BCC0-1A29BDDC43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06691" y="14683"/>
            <a:ext cx="1884218" cy="1411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5359357"/>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Slide Number Placeholder 5">
            <a:extLst>
              <a:ext uri="{FF2B5EF4-FFF2-40B4-BE49-F238E27FC236}">
                <a16:creationId xmlns:a16="http://schemas.microsoft.com/office/drawing/2014/main" id="{F056FEA0-02B9-B8F6-864F-609D35FD3B53}"/>
              </a:ext>
            </a:extLst>
          </p:cNvPr>
          <p:cNvSpPr>
            <a:spLocks noGrp="1"/>
          </p:cNvSpPr>
          <p:nvPr>
            <p:ph type="sldNum" sz="quarter" idx="12"/>
          </p:nvPr>
        </p:nvSpPr>
        <p:spPr/>
        <p:txBody>
          <a:bodyPr/>
          <a:lstStyle/>
          <a:p>
            <a:fld id="{94013DF8-6EF8-4A98-8821-E6468C17C0C3}" type="slidenum">
              <a:rPr lang="en-IN" smtClean="0"/>
              <a:t>104</a:t>
            </a:fld>
            <a:endParaRPr lang="en-IN"/>
          </a:p>
        </p:txBody>
      </p:sp>
      <p:sp>
        <p:nvSpPr>
          <p:cNvPr id="7" name="Title 1">
            <a:extLst>
              <a:ext uri="{FF2B5EF4-FFF2-40B4-BE49-F238E27FC236}">
                <a16:creationId xmlns:a16="http://schemas.microsoft.com/office/drawing/2014/main" id="{766C2D0F-13D4-A9C2-649F-67BCE27A48DE}"/>
              </a:ext>
            </a:extLst>
          </p:cNvPr>
          <p:cNvSpPr>
            <a:spLocks noGrp="1"/>
          </p:cNvSpPr>
          <p:nvPr>
            <p:ph type="title"/>
          </p:nvPr>
        </p:nvSpPr>
        <p:spPr>
          <a:xfrm>
            <a:off x="1001261" y="452718"/>
            <a:ext cx="9049573" cy="973311"/>
          </a:xfrm>
        </p:spPr>
        <p:txBody>
          <a:bodyPr/>
          <a:lstStyle/>
          <a:p>
            <a:r>
              <a:rPr lang="en-IN" dirty="0"/>
              <a:t>Income From Salary </a:t>
            </a:r>
          </a:p>
        </p:txBody>
      </p:sp>
      <p:sp>
        <p:nvSpPr>
          <p:cNvPr id="8" name="Rectangle 7">
            <a:extLst>
              <a:ext uri="{FF2B5EF4-FFF2-40B4-BE49-F238E27FC236}">
                <a16:creationId xmlns:a16="http://schemas.microsoft.com/office/drawing/2014/main" id="{4711B5F2-3873-3AA9-5244-3BDED8A561BD}"/>
              </a:ext>
            </a:extLst>
          </p:cNvPr>
          <p:cNvSpPr/>
          <p:nvPr/>
        </p:nvSpPr>
        <p:spPr>
          <a:xfrm>
            <a:off x="1001261" y="1171176"/>
            <a:ext cx="9389648" cy="1015663"/>
          </a:xfrm>
          <a:prstGeom prst="rect">
            <a:avLst/>
          </a:prstGeom>
        </p:spPr>
        <p:txBody>
          <a:bodyPr wrap="square">
            <a:spAutoFit/>
          </a:bodyPr>
          <a:lstStyle/>
          <a:p>
            <a:r>
              <a:rPr lang="en-US" sz="3200" b="1" u="sng" dirty="0">
                <a:effectLst>
                  <a:outerShdw blurRad="38100" dist="38100" dir="2700000" algn="tl">
                    <a:srgbClr val="000000">
                      <a:alpha val="43137"/>
                    </a:srgbClr>
                  </a:outerShdw>
                </a:effectLst>
              </a:rPr>
              <a:t>Exemption</a:t>
            </a:r>
          </a:p>
          <a:p>
            <a:pPr algn="ctr"/>
            <a:r>
              <a:rPr lang="en-US" sz="2800" dirty="0">
                <a:effectLst>
                  <a:outerShdw blurRad="38100" dist="38100" dir="2700000" algn="tl">
                    <a:srgbClr val="000000">
                      <a:alpha val="43137"/>
                    </a:srgbClr>
                  </a:outerShdw>
                </a:effectLst>
              </a:rPr>
              <a:t>Section 10(5)-Leave Travel Allowance</a:t>
            </a:r>
          </a:p>
        </p:txBody>
      </p:sp>
      <p:pic>
        <p:nvPicPr>
          <p:cNvPr id="9" name="Picture 2" descr="Image result for exemption">
            <a:extLst>
              <a:ext uri="{FF2B5EF4-FFF2-40B4-BE49-F238E27FC236}">
                <a16:creationId xmlns:a16="http://schemas.microsoft.com/office/drawing/2014/main" id="{8B9DA81D-5C80-984F-BCC0-1A29BDDC43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6691" y="14683"/>
            <a:ext cx="1884218" cy="1411346"/>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2" descr="General rules to claim LTA exemption infographic">
            <a:extLst>
              <a:ext uri="{FF2B5EF4-FFF2-40B4-BE49-F238E27FC236}">
                <a16:creationId xmlns:a16="http://schemas.microsoft.com/office/drawing/2014/main" id="{17EA28D7-59DD-E815-0844-D71ABC683D0F}"/>
              </a:ext>
            </a:extLst>
          </p:cNvPr>
          <p:cNvPicPr>
            <a:picLocks noChangeAspect="1" noChangeArrowheads="1"/>
          </p:cNvPicPr>
          <p:nvPr/>
        </p:nvPicPr>
        <p:blipFill>
          <a:blip r:embed="rId3">
            <a:extLst>
              <a:ext uri="{BEBA8EAE-BF5A-486C-A8C5-ECC9F3942E4B}">
                <a14:imgProps xmlns:a14="http://schemas.microsoft.com/office/drawing/2010/main">
                  <a14:imgLayer r:embed="rId4">
                    <a14:imgEffect>
                      <a14:colorTemperature colorTemp="5900"/>
                    </a14:imgEffect>
                    <a14:imgEffect>
                      <a14:saturation sat="200000"/>
                    </a14:imgEffect>
                  </a14:imgLayer>
                </a14:imgProps>
              </a:ext>
              <a:ext uri="{28A0092B-C50C-407E-A947-70E740481C1C}">
                <a14:useLocalDpi xmlns:a14="http://schemas.microsoft.com/office/drawing/2010/main" val="0"/>
              </a:ext>
            </a:extLst>
          </a:blip>
          <a:srcRect/>
          <a:stretch>
            <a:fillRect/>
          </a:stretch>
        </p:blipFill>
        <p:spPr bwMode="auto">
          <a:xfrm>
            <a:off x="1801091" y="2362729"/>
            <a:ext cx="8697481" cy="4415270"/>
          </a:xfrm>
          <a:prstGeom prst="rect">
            <a:avLst/>
          </a:prstGeom>
          <a:ln w="88900" cap="sq" cmpd="thickThin">
            <a:solidFill>
              <a:srgbClr val="000000"/>
            </a:solidFill>
            <a:prstDash val="solid"/>
            <a:miter lim="800000"/>
          </a:ln>
          <a:effectLst>
            <a:innerShdw blurRad="76200">
              <a:srgbClr val="000000"/>
            </a:innerShdw>
          </a:effectLst>
          <a:scene3d>
            <a:camera prst="orthographicFront"/>
            <a:lightRig rig="threePt" dir="t"/>
          </a:scene3d>
          <a:sp3d>
            <a:bevelT prst="slope"/>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23639957"/>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72F7E4-7068-952E-0026-15C6235C07A3}"/>
              </a:ext>
            </a:extLst>
          </p:cNvPr>
          <p:cNvSpPr>
            <a:spLocks noGrp="1"/>
          </p:cNvSpPr>
          <p:nvPr>
            <p:ph idx="1"/>
          </p:nvPr>
        </p:nvSpPr>
        <p:spPr>
          <a:xfrm>
            <a:off x="1103313" y="2526569"/>
            <a:ext cx="10087426" cy="4331431"/>
          </a:xfrm>
        </p:spPr>
        <p:txBody>
          <a:bodyPr>
            <a:normAutofit/>
          </a:bodyPr>
          <a:lstStyle/>
          <a:p>
            <a:pPr marL="0" indent="0" algn="just">
              <a:lnSpc>
                <a:spcPct val="150000"/>
              </a:lnSpc>
              <a:buNone/>
            </a:pPr>
            <a:r>
              <a:rPr lang="en-IN" sz="2000" dirty="0">
                <a:latin typeface="Cambria" panose="02040503050406030204" pitchFamily="18" charset="0"/>
              </a:rPr>
              <a:t>This is the famous exemption which is used by many salaried individuals. However, the </a:t>
            </a:r>
            <a:r>
              <a:rPr lang="en-IN" sz="2000" dirty="0">
                <a:solidFill>
                  <a:srgbClr val="FF0000"/>
                </a:solidFill>
                <a:latin typeface="Cambria" panose="02040503050406030204" pitchFamily="18" charset="0"/>
              </a:rPr>
              <a:t>wrong belief is that whatever the rent they pay is actually exempted from their income</a:t>
            </a:r>
            <a:r>
              <a:rPr lang="en-IN" sz="2000" dirty="0">
                <a:latin typeface="Cambria" panose="02040503050406030204" pitchFamily="18" charset="0"/>
              </a:rPr>
              <a:t>. The reality is different. The amount of exemption is least of the following.</a:t>
            </a:r>
          </a:p>
          <a:p>
            <a:pPr marL="0" indent="0" algn="just">
              <a:lnSpc>
                <a:spcPct val="150000"/>
              </a:lnSpc>
              <a:buNone/>
            </a:pPr>
            <a:endParaRPr lang="en-IN" sz="2000" dirty="0">
              <a:latin typeface="Cambria" panose="02040503050406030204" pitchFamily="18" charset="0"/>
            </a:endParaRPr>
          </a:p>
          <a:p>
            <a:pPr marL="0" indent="0">
              <a:buNone/>
            </a:pPr>
            <a:endParaRPr lang="en-IN" dirty="0"/>
          </a:p>
        </p:txBody>
      </p:sp>
      <p:sp>
        <p:nvSpPr>
          <p:cNvPr id="6" name="Slide Number Placeholder 5">
            <a:extLst>
              <a:ext uri="{FF2B5EF4-FFF2-40B4-BE49-F238E27FC236}">
                <a16:creationId xmlns:a16="http://schemas.microsoft.com/office/drawing/2014/main" id="{F056FEA0-02B9-B8F6-864F-609D35FD3B53}"/>
              </a:ext>
            </a:extLst>
          </p:cNvPr>
          <p:cNvSpPr>
            <a:spLocks noGrp="1"/>
          </p:cNvSpPr>
          <p:nvPr>
            <p:ph type="sldNum" sz="quarter" idx="12"/>
          </p:nvPr>
        </p:nvSpPr>
        <p:spPr/>
        <p:txBody>
          <a:bodyPr/>
          <a:lstStyle/>
          <a:p>
            <a:fld id="{94013DF8-6EF8-4A98-8821-E6468C17C0C3}" type="slidenum">
              <a:rPr lang="en-IN" smtClean="0"/>
              <a:t>105</a:t>
            </a:fld>
            <a:endParaRPr lang="en-IN"/>
          </a:p>
        </p:txBody>
      </p:sp>
      <p:sp>
        <p:nvSpPr>
          <p:cNvPr id="7" name="Title 1">
            <a:extLst>
              <a:ext uri="{FF2B5EF4-FFF2-40B4-BE49-F238E27FC236}">
                <a16:creationId xmlns:a16="http://schemas.microsoft.com/office/drawing/2014/main" id="{766C2D0F-13D4-A9C2-649F-67BCE27A48DE}"/>
              </a:ext>
            </a:extLst>
          </p:cNvPr>
          <p:cNvSpPr>
            <a:spLocks noGrp="1"/>
          </p:cNvSpPr>
          <p:nvPr>
            <p:ph type="title"/>
          </p:nvPr>
        </p:nvSpPr>
        <p:spPr>
          <a:xfrm>
            <a:off x="1001261" y="452718"/>
            <a:ext cx="9049573" cy="973311"/>
          </a:xfrm>
        </p:spPr>
        <p:txBody>
          <a:bodyPr/>
          <a:lstStyle/>
          <a:p>
            <a:r>
              <a:rPr lang="en-IN" dirty="0"/>
              <a:t>Income From Salary </a:t>
            </a:r>
          </a:p>
        </p:txBody>
      </p:sp>
      <p:sp>
        <p:nvSpPr>
          <p:cNvPr id="8" name="Rectangle 7">
            <a:extLst>
              <a:ext uri="{FF2B5EF4-FFF2-40B4-BE49-F238E27FC236}">
                <a16:creationId xmlns:a16="http://schemas.microsoft.com/office/drawing/2014/main" id="{4711B5F2-3873-3AA9-5244-3BDED8A561BD}"/>
              </a:ext>
            </a:extLst>
          </p:cNvPr>
          <p:cNvSpPr/>
          <p:nvPr/>
        </p:nvSpPr>
        <p:spPr>
          <a:xfrm>
            <a:off x="1001261" y="1225606"/>
            <a:ext cx="9389648" cy="1015663"/>
          </a:xfrm>
          <a:prstGeom prst="rect">
            <a:avLst/>
          </a:prstGeom>
        </p:spPr>
        <p:txBody>
          <a:bodyPr wrap="square">
            <a:spAutoFit/>
          </a:bodyPr>
          <a:lstStyle/>
          <a:p>
            <a:r>
              <a:rPr lang="en-US" sz="3200" b="1" u="sng" dirty="0">
                <a:effectLst>
                  <a:outerShdw blurRad="38100" dist="38100" dir="2700000" algn="tl">
                    <a:srgbClr val="000000">
                      <a:alpha val="43137"/>
                    </a:srgbClr>
                  </a:outerShdw>
                </a:effectLst>
              </a:rPr>
              <a:t>Exemption</a:t>
            </a:r>
          </a:p>
          <a:p>
            <a:r>
              <a:rPr lang="en-IN" sz="2800" u="sng" dirty="0">
                <a:solidFill>
                  <a:srgbClr val="C00000"/>
                </a:solidFill>
                <a:effectLst>
                  <a:outerShdw blurRad="38100" dist="38100" dir="2700000" algn="tl">
                    <a:srgbClr val="000000">
                      <a:alpha val="43137"/>
                    </a:srgbClr>
                  </a:outerShdw>
                </a:effectLst>
                <a:latin typeface="Cambria" panose="02040503050406030204" pitchFamily="18" charset="0"/>
              </a:rPr>
              <a:t>Section 10(13A): House Rent Allowance(HRA)</a:t>
            </a:r>
            <a:endParaRPr lang="en-IN" sz="2800" dirty="0">
              <a:solidFill>
                <a:srgbClr val="C00000"/>
              </a:solidFill>
            </a:endParaRPr>
          </a:p>
        </p:txBody>
      </p:sp>
      <p:pic>
        <p:nvPicPr>
          <p:cNvPr id="9" name="Picture 2" descr="Image result for exemption">
            <a:extLst>
              <a:ext uri="{FF2B5EF4-FFF2-40B4-BE49-F238E27FC236}">
                <a16:creationId xmlns:a16="http://schemas.microsoft.com/office/drawing/2014/main" id="{8B9DA81D-5C80-984F-BCC0-1A29BDDC43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6691" y="-39745"/>
            <a:ext cx="1884218" cy="1411346"/>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2" name="Table 1">
            <a:extLst>
              <a:ext uri="{FF2B5EF4-FFF2-40B4-BE49-F238E27FC236}">
                <a16:creationId xmlns:a16="http://schemas.microsoft.com/office/drawing/2014/main" id="{6642026B-76EA-7A33-A2E4-93BD14572BBD}"/>
              </a:ext>
            </a:extLst>
          </p:cNvPr>
          <p:cNvGraphicFramePr>
            <a:graphicFrameLocks noGrp="1"/>
          </p:cNvGraphicFramePr>
          <p:nvPr>
            <p:extLst>
              <p:ext uri="{D42A27DB-BD31-4B8C-83A1-F6EECF244321}">
                <p14:modId xmlns:p14="http://schemas.microsoft.com/office/powerpoint/2010/main" val="3924472907"/>
              </p:ext>
            </p:extLst>
          </p:nvPr>
        </p:nvGraphicFramePr>
        <p:xfrm>
          <a:off x="1217222" y="4110016"/>
          <a:ext cx="9973517" cy="2345214"/>
        </p:xfrm>
        <a:graphic>
          <a:graphicData uri="http://schemas.openxmlformats.org/drawingml/2006/table">
            <a:tbl>
              <a:tblPr>
                <a:tableStyleId>{8A107856-5554-42FB-B03E-39F5DBC370BA}</a:tableStyleId>
              </a:tblPr>
              <a:tblGrid>
                <a:gridCol w="9973517">
                  <a:extLst>
                    <a:ext uri="{9D8B030D-6E8A-4147-A177-3AD203B41FA5}">
                      <a16:colId xmlns:a16="http://schemas.microsoft.com/office/drawing/2014/main" val="2800396521"/>
                    </a:ext>
                  </a:extLst>
                </a:gridCol>
              </a:tblGrid>
              <a:tr h="437884">
                <a:tc>
                  <a:txBody>
                    <a:bodyPr/>
                    <a:lstStyle/>
                    <a:p>
                      <a:pPr algn="l" fontAlgn="t"/>
                      <a:r>
                        <a:rPr lang="en-IN" sz="2400" u="none" strike="noStrike" dirty="0">
                          <a:effectLst/>
                        </a:rPr>
                        <a:t>a) Actual HRA Received</a:t>
                      </a:r>
                      <a:endParaRPr lang="en-IN" sz="24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2355126726"/>
                  </a:ext>
                </a:extLst>
              </a:tr>
              <a:tr h="521338">
                <a:tc>
                  <a:txBody>
                    <a:bodyPr/>
                    <a:lstStyle/>
                    <a:p>
                      <a:pPr algn="l" fontAlgn="t"/>
                      <a:r>
                        <a:rPr lang="en-US" sz="2400" u="none" strike="noStrike" dirty="0">
                          <a:effectLst/>
                        </a:rPr>
                        <a:t>b) 40% of Salary (50%, if house situated in Metro Region)</a:t>
                      </a:r>
                      <a:endParaRPr lang="en-US" sz="24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1005646614"/>
                  </a:ext>
                </a:extLst>
              </a:tr>
              <a:tr h="521338">
                <a:tc>
                  <a:txBody>
                    <a:bodyPr/>
                    <a:lstStyle/>
                    <a:p>
                      <a:pPr algn="l" fontAlgn="t"/>
                      <a:r>
                        <a:rPr lang="en-US" sz="2400" u="none" strike="noStrike" dirty="0">
                          <a:effectLst/>
                        </a:rPr>
                        <a:t>c) Rent paid minus 10% of salary</a:t>
                      </a:r>
                      <a:endParaRPr lang="en-US" sz="24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3289024728"/>
                  </a:ext>
                </a:extLst>
              </a:tr>
              <a:tr h="864654">
                <a:tc>
                  <a:txBody>
                    <a:bodyPr/>
                    <a:lstStyle/>
                    <a:p>
                      <a:pPr algn="l" fontAlgn="t"/>
                      <a:r>
                        <a:rPr lang="en-US" sz="2000" u="none" strike="noStrike" dirty="0">
                          <a:effectLst/>
                        </a:rPr>
                        <a:t>(Salary = Basic + DA (if part of retirement benefit) + Turnover based Commission)</a:t>
                      </a:r>
                      <a:endParaRPr lang="en-US" sz="2000" b="0" i="0" u="none" strike="noStrike" dirty="0">
                        <a:solidFill>
                          <a:srgbClr val="000000"/>
                        </a:solidFill>
                        <a:effectLst/>
                        <a:latin typeface="Calibri" panose="020F0502020204030204" pitchFamily="34" charset="0"/>
                      </a:endParaRPr>
                    </a:p>
                  </a:txBody>
                  <a:tcPr marL="9525" marR="9525" marT="9525" marB="0"/>
                </a:tc>
                <a:extLst>
                  <a:ext uri="{0D108BD9-81ED-4DB2-BD59-A6C34878D82A}">
                    <a16:rowId xmlns:a16="http://schemas.microsoft.com/office/drawing/2014/main" val="4114320379"/>
                  </a:ext>
                </a:extLst>
              </a:tr>
            </a:tbl>
          </a:graphicData>
        </a:graphic>
      </p:graphicFrame>
    </p:spTree>
    <p:extLst>
      <p:ext uri="{BB962C8B-B14F-4D97-AF65-F5344CB8AC3E}">
        <p14:creationId xmlns:p14="http://schemas.microsoft.com/office/powerpoint/2010/main" val="2956835212"/>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E72F7E4-7068-952E-0026-15C6235C07A3}"/>
              </a:ext>
            </a:extLst>
          </p:cNvPr>
          <p:cNvSpPr>
            <a:spLocks noGrp="1"/>
          </p:cNvSpPr>
          <p:nvPr>
            <p:ph idx="1"/>
          </p:nvPr>
        </p:nvSpPr>
        <p:spPr>
          <a:xfrm>
            <a:off x="1103313" y="2613655"/>
            <a:ext cx="10087426" cy="4331431"/>
          </a:xfrm>
        </p:spPr>
        <p:txBody>
          <a:bodyPr>
            <a:normAutofit/>
          </a:bodyPr>
          <a:lstStyle/>
          <a:p>
            <a:pPr>
              <a:buFont typeface="Wingdings" panose="05000000000000000000" pitchFamily="2" charset="2"/>
              <a:buChar char="ü"/>
            </a:pPr>
            <a:r>
              <a:rPr lang="en-IN" sz="2000" b="1" dirty="0"/>
              <a:t>Travelling Allowance</a:t>
            </a:r>
          </a:p>
          <a:p>
            <a:pPr>
              <a:buFont typeface="Wingdings" panose="05000000000000000000" pitchFamily="2" charset="2"/>
              <a:buChar char="ü"/>
            </a:pPr>
            <a:r>
              <a:rPr lang="en-IN" sz="2000" b="1" dirty="0"/>
              <a:t>Daily Allowance</a:t>
            </a:r>
          </a:p>
          <a:p>
            <a:pPr algn="just">
              <a:buFont typeface="Wingdings" panose="05000000000000000000" pitchFamily="2" charset="2"/>
              <a:buChar char="ü"/>
            </a:pPr>
            <a:r>
              <a:rPr lang="en-IN" sz="2000" b="1" dirty="0"/>
              <a:t>Conveyance Allowance:-</a:t>
            </a:r>
            <a:r>
              <a:rPr lang="en-US" sz="2000" dirty="0"/>
              <a:t>This is the different allowance than transport allowance. It is the expenditure granted to an employee to meet the expenses on conveyance in </a:t>
            </a:r>
            <a:r>
              <a:rPr lang="en-US" sz="2000" dirty="0">
                <a:solidFill>
                  <a:srgbClr val="FF0000"/>
                </a:solidFill>
              </a:rPr>
              <a:t>performing of his office duties. </a:t>
            </a:r>
          </a:p>
          <a:p>
            <a:pPr algn="just">
              <a:buFont typeface="Wingdings" panose="05000000000000000000" pitchFamily="2" charset="2"/>
              <a:buChar char="ü"/>
            </a:pPr>
            <a:r>
              <a:rPr lang="en-IN" sz="2000" b="1" dirty="0"/>
              <a:t>Helper Allowance</a:t>
            </a:r>
          </a:p>
          <a:p>
            <a:pPr algn="just">
              <a:buFont typeface="Wingdings" panose="05000000000000000000" pitchFamily="2" charset="2"/>
              <a:buChar char="ü"/>
            </a:pPr>
            <a:r>
              <a:rPr lang="en-IN" sz="2000" b="1" dirty="0"/>
              <a:t>Academic Allowance</a:t>
            </a:r>
            <a:r>
              <a:rPr lang="en-IN" sz="2000" dirty="0"/>
              <a:t>:- Allowance granted for encouraging </a:t>
            </a:r>
            <a:r>
              <a:rPr lang="en-IN" sz="2000" dirty="0">
                <a:solidFill>
                  <a:srgbClr val="FF0000"/>
                </a:solidFill>
              </a:rPr>
              <a:t>academic, research &amp; training </a:t>
            </a:r>
            <a:r>
              <a:rPr lang="en-IN" sz="2000" dirty="0"/>
              <a:t>pursuits in educational &amp; research Institutional.</a:t>
            </a:r>
          </a:p>
          <a:p>
            <a:pPr>
              <a:buFont typeface="Wingdings" panose="05000000000000000000" pitchFamily="2" charset="2"/>
              <a:buChar char="ü"/>
            </a:pPr>
            <a:r>
              <a:rPr lang="en-IN" sz="2000" b="1" dirty="0"/>
              <a:t>Uniform allowance</a:t>
            </a:r>
            <a:endParaRPr lang="en-IN" dirty="0"/>
          </a:p>
          <a:p>
            <a:pPr marL="0" indent="0" algn="just">
              <a:lnSpc>
                <a:spcPct val="150000"/>
              </a:lnSpc>
              <a:buNone/>
            </a:pPr>
            <a:endParaRPr lang="en-IN" sz="2000" dirty="0">
              <a:latin typeface="Cambria" panose="02040503050406030204" pitchFamily="18" charset="0"/>
            </a:endParaRPr>
          </a:p>
          <a:p>
            <a:pPr marL="0" indent="0">
              <a:buNone/>
            </a:pPr>
            <a:endParaRPr lang="en-IN" dirty="0"/>
          </a:p>
        </p:txBody>
      </p:sp>
      <p:sp>
        <p:nvSpPr>
          <p:cNvPr id="6" name="Slide Number Placeholder 5">
            <a:extLst>
              <a:ext uri="{FF2B5EF4-FFF2-40B4-BE49-F238E27FC236}">
                <a16:creationId xmlns:a16="http://schemas.microsoft.com/office/drawing/2014/main" id="{F056FEA0-02B9-B8F6-864F-609D35FD3B53}"/>
              </a:ext>
            </a:extLst>
          </p:cNvPr>
          <p:cNvSpPr>
            <a:spLocks noGrp="1"/>
          </p:cNvSpPr>
          <p:nvPr>
            <p:ph type="sldNum" sz="quarter" idx="12"/>
          </p:nvPr>
        </p:nvSpPr>
        <p:spPr/>
        <p:txBody>
          <a:bodyPr/>
          <a:lstStyle/>
          <a:p>
            <a:fld id="{94013DF8-6EF8-4A98-8821-E6468C17C0C3}" type="slidenum">
              <a:rPr lang="en-IN" smtClean="0"/>
              <a:t>106</a:t>
            </a:fld>
            <a:endParaRPr lang="en-IN"/>
          </a:p>
        </p:txBody>
      </p:sp>
      <p:sp>
        <p:nvSpPr>
          <p:cNvPr id="7" name="Title 1">
            <a:extLst>
              <a:ext uri="{FF2B5EF4-FFF2-40B4-BE49-F238E27FC236}">
                <a16:creationId xmlns:a16="http://schemas.microsoft.com/office/drawing/2014/main" id="{766C2D0F-13D4-A9C2-649F-67BCE27A48DE}"/>
              </a:ext>
            </a:extLst>
          </p:cNvPr>
          <p:cNvSpPr>
            <a:spLocks noGrp="1"/>
          </p:cNvSpPr>
          <p:nvPr>
            <p:ph type="title"/>
          </p:nvPr>
        </p:nvSpPr>
        <p:spPr>
          <a:xfrm>
            <a:off x="1001261" y="452718"/>
            <a:ext cx="9049573" cy="973311"/>
          </a:xfrm>
        </p:spPr>
        <p:txBody>
          <a:bodyPr/>
          <a:lstStyle/>
          <a:p>
            <a:r>
              <a:rPr lang="en-IN" dirty="0"/>
              <a:t>Income From Salary </a:t>
            </a:r>
          </a:p>
        </p:txBody>
      </p:sp>
      <p:sp>
        <p:nvSpPr>
          <p:cNvPr id="8" name="Rectangle 7">
            <a:extLst>
              <a:ext uri="{FF2B5EF4-FFF2-40B4-BE49-F238E27FC236}">
                <a16:creationId xmlns:a16="http://schemas.microsoft.com/office/drawing/2014/main" id="{4711B5F2-3873-3AA9-5244-3BDED8A561BD}"/>
              </a:ext>
            </a:extLst>
          </p:cNvPr>
          <p:cNvSpPr/>
          <p:nvPr/>
        </p:nvSpPr>
        <p:spPr>
          <a:xfrm>
            <a:off x="1001261" y="1225606"/>
            <a:ext cx="9389648" cy="1015663"/>
          </a:xfrm>
          <a:prstGeom prst="rect">
            <a:avLst/>
          </a:prstGeom>
        </p:spPr>
        <p:txBody>
          <a:bodyPr wrap="square">
            <a:spAutoFit/>
          </a:bodyPr>
          <a:lstStyle/>
          <a:p>
            <a:r>
              <a:rPr lang="en-US" sz="3200" b="1" u="sng" dirty="0">
                <a:effectLst>
                  <a:outerShdw blurRad="38100" dist="38100" dir="2700000" algn="tl">
                    <a:srgbClr val="000000">
                      <a:alpha val="43137"/>
                    </a:srgbClr>
                  </a:outerShdw>
                </a:effectLst>
              </a:rPr>
              <a:t>Exemption</a:t>
            </a:r>
          </a:p>
          <a:p>
            <a:r>
              <a:rPr lang="en-IN" sz="2800" u="sng" dirty="0">
                <a:solidFill>
                  <a:srgbClr val="FF0000"/>
                </a:solidFill>
                <a:latin typeface="Cambria" panose="02040503050406030204" pitchFamily="18" charset="0"/>
              </a:rPr>
              <a:t>Allowances Exempt under Section 10(14)(I)-</a:t>
            </a:r>
            <a:r>
              <a:rPr lang="en-IN" sz="2800" u="sng" dirty="0">
                <a:solidFill>
                  <a:srgbClr val="7030A0"/>
                </a:solidFill>
                <a:latin typeface="Cambria" panose="02040503050406030204" pitchFamily="18" charset="0"/>
              </a:rPr>
              <a:t>No limit</a:t>
            </a:r>
            <a:endParaRPr lang="en-IN" sz="2800" u="sng" dirty="0">
              <a:solidFill>
                <a:srgbClr val="7030A0"/>
              </a:solidFill>
            </a:endParaRPr>
          </a:p>
        </p:txBody>
      </p:sp>
      <p:pic>
        <p:nvPicPr>
          <p:cNvPr id="9" name="Picture 2" descr="Image result for exemption">
            <a:extLst>
              <a:ext uri="{FF2B5EF4-FFF2-40B4-BE49-F238E27FC236}">
                <a16:creationId xmlns:a16="http://schemas.microsoft.com/office/drawing/2014/main" id="{8B9DA81D-5C80-984F-BCC0-1A29BDDC43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506691" y="-7086"/>
            <a:ext cx="1884218" cy="14113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9244110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extBox 2"/>
          <p:cNvSpPr txBox="1"/>
          <p:nvPr/>
        </p:nvSpPr>
        <p:spPr>
          <a:xfrm>
            <a:off x="3111886" y="595743"/>
            <a:ext cx="6503168" cy="646331"/>
          </a:xfrm>
          <a:prstGeom prst="rect">
            <a:avLst/>
          </a:prstGeom>
          <a:solidFill>
            <a:schemeClr val="bg1">
              <a:lumMod val="10000"/>
              <a:lumOff val="9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pic>
        <p:nvPicPr>
          <p:cNvPr id="4" name="Picture 3"/>
          <p:cNvPicPr>
            <a:picLocks noChangeAspect="1"/>
          </p:cNvPicPr>
          <p:nvPr/>
        </p:nvPicPr>
        <p:blipFill>
          <a:blip r:embed="rId2"/>
          <a:stretch>
            <a:fillRect/>
          </a:stretch>
        </p:blipFill>
        <p:spPr>
          <a:xfrm>
            <a:off x="0" y="489095"/>
            <a:ext cx="2743200" cy="1516064"/>
          </a:xfrm>
          <a:prstGeom prst="rect">
            <a:avLst/>
          </a:prstGeom>
          <a:ln>
            <a:noFill/>
          </a:ln>
          <a:effectLst>
            <a:softEdge rad="112500"/>
          </a:effectLst>
        </p:spPr>
      </p:pic>
      <p:sp>
        <p:nvSpPr>
          <p:cNvPr id="2" name="Rectangle 1"/>
          <p:cNvSpPr/>
          <p:nvPr/>
        </p:nvSpPr>
        <p:spPr>
          <a:xfrm>
            <a:off x="4455979" y="1358415"/>
            <a:ext cx="2858547"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Section 80C</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TextBox 4"/>
          <p:cNvSpPr txBox="1"/>
          <p:nvPr/>
        </p:nvSpPr>
        <p:spPr>
          <a:xfrm>
            <a:off x="189922" y="1888817"/>
            <a:ext cx="11709785" cy="4524315"/>
          </a:xfrm>
          <a:prstGeom prst="rect">
            <a:avLst/>
          </a:prstGeom>
          <a:solidFill>
            <a:srgbClr val="DDDDDD"/>
          </a:solidFill>
        </p:spPr>
        <p:style>
          <a:lnRef idx="1">
            <a:schemeClr val="dk1"/>
          </a:lnRef>
          <a:fillRef idx="2">
            <a:schemeClr val="dk1"/>
          </a:fillRef>
          <a:effectRef idx="1">
            <a:schemeClr val="dk1"/>
          </a:effectRef>
          <a:fontRef idx="minor">
            <a:schemeClr val="dk1"/>
          </a:fontRef>
        </p:style>
        <p:txBody>
          <a:bodyPr wrap="square" rtlCol="0">
            <a:spAutoFit/>
          </a:bodyPr>
          <a:lstStyle/>
          <a:p>
            <a:pPr marL="342900" indent="-342900">
              <a:buFont typeface="Wingdings" panose="05000000000000000000" pitchFamily="2" charset="2"/>
              <a:buChar char="q"/>
            </a:pPr>
            <a:r>
              <a:rPr lang="en-IN" dirty="0">
                <a:latin typeface="Cambria" panose="02040503050406030204" pitchFamily="18" charset="0"/>
              </a:rPr>
              <a:t>Maximum Limit- Rs.1,50,000/-</a:t>
            </a:r>
          </a:p>
          <a:p>
            <a:pPr marL="342900" indent="-342900">
              <a:buFont typeface="Wingdings" panose="05000000000000000000" pitchFamily="2" charset="2"/>
              <a:buChar char="q"/>
            </a:pPr>
            <a:r>
              <a:rPr lang="en-IN" dirty="0">
                <a:latin typeface="Cambria" panose="02040503050406030204" pitchFamily="18" charset="0"/>
              </a:rPr>
              <a:t>You can save tax on salary income from this section alone</a:t>
            </a:r>
          </a:p>
          <a:p>
            <a:pPr marL="342900" indent="-342900">
              <a:buFont typeface="Wingdings" panose="05000000000000000000" pitchFamily="2" charset="2"/>
              <a:buChar char="q"/>
            </a:pPr>
            <a:r>
              <a:rPr lang="en-IN" dirty="0">
                <a:latin typeface="Cambria" panose="02040503050406030204" pitchFamily="18" charset="0"/>
              </a:rPr>
              <a:t>Different Investment in this section includes</a:t>
            </a:r>
          </a:p>
          <a:p>
            <a:pPr marL="742950" lvl="1" indent="-285750">
              <a:buFont typeface="Wingdings" panose="05000000000000000000" pitchFamily="2" charset="2"/>
              <a:buChar char="ü"/>
            </a:pPr>
            <a:r>
              <a:rPr lang="en-IN" dirty="0">
                <a:latin typeface="Cambria" panose="02040503050406030204" pitchFamily="18" charset="0"/>
              </a:rPr>
              <a:t>	Life Insurance premium (Paid by an individual, spouse, and child. In the case of HUF, on the life of any member of HUF).</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EPF-Employee contribution can be claimed for deduction.</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Public Provident Fund (Paid by an individual, spouse, and child. In the case of HUF, on the life of any member of HUF).</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National Savings Certificate (NSC). </a:t>
            </a:r>
          </a:p>
          <a:p>
            <a:pPr marL="800100" lvl="1" indent="-342900">
              <a:buFont typeface="Wingdings" panose="05000000000000000000" pitchFamily="2" charset="2"/>
              <a:buChar char="ü"/>
            </a:pPr>
            <a:r>
              <a:rPr lang="en-IN" dirty="0" err="1">
                <a:latin typeface="Cambria" panose="02040503050406030204" pitchFamily="18" charset="0"/>
              </a:rPr>
              <a:t>Sukanya</a:t>
            </a:r>
            <a:r>
              <a:rPr lang="en-IN" dirty="0">
                <a:latin typeface="Cambria" panose="02040503050406030204" pitchFamily="18" charset="0"/>
              </a:rPr>
              <a:t> </a:t>
            </a:r>
            <a:r>
              <a:rPr lang="en-IN" dirty="0" err="1">
                <a:latin typeface="Cambria" panose="02040503050406030204" pitchFamily="18" charset="0"/>
              </a:rPr>
              <a:t>Samriddhi</a:t>
            </a:r>
            <a:r>
              <a:rPr lang="en-IN" dirty="0">
                <a:latin typeface="Cambria" panose="02040503050406030204" pitchFamily="18" charset="0"/>
              </a:rPr>
              <a:t> Account</a:t>
            </a:r>
          </a:p>
          <a:p>
            <a:pPr marL="800100" lvl="1" indent="-342900">
              <a:buFont typeface="Wingdings" panose="05000000000000000000" pitchFamily="2" charset="2"/>
              <a:buChar char="ü"/>
            </a:pPr>
            <a:r>
              <a:rPr lang="en-IN" dirty="0">
                <a:latin typeface="Cambria" panose="02040503050406030204" pitchFamily="18" charset="0"/>
              </a:rPr>
              <a:t>ELSS or Tax Saving Mutual Funds </a:t>
            </a:r>
          </a:p>
          <a:p>
            <a:pPr marL="800100" lvl="1" indent="-342900">
              <a:buFont typeface="Wingdings" panose="05000000000000000000" pitchFamily="2" charset="2"/>
              <a:buChar char="ü"/>
            </a:pPr>
            <a:r>
              <a:rPr lang="en-IN" dirty="0">
                <a:latin typeface="Cambria" panose="02040503050406030204" pitchFamily="18" charset="0"/>
              </a:rPr>
              <a:t>Senior Citizen Savings Scheme</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5-Years Post Office or Bank Deposits.</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Tuition fee of kids.</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Principal payment towards home loan.</a:t>
            </a:r>
            <a:endParaRPr lang="en-IN" sz="1600" dirty="0">
              <a:latin typeface="Cambria" panose="02040503050406030204" pitchFamily="18" charset="0"/>
            </a:endParaRPr>
          </a:p>
          <a:p>
            <a:pPr marL="742950" lvl="1" indent="-285750">
              <a:buFont typeface="Wingdings" panose="05000000000000000000" pitchFamily="2" charset="2"/>
              <a:buChar char="ü"/>
            </a:pPr>
            <a:r>
              <a:rPr lang="en-IN" dirty="0">
                <a:latin typeface="Cambria" panose="02040503050406030204" pitchFamily="18" charset="0"/>
              </a:rPr>
              <a:t>Stamp duty and registration cost of the house.</a:t>
            </a:r>
          </a:p>
        </p:txBody>
      </p:sp>
      <p:sp>
        <p:nvSpPr>
          <p:cNvPr id="7" name="Slide Number Placeholder 6"/>
          <p:cNvSpPr>
            <a:spLocks noGrp="1"/>
          </p:cNvSpPr>
          <p:nvPr>
            <p:ph type="sldNum" sz="quarter" idx="12"/>
          </p:nvPr>
        </p:nvSpPr>
        <p:spPr/>
        <p:txBody>
          <a:bodyPr/>
          <a:lstStyle/>
          <a:p>
            <a:fld id="{94013DF8-6EF8-4A98-8821-E6468C17C0C3}" type="slidenum">
              <a:rPr lang="en-IN" smtClean="0"/>
              <a:t>107</a:t>
            </a:fld>
            <a:endParaRPr lang="en-IN"/>
          </a:p>
        </p:txBody>
      </p:sp>
    </p:spTree>
    <p:extLst>
      <p:ext uri="{BB962C8B-B14F-4D97-AF65-F5344CB8AC3E}">
        <p14:creationId xmlns:p14="http://schemas.microsoft.com/office/powerpoint/2010/main" val="3235353914"/>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bg1">
              <a:lumMod val="10000"/>
              <a:lumOff val="9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sp>
        <p:nvSpPr>
          <p:cNvPr id="3" name="Rectangle 2"/>
          <p:cNvSpPr/>
          <p:nvPr/>
        </p:nvSpPr>
        <p:spPr>
          <a:xfrm>
            <a:off x="4455979" y="1358415"/>
            <a:ext cx="3551948" cy="553357"/>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Section 80CCC</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9263" y="370781"/>
            <a:ext cx="2743438" cy="1518036"/>
          </a:xfrm>
          <a:prstGeom prst="rect">
            <a:avLst/>
          </a:prstGeom>
        </p:spPr>
      </p:pic>
      <p:sp>
        <p:nvSpPr>
          <p:cNvPr id="5" name="Rectangle 4"/>
          <p:cNvSpPr/>
          <p:nvPr/>
        </p:nvSpPr>
        <p:spPr>
          <a:xfrm>
            <a:off x="1763760" y="2222077"/>
            <a:ext cx="9199419" cy="1676741"/>
          </a:xfrm>
          <a:prstGeom prst="rect">
            <a:avLst/>
          </a:prstGeom>
        </p:spPr>
        <p:txBody>
          <a:bodyPr wrap="square">
            <a:spAutoFit/>
          </a:bodyPr>
          <a:lstStyle/>
          <a:p>
            <a:pPr>
              <a:lnSpc>
                <a:spcPct val="107000"/>
              </a:lnSpc>
              <a:spcAft>
                <a:spcPts val="800"/>
              </a:spcAft>
            </a:pPr>
            <a:r>
              <a:rPr lang="en-IN" dirty="0">
                <a:solidFill>
                  <a:srgbClr val="333333"/>
                </a:solidFill>
                <a:latin typeface="Georgia" panose="02040502050405020303" pitchFamily="18" charset="0"/>
                <a:ea typeface="Times New Roman" panose="02020603050405020304" pitchFamily="18" charset="0"/>
                <a:cs typeface="Times New Roman" panose="02020603050405020304" pitchFamily="18" charset="0"/>
              </a:rPr>
              <a:t>Deduction under Sec.80CCC is available only for individuals. Contribution to an annuity plan of the LIC of India or any other insurer for receiving the pension. Do remember that the amount should be paid or deposited out of income chargeable to tax.</a:t>
            </a:r>
          </a:p>
          <a:p>
            <a:pPr>
              <a:lnSpc>
                <a:spcPct val="107000"/>
              </a:lnSpc>
              <a:spcAft>
                <a:spcPts val="800"/>
              </a:spcAft>
            </a:pPr>
            <a:r>
              <a:rPr lang="en-IN" b="1" dirty="0">
                <a:effectLst>
                  <a:outerShdw blurRad="38100" dist="38100" dir="2700000" algn="tl">
                    <a:srgbClr val="000000">
                      <a:alpha val="43137"/>
                    </a:srgbClr>
                  </a:outerShdw>
                </a:effectLst>
              </a:rPr>
              <a:t>Note:</a:t>
            </a:r>
            <a:r>
              <a:rPr lang="en-IN" dirty="0"/>
              <a:t>- </a:t>
            </a:r>
            <a:r>
              <a:rPr lang="en-IN" b="1" dirty="0">
                <a:solidFill>
                  <a:srgbClr val="C00000"/>
                </a:solidFill>
              </a:rPr>
              <a:t>this is also the part of the combined limit of Rs.1.5 lakh available under Sec.80C Sec.80CCC, and </a:t>
            </a:r>
            <a:r>
              <a:rPr lang="en-IN" b="1" u="sng" dirty="0">
                <a:solidFill>
                  <a:srgbClr val="C00000"/>
                </a:solidFill>
              </a:rPr>
              <a:t>Sec.80CCD(1)</a:t>
            </a:r>
            <a:endParaRPr lang="en-IN" sz="1600" b="1" dirty="0">
              <a:solidFill>
                <a:srgbClr val="C00000"/>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94013DF8-6EF8-4A98-8821-E6468C17C0C3}" type="slidenum">
              <a:rPr lang="en-IN" smtClean="0"/>
              <a:t>108</a:t>
            </a:fld>
            <a:endParaRPr lang="en-IN"/>
          </a:p>
        </p:txBody>
      </p:sp>
    </p:spTree>
    <p:extLst>
      <p:ext uri="{BB962C8B-B14F-4D97-AF65-F5344CB8AC3E}">
        <p14:creationId xmlns:p14="http://schemas.microsoft.com/office/powerpoint/2010/main" val="1565873786"/>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bg1">
              <a:lumMod val="10000"/>
              <a:lumOff val="9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sp>
        <p:nvSpPr>
          <p:cNvPr id="3" name="Rectangle 2"/>
          <p:cNvSpPr/>
          <p:nvPr/>
        </p:nvSpPr>
        <p:spPr>
          <a:xfrm>
            <a:off x="4109614" y="1389010"/>
            <a:ext cx="7167986"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NPS Tax Benefit-Section 80CCD1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9263" y="370781"/>
            <a:ext cx="2743438" cy="1518036"/>
          </a:xfrm>
          <a:prstGeom prst="rect">
            <a:avLst/>
          </a:prstGeom>
        </p:spPr>
      </p:pic>
      <p:sp>
        <p:nvSpPr>
          <p:cNvPr id="6" name="Rectangle 5"/>
          <p:cNvSpPr/>
          <p:nvPr/>
        </p:nvSpPr>
        <p:spPr>
          <a:xfrm>
            <a:off x="471055" y="2164062"/>
            <a:ext cx="11610109" cy="1051122"/>
          </a:xfrm>
          <a:prstGeom prst="rect">
            <a:avLst/>
          </a:prstGeom>
        </p:spPr>
        <p:txBody>
          <a:bodyPr wrap="square">
            <a:spAutoFit/>
          </a:bodyPr>
          <a:lstStyle/>
          <a:p>
            <a:pPr marL="342900" lvl="0"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An individual’s maximum 20% of annual income (Earlier it was 10% but after Budget 2017, it increased to 20%) or an employees (10% of </a:t>
            </a:r>
            <a:r>
              <a:rPr lang="en-IN" dirty="0" err="1">
                <a:solidFill>
                  <a:srgbClr val="333333"/>
                </a:solidFill>
                <a:latin typeface="Cambria" panose="02040503050406030204" pitchFamily="18" charset="0"/>
                <a:ea typeface="Times New Roman" panose="02020603050405020304" pitchFamily="18" charset="0"/>
                <a:cs typeface="Times New Roman" panose="02020603050405020304" pitchFamily="18" charset="0"/>
              </a:rPr>
              <a:t>Basic+DA</a:t>
            </a: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 contribution will be eligible for deduction.</a:t>
            </a:r>
          </a:p>
          <a:p>
            <a:pPr>
              <a:lnSpc>
                <a:spcPct val="107000"/>
              </a:lnSpc>
              <a:spcAft>
                <a:spcPts val="800"/>
              </a:spcAft>
              <a:buSzPts val="1000"/>
              <a:tabLst>
                <a:tab pos="457200" algn="l"/>
              </a:tabLst>
            </a:pPr>
            <a:r>
              <a:rPr lang="en-IN" sz="1600" b="1" dirty="0">
                <a:effectLst>
                  <a:outerShdw blurRad="38100" dist="38100" dir="2700000" algn="tl">
                    <a:srgbClr val="000000">
                      <a:alpha val="43137"/>
                    </a:srgbClr>
                  </a:outerShdw>
                </a:effectLst>
                <a:latin typeface="Cambria" panose="02040503050406030204" pitchFamily="18" charset="0"/>
              </a:rPr>
              <a:t>Note:</a:t>
            </a:r>
            <a:r>
              <a:rPr lang="en-IN" sz="1600" dirty="0">
                <a:latin typeface="Cambria" panose="02040503050406030204" pitchFamily="18" charset="0"/>
              </a:rPr>
              <a:t>- </a:t>
            </a:r>
            <a:r>
              <a:rPr lang="en-IN" sz="1600" b="1" dirty="0">
                <a:solidFill>
                  <a:srgbClr val="C00000"/>
                </a:solidFill>
                <a:latin typeface="Cambria" panose="02040503050406030204" pitchFamily="18" charset="0"/>
              </a:rPr>
              <a:t>this is also the part of the combined limit of Rs.1.5 lakh available under Sec.80C Sec.80CCC, and </a:t>
            </a:r>
            <a:r>
              <a:rPr lang="en-IN" sz="1600" b="1" u="sng" dirty="0">
                <a:solidFill>
                  <a:srgbClr val="C00000"/>
                </a:solidFill>
                <a:latin typeface="Cambria" panose="02040503050406030204" pitchFamily="18" charset="0"/>
              </a:rPr>
              <a:t>Sec.80CCD(1)</a:t>
            </a:r>
            <a:endParaRPr lang="en-IN" sz="1400" dirty="0">
              <a:solidFill>
                <a:srgbClr val="333333"/>
              </a:solidFill>
              <a:latin typeface="Calibri" panose="020F0502020204030204" pitchFamily="34" charset="0"/>
              <a:ea typeface="Calibri" panose="020F0502020204030204" pitchFamily="34" charset="0"/>
              <a:cs typeface="Times New Roman" panose="02020603050405020304" pitchFamily="18" charset="0"/>
            </a:endParaRPr>
          </a:p>
        </p:txBody>
      </p:sp>
      <p:sp>
        <p:nvSpPr>
          <p:cNvPr id="7" name="Rectangle 6"/>
          <p:cNvSpPr/>
          <p:nvPr/>
        </p:nvSpPr>
        <p:spPr>
          <a:xfrm>
            <a:off x="4109614" y="3212812"/>
            <a:ext cx="7167985"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NPS Tax Benefit-Section 80CCD2</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8" name="Rectangle 7"/>
          <p:cNvSpPr/>
          <p:nvPr/>
        </p:nvSpPr>
        <p:spPr>
          <a:xfrm>
            <a:off x="360218" y="3743214"/>
            <a:ext cx="11720946" cy="2679836"/>
          </a:xfrm>
          <a:prstGeom prst="rect">
            <a:avLst/>
          </a:prstGeom>
        </p:spPr>
        <p:txBody>
          <a:bodyPr wrap="square">
            <a:spAutoFit/>
          </a:bodyPr>
          <a:lstStyle/>
          <a:p>
            <a:pPr marL="342900" lvl="0" indent="-342900">
              <a:lnSpc>
                <a:spcPct val="107000"/>
              </a:lnSpc>
              <a:spcAft>
                <a:spcPts val="800"/>
              </a:spcAft>
              <a:buSzPts val="1000"/>
              <a:buFont typeface="Wingdings" panose="05000000000000000000" pitchFamily="2" charset="2"/>
              <a:buChar char="q"/>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There is a misconception among many that there is no upper limit for this section. However, the limit is least of 3 conditions. </a:t>
            </a:r>
          </a:p>
          <a:p>
            <a:pPr marL="800100" lvl="1"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1) Amount contributed by an employer, </a:t>
            </a:r>
          </a:p>
          <a:p>
            <a:pPr marL="800100" lvl="1"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2) 10% of </a:t>
            </a:r>
            <a:r>
              <a:rPr lang="en-IN" dirty="0" err="1">
                <a:solidFill>
                  <a:srgbClr val="333333"/>
                </a:solidFill>
                <a:latin typeface="Cambria" panose="02040503050406030204" pitchFamily="18" charset="0"/>
                <a:ea typeface="Times New Roman" panose="02020603050405020304" pitchFamily="18" charset="0"/>
                <a:cs typeface="Times New Roman" panose="02020603050405020304" pitchFamily="18" charset="0"/>
              </a:rPr>
              <a:t>Basic+DA</a:t>
            </a: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 and</a:t>
            </a:r>
          </a:p>
          <a:p>
            <a:pPr marL="800100" lvl="1"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 3) Gross Total Income.</a:t>
            </a:r>
            <a:endParaRPr lang="en-IN" sz="1600" dirty="0">
              <a:solidFill>
                <a:srgbClr val="333333"/>
              </a:solidFill>
              <a:latin typeface="Cambria" panose="02040503050406030204" pitchFamily="18" charset="0"/>
              <a:ea typeface="Calibri" panose="020F0502020204030204" pitchFamily="34" charset="0"/>
              <a:cs typeface="Times New Roman" panose="02020603050405020304" pitchFamily="18" charset="0"/>
            </a:endParaRPr>
          </a:p>
          <a:p>
            <a:pPr marL="285750" lvl="0" indent="-285750">
              <a:lnSpc>
                <a:spcPct val="107000"/>
              </a:lnSpc>
              <a:spcAft>
                <a:spcPts val="800"/>
              </a:spcAft>
              <a:buSzPts val="1000"/>
              <a:buFont typeface="Wingdings" panose="05000000000000000000" pitchFamily="2" charset="2"/>
              <a:buChar char="q"/>
              <a:tabLst>
                <a:tab pos="457200" algn="l"/>
              </a:tabLst>
            </a:pPr>
            <a:r>
              <a:rPr lang="en-IN" dirty="0">
                <a:solidFill>
                  <a:srgbClr val="7030A0"/>
                </a:solidFill>
                <a:effectLst>
                  <a:outerShdw blurRad="38100" dist="38100" dir="2700000" algn="tl">
                    <a:srgbClr val="000000">
                      <a:alpha val="43137"/>
                    </a:srgbClr>
                  </a:outerShdw>
                </a:effectLst>
                <a:latin typeface="Cambria" panose="02040503050406030204" pitchFamily="18" charset="0"/>
                <a:ea typeface="Times New Roman" panose="02020603050405020304" pitchFamily="18" charset="0"/>
                <a:cs typeface="Times New Roman" panose="02020603050405020304" pitchFamily="18" charset="0"/>
              </a:rPr>
              <a:t>This is additional deduction which will not form the part of Sec.80C limit.</a:t>
            </a:r>
            <a:endParaRPr lang="en-IN" sz="1600" dirty="0">
              <a:solidFill>
                <a:srgbClr val="7030A0"/>
              </a:solidFill>
              <a:effectLst>
                <a:outerShdw blurRad="38100" dist="38100" dir="2700000" algn="tl">
                  <a:srgbClr val="000000">
                    <a:alpha val="43137"/>
                  </a:srgbClr>
                </a:outerShdw>
              </a:effectLst>
              <a:latin typeface="Cambria" panose="020405030504060302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Wingdings" panose="05000000000000000000" pitchFamily="2" charset="2"/>
              <a:buChar char="q"/>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The deduction under this section will not be eligible for self-employed.</a:t>
            </a:r>
            <a:endParaRPr lang="en-IN" sz="1600" dirty="0">
              <a:solidFill>
                <a:srgbClr val="333333"/>
              </a:solidFill>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9" name="Slide Number Placeholder 8"/>
          <p:cNvSpPr>
            <a:spLocks noGrp="1"/>
          </p:cNvSpPr>
          <p:nvPr>
            <p:ph type="sldNum" sz="quarter" idx="12"/>
          </p:nvPr>
        </p:nvSpPr>
        <p:spPr/>
        <p:txBody>
          <a:bodyPr/>
          <a:lstStyle/>
          <a:p>
            <a:fld id="{94013DF8-6EF8-4A98-8821-E6468C17C0C3}" type="slidenum">
              <a:rPr lang="en-IN" smtClean="0"/>
              <a:t>109</a:t>
            </a:fld>
            <a:endParaRPr lang="en-IN"/>
          </a:p>
        </p:txBody>
      </p:sp>
    </p:spTree>
    <p:extLst>
      <p:ext uri="{BB962C8B-B14F-4D97-AF65-F5344CB8AC3E}">
        <p14:creationId xmlns:p14="http://schemas.microsoft.com/office/powerpoint/2010/main" val="369268845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bg1">
              <a:lumMod val="10000"/>
              <a:lumOff val="9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sp>
        <p:nvSpPr>
          <p:cNvPr id="3" name="Rectangle 2"/>
          <p:cNvSpPr/>
          <p:nvPr/>
        </p:nvSpPr>
        <p:spPr>
          <a:xfrm>
            <a:off x="3306050" y="1349984"/>
            <a:ext cx="7458931" cy="553357"/>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NPS Tax Benefit-Section 80CCD(1B)</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9263" y="370781"/>
            <a:ext cx="2743438" cy="1518036"/>
          </a:xfrm>
          <a:prstGeom prst="rect">
            <a:avLst/>
          </a:prstGeom>
        </p:spPr>
      </p:pic>
      <p:sp>
        <p:nvSpPr>
          <p:cNvPr id="6" name="Rectangle 5"/>
          <p:cNvSpPr/>
          <p:nvPr/>
        </p:nvSpPr>
        <p:spPr>
          <a:xfrm>
            <a:off x="595746" y="2647343"/>
            <a:ext cx="11166764" cy="2627707"/>
          </a:xfrm>
          <a:prstGeom prst="rect">
            <a:avLst/>
          </a:prstGeom>
        </p:spPr>
        <p:txBody>
          <a:bodyPr wrap="square">
            <a:spAutoFit/>
          </a:bodyPr>
          <a:lstStyle/>
          <a:p>
            <a:pPr marL="342900" indent="-342900">
              <a:lnSpc>
                <a:spcPct val="107000"/>
              </a:lnSpc>
              <a:spcAft>
                <a:spcPts val="800"/>
              </a:spcAft>
              <a:buSzPts val="1000"/>
              <a:buFont typeface="Wingdings" panose="05000000000000000000" pitchFamily="2" charset="2"/>
              <a:buChar char="q"/>
              <a:tabLst>
                <a:tab pos="457200" algn="l"/>
              </a:tabLst>
            </a:pPr>
            <a:r>
              <a:rPr lang="en-IN" sz="2400"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This is the additional tax benefit of up to Rs.50,000 eligible for income tax deduction and was introduced in the Budget 2015, </a:t>
            </a:r>
            <a:r>
              <a:rPr lang="en-IN" sz="2400" dirty="0">
                <a:latin typeface="Cambria" panose="02040503050406030204" pitchFamily="18" charset="0"/>
              </a:rPr>
              <a:t>One can avail the benefit of this Sect.80CCD (1B) from FY 2015-16.</a:t>
            </a:r>
          </a:p>
          <a:p>
            <a:pPr marL="342900" lvl="0" indent="-342900">
              <a:lnSpc>
                <a:spcPct val="107000"/>
              </a:lnSpc>
              <a:spcAft>
                <a:spcPts val="800"/>
              </a:spcAft>
              <a:buSzPts val="1000"/>
              <a:buFont typeface="Wingdings" panose="05000000000000000000" pitchFamily="2" charset="2"/>
              <a:buChar char="q"/>
              <a:tabLst>
                <a:tab pos="457200" algn="l"/>
              </a:tabLst>
            </a:pPr>
            <a:r>
              <a:rPr lang="en-IN" sz="2400"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Both self-employed and employees are eligible for availing this deduction.</a:t>
            </a:r>
          </a:p>
          <a:p>
            <a:pPr marL="342900" lvl="0" indent="-342900">
              <a:lnSpc>
                <a:spcPct val="107000"/>
              </a:lnSpc>
              <a:spcAft>
                <a:spcPts val="800"/>
              </a:spcAft>
              <a:buSzPts val="1000"/>
              <a:buFont typeface="Wingdings" panose="05000000000000000000" pitchFamily="2" charset="2"/>
              <a:buChar char="q"/>
              <a:tabLst>
                <a:tab pos="457200" algn="l"/>
              </a:tabLst>
            </a:pPr>
            <a:r>
              <a:rPr lang="en-IN" sz="2400"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This is over and above </a:t>
            </a:r>
            <a:r>
              <a:rPr lang="en-IN" sz="2400" dirty="0">
                <a:latin typeface="Cambria" panose="02040503050406030204" pitchFamily="18" charset="0"/>
              </a:rPr>
              <a:t>Sec.80CCD (1).</a:t>
            </a:r>
          </a:p>
          <a:p>
            <a:pPr marL="342900" lvl="0" indent="-342900">
              <a:lnSpc>
                <a:spcPct val="107000"/>
              </a:lnSpc>
              <a:spcAft>
                <a:spcPts val="800"/>
              </a:spcAft>
              <a:buSzPts val="1000"/>
              <a:buFont typeface="Symbol" panose="05050102010706020507" pitchFamily="18" charset="2"/>
              <a:buChar char=""/>
              <a:tabLst>
                <a:tab pos="457200" algn="l"/>
              </a:tabLst>
            </a:pPr>
            <a:endParaRPr lang="en-IN" sz="1600" dirty="0">
              <a:solidFill>
                <a:srgbClr val="333333"/>
              </a:solidFill>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94013DF8-6EF8-4A98-8821-E6468C17C0C3}" type="slidenum">
              <a:rPr lang="en-IN" smtClean="0"/>
              <a:t>110</a:t>
            </a:fld>
            <a:endParaRPr lang="en-IN"/>
          </a:p>
        </p:txBody>
      </p:sp>
    </p:spTree>
    <p:extLst>
      <p:ext uri="{BB962C8B-B14F-4D97-AF65-F5344CB8AC3E}">
        <p14:creationId xmlns:p14="http://schemas.microsoft.com/office/powerpoint/2010/main" val="192837944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bg1">
              <a:lumMod val="10000"/>
              <a:lumOff val="9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sp>
        <p:nvSpPr>
          <p:cNvPr id="3" name="Rectangle 2"/>
          <p:cNvSpPr/>
          <p:nvPr/>
        </p:nvSpPr>
        <p:spPr>
          <a:xfrm>
            <a:off x="3306051" y="1467624"/>
            <a:ext cx="6433694" cy="467885"/>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4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Calibri" panose="020F0502020204030204" pitchFamily="34" charset="0"/>
                <a:cs typeface="Times New Roman" panose="02020603050405020304" pitchFamily="18" charset="0"/>
              </a:rPr>
              <a:t>NPS Tax Benefit Summary</a:t>
            </a:r>
            <a:endParaRPr lang="en-IN"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4" name="Picture 3"/>
          <p:cNvPicPr>
            <a:picLocks noChangeAspect="1"/>
          </p:cNvPicPr>
          <p:nvPr/>
        </p:nvPicPr>
        <p:blipFill>
          <a:blip r:embed="rId2"/>
          <a:stretch>
            <a:fillRect/>
          </a:stretch>
        </p:blipFill>
        <p:spPr>
          <a:xfrm>
            <a:off x="249263" y="370781"/>
            <a:ext cx="2743438" cy="1518036"/>
          </a:xfrm>
          <a:prstGeom prst="rect">
            <a:avLst/>
          </a:prstGeom>
        </p:spPr>
      </p:pic>
      <p:pic>
        <p:nvPicPr>
          <p:cNvPr id="6" name="Picture 5" descr="NPS Tax Benefits 2018"/>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93274" y="1982202"/>
            <a:ext cx="9490362" cy="4307761"/>
          </a:xfrm>
          <a:prstGeom prst="rect">
            <a:avLst/>
          </a:prstGeom>
          <a:ln>
            <a:noFill/>
          </a:ln>
          <a:effectLst>
            <a:outerShdw blurRad="292100" dist="139700" dir="2700000" algn="tl" rotWithShape="0">
              <a:srgbClr val="333333">
                <a:alpha val="65000"/>
              </a:srgbClr>
            </a:outerShdw>
          </a:effectLst>
          <a:scene3d>
            <a:camera prst="orthographicFront"/>
            <a:lightRig rig="threePt" dir="t"/>
          </a:scene3d>
          <a:sp3d>
            <a:bevelT/>
          </a:sp3d>
          <a:extLst>
            <a:ext uri="{909E8E84-426E-40DD-AFC4-6F175D3DCCD1}">
              <a14:hiddenFill xmlns:a14="http://schemas.microsoft.com/office/drawing/2010/main">
                <a:solidFill>
                  <a:srgbClr val="FFFFFF"/>
                </a:solidFill>
              </a14:hiddenFill>
            </a:ext>
          </a:extLst>
        </p:spPr>
      </p:pic>
      <p:sp>
        <p:nvSpPr>
          <p:cNvPr id="7" name="Slide Number Placeholder 6"/>
          <p:cNvSpPr>
            <a:spLocks noGrp="1"/>
          </p:cNvSpPr>
          <p:nvPr>
            <p:ph type="sldNum" sz="quarter" idx="12"/>
          </p:nvPr>
        </p:nvSpPr>
        <p:spPr/>
        <p:txBody>
          <a:bodyPr/>
          <a:lstStyle/>
          <a:p>
            <a:fld id="{94013DF8-6EF8-4A98-8821-E6468C17C0C3}" type="slidenum">
              <a:rPr lang="en-IN" smtClean="0"/>
              <a:t>111</a:t>
            </a:fld>
            <a:endParaRPr lang="en-IN"/>
          </a:p>
        </p:txBody>
      </p:sp>
    </p:spTree>
    <p:extLst>
      <p:ext uri="{BB962C8B-B14F-4D97-AF65-F5344CB8AC3E}">
        <p14:creationId xmlns:p14="http://schemas.microsoft.com/office/powerpoint/2010/main" val="1107314212"/>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bg1">
              <a:lumMod val="10000"/>
              <a:lumOff val="9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pic>
        <p:nvPicPr>
          <p:cNvPr id="3" name="Picture 2"/>
          <p:cNvPicPr>
            <a:picLocks noChangeAspect="1"/>
          </p:cNvPicPr>
          <p:nvPr/>
        </p:nvPicPr>
        <p:blipFill>
          <a:blip r:embed="rId2"/>
          <a:stretch>
            <a:fillRect/>
          </a:stretch>
        </p:blipFill>
        <p:spPr>
          <a:xfrm>
            <a:off x="138426" y="606309"/>
            <a:ext cx="2743438" cy="1518036"/>
          </a:xfrm>
          <a:prstGeom prst="rect">
            <a:avLst/>
          </a:prstGeom>
        </p:spPr>
      </p:pic>
      <p:sp>
        <p:nvSpPr>
          <p:cNvPr id="4" name="Rectangle 3"/>
          <p:cNvSpPr/>
          <p:nvPr/>
        </p:nvSpPr>
        <p:spPr>
          <a:xfrm>
            <a:off x="4248161" y="1592813"/>
            <a:ext cx="35519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Section 80GG</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540326" y="2344888"/>
            <a:ext cx="11263746" cy="3693319"/>
          </a:xfrm>
          <a:prstGeom prst="rect">
            <a:avLst/>
          </a:prstGeom>
          <a:solidFill>
            <a:schemeClr val="accent3">
              <a:lumMod val="20000"/>
              <a:lumOff val="80000"/>
            </a:schemeClr>
          </a:solidFill>
          <a:scene3d>
            <a:camera prst="orthographicFront"/>
            <a:lightRig rig="threePt" dir="t"/>
          </a:scene3d>
          <a:sp3d>
            <a:bevelT/>
          </a:sp3d>
        </p:spPr>
        <p:txBody>
          <a:bodyPr wrap="square">
            <a:spAutoFit/>
          </a:bodyPr>
          <a:lstStyle/>
          <a:p>
            <a:pPr marL="285750" indent="-285750">
              <a:buFont typeface="Wingdings" panose="05000000000000000000" pitchFamily="2" charset="2"/>
              <a:buChar char="v"/>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This section only applies to those who have not availed HRA in their salary or not claiming the deduction on their rent in any of the other sections of income </a:t>
            </a:r>
          </a:p>
          <a:p>
            <a:r>
              <a:rPr lang="en-IN" dirty="0">
                <a:solidFill>
                  <a:srgbClr val="333333"/>
                </a:solidFill>
                <a:latin typeface="Cambria" panose="02040503050406030204" pitchFamily="18" charset="0"/>
                <a:cs typeface="Times New Roman" panose="02020603050405020304" pitchFamily="18" charset="0"/>
              </a:rPr>
              <a:t>Conditions:</a:t>
            </a:r>
          </a:p>
          <a:p>
            <a:pPr marL="742950" lvl="1" indent="-285750">
              <a:buFont typeface="Wingdings" panose="05000000000000000000" pitchFamily="2" charset="2"/>
              <a:buChar char="Ø"/>
            </a:pPr>
            <a:r>
              <a:rPr lang="en-IN" dirty="0">
                <a:latin typeface="Cambria" panose="02040503050406030204" pitchFamily="18" charset="0"/>
              </a:rPr>
              <a:t>Applicable to Individual or HUF.</a:t>
            </a:r>
          </a:p>
          <a:p>
            <a:pPr marL="742950" lvl="1" indent="-285750">
              <a:buFont typeface="Wingdings" panose="05000000000000000000" pitchFamily="2" charset="2"/>
              <a:buChar char="Ø"/>
            </a:pPr>
            <a:r>
              <a:rPr lang="en-IN" dirty="0">
                <a:latin typeface="Cambria" panose="02040503050406030204" pitchFamily="18" charset="0"/>
              </a:rPr>
              <a:t>Tax Payer may be either salaried or a self-employed. However, must not be getting HRA.</a:t>
            </a:r>
          </a:p>
          <a:p>
            <a:pPr marL="742950" lvl="1" indent="-285750">
              <a:buFont typeface="Wingdings" panose="05000000000000000000" pitchFamily="2" charset="2"/>
              <a:buChar char="Ø"/>
            </a:pPr>
            <a:r>
              <a:rPr lang="en-IN" dirty="0">
                <a:latin typeface="Cambria" panose="02040503050406030204" pitchFamily="18" charset="0"/>
              </a:rPr>
              <a:t>Tax Payer himself or spouse/Minor Child/HUF of which he is a member should not own any accommodation at a place where he is doing a job or business</a:t>
            </a:r>
          </a:p>
          <a:p>
            <a:pPr marL="742950" lvl="1" indent="-285750">
              <a:buFont typeface="Wingdings" panose="05000000000000000000" pitchFamily="2" charset="2"/>
              <a:buChar char="Ø"/>
            </a:pPr>
            <a:r>
              <a:rPr lang="en-IN" dirty="0">
                <a:latin typeface="Cambria" panose="02040503050406030204" pitchFamily="18" charset="0"/>
              </a:rPr>
              <a:t>If Tax Payer owns a house at a place other than the place noted above, then the concession in respect of self-occupied property is not claimed by him [Under Section 23 (2) (a) or 23 (4) (a)].</a:t>
            </a:r>
          </a:p>
          <a:p>
            <a:pPr marL="742950" lvl="1" indent="-285750">
              <a:buFont typeface="Wingdings" panose="05000000000000000000" pitchFamily="2" charset="2"/>
              <a:buChar char="Ø"/>
            </a:pPr>
            <a:r>
              <a:rPr lang="en-IN" dirty="0">
                <a:latin typeface="Cambria" panose="02040503050406030204" pitchFamily="18" charset="0"/>
              </a:rPr>
              <a:t>Tax Payer has to file a declaration in </a:t>
            </a:r>
            <a:r>
              <a:rPr lang="en-IN" u="sng" dirty="0">
                <a:latin typeface="Cambria" panose="02040503050406030204" pitchFamily="18" charset="0"/>
              </a:rPr>
              <a:t>Form No.10BA</a:t>
            </a:r>
            <a:r>
              <a:rPr lang="en-IN" dirty="0">
                <a:latin typeface="Cambria" panose="02040503050406030204" pitchFamily="18" charset="0"/>
              </a:rPr>
              <a:t> regarding the expenditure incurred by him towards the payment of rent.</a:t>
            </a:r>
          </a:p>
          <a:p>
            <a:pPr marL="285750" indent="-285750">
              <a:buFont typeface="Wingdings" panose="05000000000000000000" pitchFamily="2" charset="2"/>
              <a:buChar char="Ø"/>
            </a:pPr>
            <a:endParaRPr lang="en-IN" dirty="0"/>
          </a:p>
          <a:p>
            <a:endParaRPr lang="en-IN" dirty="0"/>
          </a:p>
        </p:txBody>
      </p:sp>
      <p:sp>
        <p:nvSpPr>
          <p:cNvPr id="7" name="Slide Number Placeholder 6"/>
          <p:cNvSpPr>
            <a:spLocks noGrp="1"/>
          </p:cNvSpPr>
          <p:nvPr>
            <p:ph type="sldNum" sz="quarter" idx="12"/>
          </p:nvPr>
        </p:nvSpPr>
        <p:spPr/>
        <p:txBody>
          <a:bodyPr/>
          <a:lstStyle/>
          <a:p>
            <a:fld id="{94013DF8-6EF8-4A98-8821-E6468C17C0C3}" type="slidenum">
              <a:rPr lang="en-IN" smtClean="0"/>
              <a:t>112</a:t>
            </a:fld>
            <a:endParaRPr lang="en-IN"/>
          </a:p>
        </p:txBody>
      </p:sp>
    </p:spTree>
    <p:extLst>
      <p:ext uri="{BB962C8B-B14F-4D97-AF65-F5344CB8AC3E}">
        <p14:creationId xmlns:p14="http://schemas.microsoft.com/office/powerpoint/2010/main" val="3552646078"/>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extBox 1"/>
          <p:cNvSpPr txBox="1"/>
          <p:nvPr/>
        </p:nvSpPr>
        <p:spPr>
          <a:xfrm>
            <a:off x="3111886" y="595743"/>
            <a:ext cx="6503168" cy="646331"/>
          </a:xfrm>
          <a:prstGeom prst="rect">
            <a:avLst/>
          </a:prstGeom>
          <a:solidFill>
            <a:schemeClr val="bg1">
              <a:lumMod val="10000"/>
              <a:lumOff val="9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pic>
        <p:nvPicPr>
          <p:cNvPr id="3" name="Picture 2"/>
          <p:cNvPicPr>
            <a:picLocks noChangeAspect="1"/>
          </p:cNvPicPr>
          <p:nvPr/>
        </p:nvPicPr>
        <p:blipFill>
          <a:blip r:embed="rId2"/>
          <a:stretch>
            <a:fillRect/>
          </a:stretch>
        </p:blipFill>
        <p:spPr>
          <a:xfrm>
            <a:off x="138426" y="606309"/>
            <a:ext cx="2743438" cy="1518036"/>
          </a:xfrm>
          <a:prstGeom prst="rect">
            <a:avLst/>
          </a:prstGeom>
        </p:spPr>
      </p:pic>
      <p:sp>
        <p:nvSpPr>
          <p:cNvPr id="4" name="Rectangle 3"/>
          <p:cNvSpPr/>
          <p:nvPr/>
        </p:nvSpPr>
        <p:spPr>
          <a:xfrm>
            <a:off x="4248161" y="1592813"/>
            <a:ext cx="35519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Section 80GG</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5" name="Rectangle 4"/>
          <p:cNvSpPr/>
          <p:nvPr/>
        </p:nvSpPr>
        <p:spPr>
          <a:xfrm>
            <a:off x="1756935" y="2440235"/>
            <a:ext cx="8534400" cy="2280881"/>
          </a:xfrm>
          <a:prstGeom prst="rect">
            <a:avLst/>
          </a:prstGeom>
        </p:spPr>
        <p:txBody>
          <a:bodyPr wrap="square">
            <a:spAutoFit/>
          </a:bodyPr>
          <a:lstStyle/>
          <a:p>
            <a:pPr algn="ctr">
              <a:lnSpc>
                <a:spcPct val="107000"/>
              </a:lnSpc>
              <a:spcAft>
                <a:spcPts val="800"/>
              </a:spcAft>
            </a:pPr>
            <a:r>
              <a:rPr lang="en-IN" b="1" u="sng" dirty="0">
                <a:solidFill>
                  <a:srgbClr val="7030A0"/>
                </a:solidFill>
                <a:effectLst>
                  <a:outerShdw blurRad="38100" dist="38100" dir="2700000" algn="tl">
                    <a:srgbClr val="000000">
                      <a:alpha val="43137"/>
                    </a:srgbClr>
                  </a:outerShdw>
                </a:effectLst>
                <a:latin typeface="Cambria" panose="02040503050406030204" pitchFamily="18" charset="0"/>
                <a:ea typeface="Times New Roman" panose="02020603050405020304" pitchFamily="18" charset="0"/>
                <a:cs typeface="Times New Roman" panose="02020603050405020304" pitchFamily="18" charset="0"/>
              </a:rPr>
              <a:t>How much amount of deduction one can avail under Sec. 80GG?</a:t>
            </a:r>
            <a:endParaRPr lang="en-IN" sz="1600" u="sng" dirty="0">
              <a:solidFill>
                <a:srgbClr val="7030A0"/>
              </a:solidFill>
              <a:effectLst>
                <a:outerShdw blurRad="38100" dist="38100" dir="2700000" algn="tl">
                  <a:srgbClr val="000000">
                    <a:alpha val="43137"/>
                  </a:srgbClr>
                </a:outerShdw>
              </a:effectLst>
              <a:latin typeface="Cambria" panose="02040503050406030204" pitchFamily="18" charset="0"/>
              <a:ea typeface="Calibri" panose="020F0502020204030204" pitchFamily="34" charset="0"/>
              <a:cs typeface="Times New Roman" panose="02020603050405020304" pitchFamily="18" charset="0"/>
            </a:endParaRPr>
          </a:p>
          <a:p>
            <a:pPr>
              <a:lnSpc>
                <a:spcPct val="107000"/>
              </a:lnSpc>
              <a:spcAft>
                <a:spcPts val="800"/>
              </a:spcAf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If the all five conditions are satisfied, the amount deductible under Section 80GG is </a:t>
            </a:r>
            <a:r>
              <a:rPr lang="en-IN" b="1"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LEAST OF THE FOLLOWING</a:t>
            </a: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a:t>
            </a:r>
            <a:endParaRPr lang="en-IN" sz="1600" dirty="0">
              <a:latin typeface="Cambria" panose="020405030504060302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Rs.5, 000 per month;</a:t>
            </a:r>
            <a:endParaRPr lang="en-IN" sz="1600" dirty="0">
              <a:solidFill>
                <a:srgbClr val="333333"/>
              </a:solidFill>
              <a:latin typeface="Cambria" panose="020405030504060302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25% of total income of taxpayer for the year; or</a:t>
            </a:r>
            <a:endParaRPr lang="en-IN" sz="1600" dirty="0">
              <a:solidFill>
                <a:srgbClr val="333333"/>
              </a:solidFill>
              <a:latin typeface="Cambria" panose="02040503050406030204" pitchFamily="18" charset="0"/>
              <a:ea typeface="Calibri" panose="020F0502020204030204" pitchFamily="34" charset="0"/>
              <a:cs typeface="Times New Roman" panose="02020603050405020304" pitchFamily="18" charset="0"/>
            </a:endParaRPr>
          </a:p>
          <a:p>
            <a:pPr marL="342900" lvl="0" indent="-342900">
              <a:lnSpc>
                <a:spcPct val="107000"/>
              </a:lnSpc>
              <a:spcAft>
                <a:spcPts val="800"/>
              </a:spcAft>
              <a:buSzPts val="1000"/>
              <a:buFont typeface="Symbol" panose="05050102010706020507" pitchFamily="18" charset="2"/>
              <a:buChar char=""/>
              <a:tabLst>
                <a:tab pos="457200" algn="l"/>
              </a:tabLst>
            </a:pPr>
            <a:r>
              <a:rPr lang="en-IN" dirty="0">
                <a:solidFill>
                  <a:srgbClr val="333333"/>
                </a:solidFill>
                <a:latin typeface="Cambria" panose="02040503050406030204" pitchFamily="18" charset="0"/>
                <a:ea typeface="Times New Roman" panose="02020603050405020304" pitchFamily="18" charset="0"/>
                <a:cs typeface="Times New Roman" panose="02020603050405020304" pitchFamily="18" charset="0"/>
              </a:rPr>
              <a:t>Rent Paid less 10% of total income (Rent Paid-10% of Total Income).</a:t>
            </a:r>
            <a:endParaRPr lang="en-IN" sz="1600" dirty="0">
              <a:solidFill>
                <a:srgbClr val="333333"/>
              </a:solidFill>
              <a:effectLst/>
              <a:latin typeface="Cambria" panose="02040503050406030204" pitchFamily="18" charset="0"/>
              <a:ea typeface="Calibri" panose="020F0502020204030204" pitchFamily="34" charset="0"/>
              <a:cs typeface="Times New Roman" panose="02020603050405020304" pitchFamily="18" charset="0"/>
            </a:endParaRPr>
          </a:p>
        </p:txBody>
      </p:sp>
      <p:sp>
        <p:nvSpPr>
          <p:cNvPr id="7" name="Slide Number Placeholder 6"/>
          <p:cNvSpPr>
            <a:spLocks noGrp="1"/>
          </p:cNvSpPr>
          <p:nvPr>
            <p:ph type="sldNum" sz="quarter" idx="12"/>
          </p:nvPr>
        </p:nvSpPr>
        <p:spPr/>
        <p:txBody>
          <a:bodyPr/>
          <a:lstStyle/>
          <a:p>
            <a:fld id="{94013DF8-6EF8-4A98-8821-E6468C17C0C3}" type="slidenum">
              <a:rPr lang="en-IN" smtClean="0"/>
              <a:t>113</a:t>
            </a:fld>
            <a:endParaRPr lang="en-IN"/>
          </a:p>
        </p:txBody>
      </p:sp>
    </p:spTree>
    <p:extLst>
      <p:ext uri="{BB962C8B-B14F-4D97-AF65-F5344CB8AC3E}">
        <p14:creationId xmlns:p14="http://schemas.microsoft.com/office/powerpoint/2010/main" val="2298377125"/>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Rectangle 1"/>
          <p:cNvSpPr/>
          <p:nvPr/>
        </p:nvSpPr>
        <p:spPr>
          <a:xfrm>
            <a:off x="4248161" y="1592813"/>
            <a:ext cx="35519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Section 80GG</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3" name="TextBox 2"/>
          <p:cNvSpPr txBox="1"/>
          <p:nvPr/>
        </p:nvSpPr>
        <p:spPr>
          <a:xfrm>
            <a:off x="3111886" y="595743"/>
            <a:ext cx="6503168" cy="646331"/>
          </a:xfrm>
          <a:prstGeom prst="rect">
            <a:avLst/>
          </a:prstGeom>
          <a:solidFill>
            <a:schemeClr val="bg1">
              <a:lumMod val="10000"/>
              <a:lumOff val="90000"/>
            </a:schemeClr>
          </a:solidFill>
          <a:ln>
            <a:no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1">
            <a:schemeClr val="dk1"/>
          </a:lnRef>
          <a:fillRef idx="3">
            <a:schemeClr val="dk1"/>
          </a:fillRef>
          <a:effectRef idx="2">
            <a:schemeClr val="dk1"/>
          </a:effectRef>
          <a:fontRef idx="minor">
            <a:schemeClr val="lt1"/>
          </a:fontRef>
        </p:style>
        <p:txBody>
          <a:bodyPr wrap="square" rtlCol="0">
            <a:spAutoFit/>
          </a:bodyPr>
          <a:lstStyle/>
          <a:p>
            <a:pPr algn="ctr"/>
            <a:r>
              <a:rPr lang="en-IN" sz="3600" b="1" dirty="0">
                <a:solidFill>
                  <a:schemeClr val="bg1"/>
                </a:solidFill>
              </a:rPr>
              <a:t>Deductions under Chapter VI-A</a:t>
            </a:r>
          </a:p>
        </p:txBody>
      </p:sp>
      <p:pic>
        <p:nvPicPr>
          <p:cNvPr id="4" name="Picture 3"/>
          <p:cNvPicPr>
            <a:picLocks noChangeAspect="1"/>
          </p:cNvPicPr>
          <p:nvPr/>
        </p:nvPicPr>
        <p:blipFill>
          <a:blip r:embed="rId2"/>
          <a:stretch>
            <a:fillRect/>
          </a:stretch>
        </p:blipFill>
        <p:spPr>
          <a:xfrm>
            <a:off x="138426" y="606309"/>
            <a:ext cx="2743438" cy="1518036"/>
          </a:xfrm>
          <a:prstGeom prst="rect">
            <a:avLst/>
          </a:prstGeom>
        </p:spPr>
      </p:pic>
      <p:sp>
        <p:nvSpPr>
          <p:cNvPr id="5" name="TextBox 4"/>
          <p:cNvSpPr txBox="1"/>
          <p:nvPr/>
        </p:nvSpPr>
        <p:spPr>
          <a:xfrm>
            <a:off x="4087091" y="2123215"/>
            <a:ext cx="2327564" cy="461665"/>
          </a:xfrm>
          <a:prstGeom prst="rect">
            <a:avLst/>
          </a:prstGeom>
          <a:noFill/>
        </p:spPr>
        <p:txBody>
          <a:bodyPr wrap="square" rtlCol="0">
            <a:spAutoFit/>
          </a:bodyPr>
          <a:lstStyle/>
          <a:p>
            <a:pPr algn="ctr"/>
            <a:r>
              <a:rPr lang="en-IN" sz="2400" u="sng" dirty="0">
                <a:solidFill>
                  <a:srgbClr val="FF0000"/>
                </a:solidFill>
                <a:effectLst>
                  <a:outerShdw blurRad="38100" dist="38100" dir="2700000" algn="tl">
                    <a:srgbClr val="000000">
                      <a:alpha val="43137"/>
                    </a:srgbClr>
                  </a:outerShdw>
                </a:effectLst>
              </a:rPr>
              <a:t>Example:</a:t>
            </a:r>
          </a:p>
        </p:txBody>
      </p:sp>
      <p:sp>
        <p:nvSpPr>
          <p:cNvPr id="6" name="Rectangle 5"/>
          <p:cNvSpPr/>
          <p:nvPr/>
        </p:nvSpPr>
        <p:spPr>
          <a:xfrm>
            <a:off x="780190" y="2584880"/>
            <a:ext cx="9749266" cy="1200329"/>
          </a:xfrm>
          <a:prstGeom prst="rect">
            <a:avLst/>
          </a:prstGeom>
          <a:solidFill>
            <a:schemeClr val="accent3">
              <a:lumMod val="40000"/>
              <a:lumOff val="60000"/>
            </a:schemeClr>
          </a:solidFill>
          <a:scene3d>
            <a:camera prst="orthographicFront"/>
            <a:lightRig rig="threePt" dir="t"/>
          </a:scene3d>
          <a:sp3d>
            <a:bevelT/>
          </a:sp3d>
        </p:spPr>
        <p:txBody>
          <a:bodyPr wrap="square">
            <a:spAutoFit/>
          </a:bodyPr>
          <a:lstStyle/>
          <a:p>
            <a:pPr algn="ctr"/>
            <a:r>
              <a:rPr lang="en-US" b="1" dirty="0">
                <a:solidFill>
                  <a:srgbClr val="0000FF"/>
                </a:solidFill>
                <a:latin typeface="Cambria" panose="02040503050406030204" pitchFamily="18" charset="0"/>
              </a:rPr>
              <a:t>What is total income for the purpose of Sec. 80GG?</a:t>
            </a:r>
            <a:endParaRPr lang="en-US" dirty="0">
              <a:solidFill>
                <a:srgbClr val="333333"/>
              </a:solidFill>
              <a:latin typeface="Cambria" panose="02040503050406030204" pitchFamily="18" charset="0"/>
            </a:endParaRPr>
          </a:p>
          <a:p>
            <a:r>
              <a:rPr lang="en-US" dirty="0">
                <a:solidFill>
                  <a:srgbClr val="333333"/>
                </a:solidFill>
                <a:latin typeface="Cambria" panose="02040503050406030204" pitchFamily="18" charset="0"/>
              </a:rPr>
              <a:t>We can calculate it as below.</a:t>
            </a:r>
          </a:p>
          <a:p>
            <a:r>
              <a:rPr lang="en-US" dirty="0">
                <a:solidFill>
                  <a:srgbClr val="333333"/>
                </a:solidFill>
                <a:latin typeface="Cambria" panose="02040503050406030204" pitchFamily="18" charset="0"/>
              </a:rPr>
              <a:t>Total Income=Gross Total Income-LTCG-STCG-Income referred under the Sec.115A-Amount deductible under Sec.80C to 80U (except Section 80GG)</a:t>
            </a:r>
            <a:endParaRPr lang="en-US" b="0" i="0" u="none" strike="noStrike" dirty="0">
              <a:solidFill>
                <a:srgbClr val="333333"/>
              </a:solidFill>
              <a:effectLst/>
              <a:latin typeface="Cambria" panose="02040503050406030204" pitchFamily="18" charset="0"/>
            </a:endParaRPr>
          </a:p>
        </p:txBody>
      </p:sp>
      <p:sp>
        <p:nvSpPr>
          <p:cNvPr id="7" name="Rectangle 6"/>
          <p:cNvSpPr/>
          <p:nvPr/>
        </p:nvSpPr>
        <p:spPr>
          <a:xfrm>
            <a:off x="780190" y="3857923"/>
            <a:ext cx="10164902" cy="2031325"/>
          </a:xfrm>
          <a:prstGeom prst="rect">
            <a:avLst/>
          </a:prstGeom>
          <a:solidFill>
            <a:schemeClr val="accent3">
              <a:lumMod val="40000"/>
              <a:lumOff val="60000"/>
            </a:schemeClr>
          </a:solidFill>
          <a:scene3d>
            <a:camera prst="orthographicFront"/>
            <a:lightRig rig="threePt" dir="t"/>
          </a:scene3d>
          <a:sp3d>
            <a:bevelT/>
          </a:sp3d>
        </p:spPr>
        <p:txBody>
          <a:bodyPr wrap="square">
            <a:spAutoFit/>
          </a:bodyPr>
          <a:lstStyle/>
          <a:p>
            <a:pPr marL="285750" indent="-285750">
              <a:buFont typeface="Wingdings" panose="05000000000000000000" pitchFamily="2" charset="2"/>
              <a:buChar char="v"/>
            </a:pPr>
            <a:r>
              <a:rPr lang="en-US" b="1" dirty="0">
                <a:solidFill>
                  <a:srgbClr val="333333"/>
                </a:solidFill>
                <a:latin typeface="Cambria" panose="02040503050406030204" pitchFamily="18" charset="0"/>
              </a:rPr>
              <a:t>Mr. X’s total income (calculated as per above formula) is Rs.4, 00,000. He pays an annual rent of Rs.1, 50,000. Then least of the below will be applicable for deduction under Sec. 80GG.</a:t>
            </a:r>
          </a:p>
          <a:p>
            <a:pPr>
              <a:buFont typeface="Arial" panose="020B0604020202020204" pitchFamily="34" charset="0"/>
              <a:buChar char="•"/>
            </a:pPr>
            <a:r>
              <a:rPr lang="en-US" dirty="0">
                <a:solidFill>
                  <a:srgbClr val="333333"/>
                </a:solidFill>
                <a:latin typeface="Cambria" panose="02040503050406030204" pitchFamily="18" charset="0"/>
              </a:rPr>
              <a:t>Rs.60, 000 per year.</a:t>
            </a:r>
          </a:p>
          <a:p>
            <a:pPr>
              <a:buFont typeface="Arial" panose="020B0604020202020204" pitchFamily="34" charset="0"/>
              <a:buChar char="•"/>
            </a:pPr>
            <a:r>
              <a:rPr lang="en-US" dirty="0">
                <a:solidFill>
                  <a:srgbClr val="333333"/>
                </a:solidFill>
                <a:latin typeface="Cambria" panose="02040503050406030204" pitchFamily="18" charset="0"/>
              </a:rPr>
              <a:t>Rent Paid-10% of Total Income=Rs.1,50,000-Rs.40,000=Rs.1,10,000’-.</a:t>
            </a:r>
          </a:p>
          <a:p>
            <a:pPr>
              <a:buFont typeface="Arial" panose="020B0604020202020204" pitchFamily="34" charset="0"/>
              <a:buChar char="•"/>
            </a:pPr>
            <a:r>
              <a:rPr lang="en-US" dirty="0">
                <a:solidFill>
                  <a:srgbClr val="333333"/>
                </a:solidFill>
                <a:latin typeface="Cambria" panose="02040503050406030204" pitchFamily="18" charset="0"/>
              </a:rPr>
              <a:t>25% of Total Income i.e. Rs.1, 00,000/-.</a:t>
            </a:r>
          </a:p>
          <a:p>
            <a:r>
              <a:rPr lang="en-US" dirty="0">
                <a:solidFill>
                  <a:srgbClr val="333333"/>
                </a:solidFill>
                <a:latin typeface="Cambria" panose="02040503050406030204" pitchFamily="18" charset="0"/>
              </a:rPr>
              <a:t>So least of the above will be </a:t>
            </a:r>
            <a:r>
              <a:rPr lang="en-US" b="1" dirty="0">
                <a:solidFill>
                  <a:srgbClr val="333333"/>
                </a:solidFill>
                <a:latin typeface="Cambria" panose="02040503050406030204" pitchFamily="18" charset="0"/>
              </a:rPr>
              <a:t>Rs.60, 000/-</a:t>
            </a:r>
            <a:r>
              <a:rPr lang="en-US" dirty="0">
                <a:solidFill>
                  <a:srgbClr val="333333"/>
                </a:solidFill>
                <a:latin typeface="Cambria" panose="02040503050406030204" pitchFamily="18" charset="0"/>
              </a:rPr>
              <a:t>, which one can claim under Section 80GG for that particular FY.</a:t>
            </a:r>
            <a:endParaRPr lang="en-US" b="0" i="0" u="none" strike="noStrike" dirty="0">
              <a:solidFill>
                <a:srgbClr val="333333"/>
              </a:solidFill>
              <a:effectLst/>
              <a:latin typeface="Cambria" panose="02040503050406030204" pitchFamily="18" charset="0"/>
            </a:endParaRPr>
          </a:p>
        </p:txBody>
      </p:sp>
      <p:sp>
        <p:nvSpPr>
          <p:cNvPr id="9" name="Slide Number Placeholder 8"/>
          <p:cNvSpPr>
            <a:spLocks noGrp="1"/>
          </p:cNvSpPr>
          <p:nvPr>
            <p:ph type="sldNum" sz="quarter" idx="12"/>
          </p:nvPr>
        </p:nvSpPr>
        <p:spPr/>
        <p:txBody>
          <a:bodyPr/>
          <a:lstStyle/>
          <a:p>
            <a:fld id="{94013DF8-6EF8-4A98-8821-E6468C17C0C3}" type="slidenum">
              <a:rPr lang="en-IN" smtClean="0"/>
              <a:t>114</a:t>
            </a:fld>
            <a:endParaRPr lang="en-IN"/>
          </a:p>
        </p:txBody>
      </p:sp>
    </p:spTree>
    <p:extLst>
      <p:ext uri="{BB962C8B-B14F-4D97-AF65-F5344CB8AC3E}">
        <p14:creationId xmlns:p14="http://schemas.microsoft.com/office/powerpoint/2010/main" val="669761883"/>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115</a:t>
            </a:fld>
            <a:endParaRPr lang="en-IN"/>
          </a:p>
        </p:txBody>
      </p:sp>
      <p:sp>
        <p:nvSpPr>
          <p:cNvPr id="3" name="Rectangle 2"/>
          <p:cNvSpPr/>
          <p:nvPr/>
        </p:nvSpPr>
        <p:spPr>
          <a:xfrm>
            <a:off x="188968" y="1201001"/>
            <a:ext cx="6160074" cy="2535566"/>
          </a:xfrm>
          <a:prstGeom prst="rect">
            <a:avLst/>
          </a:prstGeom>
        </p:spPr>
        <p:txBody>
          <a:bodyPr wrap="square">
            <a:spAutoFit/>
          </a:bodyPr>
          <a:lstStyle/>
          <a:p>
            <a:pPr marL="285750" indent="-285750" algn="just">
              <a:lnSpc>
                <a:spcPct val="150000"/>
              </a:lnSpc>
              <a:buFont typeface="Arial" panose="020B0604020202020204" pitchFamily="34" charset="0"/>
              <a:buChar char="•"/>
            </a:pPr>
            <a:r>
              <a:rPr lang="en-US" dirty="0"/>
              <a:t>ITR is a form used to file information about income and taxes to the Income Tax Department.</a:t>
            </a:r>
          </a:p>
          <a:p>
            <a:pPr marL="285750" indent="-285750" algn="just">
              <a:lnSpc>
                <a:spcPct val="150000"/>
              </a:lnSpc>
              <a:buFont typeface="Arial" panose="020B0604020202020204" pitchFamily="34" charset="0"/>
              <a:buChar char="•"/>
            </a:pPr>
            <a:r>
              <a:rPr lang="en-US" dirty="0"/>
              <a:t>Different forms are used depending on the nature of income and the type of taxpayer.</a:t>
            </a:r>
          </a:p>
          <a:p>
            <a:pPr marL="285750" indent="-285750" algn="just">
              <a:lnSpc>
                <a:spcPct val="150000"/>
              </a:lnSpc>
              <a:buFont typeface="Arial" panose="020B0604020202020204" pitchFamily="34" charset="0"/>
              <a:buChar char="•"/>
            </a:pPr>
            <a:r>
              <a:rPr lang="en-US" dirty="0"/>
              <a:t>The forms range from ITR 1 to ITR 7, each serving different purposes.</a:t>
            </a:r>
          </a:p>
        </p:txBody>
      </p:sp>
      <p:pic>
        <p:nvPicPr>
          <p:cNvPr id="5" name="Picture 2" descr="Types of ITR Forms: A Comprehensive Guide | PK Chopra"/>
          <p:cNvPicPr>
            <a:picLocks noChangeAspect="1" noChangeArrowheads="1"/>
          </p:cNvPicPr>
          <p:nvPr/>
        </p:nvPicPr>
        <p:blipFill rotWithShape="1">
          <a:blip r:embed="rId2">
            <a:extLst>
              <a:ext uri="{28A0092B-C50C-407E-A947-70E740481C1C}">
                <a14:useLocalDpi xmlns:a14="http://schemas.microsoft.com/office/drawing/2010/main" val="0"/>
              </a:ext>
            </a:extLst>
          </a:blip>
          <a:srcRect l="53639"/>
          <a:stretch/>
        </p:blipFill>
        <p:spPr bwMode="auto">
          <a:xfrm>
            <a:off x="6686549" y="679572"/>
            <a:ext cx="5299075" cy="5981701"/>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p:cNvSpPr/>
          <p:nvPr/>
        </p:nvSpPr>
        <p:spPr>
          <a:xfrm>
            <a:off x="537922" y="330884"/>
            <a:ext cx="4125488" cy="822789"/>
          </a:xfrm>
          <a:prstGeom prst="rect">
            <a:avLst/>
          </a:prstGeom>
        </p:spPr>
        <p:txBody>
          <a:bodyPr wrap="none">
            <a:spAutoFit/>
          </a:bodyPr>
          <a:lstStyle/>
          <a:p>
            <a:pPr>
              <a:lnSpc>
                <a:spcPct val="200000"/>
              </a:lnSpc>
            </a:pPr>
            <a:r>
              <a:rPr lang="en-US" sz="2800" b="1" dirty="0"/>
              <a:t>Income Tax Return (ITR)</a:t>
            </a:r>
          </a:p>
        </p:txBody>
      </p:sp>
      <p:pic>
        <p:nvPicPr>
          <p:cNvPr id="6" name="Picture 5"/>
          <p:cNvPicPr>
            <a:picLocks noChangeAspect="1"/>
          </p:cNvPicPr>
          <p:nvPr/>
        </p:nvPicPr>
        <p:blipFill>
          <a:blip r:embed="rId3"/>
          <a:stretch>
            <a:fillRect/>
          </a:stretch>
        </p:blipFill>
        <p:spPr>
          <a:xfrm>
            <a:off x="426520" y="3870341"/>
            <a:ext cx="5684970" cy="2014704"/>
          </a:xfrm>
          <a:prstGeom prst="rect">
            <a:avLst/>
          </a:prstGeom>
        </p:spPr>
      </p:pic>
      <p:sp>
        <p:nvSpPr>
          <p:cNvPr id="10" name="Rectangle 9"/>
          <p:cNvSpPr/>
          <p:nvPr/>
        </p:nvSpPr>
        <p:spPr>
          <a:xfrm>
            <a:off x="293298" y="6018819"/>
            <a:ext cx="8600536" cy="369332"/>
          </a:xfrm>
          <a:prstGeom prst="rect">
            <a:avLst/>
          </a:prstGeom>
        </p:spPr>
        <p:txBody>
          <a:bodyPr wrap="square">
            <a:spAutoFit/>
          </a:bodyPr>
          <a:lstStyle/>
          <a:p>
            <a:r>
              <a:rPr lang="en-IN" dirty="0"/>
              <a:t>Irrespective of age, basic exemption limit under the new tax regime is Rs.3 Lakh.</a:t>
            </a:r>
          </a:p>
        </p:txBody>
      </p:sp>
    </p:spTree>
    <p:extLst>
      <p:ext uri="{BB962C8B-B14F-4D97-AF65-F5344CB8AC3E}">
        <p14:creationId xmlns:p14="http://schemas.microsoft.com/office/powerpoint/2010/main" val="89779202"/>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116</a:t>
            </a:fld>
            <a:endParaRPr lang="en-IN"/>
          </a:p>
        </p:txBody>
      </p:sp>
      <p:pic>
        <p:nvPicPr>
          <p:cNvPr id="2052" name="Picture 4" descr="Which ITR form should I file? AY 23-24 - Income Tax - Tax Q&amp;A by Quicko -  Get answers to all your tax related queri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2750" y="612897"/>
            <a:ext cx="5067300" cy="5562600"/>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descr="10 key points first time taxpayers should know before filing IT returns |  Personal Finance - Business Standard"/>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76949" y="1846574"/>
            <a:ext cx="5870575" cy="330486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1557434"/>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95060" y="295729"/>
            <a:ext cx="5990348" cy="530402"/>
          </a:xfrm>
          <a:prstGeom prst="rect">
            <a:avLst/>
          </a:prstGeom>
        </p:spPr>
        <p:style>
          <a:lnRef idx="1">
            <a:schemeClr val="dk1"/>
          </a:lnRef>
          <a:fillRef idx="3">
            <a:schemeClr val="dk1"/>
          </a:fillRef>
          <a:effectRef idx="2">
            <a:schemeClr val="dk1"/>
          </a:effectRef>
          <a:fontRef idx="minor">
            <a:schemeClr val="lt1"/>
          </a:fontRef>
        </p:style>
        <p:txBody>
          <a:bodyPr wrap="square">
            <a:spAutoFit/>
          </a:bodyPr>
          <a:lstStyle/>
          <a:p>
            <a:pPr algn="ctr">
              <a:lnSpc>
                <a:spcPct val="107000"/>
              </a:lnSpc>
              <a:spcAft>
                <a:spcPts val="800"/>
              </a:spcAft>
            </a:pPr>
            <a:r>
              <a:rPr lang="en-IN" sz="2800" b="1" spc="50" dirty="0">
                <a:ln w="9525" cmpd="sng">
                  <a:solidFill>
                    <a:schemeClr val="accent1"/>
                  </a:solidFill>
                  <a:prstDash val="solid"/>
                </a:ln>
                <a:solidFill>
                  <a:srgbClr val="70AD47">
                    <a:tint val="1000"/>
                  </a:srgbClr>
                </a:solidFill>
                <a:effectLst>
                  <a:glow rad="38100">
                    <a:schemeClr val="accent1">
                      <a:alpha val="40000"/>
                    </a:schemeClr>
                  </a:glow>
                </a:effectLst>
                <a:latin typeface="Georgia" panose="02040502050405020303" pitchFamily="18" charset="0"/>
                <a:ea typeface="Times New Roman" panose="02020603050405020304" pitchFamily="18" charset="0"/>
                <a:cs typeface="Times New Roman" panose="02020603050405020304" pitchFamily="18" charset="0"/>
              </a:rPr>
              <a:t>Income Tax E-Filing ( ITR-1)</a:t>
            </a:r>
            <a:endParaRPr lang="en-IN" sz="2000" b="1" spc="50" dirty="0">
              <a:ln w="9525" cmpd="sng">
                <a:solidFill>
                  <a:schemeClr val="accent1"/>
                </a:solidFill>
                <a:prstDash val="solid"/>
              </a:ln>
              <a:solidFill>
                <a:srgbClr val="70AD47">
                  <a:tint val="1000"/>
                </a:srgbClr>
              </a:solidFill>
              <a:effectLst>
                <a:glow rad="38100">
                  <a:schemeClr val="accent1">
                    <a:alpha val="40000"/>
                  </a:schemeClr>
                </a:glow>
              </a:effectLst>
              <a:latin typeface="Calibri" panose="020F0502020204030204" pitchFamily="34" charset="0"/>
              <a:ea typeface="Calibri" panose="020F0502020204030204" pitchFamily="34" charset="0"/>
              <a:cs typeface="Times New Roman" panose="02020603050405020304" pitchFamily="18" charset="0"/>
            </a:endParaRPr>
          </a:p>
        </p:txBody>
      </p:sp>
      <p:sp>
        <p:nvSpPr>
          <p:cNvPr id="4" name="Slide Number Placeholder 3"/>
          <p:cNvSpPr>
            <a:spLocks noGrp="1"/>
          </p:cNvSpPr>
          <p:nvPr>
            <p:ph type="sldNum" sz="quarter" idx="12"/>
          </p:nvPr>
        </p:nvSpPr>
        <p:spPr/>
        <p:txBody>
          <a:bodyPr/>
          <a:lstStyle/>
          <a:p>
            <a:fld id="{94013DF8-6EF8-4A98-8821-E6468C17C0C3}" type="slidenum">
              <a:rPr lang="en-IN" smtClean="0"/>
              <a:t>117</a:t>
            </a:fld>
            <a:endParaRPr lang="en-IN"/>
          </a:p>
        </p:txBody>
      </p:sp>
      <p:pic>
        <p:nvPicPr>
          <p:cNvPr id="3" name="Picture 2"/>
          <p:cNvPicPr>
            <a:picLocks noChangeAspect="1"/>
          </p:cNvPicPr>
          <p:nvPr/>
        </p:nvPicPr>
        <p:blipFill>
          <a:blip r:embed="rId2"/>
          <a:stretch>
            <a:fillRect/>
          </a:stretch>
        </p:blipFill>
        <p:spPr>
          <a:xfrm>
            <a:off x="857249" y="1638300"/>
            <a:ext cx="10465969" cy="4769791"/>
          </a:xfrm>
          <a:prstGeom prst="rect">
            <a:avLst/>
          </a:prstGeom>
        </p:spPr>
      </p:pic>
      <p:sp>
        <p:nvSpPr>
          <p:cNvPr id="6" name="Rectangle 5"/>
          <p:cNvSpPr/>
          <p:nvPr/>
        </p:nvSpPr>
        <p:spPr>
          <a:xfrm>
            <a:off x="4250377" y="1081846"/>
            <a:ext cx="3176895" cy="369332"/>
          </a:xfrm>
          <a:prstGeom prst="rect">
            <a:avLst/>
          </a:prstGeom>
        </p:spPr>
        <p:txBody>
          <a:bodyPr wrap="none">
            <a:spAutoFit/>
          </a:bodyPr>
          <a:lstStyle/>
          <a:p>
            <a:r>
              <a:rPr lang="en-IN" dirty="0"/>
              <a:t>https://eportal.incometax.gov.in/</a:t>
            </a:r>
          </a:p>
        </p:txBody>
      </p:sp>
    </p:spTree>
    <p:extLst>
      <p:ext uri="{BB962C8B-B14F-4D97-AF65-F5344CB8AC3E}">
        <p14:creationId xmlns:p14="http://schemas.microsoft.com/office/powerpoint/2010/main" val="16780561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94013DF8-6EF8-4A98-8821-E6468C17C0C3}" type="slidenum">
              <a:rPr lang="en-IN" smtClean="0"/>
              <a:t>118</a:t>
            </a:fld>
            <a:endParaRPr lang="en-IN"/>
          </a:p>
        </p:txBody>
      </p:sp>
      <p:pic>
        <p:nvPicPr>
          <p:cNvPr id="7" name="Picture 6"/>
          <p:cNvPicPr>
            <a:picLocks noChangeAspect="1"/>
          </p:cNvPicPr>
          <p:nvPr/>
        </p:nvPicPr>
        <p:blipFill>
          <a:blip r:embed="rId2"/>
          <a:stretch>
            <a:fillRect/>
          </a:stretch>
        </p:blipFill>
        <p:spPr>
          <a:xfrm>
            <a:off x="2495550" y="0"/>
            <a:ext cx="7449088" cy="6897303"/>
          </a:xfrm>
          <a:prstGeom prst="rect">
            <a:avLst/>
          </a:prstGeom>
        </p:spPr>
      </p:pic>
    </p:spTree>
    <p:extLst>
      <p:ext uri="{BB962C8B-B14F-4D97-AF65-F5344CB8AC3E}">
        <p14:creationId xmlns:p14="http://schemas.microsoft.com/office/powerpoint/2010/main" val="3247092261"/>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119</a:t>
            </a:fld>
            <a:endParaRPr lang="en-IN"/>
          </a:p>
        </p:txBody>
      </p:sp>
      <p:pic>
        <p:nvPicPr>
          <p:cNvPr id="5" name="Picture 4"/>
          <p:cNvPicPr>
            <a:picLocks noChangeAspect="1"/>
          </p:cNvPicPr>
          <p:nvPr/>
        </p:nvPicPr>
        <p:blipFill>
          <a:blip r:embed="rId2"/>
          <a:stretch>
            <a:fillRect/>
          </a:stretch>
        </p:blipFill>
        <p:spPr>
          <a:xfrm>
            <a:off x="627901" y="419554"/>
            <a:ext cx="10921897" cy="6057854"/>
          </a:xfrm>
          <a:prstGeom prst="rect">
            <a:avLst/>
          </a:prstGeom>
        </p:spPr>
      </p:pic>
    </p:spTree>
    <p:extLst>
      <p:ext uri="{BB962C8B-B14F-4D97-AF65-F5344CB8AC3E}">
        <p14:creationId xmlns:p14="http://schemas.microsoft.com/office/powerpoint/2010/main" val="3806993472"/>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120</a:t>
            </a:fld>
            <a:endParaRPr lang="en-IN"/>
          </a:p>
        </p:txBody>
      </p:sp>
      <p:pic>
        <p:nvPicPr>
          <p:cNvPr id="3" name="Picture 2"/>
          <p:cNvPicPr>
            <a:picLocks noChangeAspect="1"/>
          </p:cNvPicPr>
          <p:nvPr/>
        </p:nvPicPr>
        <p:blipFill>
          <a:blip r:embed="rId2"/>
          <a:stretch>
            <a:fillRect/>
          </a:stretch>
        </p:blipFill>
        <p:spPr>
          <a:xfrm>
            <a:off x="823176" y="247206"/>
            <a:ext cx="10545647" cy="6363588"/>
          </a:xfrm>
          <a:prstGeom prst="rect">
            <a:avLst/>
          </a:prstGeom>
        </p:spPr>
      </p:pic>
    </p:spTree>
    <p:extLst>
      <p:ext uri="{BB962C8B-B14F-4D97-AF65-F5344CB8AC3E}">
        <p14:creationId xmlns:p14="http://schemas.microsoft.com/office/powerpoint/2010/main" val="380699412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121</a:t>
            </a:fld>
            <a:endParaRPr lang="en-IN"/>
          </a:p>
        </p:txBody>
      </p:sp>
      <p:pic>
        <p:nvPicPr>
          <p:cNvPr id="3" name="Picture 2"/>
          <p:cNvPicPr>
            <a:picLocks noChangeAspect="1"/>
          </p:cNvPicPr>
          <p:nvPr/>
        </p:nvPicPr>
        <p:blipFill>
          <a:blip r:embed="rId2"/>
          <a:stretch>
            <a:fillRect/>
          </a:stretch>
        </p:blipFill>
        <p:spPr>
          <a:xfrm>
            <a:off x="866042" y="295729"/>
            <a:ext cx="10498015" cy="6420746"/>
          </a:xfrm>
          <a:prstGeom prst="rect">
            <a:avLst/>
          </a:prstGeom>
        </p:spPr>
      </p:pic>
    </p:spTree>
    <p:extLst>
      <p:ext uri="{BB962C8B-B14F-4D97-AF65-F5344CB8AC3E}">
        <p14:creationId xmlns:p14="http://schemas.microsoft.com/office/powerpoint/2010/main" val="3902663807"/>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122</a:t>
            </a:fld>
            <a:endParaRPr lang="en-IN"/>
          </a:p>
        </p:txBody>
      </p:sp>
      <p:pic>
        <p:nvPicPr>
          <p:cNvPr id="3" name="Picture 2"/>
          <p:cNvPicPr>
            <a:picLocks noChangeAspect="1"/>
          </p:cNvPicPr>
          <p:nvPr/>
        </p:nvPicPr>
        <p:blipFill>
          <a:blip r:embed="rId2"/>
          <a:stretch>
            <a:fillRect/>
          </a:stretch>
        </p:blipFill>
        <p:spPr>
          <a:xfrm>
            <a:off x="842229" y="490127"/>
            <a:ext cx="10507541" cy="5877745"/>
          </a:xfrm>
          <a:prstGeom prst="rect">
            <a:avLst/>
          </a:prstGeom>
        </p:spPr>
      </p:pic>
    </p:spTree>
    <p:extLst>
      <p:ext uri="{BB962C8B-B14F-4D97-AF65-F5344CB8AC3E}">
        <p14:creationId xmlns:p14="http://schemas.microsoft.com/office/powerpoint/2010/main" val="3520960340"/>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123</a:t>
            </a:fld>
            <a:endParaRPr lang="en-IN"/>
          </a:p>
        </p:txBody>
      </p:sp>
      <p:pic>
        <p:nvPicPr>
          <p:cNvPr id="3" name="Picture 2"/>
          <p:cNvPicPr>
            <a:picLocks noChangeAspect="1"/>
          </p:cNvPicPr>
          <p:nvPr/>
        </p:nvPicPr>
        <p:blipFill>
          <a:blip r:embed="rId2"/>
          <a:stretch>
            <a:fillRect/>
          </a:stretch>
        </p:blipFill>
        <p:spPr>
          <a:xfrm>
            <a:off x="827940" y="513943"/>
            <a:ext cx="10536120" cy="5830114"/>
          </a:xfrm>
          <a:prstGeom prst="rect">
            <a:avLst/>
          </a:prstGeom>
        </p:spPr>
      </p:pic>
    </p:spTree>
    <p:extLst>
      <p:ext uri="{BB962C8B-B14F-4D97-AF65-F5344CB8AC3E}">
        <p14:creationId xmlns:p14="http://schemas.microsoft.com/office/powerpoint/2010/main" val="793353192"/>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124</a:t>
            </a:fld>
            <a:endParaRPr lang="en-IN"/>
          </a:p>
        </p:txBody>
      </p:sp>
      <p:pic>
        <p:nvPicPr>
          <p:cNvPr id="3" name="Picture 2"/>
          <p:cNvPicPr>
            <a:picLocks noChangeAspect="1"/>
          </p:cNvPicPr>
          <p:nvPr/>
        </p:nvPicPr>
        <p:blipFill>
          <a:blip r:embed="rId2"/>
          <a:stretch>
            <a:fillRect/>
          </a:stretch>
        </p:blipFill>
        <p:spPr>
          <a:xfrm>
            <a:off x="794597" y="295729"/>
            <a:ext cx="10602805" cy="6468378"/>
          </a:xfrm>
          <a:prstGeom prst="rect">
            <a:avLst/>
          </a:prstGeom>
        </p:spPr>
      </p:pic>
    </p:spTree>
    <p:extLst>
      <p:ext uri="{BB962C8B-B14F-4D97-AF65-F5344CB8AC3E}">
        <p14:creationId xmlns:p14="http://schemas.microsoft.com/office/powerpoint/2010/main" val="118966283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125</a:t>
            </a:fld>
            <a:endParaRPr lang="en-IN"/>
          </a:p>
        </p:txBody>
      </p:sp>
      <p:pic>
        <p:nvPicPr>
          <p:cNvPr id="3" name="Picture 2"/>
          <p:cNvPicPr>
            <a:picLocks noChangeAspect="1"/>
          </p:cNvPicPr>
          <p:nvPr/>
        </p:nvPicPr>
        <p:blipFill>
          <a:blip r:embed="rId2"/>
          <a:stretch>
            <a:fillRect/>
          </a:stretch>
        </p:blipFill>
        <p:spPr>
          <a:xfrm>
            <a:off x="804124" y="342469"/>
            <a:ext cx="10583752" cy="6173061"/>
          </a:xfrm>
          <a:prstGeom prst="rect">
            <a:avLst/>
          </a:prstGeom>
        </p:spPr>
      </p:pic>
    </p:spTree>
    <p:extLst>
      <p:ext uri="{BB962C8B-B14F-4D97-AF65-F5344CB8AC3E}">
        <p14:creationId xmlns:p14="http://schemas.microsoft.com/office/powerpoint/2010/main" val="3377121462"/>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126</a:t>
            </a:fld>
            <a:endParaRPr lang="en-IN"/>
          </a:p>
        </p:txBody>
      </p:sp>
      <p:pic>
        <p:nvPicPr>
          <p:cNvPr id="3" name="Picture 2"/>
          <p:cNvPicPr>
            <a:picLocks noChangeAspect="1"/>
          </p:cNvPicPr>
          <p:nvPr/>
        </p:nvPicPr>
        <p:blipFill>
          <a:blip r:embed="rId2"/>
          <a:stretch>
            <a:fillRect/>
          </a:stretch>
        </p:blipFill>
        <p:spPr>
          <a:xfrm>
            <a:off x="751729" y="290074"/>
            <a:ext cx="10688542" cy="6277851"/>
          </a:xfrm>
          <a:prstGeom prst="rect">
            <a:avLst/>
          </a:prstGeom>
        </p:spPr>
      </p:pic>
    </p:spTree>
    <p:extLst>
      <p:ext uri="{BB962C8B-B14F-4D97-AF65-F5344CB8AC3E}">
        <p14:creationId xmlns:p14="http://schemas.microsoft.com/office/powerpoint/2010/main" val="363057954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127</a:t>
            </a:fld>
            <a:endParaRPr lang="en-IN"/>
          </a:p>
        </p:txBody>
      </p:sp>
      <p:pic>
        <p:nvPicPr>
          <p:cNvPr id="3" name="Picture 2"/>
          <p:cNvPicPr>
            <a:picLocks noChangeAspect="1"/>
          </p:cNvPicPr>
          <p:nvPr/>
        </p:nvPicPr>
        <p:blipFill>
          <a:blip r:embed="rId2"/>
          <a:stretch>
            <a:fillRect/>
          </a:stretch>
        </p:blipFill>
        <p:spPr>
          <a:xfrm>
            <a:off x="1083980" y="56078"/>
            <a:ext cx="10106759" cy="6801922"/>
          </a:xfrm>
          <a:prstGeom prst="rect">
            <a:avLst/>
          </a:prstGeom>
        </p:spPr>
      </p:pic>
    </p:spTree>
    <p:extLst>
      <p:ext uri="{BB962C8B-B14F-4D97-AF65-F5344CB8AC3E}">
        <p14:creationId xmlns:p14="http://schemas.microsoft.com/office/powerpoint/2010/main" val="172837455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128</a:t>
            </a:fld>
            <a:endParaRPr lang="en-IN"/>
          </a:p>
        </p:txBody>
      </p:sp>
      <p:pic>
        <p:nvPicPr>
          <p:cNvPr id="3" name="Picture 2"/>
          <p:cNvPicPr>
            <a:picLocks noChangeAspect="1"/>
          </p:cNvPicPr>
          <p:nvPr/>
        </p:nvPicPr>
        <p:blipFill>
          <a:blip r:embed="rId2"/>
          <a:stretch>
            <a:fillRect/>
          </a:stretch>
        </p:blipFill>
        <p:spPr>
          <a:xfrm>
            <a:off x="870808" y="4284"/>
            <a:ext cx="10450383" cy="6849431"/>
          </a:xfrm>
          <a:prstGeom prst="rect">
            <a:avLst/>
          </a:prstGeom>
        </p:spPr>
      </p:pic>
    </p:spTree>
    <p:extLst>
      <p:ext uri="{BB962C8B-B14F-4D97-AF65-F5344CB8AC3E}">
        <p14:creationId xmlns:p14="http://schemas.microsoft.com/office/powerpoint/2010/main" val="2482124051"/>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129</a:t>
            </a:fld>
            <a:endParaRPr lang="en-IN"/>
          </a:p>
        </p:txBody>
      </p:sp>
      <p:pic>
        <p:nvPicPr>
          <p:cNvPr id="3" name="Picture 2"/>
          <p:cNvPicPr>
            <a:picLocks noChangeAspect="1"/>
          </p:cNvPicPr>
          <p:nvPr/>
        </p:nvPicPr>
        <p:blipFill>
          <a:blip r:embed="rId2"/>
          <a:stretch>
            <a:fillRect/>
          </a:stretch>
        </p:blipFill>
        <p:spPr>
          <a:xfrm>
            <a:off x="804132" y="679572"/>
            <a:ext cx="10469436" cy="5487166"/>
          </a:xfrm>
          <a:prstGeom prst="rect">
            <a:avLst/>
          </a:prstGeom>
        </p:spPr>
      </p:pic>
    </p:spTree>
    <p:extLst>
      <p:ext uri="{BB962C8B-B14F-4D97-AF65-F5344CB8AC3E}">
        <p14:creationId xmlns:p14="http://schemas.microsoft.com/office/powerpoint/2010/main" val="50326126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130</a:t>
            </a:fld>
            <a:endParaRPr lang="en-IN"/>
          </a:p>
        </p:txBody>
      </p:sp>
      <p:pic>
        <p:nvPicPr>
          <p:cNvPr id="3" name="Picture 2"/>
          <p:cNvPicPr>
            <a:picLocks noChangeAspect="1"/>
          </p:cNvPicPr>
          <p:nvPr/>
        </p:nvPicPr>
        <p:blipFill>
          <a:blip r:embed="rId2"/>
          <a:stretch>
            <a:fillRect/>
          </a:stretch>
        </p:blipFill>
        <p:spPr>
          <a:xfrm>
            <a:off x="1562099" y="110610"/>
            <a:ext cx="9411431" cy="6647893"/>
          </a:xfrm>
          <a:prstGeom prst="rect">
            <a:avLst/>
          </a:prstGeom>
        </p:spPr>
      </p:pic>
    </p:spTree>
    <p:extLst>
      <p:ext uri="{BB962C8B-B14F-4D97-AF65-F5344CB8AC3E}">
        <p14:creationId xmlns:p14="http://schemas.microsoft.com/office/powerpoint/2010/main" val="3774683369"/>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131</a:t>
            </a:fld>
            <a:endParaRPr lang="en-IN"/>
          </a:p>
        </p:txBody>
      </p:sp>
      <p:pic>
        <p:nvPicPr>
          <p:cNvPr id="3" name="Picture 2"/>
          <p:cNvPicPr>
            <a:picLocks noChangeAspect="1"/>
          </p:cNvPicPr>
          <p:nvPr/>
        </p:nvPicPr>
        <p:blipFill>
          <a:blip r:embed="rId2"/>
          <a:stretch>
            <a:fillRect/>
          </a:stretch>
        </p:blipFill>
        <p:spPr>
          <a:xfrm>
            <a:off x="842229" y="590154"/>
            <a:ext cx="10507541" cy="5677692"/>
          </a:xfrm>
          <a:prstGeom prst="rect">
            <a:avLst/>
          </a:prstGeom>
        </p:spPr>
      </p:pic>
    </p:spTree>
    <p:extLst>
      <p:ext uri="{BB962C8B-B14F-4D97-AF65-F5344CB8AC3E}">
        <p14:creationId xmlns:p14="http://schemas.microsoft.com/office/powerpoint/2010/main" val="18044628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132</a:t>
            </a:fld>
            <a:endParaRPr lang="en-IN"/>
          </a:p>
        </p:txBody>
      </p:sp>
      <p:pic>
        <p:nvPicPr>
          <p:cNvPr id="3" name="Picture 2"/>
          <p:cNvPicPr>
            <a:picLocks noChangeAspect="1"/>
          </p:cNvPicPr>
          <p:nvPr/>
        </p:nvPicPr>
        <p:blipFill>
          <a:blip r:embed="rId2"/>
          <a:stretch>
            <a:fillRect/>
          </a:stretch>
        </p:blipFill>
        <p:spPr>
          <a:xfrm>
            <a:off x="1421710" y="226918"/>
            <a:ext cx="8930830" cy="6440581"/>
          </a:xfrm>
          <a:prstGeom prst="rect">
            <a:avLst/>
          </a:prstGeom>
        </p:spPr>
      </p:pic>
    </p:spTree>
    <p:extLst>
      <p:ext uri="{BB962C8B-B14F-4D97-AF65-F5344CB8AC3E}">
        <p14:creationId xmlns:p14="http://schemas.microsoft.com/office/powerpoint/2010/main" val="3472044679"/>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133</a:t>
            </a:fld>
            <a:endParaRPr lang="en-IN"/>
          </a:p>
        </p:txBody>
      </p:sp>
      <p:pic>
        <p:nvPicPr>
          <p:cNvPr id="3" name="Picture 2"/>
          <p:cNvPicPr>
            <a:picLocks noChangeAspect="1"/>
          </p:cNvPicPr>
          <p:nvPr/>
        </p:nvPicPr>
        <p:blipFill>
          <a:blip r:embed="rId2"/>
          <a:stretch>
            <a:fillRect/>
          </a:stretch>
        </p:blipFill>
        <p:spPr>
          <a:xfrm>
            <a:off x="842229" y="628259"/>
            <a:ext cx="10507541" cy="5601482"/>
          </a:xfrm>
          <a:prstGeom prst="rect">
            <a:avLst/>
          </a:prstGeom>
        </p:spPr>
      </p:pic>
    </p:spTree>
    <p:extLst>
      <p:ext uri="{BB962C8B-B14F-4D97-AF65-F5344CB8AC3E}">
        <p14:creationId xmlns:p14="http://schemas.microsoft.com/office/powerpoint/2010/main" val="806587874"/>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134</a:t>
            </a:fld>
            <a:endParaRPr lang="en-IN"/>
          </a:p>
        </p:txBody>
      </p:sp>
      <p:pic>
        <p:nvPicPr>
          <p:cNvPr id="3" name="Picture 2"/>
          <p:cNvPicPr>
            <a:picLocks noChangeAspect="1"/>
          </p:cNvPicPr>
          <p:nvPr/>
        </p:nvPicPr>
        <p:blipFill>
          <a:blip r:embed="rId2"/>
          <a:stretch>
            <a:fillRect/>
          </a:stretch>
        </p:blipFill>
        <p:spPr>
          <a:xfrm>
            <a:off x="832703" y="556811"/>
            <a:ext cx="10526594" cy="5744377"/>
          </a:xfrm>
          <a:prstGeom prst="rect">
            <a:avLst/>
          </a:prstGeom>
        </p:spPr>
      </p:pic>
    </p:spTree>
    <p:extLst>
      <p:ext uri="{BB962C8B-B14F-4D97-AF65-F5344CB8AC3E}">
        <p14:creationId xmlns:p14="http://schemas.microsoft.com/office/powerpoint/2010/main" val="2716213455"/>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135</a:t>
            </a:fld>
            <a:endParaRPr lang="en-IN"/>
          </a:p>
        </p:txBody>
      </p:sp>
      <p:pic>
        <p:nvPicPr>
          <p:cNvPr id="3" name="Picture 2"/>
          <p:cNvPicPr>
            <a:picLocks noChangeAspect="1"/>
          </p:cNvPicPr>
          <p:nvPr/>
        </p:nvPicPr>
        <p:blipFill>
          <a:blip r:embed="rId2"/>
          <a:stretch>
            <a:fillRect/>
          </a:stretch>
        </p:blipFill>
        <p:spPr>
          <a:xfrm>
            <a:off x="1266825" y="194758"/>
            <a:ext cx="8830406" cy="6454225"/>
          </a:xfrm>
          <a:prstGeom prst="rect">
            <a:avLst/>
          </a:prstGeom>
        </p:spPr>
      </p:pic>
    </p:spTree>
    <p:extLst>
      <p:ext uri="{BB962C8B-B14F-4D97-AF65-F5344CB8AC3E}">
        <p14:creationId xmlns:p14="http://schemas.microsoft.com/office/powerpoint/2010/main" val="294959633"/>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136</a:t>
            </a:fld>
            <a:endParaRPr lang="en-IN"/>
          </a:p>
        </p:txBody>
      </p:sp>
      <p:pic>
        <p:nvPicPr>
          <p:cNvPr id="3" name="Picture 2"/>
          <p:cNvPicPr>
            <a:picLocks noChangeAspect="1"/>
          </p:cNvPicPr>
          <p:nvPr/>
        </p:nvPicPr>
        <p:blipFill>
          <a:blip r:embed="rId2"/>
          <a:stretch>
            <a:fillRect/>
          </a:stretch>
        </p:blipFill>
        <p:spPr>
          <a:xfrm>
            <a:off x="2181225" y="126466"/>
            <a:ext cx="7599814" cy="6508219"/>
          </a:xfrm>
          <a:prstGeom prst="rect">
            <a:avLst/>
          </a:prstGeom>
        </p:spPr>
      </p:pic>
    </p:spTree>
    <p:extLst>
      <p:ext uri="{BB962C8B-B14F-4D97-AF65-F5344CB8AC3E}">
        <p14:creationId xmlns:p14="http://schemas.microsoft.com/office/powerpoint/2010/main" val="1501205464"/>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137</a:t>
            </a:fld>
            <a:endParaRPr lang="en-IN"/>
          </a:p>
        </p:txBody>
      </p:sp>
      <p:pic>
        <p:nvPicPr>
          <p:cNvPr id="3" name="Picture 2"/>
          <p:cNvPicPr>
            <a:picLocks noChangeAspect="1"/>
          </p:cNvPicPr>
          <p:nvPr/>
        </p:nvPicPr>
        <p:blipFill>
          <a:blip r:embed="rId2"/>
          <a:stretch>
            <a:fillRect/>
          </a:stretch>
        </p:blipFill>
        <p:spPr>
          <a:xfrm>
            <a:off x="1828800" y="109719"/>
            <a:ext cx="7531474" cy="6605406"/>
          </a:xfrm>
          <a:prstGeom prst="rect">
            <a:avLst/>
          </a:prstGeom>
        </p:spPr>
      </p:pic>
    </p:spTree>
    <p:extLst>
      <p:ext uri="{BB962C8B-B14F-4D97-AF65-F5344CB8AC3E}">
        <p14:creationId xmlns:p14="http://schemas.microsoft.com/office/powerpoint/2010/main" val="1438512732"/>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138</a:t>
            </a:fld>
            <a:endParaRPr lang="en-IN"/>
          </a:p>
        </p:txBody>
      </p:sp>
      <p:pic>
        <p:nvPicPr>
          <p:cNvPr id="3" name="Picture 2"/>
          <p:cNvPicPr>
            <a:picLocks noChangeAspect="1"/>
          </p:cNvPicPr>
          <p:nvPr/>
        </p:nvPicPr>
        <p:blipFill>
          <a:blip r:embed="rId2"/>
          <a:stretch>
            <a:fillRect/>
          </a:stretch>
        </p:blipFill>
        <p:spPr>
          <a:xfrm>
            <a:off x="2771775" y="201306"/>
            <a:ext cx="6134600" cy="6656694"/>
          </a:xfrm>
          <a:prstGeom prst="rect">
            <a:avLst/>
          </a:prstGeom>
        </p:spPr>
      </p:pic>
    </p:spTree>
    <p:extLst>
      <p:ext uri="{BB962C8B-B14F-4D97-AF65-F5344CB8AC3E}">
        <p14:creationId xmlns:p14="http://schemas.microsoft.com/office/powerpoint/2010/main" val="2050136299"/>
      </p:ext>
    </p:extLst>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139</a:t>
            </a:fld>
            <a:endParaRPr lang="en-IN"/>
          </a:p>
        </p:txBody>
      </p:sp>
      <p:pic>
        <p:nvPicPr>
          <p:cNvPr id="3" name="Picture 2"/>
          <p:cNvPicPr>
            <a:picLocks noChangeAspect="1"/>
          </p:cNvPicPr>
          <p:nvPr/>
        </p:nvPicPr>
        <p:blipFill>
          <a:blip r:embed="rId2"/>
          <a:stretch>
            <a:fillRect/>
          </a:stretch>
        </p:blipFill>
        <p:spPr>
          <a:xfrm>
            <a:off x="3286125" y="42592"/>
            <a:ext cx="5839266" cy="6815408"/>
          </a:xfrm>
          <a:prstGeom prst="rect">
            <a:avLst/>
          </a:prstGeom>
        </p:spPr>
      </p:pic>
    </p:spTree>
    <p:extLst>
      <p:ext uri="{BB962C8B-B14F-4D97-AF65-F5344CB8AC3E}">
        <p14:creationId xmlns:p14="http://schemas.microsoft.com/office/powerpoint/2010/main" val="1174534636"/>
      </p:ext>
    </p:extLst>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140</a:t>
            </a:fld>
            <a:endParaRPr lang="en-IN"/>
          </a:p>
        </p:txBody>
      </p:sp>
      <p:pic>
        <p:nvPicPr>
          <p:cNvPr id="3" name="Picture 2"/>
          <p:cNvPicPr>
            <a:picLocks noChangeAspect="1"/>
          </p:cNvPicPr>
          <p:nvPr/>
        </p:nvPicPr>
        <p:blipFill>
          <a:blip r:embed="rId2"/>
          <a:stretch>
            <a:fillRect/>
          </a:stretch>
        </p:blipFill>
        <p:spPr>
          <a:xfrm>
            <a:off x="2271178" y="156706"/>
            <a:ext cx="7649643" cy="6544588"/>
          </a:xfrm>
          <a:prstGeom prst="rect">
            <a:avLst/>
          </a:prstGeom>
        </p:spPr>
      </p:pic>
    </p:spTree>
    <p:extLst>
      <p:ext uri="{BB962C8B-B14F-4D97-AF65-F5344CB8AC3E}">
        <p14:creationId xmlns:p14="http://schemas.microsoft.com/office/powerpoint/2010/main" val="4017897665"/>
      </p:ext>
    </p:extLst>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141</a:t>
            </a:fld>
            <a:endParaRPr lang="en-IN"/>
          </a:p>
        </p:txBody>
      </p:sp>
      <p:pic>
        <p:nvPicPr>
          <p:cNvPr id="3" name="Picture 2"/>
          <p:cNvPicPr>
            <a:picLocks noChangeAspect="1"/>
          </p:cNvPicPr>
          <p:nvPr/>
        </p:nvPicPr>
        <p:blipFill>
          <a:blip r:embed="rId2"/>
          <a:stretch>
            <a:fillRect/>
          </a:stretch>
        </p:blipFill>
        <p:spPr>
          <a:xfrm>
            <a:off x="3076575" y="104775"/>
            <a:ext cx="5691930" cy="6743700"/>
          </a:xfrm>
          <a:prstGeom prst="rect">
            <a:avLst/>
          </a:prstGeom>
        </p:spPr>
      </p:pic>
    </p:spTree>
    <p:extLst>
      <p:ext uri="{BB962C8B-B14F-4D97-AF65-F5344CB8AC3E}">
        <p14:creationId xmlns:p14="http://schemas.microsoft.com/office/powerpoint/2010/main" val="3866905867"/>
      </p:ext>
    </p:extLst>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142</a:t>
            </a:fld>
            <a:endParaRPr lang="en-IN"/>
          </a:p>
        </p:txBody>
      </p:sp>
      <p:pic>
        <p:nvPicPr>
          <p:cNvPr id="3" name="Picture 2"/>
          <p:cNvPicPr>
            <a:picLocks noChangeAspect="1"/>
          </p:cNvPicPr>
          <p:nvPr/>
        </p:nvPicPr>
        <p:blipFill>
          <a:blip r:embed="rId2"/>
          <a:stretch>
            <a:fillRect/>
          </a:stretch>
        </p:blipFill>
        <p:spPr>
          <a:xfrm>
            <a:off x="2847975" y="295729"/>
            <a:ext cx="6205110" cy="6400346"/>
          </a:xfrm>
          <a:prstGeom prst="rect">
            <a:avLst/>
          </a:prstGeom>
        </p:spPr>
      </p:pic>
    </p:spTree>
    <p:extLst>
      <p:ext uri="{BB962C8B-B14F-4D97-AF65-F5344CB8AC3E}">
        <p14:creationId xmlns:p14="http://schemas.microsoft.com/office/powerpoint/2010/main" val="3959095237"/>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143</a:t>
            </a:fld>
            <a:endParaRPr lang="en-IN"/>
          </a:p>
        </p:txBody>
      </p:sp>
      <p:pic>
        <p:nvPicPr>
          <p:cNvPr id="3" name="Picture 2"/>
          <p:cNvPicPr>
            <a:picLocks noChangeAspect="1"/>
          </p:cNvPicPr>
          <p:nvPr/>
        </p:nvPicPr>
        <p:blipFill>
          <a:blip r:embed="rId2"/>
          <a:stretch>
            <a:fillRect/>
          </a:stretch>
        </p:blipFill>
        <p:spPr>
          <a:xfrm>
            <a:off x="3295649" y="209166"/>
            <a:ext cx="5330829" cy="6420234"/>
          </a:xfrm>
          <a:prstGeom prst="rect">
            <a:avLst/>
          </a:prstGeom>
        </p:spPr>
      </p:pic>
    </p:spTree>
    <p:extLst>
      <p:ext uri="{BB962C8B-B14F-4D97-AF65-F5344CB8AC3E}">
        <p14:creationId xmlns:p14="http://schemas.microsoft.com/office/powerpoint/2010/main" val="3431401354"/>
      </p:ext>
    </p:extLst>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144</a:t>
            </a:fld>
            <a:endParaRPr lang="en-IN"/>
          </a:p>
        </p:txBody>
      </p:sp>
      <p:pic>
        <p:nvPicPr>
          <p:cNvPr id="3" name="Picture 2"/>
          <p:cNvPicPr>
            <a:picLocks noChangeAspect="1"/>
          </p:cNvPicPr>
          <p:nvPr/>
        </p:nvPicPr>
        <p:blipFill>
          <a:blip r:embed="rId2"/>
          <a:stretch>
            <a:fillRect/>
          </a:stretch>
        </p:blipFill>
        <p:spPr>
          <a:xfrm>
            <a:off x="418307" y="699706"/>
            <a:ext cx="11355385" cy="5458587"/>
          </a:xfrm>
          <a:prstGeom prst="rect">
            <a:avLst/>
          </a:prstGeom>
        </p:spPr>
      </p:pic>
    </p:spTree>
    <p:extLst>
      <p:ext uri="{BB962C8B-B14F-4D97-AF65-F5344CB8AC3E}">
        <p14:creationId xmlns:p14="http://schemas.microsoft.com/office/powerpoint/2010/main" val="2535245977"/>
      </p:ext>
    </p:extLst>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145</a:t>
            </a:fld>
            <a:endParaRPr lang="en-IN"/>
          </a:p>
        </p:txBody>
      </p:sp>
      <p:pic>
        <p:nvPicPr>
          <p:cNvPr id="3" name="Picture 2"/>
          <p:cNvPicPr>
            <a:picLocks noChangeAspect="1"/>
          </p:cNvPicPr>
          <p:nvPr/>
        </p:nvPicPr>
        <p:blipFill>
          <a:blip r:embed="rId2"/>
          <a:stretch>
            <a:fillRect/>
          </a:stretch>
        </p:blipFill>
        <p:spPr>
          <a:xfrm>
            <a:off x="618360" y="861654"/>
            <a:ext cx="10955279" cy="5134692"/>
          </a:xfrm>
          <a:prstGeom prst="rect">
            <a:avLst/>
          </a:prstGeom>
        </p:spPr>
      </p:pic>
    </p:spTree>
    <p:extLst>
      <p:ext uri="{BB962C8B-B14F-4D97-AF65-F5344CB8AC3E}">
        <p14:creationId xmlns:p14="http://schemas.microsoft.com/office/powerpoint/2010/main" val="1859577921"/>
      </p:ext>
    </p:extLst>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94013DF8-6EF8-4A98-8821-E6468C17C0C3}" type="slidenum">
              <a:rPr lang="en-IN" smtClean="0"/>
              <a:t>146</a:t>
            </a:fld>
            <a:endParaRPr lang="en-IN"/>
          </a:p>
        </p:txBody>
      </p:sp>
      <p:pic>
        <p:nvPicPr>
          <p:cNvPr id="3" name="Picture 2"/>
          <p:cNvPicPr>
            <a:picLocks noChangeAspect="1"/>
          </p:cNvPicPr>
          <p:nvPr/>
        </p:nvPicPr>
        <p:blipFill>
          <a:blip r:embed="rId2"/>
          <a:stretch>
            <a:fillRect/>
          </a:stretch>
        </p:blipFill>
        <p:spPr>
          <a:xfrm>
            <a:off x="832703" y="1590418"/>
            <a:ext cx="10526594" cy="3677163"/>
          </a:xfrm>
          <a:prstGeom prst="rect">
            <a:avLst/>
          </a:prstGeom>
        </p:spPr>
      </p:pic>
    </p:spTree>
    <p:extLst>
      <p:ext uri="{BB962C8B-B14F-4D97-AF65-F5344CB8AC3E}">
        <p14:creationId xmlns:p14="http://schemas.microsoft.com/office/powerpoint/2010/main" val="2704299525"/>
      </p:ext>
    </p:extLst>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BE25-C1F0-1D61-E831-23FF38F1A3F5}"/>
              </a:ext>
            </a:extLst>
          </p:cNvPr>
          <p:cNvSpPr>
            <a:spLocks noGrp="1"/>
          </p:cNvSpPr>
          <p:nvPr>
            <p:ph type="title"/>
          </p:nvPr>
        </p:nvSpPr>
        <p:spPr/>
        <p:txBody>
          <a:bodyPr/>
          <a:lstStyle/>
          <a:p>
            <a:r>
              <a:rPr lang="en-IN" dirty="0"/>
              <a:t>Clubbing Provisions</a:t>
            </a:r>
          </a:p>
        </p:txBody>
      </p:sp>
      <p:sp>
        <p:nvSpPr>
          <p:cNvPr id="3" name="Content Placeholder 2">
            <a:extLst>
              <a:ext uri="{FF2B5EF4-FFF2-40B4-BE49-F238E27FC236}">
                <a16:creationId xmlns:a16="http://schemas.microsoft.com/office/drawing/2014/main" id="{E04ED6B3-1823-E94F-BD05-3C821BCA6215}"/>
              </a:ext>
            </a:extLst>
          </p:cNvPr>
          <p:cNvSpPr>
            <a:spLocks noGrp="1"/>
          </p:cNvSpPr>
          <p:nvPr>
            <p:ph idx="1"/>
          </p:nvPr>
        </p:nvSpPr>
        <p:spPr>
          <a:xfrm>
            <a:off x="1104293" y="1617490"/>
            <a:ext cx="8946541" cy="4195481"/>
          </a:xfrm>
        </p:spPr>
        <p:txBody>
          <a:bodyPr>
            <a:normAutofit/>
          </a:bodyPr>
          <a:lstStyle/>
          <a:p>
            <a:pPr marL="0" indent="0" algn="just">
              <a:lnSpc>
                <a:spcPct val="150000"/>
              </a:lnSpc>
              <a:buNone/>
            </a:pPr>
            <a:r>
              <a:rPr lang="en-US" b="0" i="0" dirty="0">
                <a:solidFill>
                  <a:srgbClr val="696F6F"/>
                </a:solidFill>
                <a:effectLst/>
                <a:latin typeface="Cambria" panose="02040503050406030204" pitchFamily="18" charset="0"/>
                <a:ea typeface="Cambria" panose="02040503050406030204" pitchFamily="18" charset="0"/>
              </a:rPr>
              <a:t>According to the stipulations of the </a:t>
            </a:r>
            <a:r>
              <a:rPr lang="en-US" b="1" i="0" u="none" strike="noStrike" dirty="0">
                <a:solidFill>
                  <a:srgbClr val="337AB7"/>
                </a:solidFill>
                <a:effectLst/>
                <a:latin typeface="Cambria" panose="02040503050406030204" pitchFamily="18" charset="0"/>
                <a:ea typeface="Cambria" panose="02040503050406030204" pitchFamily="18" charset="0"/>
                <a:hlinkClick r:id="rId2"/>
              </a:rPr>
              <a:t>Income Tax</a:t>
            </a:r>
            <a:r>
              <a:rPr lang="en-US" b="0" i="0" dirty="0">
                <a:solidFill>
                  <a:srgbClr val="696F6F"/>
                </a:solidFill>
                <a:effectLst/>
                <a:latin typeface="Cambria" panose="02040503050406030204" pitchFamily="18" charset="0"/>
                <a:ea typeface="Cambria" panose="02040503050406030204" pitchFamily="18" charset="0"/>
              </a:rPr>
              <a:t> Act, a person has to pay taxes on all taxable income earned during a financial year. </a:t>
            </a:r>
          </a:p>
          <a:p>
            <a:pPr marL="0" indent="0" algn="just">
              <a:lnSpc>
                <a:spcPct val="150000"/>
              </a:lnSpc>
              <a:buNone/>
            </a:pPr>
            <a:r>
              <a:rPr lang="en-US" b="0" i="0" dirty="0">
                <a:solidFill>
                  <a:srgbClr val="696F6F"/>
                </a:solidFill>
                <a:effectLst/>
                <a:latin typeface="Cambria" panose="02040503050406030204" pitchFamily="18" charset="0"/>
                <a:ea typeface="Cambria" panose="02040503050406030204" pitchFamily="18" charset="0"/>
              </a:rPr>
              <a:t>At the time of computing the </a:t>
            </a:r>
            <a:r>
              <a:rPr lang="en-US" b="1" i="0" u="none" strike="noStrike" dirty="0">
                <a:solidFill>
                  <a:srgbClr val="337AB7"/>
                </a:solidFill>
                <a:effectLst/>
                <a:latin typeface="Cambria" panose="02040503050406030204" pitchFamily="18" charset="0"/>
                <a:ea typeface="Cambria" panose="02040503050406030204" pitchFamily="18" charset="0"/>
                <a:hlinkClick r:id="rId3"/>
              </a:rPr>
              <a:t>Gross Total Income</a:t>
            </a:r>
            <a:r>
              <a:rPr lang="en-US" b="0" i="0" dirty="0">
                <a:solidFill>
                  <a:srgbClr val="696F6F"/>
                </a:solidFill>
                <a:effectLst/>
                <a:latin typeface="Cambria" panose="02040503050406030204" pitchFamily="18" charset="0"/>
                <a:ea typeface="Cambria" panose="02040503050406030204" pitchFamily="18" charset="0"/>
              </a:rPr>
              <a:t>, if the income of any other person in a family is included, then the inclusion is called ‘Clubbing of Income’.</a:t>
            </a:r>
          </a:p>
          <a:p>
            <a:pPr marL="0" indent="0" algn="just">
              <a:lnSpc>
                <a:spcPct val="150000"/>
              </a:lnSpc>
              <a:buNone/>
            </a:pPr>
            <a:r>
              <a:rPr lang="en-US" b="0" i="0" dirty="0">
                <a:solidFill>
                  <a:srgbClr val="696F6F"/>
                </a:solidFill>
                <a:effectLst/>
                <a:latin typeface="Cambria" panose="02040503050406030204" pitchFamily="18" charset="0"/>
                <a:ea typeface="Cambria" panose="02040503050406030204" pitchFamily="18" charset="0"/>
              </a:rPr>
              <a:t> Section 64 of the </a:t>
            </a:r>
            <a:r>
              <a:rPr lang="en-US" b="1" i="0" u="none" strike="noStrike" dirty="0">
                <a:solidFill>
                  <a:srgbClr val="337AB7"/>
                </a:solidFill>
                <a:effectLst/>
                <a:latin typeface="Cambria" panose="02040503050406030204" pitchFamily="18" charset="0"/>
                <a:ea typeface="Cambria" panose="02040503050406030204" pitchFamily="18" charset="0"/>
                <a:hlinkClick r:id="rId4"/>
              </a:rPr>
              <a:t>Income Tax</a:t>
            </a:r>
            <a:r>
              <a:rPr lang="en-US" b="0" i="0" dirty="0">
                <a:solidFill>
                  <a:srgbClr val="696F6F"/>
                </a:solidFill>
                <a:effectLst/>
                <a:latin typeface="Cambria" panose="02040503050406030204" pitchFamily="18" charset="0"/>
                <a:ea typeface="Cambria" panose="02040503050406030204" pitchFamily="18" charset="0"/>
              </a:rPr>
              <a:t> Act, 1961 deals with clubbing of income. Clubbing of income ensures that taxpayers do not circumvent their tax liability by transferring their incomes and assets within the family. </a:t>
            </a: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BE1E3DC6-262B-62B2-1201-C3F2A832B2C5}"/>
              </a:ext>
            </a:extLst>
          </p:cNvPr>
          <p:cNvSpPr>
            <a:spLocks noGrp="1"/>
          </p:cNvSpPr>
          <p:nvPr>
            <p:ph type="sldNum" sz="quarter" idx="12"/>
          </p:nvPr>
        </p:nvSpPr>
        <p:spPr/>
        <p:txBody>
          <a:bodyPr/>
          <a:lstStyle/>
          <a:p>
            <a:fld id="{94013DF8-6EF8-4A98-8821-E6468C17C0C3}" type="slidenum">
              <a:rPr lang="en-IN" smtClean="0"/>
              <a:t>147</a:t>
            </a:fld>
            <a:endParaRPr lang="en-IN"/>
          </a:p>
        </p:txBody>
      </p:sp>
    </p:spTree>
    <p:extLst>
      <p:ext uri="{BB962C8B-B14F-4D97-AF65-F5344CB8AC3E}">
        <p14:creationId xmlns:p14="http://schemas.microsoft.com/office/powerpoint/2010/main" val="1884969894"/>
      </p:ext>
    </p:extLst>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BE25-C1F0-1D61-E831-23FF38F1A3F5}"/>
              </a:ext>
            </a:extLst>
          </p:cNvPr>
          <p:cNvSpPr>
            <a:spLocks noGrp="1"/>
          </p:cNvSpPr>
          <p:nvPr>
            <p:ph type="title"/>
          </p:nvPr>
        </p:nvSpPr>
        <p:spPr/>
        <p:txBody>
          <a:bodyPr/>
          <a:lstStyle/>
          <a:p>
            <a:r>
              <a:rPr lang="en-IN" dirty="0"/>
              <a:t>Clubbing Provisions</a:t>
            </a:r>
          </a:p>
        </p:txBody>
      </p:sp>
      <p:sp>
        <p:nvSpPr>
          <p:cNvPr id="3" name="Content Placeholder 2">
            <a:extLst>
              <a:ext uri="{FF2B5EF4-FFF2-40B4-BE49-F238E27FC236}">
                <a16:creationId xmlns:a16="http://schemas.microsoft.com/office/drawing/2014/main" id="{E04ED6B3-1823-E94F-BD05-3C821BCA6215}"/>
              </a:ext>
            </a:extLst>
          </p:cNvPr>
          <p:cNvSpPr>
            <a:spLocks noGrp="1"/>
          </p:cNvSpPr>
          <p:nvPr>
            <p:ph idx="1"/>
          </p:nvPr>
        </p:nvSpPr>
        <p:spPr>
          <a:xfrm>
            <a:off x="1104293" y="1617490"/>
            <a:ext cx="9404723" cy="4195481"/>
          </a:xfrm>
        </p:spPr>
        <p:txBody>
          <a:bodyPr>
            <a:normAutofit/>
          </a:bodyPr>
          <a:lstStyle/>
          <a:p>
            <a:pPr algn="just">
              <a:lnSpc>
                <a:spcPct val="150000"/>
              </a:lnSpc>
              <a:buFont typeface="Wingdings" panose="05000000000000000000" pitchFamily="2" charset="2"/>
              <a:buChar char="Ø"/>
            </a:pPr>
            <a:r>
              <a:rPr lang="en-US" dirty="0">
                <a:latin typeface="Cambria" panose="02040503050406030204" pitchFamily="18" charset="0"/>
                <a:ea typeface="Cambria" panose="02040503050406030204" pitchFamily="18" charset="0"/>
              </a:rPr>
              <a:t>As per the Income Tax Act, every person has to pay taxes on the taxable income earned. No person is allowed to divert his income to any relatives to reduce tax liability. Clubbing of income means an income of other person is included in the taxpayer’s total income while computing income tax payable.</a:t>
            </a:r>
          </a:p>
          <a:p>
            <a:pPr algn="just">
              <a:lnSpc>
                <a:spcPct val="150000"/>
              </a:lnSpc>
              <a:buFont typeface="Wingdings" panose="05000000000000000000" pitchFamily="2" charset="2"/>
              <a:buChar char="Ø"/>
            </a:pPr>
            <a:r>
              <a:rPr lang="en-US" dirty="0">
                <a:latin typeface="Cambria" panose="02040503050406030204" pitchFamily="18" charset="0"/>
                <a:ea typeface="Cambria" panose="02040503050406030204" pitchFamily="18" charset="0"/>
              </a:rPr>
              <a:t>Many taxpayers in India have attempted to reduce their income tax liability by transferring their incomes and assets to their family members, in such a way that most of the income falls under the taxable amount. The clubbing of income regulations ensures that such practices are curbed</a:t>
            </a:r>
            <a:endParaRPr lang="en-IN" dirty="0">
              <a:latin typeface="Cambria" panose="02040503050406030204" pitchFamily="18" charset="0"/>
              <a:ea typeface="Cambria" panose="02040503050406030204" pitchFamily="18" charset="0"/>
            </a:endParaRPr>
          </a:p>
        </p:txBody>
      </p:sp>
      <p:sp>
        <p:nvSpPr>
          <p:cNvPr id="4" name="Date Placeholder 3">
            <a:extLst>
              <a:ext uri="{FF2B5EF4-FFF2-40B4-BE49-F238E27FC236}">
                <a16:creationId xmlns:a16="http://schemas.microsoft.com/office/drawing/2014/main" id="{AFDE11C9-A413-E9F6-BD40-908FC091D4D2}"/>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7D01699E-FA0A-15EE-151B-F2092F31C28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E1E3DC6-262B-62B2-1201-C3F2A832B2C5}"/>
              </a:ext>
            </a:extLst>
          </p:cNvPr>
          <p:cNvSpPr>
            <a:spLocks noGrp="1"/>
          </p:cNvSpPr>
          <p:nvPr>
            <p:ph type="sldNum" sz="quarter" idx="12"/>
          </p:nvPr>
        </p:nvSpPr>
        <p:spPr/>
        <p:txBody>
          <a:bodyPr/>
          <a:lstStyle/>
          <a:p>
            <a:fld id="{94013DF8-6EF8-4A98-8821-E6468C17C0C3}" type="slidenum">
              <a:rPr lang="en-IN" smtClean="0"/>
              <a:t>148</a:t>
            </a:fld>
            <a:endParaRPr lang="en-IN"/>
          </a:p>
        </p:txBody>
      </p:sp>
    </p:spTree>
    <p:extLst>
      <p:ext uri="{BB962C8B-B14F-4D97-AF65-F5344CB8AC3E}">
        <p14:creationId xmlns:p14="http://schemas.microsoft.com/office/powerpoint/2010/main" val="2414332311"/>
      </p:ext>
    </p:extLst>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6BE25-C1F0-1D61-E831-23FF38F1A3F5}"/>
              </a:ext>
            </a:extLst>
          </p:cNvPr>
          <p:cNvSpPr>
            <a:spLocks noGrp="1"/>
          </p:cNvSpPr>
          <p:nvPr>
            <p:ph type="title"/>
          </p:nvPr>
        </p:nvSpPr>
        <p:spPr/>
        <p:txBody>
          <a:bodyPr/>
          <a:lstStyle/>
          <a:p>
            <a:r>
              <a:rPr lang="en-IN" dirty="0"/>
              <a:t>Clubbing Provisions</a:t>
            </a:r>
          </a:p>
        </p:txBody>
      </p:sp>
      <p:sp>
        <p:nvSpPr>
          <p:cNvPr id="3" name="Content Placeholder 2">
            <a:extLst>
              <a:ext uri="{FF2B5EF4-FFF2-40B4-BE49-F238E27FC236}">
                <a16:creationId xmlns:a16="http://schemas.microsoft.com/office/drawing/2014/main" id="{E04ED6B3-1823-E94F-BD05-3C821BCA6215}"/>
              </a:ext>
            </a:extLst>
          </p:cNvPr>
          <p:cNvSpPr>
            <a:spLocks noGrp="1"/>
          </p:cNvSpPr>
          <p:nvPr>
            <p:ph idx="1"/>
          </p:nvPr>
        </p:nvSpPr>
        <p:spPr>
          <a:xfrm>
            <a:off x="1104293" y="1617490"/>
            <a:ext cx="9404723" cy="5022796"/>
          </a:xfrm>
        </p:spPr>
        <p:txBody>
          <a:bodyPr>
            <a:normAutofit fontScale="92500" lnSpcReduction="10000"/>
          </a:bodyPr>
          <a:lstStyle/>
          <a:p>
            <a:pPr marL="0" indent="0" algn="just">
              <a:lnSpc>
                <a:spcPct val="150000"/>
              </a:lnSpc>
              <a:buNone/>
            </a:pPr>
            <a:r>
              <a:rPr lang="en-US" dirty="0">
                <a:latin typeface="Cambria" panose="02040503050406030204" pitchFamily="18" charset="0"/>
                <a:ea typeface="Cambria" panose="02040503050406030204" pitchFamily="18" charset="0"/>
              </a:rPr>
              <a:t>Clubbing of income is needed under the following circumstance:</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Investing money in the form of a fixed deposit in children name.</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Earning assets in the name of relatives (wife or child).</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Creating saving bank accounts for </a:t>
            </a:r>
            <a:r>
              <a:rPr lang="en-US" dirty="0" err="1">
                <a:latin typeface="Cambria" panose="02040503050406030204" pitchFamily="18" charset="0"/>
                <a:ea typeface="Cambria" panose="02040503050406030204" pitchFamily="18" charset="0"/>
              </a:rPr>
              <a:t>dependants</a:t>
            </a:r>
            <a:r>
              <a:rPr lang="en-US" dirty="0">
                <a:latin typeface="Cambria" panose="02040503050406030204" pitchFamily="18" charset="0"/>
                <a:ea typeface="Cambria" panose="02040503050406030204" pitchFamily="18" charset="0"/>
              </a:rPr>
              <a:t>.</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Mutual funds for the child.</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Shares in the name of spouse/child.</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Post office savings for family members.</a:t>
            </a:r>
          </a:p>
          <a:p>
            <a:pPr marL="0" indent="0" algn="just">
              <a:buNone/>
            </a:pPr>
            <a:r>
              <a:rPr lang="en-US" sz="2100" dirty="0">
                <a:latin typeface="Cambria" panose="02040503050406030204" pitchFamily="18" charset="0"/>
                <a:ea typeface="Cambria" panose="02040503050406030204" pitchFamily="18" charset="0"/>
              </a:rPr>
              <a:t>Also, if a taxpayer transfers the ownership of an asset and the income from the asset to a </a:t>
            </a:r>
            <a:r>
              <a:rPr lang="en-US" sz="2100" dirty="0" err="1">
                <a:latin typeface="Cambria" panose="02040503050406030204" pitchFamily="18" charset="0"/>
                <a:ea typeface="Cambria" panose="02040503050406030204" pitchFamily="18" charset="0"/>
              </a:rPr>
              <a:t>dependant</a:t>
            </a:r>
            <a:r>
              <a:rPr lang="en-US" sz="2100" dirty="0">
                <a:latin typeface="Cambria" panose="02040503050406030204" pitchFamily="18" charset="0"/>
                <a:ea typeface="Cambria" panose="02040503050406030204" pitchFamily="18" charset="0"/>
              </a:rPr>
              <a:t>, it will be continued to be added to the taxpayer’s income under the clubbing of income provisions. </a:t>
            </a:r>
          </a:p>
          <a:p>
            <a:pPr marL="0" indent="0" algn="just">
              <a:buNone/>
            </a:pPr>
            <a:r>
              <a:rPr lang="en-US" sz="2100" dirty="0">
                <a:latin typeface="Cambria" panose="02040503050406030204" pitchFamily="18" charset="0"/>
                <a:ea typeface="Cambria" panose="02040503050406030204" pitchFamily="18" charset="0"/>
              </a:rPr>
              <a:t>Example: If a person is purchasing a flat in the name of a family member and the other person let out this flat on rent, the rental income earned by the person in name of the family member is taxable. As per section 64 of Income Tax, the income would be clubbed with person purchasing the flat.</a:t>
            </a:r>
            <a:endParaRPr lang="en-IN" sz="2100"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BE1E3DC6-262B-62B2-1201-C3F2A832B2C5}"/>
              </a:ext>
            </a:extLst>
          </p:cNvPr>
          <p:cNvSpPr>
            <a:spLocks noGrp="1"/>
          </p:cNvSpPr>
          <p:nvPr>
            <p:ph type="sldNum" sz="quarter" idx="12"/>
          </p:nvPr>
        </p:nvSpPr>
        <p:spPr/>
        <p:txBody>
          <a:bodyPr/>
          <a:lstStyle/>
          <a:p>
            <a:fld id="{94013DF8-6EF8-4A98-8821-E6468C17C0C3}" type="slidenum">
              <a:rPr lang="en-IN" smtClean="0"/>
              <a:t>149</a:t>
            </a:fld>
            <a:endParaRPr lang="en-IN"/>
          </a:p>
        </p:txBody>
      </p:sp>
    </p:spTree>
    <p:extLst>
      <p:ext uri="{BB962C8B-B14F-4D97-AF65-F5344CB8AC3E}">
        <p14:creationId xmlns:p14="http://schemas.microsoft.com/office/powerpoint/2010/main" val="1896991493"/>
      </p:ext>
    </p:extLst>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4013DF8-6EF8-4A98-8821-E6468C17C0C3}" type="slidenum">
              <a:rPr lang="en-IN" smtClean="0"/>
              <a:t>150</a:t>
            </a:fld>
            <a:endParaRPr lang="en-IN"/>
          </a:p>
        </p:txBody>
      </p:sp>
      <p:pic>
        <p:nvPicPr>
          <p:cNvPr id="5122" name="Picture 2" descr="Clubbing of Income under Section 64 &amp; 27- TaxHelpdesk"/>
          <p:cNvPicPr>
            <a:picLocks noChangeAspect="1" noChangeArrowheads="1"/>
          </p:cNvPicPr>
          <p:nvPr/>
        </p:nvPicPr>
        <p:blipFill rotWithShape="1">
          <a:blip r:embed="rId2">
            <a:extLst>
              <a:ext uri="{28A0092B-C50C-407E-A947-70E740481C1C}">
                <a14:useLocalDpi xmlns:a14="http://schemas.microsoft.com/office/drawing/2010/main" val="0"/>
              </a:ext>
            </a:extLst>
          </a:blip>
          <a:srcRect b="5238"/>
          <a:stretch/>
        </p:blipFill>
        <p:spPr bwMode="auto">
          <a:xfrm>
            <a:off x="2390775" y="295729"/>
            <a:ext cx="6746875" cy="639346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89196922"/>
      </p:ext>
    </p:extLst>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901A-09BF-1557-47E9-2DD146404DD2}"/>
              </a:ext>
            </a:extLst>
          </p:cNvPr>
          <p:cNvSpPr>
            <a:spLocks noGrp="1"/>
          </p:cNvSpPr>
          <p:nvPr>
            <p:ph type="title"/>
          </p:nvPr>
        </p:nvSpPr>
        <p:spPr/>
        <p:txBody>
          <a:bodyPr/>
          <a:lstStyle/>
          <a:p>
            <a:r>
              <a:rPr lang="en-US" dirty="0"/>
              <a:t>Set Off and Carry Forward of Losses</a:t>
            </a:r>
            <a:endParaRPr lang="en-IN" dirty="0"/>
          </a:p>
        </p:txBody>
      </p:sp>
      <p:sp>
        <p:nvSpPr>
          <p:cNvPr id="3" name="Content Placeholder 2">
            <a:extLst>
              <a:ext uri="{FF2B5EF4-FFF2-40B4-BE49-F238E27FC236}">
                <a16:creationId xmlns:a16="http://schemas.microsoft.com/office/drawing/2014/main" id="{9339F949-17A5-21ED-EE37-0A72D8937922}"/>
              </a:ext>
            </a:extLst>
          </p:cNvPr>
          <p:cNvSpPr>
            <a:spLocks noGrp="1"/>
          </p:cNvSpPr>
          <p:nvPr>
            <p:ph idx="1"/>
          </p:nvPr>
        </p:nvSpPr>
        <p:spPr>
          <a:xfrm>
            <a:off x="1103312" y="1447800"/>
            <a:ext cx="10087427" cy="4800599"/>
          </a:xfrm>
        </p:spPr>
        <p:txBody>
          <a:bodyPr/>
          <a:lstStyle/>
          <a:p>
            <a:pPr marL="0" indent="0" algn="just">
              <a:buNone/>
            </a:pPr>
            <a:r>
              <a:rPr lang="en-US" dirty="0">
                <a:latin typeface="Cambria" panose="02040503050406030204" pitchFamily="18" charset="0"/>
                <a:ea typeface="Cambria" panose="02040503050406030204" pitchFamily="18" charset="0"/>
              </a:rPr>
              <a:t>Profit and losses are two sides of a coin. Losses, of course, are hard to digest. However, the Income-tax law in India does provide taxpayers some benefits of incurring losses too. The law contains provisions for set-off and carry forward of losses.</a:t>
            </a:r>
          </a:p>
          <a:p>
            <a:pPr marL="0" indent="0" algn="just">
              <a:buNone/>
            </a:pPr>
            <a:endParaRPr lang="en-US" sz="2400" b="1" dirty="0">
              <a:latin typeface="Cambria" panose="02040503050406030204" pitchFamily="18" charset="0"/>
              <a:ea typeface="Cambria" panose="02040503050406030204" pitchFamily="18" charset="0"/>
            </a:endParaRPr>
          </a:p>
          <a:p>
            <a:pPr marL="0" indent="0" algn="just">
              <a:buNone/>
            </a:pPr>
            <a:r>
              <a:rPr lang="en-US" sz="3200" b="1" dirty="0">
                <a:latin typeface="Cambria" panose="02040503050406030204" pitchFamily="18" charset="0"/>
                <a:ea typeface="Cambria" panose="02040503050406030204" pitchFamily="18" charset="0"/>
              </a:rPr>
              <a:t>Set off of losses</a:t>
            </a:r>
          </a:p>
          <a:p>
            <a:pPr marL="0" indent="0" algn="just">
              <a:buNone/>
            </a:pPr>
            <a:r>
              <a:rPr lang="en-US" dirty="0">
                <a:latin typeface="Cambria" panose="02040503050406030204" pitchFamily="18" charset="0"/>
                <a:ea typeface="Cambria" panose="02040503050406030204" pitchFamily="18" charset="0"/>
              </a:rPr>
              <a:t>Set off of losses means adjusting the losses against the profit or income of that particular year. Losses that are not set off against income in the same year can be carried forward to the subsequent years for set off against income of those years. A set-off could be an intra-head set-off or an inter-head set-off.</a:t>
            </a:r>
          </a:p>
          <a:p>
            <a:pPr marL="0" indent="0" algn="just">
              <a:buNone/>
            </a:pP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77B9794E-D304-5D44-0071-EE3ADE7E2F9F}"/>
              </a:ext>
            </a:extLst>
          </p:cNvPr>
          <p:cNvSpPr>
            <a:spLocks noGrp="1"/>
          </p:cNvSpPr>
          <p:nvPr>
            <p:ph type="sldNum" sz="quarter" idx="12"/>
          </p:nvPr>
        </p:nvSpPr>
        <p:spPr/>
        <p:txBody>
          <a:bodyPr/>
          <a:lstStyle/>
          <a:p>
            <a:fld id="{94013DF8-6EF8-4A98-8821-E6468C17C0C3}" type="slidenum">
              <a:rPr lang="en-IN" smtClean="0"/>
              <a:t>151</a:t>
            </a:fld>
            <a:endParaRPr lang="en-IN"/>
          </a:p>
        </p:txBody>
      </p:sp>
    </p:spTree>
    <p:extLst>
      <p:ext uri="{BB962C8B-B14F-4D97-AF65-F5344CB8AC3E}">
        <p14:creationId xmlns:p14="http://schemas.microsoft.com/office/powerpoint/2010/main" val="3565256367"/>
      </p:ext>
    </p:extLst>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901A-09BF-1557-47E9-2DD146404DD2}"/>
              </a:ext>
            </a:extLst>
          </p:cNvPr>
          <p:cNvSpPr>
            <a:spLocks noGrp="1"/>
          </p:cNvSpPr>
          <p:nvPr>
            <p:ph type="title"/>
          </p:nvPr>
        </p:nvSpPr>
        <p:spPr/>
        <p:txBody>
          <a:bodyPr/>
          <a:lstStyle/>
          <a:p>
            <a:r>
              <a:rPr lang="en-US" dirty="0"/>
              <a:t>Set Off and Carry Forward of Losses</a:t>
            </a:r>
            <a:endParaRPr lang="en-IN" dirty="0"/>
          </a:p>
        </p:txBody>
      </p:sp>
      <p:sp>
        <p:nvSpPr>
          <p:cNvPr id="3" name="Content Placeholder 2">
            <a:extLst>
              <a:ext uri="{FF2B5EF4-FFF2-40B4-BE49-F238E27FC236}">
                <a16:creationId xmlns:a16="http://schemas.microsoft.com/office/drawing/2014/main" id="{9339F949-17A5-21ED-EE37-0A72D8937922}"/>
              </a:ext>
            </a:extLst>
          </p:cNvPr>
          <p:cNvSpPr>
            <a:spLocks noGrp="1"/>
          </p:cNvSpPr>
          <p:nvPr>
            <p:ph idx="1"/>
          </p:nvPr>
        </p:nvSpPr>
        <p:spPr>
          <a:xfrm>
            <a:off x="1103312" y="1447800"/>
            <a:ext cx="10087427" cy="5268686"/>
          </a:xfrm>
        </p:spPr>
        <p:txBody>
          <a:bodyPr>
            <a:normAutofit fontScale="92500" lnSpcReduction="20000"/>
          </a:bodyPr>
          <a:lstStyle/>
          <a:p>
            <a:pPr marL="0" indent="0" algn="just">
              <a:buNone/>
            </a:pPr>
            <a:r>
              <a:rPr lang="en-US" sz="3200" b="1" dirty="0">
                <a:latin typeface="Cambria" panose="02040503050406030204" pitchFamily="18" charset="0"/>
                <a:ea typeface="Cambria" panose="02040503050406030204" pitchFamily="18" charset="0"/>
              </a:rPr>
              <a:t>Intra-head Set Off</a:t>
            </a:r>
          </a:p>
          <a:p>
            <a:pPr marL="0" indent="0" algn="just">
              <a:buNone/>
            </a:pPr>
            <a:r>
              <a:rPr lang="en-US" dirty="0">
                <a:latin typeface="Cambria" panose="02040503050406030204" pitchFamily="18" charset="0"/>
                <a:ea typeface="Cambria" panose="02040503050406030204" pitchFamily="18" charset="0"/>
              </a:rPr>
              <a:t>The losses from one source of income can be set off against income from another source under the same head of income.</a:t>
            </a:r>
          </a:p>
          <a:p>
            <a:pPr marL="0" indent="0" algn="just">
              <a:buNone/>
            </a:pPr>
            <a:r>
              <a:rPr lang="en-US" dirty="0">
                <a:latin typeface="Cambria" panose="02040503050406030204" pitchFamily="18" charset="0"/>
                <a:ea typeface="Cambria" panose="02040503050406030204" pitchFamily="18" charset="0"/>
              </a:rPr>
              <a:t>For </a:t>
            </a:r>
            <a:r>
              <a:rPr lang="en-US" dirty="0" err="1">
                <a:latin typeface="Cambria" panose="02040503050406030204" pitchFamily="18" charset="0"/>
                <a:ea typeface="Cambria" panose="02040503050406030204" pitchFamily="18" charset="0"/>
              </a:rPr>
              <a:t>eg</a:t>
            </a:r>
            <a:r>
              <a:rPr lang="en-US" dirty="0">
                <a:latin typeface="Cambria" panose="02040503050406030204" pitchFamily="18" charset="0"/>
                <a:ea typeface="Cambria" panose="02040503050406030204" pitchFamily="18" charset="0"/>
              </a:rPr>
              <a:t>: Loss from Business A can be set off against profit from Business B, where Business A is one source and Business B is another source and the common head of income is “Business”.</a:t>
            </a:r>
          </a:p>
          <a:p>
            <a:pPr marL="0" indent="0" algn="just">
              <a:buNone/>
            </a:pPr>
            <a:r>
              <a:rPr lang="en-US" b="1" dirty="0">
                <a:latin typeface="Cambria" panose="02040503050406030204" pitchFamily="18" charset="0"/>
                <a:ea typeface="Cambria" panose="02040503050406030204" pitchFamily="18" charset="0"/>
              </a:rPr>
              <a:t>Exceptions to an intra-head set off:</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Losses from a Speculative business will only be set off against the profit of the speculative business. One cannot adjust the losses of speculative business with the income from any other business or profession.</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Loss from an activity of owning and maintaining race-horses will be set off only against the profit from an activity of owning and maintaining race-horses.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Long-term capital loss will only be adjusted towards long-term capital gains. However, a short-term capital loss can be set off against both long-term capital gains and short-term capital gain.</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Losses from a specified business will be set off only against profit of specified businesses. But the losses from any other businesses or profession can be set off against profits from the specified businesses.</a:t>
            </a: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77B9794E-D304-5D44-0071-EE3ADE7E2F9F}"/>
              </a:ext>
            </a:extLst>
          </p:cNvPr>
          <p:cNvSpPr>
            <a:spLocks noGrp="1"/>
          </p:cNvSpPr>
          <p:nvPr>
            <p:ph type="sldNum" sz="quarter" idx="12"/>
          </p:nvPr>
        </p:nvSpPr>
        <p:spPr/>
        <p:txBody>
          <a:bodyPr/>
          <a:lstStyle/>
          <a:p>
            <a:fld id="{94013DF8-6EF8-4A98-8821-E6468C17C0C3}" type="slidenum">
              <a:rPr lang="en-IN" smtClean="0"/>
              <a:t>152</a:t>
            </a:fld>
            <a:endParaRPr lang="en-IN"/>
          </a:p>
        </p:txBody>
      </p:sp>
    </p:spTree>
    <p:extLst>
      <p:ext uri="{BB962C8B-B14F-4D97-AF65-F5344CB8AC3E}">
        <p14:creationId xmlns:p14="http://schemas.microsoft.com/office/powerpoint/2010/main" val="4241921746"/>
      </p:ext>
    </p:extLst>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901A-09BF-1557-47E9-2DD146404DD2}"/>
              </a:ext>
            </a:extLst>
          </p:cNvPr>
          <p:cNvSpPr>
            <a:spLocks noGrp="1"/>
          </p:cNvSpPr>
          <p:nvPr>
            <p:ph type="title"/>
          </p:nvPr>
        </p:nvSpPr>
        <p:spPr/>
        <p:txBody>
          <a:bodyPr/>
          <a:lstStyle/>
          <a:p>
            <a:r>
              <a:rPr lang="en-US" dirty="0"/>
              <a:t>Set Off and Carry Forward of Losses</a:t>
            </a:r>
            <a:endParaRPr lang="en-IN" dirty="0"/>
          </a:p>
        </p:txBody>
      </p:sp>
      <p:sp>
        <p:nvSpPr>
          <p:cNvPr id="3" name="Content Placeholder 2">
            <a:extLst>
              <a:ext uri="{FF2B5EF4-FFF2-40B4-BE49-F238E27FC236}">
                <a16:creationId xmlns:a16="http://schemas.microsoft.com/office/drawing/2014/main" id="{9339F949-17A5-21ED-EE37-0A72D8937922}"/>
              </a:ext>
            </a:extLst>
          </p:cNvPr>
          <p:cNvSpPr>
            <a:spLocks noGrp="1"/>
          </p:cNvSpPr>
          <p:nvPr>
            <p:ph idx="1"/>
          </p:nvPr>
        </p:nvSpPr>
        <p:spPr>
          <a:xfrm>
            <a:off x="1103312" y="1447800"/>
            <a:ext cx="10087427" cy="5268686"/>
          </a:xfrm>
        </p:spPr>
        <p:txBody>
          <a:bodyPr>
            <a:normAutofit fontScale="92500" lnSpcReduction="10000"/>
          </a:bodyPr>
          <a:lstStyle/>
          <a:p>
            <a:pPr marL="0" indent="0" algn="just">
              <a:buNone/>
            </a:pPr>
            <a:r>
              <a:rPr lang="en-US" sz="3200" b="1" dirty="0">
                <a:latin typeface="Cambria" panose="02040503050406030204" pitchFamily="18" charset="0"/>
                <a:ea typeface="Cambria" panose="02040503050406030204" pitchFamily="18" charset="0"/>
              </a:rPr>
              <a:t>Inter-head Set Off</a:t>
            </a:r>
          </a:p>
          <a:p>
            <a:pPr marL="0" indent="0" algn="just">
              <a:buNone/>
            </a:pPr>
            <a:r>
              <a:rPr lang="en-US" dirty="0">
                <a:latin typeface="Cambria" panose="02040503050406030204" pitchFamily="18" charset="0"/>
                <a:ea typeface="Cambria" panose="02040503050406030204" pitchFamily="18" charset="0"/>
              </a:rPr>
              <a:t>After the intra-head adjustments, the taxpayers can set off remaining losses against income from other heads.</a:t>
            </a:r>
          </a:p>
          <a:p>
            <a:pPr marL="0" indent="0" algn="just">
              <a:buNone/>
            </a:pPr>
            <a:r>
              <a:rPr lang="en-US" dirty="0" err="1">
                <a:latin typeface="Cambria" panose="02040503050406030204" pitchFamily="18" charset="0"/>
                <a:ea typeface="Cambria" panose="02040503050406030204" pitchFamily="18" charset="0"/>
              </a:rPr>
              <a:t>Eg.</a:t>
            </a:r>
            <a:r>
              <a:rPr lang="en-US" dirty="0">
                <a:latin typeface="Cambria" panose="02040503050406030204" pitchFamily="18" charset="0"/>
                <a:ea typeface="Cambria" panose="02040503050406030204" pitchFamily="18" charset="0"/>
              </a:rPr>
              <a:t> Loss from house property can be set off against salary income.</a:t>
            </a:r>
          </a:p>
          <a:p>
            <a:pPr marL="0" indent="0" algn="just">
              <a:buNone/>
            </a:pPr>
            <a:r>
              <a:rPr lang="en-US" b="1" dirty="0">
                <a:latin typeface="Cambria" panose="02040503050406030204" pitchFamily="18" charset="0"/>
                <a:ea typeface="Cambria" panose="02040503050406030204" pitchFamily="18" charset="0"/>
              </a:rPr>
              <a:t>Instances of an inter-head set off of losses: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Loss from House property can be set off against income under any head</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Business loss other than speculative business can be set off against any head of income except income from salary.</a:t>
            </a:r>
          </a:p>
          <a:p>
            <a:pPr marL="0" indent="0" algn="just">
              <a:buNone/>
            </a:pPr>
            <a:r>
              <a:rPr lang="en-US" b="1" dirty="0">
                <a:latin typeface="Cambria" panose="02040503050406030204" pitchFamily="18" charset="0"/>
                <a:ea typeface="Cambria" panose="02040503050406030204" pitchFamily="18" charset="0"/>
              </a:rPr>
              <a:t>One needs to also note that the following losses can’t be set off against any other head of income</a:t>
            </a:r>
            <a:r>
              <a:rPr lang="en-US" dirty="0">
                <a:latin typeface="Cambria" panose="02040503050406030204" pitchFamily="18" charset="0"/>
                <a:ea typeface="Cambria" panose="02040503050406030204" pitchFamily="18" charset="0"/>
              </a:rPr>
              <a:t>:</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Speculative Business loss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Specified business loss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Capital Losses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Losses from an activity of owning and maintaining race-horses</a:t>
            </a: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77B9794E-D304-5D44-0071-EE3ADE7E2F9F}"/>
              </a:ext>
            </a:extLst>
          </p:cNvPr>
          <p:cNvSpPr>
            <a:spLocks noGrp="1"/>
          </p:cNvSpPr>
          <p:nvPr>
            <p:ph type="sldNum" sz="quarter" idx="12"/>
          </p:nvPr>
        </p:nvSpPr>
        <p:spPr/>
        <p:txBody>
          <a:bodyPr/>
          <a:lstStyle/>
          <a:p>
            <a:fld id="{94013DF8-6EF8-4A98-8821-E6468C17C0C3}" type="slidenum">
              <a:rPr lang="en-IN" smtClean="0"/>
              <a:t>153</a:t>
            </a:fld>
            <a:endParaRPr lang="en-IN"/>
          </a:p>
        </p:txBody>
      </p:sp>
    </p:spTree>
    <p:extLst>
      <p:ext uri="{BB962C8B-B14F-4D97-AF65-F5344CB8AC3E}">
        <p14:creationId xmlns:p14="http://schemas.microsoft.com/office/powerpoint/2010/main" val="2684509548"/>
      </p:ext>
    </p:extLst>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901A-09BF-1557-47E9-2DD146404DD2}"/>
              </a:ext>
            </a:extLst>
          </p:cNvPr>
          <p:cNvSpPr>
            <a:spLocks noGrp="1"/>
          </p:cNvSpPr>
          <p:nvPr>
            <p:ph type="title"/>
          </p:nvPr>
        </p:nvSpPr>
        <p:spPr/>
        <p:txBody>
          <a:bodyPr/>
          <a:lstStyle/>
          <a:p>
            <a:r>
              <a:rPr lang="en-US" dirty="0"/>
              <a:t>Set Off and Carry Forward of Losses</a:t>
            </a:r>
            <a:endParaRPr lang="en-IN" dirty="0"/>
          </a:p>
        </p:txBody>
      </p:sp>
      <p:sp>
        <p:nvSpPr>
          <p:cNvPr id="3" name="Content Placeholder 2">
            <a:extLst>
              <a:ext uri="{FF2B5EF4-FFF2-40B4-BE49-F238E27FC236}">
                <a16:creationId xmlns:a16="http://schemas.microsoft.com/office/drawing/2014/main" id="{9339F949-17A5-21ED-EE37-0A72D8937922}"/>
              </a:ext>
            </a:extLst>
          </p:cNvPr>
          <p:cNvSpPr>
            <a:spLocks noGrp="1"/>
          </p:cNvSpPr>
          <p:nvPr>
            <p:ph idx="1"/>
          </p:nvPr>
        </p:nvSpPr>
        <p:spPr>
          <a:xfrm>
            <a:off x="1103312" y="1447800"/>
            <a:ext cx="10087427" cy="5268686"/>
          </a:xfrm>
        </p:spPr>
        <p:txBody>
          <a:bodyPr>
            <a:normAutofit/>
          </a:bodyPr>
          <a:lstStyle/>
          <a:p>
            <a:pPr marL="0" indent="0" algn="just">
              <a:buNone/>
            </a:pPr>
            <a:r>
              <a:rPr lang="en-US" sz="3200" b="1" dirty="0">
                <a:latin typeface="Cambria" panose="02040503050406030204" pitchFamily="18" charset="0"/>
                <a:ea typeface="Cambria" panose="02040503050406030204" pitchFamily="18" charset="0"/>
              </a:rPr>
              <a:t>Carry forward of losses</a:t>
            </a:r>
          </a:p>
          <a:p>
            <a:pPr marL="0" indent="0" algn="just">
              <a:buNone/>
            </a:pPr>
            <a:r>
              <a:rPr lang="en-US" dirty="0">
                <a:latin typeface="Cambria" panose="02040503050406030204" pitchFamily="18" charset="0"/>
                <a:ea typeface="Cambria" panose="02040503050406030204" pitchFamily="18" charset="0"/>
              </a:rPr>
              <a:t>After making the appropriate and permissible intra-head and inter-head adjustments, there could still be unadjusted losses. These unadjusted losses can be carried forward to future years for adjustments against income of these years. The rules as regards carry forward differ slightly for different heads of income</a:t>
            </a:r>
          </a:p>
          <a:p>
            <a:pPr marL="0" indent="0" algn="just">
              <a:buNone/>
            </a:pPr>
            <a:r>
              <a:rPr lang="en-US" b="1" dirty="0">
                <a:latin typeface="Cambria" panose="02040503050406030204" pitchFamily="18" charset="0"/>
                <a:ea typeface="Cambria" panose="02040503050406030204" pitchFamily="18" charset="0"/>
              </a:rPr>
              <a:t>Losses from House Property :</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 be carry forward up to next 8 assessment years from the assessment year in which the loss was incurred</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 be adjusted only against Income from house property</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 be carried forward even if the return of income for the loss year is belatedly filed.</a:t>
            </a: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77B9794E-D304-5D44-0071-EE3ADE7E2F9F}"/>
              </a:ext>
            </a:extLst>
          </p:cNvPr>
          <p:cNvSpPr>
            <a:spLocks noGrp="1"/>
          </p:cNvSpPr>
          <p:nvPr>
            <p:ph type="sldNum" sz="quarter" idx="12"/>
          </p:nvPr>
        </p:nvSpPr>
        <p:spPr/>
        <p:txBody>
          <a:bodyPr/>
          <a:lstStyle/>
          <a:p>
            <a:fld id="{94013DF8-6EF8-4A98-8821-E6468C17C0C3}" type="slidenum">
              <a:rPr lang="en-IN" smtClean="0"/>
              <a:t>154</a:t>
            </a:fld>
            <a:endParaRPr lang="en-IN"/>
          </a:p>
        </p:txBody>
      </p:sp>
    </p:spTree>
    <p:extLst>
      <p:ext uri="{BB962C8B-B14F-4D97-AF65-F5344CB8AC3E}">
        <p14:creationId xmlns:p14="http://schemas.microsoft.com/office/powerpoint/2010/main" val="3793984324"/>
      </p:ext>
    </p:extLst>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901A-09BF-1557-47E9-2DD146404DD2}"/>
              </a:ext>
            </a:extLst>
          </p:cNvPr>
          <p:cNvSpPr>
            <a:spLocks noGrp="1"/>
          </p:cNvSpPr>
          <p:nvPr>
            <p:ph type="title"/>
          </p:nvPr>
        </p:nvSpPr>
        <p:spPr/>
        <p:txBody>
          <a:bodyPr/>
          <a:lstStyle/>
          <a:p>
            <a:r>
              <a:rPr lang="en-US" dirty="0"/>
              <a:t>Set Off and Carry Forward of Losses</a:t>
            </a:r>
            <a:endParaRPr lang="en-IN" dirty="0"/>
          </a:p>
        </p:txBody>
      </p:sp>
      <p:sp>
        <p:nvSpPr>
          <p:cNvPr id="3" name="Content Placeholder 2">
            <a:extLst>
              <a:ext uri="{FF2B5EF4-FFF2-40B4-BE49-F238E27FC236}">
                <a16:creationId xmlns:a16="http://schemas.microsoft.com/office/drawing/2014/main" id="{9339F949-17A5-21ED-EE37-0A72D8937922}"/>
              </a:ext>
            </a:extLst>
          </p:cNvPr>
          <p:cNvSpPr>
            <a:spLocks noGrp="1"/>
          </p:cNvSpPr>
          <p:nvPr>
            <p:ph idx="1"/>
          </p:nvPr>
        </p:nvSpPr>
        <p:spPr>
          <a:xfrm>
            <a:off x="1103312" y="1447800"/>
            <a:ext cx="10087427" cy="5268686"/>
          </a:xfrm>
        </p:spPr>
        <p:txBody>
          <a:bodyPr>
            <a:normAutofit/>
          </a:bodyPr>
          <a:lstStyle/>
          <a:p>
            <a:pPr marL="0" indent="0" algn="just">
              <a:buNone/>
            </a:pPr>
            <a:r>
              <a:rPr lang="en-US" sz="3200" b="1" dirty="0">
                <a:latin typeface="Cambria" panose="02040503050406030204" pitchFamily="18" charset="0"/>
                <a:ea typeface="Cambria" panose="02040503050406030204" pitchFamily="18" charset="0"/>
              </a:rPr>
              <a:t>Carry forward of losses</a:t>
            </a:r>
          </a:p>
          <a:p>
            <a:pPr marL="0" indent="0" algn="just">
              <a:buNone/>
            </a:pPr>
            <a:r>
              <a:rPr lang="en-US" dirty="0">
                <a:solidFill>
                  <a:srgbClr val="DDDDDD"/>
                </a:solidFill>
                <a:latin typeface="Cambria" panose="02040503050406030204" pitchFamily="18" charset="0"/>
                <a:ea typeface="Cambria" panose="02040503050406030204" pitchFamily="18" charset="0"/>
              </a:rPr>
              <a:t>After making the appropriate and permissible intra-head and inter-head adjustments, there could still be unadjusted losses. These unadjusted losses can be carried forward to future years for adjustments against income of these years. The rules as regards carry forward differ slightly for different heads of income</a:t>
            </a:r>
          </a:p>
          <a:p>
            <a:pPr marL="0" indent="0" algn="just">
              <a:buNone/>
            </a:pPr>
            <a:r>
              <a:rPr lang="en-US" b="1" dirty="0">
                <a:latin typeface="Cambria" panose="02040503050406030204" pitchFamily="18" charset="0"/>
                <a:ea typeface="Cambria" panose="02040503050406030204" pitchFamily="18" charset="0"/>
              </a:rPr>
              <a:t>Losses from Non-speculative Business (Regular Business) Loss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 be carry forward up to next 8 assessment years from the assessment year in which the loss was incurred</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 be adjusted only against Income from business or profession</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Not necessary to continue the business at the time of set off in future years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Cannot be carried forward if the return is not filed within the original due date.</a:t>
            </a: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77B9794E-D304-5D44-0071-EE3ADE7E2F9F}"/>
              </a:ext>
            </a:extLst>
          </p:cNvPr>
          <p:cNvSpPr>
            <a:spLocks noGrp="1"/>
          </p:cNvSpPr>
          <p:nvPr>
            <p:ph type="sldNum" sz="quarter" idx="12"/>
          </p:nvPr>
        </p:nvSpPr>
        <p:spPr/>
        <p:txBody>
          <a:bodyPr/>
          <a:lstStyle/>
          <a:p>
            <a:fld id="{94013DF8-6EF8-4A98-8821-E6468C17C0C3}" type="slidenum">
              <a:rPr lang="en-IN" smtClean="0"/>
              <a:t>155</a:t>
            </a:fld>
            <a:endParaRPr lang="en-IN"/>
          </a:p>
        </p:txBody>
      </p:sp>
    </p:spTree>
    <p:extLst>
      <p:ext uri="{BB962C8B-B14F-4D97-AF65-F5344CB8AC3E}">
        <p14:creationId xmlns:p14="http://schemas.microsoft.com/office/powerpoint/2010/main" val="1856236653"/>
      </p:ext>
    </p:extLst>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901A-09BF-1557-47E9-2DD146404DD2}"/>
              </a:ext>
            </a:extLst>
          </p:cNvPr>
          <p:cNvSpPr>
            <a:spLocks noGrp="1"/>
          </p:cNvSpPr>
          <p:nvPr>
            <p:ph type="title"/>
          </p:nvPr>
        </p:nvSpPr>
        <p:spPr/>
        <p:txBody>
          <a:bodyPr/>
          <a:lstStyle/>
          <a:p>
            <a:r>
              <a:rPr lang="en-US" dirty="0"/>
              <a:t>Set Off and Carry Forward of Losses</a:t>
            </a:r>
            <a:endParaRPr lang="en-IN" dirty="0"/>
          </a:p>
        </p:txBody>
      </p:sp>
      <p:sp>
        <p:nvSpPr>
          <p:cNvPr id="3" name="Content Placeholder 2">
            <a:extLst>
              <a:ext uri="{FF2B5EF4-FFF2-40B4-BE49-F238E27FC236}">
                <a16:creationId xmlns:a16="http://schemas.microsoft.com/office/drawing/2014/main" id="{9339F949-17A5-21ED-EE37-0A72D8937922}"/>
              </a:ext>
            </a:extLst>
          </p:cNvPr>
          <p:cNvSpPr>
            <a:spLocks noGrp="1"/>
          </p:cNvSpPr>
          <p:nvPr>
            <p:ph idx="1"/>
          </p:nvPr>
        </p:nvSpPr>
        <p:spPr>
          <a:xfrm>
            <a:off x="1103312" y="1447800"/>
            <a:ext cx="10087427" cy="5268686"/>
          </a:xfrm>
        </p:spPr>
        <p:txBody>
          <a:bodyPr>
            <a:normAutofit/>
          </a:bodyPr>
          <a:lstStyle/>
          <a:p>
            <a:pPr marL="0" indent="0" algn="just">
              <a:buNone/>
            </a:pPr>
            <a:r>
              <a:rPr lang="en-US" sz="3200" b="1" dirty="0">
                <a:latin typeface="Cambria" panose="02040503050406030204" pitchFamily="18" charset="0"/>
                <a:ea typeface="Cambria" panose="02040503050406030204" pitchFamily="18" charset="0"/>
              </a:rPr>
              <a:t>Carry forward of losses</a:t>
            </a:r>
          </a:p>
          <a:p>
            <a:pPr marL="0" indent="0" algn="just">
              <a:buNone/>
            </a:pPr>
            <a:r>
              <a:rPr lang="en-US" dirty="0">
                <a:solidFill>
                  <a:srgbClr val="DDDDDD"/>
                </a:solidFill>
                <a:latin typeface="Cambria" panose="02040503050406030204" pitchFamily="18" charset="0"/>
                <a:ea typeface="Cambria" panose="02040503050406030204" pitchFamily="18" charset="0"/>
              </a:rPr>
              <a:t>After making the appropriate and permissible intra-head and inter-head adjustments, there could still be unadjusted losses. These unadjusted losses can be carried forward to future years for adjustments against income of these years. The rules as regards carry forward differ slightly for different heads of income</a:t>
            </a:r>
          </a:p>
          <a:p>
            <a:pPr marL="0" indent="0" algn="just">
              <a:buNone/>
            </a:pPr>
            <a:r>
              <a:rPr lang="en-US" b="1" dirty="0">
                <a:latin typeface="Cambria" panose="02040503050406030204" pitchFamily="18" charset="0"/>
                <a:ea typeface="Cambria" panose="02040503050406030204" pitchFamily="18" charset="0"/>
              </a:rPr>
              <a:t>Speculative Business Loss: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 be carry forward up to next 4 assessment years from the assessment year in which the loss was incurred</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 be adjusted only against Income from speculative business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Cannot be carried forward if the return is not filed within the original due date.</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Not necessary to continue the business at the time of set off in future years</a:t>
            </a: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77B9794E-D304-5D44-0071-EE3ADE7E2F9F}"/>
              </a:ext>
            </a:extLst>
          </p:cNvPr>
          <p:cNvSpPr>
            <a:spLocks noGrp="1"/>
          </p:cNvSpPr>
          <p:nvPr>
            <p:ph type="sldNum" sz="quarter" idx="12"/>
          </p:nvPr>
        </p:nvSpPr>
        <p:spPr/>
        <p:txBody>
          <a:bodyPr/>
          <a:lstStyle/>
          <a:p>
            <a:fld id="{94013DF8-6EF8-4A98-8821-E6468C17C0C3}" type="slidenum">
              <a:rPr lang="en-IN" smtClean="0"/>
              <a:t>156</a:t>
            </a:fld>
            <a:endParaRPr lang="en-IN"/>
          </a:p>
        </p:txBody>
      </p:sp>
    </p:spTree>
    <p:extLst>
      <p:ext uri="{BB962C8B-B14F-4D97-AF65-F5344CB8AC3E}">
        <p14:creationId xmlns:p14="http://schemas.microsoft.com/office/powerpoint/2010/main" val="3674352095"/>
      </p:ext>
    </p:extLst>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73901A-09BF-1557-47E9-2DD146404DD2}"/>
              </a:ext>
            </a:extLst>
          </p:cNvPr>
          <p:cNvSpPr>
            <a:spLocks noGrp="1"/>
          </p:cNvSpPr>
          <p:nvPr>
            <p:ph type="title"/>
          </p:nvPr>
        </p:nvSpPr>
        <p:spPr/>
        <p:txBody>
          <a:bodyPr/>
          <a:lstStyle/>
          <a:p>
            <a:r>
              <a:rPr lang="en-US" dirty="0"/>
              <a:t>Set Off and Carry Forward of Losses</a:t>
            </a:r>
            <a:endParaRPr lang="en-IN" dirty="0"/>
          </a:p>
        </p:txBody>
      </p:sp>
      <p:sp>
        <p:nvSpPr>
          <p:cNvPr id="3" name="Content Placeholder 2">
            <a:extLst>
              <a:ext uri="{FF2B5EF4-FFF2-40B4-BE49-F238E27FC236}">
                <a16:creationId xmlns:a16="http://schemas.microsoft.com/office/drawing/2014/main" id="{9339F949-17A5-21ED-EE37-0A72D8937922}"/>
              </a:ext>
            </a:extLst>
          </p:cNvPr>
          <p:cNvSpPr>
            <a:spLocks noGrp="1"/>
          </p:cNvSpPr>
          <p:nvPr>
            <p:ph idx="1"/>
          </p:nvPr>
        </p:nvSpPr>
        <p:spPr>
          <a:xfrm>
            <a:off x="1103312" y="1447800"/>
            <a:ext cx="10087427" cy="5268686"/>
          </a:xfrm>
        </p:spPr>
        <p:txBody>
          <a:bodyPr>
            <a:normAutofit/>
          </a:bodyPr>
          <a:lstStyle/>
          <a:p>
            <a:pPr marL="0" indent="0" algn="just">
              <a:buNone/>
            </a:pPr>
            <a:r>
              <a:rPr lang="en-US" sz="3200" b="1" dirty="0">
                <a:latin typeface="Cambria" panose="02040503050406030204" pitchFamily="18" charset="0"/>
                <a:ea typeface="Cambria" panose="02040503050406030204" pitchFamily="18" charset="0"/>
              </a:rPr>
              <a:t>Carry forward of losses</a:t>
            </a:r>
          </a:p>
          <a:p>
            <a:pPr marL="0" indent="0" algn="just">
              <a:buNone/>
            </a:pPr>
            <a:r>
              <a:rPr lang="en-US" dirty="0">
                <a:solidFill>
                  <a:schemeClr val="bg1"/>
                </a:solidFill>
                <a:latin typeface="Cambria" panose="02040503050406030204" pitchFamily="18" charset="0"/>
                <a:ea typeface="Cambria" panose="02040503050406030204" pitchFamily="18" charset="0"/>
              </a:rPr>
              <a:t>After making the appropriate and permissible intra-head and inter-head adjustments, there could still be unadjusted losses. These unadjusted losses can be carried forward to future years for adjustments against income of these years. The rules as regards carry forward differ slightly for different heads of income</a:t>
            </a:r>
          </a:p>
          <a:p>
            <a:pPr marL="0" indent="0" algn="just">
              <a:buNone/>
            </a:pPr>
            <a:r>
              <a:rPr lang="en-US" b="1" dirty="0">
                <a:latin typeface="Cambria" panose="02040503050406030204" pitchFamily="18" charset="0"/>
                <a:ea typeface="Cambria" panose="02040503050406030204" pitchFamily="18" charset="0"/>
              </a:rPr>
              <a:t>Capital Losses: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 be carry forward up to next 8 assessment years from the assessment year in which the loss was incurred</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Long-term capital losses can be adjusted only against long-term capital gains.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Short-term capital losses can be set off against long-term capital gains as well as short-term capital gains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Cannot be carried forward if the return is not filed within the original due date</a:t>
            </a: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77B9794E-D304-5D44-0071-EE3ADE7E2F9F}"/>
              </a:ext>
            </a:extLst>
          </p:cNvPr>
          <p:cNvSpPr>
            <a:spLocks noGrp="1"/>
          </p:cNvSpPr>
          <p:nvPr>
            <p:ph type="sldNum" sz="quarter" idx="12"/>
          </p:nvPr>
        </p:nvSpPr>
        <p:spPr/>
        <p:txBody>
          <a:bodyPr/>
          <a:lstStyle/>
          <a:p>
            <a:fld id="{94013DF8-6EF8-4A98-8821-E6468C17C0C3}" type="slidenum">
              <a:rPr lang="en-IN" smtClean="0"/>
              <a:t>157</a:t>
            </a:fld>
            <a:endParaRPr lang="en-IN"/>
          </a:p>
        </p:txBody>
      </p:sp>
    </p:spTree>
    <p:extLst>
      <p:ext uri="{BB962C8B-B14F-4D97-AF65-F5344CB8AC3E}">
        <p14:creationId xmlns:p14="http://schemas.microsoft.com/office/powerpoint/2010/main" val="3764753978"/>
      </p:ext>
    </p:extLst>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4013DF8-6EF8-4A98-8821-E6468C17C0C3}" type="slidenum">
              <a:rPr lang="en-IN" smtClean="0"/>
              <a:t>158</a:t>
            </a:fld>
            <a:endParaRPr lang="en-IN"/>
          </a:p>
        </p:txBody>
      </p:sp>
      <p:pic>
        <p:nvPicPr>
          <p:cNvPr id="6146" name="Picture 2" descr="Set Off and Carry Forward of Losses under Income Tax - Learn by Quicko"/>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00275" y="125499"/>
            <a:ext cx="7327900" cy="65118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72740916"/>
      </p:ext>
    </p:extLst>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C5C0-678B-7D78-117D-43631DEC7985}"/>
              </a:ext>
            </a:extLst>
          </p:cNvPr>
          <p:cNvSpPr>
            <a:spLocks noGrp="1"/>
          </p:cNvSpPr>
          <p:nvPr>
            <p:ph type="title"/>
          </p:nvPr>
        </p:nvSpPr>
        <p:spPr/>
        <p:txBody>
          <a:bodyPr/>
          <a:lstStyle/>
          <a:p>
            <a:r>
              <a:rPr lang="en-IN" dirty="0"/>
              <a:t>TDS </a:t>
            </a:r>
            <a:r>
              <a:rPr lang="en-IN" sz="3600" dirty="0"/>
              <a:t>(TAX DEDUCTED AT SOURCE)</a:t>
            </a:r>
          </a:p>
        </p:txBody>
      </p:sp>
      <p:sp>
        <p:nvSpPr>
          <p:cNvPr id="3" name="Content Placeholder 2">
            <a:extLst>
              <a:ext uri="{FF2B5EF4-FFF2-40B4-BE49-F238E27FC236}">
                <a16:creationId xmlns:a16="http://schemas.microsoft.com/office/drawing/2014/main" id="{536C59BD-819B-5502-44EF-5FB1FAA5175F}"/>
              </a:ext>
            </a:extLst>
          </p:cNvPr>
          <p:cNvSpPr>
            <a:spLocks noGrp="1"/>
          </p:cNvSpPr>
          <p:nvPr>
            <p:ph idx="1"/>
          </p:nvPr>
        </p:nvSpPr>
        <p:spPr>
          <a:xfrm>
            <a:off x="1103312" y="1567544"/>
            <a:ext cx="10087427" cy="4680856"/>
          </a:xfrm>
        </p:spPr>
        <p:txBody>
          <a:bodyPr/>
          <a:lstStyle/>
          <a:p>
            <a:pPr marL="0" indent="0" algn="just">
              <a:buNone/>
            </a:pPr>
            <a:r>
              <a:rPr lang="en-US" dirty="0">
                <a:latin typeface="Cambria" panose="02040503050406030204" pitchFamily="18" charset="0"/>
                <a:ea typeface="Cambria" panose="02040503050406030204" pitchFamily="18" charset="0"/>
              </a:rPr>
              <a:t>The concept of TDS was introduced with an aim to collect tax from the very source of income. As per this concept, a person (</a:t>
            </a:r>
            <a:r>
              <a:rPr lang="en-US" dirty="0" err="1">
                <a:latin typeface="Cambria" panose="02040503050406030204" pitchFamily="18" charset="0"/>
                <a:ea typeface="Cambria" panose="02040503050406030204" pitchFamily="18" charset="0"/>
              </a:rPr>
              <a:t>deductor</a:t>
            </a:r>
            <a:r>
              <a:rPr lang="en-US" dirty="0">
                <a:latin typeface="Cambria" panose="02040503050406030204" pitchFamily="18" charset="0"/>
                <a:ea typeface="Cambria" panose="02040503050406030204" pitchFamily="18" charset="0"/>
              </a:rPr>
              <a:t>) who is liable to make payment of specified nature to any other person (</a:t>
            </a:r>
            <a:r>
              <a:rPr lang="en-US" dirty="0" err="1">
                <a:latin typeface="Cambria" panose="02040503050406030204" pitchFamily="18" charset="0"/>
                <a:ea typeface="Cambria" panose="02040503050406030204" pitchFamily="18" charset="0"/>
              </a:rPr>
              <a:t>deductee</a:t>
            </a:r>
            <a:r>
              <a:rPr lang="en-US" dirty="0">
                <a:latin typeface="Cambria" panose="02040503050406030204" pitchFamily="18" charset="0"/>
                <a:ea typeface="Cambria" panose="02040503050406030204" pitchFamily="18" charset="0"/>
              </a:rPr>
              <a:t>) shall deduct tax at source and remit the same into the account of the Central Government. </a:t>
            </a:r>
          </a:p>
          <a:p>
            <a:pPr marL="0" indent="0" algn="just">
              <a:buNone/>
            </a:pPr>
            <a:r>
              <a:rPr lang="en-US" dirty="0">
                <a:latin typeface="Cambria" panose="02040503050406030204" pitchFamily="18" charset="0"/>
                <a:ea typeface="Cambria" panose="02040503050406030204" pitchFamily="18" charset="0"/>
              </a:rPr>
              <a:t>The </a:t>
            </a:r>
            <a:r>
              <a:rPr lang="en-US" dirty="0" err="1">
                <a:latin typeface="Cambria" panose="02040503050406030204" pitchFamily="18" charset="0"/>
                <a:ea typeface="Cambria" panose="02040503050406030204" pitchFamily="18" charset="0"/>
              </a:rPr>
              <a:t>deductee</a:t>
            </a:r>
            <a:r>
              <a:rPr lang="en-US" dirty="0">
                <a:latin typeface="Cambria" panose="02040503050406030204" pitchFamily="18" charset="0"/>
                <a:ea typeface="Cambria" panose="02040503050406030204" pitchFamily="18" charset="0"/>
              </a:rPr>
              <a:t> from whose income tax has been deducted at source would be entitled to get credit of the amount so deducted on the basis of Form 26AS or TDS certificate issued by the </a:t>
            </a:r>
            <a:r>
              <a:rPr lang="en-US" dirty="0" err="1">
                <a:latin typeface="Cambria" panose="02040503050406030204" pitchFamily="18" charset="0"/>
                <a:ea typeface="Cambria" panose="02040503050406030204" pitchFamily="18" charset="0"/>
              </a:rPr>
              <a:t>deductor</a:t>
            </a:r>
            <a:r>
              <a:rPr lang="en-US" dirty="0">
                <a:latin typeface="Cambria" panose="02040503050406030204" pitchFamily="18" charset="0"/>
                <a:ea typeface="Cambria" panose="02040503050406030204" pitchFamily="18" charset="0"/>
              </a:rPr>
              <a:t>.</a:t>
            </a:r>
          </a:p>
          <a:p>
            <a:pPr marL="0" indent="0" algn="just">
              <a:buNone/>
            </a:pPr>
            <a:r>
              <a:rPr lang="en-US" b="1" dirty="0">
                <a:latin typeface="Cambria" panose="02040503050406030204" pitchFamily="18" charset="0"/>
                <a:ea typeface="Cambria" panose="02040503050406030204" pitchFamily="18" charset="0"/>
              </a:rPr>
              <a:t>Rates for deduct of tax at source</a:t>
            </a:r>
          </a:p>
          <a:p>
            <a:pPr marL="0" indent="0" algn="just">
              <a:buNone/>
            </a:pPr>
            <a:r>
              <a:rPr lang="en-US" dirty="0">
                <a:latin typeface="Cambria" panose="02040503050406030204" pitchFamily="18" charset="0"/>
                <a:ea typeface="Cambria" panose="02040503050406030204" pitchFamily="18" charset="0"/>
              </a:rPr>
              <a:t>Taxes shall be deducted at the rates specified in the relevant provisions of the Act or the First Schedule to the Finance Act.</a:t>
            </a:r>
          </a:p>
          <a:p>
            <a:pPr marL="0" indent="0" algn="just">
              <a:buNone/>
            </a:pPr>
            <a:r>
              <a:rPr lang="en-US" sz="3200" dirty="0">
                <a:latin typeface="Cambria" panose="02040503050406030204" pitchFamily="18" charset="0"/>
                <a:ea typeface="Cambria" panose="02040503050406030204" pitchFamily="18" charset="0"/>
                <a:hlinkClick r:id="rId2" action="ppaction://hlinkfile"/>
              </a:rPr>
              <a:t>TDS Rates</a:t>
            </a:r>
            <a:endParaRPr lang="en-IN" sz="3200"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6943744F-7EFF-67B9-908F-2726AB8A9357}"/>
              </a:ext>
            </a:extLst>
          </p:cNvPr>
          <p:cNvSpPr>
            <a:spLocks noGrp="1"/>
          </p:cNvSpPr>
          <p:nvPr>
            <p:ph type="sldNum" sz="quarter" idx="12"/>
          </p:nvPr>
        </p:nvSpPr>
        <p:spPr/>
        <p:txBody>
          <a:bodyPr/>
          <a:lstStyle/>
          <a:p>
            <a:fld id="{94013DF8-6EF8-4A98-8821-E6468C17C0C3}" type="slidenum">
              <a:rPr lang="en-IN" smtClean="0"/>
              <a:t>159</a:t>
            </a:fld>
            <a:endParaRPr lang="en-IN"/>
          </a:p>
        </p:txBody>
      </p:sp>
    </p:spTree>
    <p:extLst>
      <p:ext uri="{BB962C8B-B14F-4D97-AF65-F5344CB8AC3E}">
        <p14:creationId xmlns:p14="http://schemas.microsoft.com/office/powerpoint/2010/main" val="3291105091"/>
      </p:ext>
    </p:extLst>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94013DF8-6EF8-4A98-8821-E6468C17C0C3}" type="slidenum">
              <a:rPr lang="en-IN" smtClean="0"/>
              <a:t>160</a:t>
            </a:fld>
            <a:endParaRPr lang="en-IN"/>
          </a:p>
        </p:txBody>
      </p:sp>
      <p:pic>
        <p:nvPicPr>
          <p:cNvPr id="6" name="Picture 5"/>
          <p:cNvPicPr>
            <a:picLocks noChangeAspect="1"/>
          </p:cNvPicPr>
          <p:nvPr/>
        </p:nvPicPr>
        <p:blipFill>
          <a:blip r:embed="rId2"/>
          <a:stretch>
            <a:fillRect/>
          </a:stretch>
        </p:blipFill>
        <p:spPr>
          <a:xfrm>
            <a:off x="2579298" y="0"/>
            <a:ext cx="6896228" cy="6836468"/>
          </a:xfrm>
          <a:prstGeom prst="rect">
            <a:avLst/>
          </a:prstGeom>
        </p:spPr>
      </p:pic>
    </p:spTree>
    <p:extLst>
      <p:ext uri="{BB962C8B-B14F-4D97-AF65-F5344CB8AC3E}">
        <p14:creationId xmlns:p14="http://schemas.microsoft.com/office/powerpoint/2010/main" val="1529252803"/>
      </p:ext>
    </p:extLst>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C5C0-678B-7D78-117D-43631DEC7985}"/>
              </a:ext>
            </a:extLst>
          </p:cNvPr>
          <p:cNvSpPr>
            <a:spLocks noGrp="1"/>
          </p:cNvSpPr>
          <p:nvPr>
            <p:ph type="title"/>
          </p:nvPr>
        </p:nvSpPr>
        <p:spPr/>
        <p:txBody>
          <a:bodyPr/>
          <a:lstStyle/>
          <a:p>
            <a:r>
              <a:rPr lang="en-IN" dirty="0"/>
              <a:t>TDS </a:t>
            </a:r>
            <a:r>
              <a:rPr lang="en-IN" sz="3600" dirty="0"/>
              <a:t>(TAX DEDUCTED AT SOURCE)</a:t>
            </a:r>
          </a:p>
        </p:txBody>
      </p:sp>
      <p:sp>
        <p:nvSpPr>
          <p:cNvPr id="3" name="Content Placeholder 2">
            <a:extLst>
              <a:ext uri="{FF2B5EF4-FFF2-40B4-BE49-F238E27FC236}">
                <a16:creationId xmlns:a16="http://schemas.microsoft.com/office/drawing/2014/main" id="{536C59BD-819B-5502-44EF-5FB1FAA5175F}"/>
              </a:ext>
            </a:extLst>
          </p:cNvPr>
          <p:cNvSpPr>
            <a:spLocks noGrp="1"/>
          </p:cNvSpPr>
          <p:nvPr>
            <p:ph idx="1"/>
          </p:nvPr>
        </p:nvSpPr>
        <p:spPr>
          <a:xfrm>
            <a:off x="1103312" y="1567544"/>
            <a:ext cx="10087427" cy="4680856"/>
          </a:xfrm>
        </p:spPr>
        <p:txBody>
          <a:bodyPr/>
          <a:lstStyle/>
          <a:p>
            <a:pPr marL="0" indent="0" algn="just">
              <a:buNone/>
            </a:pPr>
            <a:r>
              <a:rPr lang="en-US" b="1" dirty="0">
                <a:latin typeface="Cambria" panose="02040503050406030204" pitchFamily="18" charset="0"/>
                <a:ea typeface="Cambria" panose="02040503050406030204" pitchFamily="18" charset="0"/>
              </a:rPr>
              <a:t>How to pay Tax Deducted/Collected at source?</a:t>
            </a:r>
          </a:p>
          <a:p>
            <a:pPr marL="0" indent="0" algn="just">
              <a:buNone/>
            </a:pPr>
            <a:r>
              <a:rPr lang="en-US" dirty="0">
                <a:latin typeface="Cambria" panose="02040503050406030204" pitchFamily="18" charset="0"/>
                <a:ea typeface="Cambria" panose="02040503050406030204" pitchFamily="18" charset="0"/>
              </a:rPr>
              <a:t>Tax deducted or collected at source shall be deposited to the credit of the Central Government by following modes:</a:t>
            </a:r>
          </a:p>
          <a:p>
            <a:pPr marL="0" indent="0" algn="just">
              <a:buNone/>
            </a:pPr>
            <a:r>
              <a:rPr lang="en-US" dirty="0">
                <a:latin typeface="Cambria" panose="02040503050406030204" pitchFamily="18" charset="0"/>
                <a:ea typeface="Cambria" panose="02040503050406030204" pitchFamily="18" charset="0"/>
              </a:rPr>
              <a:t>1) Electronic mode (</a:t>
            </a:r>
            <a:r>
              <a:rPr lang="en-IN" dirty="0"/>
              <a:t>https://www.tin-nsdl.com)</a:t>
            </a:r>
            <a:r>
              <a:rPr lang="en-US" dirty="0">
                <a:latin typeface="Cambria" panose="02040503050406030204" pitchFamily="18" charset="0"/>
                <a:ea typeface="Cambria" panose="02040503050406030204" pitchFamily="18" charset="0"/>
              </a:rPr>
              <a:t>: E-Payment is mandatory for</a:t>
            </a:r>
          </a:p>
          <a:p>
            <a:pPr marL="0" indent="0" algn="just">
              <a:buNone/>
            </a:pPr>
            <a:r>
              <a:rPr lang="en-US" dirty="0">
                <a:latin typeface="Cambria" panose="02040503050406030204" pitchFamily="18" charset="0"/>
                <a:ea typeface="Cambria" panose="02040503050406030204" pitchFamily="18" charset="0"/>
              </a:rPr>
              <a:t>		a) All corporate assesses; and</a:t>
            </a:r>
          </a:p>
          <a:p>
            <a:pPr marL="0" indent="0" algn="just">
              <a:buNone/>
            </a:pPr>
            <a:r>
              <a:rPr lang="en-US" dirty="0">
                <a:latin typeface="Cambria" panose="02040503050406030204" pitchFamily="18" charset="0"/>
                <a:ea typeface="Cambria" panose="02040503050406030204" pitchFamily="18" charset="0"/>
              </a:rPr>
              <a:t>		b) All assesses (other than company) to whom provisions of section 44AB of the 				Income Tax Act, 1961 are applicable.</a:t>
            </a:r>
          </a:p>
          <a:p>
            <a:pPr marL="0" indent="0" algn="just">
              <a:buNone/>
            </a:pPr>
            <a:r>
              <a:rPr lang="en-US" dirty="0">
                <a:latin typeface="Cambria" panose="02040503050406030204" pitchFamily="18" charset="0"/>
                <a:ea typeface="Cambria" panose="02040503050406030204" pitchFamily="18" charset="0"/>
              </a:rPr>
              <a:t>2) Physical Mode: By furnishing the Challan 281 in the authorized bank branch</a:t>
            </a:r>
          </a:p>
          <a:p>
            <a:pPr marL="0" indent="0" algn="just">
              <a:buNone/>
            </a:pPr>
            <a:endParaRPr lang="en-US"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6943744F-7EFF-67B9-908F-2726AB8A9357}"/>
              </a:ext>
            </a:extLst>
          </p:cNvPr>
          <p:cNvSpPr>
            <a:spLocks noGrp="1"/>
          </p:cNvSpPr>
          <p:nvPr>
            <p:ph type="sldNum" sz="quarter" idx="12"/>
          </p:nvPr>
        </p:nvSpPr>
        <p:spPr/>
        <p:txBody>
          <a:bodyPr/>
          <a:lstStyle/>
          <a:p>
            <a:fld id="{94013DF8-6EF8-4A98-8821-E6468C17C0C3}" type="slidenum">
              <a:rPr lang="en-IN" smtClean="0"/>
              <a:t>161</a:t>
            </a:fld>
            <a:endParaRPr lang="en-IN"/>
          </a:p>
        </p:txBody>
      </p:sp>
      <p:sp>
        <p:nvSpPr>
          <p:cNvPr id="4" name="Rectangle 3"/>
          <p:cNvSpPr/>
          <p:nvPr/>
        </p:nvSpPr>
        <p:spPr>
          <a:xfrm>
            <a:off x="551221" y="5374106"/>
            <a:ext cx="10775263" cy="646331"/>
          </a:xfrm>
          <a:prstGeom prst="rect">
            <a:avLst/>
          </a:prstGeom>
        </p:spPr>
        <p:txBody>
          <a:bodyPr wrap="square">
            <a:spAutoFit/>
          </a:bodyPr>
          <a:lstStyle/>
          <a:p>
            <a:r>
              <a:rPr lang="en-US" b="1" dirty="0"/>
              <a:t>Due Date for Payment</a:t>
            </a:r>
            <a:r>
              <a:rPr lang="en-US" dirty="0"/>
              <a:t>: TDS/TCS must be deposited by the </a:t>
            </a:r>
            <a:r>
              <a:rPr lang="en-US" b="1" dirty="0"/>
              <a:t>7th of the following month</a:t>
            </a:r>
            <a:r>
              <a:rPr lang="en-US" dirty="0"/>
              <a:t> for monthly payments. For March, it’s </a:t>
            </a:r>
            <a:r>
              <a:rPr lang="en-US" b="1" dirty="0"/>
              <a:t>April 30th</a:t>
            </a:r>
            <a:r>
              <a:rPr lang="en-US" dirty="0"/>
              <a:t>.</a:t>
            </a:r>
            <a:endParaRPr lang="en-IN" dirty="0"/>
          </a:p>
        </p:txBody>
      </p:sp>
    </p:spTree>
    <p:extLst>
      <p:ext uri="{BB962C8B-B14F-4D97-AF65-F5344CB8AC3E}">
        <p14:creationId xmlns:p14="http://schemas.microsoft.com/office/powerpoint/2010/main" val="2252816890"/>
      </p:ext>
    </p:extLst>
  </p:cSld>
  <p:clrMapOvr>
    <a:masterClrMapping/>
  </p:clrMapOvr>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C5C0-678B-7D78-117D-43631DEC7985}"/>
              </a:ext>
            </a:extLst>
          </p:cNvPr>
          <p:cNvSpPr>
            <a:spLocks noGrp="1"/>
          </p:cNvSpPr>
          <p:nvPr>
            <p:ph type="title"/>
          </p:nvPr>
        </p:nvSpPr>
        <p:spPr/>
        <p:txBody>
          <a:bodyPr/>
          <a:lstStyle/>
          <a:p>
            <a:r>
              <a:rPr lang="en-IN" dirty="0"/>
              <a:t>TCS </a:t>
            </a:r>
            <a:r>
              <a:rPr lang="en-IN" sz="3600" dirty="0"/>
              <a:t>(TAX COLLECTION AT SOURCE)</a:t>
            </a:r>
          </a:p>
        </p:txBody>
      </p:sp>
      <p:sp>
        <p:nvSpPr>
          <p:cNvPr id="3" name="Content Placeholder 2">
            <a:extLst>
              <a:ext uri="{FF2B5EF4-FFF2-40B4-BE49-F238E27FC236}">
                <a16:creationId xmlns:a16="http://schemas.microsoft.com/office/drawing/2014/main" id="{536C59BD-819B-5502-44EF-5FB1FAA5175F}"/>
              </a:ext>
            </a:extLst>
          </p:cNvPr>
          <p:cNvSpPr>
            <a:spLocks noGrp="1"/>
          </p:cNvSpPr>
          <p:nvPr>
            <p:ph idx="1"/>
          </p:nvPr>
        </p:nvSpPr>
        <p:spPr>
          <a:xfrm>
            <a:off x="1103312" y="1338943"/>
            <a:ext cx="10087427" cy="5410200"/>
          </a:xfrm>
        </p:spPr>
        <p:txBody>
          <a:bodyPr>
            <a:normAutofit fontScale="92500" lnSpcReduction="20000"/>
          </a:bodyPr>
          <a:lstStyle/>
          <a:p>
            <a:pPr marL="0" indent="0" algn="just">
              <a:lnSpc>
                <a:spcPct val="120000"/>
              </a:lnSpc>
              <a:buNone/>
            </a:pPr>
            <a:r>
              <a:rPr lang="en-US" sz="2200" dirty="0">
                <a:latin typeface="Cambria" panose="02040503050406030204" pitchFamily="18" charset="0"/>
                <a:ea typeface="Cambria" panose="02040503050406030204" pitchFamily="18" charset="0"/>
              </a:rPr>
              <a:t>Tax Collected at Source (TCS) is a tax payable by a seller which he collects from the buyer at the time of sale of goods. Section 206 of the Income Tax Act mentions the list of goods on which the seller should collect tax from buyers.</a:t>
            </a:r>
          </a:p>
          <a:p>
            <a:pPr marL="0" indent="0" algn="just">
              <a:lnSpc>
                <a:spcPct val="120000"/>
              </a:lnSpc>
              <a:buNone/>
            </a:pPr>
            <a:endParaRPr lang="en-US" sz="2200" dirty="0">
              <a:latin typeface="Cambria" panose="02040503050406030204" pitchFamily="18" charset="0"/>
              <a:ea typeface="Cambria" panose="02040503050406030204" pitchFamily="18" charset="0"/>
            </a:endParaRPr>
          </a:p>
          <a:p>
            <a:pPr marL="0" indent="0" algn="just">
              <a:buNone/>
            </a:pPr>
            <a:r>
              <a:rPr lang="en-US" b="1" dirty="0">
                <a:latin typeface="Cambria" panose="02040503050406030204" pitchFamily="18" charset="0"/>
                <a:ea typeface="Cambria" panose="02040503050406030204" pitchFamily="18" charset="0"/>
              </a:rPr>
              <a:t>Who is a Seller for TCS?</a:t>
            </a:r>
          </a:p>
          <a:p>
            <a:pPr marL="0" indent="0" algn="just">
              <a:buNone/>
            </a:pPr>
            <a:r>
              <a:rPr lang="en-US" dirty="0">
                <a:latin typeface="Cambria" panose="02040503050406030204" pitchFamily="18" charset="0"/>
                <a:ea typeface="Cambria" panose="02040503050406030204" pitchFamily="18" charset="0"/>
              </a:rPr>
              <a:t>A seller is categorized as any individual or organization authorized under Tax Collected at Source. The following are defined as Sellers –</a:t>
            </a:r>
          </a:p>
          <a:p>
            <a:pPr marL="0" indent="0" algn="just">
              <a:buNone/>
            </a:pPr>
            <a:r>
              <a:rPr lang="en-US" dirty="0">
                <a:latin typeface="Cambria" panose="02040503050406030204" pitchFamily="18" charset="0"/>
                <a:ea typeface="Cambria" panose="02040503050406030204" pitchFamily="18" charset="0"/>
              </a:rPr>
              <a:t>1. Central Government					2. State Government</a:t>
            </a:r>
          </a:p>
          <a:p>
            <a:pPr marL="0" indent="0" algn="just">
              <a:buNone/>
            </a:pPr>
            <a:r>
              <a:rPr lang="en-US" dirty="0">
                <a:latin typeface="Cambria" panose="02040503050406030204" pitchFamily="18" charset="0"/>
                <a:ea typeface="Cambria" panose="02040503050406030204" pitchFamily="18" charset="0"/>
              </a:rPr>
              <a:t>3. Statutory Corporation or Authority		4. Local Authority</a:t>
            </a:r>
          </a:p>
          <a:p>
            <a:pPr marL="0" indent="0" algn="just">
              <a:buNone/>
            </a:pPr>
            <a:r>
              <a:rPr lang="en-US" dirty="0">
                <a:latin typeface="Cambria" panose="02040503050406030204" pitchFamily="18" charset="0"/>
                <a:ea typeface="Cambria" panose="02040503050406030204" pitchFamily="18" charset="0"/>
              </a:rPr>
              <a:t>5. Company								6. Co-operative Society</a:t>
            </a:r>
          </a:p>
          <a:p>
            <a:pPr marL="0" indent="0" algn="just">
              <a:buNone/>
            </a:pPr>
            <a:r>
              <a:rPr lang="en-US" dirty="0">
                <a:latin typeface="Cambria" panose="02040503050406030204" pitchFamily="18" charset="0"/>
                <a:ea typeface="Cambria" panose="02040503050406030204" pitchFamily="18" charset="0"/>
              </a:rPr>
              <a:t>7. Partnership Firms						8. Any Individual or Hindu Undivided Family 											(HUF) defined under the Section 44AB, who has 											gross receipts or total sales that exceed the 												specified financial restricts based on the 												previous year</a:t>
            </a:r>
          </a:p>
          <a:p>
            <a:pPr marL="0" indent="0" algn="just">
              <a:buNone/>
            </a:pPr>
            <a:r>
              <a:rPr lang="en-US" sz="3500" dirty="0">
                <a:latin typeface="Cambria" panose="02040503050406030204" pitchFamily="18" charset="0"/>
                <a:ea typeface="Cambria" panose="02040503050406030204" pitchFamily="18" charset="0"/>
                <a:hlinkClick r:id="rId2" action="ppaction://hlinkfile"/>
              </a:rPr>
              <a:t>TCS</a:t>
            </a:r>
            <a:endParaRPr lang="en-US" sz="3500"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6943744F-7EFF-67B9-908F-2726AB8A9357}"/>
              </a:ext>
            </a:extLst>
          </p:cNvPr>
          <p:cNvSpPr>
            <a:spLocks noGrp="1"/>
          </p:cNvSpPr>
          <p:nvPr>
            <p:ph type="sldNum" sz="quarter" idx="12"/>
          </p:nvPr>
        </p:nvSpPr>
        <p:spPr/>
        <p:txBody>
          <a:bodyPr/>
          <a:lstStyle/>
          <a:p>
            <a:fld id="{94013DF8-6EF8-4A98-8821-E6468C17C0C3}" type="slidenum">
              <a:rPr lang="en-IN" smtClean="0"/>
              <a:t>162</a:t>
            </a:fld>
            <a:endParaRPr lang="en-IN"/>
          </a:p>
        </p:txBody>
      </p:sp>
    </p:spTree>
    <p:extLst>
      <p:ext uri="{BB962C8B-B14F-4D97-AF65-F5344CB8AC3E}">
        <p14:creationId xmlns:p14="http://schemas.microsoft.com/office/powerpoint/2010/main" val="544490719"/>
      </p:ext>
    </p:extLst>
  </p:cSld>
  <p:clrMapOvr>
    <a:masterClrMapping/>
  </p:clrMapOvr>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C5C0-678B-7D78-117D-43631DEC7985}"/>
              </a:ext>
            </a:extLst>
          </p:cNvPr>
          <p:cNvSpPr>
            <a:spLocks noGrp="1"/>
          </p:cNvSpPr>
          <p:nvPr>
            <p:ph type="title"/>
          </p:nvPr>
        </p:nvSpPr>
        <p:spPr/>
        <p:txBody>
          <a:bodyPr/>
          <a:lstStyle/>
          <a:p>
            <a:r>
              <a:rPr lang="en-IN" dirty="0"/>
              <a:t>TCS </a:t>
            </a:r>
            <a:r>
              <a:rPr lang="en-IN" sz="3600" dirty="0"/>
              <a:t>(TAX COLLECTION AT SOURCE)</a:t>
            </a:r>
          </a:p>
        </p:txBody>
      </p:sp>
      <p:sp>
        <p:nvSpPr>
          <p:cNvPr id="3" name="Content Placeholder 2">
            <a:extLst>
              <a:ext uri="{FF2B5EF4-FFF2-40B4-BE49-F238E27FC236}">
                <a16:creationId xmlns:a16="http://schemas.microsoft.com/office/drawing/2014/main" id="{536C59BD-819B-5502-44EF-5FB1FAA5175F}"/>
              </a:ext>
            </a:extLst>
          </p:cNvPr>
          <p:cNvSpPr>
            <a:spLocks noGrp="1"/>
          </p:cNvSpPr>
          <p:nvPr>
            <p:ph idx="1"/>
          </p:nvPr>
        </p:nvSpPr>
        <p:spPr>
          <a:xfrm>
            <a:off x="1103312" y="1338943"/>
            <a:ext cx="10087427" cy="5410200"/>
          </a:xfrm>
        </p:spPr>
        <p:txBody>
          <a:bodyPr>
            <a:normAutofit fontScale="92500" lnSpcReduction="20000"/>
          </a:bodyPr>
          <a:lstStyle/>
          <a:p>
            <a:pPr marL="0" indent="0" algn="just">
              <a:lnSpc>
                <a:spcPct val="120000"/>
              </a:lnSpc>
              <a:buNone/>
            </a:pPr>
            <a:r>
              <a:rPr lang="en-US" sz="2200" dirty="0">
                <a:latin typeface="Cambria" panose="02040503050406030204" pitchFamily="18" charset="0"/>
                <a:ea typeface="Cambria" panose="02040503050406030204" pitchFamily="18" charset="0"/>
              </a:rPr>
              <a:t>Tax Collected at Source (TCS) is a tax payable by a seller which he collects from the buyer at the time of sale of goods. Section 206 of the Income Tax Act mentions the list of goods on which the seller should collect tax from buyers.</a:t>
            </a:r>
          </a:p>
          <a:p>
            <a:pPr marL="0" indent="0" algn="just">
              <a:lnSpc>
                <a:spcPct val="120000"/>
              </a:lnSpc>
              <a:buNone/>
            </a:pPr>
            <a:endParaRPr lang="en-US" sz="2200" dirty="0">
              <a:latin typeface="Cambria" panose="02040503050406030204" pitchFamily="18" charset="0"/>
              <a:ea typeface="Cambria" panose="02040503050406030204" pitchFamily="18" charset="0"/>
            </a:endParaRPr>
          </a:p>
          <a:p>
            <a:pPr marL="0" indent="0" algn="just">
              <a:buNone/>
            </a:pPr>
            <a:r>
              <a:rPr lang="en-US" b="1" dirty="0">
                <a:latin typeface="Cambria" panose="02040503050406030204" pitchFamily="18" charset="0"/>
                <a:ea typeface="Cambria" panose="02040503050406030204" pitchFamily="18" charset="0"/>
              </a:rPr>
              <a:t>Who is a Buyer for TCS?</a:t>
            </a:r>
          </a:p>
          <a:p>
            <a:pPr marL="0" indent="0" algn="just">
              <a:buNone/>
            </a:pPr>
            <a:r>
              <a:rPr lang="en-US" sz="2200" dirty="0">
                <a:latin typeface="Cambria" panose="02040503050406030204" pitchFamily="18" charset="0"/>
                <a:ea typeface="Cambria" panose="02040503050406030204" pitchFamily="18" charset="0"/>
              </a:rPr>
              <a:t>A buyer is </a:t>
            </a:r>
            <a:r>
              <a:rPr lang="en-US" sz="2200" dirty="0" err="1">
                <a:latin typeface="Cambria" panose="02040503050406030204" pitchFamily="18" charset="0"/>
                <a:ea typeface="Cambria" panose="02040503050406030204" pitchFamily="18" charset="0"/>
              </a:rPr>
              <a:t>categorsied</a:t>
            </a:r>
            <a:r>
              <a:rPr lang="en-US" sz="2200" dirty="0">
                <a:latin typeface="Cambria" panose="02040503050406030204" pitchFamily="18" charset="0"/>
                <a:ea typeface="Cambria" panose="02040503050406030204" pitchFamily="18" charset="0"/>
              </a:rPr>
              <a:t> as any individual, who receives the actual goods or the rights of receiving goods at a tender, auction, sale, or other modes. All individuals (except for the below – mentioned list of individuals and organizations) are classified as buyers for TCS –</a:t>
            </a:r>
          </a:p>
          <a:p>
            <a:pPr marL="0" indent="0" algn="just">
              <a:buNone/>
            </a:pPr>
            <a:endParaRPr lang="en-US" dirty="0">
              <a:latin typeface="Cambria" panose="02040503050406030204" pitchFamily="18" charset="0"/>
              <a:ea typeface="Cambria" panose="02040503050406030204" pitchFamily="18" charset="0"/>
            </a:endParaRPr>
          </a:p>
          <a:p>
            <a:pPr marL="0" indent="0" algn="just">
              <a:buNone/>
            </a:pPr>
            <a:r>
              <a:rPr lang="en-US" dirty="0">
                <a:latin typeface="Cambria" panose="02040503050406030204" pitchFamily="18" charset="0"/>
                <a:ea typeface="Cambria" panose="02040503050406030204" pitchFamily="18" charset="0"/>
              </a:rPr>
              <a:t>1. Public Sector Entities</a:t>
            </a:r>
          </a:p>
          <a:p>
            <a:pPr marL="0" indent="0" algn="just">
              <a:buNone/>
            </a:pPr>
            <a:r>
              <a:rPr lang="en-US" dirty="0">
                <a:latin typeface="Cambria" panose="02040503050406030204" pitchFamily="18" charset="0"/>
                <a:ea typeface="Cambria" panose="02040503050406030204" pitchFamily="18" charset="0"/>
              </a:rPr>
              <a:t>2. Central Government</a:t>
            </a:r>
          </a:p>
          <a:p>
            <a:pPr marL="0" indent="0" algn="just">
              <a:buNone/>
            </a:pPr>
            <a:r>
              <a:rPr lang="en-US" dirty="0">
                <a:latin typeface="Cambria" panose="02040503050406030204" pitchFamily="18" charset="0"/>
                <a:ea typeface="Cambria" panose="02040503050406030204" pitchFamily="18" charset="0"/>
              </a:rPr>
              <a:t>3. State Government</a:t>
            </a:r>
          </a:p>
          <a:p>
            <a:pPr marL="0" indent="0" algn="just">
              <a:buNone/>
            </a:pPr>
            <a:r>
              <a:rPr lang="en-US" dirty="0">
                <a:latin typeface="Cambria" panose="02040503050406030204" pitchFamily="18" charset="0"/>
                <a:ea typeface="Cambria" panose="02040503050406030204" pitchFamily="18" charset="0"/>
              </a:rPr>
              <a:t>4. Consulates and any other Trade Representations of a Foreign Nation</a:t>
            </a:r>
          </a:p>
          <a:p>
            <a:pPr marL="0" indent="0" algn="just">
              <a:buNone/>
            </a:pPr>
            <a:r>
              <a:rPr lang="en-US" dirty="0">
                <a:latin typeface="Cambria" panose="02040503050406030204" pitchFamily="18" charset="0"/>
                <a:ea typeface="Cambria" panose="02040503050406030204" pitchFamily="18" charset="0"/>
              </a:rPr>
              <a:t>5. High Commission Embassies</a:t>
            </a:r>
          </a:p>
          <a:p>
            <a:pPr marL="0" indent="0" algn="just">
              <a:buNone/>
            </a:pPr>
            <a:r>
              <a:rPr lang="en-US" dirty="0">
                <a:latin typeface="Cambria" panose="02040503050406030204" pitchFamily="18" charset="0"/>
                <a:ea typeface="Cambria" panose="02040503050406030204" pitchFamily="18" charset="0"/>
              </a:rPr>
              <a:t>6. Clubs such as social clubs or sports clubs</a:t>
            </a:r>
          </a:p>
        </p:txBody>
      </p:sp>
      <p:sp>
        <p:nvSpPr>
          <p:cNvPr id="6" name="Slide Number Placeholder 5">
            <a:extLst>
              <a:ext uri="{FF2B5EF4-FFF2-40B4-BE49-F238E27FC236}">
                <a16:creationId xmlns:a16="http://schemas.microsoft.com/office/drawing/2014/main" id="{6943744F-7EFF-67B9-908F-2726AB8A9357}"/>
              </a:ext>
            </a:extLst>
          </p:cNvPr>
          <p:cNvSpPr>
            <a:spLocks noGrp="1"/>
          </p:cNvSpPr>
          <p:nvPr>
            <p:ph type="sldNum" sz="quarter" idx="12"/>
          </p:nvPr>
        </p:nvSpPr>
        <p:spPr/>
        <p:txBody>
          <a:bodyPr/>
          <a:lstStyle/>
          <a:p>
            <a:fld id="{94013DF8-6EF8-4A98-8821-E6468C17C0C3}" type="slidenum">
              <a:rPr lang="en-IN" smtClean="0"/>
              <a:t>163</a:t>
            </a:fld>
            <a:endParaRPr lang="en-IN"/>
          </a:p>
        </p:txBody>
      </p:sp>
    </p:spTree>
    <p:extLst>
      <p:ext uri="{BB962C8B-B14F-4D97-AF65-F5344CB8AC3E}">
        <p14:creationId xmlns:p14="http://schemas.microsoft.com/office/powerpoint/2010/main" val="1112446793"/>
      </p:ext>
    </p:extLst>
  </p:cSld>
  <p:clrMapOvr>
    <a:masterClrMapping/>
  </p:clrMapOvr>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B6C5C0-678B-7D78-117D-43631DEC7985}"/>
              </a:ext>
            </a:extLst>
          </p:cNvPr>
          <p:cNvSpPr>
            <a:spLocks noGrp="1"/>
          </p:cNvSpPr>
          <p:nvPr>
            <p:ph type="title"/>
          </p:nvPr>
        </p:nvSpPr>
        <p:spPr/>
        <p:txBody>
          <a:bodyPr/>
          <a:lstStyle/>
          <a:p>
            <a:r>
              <a:rPr lang="en-IN" dirty="0"/>
              <a:t>TCS </a:t>
            </a:r>
            <a:r>
              <a:rPr lang="en-IN" sz="3600" dirty="0"/>
              <a:t>(TAX COLLECTION AT SOURCE)</a:t>
            </a:r>
          </a:p>
        </p:txBody>
      </p:sp>
      <p:sp>
        <p:nvSpPr>
          <p:cNvPr id="3" name="Content Placeholder 2">
            <a:extLst>
              <a:ext uri="{FF2B5EF4-FFF2-40B4-BE49-F238E27FC236}">
                <a16:creationId xmlns:a16="http://schemas.microsoft.com/office/drawing/2014/main" id="{536C59BD-819B-5502-44EF-5FB1FAA5175F}"/>
              </a:ext>
            </a:extLst>
          </p:cNvPr>
          <p:cNvSpPr>
            <a:spLocks noGrp="1"/>
          </p:cNvSpPr>
          <p:nvPr>
            <p:ph idx="1"/>
          </p:nvPr>
        </p:nvSpPr>
        <p:spPr>
          <a:xfrm>
            <a:off x="1103312" y="1338943"/>
            <a:ext cx="10087427" cy="5410200"/>
          </a:xfrm>
        </p:spPr>
        <p:txBody>
          <a:bodyPr>
            <a:normAutofit fontScale="77500" lnSpcReduction="20000"/>
          </a:bodyPr>
          <a:lstStyle/>
          <a:p>
            <a:pPr marL="0" indent="0" algn="just">
              <a:lnSpc>
                <a:spcPct val="120000"/>
              </a:lnSpc>
              <a:buNone/>
            </a:pPr>
            <a:r>
              <a:rPr lang="en-US" sz="2200" b="1" dirty="0">
                <a:latin typeface="Cambria" panose="02040503050406030204" pitchFamily="18" charset="0"/>
                <a:ea typeface="Cambria" panose="02040503050406030204" pitchFamily="18" charset="0"/>
              </a:rPr>
              <a:t>What Goods &amp; Transactions Covered under TCS Provisions?</a:t>
            </a:r>
          </a:p>
          <a:p>
            <a:pPr marL="0" indent="0" algn="just">
              <a:lnSpc>
                <a:spcPct val="120000"/>
              </a:lnSpc>
              <a:buNone/>
            </a:pPr>
            <a:r>
              <a:rPr lang="en-US" sz="2200" dirty="0">
                <a:latin typeface="Cambria" panose="02040503050406030204" pitchFamily="18" charset="0"/>
                <a:ea typeface="Cambria" panose="02040503050406030204" pitchFamily="18" charset="0"/>
              </a:rPr>
              <a:t>The following goods and/or transactions are considered for Tax Collected at Source –</a:t>
            </a:r>
          </a:p>
          <a:p>
            <a:pPr marL="0" indent="0" algn="just">
              <a:lnSpc>
                <a:spcPct val="120000"/>
              </a:lnSpc>
              <a:buNone/>
            </a:pPr>
            <a:r>
              <a:rPr lang="en-US" sz="2200" dirty="0">
                <a:latin typeface="Cambria" panose="02040503050406030204" pitchFamily="18" charset="0"/>
                <a:ea typeface="Cambria" panose="02040503050406030204" pitchFamily="18" charset="0"/>
              </a:rPr>
              <a:t>1. Liquors of alcoholic nature including IMFL (Indian Made Foreign Liquor) that are deemed for human consumption</a:t>
            </a:r>
          </a:p>
          <a:p>
            <a:pPr marL="0" indent="0" algn="just">
              <a:lnSpc>
                <a:spcPct val="120000"/>
              </a:lnSpc>
              <a:buNone/>
            </a:pPr>
            <a:r>
              <a:rPr lang="en-US" sz="2200" dirty="0">
                <a:latin typeface="Cambria" panose="02040503050406030204" pitchFamily="18" charset="0"/>
                <a:ea typeface="Cambria" panose="02040503050406030204" pitchFamily="18" charset="0"/>
              </a:rPr>
              <a:t>2. Timber wood obtained from a leased forest area</a:t>
            </a:r>
          </a:p>
          <a:p>
            <a:pPr marL="0" indent="0" algn="just">
              <a:lnSpc>
                <a:spcPct val="120000"/>
              </a:lnSpc>
              <a:buNone/>
            </a:pPr>
            <a:r>
              <a:rPr lang="en-US" sz="2200" dirty="0">
                <a:latin typeface="Cambria" panose="02040503050406030204" pitchFamily="18" charset="0"/>
                <a:ea typeface="Cambria" panose="02040503050406030204" pitchFamily="18" charset="0"/>
              </a:rPr>
              <a:t>3. Tendu Leaves</a:t>
            </a:r>
          </a:p>
          <a:p>
            <a:pPr marL="0" indent="0" algn="just">
              <a:lnSpc>
                <a:spcPct val="120000"/>
              </a:lnSpc>
              <a:buNone/>
            </a:pPr>
            <a:r>
              <a:rPr lang="en-US" sz="2200" dirty="0">
                <a:latin typeface="Cambria" panose="02040503050406030204" pitchFamily="18" charset="0"/>
                <a:ea typeface="Cambria" panose="02040503050406030204" pitchFamily="18" charset="0"/>
              </a:rPr>
              <a:t>4. Timber wood obtained from any mode other than leased</a:t>
            </a:r>
          </a:p>
          <a:p>
            <a:pPr marL="0" indent="0" algn="just">
              <a:lnSpc>
                <a:spcPct val="120000"/>
              </a:lnSpc>
              <a:buNone/>
            </a:pPr>
            <a:r>
              <a:rPr lang="en-US" sz="2200" dirty="0">
                <a:latin typeface="Cambria" panose="02040503050406030204" pitchFamily="18" charset="0"/>
                <a:ea typeface="Cambria" panose="02040503050406030204" pitchFamily="18" charset="0"/>
              </a:rPr>
              <a:t>5. Forest produces (other than timber and Tendu leaves)</a:t>
            </a:r>
          </a:p>
          <a:p>
            <a:pPr marL="0" indent="0" algn="just">
              <a:lnSpc>
                <a:spcPct val="120000"/>
              </a:lnSpc>
              <a:buNone/>
            </a:pPr>
            <a:r>
              <a:rPr lang="en-US" sz="2200" dirty="0">
                <a:latin typeface="Cambria" panose="02040503050406030204" pitchFamily="18" charset="0"/>
                <a:ea typeface="Cambria" panose="02040503050406030204" pitchFamily="18" charset="0"/>
              </a:rPr>
              <a:t>6. Scrap</a:t>
            </a:r>
          </a:p>
          <a:p>
            <a:pPr marL="0" indent="0" algn="just">
              <a:lnSpc>
                <a:spcPct val="120000"/>
              </a:lnSpc>
              <a:buNone/>
            </a:pPr>
            <a:r>
              <a:rPr lang="en-US" sz="2200" dirty="0">
                <a:latin typeface="Cambria" panose="02040503050406030204" pitchFamily="18" charset="0"/>
                <a:ea typeface="Cambria" panose="02040503050406030204" pitchFamily="18" charset="0"/>
              </a:rPr>
              <a:t>7. Parking lot tickets, Toll Plaza, Mining and Quarrying</a:t>
            </a:r>
          </a:p>
          <a:p>
            <a:pPr marL="0" indent="0" algn="just">
              <a:lnSpc>
                <a:spcPct val="120000"/>
              </a:lnSpc>
              <a:buNone/>
            </a:pPr>
            <a:r>
              <a:rPr lang="en-US" sz="2200" dirty="0">
                <a:latin typeface="Cambria" panose="02040503050406030204" pitchFamily="18" charset="0"/>
                <a:ea typeface="Cambria" panose="02040503050406030204" pitchFamily="18" charset="0"/>
              </a:rPr>
              <a:t>8. Minerals that include iron ore, lignite or coal</a:t>
            </a:r>
          </a:p>
          <a:p>
            <a:pPr marL="0" indent="0" algn="just">
              <a:lnSpc>
                <a:spcPct val="120000"/>
              </a:lnSpc>
              <a:buNone/>
            </a:pPr>
            <a:r>
              <a:rPr lang="en-US" sz="2200" dirty="0">
                <a:latin typeface="Cambria" panose="02040503050406030204" pitchFamily="18" charset="0"/>
                <a:ea typeface="Cambria" panose="02040503050406030204" pitchFamily="18" charset="0"/>
              </a:rPr>
              <a:t>9. Bullion having valuation over Rs. 2 lakh</a:t>
            </a:r>
          </a:p>
          <a:p>
            <a:pPr marL="0" indent="0" algn="just">
              <a:lnSpc>
                <a:spcPct val="120000"/>
              </a:lnSpc>
              <a:buNone/>
            </a:pPr>
            <a:r>
              <a:rPr lang="en-US" sz="2200" dirty="0">
                <a:latin typeface="Cambria" panose="02040503050406030204" pitchFamily="18" charset="0"/>
                <a:ea typeface="Cambria" panose="02040503050406030204" pitchFamily="18" charset="0"/>
              </a:rPr>
              <a:t>10. </a:t>
            </a:r>
            <a:r>
              <a:rPr lang="en-US" sz="2200" dirty="0" err="1">
                <a:latin typeface="Cambria" panose="02040503050406030204" pitchFamily="18" charset="0"/>
                <a:ea typeface="Cambria" panose="02040503050406030204" pitchFamily="18" charset="0"/>
              </a:rPr>
              <a:t>Jewellery</a:t>
            </a:r>
            <a:r>
              <a:rPr lang="en-US" sz="2200" dirty="0">
                <a:latin typeface="Cambria" panose="02040503050406030204" pitchFamily="18" charset="0"/>
                <a:ea typeface="Cambria" panose="02040503050406030204" pitchFamily="18" charset="0"/>
              </a:rPr>
              <a:t> whose value exceeds Rs. Five lakhs</a:t>
            </a:r>
          </a:p>
          <a:p>
            <a:pPr marL="0" indent="0" algn="just">
              <a:lnSpc>
                <a:spcPct val="120000"/>
              </a:lnSpc>
              <a:buNone/>
            </a:pPr>
            <a:r>
              <a:rPr lang="en-US" sz="2200" dirty="0">
                <a:latin typeface="Cambria" panose="02040503050406030204" pitchFamily="18" charset="0"/>
                <a:ea typeface="Cambria" panose="02040503050406030204" pitchFamily="18" charset="0"/>
              </a:rPr>
              <a:t>11. Motor vehicle purchases over Rs. 10 Lakhs</a:t>
            </a:r>
            <a:endParaRPr lang="en-US"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6943744F-7EFF-67B9-908F-2726AB8A9357}"/>
              </a:ext>
            </a:extLst>
          </p:cNvPr>
          <p:cNvSpPr>
            <a:spLocks noGrp="1"/>
          </p:cNvSpPr>
          <p:nvPr>
            <p:ph type="sldNum" sz="quarter" idx="12"/>
          </p:nvPr>
        </p:nvSpPr>
        <p:spPr/>
        <p:txBody>
          <a:bodyPr/>
          <a:lstStyle/>
          <a:p>
            <a:fld id="{94013DF8-6EF8-4A98-8821-E6468C17C0C3}" type="slidenum">
              <a:rPr lang="en-IN" smtClean="0"/>
              <a:t>164</a:t>
            </a:fld>
            <a:endParaRPr lang="en-IN"/>
          </a:p>
        </p:txBody>
      </p:sp>
    </p:spTree>
    <p:extLst>
      <p:ext uri="{BB962C8B-B14F-4D97-AF65-F5344CB8AC3E}">
        <p14:creationId xmlns:p14="http://schemas.microsoft.com/office/powerpoint/2010/main" val="1397421238"/>
      </p:ext>
    </p:extLst>
  </p:cSld>
  <p:clrMapOvr>
    <a:masterClrMapping/>
  </p:clrMapOvr>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D95F-E93C-3278-6CF4-022555C868ED}"/>
              </a:ext>
            </a:extLst>
          </p:cNvPr>
          <p:cNvSpPr>
            <a:spLocks noGrp="1"/>
          </p:cNvSpPr>
          <p:nvPr>
            <p:ph type="title"/>
          </p:nvPr>
        </p:nvSpPr>
        <p:spPr>
          <a:xfrm>
            <a:off x="1027116" y="452718"/>
            <a:ext cx="9404723" cy="1400530"/>
          </a:xfrm>
        </p:spPr>
        <p:txBody>
          <a:bodyPr/>
          <a:lstStyle/>
          <a:p>
            <a:r>
              <a:rPr lang="en-IN" dirty="0"/>
              <a:t>Advance Tax Administrative Procedures</a:t>
            </a:r>
          </a:p>
        </p:txBody>
      </p:sp>
      <p:sp>
        <p:nvSpPr>
          <p:cNvPr id="3" name="Content Placeholder 2">
            <a:extLst>
              <a:ext uri="{FF2B5EF4-FFF2-40B4-BE49-F238E27FC236}">
                <a16:creationId xmlns:a16="http://schemas.microsoft.com/office/drawing/2014/main" id="{023298FD-B23A-6057-7E03-8EDC81A3EC85}"/>
              </a:ext>
            </a:extLst>
          </p:cNvPr>
          <p:cNvSpPr>
            <a:spLocks noGrp="1"/>
          </p:cNvSpPr>
          <p:nvPr>
            <p:ph idx="1"/>
          </p:nvPr>
        </p:nvSpPr>
        <p:spPr>
          <a:xfrm>
            <a:off x="1103312" y="1611086"/>
            <a:ext cx="10087427" cy="4637313"/>
          </a:xfrm>
        </p:spPr>
        <p:txBody>
          <a:bodyPr>
            <a:normAutofit lnSpcReduction="10000"/>
          </a:bodyPr>
          <a:lstStyle/>
          <a:p>
            <a:pPr marL="0" indent="0" algn="just">
              <a:lnSpc>
                <a:spcPct val="150000"/>
              </a:lnSpc>
              <a:buNone/>
            </a:pPr>
            <a:r>
              <a:rPr lang="en-US" dirty="0">
                <a:latin typeface="Cambria" panose="02040503050406030204" pitchFamily="18" charset="0"/>
                <a:ea typeface="Cambria" panose="02040503050406030204" pitchFamily="18" charset="0"/>
              </a:rPr>
              <a:t>Advance tax is the amount of income tax that is paid much in advance rather than a lump-sum payment at the year-end. Also known as earn tax, advance tax is to be paid in installments as per the due dates decided by the income tax department.</a:t>
            </a:r>
          </a:p>
          <a:p>
            <a:pPr marL="0" indent="0" algn="just">
              <a:lnSpc>
                <a:spcPct val="150000"/>
              </a:lnSpc>
              <a:buNone/>
            </a:pPr>
            <a:r>
              <a:rPr lang="en-US" b="1" dirty="0">
                <a:latin typeface="Cambria" panose="02040503050406030204" pitchFamily="18" charset="0"/>
                <a:ea typeface="Cambria" panose="02040503050406030204" pitchFamily="18" charset="0"/>
              </a:rPr>
              <a:t>Why is advance tax important?</a:t>
            </a:r>
          </a:p>
          <a:p>
            <a:pPr marL="0" indent="0" algn="just">
              <a:lnSpc>
                <a:spcPct val="150000"/>
              </a:lnSpc>
              <a:buNone/>
            </a:pPr>
            <a:r>
              <a:rPr lang="en-US" dirty="0">
                <a:latin typeface="Cambria" panose="02040503050406030204" pitchFamily="18" charset="0"/>
                <a:ea typeface="Cambria" panose="02040503050406030204" pitchFamily="18" charset="0"/>
              </a:rPr>
              <a:t>Advance tax is the income tax paid in advance for the income earned in a particular financial year. Usually, the tax is to be paid when the income is earned. Still, under the tax provisions of advance tax, the payer has to estimate the income for the entire year. And based on this estimate the tax is paid at specific time intervals. Here it is important that the tax payer estimates the income and then calculates the estimated tax on it to check whether he or she needs to pay the advance tax and how much.</a:t>
            </a: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31032420-52EF-A814-D098-A024D958EA30}"/>
              </a:ext>
            </a:extLst>
          </p:cNvPr>
          <p:cNvSpPr>
            <a:spLocks noGrp="1"/>
          </p:cNvSpPr>
          <p:nvPr>
            <p:ph type="sldNum" sz="quarter" idx="12"/>
          </p:nvPr>
        </p:nvSpPr>
        <p:spPr/>
        <p:txBody>
          <a:bodyPr/>
          <a:lstStyle/>
          <a:p>
            <a:fld id="{94013DF8-6EF8-4A98-8821-E6468C17C0C3}" type="slidenum">
              <a:rPr lang="en-IN" smtClean="0"/>
              <a:t>165</a:t>
            </a:fld>
            <a:endParaRPr lang="en-IN"/>
          </a:p>
        </p:txBody>
      </p:sp>
    </p:spTree>
    <p:extLst>
      <p:ext uri="{BB962C8B-B14F-4D97-AF65-F5344CB8AC3E}">
        <p14:creationId xmlns:p14="http://schemas.microsoft.com/office/powerpoint/2010/main" val="2590834857"/>
      </p:ext>
    </p:extLst>
  </p:cSld>
  <p:clrMapOvr>
    <a:masterClrMapping/>
  </p:clrMapOvr>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08D95F-E93C-3278-6CF4-022555C868ED}"/>
              </a:ext>
            </a:extLst>
          </p:cNvPr>
          <p:cNvSpPr>
            <a:spLocks noGrp="1"/>
          </p:cNvSpPr>
          <p:nvPr>
            <p:ph type="title"/>
          </p:nvPr>
        </p:nvSpPr>
        <p:spPr>
          <a:xfrm>
            <a:off x="1027116" y="452718"/>
            <a:ext cx="9404723" cy="767687"/>
          </a:xfrm>
        </p:spPr>
        <p:txBody>
          <a:bodyPr/>
          <a:lstStyle/>
          <a:p>
            <a:r>
              <a:rPr lang="en-IN" dirty="0"/>
              <a:t>Advance Tax Administrative Procedures</a:t>
            </a:r>
          </a:p>
        </p:txBody>
      </p:sp>
      <p:sp>
        <p:nvSpPr>
          <p:cNvPr id="3" name="Content Placeholder 2">
            <a:extLst>
              <a:ext uri="{FF2B5EF4-FFF2-40B4-BE49-F238E27FC236}">
                <a16:creationId xmlns:a16="http://schemas.microsoft.com/office/drawing/2014/main" id="{023298FD-B23A-6057-7E03-8EDC81A3EC85}"/>
              </a:ext>
            </a:extLst>
          </p:cNvPr>
          <p:cNvSpPr>
            <a:spLocks noGrp="1"/>
          </p:cNvSpPr>
          <p:nvPr>
            <p:ph idx="1"/>
          </p:nvPr>
        </p:nvSpPr>
        <p:spPr>
          <a:xfrm>
            <a:off x="685800" y="1110344"/>
            <a:ext cx="11092543" cy="4256314"/>
          </a:xfrm>
        </p:spPr>
        <p:txBody>
          <a:bodyPr>
            <a:normAutofit lnSpcReduction="10000"/>
          </a:bodyPr>
          <a:lstStyle/>
          <a:p>
            <a:pPr marL="0" indent="0" algn="just">
              <a:lnSpc>
                <a:spcPct val="150000"/>
              </a:lnSpc>
              <a:buNone/>
            </a:pPr>
            <a:r>
              <a:rPr lang="en-US" b="1" dirty="0">
                <a:latin typeface="Cambria" panose="02040503050406030204" pitchFamily="18" charset="0"/>
                <a:ea typeface="Cambria" panose="02040503050406030204" pitchFamily="18" charset="0"/>
              </a:rPr>
              <a:t>Who should pay advance tax?</a:t>
            </a:r>
          </a:p>
          <a:p>
            <a:pPr marL="0" indent="0" algn="just">
              <a:lnSpc>
                <a:spcPct val="150000"/>
              </a:lnSpc>
              <a:buNone/>
            </a:pPr>
            <a:r>
              <a:rPr lang="en-US" dirty="0">
                <a:latin typeface="Cambria" panose="02040503050406030204" pitchFamily="18" charset="0"/>
                <a:ea typeface="Cambria" panose="02040503050406030204" pitchFamily="18" charset="0"/>
              </a:rPr>
              <a:t>As per section 208 of the Income Tax Act 1961, every person whose estimated tax liability for the year is more than or equal to `10,000 is liable to pay advance tax.</a:t>
            </a:r>
          </a:p>
          <a:p>
            <a:pPr marL="0" indent="0" algn="just">
              <a:lnSpc>
                <a:spcPct val="150000"/>
              </a:lnSpc>
              <a:buNone/>
            </a:pPr>
            <a:r>
              <a:rPr lang="en-US" dirty="0">
                <a:latin typeface="Cambria" panose="02040503050406030204" pitchFamily="18" charset="0"/>
                <a:ea typeface="Cambria" panose="02040503050406030204" pitchFamily="18" charset="0"/>
              </a:rPr>
              <a:t>Those who are excluded from paying advance tax are senior citizens who are above the age of 60, not having any income from business or profession.</a:t>
            </a:r>
          </a:p>
          <a:p>
            <a:pPr marL="0" indent="0" algn="just">
              <a:lnSpc>
                <a:spcPct val="150000"/>
              </a:lnSpc>
              <a:buNone/>
            </a:pPr>
            <a:r>
              <a:rPr lang="en-US" dirty="0">
                <a:latin typeface="Cambria" panose="02040503050406030204" pitchFamily="18" charset="0"/>
                <a:ea typeface="Cambria" panose="02040503050406030204" pitchFamily="18" charset="0"/>
              </a:rPr>
              <a:t>What are the important dates in advance tax?</a:t>
            </a:r>
          </a:p>
          <a:p>
            <a:pPr marL="0" indent="0" algn="just">
              <a:lnSpc>
                <a:spcPct val="150000"/>
              </a:lnSpc>
              <a:buNone/>
            </a:pPr>
            <a:r>
              <a:rPr lang="en-US" dirty="0">
                <a:latin typeface="Cambria" panose="02040503050406030204" pitchFamily="18" charset="0"/>
                <a:ea typeface="Cambria" panose="02040503050406030204" pitchFamily="18" charset="0"/>
              </a:rPr>
              <a:t>Advance tax varies with the due dates. The advance tax to be paid by an individual, as well as corporate </a:t>
            </a:r>
            <a:r>
              <a:rPr lang="en-US" dirty="0" err="1">
                <a:latin typeface="Cambria" panose="02040503050406030204" pitchFamily="18" charset="0"/>
                <a:ea typeface="Cambria" panose="02040503050406030204" pitchFamily="18" charset="0"/>
              </a:rPr>
              <a:t>assessees</a:t>
            </a:r>
            <a:r>
              <a:rPr lang="en-US" dirty="0">
                <a:latin typeface="Cambria" panose="02040503050406030204" pitchFamily="18" charset="0"/>
                <a:ea typeface="Cambria" panose="02040503050406030204" pitchFamily="18" charset="0"/>
              </a:rPr>
              <a:t>, are as follows:</a:t>
            </a:r>
          </a:p>
          <a:p>
            <a:pPr marL="0" indent="0" algn="just">
              <a:lnSpc>
                <a:spcPct val="150000"/>
              </a:lnSpc>
              <a:buNone/>
            </a:pP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31032420-52EF-A814-D098-A024D958EA30}"/>
              </a:ext>
            </a:extLst>
          </p:cNvPr>
          <p:cNvSpPr>
            <a:spLocks noGrp="1"/>
          </p:cNvSpPr>
          <p:nvPr>
            <p:ph type="sldNum" sz="quarter" idx="12"/>
          </p:nvPr>
        </p:nvSpPr>
        <p:spPr/>
        <p:txBody>
          <a:bodyPr/>
          <a:lstStyle/>
          <a:p>
            <a:fld id="{94013DF8-6EF8-4A98-8821-E6468C17C0C3}" type="slidenum">
              <a:rPr lang="en-IN" smtClean="0"/>
              <a:t>166</a:t>
            </a:fld>
            <a:endParaRPr lang="en-IN"/>
          </a:p>
        </p:txBody>
      </p:sp>
      <p:graphicFrame>
        <p:nvGraphicFramePr>
          <p:cNvPr id="5" name="Table 6">
            <a:extLst>
              <a:ext uri="{FF2B5EF4-FFF2-40B4-BE49-F238E27FC236}">
                <a16:creationId xmlns:a16="http://schemas.microsoft.com/office/drawing/2014/main" id="{A23AD147-5038-28E2-4AC3-350932ED9E6F}"/>
              </a:ext>
            </a:extLst>
          </p:cNvPr>
          <p:cNvGraphicFramePr>
            <a:graphicFrameLocks noGrp="1"/>
          </p:cNvGraphicFramePr>
          <p:nvPr/>
        </p:nvGraphicFramePr>
        <p:xfrm>
          <a:off x="4818744" y="4759596"/>
          <a:ext cx="6687456" cy="1976120"/>
        </p:xfrm>
        <a:graphic>
          <a:graphicData uri="http://schemas.openxmlformats.org/drawingml/2006/table">
            <a:tbl>
              <a:tblPr firstRow="1" bandRow="1">
                <a:tableStyleId>{5C22544A-7EE6-4342-B048-85BDC9FD1C3A}</a:tableStyleId>
              </a:tblPr>
              <a:tblGrid>
                <a:gridCol w="531414">
                  <a:extLst>
                    <a:ext uri="{9D8B030D-6E8A-4147-A177-3AD203B41FA5}">
                      <a16:colId xmlns:a16="http://schemas.microsoft.com/office/drawing/2014/main" val="2842534839"/>
                    </a:ext>
                  </a:extLst>
                </a:gridCol>
                <a:gridCol w="3086270">
                  <a:extLst>
                    <a:ext uri="{9D8B030D-6E8A-4147-A177-3AD203B41FA5}">
                      <a16:colId xmlns:a16="http://schemas.microsoft.com/office/drawing/2014/main" val="3222295072"/>
                    </a:ext>
                  </a:extLst>
                </a:gridCol>
                <a:gridCol w="3069772">
                  <a:extLst>
                    <a:ext uri="{9D8B030D-6E8A-4147-A177-3AD203B41FA5}">
                      <a16:colId xmlns:a16="http://schemas.microsoft.com/office/drawing/2014/main" val="2893808938"/>
                    </a:ext>
                  </a:extLst>
                </a:gridCol>
              </a:tblGrid>
              <a:tr h="370840">
                <a:tc>
                  <a:txBody>
                    <a:bodyPr/>
                    <a:lstStyle/>
                    <a:p>
                      <a:r>
                        <a:rPr lang="en-IN" dirty="0"/>
                        <a:t>Sr</a:t>
                      </a:r>
                    </a:p>
                  </a:txBody>
                  <a:tcPr/>
                </a:tc>
                <a:tc>
                  <a:txBody>
                    <a:bodyPr/>
                    <a:lstStyle/>
                    <a:p>
                      <a:r>
                        <a:rPr lang="en-IN" b="1" dirty="0">
                          <a:solidFill>
                            <a:srgbClr val="FFFFFF"/>
                          </a:solidFill>
                          <a:effectLst/>
                        </a:rPr>
                        <a:t>Due Date</a:t>
                      </a:r>
                      <a:endParaRPr lang="en-IN" dirty="0"/>
                    </a:p>
                  </a:txBody>
                  <a:tcPr/>
                </a:tc>
                <a:tc>
                  <a: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IN" b="1" dirty="0">
                          <a:solidFill>
                            <a:srgbClr val="FFFFFF"/>
                          </a:solidFill>
                          <a:effectLst/>
                        </a:rPr>
                        <a:t>Advance Tax Payable</a:t>
                      </a:r>
                    </a:p>
                  </a:txBody>
                  <a:tcPr/>
                </a:tc>
                <a:extLst>
                  <a:ext uri="{0D108BD9-81ED-4DB2-BD59-A6C34878D82A}">
                    <a16:rowId xmlns:a16="http://schemas.microsoft.com/office/drawing/2014/main" val="4150806427"/>
                  </a:ext>
                </a:extLst>
              </a:tr>
              <a:tr h="370840">
                <a:tc>
                  <a:txBody>
                    <a:bodyPr/>
                    <a:lstStyle/>
                    <a:p>
                      <a:pPr algn="l"/>
                      <a:r>
                        <a:rPr lang="en-IN" b="1">
                          <a:effectLst/>
                        </a:rPr>
                        <a:t>1.</a:t>
                      </a:r>
                    </a:p>
                  </a:txBody>
                  <a:tcPr marL="95250" marR="95250" marB="63500" anchor="ctr"/>
                </a:tc>
                <a:tc>
                  <a:txBody>
                    <a:bodyPr/>
                    <a:lstStyle/>
                    <a:p>
                      <a:pPr algn="l"/>
                      <a:r>
                        <a:rPr lang="en-US" b="1" dirty="0">
                          <a:effectLst/>
                        </a:rPr>
                        <a:t>On or before 15th June</a:t>
                      </a:r>
                    </a:p>
                  </a:txBody>
                  <a:tcPr marL="95250" marR="95250" marT="63500" marB="63500" anchor="ctr"/>
                </a:tc>
                <a:tc>
                  <a:txBody>
                    <a:bodyPr/>
                    <a:lstStyle/>
                    <a:p>
                      <a:pPr algn="ctr"/>
                      <a:r>
                        <a:rPr lang="en-IN" b="1" dirty="0">
                          <a:effectLst/>
                        </a:rPr>
                        <a:t>15%</a:t>
                      </a:r>
                    </a:p>
                  </a:txBody>
                  <a:tcPr marL="95250" marT="63500" anchor="ctr"/>
                </a:tc>
                <a:extLst>
                  <a:ext uri="{0D108BD9-81ED-4DB2-BD59-A6C34878D82A}">
                    <a16:rowId xmlns:a16="http://schemas.microsoft.com/office/drawing/2014/main" val="2179406976"/>
                  </a:ext>
                </a:extLst>
              </a:tr>
              <a:tr h="370840">
                <a:tc>
                  <a:txBody>
                    <a:bodyPr/>
                    <a:lstStyle/>
                    <a:p>
                      <a:pPr algn="l"/>
                      <a:r>
                        <a:rPr lang="en-IN" b="1">
                          <a:effectLst/>
                        </a:rPr>
                        <a:t>2.</a:t>
                      </a:r>
                    </a:p>
                  </a:txBody>
                  <a:tcPr marL="95250" marR="95250" marB="63500" anchor="ctr"/>
                </a:tc>
                <a:tc>
                  <a:txBody>
                    <a:bodyPr/>
                    <a:lstStyle/>
                    <a:p>
                      <a:pPr algn="l"/>
                      <a:r>
                        <a:rPr lang="en-US" b="1" dirty="0">
                          <a:effectLst/>
                        </a:rPr>
                        <a:t>On or before 15th September</a:t>
                      </a:r>
                    </a:p>
                  </a:txBody>
                  <a:tcPr marL="95250" marR="95250" marT="63500" marB="63500" anchor="ctr"/>
                </a:tc>
                <a:tc>
                  <a:txBody>
                    <a:bodyPr/>
                    <a:lstStyle/>
                    <a:p>
                      <a:pPr algn="ctr"/>
                      <a:r>
                        <a:rPr lang="en-IN" b="1" dirty="0">
                          <a:effectLst/>
                        </a:rPr>
                        <a:t>45%</a:t>
                      </a:r>
                    </a:p>
                  </a:txBody>
                  <a:tcPr marL="95250" marT="63500" anchor="ctr"/>
                </a:tc>
                <a:extLst>
                  <a:ext uri="{0D108BD9-81ED-4DB2-BD59-A6C34878D82A}">
                    <a16:rowId xmlns:a16="http://schemas.microsoft.com/office/drawing/2014/main" val="4122338759"/>
                  </a:ext>
                </a:extLst>
              </a:tr>
              <a:tr h="370840">
                <a:tc>
                  <a:txBody>
                    <a:bodyPr/>
                    <a:lstStyle/>
                    <a:p>
                      <a:pPr algn="l"/>
                      <a:r>
                        <a:rPr lang="en-IN" b="1">
                          <a:effectLst/>
                        </a:rPr>
                        <a:t>3.</a:t>
                      </a:r>
                    </a:p>
                  </a:txBody>
                  <a:tcPr marL="95250" marR="95250" marB="63500" anchor="ctr"/>
                </a:tc>
                <a:tc>
                  <a:txBody>
                    <a:bodyPr/>
                    <a:lstStyle/>
                    <a:p>
                      <a:pPr algn="l"/>
                      <a:r>
                        <a:rPr lang="en-US" b="1" dirty="0">
                          <a:effectLst/>
                        </a:rPr>
                        <a:t>On or before 15th December</a:t>
                      </a:r>
                    </a:p>
                  </a:txBody>
                  <a:tcPr marL="95250" marR="95250" marT="63500" marB="63500" anchor="ctr"/>
                </a:tc>
                <a:tc>
                  <a:txBody>
                    <a:bodyPr/>
                    <a:lstStyle/>
                    <a:p>
                      <a:pPr algn="ctr"/>
                      <a:r>
                        <a:rPr lang="en-IN" b="1" dirty="0">
                          <a:effectLst/>
                        </a:rPr>
                        <a:t>75%</a:t>
                      </a:r>
                    </a:p>
                  </a:txBody>
                  <a:tcPr marL="95250" marT="63500" anchor="ctr"/>
                </a:tc>
                <a:extLst>
                  <a:ext uri="{0D108BD9-81ED-4DB2-BD59-A6C34878D82A}">
                    <a16:rowId xmlns:a16="http://schemas.microsoft.com/office/drawing/2014/main" val="4037845178"/>
                  </a:ext>
                </a:extLst>
              </a:tr>
              <a:tr h="370840">
                <a:tc>
                  <a:txBody>
                    <a:bodyPr/>
                    <a:lstStyle/>
                    <a:p>
                      <a:pPr algn="l"/>
                      <a:r>
                        <a:rPr lang="en-IN" b="1" dirty="0">
                          <a:effectLst/>
                        </a:rPr>
                        <a:t>4.</a:t>
                      </a:r>
                    </a:p>
                  </a:txBody>
                  <a:tcPr marL="95250" marR="95250" marB="63500" anchor="ctr"/>
                </a:tc>
                <a:tc>
                  <a:txBody>
                    <a:bodyPr/>
                    <a:lstStyle/>
                    <a:p>
                      <a:pPr algn="l"/>
                      <a:r>
                        <a:rPr lang="en-US" b="1" dirty="0">
                          <a:effectLst/>
                        </a:rPr>
                        <a:t>On or before 15th March</a:t>
                      </a:r>
                    </a:p>
                  </a:txBody>
                  <a:tcPr marL="95250" marR="95250" marT="63500" marB="63500" anchor="ctr"/>
                </a:tc>
                <a:tc>
                  <a:txBody>
                    <a:bodyPr/>
                    <a:lstStyle/>
                    <a:p>
                      <a:pPr algn="ctr"/>
                      <a:r>
                        <a:rPr lang="en-IN" b="1" dirty="0">
                          <a:effectLst/>
                        </a:rPr>
                        <a:t>100%</a:t>
                      </a:r>
                    </a:p>
                  </a:txBody>
                  <a:tcPr marL="95250" marT="63500" anchor="ctr"/>
                </a:tc>
                <a:extLst>
                  <a:ext uri="{0D108BD9-81ED-4DB2-BD59-A6C34878D82A}">
                    <a16:rowId xmlns:a16="http://schemas.microsoft.com/office/drawing/2014/main" val="2258013363"/>
                  </a:ext>
                </a:extLst>
              </a:tr>
            </a:tbl>
          </a:graphicData>
        </a:graphic>
      </p:graphicFrame>
      <p:sp>
        <p:nvSpPr>
          <p:cNvPr id="7" name="Title 1">
            <a:extLst>
              <a:ext uri="{FF2B5EF4-FFF2-40B4-BE49-F238E27FC236}">
                <a16:creationId xmlns:a16="http://schemas.microsoft.com/office/drawing/2014/main" id="{99270023-03E2-01B7-986C-3E99A1F8C2B9}"/>
              </a:ext>
            </a:extLst>
          </p:cNvPr>
          <p:cNvSpPr txBox="1">
            <a:spLocks/>
          </p:cNvSpPr>
          <p:nvPr/>
        </p:nvSpPr>
        <p:spPr>
          <a:xfrm>
            <a:off x="685800" y="5283499"/>
            <a:ext cx="2383971" cy="740785"/>
          </a:xfrm>
          <a:prstGeom prst="rect">
            <a:avLst/>
          </a:prstGeom>
        </p:spPr>
        <p:txBody>
          <a:bodyPr vert="horz" lIns="91440" tIns="45720" rIns="91440" bIns="45720" rtlCol="0" anchor="t">
            <a:noAutofit/>
          </a:bodyPr>
          <a:lst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IN" sz="3200" dirty="0">
                <a:hlinkClick r:id="rId2" action="ppaction://hlinkfile"/>
              </a:rPr>
              <a:t>Advance Tax</a:t>
            </a:r>
            <a:endParaRPr lang="en-IN" sz="3200" dirty="0"/>
          </a:p>
        </p:txBody>
      </p:sp>
    </p:spTree>
    <p:extLst>
      <p:ext uri="{BB962C8B-B14F-4D97-AF65-F5344CB8AC3E}">
        <p14:creationId xmlns:p14="http://schemas.microsoft.com/office/powerpoint/2010/main" val="4109075465"/>
      </p:ext>
    </p:extLst>
  </p:cSld>
  <p:clrMapOvr>
    <a:masterClrMapping/>
  </p:clrMapOvr>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2ABB40-FCFD-3B3A-987D-AFB27D55BF90}"/>
              </a:ext>
            </a:extLst>
          </p:cNvPr>
          <p:cNvSpPr>
            <a:spLocks noGrp="1"/>
          </p:cNvSpPr>
          <p:nvPr>
            <p:ph type="title"/>
          </p:nvPr>
        </p:nvSpPr>
        <p:spPr/>
        <p:txBody>
          <a:bodyPr/>
          <a:lstStyle/>
          <a:p>
            <a:r>
              <a:rPr lang="en-IN" dirty="0"/>
              <a:t>ICDS </a:t>
            </a:r>
            <a:r>
              <a:rPr lang="en-IN" sz="3600" dirty="0"/>
              <a:t>(</a:t>
            </a:r>
            <a:r>
              <a:rPr lang="en-US" sz="3600" dirty="0"/>
              <a:t>Income Computation and Disclosure Standards):</a:t>
            </a:r>
            <a:endParaRPr lang="en-IN" sz="3600" dirty="0"/>
          </a:p>
        </p:txBody>
      </p:sp>
      <p:sp>
        <p:nvSpPr>
          <p:cNvPr id="3" name="Content Placeholder 2">
            <a:extLst>
              <a:ext uri="{FF2B5EF4-FFF2-40B4-BE49-F238E27FC236}">
                <a16:creationId xmlns:a16="http://schemas.microsoft.com/office/drawing/2014/main" id="{F0970616-2B60-4A86-7E16-56FEEA79294B}"/>
              </a:ext>
            </a:extLst>
          </p:cNvPr>
          <p:cNvSpPr>
            <a:spLocks noGrp="1"/>
          </p:cNvSpPr>
          <p:nvPr>
            <p:ph idx="1"/>
          </p:nvPr>
        </p:nvSpPr>
        <p:spPr>
          <a:xfrm>
            <a:off x="1103312" y="2046514"/>
            <a:ext cx="10087427" cy="4811486"/>
          </a:xfrm>
        </p:spPr>
        <p:txBody>
          <a:bodyPr>
            <a:normAutofit lnSpcReduction="10000"/>
          </a:bodyPr>
          <a:lstStyle/>
          <a:p>
            <a:pPr marL="0" indent="0" algn="just">
              <a:lnSpc>
                <a:spcPct val="150000"/>
              </a:lnSpc>
              <a:buNone/>
            </a:pPr>
            <a:r>
              <a:rPr lang="en-US" dirty="0">
                <a:latin typeface="Cambria" panose="02040503050406030204" pitchFamily="18" charset="0"/>
                <a:ea typeface="Cambria" panose="02040503050406030204" pitchFamily="18" charset="0"/>
              </a:rPr>
              <a:t>Income Computation and Disclosure Standards (ICDS) are guidelines using which taxpayers and the Income Tax Department can calculate the taxable income obtained by an </a:t>
            </a:r>
            <a:r>
              <a:rPr lang="en-US" dirty="0" err="1">
                <a:latin typeface="Cambria" panose="02040503050406030204" pitchFamily="18" charset="0"/>
                <a:ea typeface="Cambria" panose="02040503050406030204" pitchFamily="18" charset="0"/>
              </a:rPr>
              <a:t>assessee</a:t>
            </a:r>
            <a:r>
              <a:rPr lang="en-US" dirty="0">
                <a:latin typeface="Cambria" panose="02040503050406030204" pitchFamily="18" charset="0"/>
                <a:ea typeface="Cambria" panose="02040503050406030204" pitchFamily="18" charset="0"/>
              </a:rPr>
              <a:t> in a financial year. </a:t>
            </a:r>
          </a:p>
          <a:p>
            <a:pPr marL="0" indent="0" algn="just">
              <a:lnSpc>
                <a:spcPct val="150000"/>
              </a:lnSpc>
              <a:buNone/>
            </a:pPr>
            <a:r>
              <a:rPr lang="en-US" dirty="0">
                <a:latin typeface="Cambria" panose="02040503050406030204" pitchFamily="18" charset="0"/>
                <a:ea typeface="Cambria" panose="02040503050406030204" pitchFamily="18" charset="0"/>
              </a:rPr>
              <a:t>The ICDS were framed by the Government of India with the objective of inculcating uniformity in accounting policies. </a:t>
            </a:r>
          </a:p>
          <a:p>
            <a:pPr marL="0" indent="0" algn="just">
              <a:lnSpc>
                <a:spcPct val="150000"/>
              </a:lnSpc>
              <a:buNone/>
            </a:pPr>
            <a:r>
              <a:rPr lang="en-US" dirty="0">
                <a:latin typeface="Cambria" panose="02040503050406030204" pitchFamily="18" charset="0"/>
                <a:ea typeface="Cambria" panose="02040503050406030204" pitchFamily="18" charset="0"/>
              </a:rPr>
              <a:t>The purpose of the ICDS is to govern the computation of income in accordance with the pertinent tax provisions. ICDS has been framed using Generally Accepted Accounting Principles (GAAPs ) with the assistance of the Institute of Chartered Accountants of India (ICAI). It has been in existence from the financial year of 2015-16.  In this article, we discuss the various provisions of ICDS.</a:t>
            </a:r>
            <a:endParaRPr lang="en-IN" dirty="0">
              <a:latin typeface="Cambria" panose="02040503050406030204" pitchFamily="18" charset="0"/>
              <a:ea typeface="Cambria" panose="02040503050406030204" pitchFamily="18" charset="0"/>
            </a:endParaRPr>
          </a:p>
        </p:txBody>
      </p:sp>
      <p:sp>
        <p:nvSpPr>
          <p:cNvPr id="6" name="Slide Number Placeholder 5">
            <a:extLst>
              <a:ext uri="{FF2B5EF4-FFF2-40B4-BE49-F238E27FC236}">
                <a16:creationId xmlns:a16="http://schemas.microsoft.com/office/drawing/2014/main" id="{542A0FFB-03BF-88FB-F23B-D3EB016384D1}"/>
              </a:ext>
            </a:extLst>
          </p:cNvPr>
          <p:cNvSpPr>
            <a:spLocks noGrp="1"/>
          </p:cNvSpPr>
          <p:nvPr>
            <p:ph type="sldNum" sz="quarter" idx="12"/>
          </p:nvPr>
        </p:nvSpPr>
        <p:spPr/>
        <p:txBody>
          <a:bodyPr/>
          <a:lstStyle/>
          <a:p>
            <a:fld id="{94013DF8-6EF8-4A98-8821-E6468C17C0C3}" type="slidenum">
              <a:rPr lang="en-IN" smtClean="0"/>
              <a:t>167</a:t>
            </a:fld>
            <a:endParaRPr lang="en-IN"/>
          </a:p>
        </p:txBody>
      </p:sp>
    </p:spTree>
    <p:extLst>
      <p:ext uri="{BB962C8B-B14F-4D97-AF65-F5344CB8AC3E}">
        <p14:creationId xmlns:p14="http://schemas.microsoft.com/office/powerpoint/2010/main" val="550889360"/>
      </p:ext>
    </p:extLst>
  </p:cSld>
  <p:clrMapOvr>
    <a:masterClrMapping/>
  </p:clrMapOvr>
</p:sld>
</file>

<file path=ppt/slides/slide16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3339CB-D8F4-7752-ACB7-146FED0D0E5D}"/>
              </a:ext>
            </a:extLst>
          </p:cNvPr>
          <p:cNvSpPr>
            <a:spLocks noGrp="1"/>
          </p:cNvSpPr>
          <p:nvPr>
            <p:ph type="title"/>
          </p:nvPr>
        </p:nvSpPr>
        <p:spPr>
          <a:xfrm>
            <a:off x="646111" y="452718"/>
            <a:ext cx="9404723" cy="767687"/>
          </a:xfrm>
        </p:spPr>
        <p:txBody>
          <a:bodyPr/>
          <a:lstStyle/>
          <a:p>
            <a:r>
              <a:rPr lang="en-IN" dirty="0"/>
              <a:t>Features of ICDS</a:t>
            </a:r>
          </a:p>
        </p:txBody>
      </p:sp>
      <p:sp>
        <p:nvSpPr>
          <p:cNvPr id="3" name="Content Placeholder 2">
            <a:extLst>
              <a:ext uri="{FF2B5EF4-FFF2-40B4-BE49-F238E27FC236}">
                <a16:creationId xmlns:a16="http://schemas.microsoft.com/office/drawing/2014/main" id="{9D9F32DD-21D2-9FB1-5520-2D3FA99A75B1}"/>
              </a:ext>
            </a:extLst>
          </p:cNvPr>
          <p:cNvSpPr>
            <a:spLocks noGrp="1"/>
          </p:cNvSpPr>
          <p:nvPr>
            <p:ph idx="1"/>
          </p:nvPr>
        </p:nvSpPr>
        <p:spPr>
          <a:xfrm>
            <a:off x="1103312" y="1306286"/>
            <a:ext cx="10087427" cy="5421085"/>
          </a:xfrm>
        </p:spPr>
        <p:txBody>
          <a:bodyPr>
            <a:normAutofit lnSpcReduction="10000"/>
          </a:bodyPr>
          <a:lstStyle/>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ICDS is not meant for maintenance of books of account, but for the computation of income.</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Non-compliance to the standards may place the authority in a position of assessing the income on ‘best judgment’ basis.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ICDS doesn’t have any criterion of income or turnover.</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Every ICDS, except on securities, provide for transitional provisions to facilitate first-time adoption and consideration of the resultant impact.</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In the event of a conflict between the provisions of the Act and ICDS, the provisions of the Act will be given preference ahead of the latter.</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ICDS does not have prudence as a fundamental assumption except if it is specifically stated so in the respective ICDS. It may lead to earlier recognition of income or gains or later recognition of expenses in comparison with the Accounts formulated under the existing Accounting Standards (AS).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The Income Tax Act allows the Assessing Officer to conduct an assessment in accordance with Section 144 on the event of a failure to compute income according to ICDS.</a:t>
            </a:r>
          </a:p>
          <a:p>
            <a:pPr algn="just">
              <a:buFont typeface="Wingdings" panose="05000000000000000000" pitchFamily="2" charset="2"/>
              <a:buChar char="Ø"/>
            </a:pPr>
            <a:r>
              <a:rPr lang="en-US" dirty="0">
                <a:latin typeface="Cambria" panose="02040503050406030204" pitchFamily="18" charset="0"/>
                <a:ea typeface="Cambria" panose="02040503050406030204" pitchFamily="18" charset="0"/>
              </a:rPr>
              <a:t>Form 3CD has been revised for making mandatory disclosures in compliance with ICDS</a:t>
            </a:r>
            <a:r>
              <a:rPr lang="en-US" dirty="0"/>
              <a:t>.</a:t>
            </a:r>
            <a:endParaRPr lang="en-IN" dirty="0"/>
          </a:p>
        </p:txBody>
      </p:sp>
      <p:sp>
        <p:nvSpPr>
          <p:cNvPr id="6" name="Slide Number Placeholder 5">
            <a:extLst>
              <a:ext uri="{FF2B5EF4-FFF2-40B4-BE49-F238E27FC236}">
                <a16:creationId xmlns:a16="http://schemas.microsoft.com/office/drawing/2014/main" id="{EA7A94AF-A450-CD57-99F1-32A380DBF79C}"/>
              </a:ext>
            </a:extLst>
          </p:cNvPr>
          <p:cNvSpPr>
            <a:spLocks noGrp="1"/>
          </p:cNvSpPr>
          <p:nvPr>
            <p:ph type="sldNum" sz="quarter" idx="12"/>
          </p:nvPr>
        </p:nvSpPr>
        <p:spPr/>
        <p:txBody>
          <a:bodyPr/>
          <a:lstStyle/>
          <a:p>
            <a:fld id="{94013DF8-6EF8-4A98-8821-E6468C17C0C3}" type="slidenum">
              <a:rPr lang="en-IN" smtClean="0"/>
              <a:t>168</a:t>
            </a:fld>
            <a:endParaRPr lang="en-IN"/>
          </a:p>
        </p:txBody>
      </p:sp>
    </p:spTree>
    <p:extLst>
      <p:ext uri="{BB962C8B-B14F-4D97-AF65-F5344CB8AC3E}">
        <p14:creationId xmlns:p14="http://schemas.microsoft.com/office/powerpoint/2010/main" val="2807259714"/>
      </p:ext>
    </p:extLst>
  </p:cSld>
  <p:clrMapOvr>
    <a:masterClrMapping/>
  </p:clrMapOvr>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E113D60E-8C9F-D63D-E4FD-5282495E077B}"/>
              </a:ext>
            </a:extLst>
          </p:cNvPr>
          <p:cNvSpPr>
            <a:spLocks noGrp="1"/>
          </p:cNvSpPr>
          <p:nvPr>
            <p:ph type="ctrTitle"/>
          </p:nvPr>
        </p:nvSpPr>
        <p:spPr/>
        <p:txBody>
          <a:bodyPr/>
          <a:lstStyle/>
          <a:p>
            <a:pPr algn="ctr"/>
            <a:r>
              <a:rPr lang="en-US" dirty="0" err="1"/>
              <a:t>Numericals</a:t>
            </a:r>
            <a:endParaRPr lang="en-IN" dirty="0"/>
          </a:p>
        </p:txBody>
      </p:sp>
      <p:sp>
        <p:nvSpPr>
          <p:cNvPr id="6" name="Subtitle 5">
            <a:extLst>
              <a:ext uri="{FF2B5EF4-FFF2-40B4-BE49-F238E27FC236}">
                <a16:creationId xmlns:a16="http://schemas.microsoft.com/office/drawing/2014/main" id="{74473897-5EFC-3B7A-801A-540D49F92E6A}"/>
              </a:ext>
            </a:extLst>
          </p:cNvPr>
          <p:cNvSpPr>
            <a:spLocks noGrp="1"/>
          </p:cNvSpPr>
          <p:nvPr>
            <p:ph type="subTitle" idx="1"/>
          </p:nvPr>
        </p:nvSpPr>
        <p:spPr/>
        <p:txBody>
          <a:bodyPr/>
          <a:lstStyle/>
          <a:p>
            <a:endParaRPr lang="en-IN" dirty="0"/>
          </a:p>
        </p:txBody>
      </p:sp>
      <p:sp>
        <p:nvSpPr>
          <p:cNvPr id="4" name="Slide Number Placeholder 3">
            <a:extLst>
              <a:ext uri="{FF2B5EF4-FFF2-40B4-BE49-F238E27FC236}">
                <a16:creationId xmlns:a16="http://schemas.microsoft.com/office/drawing/2014/main" id="{09B1EF3E-8281-4CF2-4CB2-5B6D26816919}"/>
              </a:ext>
            </a:extLst>
          </p:cNvPr>
          <p:cNvSpPr>
            <a:spLocks noGrp="1"/>
          </p:cNvSpPr>
          <p:nvPr>
            <p:ph type="sldNum" sz="quarter" idx="12"/>
          </p:nvPr>
        </p:nvSpPr>
        <p:spPr/>
        <p:txBody>
          <a:bodyPr/>
          <a:lstStyle/>
          <a:p>
            <a:fld id="{94013DF8-6EF8-4A98-8821-E6468C17C0C3}" type="slidenum">
              <a:rPr lang="en-IN" smtClean="0"/>
              <a:t>169</a:t>
            </a:fld>
            <a:endParaRPr lang="en-IN"/>
          </a:p>
        </p:txBody>
      </p:sp>
    </p:spTree>
    <p:extLst>
      <p:ext uri="{BB962C8B-B14F-4D97-AF65-F5344CB8AC3E}">
        <p14:creationId xmlns:p14="http://schemas.microsoft.com/office/powerpoint/2010/main" val="2365256602"/>
      </p:ext>
    </p:extLst>
  </p:cSld>
  <p:clrMapOvr>
    <a:masterClrMapping/>
  </p:clrMapOvr>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73CCD4-0AEC-8209-ABD8-64F5318A9331}"/>
              </a:ext>
            </a:extLst>
          </p:cNvPr>
          <p:cNvSpPr>
            <a:spLocks noGrp="1"/>
          </p:cNvSpPr>
          <p:nvPr>
            <p:ph type="title"/>
          </p:nvPr>
        </p:nvSpPr>
        <p:spPr/>
        <p:txBody>
          <a:bodyPr/>
          <a:lstStyle/>
          <a:p>
            <a:r>
              <a:rPr lang="en-US" sz="2400" dirty="0"/>
              <a:t>Question 1) A salaried individual's annual income (from salary only) increases from ₹12, 50, 000 to ₹13,50, 000. Calculate the total income tax payable under the FY 2024-25/assessment year 2025-26 considering  new income tax regime in both the cases. Comment on the marginal relief.</a:t>
            </a:r>
            <a:endParaRPr lang="en-IN" sz="2400" dirty="0"/>
          </a:p>
        </p:txBody>
      </p:sp>
      <p:pic>
        <p:nvPicPr>
          <p:cNvPr id="5" name="Content Placeholder 4">
            <a:extLst>
              <a:ext uri="{FF2B5EF4-FFF2-40B4-BE49-F238E27FC236}">
                <a16:creationId xmlns:a16="http://schemas.microsoft.com/office/drawing/2014/main" id="{174D082A-B978-A0A9-C789-CE3C9BC37967}"/>
              </a:ext>
            </a:extLst>
          </p:cNvPr>
          <p:cNvPicPr>
            <a:picLocks noGrp="1" noChangeAspect="1"/>
          </p:cNvPicPr>
          <p:nvPr>
            <p:ph idx="1"/>
          </p:nvPr>
        </p:nvPicPr>
        <p:blipFill>
          <a:blip r:embed="rId2"/>
          <a:stretch>
            <a:fillRect/>
          </a:stretch>
        </p:blipFill>
        <p:spPr>
          <a:xfrm>
            <a:off x="1430219" y="2714927"/>
            <a:ext cx="6027856" cy="3698363"/>
          </a:xfrm>
          <a:prstGeom prst="rect">
            <a:avLst/>
          </a:prstGeom>
        </p:spPr>
      </p:pic>
      <p:sp>
        <p:nvSpPr>
          <p:cNvPr id="4" name="Slide Number Placeholder 3">
            <a:extLst>
              <a:ext uri="{FF2B5EF4-FFF2-40B4-BE49-F238E27FC236}">
                <a16:creationId xmlns:a16="http://schemas.microsoft.com/office/drawing/2014/main" id="{F581611C-BCC8-2192-11AA-268C33928C74}"/>
              </a:ext>
            </a:extLst>
          </p:cNvPr>
          <p:cNvSpPr>
            <a:spLocks noGrp="1"/>
          </p:cNvSpPr>
          <p:nvPr>
            <p:ph type="sldNum" sz="quarter" idx="12"/>
          </p:nvPr>
        </p:nvSpPr>
        <p:spPr/>
        <p:txBody>
          <a:bodyPr/>
          <a:lstStyle/>
          <a:p>
            <a:fld id="{94013DF8-6EF8-4A98-8821-E6468C17C0C3}" type="slidenum">
              <a:rPr lang="en-IN" smtClean="0"/>
              <a:t>170</a:t>
            </a:fld>
            <a:endParaRPr lang="en-IN"/>
          </a:p>
        </p:txBody>
      </p:sp>
    </p:spTree>
    <p:extLst>
      <p:ext uri="{BB962C8B-B14F-4D97-AF65-F5344CB8AC3E}">
        <p14:creationId xmlns:p14="http://schemas.microsoft.com/office/powerpoint/2010/main" val="2607825478"/>
      </p:ext>
    </p:extLst>
  </p:cSld>
  <p:clrMapOvr>
    <a:masterClrMapping/>
  </p:clrMapOvr>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FB74EF-76CB-1B43-2F96-6992F998252C}"/>
              </a:ext>
            </a:extLst>
          </p:cNvPr>
          <p:cNvSpPr>
            <a:spLocks noGrp="1"/>
          </p:cNvSpPr>
          <p:nvPr>
            <p:ph idx="1"/>
          </p:nvPr>
        </p:nvSpPr>
        <p:spPr>
          <a:xfrm>
            <a:off x="879893" y="1063416"/>
            <a:ext cx="10006643" cy="4985313"/>
          </a:xfrm>
        </p:spPr>
        <p:txBody>
          <a:bodyPr/>
          <a:lstStyle/>
          <a:p>
            <a:pPr marL="0" indent="0">
              <a:buNone/>
            </a:pPr>
            <a:r>
              <a:rPr lang="en-US" sz="2400" dirty="0"/>
              <a:t>Case 1:  When income = ₹12, 50, 000</a:t>
            </a:r>
          </a:p>
          <a:p>
            <a:pPr marL="400050" lvl="1" indent="0">
              <a:buNone/>
            </a:pPr>
            <a:r>
              <a:rPr lang="en-US" sz="2400" dirty="0"/>
              <a:t>1.	Gross salary = ₹12,50,000</a:t>
            </a:r>
          </a:p>
          <a:p>
            <a:pPr marL="400050" lvl="1" indent="0">
              <a:buNone/>
            </a:pPr>
            <a:endParaRPr lang="en-US" sz="2400" dirty="0"/>
          </a:p>
          <a:p>
            <a:pPr marL="400050" lvl="1" indent="0">
              <a:buNone/>
            </a:pPr>
            <a:r>
              <a:rPr lang="en-US" sz="2400" dirty="0"/>
              <a:t>2.	Standard deduction = ₹75,000</a:t>
            </a:r>
          </a:p>
          <a:p>
            <a:pPr marL="0" indent="0">
              <a:buNone/>
            </a:pPr>
            <a:r>
              <a:rPr lang="en-US" sz="2400" dirty="0"/>
              <a:t>		⇒ Taxable income = 12,50,000 − 75,000 = ₹11,75,000</a:t>
            </a:r>
          </a:p>
          <a:p>
            <a:pPr marL="400050" lvl="1" indent="-457200">
              <a:buNone/>
            </a:pPr>
            <a:r>
              <a:rPr lang="en-US" sz="2400" dirty="0"/>
              <a:t>	</a:t>
            </a:r>
          </a:p>
          <a:p>
            <a:pPr marL="400050" lvl="1" indent="-457200">
              <a:buNone/>
            </a:pPr>
            <a:r>
              <a:rPr lang="en-US" sz="2400" dirty="0"/>
              <a:t>	3.	Since ₹11,75,000 ≤ ₹12,75,000 </a:t>
            </a:r>
          </a:p>
          <a:p>
            <a:pPr marL="400050" lvl="1" indent="-457200">
              <a:buNone/>
            </a:pPr>
            <a:r>
              <a:rPr lang="en-US" sz="2400" dirty="0"/>
              <a:t>			he qualifies for full rebate under Section 87A, so tax = 0</a:t>
            </a:r>
          </a:p>
          <a:p>
            <a:pPr marL="400050" lvl="1" indent="0">
              <a:buNone/>
            </a:pPr>
            <a:endParaRPr lang="en-US" sz="2400" dirty="0"/>
          </a:p>
          <a:p>
            <a:pPr marL="0" indent="0">
              <a:buNone/>
            </a:pPr>
            <a:r>
              <a:rPr lang="en-US" sz="2400" dirty="0"/>
              <a:t>So at ₹12, 50, 000 income, the total tax under new regime = ₹0.</a:t>
            </a:r>
          </a:p>
          <a:p>
            <a:pPr marL="0" indent="0">
              <a:buNone/>
            </a:pPr>
            <a:endParaRPr lang="en-IN" dirty="0"/>
          </a:p>
        </p:txBody>
      </p:sp>
      <p:sp>
        <p:nvSpPr>
          <p:cNvPr id="4" name="Slide Number Placeholder 3">
            <a:extLst>
              <a:ext uri="{FF2B5EF4-FFF2-40B4-BE49-F238E27FC236}">
                <a16:creationId xmlns:a16="http://schemas.microsoft.com/office/drawing/2014/main" id="{670D159D-D2AD-1858-2753-6C61F414737D}"/>
              </a:ext>
            </a:extLst>
          </p:cNvPr>
          <p:cNvSpPr>
            <a:spLocks noGrp="1"/>
          </p:cNvSpPr>
          <p:nvPr>
            <p:ph type="sldNum" sz="quarter" idx="12"/>
          </p:nvPr>
        </p:nvSpPr>
        <p:spPr/>
        <p:txBody>
          <a:bodyPr/>
          <a:lstStyle/>
          <a:p>
            <a:fld id="{94013DF8-6EF8-4A98-8821-E6468C17C0C3}" type="slidenum">
              <a:rPr lang="en-IN" smtClean="0"/>
              <a:t>171</a:t>
            </a:fld>
            <a:endParaRPr lang="en-IN"/>
          </a:p>
        </p:txBody>
      </p:sp>
    </p:spTree>
    <p:extLst>
      <p:ext uri="{BB962C8B-B14F-4D97-AF65-F5344CB8AC3E}">
        <p14:creationId xmlns:p14="http://schemas.microsoft.com/office/powerpoint/2010/main" val="1630403106"/>
      </p:ext>
    </p:extLst>
  </p:cSld>
  <p:clrMapOvr>
    <a:masterClrMapping/>
  </p:clrMapOvr>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4026557-93F8-8911-9DAE-217F0E7FFC02}"/>
              </a:ext>
            </a:extLst>
          </p:cNvPr>
          <p:cNvSpPr>
            <a:spLocks noGrp="1"/>
          </p:cNvSpPr>
          <p:nvPr>
            <p:ph idx="1"/>
          </p:nvPr>
        </p:nvSpPr>
        <p:spPr>
          <a:xfrm>
            <a:off x="345057" y="295730"/>
            <a:ext cx="11473131" cy="6562270"/>
          </a:xfrm>
        </p:spPr>
        <p:txBody>
          <a:bodyPr>
            <a:normAutofit fontScale="62500" lnSpcReduction="20000"/>
          </a:bodyPr>
          <a:lstStyle/>
          <a:p>
            <a:pPr marL="0" indent="0">
              <a:buNone/>
            </a:pPr>
            <a:r>
              <a:rPr lang="en-US" sz="2900" dirty="0"/>
              <a:t>Case 2: When income = ₹13, 50, 000</a:t>
            </a:r>
          </a:p>
          <a:p>
            <a:pPr marL="0" indent="0">
              <a:buNone/>
            </a:pPr>
            <a:r>
              <a:rPr lang="en-US" sz="2900" dirty="0"/>
              <a:t>1.	Gross salary = ₹13,50,000</a:t>
            </a:r>
          </a:p>
          <a:p>
            <a:pPr marL="0" indent="0">
              <a:buNone/>
            </a:pPr>
            <a:r>
              <a:rPr lang="en-US" sz="2900" dirty="0"/>
              <a:t>2.	Standard deduction = ₹75,000</a:t>
            </a:r>
          </a:p>
          <a:p>
            <a:pPr marL="0" indent="0">
              <a:buNone/>
            </a:pPr>
            <a:r>
              <a:rPr lang="en-US" sz="2900" dirty="0"/>
              <a:t>	⇒ Taxable income = 13,50,000 − 75,000 = ₹12,75,000</a:t>
            </a:r>
          </a:p>
          <a:p>
            <a:pPr marL="0" indent="0">
              <a:buNone/>
            </a:pPr>
            <a:r>
              <a:rPr lang="en-US" sz="2900" dirty="0"/>
              <a:t>3.	Now taxable income exceeds ₹12,00,000, so rebate is not fully available</a:t>
            </a:r>
          </a:p>
          <a:p>
            <a:pPr marL="0" indent="0">
              <a:buNone/>
            </a:pPr>
            <a:r>
              <a:rPr lang="en-US" sz="2900" dirty="0"/>
              <a:t>4.	Compute tax as per slabs:</a:t>
            </a:r>
          </a:p>
          <a:p>
            <a:pPr marL="400050" lvl="1" indent="0">
              <a:buNone/>
            </a:pPr>
            <a:r>
              <a:rPr lang="en-US" sz="2700" dirty="0"/>
              <a:t>o	On first ₹4,00,000 → 0% = ₹0</a:t>
            </a:r>
          </a:p>
          <a:p>
            <a:pPr marL="400050" lvl="1" indent="0">
              <a:buNone/>
            </a:pPr>
            <a:r>
              <a:rPr lang="en-US" sz="2700" dirty="0"/>
              <a:t>o	On next ₹4,00,000 (i.e. from ₹4,00,001 to ₹8,00,000) → 5% of ₹4,00,000 = ₹20,000</a:t>
            </a:r>
          </a:p>
          <a:p>
            <a:pPr marL="400050" lvl="1" indent="0">
              <a:buNone/>
            </a:pPr>
            <a:r>
              <a:rPr lang="en-US" sz="2700" dirty="0"/>
              <a:t>o	On next ₹4,00,000 (i.e. ₹8,00,001 to ₹12,00,000) → 10% of ₹4,00,000 = ₹40,000</a:t>
            </a:r>
          </a:p>
          <a:p>
            <a:pPr marL="400050" lvl="1" indent="0">
              <a:buNone/>
            </a:pPr>
            <a:r>
              <a:rPr lang="en-US" sz="2700" dirty="0"/>
              <a:t>o	On the remaining above ₹12,00,000 up to ₹12,75,000 → (₹12,75,000 − ₹12,00,000) = ₹75,000 taxed at 15% = ₹11,250</a:t>
            </a:r>
          </a:p>
          <a:p>
            <a:pPr marL="0" indent="0">
              <a:buNone/>
            </a:pPr>
            <a:r>
              <a:rPr lang="en-US" sz="2900" dirty="0"/>
              <a:t>So total tax before </a:t>
            </a:r>
            <a:r>
              <a:rPr lang="en-US" sz="2900" dirty="0" err="1"/>
              <a:t>cess</a:t>
            </a:r>
            <a:r>
              <a:rPr lang="en-US" sz="2900" dirty="0"/>
              <a:t> = 20,000 + 40,000 + 11,250 = ₹71,250</a:t>
            </a:r>
          </a:p>
          <a:p>
            <a:pPr marL="0" indent="0">
              <a:buNone/>
            </a:pPr>
            <a:r>
              <a:rPr lang="en-US" sz="2900" dirty="0"/>
              <a:t>5.	Health &amp; Education </a:t>
            </a:r>
            <a:r>
              <a:rPr lang="en-US" sz="2900" dirty="0" err="1"/>
              <a:t>cess</a:t>
            </a:r>
            <a:r>
              <a:rPr lang="en-US" sz="2900" dirty="0"/>
              <a:t> at 4% on ₹71,250 = 0.04 × 71,250 = ₹2,850</a:t>
            </a:r>
          </a:p>
          <a:p>
            <a:pPr marL="0" indent="0">
              <a:buNone/>
            </a:pPr>
            <a:r>
              <a:rPr lang="en-US" sz="2900" dirty="0"/>
              <a:t>6.	Total tax liability = 71,250 + 2,850 = ₹74,100</a:t>
            </a:r>
          </a:p>
          <a:p>
            <a:pPr marL="0" indent="0">
              <a:buNone/>
            </a:pPr>
            <a:r>
              <a:rPr lang="en-US" sz="2900" dirty="0"/>
              <a:t>Therefore:</a:t>
            </a:r>
          </a:p>
          <a:p>
            <a:pPr marL="400050" lvl="1" indent="0">
              <a:buNone/>
            </a:pPr>
            <a:r>
              <a:rPr lang="en-US" sz="2900" dirty="0"/>
              <a:t>•	When income is ₹12,50,000 → Total tax = ₹0 (under new regime)</a:t>
            </a:r>
          </a:p>
          <a:p>
            <a:pPr marL="400050" lvl="1" indent="0">
              <a:buNone/>
            </a:pPr>
            <a:r>
              <a:rPr lang="en-US" sz="2900" dirty="0"/>
              <a:t>•	When income is ₹13,50,000 → Total tax = ₹74,100</a:t>
            </a:r>
          </a:p>
          <a:p>
            <a:pPr marL="0" indent="0">
              <a:buNone/>
            </a:pPr>
            <a:r>
              <a:rPr lang="en-US" sz="2900" dirty="0"/>
              <a:t>Marginal relief ensures that the increase in tax payable does not exceed the increase in income when your income crosses the rebate threshold limit.</a:t>
            </a:r>
          </a:p>
          <a:p>
            <a:pPr marL="0" indent="0">
              <a:buNone/>
            </a:pPr>
            <a:endParaRPr lang="en-IN" dirty="0"/>
          </a:p>
        </p:txBody>
      </p:sp>
      <p:sp>
        <p:nvSpPr>
          <p:cNvPr id="4" name="Slide Number Placeholder 3">
            <a:extLst>
              <a:ext uri="{FF2B5EF4-FFF2-40B4-BE49-F238E27FC236}">
                <a16:creationId xmlns:a16="http://schemas.microsoft.com/office/drawing/2014/main" id="{8C5B9721-9339-5F6A-7392-D759A0DA1F77}"/>
              </a:ext>
            </a:extLst>
          </p:cNvPr>
          <p:cNvSpPr>
            <a:spLocks noGrp="1"/>
          </p:cNvSpPr>
          <p:nvPr>
            <p:ph type="sldNum" sz="quarter" idx="12"/>
          </p:nvPr>
        </p:nvSpPr>
        <p:spPr/>
        <p:txBody>
          <a:bodyPr/>
          <a:lstStyle/>
          <a:p>
            <a:fld id="{94013DF8-6EF8-4A98-8821-E6468C17C0C3}" type="slidenum">
              <a:rPr lang="en-IN" smtClean="0"/>
              <a:t>172</a:t>
            </a:fld>
            <a:endParaRPr lang="en-IN"/>
          </a:p>
        </p:txBody>
      </p:sp>
    </p:spTree>
    <p:extLst>
      <p:ext uri="{BB962C8B-B14F-4D97-AF65-F5344CB8AC3E}">
        <p14:creationId xmlns:p14="http://schemas.microsoft.com/office/powerpoint/2010/main" val="2709144781"/>
      </p:ext>
    </p:extLst>
  </p:cSld>
  <p:clrMapOvr>
    <a:masterClrMapping/>
  </p:clrMapOvr>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80C85-7530-5D37-DD85-67014BFF2857}"/>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E6F9F567-981D-C98B-66FA-D59CFA388EC8}"/>
              </a:ext>
            </a:extLst>
          </p:cNvPr>
          <p:cNvSpPr>
            <a:spLocks noGrp="1"/>
          </p:cNvSpPr>
          <p:nvPr>
            <p:ph idx="1"/>
          </p:nvPr>
        </p:nvSpPr>
        <p:spPr/>
        <p:txBody>
          <a:bodyPr/>
          <a:lstStyle/>
          <a:p>
            <a:pPr marL="0" indent="0">
              <a:buNone/>
            </a:pPr>
            <a:r>
              <a:rPr lang="en-US" dirty="0"/>
              <a:t>Check for marginal relief</a:t>
            </a:r>
          </a:p>
          <a:p>
            <a:pPr marL="0" indent="0">
              <a:buNone/>
            </a:pPr>
            <a:r>
              <a:rPr lang="en-US" dirty="0"/>
              <a:t>Now, check if the excess tax exceeds the excess income (over ₹12.75 lakhs):</a:t>
            </a:r>
          </a:p>
          <a:p>
            <a:pPr marL="0" indent="0">
              <a:buNone/>
            </a:pPr>
            <a:r>
              <a:rPr lang="en-US" dirty="0"/>
              <a:t>•	Excess income = ₹75,000</a:t>
            </a:r>
          </a:p>
          <a:p>
            <a:pPr marL="0" indent="0">
              <a:buNone/>
            </a:pPr>
            <a:r>
              <a:rPr lang="en-US" dirty="0"/>
              <a:t>•	Excess tax = ₹74,100 − ₹0 (since at ₹12 lakh tax = 0) = ₹74,100</a:t>
            </a:r>
          </a:p>
          <a:p>
            <a:pPr marL="0" indent="0">
              <a:buNone/>
            </a:pPr>
            <a:r>
              <a:rPr lang="en-US" dirty="0"/>
              <a:t> Here, excess tax (₹74,100) is slightly less than excess income (₹75,000).</a:t>
            </a:r>
          </a:p>
          <a:p>
            <a:pPr marL="0" indent="0">
              <a:buNone/>
            </a:pPr>
            <a:r>
              <a:rPr lang="en-US" dirty="0"/>
              <a:t>Hence, marginal relief is not applicable.</a:t>
            </a:r>
          </a:p>
          <a:p>
            <a:pPr marL="0" indent="0">
              <a:buNone/>
            </a:pPr>
            <a:endParaRPr lang="en-IN" dirty="0"/>
          </a:p>
        </p:txBody>
      </p:sp>
      <p:sp>
        <p:nvSpPr>
          <p:cNvPr id="4" name="Slide Number Placeholder 3">
            <a:extLst>
              <a:ext uri="{FF2B5EF4-FFF2-40B4-BE49-F238E27FC236}">
                <a16:creationId xmlns:a16="http://schemas.microsoft.com/office/drawing/2014/main" id="{AAE03519-F32F-C8B9-8B31-C998C2E38C4F}"/>
              </a:ext>
            </a:extLst>
          </p:cNvPr>
          <p:cNvSpPr>
            <a:spLocks noGrp="1"/>
          </p:cNvSpPr>
          <p:nvPr>
            <p:ph type="sldNum" sz="quarter" idx="12"/>
          </p:nvPr>
        </p:nvSpPr>
        <p:spPr/>
        <p:txBody>
          <a:bodyPr/>
          <a:lstStyle/>
          <a:p>
            <a:fld id="{94013DF8-6EF8-4A98-8821-E6468C17C0C3}" type="slidenum">
              <a:rPr lang="en-IN" smtClean="0"/>
              <a:t>173</a:t>
            </a:fld>
            <a:endParaRPr lang="en-IN"/>
          </a:p>
        </p:txBody>
      </p:sp>
    </p:spTree>
    <p:extLst>
      <p:ext uri="{BB962C8B-B14F-4D97-AF65-F5344CB8AC3E}">
        <p14:creationId xmlns:p14="http://schemas.microsoft.com/office/powerpoint/2010/main" val="4100919004"/>
      </p:ext>
    </p:extLst>
  </p:cSld>
  <p:clrMapOvr>
    <a:masterClrMapping/>
  </p:clrMapOvr>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5AD8-C4E3-C4A8-2EC8-527CCC9E8C85}"/>
              </a:ext>
            </a:extLst>
          </p:cNvPr>
          <p:cNvSpPr>
            <a:spLocks noGrp="1"/>
          </p:cNvSpPr>
          <p:nvPr>
            <p:ph type="title"/>
          </p:nvPr>
        </p:nvSpPr>
        <p:spPr/>
        <p:txBody>
          <a:bodyPr/>
          <a:lstStyle/>
          <a:p>
            <a:r>
              <a:rPr lang="en-US" sz="2400" dirty="0"/>
              <a:t>Question  2)  A salaried individual's annual income (from salary only) increases from ₹49,50,000 to ₹51,50,000. Calculate the total income tax payable under the FY 2024-25/assessment year 2025-26 considering  new income tax regime in both the cases. Also comment on marginal stability and surcharge.</a:t>
            </a:r>
            <a:endParaRPr lang="en-IN" sz="2400" dirty="0"/>
          </a:p>
        </p:txBody>
      </p:sp>
      <p:sp>
        <p:nvSpPr>
          <p:cNvPr id="3" name="Content Placeholder 2">
            <a:extLst>
              <a:ext uri="{FF2B5EF4-FFF2-40B4-BE49-F238E27FC236}">
                <a16:creationId xmlns:a16="http://schemas.microsoft.com/office/drawing/2014/main" id="{4AEB1B83-84D3-893A-078B-5DDFE0885C4D}"/>
              </a:ext>
            </a:extLst>
          </p:cNvPr>
          <p:cNvSpPr>
            <a:spLocks noGrp="1"/>
          </p:cNvSpPr>
          <p:nvPr>
            <p:ph idx="1"/>
          </p:nvPr>
        </p:nvSpPr>
        <p:spPr>
          <a:xfrm>
            <a:off x="646111" y="2501660"/>
            <a:ext cx="10827021" cy="3746739"/>
          </a:xfrm>
        </p:spPr>
        <p:txBody>
          <a:bodyPr>
            <a:normAutofit/>
          </a:bodyPr>
          <a:lstStyle/>
          <a:p>
            <a:pPr marL="0" indent="0">
              <a:buNone/>
            </a:pPr>
            <a:r>
              <a:rPr lang="en-IN" dirty="0"/>
              <a:t>Solution:</a:t>
            </a:r>
          </a:p>
          <a:p>
            <a:pPr marL="0" indent="0">
              <a:buNone/>
            </a:pPr>
            <a:r>
              <a:rPr lang="en-IN" dirty="0"/>
              <a:t>Taxable income</a:t>
            </a:r>
          </a:p>
          <a:p>
            <a:pPr marL="0" indent="0">
              <a:buNone/>
            </a:pPr>
            <a:r>
              <a:rPr lang="en-IN" dirty="0"/>
              <a:t>1.	Old income: ₹49,50,000</a:t>
            </a:r>
          </a:p>
          <a:p>
            <a:pPr marL="400050" lvl="1" indent="0">
              <a:buNone/>
            </a:pPr>
            <a:r>
              <a:rPr lang="en-IN" sz="2000" dirty="0"/>
              <a:t>o	Standard deduction: ₹75,000</a:t>
            </a:r>
          </a:p>
          <a:p>
            <a:pPr marL="400050" lvl="1" indent="0">
              <a:buNone/>
            </a:pPr>
            <a:r>
              <a:rPr lang="en-IN" sz="2000" dirty="0"/>
              <a:t>o	Taxable income = 49,50,000 − 75,000 = 48,75,000</a:t>
            </a:r>
          </a:p>
          <a:p>
            <a:pPr marL="0" indent="0">
              <a:buNone/>
            </a:pPr>
            <a:r>
              <a:rPr lang="en-IN" dirty="0"/>
              <a:t>2.	New income: ₹51,50,000</a:t>
            </a:r>
          </a:p>
          <a:p>
            <a:pPr marL="400050" lvl="1" indent="0">
              <a:buNone/>
            </a:pPr>
            <a:r>
              <a:rPr lang="en-IN" sz="2000" dirty="0"/>
              <a:t>o	Standard deduction: ₹75,000</a:t>
            </a:r>
          </a:p>
          <a:p>
            <a:pPr marL="400050" lvl="1" indent="0">
              <a:buNone/>
            </a:pPr>
            <a:r>
              <a:rPr lang="en-IN" sz="2000" dirty="0"/>
              <a:t>o	Taxable income = 51,50,000 − 75,000 = 50,75,000</a:t>
            </a:r>
          </a:p>
        </p:txBody>
      </p:sp>
      <p:sp>
        <p:nvSpPr>
          <p:cNvPr id="4" name="Slide Number Placeholder 3">
            <a:extLst>
              <a:ext uri="{FF2B5EF4-FFF2-40B4-BE49-F238E27FC236}">
                <a16:creationId xmlns:a16="http://schemas.microsoft.com/office/drawing/2014/main" id="{4D0BDC38-25C3-1319-926F-92F5C8BCAD36}"/>
              </a:ext>
            </a:extLst>
          </p:cNvPr>
          <p:cNvSpPr>
            <a:spLocks noGrp="1"/>
          </p:cNvSpPr>
          <p:nvPr>
            <p:ph type="sldNum" sz="quarter" idx="12"/>
          </p:nvPr>
        </p:nvSpPr>
        <p:spPr/>
        <p:txBody>
          <a:bodyPr/>
          <a:lstStyle/>
          <a:p>
            <a:fld id="{94013DF8-6EF8-4A98-8821-E6468C17C0C3}" type="slidenum">
              <a:rPr lang="en-IN" smtClean="0"/>
              <a:t>174</a:t>
            </a:fld>
            <a:endParaRPr lang="en-IN"/>
          </a:p>
        </p:txBody>
      </p:sp>
    </p:spTree>
    <p:extLst>
      <p:ext uri="{BB962C8B-B14F-4D97-AF65-F5344CB8AC3E}">
        <p14:creationId xmlns:p14="http://schemas.microsoft.com/office/powerpoint/2010/main" val="487550685"/>
      </p:ext>
    </p:extLst>
  </p:cSld>
  <p:clrMapOvr>
    <a:masterClrMapping/>
  </p:clrMapOvr>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BCA32B-3A9B-0FF8-4A87-B5085EBDBEE0}"/>
              </a:ext>
            </a:extLst>
          </p:cNvPr>
          <p:cNvSpPr>
            <a:spLocks noGrp="1"/>
          </p:cNvSpPr>
          <p:nvPr>
            <p:ph type="title"/>
          </p:nvPr>
        </p:nvSpPr>
        <p:spPr>
          <a:xfrm>
            <a:off x="646111" y="452718"/>
            <a:ext cx="9404723" cy="610698"/>
          </a:xfrm>
        </p:spPr>
        <p:txBody>
          <a:bodyPr/>
          <a:lstStyle/>
          <a:p>
            <a:r>
              <a:rPr lang="en-US" sz="2000" dirty="0"/>
              <a:t>Compute tax on old income (₹48,75,000)</a:t>
            </a:r>
            <a:endParaRPr lang="en-IN" sz="2000" dirty="0"/>
          </a:p>
        </p:txBody>
      </p:sp>
      <p:sp>
        <p:nvSpPr>
          <p:cNvPr id="3" name="Content Placeholder 2">
            <a:extLst>
              <a:ext uri="{FF2B5EF4-FFF2-40B4-BE49-F238E27FC236}">
                <a16:creationId xmlns:a16="http://schemas.microsoft.com/office/drawing/2014/main" id="{94025D61-0A56-07EB-75D8-2D7C87FD78FA}"/>
              </a:ext>
            </a:extLst>
          </p:cNvPr>
          <p:cNvSpPr>
            <a:spLocks noGrp="1"/>
          </p:cNvSpPr>
          <p:nvPr>
            <p:ph idx="1"/>
          </p:nvPr>
        </p:nvSpPr>
        <p:spPr>
          <a:xfrm>
            <a:off x="645132" y="897148"/>
            <a:ext cx="9404722" cy="5351252"/>
          </a:xfrm>
        </p:spPr>
        <p:txBody>
          <a:bodyPr/>
          <a:lstStyle/>
          <a:p>
            <a:pPr marL="0" indent="0">
              <a:buNone/>
            </a:pPr>
            <a:r>
              <a:rPr lang="en-US" dirty="0"/>
              <a:t>Slab-wise tax:</a:t>
            </a:r>
            <a:endParaRPr lang="en-IN" dirty="0"/>
          </a:p>
          <a:p>
            <a:pPr marL="0" indent="0">
              <a:buNone/>
            </a:pPr>
            <a:endParaRPr lang="en-IN" dirty="0"/>
          </a:p>
        </p:txBody>
      </p:sp>
      <p:sp>
        <p:nvSpPr>
          <p:cNvPr id="4" name="Slide Number Placeholder 3">
            <a:extLst>
              <a:ext uri="{FF2B5EF4-FFF2-40B4-BE49-F238E27FC236}">
                <a16:creationId xmlns:a16="http://schemas.microsoft.com/office/drawing/2014/main" id="{78557AF6-4718-2A18-01C0-5437B5DF48BE}"/>
              </a:ext>
            </a:extLst>
          </p:cNvPr>
          <p:cNvSpPr>
            <a:spLocks noGrp="1"/>
          </p:cNvSpPr>
          <p:nvPr>
            <p:ph type="sldNum" sz="quarter" idx="12"/>
          </p:nvPr>
        </p:nvSpPr>
        <p:spPr/>
        <p:txBody>
          <a:bodyPr/>
          <a:lstStyle/>
          <a:p>
            <a:fld id="{94013DF8-6EF8-4A98-8821-E6468C17C0C3}" type="slidenum">
              <a:rPr lang="en-IN" smtClean="0"/>
              <a:t>175</a:t>
            </a:fld>
            <a:endParaRPr lang="en-IN"/>
          </a:p>
        </p:txBody>
      </p:sp>
      <p:graphicFrame>
        <p:nvGraphicFramePr>
          <p:cNvPr id="6" name="Table 5">
            <a:extLst>
              <a:ext uri="{FF2B5EF4-FFF2-40B4-BE49-F238E27FC236}">
                <a16:creationId xmlns:a16="http://schemas.microsoft.com/office/drawing/2014/main" id="{FE36DD92-DEF5-308E-BFCB-9774ED56E2EC}"/>
              </a:ext>
            </a:extLst>
          </p:cNvPr>
          <p:cNvGraphicFramePr>
            <a:graphicFrameLocks noGrp="1"/>
          </p:cNvGraphicFramePr>
          <p:nvPr>
            <p:extLst>
              <p:ext uri="{D42A27DB-BD31-4B8C-83A1-F6EECF244321}">
                <p14:modId xmlns:p14="http://schemas.microsoft.com/office/powerpoint/2010/main" val="1559429926"/>
              </p:ext>
            </p:extLst>
          </p:nvPr>
        </p:nvGraphicFramePr>
        <p:xfrm>
          <a:off x="667200" y="1464381"/>
          <a:ext cx="9405330" cy="3496760"/>
        </p:xfrm>
        <a:graphic>
          <a:graphicData uri="http://schemas.openxmlformats.org/drawingml/2006/table">
            <a:tbl>
              <a:tblPr firstRow="1" firstCol="1" bandRow="1">
                <a:tableStyleId>{5C22544A-7EE6-4342-B048-85BDC9FD1C3A}</a:tableStyleId>
              </a:tblPr>
              <a:tblGrid>
                <a:gridCol w="3135110">
                  <a:extLst>
                    <a:ext uri="{9D8B030D-6E8A-4147-A177-3AD203B41FA5}">
                      <a16:colId xmlns:a16="http://schemas.microsoft.com/office/drawing/2014/main" val="2636312325"/>
                    </a:ext>
                  </a:extLst>
                </a:gridCol>
                <a:gridCol w="3135110">
                  <a:extLst>
                    <a:ext uri="{9D8B030D-6E8A-4147-A177-3AD203B41FA5}">
                      <a16:colId xmlns:a16="http://schemas.microsoft.com/office/drawing/2014/main" val="4101934761"/>
                    </a:ext>
                  </a:extLst>
                </a:gridCol>
                <a:gridCol w="3135110">
                  <a:extLst>
                    <a:ext uri="{9D8B030D-6E8A-4147-A177-3AD203B41FA5}">
                      <a16:colId xmlns:a16="http://schemas.microsoft.com/office/drawing/2014/main" val="1764686040"/>
                    </a:ext>
                  </a:extLst>
                </a:gridCol>
              </a:tblGrid>
              <a:tr h="406487">
                <a:tc>
                  <a:txBody>
                    <a:bodyPr/>
                    <a:lstStyle/>
                    <a:p>
                      <a:pPr algn="ctr">
                        <a:lnSpc>
                          <a:spcPct val="107000"/>
                        </a:lnSpc>
                        <a:spcAft>
                          <a:spcPts val="800"/>
                        </a:spcAft>
                        <a:buNone/>
                      </a:pPr>
                      <a:r>
                        <a:rPr lang="en-US" sz="1800" dirty="0">
                          <a:effectLst/>
                        </a:rPr>
                        <a:t>Slab (₹)</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US" sz="1800">
                          <a:effectLst/>
                        </a:rPr>
                        <a:t>                Rate</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US" sz="1800">
                          <a:effectLst/>
                        </a:rPr>
                        <a:t>Tax (₹)</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28319557"/>
                  </a:ext>
                </a:extLst>
              </a:tr>
              <a:tr h="406487">
                <a:tc>
                  <a:txBody>
                    <a:bodyPr/>
                    <a:lstStyle/>
                    <a:p>
                      <a:pPr>
                        <a:lnSpc>
                          <a:spcPct val="107000"/>
                        </a:lnSpc>
                        <a:spcAft>
                          <a:spcPts val="800"/>
                        </a:spcAft>
                        <a:buNone/>
                      </a:pPr>
                      <a:r>
                        <a:rPr lang="en-US" sz="1800" dirty="0">
                          <a:effectLst/>
                        </a:rPr>
                        <a:t>         0–4,00,000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a:effectLst/>
                        </a:rPr>
                        <a:t>                 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a:effectLst/>
                        </a:rPr>
                        <a:t>                       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864797037"/>
                  </a:ext>
                </a:extLst>
              </a:tr>
              <a:tr h="406487">
                <a:tc>
                  <a:txBody>
                    <a:bodyPr/>
                    <a:lstStyle/>
                    <a:p>
                      <a:pPr>
                        <a:lnSpc>
                          <a:spcPct val="107000"/>
                        </a:lnSpc>
                        <a:spcAft>
                          <a:spcPts val="800"/>
                        </a:spcAft>
                        <a:buNone/>
                      </a:pPr>
                      <a:r>
                        <a:rPr lang="en-US" sz="1800">
                          <a:effectLst/>
                        </a:rPr>
                        <a:t>      4,00,001–8,00,000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a:effectLst/>
                        </a:rPr>
                        <a:t>                 5%</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a:effectLst/>
                        </a:rPr>
                        <a:t>                       20,000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40635730"/>
                  </a:ext>
                </a:extLst>
              </a:tr>
              <a:tr h="406487">
                <a:tc>
                  <a:txBody>
                    <a:bodyPr/>
                    <a:lstStyle/>
                    <a:p>
                      <a:pPr>
                        <a:lnSpc>
                          <a:spcPct val="107000"/>
                        </a:lnSpc>
                        <a:spcAft>
                          <a:spcPts val="800"/>
                        </a:spcAft>
                        <a:buNone/>
                      </a:pPr>
                      <a:r>
                        <a:rPr lang="en-US" sz="1800">
                          <a:effectLst/>
                        </a:rPr>
                        <a:t>      8,00,001–12,00,000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dirty="0">
                          <a:effectLst/>
                        </a:rPr>
                        <a:t>                10%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a:effectLst/>
                        </a:rPr>
                        <a:t>                       40,000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136460392"/>
                  </a:ext>
                </a:extLst>
              </a:tr>
              <a:tr h="406487">
                <a:tc>
                  <a:txBody>
                    <a:bodyPr/>
                    <a:lstStyle/>
                    <a:p>
                      <a:pPr>
                        <a:lnSpc>
                          <a:spcPct val="107000"/>
                        </a:lnSpc>
                        <a:spcAft>
                          <a:spcPts val="800"/>
                        </a:spcAft>
                        <a:buNone/>
                      </a:pPr>
                      <a:r>
                        <a:rPr lang="en-US" sz="1800">
                          <a:effectLst/>
                        </a:rPr>
                        <a:t>      12,00,001–16,00,000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dirty="0">
                          <a:effectLst/>
                        </a:rPr>
                        <a:t>                15%</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a:effectLst/>
                        </a:rPr>
                        <a:t>                       60,000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25261824"/>
                  </a:ext>
                </a:extLst>
              </a:tr>
              <a:tr h="406487">
                <a:tc>
                  <a:txBody>
                    <a:bodyPr/>
                    <a:lstStyle/>
                    <a:p>
                      <a:pPr>
                        <a:lnSpc>
                          <a:spcPct val="107000"/>
                        </a:lnSpc>
                        <a:spcAft>
                          <a:spcPts val="800"/>
                        </a:spcAft>
                        <a:buNone/>
                      </a:pPr>
                      <a:r>
                        <a:rPr lang="en-US" sz="1800">
                          <a:effectLst/>
                        </a:rPr>
                        <a:t>      16,00,001–20,00,000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dirty="0">
                          <a:effectLst/>
                        </a:rPr>
                        <a:t>                 20%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a:effectLst/>
                        </a:rPr>
                        <a:t>                       80,000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992066268"/>
                  </a:ext>
                </a:extLst>
              </a:tr>
              <a:tr h="406487">
                <a:tc>
                  <a:txBody>
                    <a:bodyPr/>
                    <a:lstStyle/>
                    <a:p>
                      <a:pPr>
                        <a:lnSpc>
                          <a:spcPct val="107000"/>
                        </a:lnSpc>
                        <a:spcAft>
                          <a:spcPts val="800"/>
                        </a:spcAft>
                        <a:buNone/>
                      </a:pPr>
                      <a:r>
                        <a:rPr lang="en-US" sz="1800">
                          <a:effectLst/>
                        </a:rPr>
                        <a:t>      20,00,001–24,00,000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dirty="0">
                          <a:effectLst/>
                        </a:rPr>
                        <a:t>                  25%</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dirty="0">
                          <a:effectLst/>
                        </a:rPr>
                        <a:t>                       1,00,000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23016721"/>
                  </a:ext>
                </a:extLst>
              </a:tr>
              <a:tr h="651351">
                <a:tc>
                  <a:txBody>
                    <a:bodyPr/>
                    <a:lstStyle/>
                    <a:p>
                      <a:pPr>
                        <a:lnSpc>
                          <a:spcPct val="107000"/>
                        </a:lnSpc>
                        <a:spcAft>
                          <a:spcPts val="800"/>
                        </a:spcAft>
                        <a:buNone/>
                      </a:pPr>
                      <a:r>
                        <a:rPr lang="en-US" sz="1800">
                          <a:effectLst/>
                        </a:rPr>
                        <a:t>      24,00,001–48,75,000</a:t>
                      </a:r>
                      <a:endParaRPr lang="en-IN" sz="1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dirty="0">
                          <a:effectLst/>
                        </a:rPr>
                        <a:t>                  30%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1800" dirty="0">
                          <a:effectLst/>
                        </a:rPr>
                        <a:t>                       24,75,000 × 30% = 7,42,500</a:t>
                      </a:r>
                      <a:endParaRPr lang="en-IN" sz="1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70139372"/>
                  </a:ext>
                </a:extLst>
              </a:tr>
            </a:tbl>
          </a:graphicData>
        </a:graphic>
      </p:graphicFrame>
      <p:sp>
        <p:nvSpPr>
          <p:cNvPr id="8" name="TextBox 7">
            <a:extLst>
              <a:ext uri="{FF2B5EF4-FFF2-40B4-BE49-F238E27FC236}">
                <a16:creationId xmlns:a16="http://schemas.microsoft.com/office/drawing/2014/main" id="{B36461F6-72CA-B85E-26B6-7A7D4D0684A3}"/>
              </a:ext>
            </a:extLst>
          </p:cNvPr>
          <p:cNvSpPr txBox="1"/>
          <p:nvPr/>
        </p:nvSpPr>
        <p:spPr>
          <a:xfrm>
            <a:off x="644151" y="5004606"/>
            <a:ext cx="9404721" cy="1200329"/>
          </a:xfrm>
          <a:prstGeom prst="rect">
            <a:avLst/>
          </a:prstGeom>
          <a:noFill/>
        </p:spPr>
        <p:txBody>
          <a:bodyPr wrap="square">
            <a:spAutoFit/>
          </a:bodyPr>
          <a:lstStyle/>
          <a:p>
            <a:r>
              <a:rPr lang="en-US" dirty="0"/>
              <a:t>Subtotal Tax = 0 + 20,000 + 40,000 + 60,000 + 80,000 + 1,00,000 + 7,42,500 = ₹9,42,500</a:t>
            </a:r>
          </a:p>
          <a:p>
            <a:r>
              <a:rPr lang="en-US" dirty="0"/>
              <a:t>2.	Surcharge: Income &lt; 50,00,001 → No surcharge</a:t>
            </a:r>
          </a:p>
          <a:p>
            <a:r>
              <a:rPr lang="en-US" dirty="0"/>
              <a:t>3.	</a:t>
            </a:r>
            <a:r>
              <a:rPr lang="en-US" dirty="0" err="1"/>
              <a:t>Cess</a:t>
            </a:r>
            <a:r>
              <a:rPr lang="en-US" dirty="0"/>
              <a:t>: 4% × 9,42,500 ≈ ₹37,700</a:t>
            </a:r>
          </a:p>
          <a:p>
            <a:r>
              <a:rPr lang="en-US" dirty="0"/>
              <a:t>Total Tax on ₹48,75,000 = 9,42,500 + 37,700 ≈ ₹9,80,200</a:t>
            </a:r>
          </a:p>
        </p:txBody>
      </p:sp>
    </p:spTree>
    <p:extLst>
      <p:ext uri="{BB962C8B-B14F-4D97-AF65-F5344CB8AC3E}">
        <p14:creationId xmlns:p14="http://schemas.microsoft.com/office/powerpoint/2010/main" val="2267628365"/>
      </p:ext>
    </p:extLst>
  </p:cSld>
  <p:clrMapOvr>
    <a:masterClrMapping/>
  </p:clrMapOvr>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1EB95F-F108-5A8A-F4FB-0EEFFD50BBB4}"/>
              </a:ext>
            </a:extLst>
          </p:cNvPr>
          <p:cNvSpPr>
            <a:spLocks noGrp="1"/>
          </p:cNvSpPr>
          <p:nvPr>
            <p:ph type="title"/>
          </p:nvPr>
        </p:nvSpPr>
        <p:spPr>
          <a:xfrm>
            <a:off x="670376" y="22114"/>
            <a:ext cx="9404723" cy="767687"/>
          </a:xfrm>
        </p:spPr>
        <p:txBody>
          <a:bodyPr/>
          <a:lstStyle/>
          <a:p>
            <a:r>
              <a:rPr lang="en-US" sz="2400" dirty="0"/>
              <a:t>Compute tax on old income (₹50,75,000)</a:t>
            </a:r>
            <a:br>
              <a:rPr lang="en-US" sz="2000" dirty="0"/>
            </a:br>
            <a:r>
              <a:rPr lang="en-US" sz="2400" dirty="0"/>
              <a:t>Slab-wise tax</a:t>
            </a:r>
            <a:endParaRPr lang="en-IN" sz="2400" dirty="0"/>
          </a:p>
        </p:txBody>
      </p:sp>
      <p:graphicFrame>
        <p:nvGraphicFramePr>
          <p:cNvPr id="5" name="Content Placeholder 4">
            <a:extLst>
              <a:ext uri="{FF2B5EF4-FFF2-40B4-BE49-F238E27FC236}">
                <a16:creationId xmlns:a16="http://schemas.microsoft.com/office/drawing/2014/main" id="{935B12EC-4F30-6474-F9C1-93A8EF191972}"/>
              </a:ext>
            </a:extLst>
          </p:cNvPr>
          <p:cNvGraphicFramePr>
            <a:graphicFrameLocks noGrp="1"/>
          </p:cNvGraphicFramePr>
          <p:nvPr>
            <p:ph idx="1"/>
            <p:extLst>
              <p:ext uri="{D42A27DB-BD31-4B8C-83A1-F6EECF244321}">
                <p14:modId xmlns:p14="http://schemas.microsoft.com/office/powerpoint/2010/main" val="9635086"/>
              </p:ext>
            </p:extLst>
          </p:nvPr>
        </p:nvGraphicFramePr>
        <p:xfrm>
          <a:off x="524969" y="789801"/>
          <a:ext cx="10545000" cy="3181241"/>
        </p:xfrm>
        <a:graphic>
          <a:graphicData uri="http://schemas.openxmlformats.org/drawingml/2006/table">
            <a:tbl>
              <a:tblPr firstRow="1" firstCol="1" bandRow="1">
                <a:tableStyleId>{5C22544A-7EE6-4342-B048-85BDC9FD1C3A}</a:tableStyleId>
              </a:tblPr>
              <a:tblGrid>
                <a:gridCol w="3515000">
                  <a:extLst>
                    <a:ext uri="{9D8B030D-6E8A-4147-A177-3AD203B41FA5}">
                      <a16:colId xmlns:a16="http://schemas.microsoft.com/office/drawing/2014/main" val="1326028654"/>
                    </a:ext>
                  </a:extLst>
                </a:gridCol>
                <a:gridCol w="3515000">
                  <a:extLst>
                    <a:ext uri="{9D8B030D-6E8A-4147-A177-3AD203B41FA5}">
                      <a16:colId xmlns:a16="http://schemas.microsoft.com/office/drawing/2014/main" val="1147530067"/>
                    </a:ext>
                  </a:extLst>
                </a:gridCol>
                <a:gridCol w="3515000">
                  <a:extLst>
                    <a:ext uri="{9D8B030D-6E8A-4147-A177-3AD203B41FA5}">
                      <a16:colId xmlns:a16="http://schemas.microsoft.com/office/drawing/2014/main" val="1563544958"/>
                    </a:ext>
                  </a:extLst>
                </a:gridCol>
              </a:tblGrid>
              <a:tr h="360864">
                <a:tc>
                  <a:txBody>
                    <a:bodyPr/>
                    <a:lstStyle/>
                    <a:p>
                      <a:pPr algn="ctr">
                        <a:lnSpc>
                          <a:spcPct val="107000"/>
                        </a:lnSpc>
                        <a:spcAft>
                          <a:spcPts val="800"/>
                        </a:spcAft>
                        <a:buNone/>
                      </a:pPr>
                      <a:r>
                        <a:rPr lang="en-US" sz="2000" dirty="0">
                          <a:effectLst/>
                        </a:rPr>
                        <a:t>Slab (₹)</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US" sz="2000">
                          <a:effectLst/>
                        </a:rPr>
                        <a:t>                Rate</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ctr">
                        <a:lnSpc>
                          <a:spcPct val="107000"/>
                        </a:lnSpc>
                        <a:spcAft>
                          <a:spcPts val="800"/>
                        </a:spcAft>
                        <a:buNone/>
                      </a:pPr>
                      <a:r>
                        <a:rPr lang="en-US" sz="2000">
                          <a:effectLst/>
                        </a:rPr>
                        <a:t>Tax (₹)</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72988140"/>
                  </a:ext>
                </a:extLst>
              </a:tr>
              <a:tr h="360864">
                <a:tc>
                  <a:txBody>
                    <a:bodyPr/>
                    <a:lstStyle/>
                    <a:p>
                      <a:pPr>
                        <a:lnSpc>
                          <a:spcPct val="107000"/>
                        </a:lnSpc>
                        <a:spcAft>
                          <a:spcPts val="800"/>
                        </a:spcAft>
                        <a:buNone/>
                      </a:pPr>
                      <a:r>
                        <a:rPr lang="en-US" sz="2000" dirty="0">
                          <a:effectLst/>
                        </a:rPr>
                        <a:t>         0–4,00,000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000">
                          <a:effectLst/>
                        </a:rPr>
                        <a:t>                 0%</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a:lnSpc>
                          <a:spcPct val="107000"/>
                        </a:lnSpc>
                        <a:spcAft>
                          <a:spcPts val="800"/>
                        </a:spcAft>
                        <a:buNone/>
                      </a:pPr>
                      <a:r>
                        <a:rPr lang="en-US" sz="2000" dirty="0">
                          <a:effectLst/>
                        </a:rPr>
                        <a:t>                       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338227181"/>
                  </a:ext>
                </a:extLst>
              </a:tr>
              <a:tr h="360864">
                <a:tc>
                  <a:txBody>
                    <a:bodyPr/>
                    <a:lstStyle/>
                    <a:p>
                      <a:pPr>
                        <a:lnSpc>
                          <a:spcPct val="107000"/>
                        </a:lnSpc>
                        <a:spcAft>
                          <a:spcPts val="800"/>
                        </a:spcAft>
                        <a:buNone/>
                      </a:pPr>
                      <a:r>
                        <a:rPr lang="en-US" sz="2000" dirty="0">
                          <a:effectLst/>
                        </a:rPr>
                        <a:t>      4,00,001–8,00,000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000">
                          <a:effectLst/>
                        </a:rPr>
                        <a:t>                 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a:lnSpc>
                          <a:spcPct val="107000"/>
                        </a:lnSpc>
                        <a:spcAft>
                          <a:spcPts val="800"/>
                        </a:spcAft>
                        <a:buNone/>
                      </a:pPr>
                      <a:r>
                        <a:rPr lang="en-US" sz="2000" dirty="0">
                          <a:effectLst/>
                        </a:rPr>
                        <a:t>                       20,000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397360993"/>
                  </a:ext>
                </a:extLst>
              </a:tr>
              <a:tr h="360864">
                <a:tc>
                  <a:txBody>
                    <a:bodyPr/>
                    <a:lstStyle/>
                    <a:p>
                      <a:pPr>
                        <a:lnSpc>
                          <a:spcPct val="107000"/>
                        </a:lnSpc>
                        <a:spcAft>
                          <a:spcPts val="800"/>
                        </a:spcAft>
                        <a:buNone/>
                      </a:pPr>
                      <a:r>
                        <a:rPr lang="en-US" sz="2000">
                          <a:effectLst/>
                        </a:rPr>
                        <a:t>      8,00,001–12,00,000</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000">
                          <a:effectLst/>
                        </a:rPr>
                        <a:t>                10%</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a:lnSpc>
                          <a:spcPct val="107000"/>
                        </a:lnSpc>
                        <a:spcAft>
                          <a:spcPts val="800"/>
                        </a:spcAft>
                        <a:buNone/>
                      </a:pPr>
                      <a:r>
                        <a:rPr lang="en-US" sz="2000" dirty="0">
                          <a:effectLst/>
                        </a:rPr>
                        <a:t>                       40,000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4568541"/>
                  </a:ext>
                </a:extLst>
              </a:tr>
              <a:tr h="360864">
                <a:tc>
                  <a:txBody>
                    <a:bodyPr/>
                    <a:lstStyle/>
                    <a:p>
                      <a:pPr>
                        <a:lnSpc>
                          <a:spcPct val="107000"/>
                        </a:lnSpc>
                        <a:spcAft>
                          <a:spcPts val="800"/>
                        </a:spcAft>
                        <a:buNone/>
                      </a:pPr>
                      <a:r>
                        <a:rPr lang="en-US" sz="2000" dirty="0">
                          <a:effectLst/>
                        </a:rPr>
                        <a:t>      12,00,001–16,00,000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000">
                          <a:effectLst/>
                        </a:rPr>
                        <a:t>                15%</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a:lnSpc>
                          <a:spcPct val="107000"/>
                        </a:lnSpc>
                        <a:spcAft>
                          <a:spcPts val="800"/>
                        </a:spcAft>
                        <a:buNone/>
                      </a:pPr>
                      <a:r>
                        <a:rPr lang="en-US" sz="2000" dirty="0">
                          <a:effectLst/>
                        </a:rPr>
                        <a:t>                       60,000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561665639"/>
                  </a:ext>
                </a:extLst>
              </a:tr>
              <a:tr h="360864">
                <a:tc>
                  <a:txBody>
                    <a:bodyPr/>
                    <a:lstStyle/>
                    <a:p>
                      <a:pPr>
                        <a:lnSpc>
                          <a:spcPct val="107000"/>
                        </a:lnSpc>
                        <a:spcAft>
                          <a:spcPts val="800"/>
                        </a:spcAft>
                        <a:buNone/>
                      </a:pPr>
                      <a:r>
                        <a:rPr lang="en-US" sz="2000">
                          <a:effectLst/>
                        </a:rPr>
                        <a:t>      16,00,001–20,00,000</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000" dirty="0">
                          <a:effectLst/>
                        </a:rPr>
                        <a:t>                 20%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a:lnSpc>
                          <a:spcPct val="107000"/>
                        </a:lnSpc>
                        <a:spcAft>
                          <a:spcPts val="800"/>
                        </a:spcAft>
                        <a:buNone/>
                      </a:pPr>
                      <a:r>
                        <a:rPr lang="en-US" sz="2000" dirty="0">
                          <a:effectLst/>
                        </a:rPr>
                        <a:t>                       80,000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82445509"/>
                  </a:ext>
                </a:extLst>
              </a:tr>
              <a:tr h="360864">
                <a:tc>
                  <a:txBody>
                    <a:bodyPr/>
                    <a:lstStyle/>
                    <a:p>
                      <a:pPr>
                        <a:lnSpc>
                          <a:spcPct val="107000"/>
                        </a:lnSpc>
                        <a:spcAft>
                          <a:spcPts val="800"/>
                        </a:spcAft>
                        <a:buNone/>
                      </a:pPr>
                      <a:r>
                        <a:rPr lang="en-US" sz="2000">
                          <a:effectLst/>
                        </a:rPr>
                        <a:t>      20,00,001–24,00,000</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000" dirty="0">
                          <a:effectLst/>
                        </a:rPr>
                        <a:t>                  25%</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gn="l">
                        <a:lnSpc>
                          <a:spcPct val="107000"/>
                        </a:lnSpc>
                        <a:spcAft>
                          <a:spcPts val="800"/>
                        </a:spcAft>
                        <a:buNone/>
                      </a:pPr>
                      <a:r>
                        <a:rPr lang="en-US" sz="2000" dirty="0">
                          <a:effectLst/>
                        </a:rPr>
                        <a:t>                       1,00,000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884568298"/>
                  </a:ext>
                </a:extLst>
              </a:tr>
              <a:tr h="601257">
                <a:tc>
                  <a:txBody>
                    <a:bodyPr/>
                    <a:lstStyle/>
                    <a:p>
                      <a:pPr>
                        <a:lnSpc>
                          <a:spcPct val="107000"/>
                        </a:lnSpc>
                        <a:spcAft>
                          <a:spcPts val="800"/>
                        </a:spcAft>
                        <a:buNone/>
                      </a:pPr>
                      <a:r>
                        <a:rPr lang="en-US" sz="2000">
                          <a:effectLst/>
                        </a:rPr>
                        <a:t>      24,00,001–50,75,000</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a:lnSpc>
                          <a:spcPct val="107000"/>
                        </a:lnSpc>
                        <a:spcAft>
                          <a:spcPts val="800"/>
                        </a:spcAft>
                        <a:buNone/>
                      </a:pPr>
                      <a:r>
                        <a:rPr lang="en-US" sz="2000">
                          <a:effectLst/>
                        </a:rPr>
                        <a:t>                  30%</a:t>
                      </a:r>
                      <a:endParaRPr lang="en-IN"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indent="0" algn="l">
                        <a:lnSpc>
                          <a:spcPct val="107000"/>
                        </a:lnSpc>
                        <a:spcAft>
                          <a:spcPts val="800"/>
                        </a:spcAft>
                        <a:buNone/>
                      </a:pPr>
                      <a:r>
                        <a:rPr lang="en-US" sz="2000" dirty="0">
                          <a:effectLst/>
                        </a:rPr>
                        <a:t>                      26,75,000 × 30% = 8,02,500</a:t>
                      </a:r>
                      <a:endParaRPr lang="en-IN"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48461249"/>
                  </a:ext>
                </a:extLst>
              </a:tr>
            </a:tbl>
          </a:graphicData>
        </a:graphic>
      </p:graphicFrame>
      <p:sp>
        <p:nvSpPr>
          <p:cNvPr id="4" name="Slide Number Placeholder 3">
            <a:extLst>
              <a:ext uri="{FF2B5EF4-FFF2-40B4-BE49-F238E27FC236}">
                <a16:creationId xmlns:a16="http://schemas.microsoft.com/office/drawing/2014/main" id="{9E1DE24B-D827-8D53-CBED-382C57461CE5}"/>
              </a:ext>
            </a:extLst>
          </p:cNvPr>
          <p:cNvSpPr>
            <a:spLocks noGrp="1"/>
          </p:cNvSpPr>
          <p:nvPr>
            <p:ph type="sldNum" sz="quarter" idx="12"/>
          </p:nvPr>
        </p:nvSpPr>
        <p:spPr/>
        <p:txBody>
          <a:bodyPr/>
          <a:lstStyle/>
          <a:p>
            <a:fld id="{94013DF8-6EF8-4A98-8821-E6468C17C0C3}" type="slidenum">
              <a:rPr lang="en-IN" smtClean="0"/>
              <a:t>176</a:t>
            </a:fld>
            <a:endParaRPr lang="en-IN"/>
          </a:p>
        </p:txBody>
      </p:sp>
      <p:sp>
        <p:nvSpPr>
          <p:cNvPr id="7" name="TextBox 6">
            <a:extLst>
              <a:ext uri="{FF2B5EF4-FFF2-40B4-BE49-F238E27FC236}">
                <a16:creationId xmlns:a16="http://schemas.microsoft.com/office/drawing/2014/main" id="{9F59F40E-F6EF-67D9-BD71-FD279153DD96}"/>
              </a:ext>
            </a:extLst>
          </p:cNvPr>
          <p:cNvSpPr txBox="1"/>
          <p:nvPr/>
        </p:nvSpPr>
        <p:spPr>
          <a:xfrm>
            <a:off x="645739" y="3995678"/>
            <a:ext cx="10545000" cy="2862322"/>
          </a:xfrm>
          <a:prstGeom prst="rect">
            <a:avLst/>
          </a:prstGeom>
          <a:noFill/>
        </p:spPr>
        <p:txBody>
          <a:bodyPr wrap="square">
            <a:spAutoFit/>
          </a:bodyPr>
          <a:lstStyle/>
          <a:p>
            <a:r>
              <a:rPr lang="en-US" sz="2000" dirty="0"/>
              <a:t>Subtotal Tax = 0 + 20,000 + 40,000 + 60,000 + 80,000 + 1,00,000 + 8,02,500= ₹10,02,500</a:t>
            </a:r>
          </a:p>
          <a:p>
            <a:r>
              <a:rPr lang="en-US" sz="2000" dirty="0"/>
              <a:t>1.	Surcharge: Surcharge: Income &gt; 50,00,000 → 10%</a:t>
            </a:r>
          </a:p>
          <a:p>
            <a:r>
              <a:rPr lang="en-US" sz="2000" dirty="0"/>
              <a:t>•	10% × 10,02,500 = ₹1,00,250</a:t>
            </a:r>
          </a:p>
          <a:p>
            <a:r>
              <a:rPr lang="en-US" sz="2000" dirty="0"/>
              <a:t>2.	Tax after surcharge = 10,02,500 + 1,00,250 = 11,02,750</a:t>
            </a:r>
          </a:p>
          <a:p>
            <a:r>
              <a:rPr lang="en-US" sz="2000" dirty="0"/>
              <a:t>3.	</a:t>
            </a:r>
            <a:r>
              <a:rPr lang="en-US" sz="2000" dirty="0" err="1"/>
              <a:t>Cess</a:t>
            </a:r>
            <a:r>
              <a:rPr lang="en-US" sz="2000" dirty="0"/>
              <a:t>: 4% × 11,02,750 ≈ ₹44,110</a:t>
            </a:r>
          </a:p>
          <a:p>
            <a:r>
              <a:rPr lang="en-US" sz="2000" dirty="0"/>
              <a:t>Total Tax on ₹50,75,000 = 11,02,750 + 44,110 ≈ ₹11,46,860</a:t>
            </a:r>
          </a:p>
          <a:p>
            <a:r>
              <a:rPr lang="en-US" sz="2000" dirty="0"/>
              <a:t>Tax increase due to ₹2,00,000 income rise = 11,46,860−9,80,200=1,66,660 </a:t>
            </a:r>
          </a:p>
          <a:p>
            <a:r>
              <a:rPr lang="en-US" sz="2000" dirty="0"/>
              <a:t>•	Additional income = ₹2,00,000</a:t>
            </a:r>
          </a:p>
          <a:p>
            <a:r>
              <a:rPr lang="en-US" sz="2000" dirty="0"/>
              <a:t>Since increase in tax is less than additional income, no marginal relief will be given</a:t>
            </a:r>
            <a:r>
              <a:rPr lang="en-US" dirty="0"/>
              <a:t>.</a:t>
            </a:r>
          </a:p>
        </p:txBody>
      </p:sp>
    </p:spTree>
    <p:extLst>
      <p:ext uri="{BB962C8B-B14F-4D97-AF65-F5344CB8AC3E}">
        <p14:creationId xmlns:p14="http://schemas.microsoft.com/office/powerpoint/2010/main" val="158013192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Custom 5">
      <a:dk1>
        <a:sysClr val="windowText" lastClr="000000"/>
      </a:dk1>
      <a:lt1>
        <a:srgbClr val="002060"/>
      </a:lt1>
      <a:dk2>
        <a:srgbClr val="1E5155"/>
      </a:dk2>
      <a:lt2>
        <a:srgbClr val="B01513"/>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Amit">
      <a:majorFont>
        <a:latin typeface="Times New Roman"/>
        <a:ea typeface=""/>
        <a:cs typeface=""/>
      </a:majorFont>
      <a:minorFont>
        <a:latin typeface="Times New Roman"/>
        <a:ea typeface=""/>
        <a:cs typeface=""/>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activity xmlns="f93f10e6-b19e-4433-8e77-8e031ef9337f" xsi:nil="true"/>
    <FolderType xmlns="f93f10e6-b19e-4433-8e77-8e031ef9337f" xsi:nil="true"/>
    <Owner xmlns="f93f10e6-b19e-4433-8e77-8e031ef9337f">
      <UserInfo>
        <DisplayName/>
        <AccountId xsi:nil="true"/>
        <AccountType/>
      </UserInfo>
    </Owner>
    <AppVersion xmlns="f93f10e6-b19e-4433-8e77-8e031ef9337f" xsi:nil="true"/>
    <NotebookType xmlns="f93f10e6-b19e-4433-8e77-8e031ef9337f" xsi:nil="true"/>
    <Invited_Members xmlns="f93f10e6-b19e-4433-8e77-8e031ef9337f" xsi:nil="true"/>
    <Member_Groups xmlns="f93f10e6-b19e-4433-8e77-8e031ef9337f">
      <UserInfo>
        <DisplayName/>
        <AccountId xsi:nil="true"/>
        <AccountType/>
      </UserInfo>
    </Member_Groups>
    <Self_Registration_Enabled xmlns="f93f10e6-b19e-4433-8e77-8e031ef9337f" xsi:nil="true"/>
    <DefaultSectionNames xmlns="f93f10e6-b19e-4433-8e77-8e031ef9337f" xsi:nil="true"/>
    <Invited_Leaders xmlns="f93f10e6-b19e-4433-8e77-8e031ef9337f" xsi:nil="true"/>
    <Leaders xmlns="f93f10e6-b19e-4433-8e77-8e031ef9337f">
      <UserInfo>
        <DisplayName/>
        <AccountId xsi:nil="true"/>
        <AccountType/>
      </UserInfo>
    </Leaders>
    <Members xmlns="f93f10e6-b19e-4433-8e77-8e031ef9337f">
      <UserInfo>
        <DisplayName/>
        <AccountId xsi:nil="true"/>
        <AccountType/>
      </UserInfo>
    </Members>
    <Has_Leaders_Only_SectionGroup xmlns="f93f10e6-b19e-4433-8e77-8e031ef9337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FC6F6E43125C8458E654944CD03E43A" ma:contentTypeVersion="31" ma:contentTypeDescription="Create a new document." ma:contentTypeScope="" ma:versionID="9413217b3eee5c2bf0a5b859488f4ff2">
  <xsd:schema xmlns:xsd="http://www.w3.org/2001/XMLSchema" xmlns:xs="http://www.w3.org/2001/XMLSchema" xmlns:p="http://schemas.microsoft.com/office/2006/metadata/properties" xmlns:ns3="61e4abaf-70c0-4cdc-a82e-78eba522940a" xmlns:ns4="f93f10e6-b19e-4433-8e77-8e031ef9337f" targetNamespace="http://schemas.microsoft.com/office/2006/metadata/properties" ma:root="true" ma:fieldsID="4a39a094e2693d3e47572dd7b39c3214" ns3:_="" ns4:_="">
    <xsd:import namespace="61e4abaf-70c0-4cdc-a82e-78eba522940a"/>
    <xsd:import namespace="f93f10e6-b19e-4433-8e77-8e031ef9337f"/>
    <xsd:element name="properties">
      <xsd:complexType>
        <xsd:sequence>
          <xsd:element name="documentManagement">
            <xsd:complexType>
              <xsd:all>
                <xsd:element ref="ns3:SharedWithUsers" minOccurs="0"/>
                <xsd:element ref="ns3:SharedWithDetails" minOccurs="0"/>
                <xsd:element ref="ns3:SharingHintHash" minOccurs="0"/>
                <xsd:element ref="ns4:NotebookType" minOccurs="0"/>
                <xsd:element ref="ns4:FolderType" minOccurs="0"/>
                <xsd:element ref="ns4:Owner" minOccurs="0"/>
                <xsd:element ref="ns4:DefaultSectionNames" minOccurs="0"/>
                <xsd:element ref="ns4:AppVersion" minOccurs="0"/>
                <xsd:element ref="ns4:Leaders" minOccurs="0"/>
                <xsd:element ref="ns4:Members" minOccurs="0"/>
                <xsd:element ref="ns4:Member_Groups" minOccurs="0"/>
                <xsd:element ref="ns4:Invited_Leaders" minOccurs="0"/>
                <xsd:element ref="ns4:Invited_Members" minOccurs="0"/>
                <xsd:element ref="ns4:Self_Registration_Enabled" minOccurs="0"/>
                <xsd:element ref="ns4:Has_Leaders_Only_SectionGroup" minOccurs="0"/>
                <xsd:element ref="ns4:MediaServiceMetadata" minOccurs="0"/>
                <xsd:element ref="ns4:MediaServiceFastMetadata" minOccurs="0"/>
                <xsd:element ref="ns4:MediaServiceAutoTags" minOccurs="0"/>
                <xsd:element ref="ns4:MediaServiceOCR" minOccurs="0"/>
                <xsd:element ref="ns4:MediaServiceDateTaken" minOccurs="0"/>
                <xsd:element ref="ns4:MediaServiceAutoKeyPoints" minOccurs="0"/>
                <xsd:element ref="ns4:MediaServiceKeyPoints" minOccurs="0"/>
                <xsd:element ref="ns4:MediaServiceGenerationTime" minOccurs="0"/>
                <xsd:element ref="ns4:MediaServiceEventHashCode" minOccurs="0"/>
                <xsd:element ref="ns4:MediaServiceLocation" minOccurs="0"/>
                <xsd:element ref="ns4:MediaLengthInSeconds" minOccurs="0"/>
                <xsd:element ref="ns4:_activity" minOccurs="0"/>
                <xsd:element ref="ns4:MediaServiceObjectDetectorVersions" minOccurs="0"/>
                <xsd:element ref="ns4:MediaServiceSystemTags" minOccurs="0"/>
                <xsd:element ref="ns4:MediaServiceSearchProperties" minOccurs="0"/>
                <xsd:element ref="ns4: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1e4abaf-70c0-4cdc-a82e-78eba522940a" elementFormDefault="qualified">
    <xsd:import namespace="http://schemas.microsoft.com/office/2006/documentManagement/types"/>
    <xsd:import namespace="http://schemas.microsoft.com/office/infopath/2007/PartnerControls"/>
    <xsd:element name="SharedWithUsers" ma:index="8" nillable="true" ma:displayName="Shared With" ma:descripti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element name="SharingHintHash" ma:index="10" nillable="true" ma:displayName="Sharing Hint Hash" ma:description="" ma:hidden="true" ma:internalName="SharingHintHash"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f93f10e6-b19e-4433-8e77-8e031ef9337f" elementFormDefault="qualified">
    <xsd:import namespace="http://schemas.microsoft.com/office/2006/documentManagement/types"/>
    <xsd:import namespace="http://schemas.microsoft.com/office/infopath/2007/PartnerControls"/>
    <xsd:element name="NotebookType" ma:index="11" nillable="true" ma:displayName="Notebook Type" ma:internalName="NotebookType">
      <xsd:simpleType>
        <xsd:restriction base="dms:Text"/>
      </xsd:simpleType>
    </xsd:element>
    <xsd:element name="FolderType" ma:index="12" nillable="true" ma:displayName="Folder Type" ma:internalName="FolderType">
      <xsd:simpleType>
        <xsd:restriction base="dms:Text"/>
      </xsd:simpleType>
    </xsd:element>
    <xsd:element name="Owner" ma:index="13" nillable="true" ma:displayName="Owner" ma:internalName="Owner">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DefaultSectionNames" ma:index="14" nillable="true" ma:displayName="Default Section Names" ma:internalName="DefaultSectionNames">
      <xsd:simpleType>
        <xsd:restriction base="dms:Note">
          <xsd:maxLength value="255"/>
        </xsd:restriction>
      </xsd:simpleType>
    </xsd:element>
    <xsd:element name="AppVersion" ma:index="15" nillable="true" ma:displayName="App Version" ma:internalName="AppVersion">
      <xsd:simpleType>
        <xsd:restriction base="dms:Text"/>
      </xsd:simpleType>
    </xsd:element>
    <xsd:element name="Leaders" ma:index="16" nillable="true" ma:displayName="Leaders" ma:internalName="Lead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s" ma:index="17" nillable="true" ma:displayName="Members" ma:internalName="Member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Member_Groups" ma:index="18" nillable="true" ma:displayName="Member Groups" ma:internalName="Member_Groups">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Invited_Leaders" ma:index="19" nillable="true" ma:displayName="Invited Leaders" ma:internalName="Invited_Leaders">
      <xsd:simpleType>
        <xsd:restriction base="dms:Note">
          <xsd:maxLength value="255"/>
        </xsd:restriction>
      </xsd:simpleType>
    </xsd:element>
    <xsd:element name="Invited_Members" ma:index="20" nillable="true" ma:displayName="Invited Members" ma:internalName="Invited_Members">
      <xsd:simpleType>
        <xsd:restriction base="dms:Note">
          <xsd:maxLength value="255"/>
        </xsd:restriction>
      </xsd:simpleType>
    </xsd:element>
    <xsd:element name="Self_Registration_Enabled" ma:index="21" nillable="true" ma:displayName="Self_Registration_Enabled" ma:internalName="Self_Registration_Enabled">
      <xsd:simpleType>
        <xsd:restriction base="dms:Boolean"/>
      </xsd:simpleType>
    </xsd:element>
    <xsd:element name="Has_Leaders_Only_SectionGroup" ma:index="22" nillable="true" ma:displayName="Has Leaders Only SectionGroup" ma:internalName="Has_Leaders_Only_SectionGroup">
      <xsd:simpleType>
        <xsd:restriction base="dms:Boolean"/>
      </xsd:simpleType>
    </xsd:element>
    <xsd:element name="MediaServiceMetadata" ma:index="23" nillable="true" ma:displayName="MediaServiceMetadata" ma:description="" ma:hidden="true" ma:internalName="MediaServiceMetadata" ma:readOnly="true">
      <xsd:simpleType>
        <xsd:restriction base="dms:Note"/>
      </xsd:simpleType>
    </xsd:element>
    <xsd:element name="MediaServiceFastMetadata" ma:index="24" nillable="true" ma:displayName="MediaServiceFastMetadata" ma:description="" ma:hidden="true" ma:internalName="MediaServiceFastMetadata" ma:readOnly="true">
      <xsd:simpleType>
        <xsd:restriction base="dms:Note"/>
      </xsd:simpleType>
    </xsd:element>
    <xsd:element name="MediaServiceAutoTags" ma:index="25" nillable="true" ma:displayName="MediaServiceAutoTags" ma:internalName="MediaServiceAutoTags" ma:readOnly="true">
      <xsd:simpleType>
        <xsd:restriction base="dms:Text"/>
      </xsd:simpleType>
    </xsd:element>
    <xsd:element name="MediaServiceOCR" ma:index="26" nillable="true" ma:displayName="MediaServiceOCR" ma:internalName="MediaServiceOCR" ma:readOnly="true">
      <xsd:simpleType>
        <xsd:restriction base="dms:Note">
          <xsd:maxLength value="255"/>
        </xsd:restriction>
      </xsd:simpleType>
    </xsd:element>
    <xsd:element name="MediaServiceDateTaken" ma:index="27" nillable="true" ma:displayName="MediaServiceDateTaken" ma:hidden="true" ma:internalName="MediaServiceDateTaken" ma:readOnly="true">
      <xsd:simpleType>
        <xsd:restriction base="dms:Text"/>
      </xsd:simpleType>
    </xsd:element>
    <xsd:element name="MediaServiceAutoKeyPoints" ma:index="28" nillable="true" ma:displayName="MediaServiceAutoKeyPoints" ma:hidden="true" ma:internalName="MediaServiceAutoKeyPoints" ma:readOnly="true">
      <xsd:simpleType>
        <xsd:restriction base="dms:Note"/>
      </xsd:simpleType>
    </xsd:element>
    <xsd:element name="MediaServiceKeyPoints" ma:index="29" nillable="true" ma:displayName="KeyPoints" ma:internalName="MediaServiceKeyPoints" ma:readOnly="true">
      <xsd:simpleType>
        <xsd:restriction base="dms:Note">
          <xsd:maxLength value="255"/>
        </xsd:restriction>
      </xsd:simpleType>
    </xsd:element>
    <xsd:element name="MediaServiceGenerationTime" ma:index="30" nillable="true" ma:displayName="MediaServiceGenerationTime" ma:hidden="true" ma:internalName="MediaServiceGenerationTime" ma:readOnly="true">
      <xsd:simpleType>
        <xsd:restriction base="dms:Text"/>
      </xsd:simpleType>
    </xsd:element>
    <xsd:element name="MediaServiceEventHashCode" ma:index="31" nillable="true" ma:displayName="MediaServiceEventHashCode" ma:hidden="true" ma:internalName="MediaServiceEventHashCode" ma:readOnly="true">
      <xsd:simpleType>
        <xsd:restriction base="dms:Text"/>
      </xsd:simpleType>
    </xsd:element>
    <xsd:element name="MediaServiceLocation" ma:index="32" nillable="true" ma:displayName="Location" ma:internalName="MediaServiceLocation" ma:readOnly="true">
      <xsd:simpleType>
        <xsd:restriction base="dms:Text"/>
      </xsd:simpleType>
    </xsd:element>
    <xsd:element name="MediaLengthInSeconds" ma:index="33" nillable="true" ma:displayName="MediaLengthInSeconds" ma:hidden="true" ma:internalName="MediaLengthInSeconds" ma:readOnly="true">
      <xsd:simpleType>
        <xsd:restriction base="dms:Unknown"/>
      </xsd:simpleType>
    </xsd:element>
    <xsd:element name="_activity" ma:index="34" nillable="true" ma:displayName="_activity" ma:hidden="true" ma:internalName="_activity">
      <xsd:simpleType>
        <xsd:restriction base="dms:Note"/>
      </xsd:simpleType>
    </xsd:element>
    <xsd:element name="MediaServiceObjectDetectorVersions" ma:index="35" nillable="true" ma:displayName="MediaServiceObjectDetectorVersions" ma:hidden="true" ma:indexed="true" ma:internalName="MediaServiceObjectDetectorVersions" ma:readOnly="true">
      <xsd:simpleType>
        <xsd:restriction base="dms:Text"/>
      </xsd:simpleType>
    </xsd:element>
    <xsd:element name="MediaServiceSystemTags" ma:index="36" nillable="true" ma:displayName="MediaServiceSystemTags" ma:hidden="true" ma:internalName="MediaServiceSystemTags" ma:readOnly="true">
      <xsd:simpleType>
        <xsd:restriction base="dms:Note"/>
      </xsd:simpleType>
    </xsd:element>
    <xsd:element name="MediaServiceSearchProperties" ma:index="37" nillable="true" ma:displayName="MediaServiceSearchProperties" ma:hidden="true" ma:internalName="MediaServiceSearchProperties" ma:readOnly="true">
      <xsd:simpleType>
        <xsd:restriction base="dms:Note"/>
      </xsd:simpleType>
    </xsd:element>
    <xsd:element name="MediaServiceBillingMetadata" ma:index="38"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4EEE71D6-6D48-437A-BB28-23ED08989D03}">
  <ds:schemaRefs>
    <ds:schemaRef ds:uri="http://schemas.microsoft.com/sharepoint/v3/contenttype/forms"/>
  </ds:schemaRefs>
</ds:datastoreItem>
</file>

<file path=customXml/itemProps2.xml><?xml version="1.0" encoding="utf-8"?>
<ds:datastoreItem xmlns:ds="http://schemas.openxmlformats.org/officeDocument/2006/customXml" ds:itemID="{1EF38376-6C39-4C0C-9E8A-448A4C721D4E}">
  <ds:schemaRefs>
    <ds:schemaRef ds:uri="http://schemas.microsoft.com/office/2006/documentManagement/types"/>
    <ds:schemaRef ds:uri="http://schemas.microsoft.com/office/infopath/2007/PartnerControls"/>
    <ds:schemaRef ds:uri="http://www.w3.org/XML/1998/namespace"/>
    <ds:schemaRef ds:uri="http://purl.org/dc/elements/1.1/"/>
    <ds:schemaRef ds:uri="http://purl.org/dc/terms/"/>
    <ds:schemaRef ds:uri="http://schemas.microsoft.com/office/2006/metadata/properties"/>
    <ds:schemaRef ds:uri="http://schemas.openxmlformats.org/package/2006/metadata/core-properties"/>
    <ds:schemaRef ds:uri="f93f10e6-b19e-4433-8e77-8e031ef9337f"/>
    <ds:schemaRef ds:uri="61e4abaf-70c0-4cdc-a82e-78eba522940a"/>
    <ds:schemaRef ds:uri="http://purl.org/dc/dcmitype/"/>
  </ds:schemaRefs>
</ds:datastoreItem>
</file>

<file path=customXml/itemProps3.xml><?xml version="1.0" encoding="utf-8"?>
<ds:datastoreItem xmlns:ds="http://schemas.openxmlformats.org/officeDocument/2006/customXml" ds:itemID="{479EDE2E-EE9F-459F-90FA-4BA040E4330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1e4abaf-70c0-4cdc-a82e-78eba522940a"/>
    <ds:schemaRef ds:uri="f93f10e6-b19e-4433-8e77-8e031ef9337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2811</TotalTime>
  <Words>13591</Words>
  <Application>Microsoft Office PowerPoint</Application>
  <PresentationFormat>Widescreen</PresentationFormat>
  <Paragraphs>1418</Paragraphs>
  <Slides>176</Slides>
  <Notes>24</Notes>
  <HiddenSlides>22</HiddenSlides>
  <MMClips>0</MMClips>
  <ScaleCrop>false</ScaleCrop>
  <HeadingPairs>
    <vt:vector size="8" baseType="variant">
      <vt:variant>
        <vt:lpstr>Fonts Used</vt:lpstr>
      </vt:variant>
      <vt:variant>
        <vt:i4>12</vt:i4>
      </vt:variant>
      <vt:variant>
        <vt:lpstr>Theme</vt:lpstr>
      </vt:variant>
      <vt:variant>
        <vt:i4>1</vt:i4>
      </vt:variant>
      <vt:variant>
        <vt:lpstr>Embedded OLE Servers</vt:lpstr>
      </vt:variant>
      <vt:variant>
        <vt:i4>0</vt:i4>
      </vt:variant>
      <vt:variant>
        <vt:lpstr>Slide Titles</vt:lpstr>
      </vt:variant>
      <vt:variant>
        <vt:i4>176</vt:i4>
      </vt:variant>
    </vt:vector>
  </HeadingPairs>
  <TitlesOfParts>
    <vt:vector size="189" baseType="lpstr">
      <vt:lpstr>Algerian</vt:lpstr>
      <vt:lpstr>Arial</vt:lpstr>
      <vt:lpstr>Calibri</vt:lpstr>
      <vt:lpstr>Cambria</vt:lpstr>
      <vt:lpstr>fkGroteskNeue</vt:lpstr>
      <vt:lpstr>Georgia</vt:lpstr>
      <vt:lpstr>Playbill</vt:lpstr>
      <vt:lpstr>Roboto</vt:lpstr>
      <vt:lpstr>Symbol</vt:lpstr>
      <vt:lpstr>Times New Roman</vt:lpstr>
      <vt:lpstr>Wingdings</vt:lpstr>
      <vt:lpstr>Wingdings 3</vt:lpstr>
      <vt:lpstr>Ion</vt:lpstr>
      <vt:lpstr>Income Tax </vt:lpstr>
      <vt:lpstr>“In this world nothing can be said to be  certain, except death and taxes.”  Benjamin Franklin  </vt:lpstr>
      <vt:lpstr>PowerPoint Presentation</vt:lpstr>
      <vt:lpstr>Why should I pay tax?</vt:lpstr>
      <vt:lpstr>What Government Do from our TAX? </vt:lpstr>
      <vt:lpstr>What Government Do from our TAX?  </vt:lpstr>
      <vt:lpstr>PowerPoint Presentation</vt:lpstr>
      <vt:lpstr>Tax</vt:lpstr>
      <vt:lpstr>PowerPoint Presentation</vt:lpstr>
      <vt:lpstr>PowerPoint Presentation</vt:lpstr>
      <vt:lpstr>Tax – Duty - Cess- Surcharge</vt:lpstr>
      <vt:lpstr>Duty</vt:lpstr>
      <vt:lpstr>Duty vs Tax</vt:lpstr>
      <vt:lpstr>Surcharge</vt:lpstr>
      <vt:lpstr>Cess</vt:lpstr>
      <vt:lpstr>Why are Taxes levied?</vt:lpstr>
      <vt:lpstr>Taxation</vt:lpstr>
      <vt:lpstr>Income tax</vt:lpstr>
      <vt:lpstr>Brief History of Income Tax in India</vt:lpstr>
      <vt:lpstr>The Income Tax Act, 1961</vt:lpstr>
      <vt:lpstr>Income Tax Bill, 2025</vt:lpstr>
      <vt:lpstr>Income Tax Bill, 2025</vt:lpstr>
      <vt:lpstr>PowerPoint Presentation</vt:lpstr>
      <vt:lpstr>PowerPoint Presentation</vt:lpstr>
      <vt:lpstr>Digressive Taxation</vt:lpstr>
      <vt:lpstr>Some of the important definitions contained in the Act are of:</vt:lpstr>
      <vt:lpstr>Important Terms</vt:lpstr>
      <vt:lpstr>Income – Sec.2(24)</vt:lpstr>
      <vt:lpstr>Assessee</vt:lpstr>
      <vt:lpstr>1. Basics of Income Tax Act, 1961</vt:lpstr>
      <vt:lpstr>Person: Sec 2(31)</vt:lpstr>
      <vt:lpstr>Income Tax liability of a person</vt:lpstr>
      <vt:lpstr>Assessment</vt:lpstr>
      <vt:lpstr>Total Income and Tax payable</vt:lpstr>
      <vt:lpstr>PowerPoint Presentation</vt:lpstr>
      <vt:lpstr>2. Heads of Income</vt:lpstr>
      <vt:lpstr>3. Computation of Total Income</vt:lpstr>
      <vt:lpstr>4. Clubbing &amp; Loss Adjustments</vt:lpstr>
      <vt:lpstr>5. Deductions (Chapter VI-A)</vt:lpstr>
      <vt:lpstr>Total Income and Tax payable</vt:lpstr>
      <vt:lpstr>PowerPoint Presentation</vt:lpstr>
      <vt:lpstr>2. Heads of Income</vt:lpstr>
      <vt:lpstr>3. Computation of Total Income</vt:lpstr>
      <vt:lpstr>4. Clubbing &amp; Loss Adjustments</vt:lpstr>
      <vt:lpstr>5. Deductions (Chapter VI-A)</vt:lpstr>
      <vt:lpstr>6. Assessment of Different Persons</vt:lpstr>
      <vt:lpstr>7. Tax Management Tools</vt:lpstr>
      <vt:lpstr>Direct Taxes Personal Taxation </vt:lpstr>
      <vt:lpstr>ITR (Income Tax Return)</vt:lpstr>
      <vt:lpstr>Who must file income tax returns (ITR)</vt:lpstr>
      <vt:lpstr>Updated income tax slabs under the new tax regime</vt:lpstr>
      <vt:lpstr>Standard Deduction (Income Tax) – FY 2024-25</vt:lpstr>
      <vt:lpstr>Marginal relief</vt:lpstr>
      <vt:lpstr>Marginal relief</vt:lpstr>
      <vt:lpstr>Marginal relief</vt:lpstr>
      <vt:lpstr>Marginal relief</vt:lpstr>
      <vt:lpstr>Old Tax Regime: Income Tax Slabs (FY 2025-26, AY 2026-27) </vt:lpstr>
      <vt:lpstr>Financial Year (FY 24-25)   Assessment Year (AY 25-26)  Tax Year  </vt:lpstr>
      <vt:lpstr>Heads of Income (Section 14)</vt:lpstr>
      <vt:lpstr>Heads of Income</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Section 10(13A): House Rent Allowance(HRA) </vt:lpstr>
      <vt:lpstr>New Regime (Default from FY 2025-26): </vt:lpstr>
      <vt:lpstr>Section 80 Deductions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Heads of Income - Income from Salary </vt:lpstr>
      <vt:lpstr>SALARY</vt:lpstr>
      <vt:lpstr>TAX SLAB</vt:lpstr>
      <vt:lpstr>Example - NEW TAX REGIME  </vt:lpstr>
      <vt:lpstr>TAX SLAB</vt:lpstr>
      <vt:lpstr>Example - OLD TAX REGIME  </vt:lpstr>
      <vt:lpstr>SURCHARGE</vt:lpstr>
      <vt:lpstr>SURCHARGE</vt:lpstr>
      <vt:lpstr>SURCHARGE</vt:lpstr>
      <vt:lpstr>SURCHARGE</vt:lpstr>
      <vt:lpstr>SURCHARGE</vt:lpstr>
      <vt:lpstr>SURCHARGE</vt:lpstr>
      <vt:lpstr>Important Terminologies</vt:lpstr>
      <vt:lpstr>Important Terminologies</vt:lpstr>
      <vt:lpstr>HEADS OF INCOME</vt:lpstr>
      <vt:lpstr>Income From Salary </vt:lpstr>
      <vt:lpstr>Income From Salary </vt:lpstr>
      <vt:lpstr>Income From Salary </vt:lpstr>
      <vt:lpstr>Income From Salary </vt:lpstr>
      <vt:lpstr>Income From Salary </vt:lpstr>
      <vt:lpstr>Income From Salary </vt:lpstr>
      <vt:lpstr>Income From Salary </vt:lpstr>
      <vt:lpstr>Income From Salary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Clubbing Provisions</vt:lpstr>
      <vt:lpstr>Clubbing Provisions</vt:lpstr>
      <vt:lpstr>Clubbing Provisions</vt:lpstr>
      <vt:lpstr>PowerPoint Presentation</vt:lpstr>
      <vt:lpstr>Set Off and Carry Forward of Losses</vt:lpstr>
      <vt:lpstr>Set Off and Carry Forward of Losses</vt:lpstr>
      <vt:lpstr>Set Off and Carry Forward of Losses</vt:lpstr>
      <vt:lpstr>Set Off and Carry Forward of Losses</vt:lpstr>
      <vt:lpstr>Set Off and Carry Forward of Losses</vt:lpstr>
      <vt:lpstr>Set Off and Carry Forward of Losses</vt:lpstr>
      <vt:lpstr>Set Off and Carry Forward of Losses</vt:lpstr>
      <vt:lpstr>PowerPoint Presentation</vt:lpstr>
      <vt:lpstr>TDS (TAX DEDUCTED AT SOURCE)</vt:lpstr>
      <vt:lpstr>PowerPoint Presentation</vt:lpstr>
      <vt:lpstr>TDS (TAX DEDUCTED AT SOURCE)</vt:lpstr>
      <vt:lpstr>TCS (TAX COLLECTION AT SOURCE)</vt:lpstr>
      <vt:lpstr>TCS (TAX COLLECTION AT SOURCE)</vt:lpstr>
      <vt:lpstr>TCS (TAX COLLECTION AT SOURCE)</vt:lpstr>
      <vt:lpstr>Advance Tax Administrative Procedures</vt:lpstr>
      <vt:lpstr>Advance Tax Administrative Procedures</vt:lpstr>
      <vt:lpstr>ICDS (Income Computation and Disclosure Standards):</vt:lpstr>
      <vt:lpstr>Features of ICDS</vt:lpstr>
      <vt:lpstr>Numericals</vt:lpstr>
      <vt:lpstr>Question 1) A salaried individual's annual income (from salary only) increases from ₹12, 50, 000 to ₹13,50, 000. Calculate the total income tax payable under the FY 2024-25/assessment year 2025-26 considering  new income tax regime in both the cases. Comment on the marginal relief.</vt:lpstr>
      <vt:lpstr>PowerPoint Presentation</vt:lpstr>
      <vt:lpstr>PowerPoint Presentation</vt:lpstr>
      <vt:lpstr>PowerPoint Presentation</vt:lpstr>
      <vt:lpstr>Question  2)  A salaried individual's annual income (from salary only) increases from ₹49,50,000 to ₹51,50,000. Calculate the total income tax payable under the FY 2024-25/assessment year 2025-26 considering  new income tax regime in both the cases. Also comment on marginal stability and surcharge.</vt:lpstr>
      <vt:lpstr>Compute tax on old income (₹48,75,000)</vt:lpstr>
      <vt:lpstr>Compute tax on old income (₹50,75,000) Slab-wise tax</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Sharda_S</dc:creator>
  <cp:lastModifiedBy>Meeta Gandhi</cp:lastModifiedBy>
  <cp:revision>391</cp:revision>
  <dcterms:created xsi:type="dcterms:W3CDTF">2018-08-03T02:39:05Z</dcterms:created>
  <dcterms:modified xsi:type="dcterms:W3CDTF">2025-10-07T02:26:30Z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0x010100EFC6F6E43125C8458E654944CD03E43A</vt:lpwstr>
  </property>
</Properties>
</file>