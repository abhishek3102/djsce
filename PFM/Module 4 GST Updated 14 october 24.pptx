
<file path=[Content_Types].xml><?xml version="1.0" encoding="utf-8"?>
<Types xmlns="http://schemas.openxmlformats.org/package/2006/content-types">
  <Default Extension="emf" ContentType="image/x-emf"/>
  <Default Extension="jpeg" ContentType="image/jpeg"/>
  <Default Extension="jpg" ContentType="image/jpg"/>
  <Default Extension="png" ContentType="image/png"/>
  <Default Extension="rels" ContentType="application/vnd.openxmlformats-package.relationships+xml"/>
  <Default Extension="xml" ContentType="application/xml"/>
  <Override PartName="/ppt/diagrams/data1.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2.xml" ContentType="application/vnd.openxmlformats-officedocument.drawingml.diagramData+xml"/>
  <Override PartName="/ppt/presentation.xml" ContentType="application/vnd.openxmlformats-officedocument.presentationml.presentation.main+xml"/>
  <Override PartName="/ppt/slides/slide66.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9.xml" ContentType="application/vnd.openxmlformats-officedocument.presentationml.slide+xml"/>
  <Override PartName="/ppt/slides/slide28.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8.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slides/slide35.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8.xml" ContentType="application/vnd.openxmlformats-officedocument.presentationml.slide+xml"/>
  <Override PartName="/ppt/slides/slide57.xml" ContentType="application/vnd.openxmlformats-officedocument.presentationml.slide+xml"/>
  <Override PartName="/ppt/slides/slide56.xml" ContentType="application/vnd.openxmlformats-officedocument.presentationml.slide+xml"/>
  <Override PartName="/ppt/slides/slide55.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5.xml" ContentType="application/vnd.openxmlformats-officedocument.presentationml.slide+xml"/>
  <Override PartName="/ppt/slides/slide64.xml" ContentType="application/vnd.openxmlformats-officedocument.presentationml.slide+xml"/>
  <Override PartName="/ppt/slides/slide63.xml" ContentType="application/vnd.openxmlformats-officedocument.presentationml.slide+xml"/>
  <Override PartName="/ppt/slides/slide62.xml" ContentType="application/vnd.openxmlformats-officedocument.presentationml.slide+xml"/>
  <Override PartName="/ppt/slides/slide54.xml" ContentType="application/vnd.openxmlformats-officedocument.presentationml.slide+xml"/>
  <Override PartName="/ppt/slides/slide53.xml" ContentType="application/vnd.openxmlformats-officedocument.presentationml.slide+xml"/>
  <Override PartName="/ppt/slides/slide52.xml" ContentType="application/vnd.openxmlformats-officedocument.presentationml.slide+xml"/>
  <Override PartName="/ppt/slides/slide45.xml" ContentType="application/vnd.openxmlformats-officedocument.presentationml.slide+xml"/>
  <Override PartName="/ppt/slides/slide44.xml" ContentType="application/vnd.openxmlformats-officedocument.presentationml.slide+xml"/>
  <Override PartName="/ppt/slides/slide43.xml" ContentType="application/vnd.openxmlformats-officedocument.presentationml.slide+xml"/>
  <Override PartName="/ppt/slides/slide42.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87.xml" ContentType="application/vnd.openxmlformats-officedocument.presentationml.slide+xml"/>
  <Override PartName="/ppt/slides/slide86.xml" ContentType="application/vnd.openxmlformats-officedocument.presentationml.slide+xml"/>
  <Override PartName="/ppt/slides/slide85.xml" ContentType="application/vnd.openxmlformats-officedocument.presentationml.slide+xml"/>
  <Override PartName="/ppt/slides/slide84.xml" ContentType="application/vnd.openxmlformats-officedocument.presentationml.slide+xml"/>
  <Override PartName="/ppt/slides/slide83.xml" ContentType="application/vnd.openxmlformats-officedocument.presentationml.slide+xml"/>
  <Override PartName="/ppt/slides/slide67.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103.xml" ContentType="application/vnd.openxmlformats-officedocument.presentationml.slide+xml"/>
  <Override PartName="/ppt/slides/slide102.xml" ContentType="application/vnd.openxmlformats-officedocument.presentationml.slide+xml"/>
  <Override PartName="/ppt/slides/slide101.xml" ContentType="application/vnd.openxmlformats-officedocument.presentationml.slide+xml"/>
  <Override PartName="/ppt/slides/slide100.xml" ContentType="application/vnd.openxmlformats-officedocument.presentationml.slide+xml"/>
  <Override PartName="/ppt/slides/slide99.xml" ContentType="application/vnd.openxmlformats-officedocument.presentationml.slide+xml"/>
  <Override PartName="/ppt/slides/slide98.xml" ContentType="application/vnd.openxmlformats-officedocument.presentationml.slide+xml"/>
  <Override PartName="/ppt/slides/slide97.xml" ContentType="application/vnd.openxmlformats-officedocument.presentationml.slide+xml"/>
  <Override PartName="/ppt/slides/slide96.xml" ContentType="application/vnd.openxmlformats-officedocument.presentationml.slide+xml"/>
  <Override PartName="/ppt/slides/slide95.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79.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80.xml" ContentType="application/vnd.openxmlformats-officedocument.presentationml.slide+xml"/>
  <Override PartName="/ppt/slides/slide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xml" ContentType="application/vnd.openxmlformats-officedocument.presentationml.slide+xml"/>
  <Override PartName="/ppt/slides/slide3.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77.xml" ContentType="application/vnd.openxmlformats-officedocument.presentationml.slide+xml"/>
  <Override PartName="/ppt/slides/slide68.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3.xml" ContentType="application/vnd.openxmlformats-officedocument.presentationml.slide+xml"/>
  <Override PartName="/ppt/slides/slide70.xml" ContentType="application/vnd.openxmlformats-officedocument.presentationml.slide+xml"/>
  <Override PartName="/ppt/slides/slide74.xml" ContentType="application/vnd.openxmlformats-officedocument.presentationml.slide+xml"/>
  <Override PartName="/ppt/slides/slide72.xml" ContentType="application/vnd.openxmlformats-officedocument.presentationml.slide+xml"/>
  <Override PartName="/ppt/slides/slide71.xml" ContentType="application/vnd.openxmlformats-officedocument.presentationml.slide+xml"/>
  <Override PartName="/ppt/notesSlides/notesSlide27.xml" ContentType="application/vnd.openxmlformats-officedocument.presentationml.notesSlide+xml"/>
  <Override PartName="/ppt/slideMasters/slideMaster1.xml" ContentType="application/vnd.openxmlformats-officedocument.presentationml.slideMaster+xml"/>
  <Override PartName="/ppt/notesSlides/notesSlide25.xml" ContentType="application/vnd.openxmlformats-officedocument.presentationml.notesSlide+xml"/>
  <Override PartName="/ppt/slideLayouts/slideLayout2.xml" ContentType="application/vnd.openxmlformats-officedocument.presentationml.slideLayout+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22.xml" ContentType="application/vnd.openxmlformats-officedocument.presentationml.notesSlide+xml"/>
  <Override PartName="/ppt/slideLayouts/slideLayout13.xml" ContentType="application/vnd.openxmlformats-officedocument.presentationml.slideLayout+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Slides/notesSlide7.xml" ContentType="application/vnd.openxmlformats-officedocument.presentationml.notesSlide+xml"/>
  <Override PartName="/ppt/notesSlides/notesSlide23.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7.xml" ContentType="application/vnd.openxmlformats-officedocument.presentationml.notesSlide+xml"/>
  <Override PartName="/ppt/notesSlides/notesSlide10.xml" ContentType="application/vnd.openxmlformats-officedocument.presentationml.notesSlide+xml"/>
  <Override PartName="/ppt/notesSlides/notesSlide16.xml" ContentType="application/vnd.openxmlformats-officedocument.presentationml.notesSlide+xml"/>
  <Override PartName="/ppt/notesSlides/notesSlide15.xml" ContentType="application/vnd.openxmlformats-officedocument.presentationml.notesSlide+xml"/>
  <Override PartName="/ppt/notesSlides/notesSlide11.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9.xml" ContentType="application/vnd.openxmlformats-officedocument.presentationml.notesSlide+xml"/>
  <Override PartName="/ppt/notesSlides/notesSlide14.xml" ContentType="application/vnd.openxmlformats-officedocument.presentationml.notesSlide+xml"/>
  <Override PartName="/ppt/notesSlides/notesSlide21.xml" ContentType="application/vnd.openxmlformats-officedocument.presentationml.notesSlide+xml"/>
  <Override PartName="/ppt/notesSlides/notesSlide8.xml" ContentType="application/vnd.openxmlformats-officedocument.presentationml.notesSlide+xml"/>
  <Override PartName="/ppt/notesSlides/notesSlide20.xml" ContentType="application/vnd.openxmlformats-officedocument.presentationml.notesSlide+xml"/>
  <Override PartName="/ppt/diagrams/colors4.xml" ContentType="application/vnd.openxmlformats-officedocument.drawingml.diagramColors+xml"/>
  <Override PartName="/ppt/diagrams/drawing4.xml" ContentType="application/vnd.ms-office.drawingml.diagramDrawing+xml"/>
  <Override PartName="/ppt/diagrams/layout4.xml" ContentType="application/vnd.openxmlformats-officedocument.drawingml.diagramLayout+xml"/>
  <Override PartName="/ppt/diagrams/quickStyle4.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layout2.xml" ContentType="application/vnd.openxmlformats-officedocument.drawingml.diagramLayout+xml"/>
  <Override PartName="/ppt/diagrams/quickStyle2.xml" ContentType="application/vnd.openxmlformats-officedocument.drawingml.diagramStyle+xml"/>
  <Override PartName="/ppt/diagrams/quickStyle1.xml" ContentType="application/vnd.openxmlformats-officedocument.drawingml.diagramStyle+xml"/>
  <Override PartName="/ppt/diagrams/layout1.xml" ContentType="application/vnd.openxmlformats-officedocument.drawingml.diagramLayout+xml"/>
  <Override PartName="/ppt/theme/theme2.xml" ContentType="application/vnd.openxmlformats-officedocument.theme+xml"/>
  <Override PartName="/ppt/notesMasters/notesMaster1.xml" ContentType="application/vnd.openxmlformats-officedocument.presentationml.notesMaster+xml"/>
  <Override PartName="/ppt/diagrams/colors2.xml" ContentType="application/vnd.openxmlformats-officedocument.drawingml.diagramColors+xml"/>
  <Override PartName="/ppt/diagrams/drawing2.xml" ContentType="application/vnd.ms-office.drawingml.diagramDrawing+xml"/>
  <Override PartName="/ppt/theme/theme1.xml" ContentType="application/vnd.openxmlformats-officedocument.theme+xml"/>
  <Override PartName="/ppt/diagrams/drawing3.xml" ContentType="application/vnd.ms-office.drawingml.diagramDrawing+xml"/>
  <Override PartName="/ppt/diagrams/colors3.xml" ContentType="application/vnd.openxmlformats-officedocument.drawingml.diagramColors+xml"/>
  <Override PartName="/ppt/diagrams/quickStyle3.xml" ContentType="application/vnd.openxmlformats-officedocument.drawingml.diagramStyle+xml"/>
  <Override PartName="/ppt/diagrams/layout3.xml" ContentType="application/vnd.openxmlformats-officedocument.drawingml.diagramLayout+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5"/>
  </p:notesMasterIdLst>
  <p:sldIdLst>
    <p:sldId id="535" r:id="rId2"/>
    <p:sldId id="678" r:id="rId3"/>
    <p:sldId id="679" r:id="rId4"/>
    <p:sldId id="680" r:id="rId5"/>
    <p:sldId id="681" r:id="rId6"/>
    <p:sldId id="682" r:id="rId7"/>
    <p:sldId id="409" r:id="rId8"/>
    <p:sldId id="536" r:id="rId9"/>
    <p:sldId id="537" r:id="rId10"/>
    <p:sldId id="662" r:id="rId11"/>
    <p:sldId id="611" r:id="rId12"/>
    <p:sldId id="612" r:id="rId13"/>
    <p:sldId id="613" r:id="rId14"/>
    <p:sldId id="665" r:id="rId15"/>
    <p:sldId id="668" r:id="rId16"/>
    <p:sldId id="669" r:id="rId17"/>
    <p:sldId id="672" r:id="rId18"/>
    <p:sldId id="673" r:id="rId19"/>
    <p:sldId id="674" r:id="rId20"/>
    <p:sldId id="614" r:id="rId21"/>
    <p:sldId id="615" r:id="rId22"/>
    <p:sldId id="616" r:id="rId23"/>
    <p:sldId id="617" r:id="rId24"/>
    <p:sldId id="683" r:id="rId25"/>
    <p:sldId id="684" r:id="rId26"/>
    <p:sldId id="685" r:id="rId27"/>
    <p:sldId id="686" r:id="rId28"/>
    <p:sldId id="620" r:id="rId29"/>
    <p:sldId id="646" r:id="rId30"/>
    <p:sldId id="621" r:id="rId31"/>
    <p:sldId id="541" r:id="rId32"/>
    <p:sldId id="539" r:id="rId33"/>
    <p:sldId id="552" r:id="rId34"/>
    <p:sldId id="553" r:id="rId35"/>
    <p:sldId id="656" r:id="rId36"/>
    <p:sldId id="657" r:id="rId37"/>
    <p:sldId id="658" r:id="rId38"/>
    <p:sldId id="659" r:id="rId39"/>
    <p:sldId id="660" r:id="rId40"/>
    <p:sldId id="661" r:id="rId41"/>
    <p:sldId id="542" r:id="rId42"/>
    <p:sldId id="543" r:id="rId43"/>
    <p:sldId id="544" r:id="rId44"/>
    <p:sldId id="546" r:id="rId45"/>
    <p:sldId id="547" r:id="rId46"/>
    <p:sldId id="548" r:id="rId47"/>
    <p:sldId id="540" r:id="rId48"/>
    <p:sldId id="549" r:id="rId49"/>
    <p:sldId id="550" r:id="rId50"/>
    <p:sldId id="551" r:id="rId51"/>
    <p:sldId id="557" r:id="rId52"/>
    <p:sldId id="555" r:id="rId53"/>
    <p:sldId id="556" r:id="rId54"/>
    <p:sldId id="558" r:id="rId55"/>
    <p:sldId id="675" r:id="rId56"/>
    <p:sldId id="676" r:id="rId57"/>
    <p:sldId id="677" r:id="rId58"/>
    <p:sldId id="559" r:id="rId59"/>
    <p:sldId id="560" r:id="rId60"/>
    <p:sldId id="561" r:id="rId61"/>
    <p:sldId id="562" r:id="rId62"/>
    <p:sldId id="563" r:id="rId63"/>
    <p:sldId id="564" r:id="rId64"/>
    <p:sldId id="650" r:id="rId65"/>
    <p:sldId id="565" r:id="rId66"/>
    <p:sldId id="567" r:id="rId67"/>
    <p:sldId id="568" r:id="rId68"/>
    <p:sldId id="569" r:id="rId69"/>
    <p:sldId id="571" r:id="rId70"/>
    <p:sldId id="572" r:id="rId71"/>
    <p:sldId id="573" r:id="rId72"/>
    <p:sldId id="574" r:id="rId73"/>
    <p:sldId id="576" r:id="rId74"/>
    <p:sldId id="577" r:id="rId75"/>
    <p:sldId id="578" r:id="rId76"/>
    <p:sldId id="649" r:id="rId77"/>
    <p:sldId id="579" r:id="rId78"/>
    <p:sldId id="580" r:id="rId79"/>
    <p:sldId id="581" r:id="rId80"/>
    <p:sldId id="582" r:id="rId81"/>
    <p:sldId id="583" r:id="rId82"/>
    <p:sldId id="585" r:id="rId83"/>
    <p:sldId id="586" r:id="rId84"/>
    <p:sldId id="588" r:id="rId85"/>
    <p:sldId id="589" r:id="rId86"/>
    <p:sldId id="591" r:id="rId87"/>
    <p:sldId id="592" r:id="rId88"/>
    <p:sldId id="593" r:id="rId89"/>
    <p:sldId id="594" r:id="rId90"/>
    <p:sldId id="595" r:id="rId91"/>
    <p:sldId id="596" r:id="rId92"/>
    <p:sldId id="598" r:id="rId93"/>
    <p:sldId id="599" r:id="rId94"/>
    <p:sldId id="600" r:id="rId95"/>
    <p:sldId id="601" r:id="rId96"/>
    <p:sldId id="602" r:id="rId97"/>
    <p:sldId id="603" r:id="rId98"/>
    <p:sldId id="604" r:id="rId99"/>
    <p:sldId id="605" r:id="rId100"/>
    <p:sldId id="607" r:id="rId101"/>
    <p:sldId id="608" r:id="rId102"/>
    <p:sldId id="609" r:id="rId103"/>
    <p:sldId id="610" r:id="rId10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17" autoAdjust="0"/>
    <p:restoredTop sz="89675" autoAdjust="0"/>
  </p:normalViewPr>
  <p:slideViewPr>
    <p:cSldViewPr snapToGrid="0">
      <p:cViewPr varScale="1">
        <p:scale>
          <a:sx n="108" d="100"/>
          <a:sy n="108" d="100"/>
        </p:scale>
        <p:origin x="732"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customXml" Target="../customXml/item3.xml"/><Relationship Id="rId16" Type="http://schemas.openxmlformats.org/officeDocument/2006/relationships/slide" Target="slides/slide15.xml"/><Relationship Id="rId107" Type="http://schemas.openxmlformats.org/officeDocument/2006/relationships/viewProps" Target="view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ableStyles" Target="tableStyle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customXml" Target="../customXml/item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customXml" Target="../customXml/item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5_1">
  <dgm:title val=""/>
  <dgm:desc val=""/>
  <dgm:catLst>
    <dgm:cat type="accent5" pri="11100"/>
  </dgm:catLst>
  <dgm:styleLbl name="node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5">
        <a:shade val="80000"/>
      </a:schemeClr>
    </dgm:linClrLst>
    <dgm:effectClrLst/>
    <dgm:txLinClrLst/>
    <dgm:txFillClrLst/>
    <dgm:txEffectClrLst/>
  </dgm:styleLbl>
  <dgm:styleLbl name="node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f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align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b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dgm:txEffectClrLst/>
  </dgm:styleLbl>
  <dgm:styleLbl name="parChTrans2D2">
    <dgm:fillClrLst meth="repeat">
      <a:schemeClr val="accent5"/>
    </dgm:fillClrLst>
    <dgm:linClrLst meth="repeat">
      <a:schemeClr val="accent5"/>
    </dgm:linClrLst>
    <dgm:effectClrLst/>
    <dgm:txLinClrLst/>
    <dgm:txFillClrLst/>
    <dgm:txEffectClrLst/>
  </dgm:styleLbl>
  <dgm:styleLbl name="parChTrans2D3">
    <dgm:fillClrLst meth="repeat">
      <a:schemeClr val="accent5"/>
    </dgm:fillClrLst>
    <dgm:linClrLst meth="repeat">
      <a:schemeClr val="accent5"/>
    </dgm:linClrLst>
    <dgm:effectClrLst/>
    <dgm:txLinClrLst/>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con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align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trAlignAcc1">
    <dgm:fillClrLst meth="repeat">
      <a:schemeClr val="accent5">
        <a:alpha val="40000"/>
        <a:tint val="40000"/>
      </a:schemeClr>
    </dgm:fillClrLst>
    <dgm:linClrLst meth="repeat">
      <a:schemeClr val="accent5"/>
    </dgm:linClrLst>
    <dgm:effectClrLst/>
    <dgm:txLinClrLst/>
    <dgm:txFillClrLst meth="repeat">
      <a:schemeClr val="dk1"/>
    </dgm:txFillClrLst>
    <dgm:txEffectClrLst/>
  </dgm:styleLbl>
  <dgm:styleLbl name="b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fgAcc0">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2">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3">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4">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C40CA45-4485-487B-8AAC-C99AE2831A45}"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0D3A94C8-E5DA-4D19-957F-E540581D3B02}" type="pres">
      <dgm:prSet presAssocID="{2C40CA45-4485-487B-8AAC-C99AE2831A45}" presName="hierChild1" presStyleCnt="0">
        <dgm:presLayoutVars>
          <dgm:orgChart val="1"/>
          <dgm:chPref val="1"/>
          <dgm:dir/>
          <dgm:animOne val="branch"/>
          <dgm:animLvl val="lvl"/>
          <dgm:resizeHandles/>
        </dgm:presLayoutVars>
      </dgm:prSet>
      <dgm:spPr/>
      <dgm:t>
        <a:bodyPr/>
        <a:lstStyle/>
        <a:p>
          <a:endParaRPr lang="en-US"/>
        </a:p>
      </dgm:t>
    </dgm:pt>
  </dgm:ptLst>
  <dgm:cxnLst>
    <dgm:cxn modelId="{F81842CF-35EF-4D7C-BC46-2186E5B896E0}" type="presOf" srcId="{2C40CA45-4485-487B-8AAC-C99AE2831A45}" destId="{0D3A94C8-E5DA-4D19-957F-E540581D3B02}" srcOrd="0"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C90B3F0-9042-4EF9-8524-8E1AD82FA674}"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881C0739-7943-44EF-BD76-6A9D4D2B3F27}">
      <dgm:prSet phldrT="[Text]"/>
      <dgm:spPr/>
      <dgm:t>
        <a:bodyPr/>
        <a:lstStyle/>
        <a:p>
          <a:r>
            <a:rPr lang="en-US" dirty="0" smtClean="0"/>
            <a:t>Tax Structure</a:t>
          </a:r>
          <a:endParaRPr lang="en-US" dirty="0"/>
        </a:p>
      </dgm:t>
    </dgm:pt>
    <dgm:pt modelId="{7289CE15-F2EF-4742-B693-516D60776215}" type="parTrans" cxnId="{ABF4D38A-5D4F-4157-8EE9-E24785CDA8F6}">
      <dgm:prSet/>
      <dgm:spPr/>
      <dgm:t>
        <a:bodyPr/>
        <a:lstStyle/>
        <a:p>
          <a:endParaRPr lang="en-US"/>
        </a:p>
      </dgm:t>
    </dgm:pt>
    <dgm:pt modelId="{FA3EA4E0-B896-4B7C-8983-C98AF8D265C2}" type="sibTrans" cxnId="{ABF4D38A-5D4F-4157-8EE9-E24785CDA8F6}">
      <dgm:prSet/>
      <dgm:spPr/>
      <dgm:t>
        <a:bodyPr/>
        <a:lstStyle/>
        <a:p>
          <a:endParaRPr lang="en-US"/>
        </a:p>
      </dgm:t>
    </dgm:pt>
    <dgm:pt modelId="{CB3EFC06-DE69-4142-AA73-38B6894872D8}">
      <dgm:prSet phldrT="[Text]"/>
      <dgm:spPr/>
      <dgm:t>
        <a:bodyPr/>
        <a:lstStyle/>
        <a:p>
          <a:r>
            <a:rPr lang="en-US" dirty="0" smtClean="0"/>
            <a:t>Direct Tax</a:t>
          </a:r>
          <a:endParaRPr lang="en-US" dirty="0"/>
        </a:p>
      </dgm:t>
    </dgm:pt>
    <dgm:pt modelId="{80842760-F91B-4DAB-A7EC-36915B75A0A7}" type="parTrans" cxnId="{53766E5A-53C1-43FF-8920-BF4457DBE946}">
      <dgm:prSet/>
      <dgm:spPr/>
      <dgm:t>
        <a:bodyPr/>
        <a:lstStyle/>
        <a:p>
          <a:endParaRPr lang="en-US"/>
        </a:p>
      </dgm:t>
    </dgm:pt>
    <dgm:pt modelId="{B624454B-2418-4A00-AE2E-208DEC616CAE}" type="sibTrans" cxnId="{53766E5A-53C1-43FF-8920-BF4457DBE946}">
      <dgm:prSet/>
      <dgm:spPr/>
      <dgm:t>
        <a:bodyPr/>
        <a:lstStyle/>
        <a:p>
          <a:endParaRPr lang="en-US"/>
        </a:p>
      </dgm:t>
    </dgm:pt>
    <dgm:pt modelId="{08F657A8-0649-4EE1-B878-73DE297C7FFE}">
      <dgm:prSet phldrT="[Text]"/>
      <dgm:spPr/>
      <dgm:t>
        <a:bodyPr/>
        <a:lstStyle/>
        <a:p>
          <a:r>
            <a:rPr lang="en-US" dirty="0" smtClean="0"/>
            <a:t>Income Tax	</a:t>
          </a:r>
          <a:endParaRPr lang="en-US" dirty="0"/>
        </a:p>
      </dgm:t>
    </dgm:pt>
    <dgm:pt modelId="{2FC053DF-9B88-4A57-9360-82A4DBC16C90}" type="parTrans" cxnId="{5AC37F2F-C907-4327-AD5D-CF33AE03D5E0}">
      <dgm:prSet/>
      <dgm:spPr/>
      <dgm:t>
        <a:bodyPr/>
        <a:lstStyle/>
        <a:p>
          <a:endParaRPr lang="en-US"/>
        </a:p>
      </dgm:t>
    </dgm:pt>
    <dgm:pt modelId="{73F08E9F-A778-47C3-93FE-DAFCC8D2CB51}" type="sibTrans" cxnId="{5AC37F2F-C907-4327-AD5D-CF33AE03D5E0}">
      <dgm:prSet/>
      <dgm:spPr/>
      <dgm:t>
        <a:bodyPr/>
        <a:lstStyle/>
        <a:p>
          <a:endParaRPr lang="en-US"/>
        </a:p>
      </dgm:t>
    </dgm:pt>
    <dgm:pt modelId="{74A34120-397E-4318-BB0A-E225657A770C}">
      <dgm:prSet phldrT="[Text]"/>
      <dgm:spPr/>
      <dgm:t>
        <a:bodyPr/>
        <a:lstStyle/>
        <a:p>
          <a:r>
            <a:rPr lang="en-US" dirty="0" smtClean="0"/>
            <a:t>Wealth Tax</a:t>
          </a:r>
          <a:endParaRPr lang="en-US" dirty="0"/>
        </a:p>
      </dgm:t>
    </dgm:pt>
    <dgm:pt modelId="{CC8AE5BF-EE24-466C-83E5-792AC9EB7C97}" type="parTrans" cxnId="{DF8437B7-A22C-4534-90D2-DB696F03DD81}">
      <dgm:prSet/>
      <dgm:spPr/>
      <dgm:t>
        <a:bodyPr/>
        <a:lstStyle/>
        <a:p>
          <a:endParaRPr lang="en-US"/>
        </a:p>
      </dgm:t>
    </dgm:pt>
    <dgm:pt modelId="{1101559F-1E66-4334-B955-C39CD3B7E068}" type="sibTrans" cxnId="{DF8437B7-A22C-4534-90D2-DB696F03DD81}">
      <dgm:prSet/>
      <dgm:spPr/>
      <dgm:t>
        <a:bodyPr/>
        <a:lstStyle/>
        <a:p>
          <a:endParaRPr lang="en-US"/>
        </a:p>
      </dgm:t>
    </dgm:pt>
    <dgm:pt modelId="{D2264B91-699F-49A0-9FFA-6C0CCA2A7C80}">
      <dgm:prSet phldrT="[Text]"/>
      <dgm:spPr/>
      <dgm:t>
        <a:bodyPr/>
        <a:lstStyle/>
        <a:p>
          <a:r>
            <a:rPr lang="en-US" dirty="0" smtClean="0"/>
            <a:t>Indirect Tax</a:t>
          </a:r>
          <a:endParaRPr lang="en-US" dirty="0"/>
        </a:p>
      </dgm:t>
    </dgm:pt>
    <dgm:pt modelId="{F8128AA2-CEDC-498F-99A1-AB59C57AEE5A}" type="parTrans" cxnId="{74EDB11A-8AA7-4171-B5E0-05C9A901D666}">
      <dgm:prSet/>
      <dgm:spPr/>
      <dgm:t>
        <a:bodyPr/>
        <a:lstStyle/>
        <a:p>
          <a:endParaRPr lang="en-US"/>
        </a:p>
      </dgm:t>
    </dgm:pt>
    <dgm:pt modelId="{37F38100-B321-4E85-8654-56D82029AF19}" type="sibTrans" cxnId="{74EDB11A-8AA7-4171-B5E0-05C9A901D666}">
      <dgm:prSet/>
      <dgm:spPr/>
      <dgm:t>
        <a:bodyPr/>
        <a:lstStyle/>
        <a:p>
          <a:endParaRPr lang="en-US"/>
        </a:p>
      </dgm:t>
    </dgm:pt>
    <dgm:pt modelId="{0EF63A1C-B734-4E02-84F9-BBDD5A76FEF6}">
      <dgm:prSet phldrT="[Text]"/>
      <dgm:spPr/>
      <dgm:t>
        <a:bodyPr/>
        <a:lstStyle/>
        <a:p>
          <a:r>
            <a:rPr lang="en-US" dirty="0" smtClean="0"/>
            <a:t>Central Tax</a:t>
          </a:r>
          <a:endParaRPr lang="en-US" dirty="0"/>
        </a:p>
      </dgm:t>
    </dgm:pt>
    <dgm:pt modelId="{1544B6E4-E7EE-4AF0-9E91-2ABF3937FBB4}" type="parTrans" cxnId="{007C27C9-8F08-4E76-9AA4-297AFE410F6B}">
      <dgm:prSet/>
      <dgm:spPr/>
      <dgm:t>
        <a:bodyPr/>
        <a:lstStyle/>
        <a:p>
          <a:endParaRPr lang="en-US"/>
        </a:p>
      </dgm:t>
    </dgm:pt>
    <dgm:pt modelId="{6484FEC6-6474-4ED9-A1AF-B98B3F3E044D}" type="sibTrans" cxnId="{007C27C9-8F08-4E76-9AA4-297AFE410F6B}">
      <dgm:prSet/>
      <dgm:spPr/>
      <dgm:t>
        <a:bodyPr/>
        <a:lstStyle/>
        <a:p>
          <a:endParaRPr lang="en-US"/>
        </a:p>
      </dgm:t>
    </dgm:pt>
    <dgm:pt modelId="{2242E98D-9141-418C-81A0-D8F4F5DFD876}">
      <dgm:prSet phldrT="[Text]"/>
      <dgm:spPr/>
      <dgm:t>
        <a:bodyPr/>
        <a:lstStyle/>
        <a:p>
          <a:r>
            <a:rPr lang="en-US" dirty="0" smtClean="0"/>
            <a:t>State Tax</a:t>
          </a:r>
          <a:endParaRPr lang="en-US" dirty="0"/>
        </a:p>
      </dgm:t>
    </dgm:pt>
    <dgm:pt modelId="{2A9606AD-015D-4668-8AAF-C826CC2B513C}" type="parTrans" cxnId="{2B87F5DE-EE08-42B4-B514-B61B50A98E81}">
      <dgm:prSet/>
      <dgm:spPr/>
      <dgm:t>
        <a:bodyPr/>
        <a:lstStyle/>
        <a:p>
          <a:endParaRPr lang="en-US"/>
        </a:p>
      </dgm:t>
    </dgm:pt>
    <dgm:pt modelId="{E6866E29-4897-4611-92EE-0E2BD66D9EF8}" type="sibTrans" cxnId="{2B87F5DE-EE08-42B4-B514-B61B50A98E81}">
      <dgm:prSet/>
      <dgm:spPr/>
      <dgm:t>
        <a:bodyPr/>
        <a:lstStyle/>
        <a:p>
          <a:endParaRPr lang="en-US"/>
        </a:p>
      </dgm:t>
    </dgm:pt>
    <dgm:pt modelId="{A6F67CA6-7087-4B51-B927-B5BBD560ABCA}">
      <dgm:prSet/>
      <dgm:spPr/>
      <dgm:t>
        <a:bodyPr/>
        <a:lstStyle/>
        <a:p>
          <a:r>
            <a:rPr lang="en-US" dirty="0" smtClean="0"/>
            <a:t>Excise</a:t>
          </a:r>
          <a:endParaRPr lang="en-US" dirty="0"/>
        </a:p>
      </dgm:t>
    </dgm:pt>
    <dgm:pt modelId="{0102B7CC-2A07-4D56-BA17-42F584B48D8F}" type="parTrans" cxnId="{BFD237DF-1B71-4B10-8A14-81853AFF1AB5}">
      <dgm:prSet/>
      <dgm:spPr/>
      <dgm:t>
        <a:bodyPr/>
        <a:lstStyle/>
        <a:p>
          <a:endParaRPr lang="en-US"/>
        </a:p>
      </dgm:t>
    </dgm:pt>
    <dgm:pt modelId="{E375B44C-93C1-48E5-90FE-2BF969EAACEF}" type="sibTrans" cxnId="{BFD237DF-1B71-4B10-8A14-81853AFF1AB5}">
      <dgm:prSet/>
      <dgm:spPr/>
      <dgm:t>
        <a:bodyPr/>
        <a:lstStyle/>
        <a:p>
          <a:endParaRPr lang="en-US"/>
        </a:p>
      </dgm:t>
    </dgm:pt>
    <dgm:pt modelId="{21DA303B-0883-4F8D-B52E-8334BB91654F}">
      <dgm:prSet/>
      <dgm:spPr/>
      <dgm:t>
        <a:bodyPr/>
        <a:lstStyle/>
        <a:p>
          <a:r>
            <a:rPr lang="en-US" dirty="0" smtClean="0"/>
            <a:t>Service Tax</a:t>
          </a:r>
          <a:endParaRPr lang="en-US" dirty="0"/>
        </a:p>
      </dgm:t>
    </dgm:pt>
    <dgm:pt modelId="{23DB236C-7432-42B3-AD3B-9EFF5FE742BF}" type="parTrans" cxnId="{324EFF16-CCF9-449E-A4DC-312F05199E7C}">
      <dgm:prSet/>
      <dgm:spPr/>
      <dgm:t>
        <a:bodyPr/>
        <a:lstStyle/>
        <a:p>
          <a:endParaRPr lang="en-US"/>
        </a:p>
      </dgm:t>
    </dgm:pt>
    <dgm:pt modelId="{3B4C10C7-9C2D-46D6-85F8-7EB80D70CDCC}" type="sibTrans" cxnId="{324EFF16-CCF9-449E-A4DC-312F05199E7C}">
      <dgm:prSet/>
      <dgm:spPr/>
      <dgm:t>
        <a:bodyPr/>
        <a:lstStyle/>
        <a:p>
          <a:endParaRPr lang="en-US"/>
        </a:p>
      </dgm:t>
    </dgm:pt>
    <dgm:pt modelId="{E95EDEC0-3F13-49FB-834C-CD39C92B6290}">
      <dgm:prSet/>
      <dgm:spPr/>
      <dgm:t>
        <a:bodyPr/>
        <a:lstStyle/>
        <a:p>
          <a:r>
            <a:rPr lang="en-US" smtClean="0"/>
            <a:t>Custome</a:t>
          </a:r>
          <a:endParaRPr lang="en-US" dirty="0"/>
        </a:p>
      </dgm:t>
    </dgm:pt>
    <dgm:pt modelId="{699672D2-7CC5-44F7-BF6D-57CB27E4FDDE}" type="parTrans" cxnId="{45BA78C9-C989-4836-9D79-B14412F61244}">
      <dgm:prSet/>
      <dgm:spPr/>
      <dgm:t>
        <a:bodyPr/>
        <a:lstStyle/>
        <a:p>
          <a:endParaRPr lang="en-US"/>
        </a:p>
      </dgm:t>
    </dgm:pt>
    <dgm:pt modelId="{43E930DC-A652-4660-9E91-512CBCB5EBEA}" type="sibTrans" cxnId="{45BA78C9-C989-4836-9D79-B14412F61244}">
      <dgm:prSet/>
      <dgm:spPr/>
      <dgm:t>
        <a:bodyPr/>
        <a:lstStyle/>
        <a:p>
          <a:endParaRPr lang="en-US"/>
        </a:p>
      </dgm:t>
    </dgm:pt>
    <dgm:pt modelId="{A4BEEBE0-270B-4242-99AF-5B6303CFF81E}">
      <dgm:prSet/>
      <dgm:spPr/>
      <dgm:t>
        <a:bodyPr/>
        <a:lstStyle/>
        <a:p>
          <a:r>
            <a:rPr lang="en-US" dirty="0" smtClean="0"/>
            <a:t>VAT</a:t>
          </a:r>
          <a:endParaRPr lang="en-US" dirty="0"/>
        </a:p>
      </dgm:t>
    </dgm:pt>
    <dgm:pt modelId="{60C737DE-A62A-4166-872B-AF02BB707069}" type="parTrans" cxnId="{8E18FB67-FE96-4106-87E6-F71277405885}">
      <dgm:prSet/>
      <dgm:spPr/>
      <dgm:t>
        <a:bodyPr/>
        <a:lstStyle/>
        <a:p>
          <a:endParaRPr lang="en-US"/>
        </a:p>
      </dgm:t>
    </dgm:pt>
    <dgm:pt modelId="{CDBE9535-50A2-4422-A35A-DC3CBA364584}" type="sibTrans" cxnId="{8E18FB67-FE96-4106-87E6-F71277405885}">
      <dgm:prSet/>
      <dgm:spPr/>
      <dgm:t>
        <a:bodyPr/>
        <a:lstStyle/>
        <a:p>
          <a:endParaRPr lang="en-US"/>
        </a:p>
      </dgm:t>
    </dgm:pt>
    <dgm:pt modelId="{43825AF3-FED2-478A-B6B1-BDD94BED749D}">
      <dgm:prSet/>
      <dgm:spPr/>
      <dgm:t>
        <a:bodyPr/>
        <a:lstStyle/>
        <a:p>
          <a:r>
            <a:rPr lang="en-US" dirty="0" smtClean="0"/>
            <a:t>Entry Tax, luxury tax, Lottery Tax, etc.</a:t>
          </a:r>
          <a:endParaRPr lang="en-US" dirty="0"/>
        </a:p>
      </dgm:t>
    </dgm:pt>
    <dgm:pt modelId="{57480883-0066-4B28-A56B-B6C3D488C5DB}" type="parTrans" cxnId="{9A2DD2D1-6643-4B8E-BC62-2B6F6488A581}">
      <dgm:prSet/>
      <dgm:spPr/>
      <dgm:t>
        <a:bodyPr/>
        <a:lstStyle/>
        <a:p>
          <a:endParaRPr lang="en-US"/>
        </a:p>
      </dgm:t>
    </dgm:pt>
    <dgm:pt modelId="{DA6AC472-28EE-494D-A7D3-E89A4CB5A84F}" type="sibTrans" cxnId="{9A2DD2D1-6643-4B8E-BC62-2B6F6488A581}">
      <dgm:prSet/>
      <dgm:spPr/>
      <dgm:t>
        <a:bodyPr/>
        <a:lstStyle/>
        <a:p>
          <a:endParaRPr lang="en-US"/>
        </a:p>
      </dgm:t>
    </dgm:pt>
    <dgm:pt modelId="{A28D54F6-E6E9-44D8-87AF-B06D1360A52D}" type="pres">
      <dgm:prSet presAssocID="{DC90B3F0-9042-4EF9-8524-8E1AD82FA674}" presName="hierChild1" presStyleCnt="0">
        <dgm:presLayoutVars>
          <dgm:chPref val="1"/>
          <dgm:dir/>
          <dgm:animOne val="branch"/>
          <dgm:animLvl val="lvl"/>
          <dgm:resizeHandles/>
        </dgm:presLayoutVars>
      </dgm:prSet>
      <dgm:spPr/>
      <dgm:t>
        <a:bodyPr/>
        <a:lstStyle/>
        <a:p>
          <a:endParaRPr lang="en-US"/>
        </a:p>
      </dgm:t>
    </dgm:pt>
    <dgm:pt modelId="{29736180-43D6-4D56-A974-FA10F8B5F9A2}" type="pres">
      <dgm:prSet presAssocID="{881C0739-7943-44EF-BD76-6A9D4D2B3F27}" presName="hierRoot1" presStyleCnt="0"/>
      <dgm:spPr/>
    </dgm:pt>
    <dgm:pt modelId="{612247BE-AAE9-4FDD-B392-BBFEFD51FA7A}" type="pres">
      <dgm:prSet presAssocID="{881C0739-7943-44EF-BD76-6A9D4D2B3F27}" presName="composite" presStyleCnt="0"/>
      <dgm:spPr/>
    </dgm:pt>
    <dgm:pt modelId="{25B37764-B936-4A82-941E-933050CE1DD0}" type="pres">
      <dgm:prSet presAssocID="{881C0739-7943-44EF-BD76-6A9D4D2B3F27}" presName="background" presStyleLbl="node0" presStyleIdx="0" presStyleCnt="1"/>
      <dgm:spPr/>
    </dgm:pt>
    <dgm:pt modelId="{5941A6D5-DD07-4CF9-A9F7-F72748EC608C}" type="pres">
      <dgm:prSet presAssocID="{881C0739-7943-44EF-BD76-6A9D4D2B3F27}" presName="text" presStyleLbl="fgAcc0" presStyleIdx="0" presStyleCnt="1">
        <dgm:presLayoutVars>
          <dgm:chPref val="3"/>
        </dgm:presLayoutVars>
      </dgm:prSet>
      <dgm:spPr/>
      <dgm:t>
        <a:bodyPr/>
        <a:lstStyle/>
        <a:p>
          <a:endParaRPr lang="en-US"/>
        </a:p>
      </dgm:t>
    </dgm:pt>
    <dgm:pt modelId="{73784BDC-A0B0-45F3-9C49-C671A54E6600}" type="pres">
      <dgm:prSet presAssocID="{881C0739-7943-44EF-BD76-6A9D4D2B3F27}" presName="hierChild2" presStyleCnt="0"/>
      <dgm:spPr/>
    </dgm:pt>
    <dgm:pt modelId="{7C0469FD-B98E-4637-A481-108F4E50CACB}" type="pres">
      <dgm:prSet presAssocID="{80842760-F91B-4DAB-A7EC-36915B75A0A7}" presName="Name10" presStyleLbl="parChTrans1D2" presStyleIdx="0" presStyleCnt="2"/>
      <dgm:spPr/>
      <dgm:t>
        <a:bodyPr/>
        <a:lstStyle/>
        <a:p>
          <a:endParaRPr lang="en-US"/>
        </a:p>
      </dgm:t>
    </dgm:pt>
    <dgm:pt modelId="{163CE9A9-1FD3-45F3-9D23-5DADA79788C4}" type="pres">
      <dgm:prSet presAssocID="{CB3EFC06-DE69-4142-AA73-38B6894872D8}" presName="hierRoot2" presStyleCnt="0"/>
      <dgm:spPr/>
    </dgm:pt>
    <dgm:pt modelId="{B408B492-B770-49B9-A09B-0A833743E876}" type="pres">
      <dgm:prSet presAssocID="{CB3EFC06-DE69-4142-AA73-38B6894872D8}" presName="composite2" presStyleCnt="0"/>
      <dgm:spPr/>
    </dgm:pt>
    <dgm:pt modelId="{EA12A5BA-5FFC-45F1-B49F-FCEF2A07016E}" type="pres">
      <dgm:prSet presAssocID="{CB3EFC06-DE69-4142-AA73-38B6894872D8}" presName="background2" presStyleLbl="node2" presStyleIdx="0" presStyleCnt="2"/>
      <dgm:spPr/>
    </dgm:pt>
    <dgm:pt modelId="{320FD404-409D-4E1F-AEB7-F7D7BD9BE221}" type="pres">
      <dgm:prSet presAssocID="{CB3EFC06-DE69-4142-AA73-38B6894872D8}" presName="text2" presStyleLbl="fgAcc2" presStyleIdx="0" presStyleCnt="2">
        <dgm:presLayoutVars>
          <dgm:chPref val="3"/>
        </dgm:presLayoutVars>
      </dgm:prSet>
      <dgm:spPr/>
      <dgm:t>
        <a:bodyPr/>
        <a:lstStyle/>
        <a:p>
          <a:endParaRPr lang="en-US"/>
        </a:p>
      </dgm:t>
    </dgm:pt>
    <dgm:pt modelId="{4E471225-742C-4203-95CD-2D98C2F6751B}" type="pres">
      <dgm:prSet presAssocID="{CB3EFC06-DE69-4142-AA73-38B6894872D8}" presName="hierChild3" presStyleCnt="0"/>
      <dgm:spPr/>
    </dgm:pt>
    <dgm:pt modelId="{29003078-F5E9-43E9-989F-0DE3873C6855}" type="pres">
      <dgm:prSet presAssocID="{2FC053DF-9B88-4A57-9360-82A4DBC16C90}" presName="Name17" presStyleLbl="parChTrans1D3" presStyleIdx="0" presStyleCnt="4"/>
      <dgm:spPr/>
      <dgm:t>
        <a:bodyPr/>
        <a:lstStyle/>
        <a:p>
          <a:endParaRPr lang="en-US"/>
        </a:p>
      </dgm:t>
    </dgm:pt>
    <dgm:pt modelId="{08F32115-873D-47EE-BC14-5C5D100265AB}" type="pres">
      <dgm:prSet presAssocID="{08F657A8-0649-4EE1-B878-73DE297C7FFE}" presName="hierRoot3" presStyleCnt="0"/>
      <dgm:spPr/>
    </dgm:pt>
    <dgm:pt modelId="{36EC643A-E064-460F-831B-85EB2B2588AC}" type="pres">
      <dgm:prSet presAssocID="{08F657A8-0649-4EE1-B878-73DE297C7FFE}" presName="composite3" presStyleCnt="0"/>
      <dgm:spPr/>
    </dgm:pt>
    <dgm:pt modelId="{2C673FAB-0977-4995-B93B-5B834DB770C4}" type="pres">
      <dgm:prSet presAssocID="{08F657A8-0649-4EE1-B878-73DE297C7FFE}" presName="background3" presStyleLbl="node3" presStyleIdx="0" presStyleCnt="4"/>
      <dgm:spPr/>
    </dgm:pt>
    <dgm:pt modelId="{31744D33-82A3-44AA-AD62-5DC4D6AF031C}" type="pres">
      <dgm:prSet presAssocID="{08F657A8-0649-4EE1-B878-73DE297C7FFE}" presName="text3" presStyleLbl="fgAcc3" presStyleIdx="0" presStyleCnt="4">
        <dgm:presLayoutVars>
          <dgm:chPref val="3"/>
        </dgm:presLayoutVars>
      </dgm:prSet>
      <dgm:spPr/>
      <dgm:t>
        <a:bodyPr/>
        <a:lstStyle/>
        <a:p>
          <a:endParaRPr lang="en-US"/>
        </a:p>
      </dgm:t>
    </dgm:pt>
    <dgm:pt modelId="{03CCF983-3DF4-42A5-9F76-889946B37B9F}" type="pres">
      <dgm:prSet presAssocID="{08F657A8-0649-4EE1-B878-73DE297C7FFE}" presName="hierChild4" presStyleCnt="0"/>
      <dgm:spPr/>
    </dgm:pt>
    <dgm:pt modelId="{D735E66A-DE2C-4391-974E-5235C3F90876}" type="pres">
      <dgm:prSet presAssocID="{CC8AE5BF-EE24-466C-83E5-792AC9EB7C97}" presName="Name17" presStyleLbl="parChTrans1D3" presStyleIdx="1" presStyleCnt="4"/>
      <dgm:spPr/>
      <dgm:t>
        <a:bodyPr/>
        <a:lstStyle/>
        <a:p>
          <a:endParaRPr lang="en-US"/>
        </a:p>
      </dgm:t>
    </dgm:pt>
    <dgm:pt modelId="{2529119F-ECAF-45BD-8C46-EDCEFF5B22B0}" type="pres">
      <dgm:prSet presAssocID="{74A34120-397E-4318-BB0A-E225657A770C}" presName="hierRoot3" presStyleCnt="0"/>
      <dgm:spPr/>
    </dgm:pt>
    <dgm:pt modelId="{2EB52BC5-D5F9-4CCF-B410-900985090E1A}" type="pres">
      <dgm:prSet presAssocID="{74A34120-397E-4318-BB0A-E225657A770C}" presName="composite3" presStyleCnt="0"/>
      <dgm:spPr/>
    </dgm:pt>
    <dgm:pt modelId="{DF180794-925B-4AB1-9E13-C12518871128}" type="pres">
      <dgm:prSet presAssocID="{74A34120-397E-4318-BB0A-E225657A770C}" presName="background3" presStyleLbl="node3" presStyleIdx="1" presStyleCnt="4"/>
      <dgm:spPr/>
    </dgm:pt>
    <dgm:pt modelId="{15B29A14-8A61-4A85-867B-D3DBCE39CD78}" type="pres">
      <dgm:prSet presAssocID="{74A34120-397E-4318-BB0A-E225657A770C}" presName="text3" presStyleLbl="fgAcc3" presStyleIdx="1" presStyleCnt="4">
        <dgm:presLayoutVars>
          <dgm:chPref val="3"/>
        </dgm:presLayoutVars>
      </dgm:prSet>
      <dgm:spPr/>
      <dgm:t>
        <a:bodyPr/>
        <a:lstStyle/>
        <a:p>
          <a:endParaRPr lang="en-US"/>
        </a:p>
      </dgm:t>
    </dgm:pt>
    <dgm:pt modelId="{DB20AE81-ADE2-41A5-B977-92194284A3C9}" type="pres">
      <dgm:prSet presAssocID="{74A34120-397E-4318-BB0A-E225657A770C}" presName="hierChild4" presStyleCnt="0"/>
      <dgm:spPr/>
    </dgm:pt>
    <dgm:pt modelId="{A425EA85-1220-4EFD-B211-4850C8BB43E7}" type="pres">
      <dgm:prSet presAssocID="{F8128AA2-CEDC-498F-99A1-AB59C57AEE5A}" presName="Name10" presStyleLbl="parChTrans1D2" presStyleIdx="1" presStyleCnt="2"/>
      <dgm:spPr/>
      <dgm:t>
        <a:bodyPr/>
        <a:lstStyle/>
        <a:p>
          <a:endParaRPr lang="en-US"/>
        </a:p>
      </dgm:t>
    </dgm:pt>
    <dgm:pt modelId="{1CC155A2-2085-4F19-9880-AE01A039AFF3}" type="pres">
      <dgm:prSet presAssocID="{D2264B91-699F-49A0-9FFA-6C0CCA2A7C80}" presName="hierRoot2" presStyleCnt="0"/>
      <dgm:spPr/>
    </dgm:pt>
    <dgm:pt modelId="{394FD2C6-3AC4-4307-893F-485C0184B247}" type="pres">
      <dgm:prSet presAssocID="{D2264B91-699F-49A0-9FFA-6C0CCA2A7C80}" presName="composite2" presStyleCnt="0"/>
      <dgm:spPr/>
    </dgm:pt>
    <dgm:pt modelId="{2B102F27-AD70-4135-9158-4E15606A314D}" type="pres">
      <dgm:prSet presAssocID="{D2264B91-699F-49A0-9FFA-6C0CCA2A7C80}" presName="background2" presStyleLbl="node2" presStyleIdx="1" presStyleCnt="2"/>
      <dgm:spPr/>
    </dgm:pt>
    <dgm:pt modelId="{6952A5B5-D156-4AA0-8C86-A0AA4980AFC2}" type="pres">
      <dgm:prSet presAssocID="{D2264B91-699F-49A0-9FFA-6C0CCA2A7C80}" presName="text2" presStyleLbl="fgAcc2" presStyleIdx="1" presStyleCnt="2">
        <dgm:presLayoutVars>
          <dgm:chPref val="3"/>
        </dgm:presLayoutVars>
      </dgm:prSet>
      <dgm:spPr/>
      <dgm:t>
        <a:bodyPr/>
        <a:lstStyle/>
        <a:p>
          <a:endParaRPr lang="en-US"/>
        </a:p>
      </dgm:t>
    </dgm:pt>
    <dgm:pt modelId="{971B2A8C-0F61-431C-B9A8-C7A5842C7A16}" type="pres">
      <dgm:prSet presAssocID="{D2264B91-699F-49A0-9FFA-6C0CCA2A7C80}" presName="hierChild3" presStyleCnt="0"/>
      <dgm:spPr/>
    </dgm:pt>
    <dgm:pt modelId="{D1952042-1375-4E98-A307-7B062BBF620F}" type="pres">
      <dgm:prSet presAssocID="{1544B6E4-E7EE-4AF0-9E91-2ABF3937FBB4}" presName="Name17" presStyleLbl="parChTrans1D3" presStyleIdx="2" presStyleCnt="4"/>
      <dgm:spPr/>
      <dgm:t>
        <a:bodyPr/>
        <a:lstStyle/>
        <a:p>
          <a:endParaRPr lang="en-US"/>
        </a:p>
      </dgm:t>
    </dgm:pt>
    <dgm:pt modelId="{B937B0A3-693C-4F47-87D4-98A7EE7A2183}" type="pres">
      <dgm:prSet presAssocID="{0EF63A1C-B734-4E02-84F9-BBDD5A76FEF6}" presName="hierRoot3" presStyleCnt="0"/>
      <dgm:spPr/>
    </dgm:pt>
    <dgm:pt modelId="{CA78ADD7-1A68-4E99-922E-0D9F145816DA}" type="pres">
      <dgm:prSet presAssocID="{0EF63A1C-B734-4E02-84F9-BBDD5A76FEF6}" presName="composite3" presStyleCnt="0"/>
      <dgm:spPr/>
    </dgm:pt>
    <dgm:pt modelId="{4F76F2E8-DC22-412C-9878-20B772C999FC}" type="pres">
      <dgm:prSet presAssocID="{0EF63A1C-B734-4E02-84F9-BBDD5A76FEF6}" presName="background3" presStyleLbl="node3" presStyleIdx="2" presStyleCnt="4"/>
      <dgm:spPr/>
    </dgm:pt>
    <dgm:pt modelId="{9B62BA52-4F30-4AA0-A99C-A978AC8E9A08}" type="pres">
      <dgm:prSet presAssocID="{0EF63A1C-B734-4E02-84F9-BBDD5A76FEF6}" presName="text3" presStyleLbl="fgAcc3" presStyleIdx="2" presStyleCnt="4">
        <dgm:presLayoutVars>
          <dgm:chPref val="3"/>
        </dgm:presLayoutVars>
      </dgm:prSet>
      <dgm:spPr/>
      <dgm:t>
        <a:bodyPr/>
        <a:lstStyle/>
        <a:p>
          <a:endParaRPr lang="en-US"/>
        </a:p>
      </dgm:t>
    </dgm:pt>
    <dgm:pt modelId="{366BDB26-8A30-4E0A-B50B-7EE09F9E1A39}" type="pres">
      <dgm:prSet presAssocID="{0EF63A1C-B734-4E02-84F9-BBDD5A76FEF6}" presName="hierChild4" presStyleCnt="0"/>
      <dgm:spPr/>
    </dgm:pt>
    <dgm:pt modelId="{5D76F35D-E6DE-418A-8F7A-64FDC0E82A69}" type="pres">
      <dgm:prSet presAssocID="{0102B7CC-2A07-4D56-BA17-42F584B48D8F}" presName="Name23" presStyleLbl="parChTrans1D4" presStyleIdx="0" presStyleCnt="5"/>
      <dgm:spPr/>
      <dgm:t>
        <a:bodyPr/>
        <a:lstStyle/>
        <a:p>
          <a:endParaRPr lang="en-US"/>
        </a:p>
      </dgm:t>
    </dgm:pt>
    <dgm:pt modelId="{F1DE0E51-1F62-434D-9194-E8FB0DD50687}" type="pres">
      <dgm:prSet presAssocID="{A6F67CA6-7087-4B51-B927-B5BBD560ABCA}" presName="hierRoot4" presStyleCnt="0"/>
      <dgm:spPr/>
    </dgm:pt>
    <dgm:pt modelId="{F50B2360-A657-44DB-87F6-17A002AB9027}" type="pres">
      <dgm:prSet presAssocID="{A6F67CA6-7087-4B51-B927-B5BBD560ABCA}" presName="composite4" presStyleCnt="0"/>
      <dgm:spPr/>
    </dgm:pt>
    <dgm:pt modelId="{D94F6C87-5317-4B2B-82D2-616E9E301A31}" type="pres">
      <dgm:prSet presAssocID="{A6F67CA6-7087-4B51-B927-B5BBD560ABCA}" presName="background4" presStyleLbl="node4" presStyleIdx="0" presStyleCnt="5"/>
      <dgm:spPr/>
    </dgm:pt>
    <dgm:pt modelId="{F20E05E8-98DE-4B84-8B1A-F10911B9A4C6}" type="pres">
      <dgm:prSet presAssocID="{A6F67CA6-7087-4B51-B927-B5BBD560ABCA}" presName="text4" presStyleLbl="fgAcc4" presStyleIdx="0" presStyleCnt="5">
        <dgm:presLayoutVars>
          <dgm:chPref val="3"/>
        </dgm:presLayoutVars>
      </dgm:prSet>
      <dgm:spPr/>
      <dgm:t>
        <a:bodyPr/>
        <a:lstStyle/>
        <a:p>
          <a:endParaRPr lang="en-US"/>
        </a:p>
      </dgm:t>
    </dgm:pt>
    <dgm:pt modelId="{04A9687F-2AA0-4002-9704-EF7A9B5071C5}" type="pres">
      <dgm:prSet presAssocID="{A6F67CA6-7087-4B51-B927-B5BBD560ABCA}" presName="hierChild5" presStyleCnt="0"/>
      <dgm:spPr/>
    </dgm:pt>
    <dgm:pt modelId="{D145ECD4-93EC-499B-9178-0A8EF2FE6708}" type="pres">
      <dgm:prSet presAssocID="{23DB236C-7432-42B3-AD3B-9EFF5FE742BF}" presName="Name23" presStyleLbl="parChTrans1D4" presStyleIdx="1" presStyleCnt="5"/>
      <dgm:spPr/>
      <dgm:t>
        <a:bodyPr/>
        <a:lstStyle/>
        <a:p>
          <a:endParaRPr lang="en-US"/>
        </a:p>
      </dgm:t>
    </dgm:pt>
    <dgm:pt modelId="{2A196C53-C48F-40D2-9369-EBB025F7CAB0}" type="pres">
      <dgm:prSet presAssocID="{21DA303B-0883-4F8D-B52E-8334BB91654F}" presName="hierRoot4" presStyleCnt="0"/>
      <dgm:spPr/>
    </dgm:pt>
    <dgm:pt modelId="{E65458A2-FE99-4774-8F14-F2970826EB5D}" type="pres">
      <dgm:prSet presAssocID="{21DA303B-0883-4F8D-B52E-8334BB91654F}" presName="composite4" presStyleCnt="0"/>
      <dgm:spPr/>
    </dgm:pt>
    <dgm:pt modelId="{99C7340D-6643-4E11-89D4-5AD8A7E22B8D}" type="pres">
      <dgm:prSet presAssocID="{21DA303B-0883-4F8D-B52E-8334BB91654F}" presName="background4" presStyleLbl="node4" presStyleIdx="1" presStyleCnt="5"/>
      <dgm:spPr/>
    </dgm:pt>
    <dgm:pt modelId="{AD399C43-145D-43D0-B88A-8736ED8C28B5}" type="pres">
      <dgm:prSet presAssocID="{21DA303B-0883-4F8D-B52E-8334BB91654F}" presName="text4" presStyleLbl="fgAcc4" presStyleIdx="1" presStyleCnt="5">
        <dgm:presLayoutVars>
          <dgm:chPref val="3"/>
        </dgm:presLayoutVars>
      </dgm:prSet>
      <dgm:spPr/>
      <dgm:t>
        <a:bodyPr/>
        <a:lstStyle/>
        <a:p>
          <a:endParaRPr lang="en-US"/>
        </a:p>
      </dgm:t>
    </dgm:pt>
    <dgm:pt modelId="{68007693-870D-40CF-A464-E1BBEB848B3D}" type="pres">
      <dgm:prSet presAssocID="{21DA303B-0883-4F8D-B52E-8334BB91654F}" presName="hierChild5" presStyleCnt="0"/>
      <dgm:spPr/>
    </dgm:pt>
    <dgm:pt modelId="{E018ADC2-A1E0-4B5D-9EF2-ABB1F83116C6}" type="pres">
      <dgm:prSet presAssocID="{699672D2-7CC5-44F7-BF6D-57CB27E4FDDE}" presName="Name23" presStyleLbl="parChTrans1D4" presStyleIdx="2" presStyleCnt="5"/>
      <dgm:spPr/>
      <dgm:t>
        <a:bodyPr/>
        <a:lstStyle/>
        <a:p>
          <a:endParaRPr lang="en-US"/>
        </a:p>
      </dgm:t>
    </dgm:pt>
    <dgm:pt modelId="{12D6202A-89A9-4B1B-AA0C-7747B5904A02}" type="pres">
      <dgm:prSet presAssocID="{E95EDEC0-3F13-49FB-834C-CD39C92B6290}" presName="hierRoot4" presStyleCnt="0"/>
      <dgm:spPr/>
    </dgm:pt>
    <dgm:pt modelId="{6E9EE8E1-1387-4654-9EC9-CA986EC73F54}" type="pres">
      <dgm:prSet presAssocID="{E95EDEC0-3F13-49FB-834C-CD39C92B6290}" presName="composite4" presStyleCnt="0"/>
      <dgm:spPr/>
    </dgm:pt>
    <dgm:pt modelId="{A6FFE2F9-BD39-443A-9D32-687E2CAA1C65}" type="pres">
      <dgm:prSet presAssocID="{E95EDEC0-3F13-49FB-834C-CD39C92B6290}" presName="background4" presStyleLbl="node4" presStyleIdx="2" presStyleCnt="5"/>
      <dgm:spPr/>
    </dgm:pt>
    <dgm:pt modelId="{E8DC985C-085B-4BB6-A608-9315A50D25A5}" type="pres">
      <dgm:prSet presAssocID="{E95EDEC0-3F13-49FB-834C-CD39C92B6290}" presName="text4" presStyleLbl="fgAcc4" presStyleIdx="2" presStyleCnt="5">
        <dgm:presLayoutVars>
          <dgm:chPref val="3"/>
        </dgm:presLayoutVars>
      </dgm:prSet>
      <dgm:spPr/>
      <dgm:t>
        <a:bodyPr/>
        <a:lstStyle/>
        <a:p>
          <a:endParaRPr lang="en-US"/>
        </a:p>
      </dgm:t>
    </dgm:pt>
    <dgm:pt modelId="{60615E2E-2A38-42BA-AFA4-D9C29A2270B4}" type="pres">
      <dgm:prSet presAssocID="{E95EDEC0-3F13-49FB-834C-CD39C92B6290}" presName="hierChild5" presStyleCnt="0"/>
      <dgm:spPr/>
    </dgm:pt>
    <dgm:pt modelId="{3D75012E-8A82-4865-A212-995E5B23B53F}" type="pres">
      <dgm:prSet presAssocID="{2A9606AD-015D-4668-8AAF-C826CC2B513C}" presName="Name17" presStyleLbl="parChTrans1D3" presStyleIdx="3" presStyleCnt="4"/>
      <dgm:spPr/>
      <dgm:t>
        <a:bodyPr/>
        <a:lstStyle/>
        <a:p>
          <a:endParaRPr lang="en-US"/>
        </a:p>
      </dgm:t>
    </dgm:pt>
    <dgm:pt modelId="{6C2A9894-37AC-4DA6-8B3B-29C3BC0508A1}" type="pres">
      <dgm:prSet presAssocID="{2242E98D-9141-418C-81A0-D8F4F5DFD876}" presName="hierRoot3" presStyleCnt="0"/>
      <dgm:spPr/>
    </dgm:pt>
    <dgm:pt modelId="{50872345-3560-412B-A2D4-C6AD4B23C2B0}" type="pres">
      <dgm:prSet presAssocID="{2242E98D-9141-418C-81A0-D8F4F5DFD876}" presName="composite3" presStyleCnt="0"/>
      <dgm:spPr/>
    </dgm:pt>
    <dgm:pt modelId="{924734B9-EF78-48C2-849B-304785CD741B}" type="pres">
      <dgm:prSet presAssocID="{2242E98D-9141-418C-81A0-D8F4F5DFD876}" presName="background3" presStyleLbl="node3" presStyleIdx="3" presStyleCnt="4"/>
      <dgm:spPr/>
    </dgm:pt>
    <dgm:pt modelId="{1415E29B-43D4-44A5-8AA3-469DD797FBF4}" type="pres">
      <dgm:prSet presAssocID="{2242E98D-9141-418C-81A0-D8F4F5DFD876}" presName="text3" presStyleLbl="fgAcc3" presStyleIdx="3" presStyleCnt="4">
        <dgm:presLayoutVars>
          <dgm:chPref val="3"/>
        </dgm:presLayoutVars>
      </dgm:prSet>
      <dgm:spPr/>
      <dgm:t>
        <a:bodyPr/>
        <a:lstStyle/>
        <a:p>
          <a:endParaRPr lang="en-US"/>
        </a:p>
      </dgm:t>
    </dgm:pt>
    <dgm:pt modelId="{CFEFFCF2-CF79-4D6E-9341-B5FB0C539F4D}" type="pres">
      <dgm:prSet presAssocID="{2242E98D-9141-418C-81A0-D8F4F5DFD876}" presName="hierChild4" presStyleCnt="0"/>
      <dgm:spPr/>
    </dgm:pt>
    <dgm:pt modelId="{C4AEFC6E-EE2B-4900-ABDB-41C0A2A11AB5}" type="pres">
      <dgm:prSet presAssocID="{60C737DE-A62A-4166-872B-AF02BB707069}" presName="Name23" presStyleLbl="parChTrans1D4" presStyleIdx="3" presStyleCnt="5"/>
      <dgm:spPr/>
      <dgm:t>
        <a:bodyPr/>
        <a:lstStyle/>
        <a:p>
          <a:endParaRPr lang="en-US"/>
        </a:p>
      </dgm:t>
    </dgm:pt>
    <dgm:pt modelId="{3AD20E24-78BD-4C4F-AD47-1550D0FFD9AA}" type="pres">
      <dgm:prSet presAssocID="{A4BEEBE0-270B-4242-99AF-5B6303CFF81E}" presName="hierRoot4" presStyleCnt="0"/>
      <dgm:spPr/>
    </dgm:pt>
    <dgm:pt modelId="{3E305601-BDB2-4861-A82A-F43150029680}" type="pres">
      <dgm:prSet presAssocID="{A4BEEBE0-270B-4242-99AF-5B6303CFF81E}" presName="composite4" presStyleCnt="0"/>
      <dgm:spPr/>
    </dgm:pt>
    <dgm:pt modelId="{D4A68836-AADE-4DBC-A0B7-A278A20C0F7D}" type="pres">
      <dgm:prSet presAssocID="{A4BEEBE0-270B-4242-99AF-5B6303CFF81E}" presName="background4" presStyleLbl="node4" presStyleIdx="3" presStyleCnt="5"/>
      <dgm:spPr/>
    </dgm:pt>
    <dgm:pt modelId="{841F4723-2A9F-4DEE-8239-DF8932A11B1E}" type="pres">
      <dgm:prSet presAssocID="{A4BEEBE0-270B-4242-99AF-5B6303CFF81E}" presName="text4" presStyleLbl="fgAcc4" presStyleIdx="3" presStyleCnt="5">
        <dgm:presLayoutVars>
          <dgm:chPref val="3"/>
        </dgm:presLayoutVars>
      </dgm:prSet>
      <dgm:spPr/>
      <dgm:t>
        <a:bodyPr/>
        <a:lstStyle/>
        <a:p>
          <a:endParaRPr lang="en-US"/>
        </a:p>
      </dgm:t>
    </dgm:pt>
    <dgm:pt modelId="{4CA04ECB-EF59-47C3-9151-F78FADF2BADB}" type="pres">
      <dgm:prSet presAssocID="{A4BEEBE0-270B-4242-99AF-5B6303CFF81E}" presName="hierChild5" presStyleCnt="0"/>
      <dgm:spPr/>
    </dgm:pt>
    <dgm:pt modelId="{BBEE5186-8C39-4ABB-B2B5-FCFD8B59BF52}" type="pres">
      <dgm:prSet presAssocID="{57480883-0066-4B28-A56B-B6C3D488C5DB}" presName="Name23" presStyleLbl="parChTrans1D4" presStyleIdx="4" presStyleCnt="5"/>
      <dgm:spPr/>
      <dgm:t>
        <a:bodyPr/>
        <a:lstStyle/>
        <a:p>
          <a:endParaRPr lang="en-US"/>
        </a:p>
      </dgm:t>
    </dgm:pt>
    <dgm:pt modelId="{48BDC20E-0CCF-4286-AC59-A72585F69842}" type="pres">
      <dgm:prSet presAssocID="{43825AF3-FED2-478A-B6B1-BDD94BED749D}" presName="hierRoot4" presStyleCnt="0"/>
      <dgm:spPr/>
    </dgm:pt>
    <dgm:pt modelId="{0ABFD2D6-96EB-4250-BCBB-D5768C7B655E}" type="pres">
      <dgm:prSet presAssocID="{43825AF3-FED2-478A-B6B1-BDD94BED749D}" presName="composite4" presStyleCnt="0"/>
      <dgm:spPr/>
    </dgm:pt>
    <dgm:pt modelId="{4B5E4625-6A7A-4868-9A70-854A44350837}" type="pres">
      <dgm:prSet presAssocID="{43825AF3-FED2-478A-B6B1-BDD94BED749D}" presName="background4" presStyleLbl="node4" presStyleIdx="4" presStyleCnt="5"/>
      <dgm:spPr/>
    </dgm:pt>
    <dgm:pt modelId="{E05F15C2-60BB-4609-9F5C-F81658C74E26}" type="pres">
      <dgm:prSet presAssocID="{43825AF3-FED2-478A-B6B1-BDD94BED749D}" presName="text4" presStyleLbl="fgAcc4" presStyleIdx="4" presStyleCnt="5">
        <dgm:presLayoutVars>
          <dgm:chPref val="3"/>
        </dgm:presLayoutVars>
      </dgm:prSet>
      <dgm:spPr/>
      <dgm:t>
        <a:bodyPr/>
        <a:lstStyle/>
        <a:p>
          <a:endParaRPr lang="en-US"/>
        </a:p>
      </dgm:t>
    </dgm:pt>
    <dgm:pt modelId="{0E6FEED8-5D7B-4CF9-8961-F69396E355DD}" type="pres">
      <dgm:prSet presAssocID="{43825AF3-FED2-478A-B6B1-BDD94BED749D}" presName="hierChild5" presStyleCnt="0"/>
      <dgm:spPr/>
    </dgm:pt>
  </dgm:ptLst>
  <dgm:cxnLst>
    <dgm:cxn modelId="{FF3EBDEE-28F4-47B4-BBA6-DED0C5285831}" type="presOf" srcId="{F8128AA2-CEDC-498F-99A1-AB59C57AEE5A}" destId="{A425EA85-1220-4EFD-B211-4850C8BB43E7}" srcOrd="0" destOrd="0" presId="urn:microsoft.com/office/officeart/2005/8/layout/hierarchy1"/>
    <dgm:cxn modelId="{92B364A7-6EED-41FF-9C0C-4BB968389F23}" type="presOf" srcId="{DC90B3F0-9042-4EF9-8524-8E1AD82FA674}" destId="{A28D54F6-E6E9-44D8-87AF-B06D1360A52D}" srcOrd="0" destOrd="0" presId="urn:microsoft.com/office/officeart/2005/8/layout/hierarchy1"/>
    <dgm:cxn modelId="{007C27C9-8F08-4E76-9AA4-297AFE410F6B}" srcId="{D2264B91-699F-49A0-9FFA-6C0CCA2A7C80}" destId="{0EF63A1C-B734-4E02-84F9-BBDD5A76FEF6}" srcOrd="0" destOrd="0" parTransId="{1544B6E4-E7EE-4AF0-9E91-2ABF3937FBB4}" sibTransId="{6484FEC6-6474-4ED9-A1AF-B98B3F3E044D}"/>
    <dgm:cxn modelId="{53766E5A-53C1-43FF-8920-BF4457DBE946}" srcId="{881C0739-7943-44EF-BD76-6A9D4D2B3F27}" destId="{CB3EFC06-DE69-4142-AA73-38B6894872D8}" srcOrd="0" destOrd="0" parTransId="{80842760-F91B-4DAB-A7EC-36915B75A0A7}" sibTransId="{B624454B-2418-4A00-AE2E-208DEC616CAE}"/>
    <dgm:cxn modelId="{D4CFF8DC-E13F-4288-93A6-D0CB3BE04F7B}" type="presOf" srcId="{0102B7CC-2A07-4D56-BA17-42F584B48D8F}" destId="{5D76F35D-E6DE-418A-8F7A-64FDC0E82A69}" srcOrd="0" destOrd="0" presId="urn:microsoft.com/office/officeart/2005/8/layout/hierarchy1"/>
    <dgm:cxn modelId="{97F386D1-6088-40E1-BA95-3EFA088E22D6}" type="presOf" srcId="{60C737DE-A62A-4166-872B-AF02BB707069}" destId="{C4AEFC6E-EE2B-4900-ABDB-41C0A2A11AB5}" srcOrd="0" destOrd="0" presId="urn:microsoft.com/office/officeart/2005/8/layout/hierarchy1"/>
    <dgm:cxn modelId="{5AC37F2F-C907-4327-AD5D-CF33AE03D5E0}" srcId="{CB3EFC06-DE69-4142-AA73-38B6894872D8}" destId="{08F657A8-0649-4EE1-B878-73DE297C7FFE}" srcOrd="0" destOrd="0" parTransId="{2FC053DF-9B88-4A57-9360-82A4DBC16C90}" sibTransId="{73F08E9F-A778-47C3-93FE-DAFCC8D2CB51}"/>
    <dgm:cxn modelId="{3EA54B61-D0E5-4E6E-99C2-24A79FD67D35}" type="presOf" srcId="{E95EDEC0-3F13-49FB-834C-CD39C92B6290}" destId="{E8DC985C-085B-4BB6-A608-9315A50D25A5}" srcOrd="0" destOrd="0" presId="urn:microsoft.com/office/officeart/2005/8/layout/hierarchy1"/>
    <dgm:cxn modelId="{81A4F2B6-9FFD-40FB-A5EA-C6098C518D23}" type="presOf" srcId="{43825AF3-FED2-478A-B6B1-BDD94BED749D}" destId="{E05F15C2-60BB-4609-9F5C-F81658C74E26}" srcOrd="0" destOrd="0" presId="urn:microsoft.com/office/officeart/2005/8/layout/hierarchy1"/>
    <dgm:cxn modelId="{F28D8D46-5A9C-43AA-8B35-4D9DE6E2492B}" type="presOf" srcId="{2FC053DF-9B88-4A57-9360-82A4DBC16C90}" destId="{29003078-F5E9-43E9-989F-0DE3873C6855}" srcOrd="0" destOrd="0" presId="urn:microsoft.com/office/officeart/2005/8/layout/hierarchy1"/>
    <dgm:cxn modelId="{5EEF9C2E-1DFA-44F7-B9A4-742FA2BD3789}" type="presOf" srcId="{A6F67CA6-7087-4B51-B927-B5BBD560ABCA}" destId="{F20E05E8-98DE-4B84-8B1A-F10911B9A4C6}" srcOrd="0" destOrd="0" presId="urn:microsoft.com/office/officeart/2005/8/layout/hierarchy1"/>
    <dgm:cxn modelId="{F45EB5B7-B482-4169-B9FC-C3854EF7B3DA}" type="presOf" srcId="{CB3EFC06-DE69-4142-AA73-38B6894872D8}" destId="{320FD404-409D-4E1F-AEB7-F7D7BD9BE221}" srcOrd="0" destOrd="0" presId="urn:microsoft.com/office/officeart/2005/8/layout/hierarchy1"/>
    <dgm:cxn modelId="{BFD237DF-1B71-4B10-8A14-81853AFF1AB5}" srcId="{0EF63A1C-B734-4E02-84F9-BBDD5A76FEF6}" destId="{A6F67CA6-7087-4B51-B927-B5BBD560ABCA}" srcOrd="0" destOrd="0" parTransId="{0102B7CC-2A07-4D56-BA17-42F584B48D8F}" sibTransId="{E375B44C-93C1-48E5-90FE-2BF969EAACEF}"/>
    <dgm:cxn modelId="{DB949B41-77C1-4FAE-967A-EFE3ECCC05FC}" type="presOf" srcId="{1544B6E4-E7EE-4AF0-9E91-2ABF3937FBB4}" destId="{D1952042-1375-4E98-A307-7B062BBF620F}" srcOrd="0" destOrd="0" presId="urn:microsoft.com/office/officeart/2005/8/layout/hierarchy1"/>
    <dgm:cxn modelId="{6B4A68B0-EA91-4FDB-AB28-53E60A6A1245}" type="presOf" srcId="{699672D2-7CC5-44F7-BF6D-57CB27E4FDDE}" destId="{E018ADC2-A1E0-4B5D-9EF2-ABB1F83116C6}" srcOrd="0" destOrd="0" presId="urn:microsoft.com/office/officeart/2005/8/layout/hierarchy1"/>
    <dgm:cxn modelId="{99011A69-595A-4747-ADE3-9788F0D15879}" type="presOf" srcId="{57480883-0066-4B28-A56B-B6C3D488C5DB}" destId="{BBEE5186-8C39-4ABB-B2B5-FCFD8B59BF52}" srcOrd="0" destOrd="0" presId="urn:microsoft.com/office/officeart/2005/8/layout/hierarchy1"/>
    <dgm:cxn modelId="{8E18FB67-FE96-4106-87E6-F71277405885}" srcId="{2242E98D-9141-418C-81A0-D8F4F5DFD876}" destId="{A4BEEBE0-270B-4242-99AF-5B6303CFF81E}" srcOrd="0" destOrd="0" parTransId="{60C737DE-A62A-4166-872B-AF02BB707069}" sibTransId="{CDBE9535-50A2-4422-A35A-DC3CBA364584}"/>
    <dgm:cxn modelId="{9A2DD2D1-6643-4B8E-BC62-2B6F6488A581}" srcId="{2242E98D-9141-418C-81A0-D8F4F5DFD876}" destId="{43825AF3-FED2-478A-B6B1-BDD94BED749D}" srcOrd="1" destOrd="0" parTransId="{57480883-0066-4B28-A56B-B6C3D488C5DB}" sibTransId="{DA6AC472-28EE-494D-A7D3-E89A4CB5A84F}"/>
    <dgm:cxn modelId="{74EDB11A-8AA7-4171-B5E0-05C9A901D666}" srcId="{881C0739-7943-44EF-BD76-6A9D4D2B3F27}" destId="{D2264B91-699F-49A0-9FFA-6C0CCA2A7C80}" srcOrd="1" destOrd="0" parTransId="{F8128AA2-CEDC-498F-99A1-AB59C57AEE5A}" sibTransId="{37F38100-B321-4E85-8654-56D82029AF19}"/>
    <dgm:cxn modelId="{85B79D95-F3A1-48D2-9532-A03B897EDC0C}" type="presOf" srcId="{D2264B91-699F-49A0-9FFA-6C0CCA2A7C80}" destId="{6952A5B5-D156-4AA0-8C86-A0AA4980AFC2}" srcOrd="0" destOrd="0" presId="urn:microsoft.com/office/officeart/2005/8/layout/hierarchy1"/>
    <dgm:cxn modelId="{7C541D45-CC7C-4C4F-BBB2-BCCE92EFE235}" type="presOf" srcId="{2A9606AD-015D-4668-8AAF-C826CC2B513C}" destId="{3D75012E-8A82-4865-A212-995E5B23B53F}" srcOrd="0" destOrd="0" presId="urn:microsoft.com/office/officeart/2005/8/layout/hierarchy1"/>
    <dgm:cxn modelId="{19AD13F9-15DE-4087-9167-797C393DF165}" type="presOf" srcId="{2242E98D-9141-418C-81A0-D8F4F5DFD876}" destId="{1415E29B-43D4-44A5-8AA3-469DD797FBF4}" srcOrd="0" destOrd="0" presId="urn:microsoft.com/office/officeart/2005/8/layout/hierarchy1"/>
    <dgm:cxn modelId="{445AA3B9-BFFE-4209-A853-87118A836EF2}" type="presOf" srcId="{CC8AE5BF-EE24-466C-83E5-792AC9EB7C97}" destId="{D735E66A-DE2C-4391-974E-5235C3F90876}" srcOrd="0" destOrd="0" presId="urn:microsoft.com/office/officeart/2005/8/layout/hierarchy1"/>
    <dgm:cxn modelId="{19DEA8FA-4B70-4667-B983-D2602842627B}" type="presOf" srcId="{A4BEEBE0-270B-4242-99AF-5B6303CFF81E}" destId="{841F4723-2A9F-4DEE-8239-DF8932A11B1E}" srcOrd="0" destOrd="0" presId="urn:microsoft.com/office/officeart/2005/8/layout/hierarchy1"/>
    <dgm:cxn modelId="{324EFF16-CCF9-449E-A4DC-312F05199E7C}" srcId="{0EF63A1C-B734-4E02-84F9-BBDD5A76FEF6}" destId="{21DA303B-0883-4F8D-B52E-8334BB91654F}" srcOrd="1" destOrd="0" parTransId="{23DB236C-7432-42B3-AD3B-9EFF5FE742BF}" sibTransId="{3B4C10C7-9C2D-46D6-85F8-7EB80D70CDCC}"/>
    <dgm:cxn modelId="{C51512C1-3018-4A78-9E84-793B7A9D1F18}" type="presOf" srcId="{80842760-F91B-4DAB-A7EC-36915B75A0A7}" destId="{7C0469FD-B98E-4637-A481-108F4E50CACB}" srcOrd="0" destOrd="0" presId="urn:microsoft.com/office/officeart/2005/8/layout/hierarchy1"/>
    <dgm:cxn modelId="{3FA1E24C-625F-48AD-94F7-2957D9C566C0}" type="presOf" srcId="{74A34120-397E-4318-BB0A-E225657A770C}" destId="{15B29A14-8A61-4A85-867B-D3DBCE39CD78}" srcOrd="0" destOrd="0" presId="urn:microsoft.com/office/officeart/2005/8/layout/hierarchy1"/>
    <dgm:cxn modelId="{2B87F5DE-EE08-42B4-B514-B61B50A98E81}" srcId="{D2264B91-699F-49A0-9FFA-6C0CCA2A7C80}" destId="{2242E98D-9141-418C-81A0-D8F4F5DFD876}" srcOrd="1" destOrd="0" parTransId="{2A9606AD-015D-4668-8AAF-C826CC2B513C}" sibTransId="{E6866E29-4897-4611-92EE-0E2BD66D9EF8}"/>
    <dgm:cxn modelId="{45BA78C9-C989-4836-9D79-B14412F61244}" srcId="{0EF63A1C-B734-4E02-84F9-BBDD5A76FEF6}" destId="{E95EDEC0-3F13-49FB-834C-CD39C92B6290}" srcOrd="2" destOrd="0" parTransId="{699672D2-7CC5-44F7-BF6D-57CB27E4FDDE}" sibTransId="{43E930DC-A652-4660-9E91-512CBCB5EBEA}"/>
    <dgm:cxn modelId="{ABF4D38A-5D4F-4157-8EE9-E24785CDA8F6}" srcId="{DC90B3F0-9042-4EF9-8524-8E1AD82FA674}" destId="{881C0739-7943-44EF-BD76-6A9D4D2B3F27}" srcOrd="0" destOrd="0" parTransId="{7289CE15-F2EF-4742-B693-516D60776215}" sibTransId="{FA3EA4E0-B896-4B7C-8983-C98AF8D265C2}"/>
    <dgm:cxn modelId="{4EA56FE1-AF13-43F5-8B8D-E11E6574DE33}" type="presOf" srcId="{0EF63A1C-B734-4E02-84F9-BBDD5A76FEF6}" destId="{9B62BA52-4F30-4AA0-A99C-A978AC8E9A08}" srcOrd="0" destOrd="0" presId="urn:microsoft.com/office/officeart/2005/8/layout/hierarchy1"/>
    <dgm:cxn modelId="{A37FFCD4-303B-45AF-8441-C5BD6B64771A}" type="presOf" srcId="{881C0739-7943-44EF-BD76-6A9D4D2B3F27}" destId="{5941A6D5-DD07-4CF9-A9F7-F72748EC608C}" srcOrd="0" destOrd="0" presId="urn:microsoft.com/office/officeart/2005/8/layout/hierarchy1"/>
    <dgm:cxn modelId="{990CAA21-E10E-4DA9-B383-55D7B3C46776}" type="presOf" srcId="{21DA303B-0883-4F8D-B52E-8334BB91654F}" destId="{AD399C43-145D-43D0-B88A-8736ED8C28B5}" srcOrd="0" destOrd="0" presId="urn:microsoft.com/office/officeart/2005/8/layout/hierarchy1"/>
    <dgm:cxn modelId="{5C1E4810-FFAE-4A76-99A3-0DBBA6083CE7}" type="presOf" srcId="{23DB236C-7432-42B3-AD3B-9EFF5FE742BF}" destId="{D145ECD4-93EC-499B-9178-0A8EF2FE6708}" srcOrd="0" destOrd="0" presId="urn:microsoft.com/office/officeart/2005/8/layout/hierarchy1"/>
    <dgm:cxn modelId="{DF8437B7-A22C-4534-90D2-DB696F03DD81}" srcId="{CB3EFC06-DE69-4142-AA73-38B6894872D8}" destId="{74A34120-397E-4318-BB0A-E225657A770C}" srcOrd="1" destOrd="0" parTransId="{CC8AE5BF-EE24-466C-83E5-792AC9EB7C97}" sibTransId="{1101559F-1E66-4334-B955-C39CD3B7E068}"/>
    <dgm:cxn modelId="{46E55795-FE37-474C-BDDC-0BF62C32DB54}" type="presOf" srcId="{08F657A8-0649-4EE1-B878-73DE297C7FFE}" destId="{31744D33-82A3-44AA-AD62-5DC4D6AF031C}" srcOrd="0" destOrd="0" presId="urn:microsoft.com/office/officeart/2005/8/layout/hierarchy1"/>
    <dgm:cxn modelId="{EB9EC76B-7600-44BD-9926-029AEE3737E3}" type="presParOf" srcId="{A28D54F6-E6E9-44D8-87AF-B06D1360A52D}" destId="{29736180-43D6-4D56-A974-FA10F8B5F9A2}" srcOrd="0" destOrd="0" presId="urn:microsoft.com/office/officeart/2005/8/layout/hierarchy1"/>
    <dgm:cxn modelId="{4D8B4FE2-C9FE-4B7F-BE6F-EF101B5F0FD7}" type="presParOf" srcId="{29736180-43D6-4D56-A974-FA10F8B5F9A2}" destId="{612247BE-AAE9-4FDD-B392-BBFEFD51FA7A}" srcOrd="0" destOrd="0" presId="urn:microsoft.com/office/officeart/2005/8/layout/hierarchy1"/>
    <dgm:cxn modelId="{4A556572-7992-46C7-AFEC-8C771829C3A5}" type="presParOf" srcId="{612247BE-AAE9-4FDD-B392-BBFEFD51FA7A}" destId="{25B37764-B936-4A82-941E-933050CE1DD0}" srcOrd="0" destOrd="0" presId="urn:microsoft.com/office/officeart/2005/8/layout/hierarchy1"/>
    <dgm:cxn modelId="{13E7B447-670B-4456-AF00-357964AFACC9}" type="presParOf" srcId="{612247BE-AAE9-4FDD-B392-BBFEFD51FA7A}" destId="{5941A6D5-DD07-4CF9-A9F7-F72748EC608C}" srcOrd="1" destOrd="0" presId="urn:microsoft.com/office/officeart/2005/8/layout/hierarchy1"/>
    <dgm:cxn modelId="{448FACC3-01F6-40CC-8347-B18E094D7FDB}" type="presParOf" srcId="{29736180-43D6-4D56-A974-FA10F8B5F9A2}" destId="{73784BDC-A0B0-45F3-9C49-C671A54E6600}" srcOrd="1" destOrd="0" presId="urn:microsoft.com/office/officeart/2005/8/layout/hierarchy1"/>
    <dgm:cxn modelId="{19727D40-EDE4-4706-A2F6-91F4F8E02B4C}" type="presParOf" srcId="{73784BDC-A0B0-45F3-9C49-C671A54E6600}" destId="{7C0469FD-B98E-4637-A481-108F4E50CACB}" srcOrd="0" destOrd="0" presId="urn:microsoft.com/office/officeart/2005/8/layout/hierarchy1"/>
    <dgm:cxn modelId="{1EA03CCF-32ED-4AD3-B7F1-329073A68D12}" type="presParOf" srcId="{73784BDC-A0B0-45F3-9C49-C671A54E6600}" destId="{163CE9A9-1FD3-45F3-9D23-5DADA79788C4}" srcOrd="1" destOrd="0" presId="urn:microsoft.com/office/officeart/2005/8/layout/hierarchy1"/>
    <dgm:cxn modelId="{740A65FB-539F-45B7-818A-7E1FC84C15DE}" type="presParOf" srcId="{163CE9A9-1FD3-45F3-9D23-5DADA79788C4}" destId="{B408B492-B770-49B9-A09B-0A833743E876}" srcOrd="0" destOrd="0" presId="urn:microsoft.com/office/officeart/2005/8/layout/hierarchy1"/>
    <dgm:cxn modelId="{7B14E64C-45B6-4F7B-B610-F188A1493550}" type="presParOf" srcId="{B408B492-B770-49B9-A09B-0A833743E876}" destId="{EA12A5BA-5FFC-45F1-B49F-FCEF2A07016E}" srcOrd="0" destOrd="0" presId="urn:microsoft.com/office/officeart/2005/8/layout/hierarchy1"/>
    <dgm:cxn modelId="{851811F2-DBA0-4A9A-95D5-35D959F4E6DF}" type="presParOf" srcId="{B408B492-B770-49B9-A09B-0A833743E876}" destId="{320FD404-409D-4E1F-AEB7-F7D7BD9BE221}" srcOrd="1" destOrd="0" presId="urn:microsoft.com/office/officeart/2005/8/layout/hierarchy1"/>
    <dgm:cxn modelId="{0D6E1FFC-4007-4D2D-800D-8B935CC94944}" type="presParOf" srcId="{163CE9A9-1FD3-45F3-9D23-5DADA79788C4}" destId="{4E471225-742C-4203-95CD-2D98C2F6751B}" srcOrd="1" destOrd="0" presId="urn:microsoft.com/office/officeart/2005/8/layout/hierarchy1"/>
    <dgm:cxn modelId="{685FF57D-CDB1-44F7-B296-1EB23051486C}" type="presParOf" srcId="{4E471225-742C-4203-95CD-2D98C2F6751B}" destId="{29003078-F5E9-43E9-989F-0DE3873C6855}" srcOrd="0" destOrd="0" presId="urn:microsoft.com/office/officeart/2005/8/layout/hierarchy1"/>
    <dgm:cxn modelId="{E7140796-BB62-4E92-88CA-6AAE06B309D4}" type="presParOf" srcId="{4E471225-742C-4203-95CD-2D98C2F6751B}" destId="{08F32115-873D-47EE-BC14-5C5D100265AB}" srcOrd="1" destOrd="0" presId="urn:microsoft.com/office/officeart/2005/8/layout/hierarchy1"/>
    <dgm:cxn modelId="{231FF157-736C-4A7A-9B43-AD5FA690C3E0}" type="presParOf" srcId="{08F32115-873D-47EE-BC14-5C5D100265AB}" destId="{36EC643A-E064-460F-831B-85EB2B2588AC}" srcOrd="0" destOrd="0" presId="urn:microsoft.com/office/officeart/2005/8/layout/hierarchy1"/>
    <dgm:cxn modelId="{EF84EB23-EC4F-49D2-A05F-4CD8FABDA8CF}" type="presParOf" srcId="{36EC643A-E064-460F-831B-85EB2B2588AC}" destId="{2C673FAB-0977-4995-B93B-5B834DB770C4}" srcOrd="0" destOrd="0" presId="urn:microsoft.com/office/officeart/2005/8/layout/hierarchy1"/>
    <dgm:cxn modelId="{F1BBCA5E-71E5-4BE8-83D0-EE00FB446F1A}" type="presParOf" srcId="{36EC643A-E064-460F-831B-85EB2B2588AC}" destId="{31744D33-82A3-44AA-AD62-5DC4D6AF031C}" srcOrd="1" destOrd="0" presId="urn:microsoft.com/office/officeart/2005/8/layout/hierarchy1"/>
    <dgm:cxn modelId="{66216529-6514-4749-A117-9D54BCE008EF}" type="presParOf" srcId="{08F32115-873D-47EE-BC14-5C5D100265AB}" destId="{03CCF983-3DF4-42A5-9F76-889946B37B9F}" srcOrd="1" destOrd="0" presId="urn:microsoft.com/office/officeart/2005/8/layout/hierarchy1"/>
    <dgm:cxn modelId="{7F2DD0F5-77C2-4566-9D03-3852F0FA83C8}" type="presParOf" srcId="{4E471225-742C-4203-95CD-2D98C2F6751B}" destId="{D735E66A-DE2C-4391-974E-5235C3F90876}" srcOrd="2" destOrd="0" presId="urn:microsoft.com/office/officeart/2005/8/layout/hierarchy1"/>
    <dgm:cxn modelId="{4E3B1273-56D6-480B-8065-E30112419BB4}" type="presParOf" srcId="{4E471225-742C-4203-95CD-2D98C2F6751B}" destId="{2529119F-ECAF-45BD-8C46-EDCEFF5B22B0}" srcOrd="3" destOrd="0" presId="urn:microsoft.com/office/officeart/2005/8/layout/hierarchy1"/>
    <dgm:cxn modelId="{1ACAA401-F904-404C-8B7C-E5B5D84F4C60}" type="presParOf" srcId="{2529119F-ECAF-45BD-8C46-EDCEFF5B22B0}" destId="{2EB52BC5-D5F9-4CCF-B410-900985090E1A}" srcOrd="0" destOrd="0" presId="urn:microsoft.com/office/officeart/2005/8/layout/hierarchy1"/>
    <dgm:cxn modelId="{5E7A6D83-4E52-4B66-ACE0-04885BA21713}" type="presParOf" srcId="{2EB52BC5-D5F9-4CCF-B410-900985090E1A}" destId="{DF180794-925B-4AB1-9E13-C12518871128}" srcOrd="0" destOrd="0" presId="urn:microsoft.com/office/officeart/2005/8/layout/hierarchy1"/>
    <dgm:cxn modelId="{77D3E547-05C2-4DC4-B4BE-DF64BE410FF5}" type="presParOf" srcId="{2EB52BC5-D5F9-4CCF-B410-900985090E1A}" destId="{15B29A14-8A61-4A85-867B-D3DBCE39CD78}" srcOrd="1" destOrd="0" presId="urn:microsoft.com/office/officeart/2005/8/layout/hierarchy1"/>
    <dgm:cxn modelId="{9D53A023-078A-4E60-9063-203956AA351E}" type="presParOf" srcId="{2529119F-ECAF-45BD-8C46-EDCEFF5B22B0}" destId="{DB20AE81-ADE2-41A5-B977-92194284A3C9}" srcOrd="1" destOrd="0" presId="urn:microsoft.com/office/officeart/2005/8/layout/hierarchy1"/>
    <dgm:cxn modelId="{654AE26B-4A08-40DA-89B0-7096423BF393}" type="presParOf" srcId="{73784BDC-A0B0-45F3-9C49-C671A54E6600}" destId="{A425EA85-1220-4EFD-B211-4850C8BB43E7}" srcOrd="2" destOrd="0" presId="urn:microsoft.com/office/officeart/2005/8/layout/hierarchy1"/>
    <dgm:cxn modelId="{BA112702-F54B-41A9-BFB1-F06B37D4C8FD}" type="presParOf" srcId="{73784BDC-A0B0-45F3-9C49-C671A54E6600}" destId="{1CC155A2-2085-4F19-9880-AE01A039AFF3}" srcOrd="3" destOrd="0" presId="urn:microsoft.com/office/officeart/2005/8/layout/hierarchy1"/>
    <dgm:cxn modelId="{59925601-89B2-4B6B-8C91-8DFF37432880}" type="presParOf" srcId="{1CC155A2-2085-4F19-9880-AE01A039AFF3}" destId="{394FD2C6-3AC4-4307-893F-485C0184B247}" srcOrd="0" destOrd="0" presId="urn:microsoft.com/office/officeart/2005/8/layout/hierarchy1"/>
    <dgm:cxn modelId="{2AEEC29C-EA94-4F4F-9290-FE86D104D57C}" type="presParOf" srcId="{394FD2C6-3AC4-4307-893F-485C0184B247}" destId="{2B102F27-AD70-4135-9158-4E15606A314D}" srcOrd="0" destOrd="0" presId="urn:microsoft.com/office/officeart/2005/8/layout/hierarchy1"/>
    <dgm:cxn modelId="{4BF2B2A1-C531-4806-AC58-5F703E9575D4}" type="presParOf" srcId="{394FD2C6-3AC4-4307-893F-485C0184B247}" destId="{6952A5B5-D156-4AA0-8C86-A0AA4980AFC2}" srcOrd="1" destOrd="0" presId="urn:microsoft.com/office/officeart/2005/8/layout/hierarchy1"/>
    <dgm:cxn modelId="{08D1C2BB-8828-4C98-875E-0BDF263733C6}" type="presParOf" srcId="{1CC155A2-2085-4F19-9880-AE01A039AFF3}" destId="{971B2A8C-0F61-431C-B9A8-C7A5842C7A16}" srcOrd="1" destOrd="0" presId="urn:microsoft.com/office/officeart/2005/8/layout/hierarchy1"/>
    <dgm:cxn modelId="{B6CEDAF3-A55B-40ED-8185-31B2811E51D0}" type="presParOf" srcId="{971B2A8C-0F61-431C-B9A8-C7A5842C7A16}" destId="{D1952042-1375-4E98-A307-7B062BBF620F}" srcOrd="0" destOrd="0" presId="urn:microsoft.com/office/officeart/2005/8/layout/hierarchy1"/>
    <dgm:cxn modelId="{FD70679B-267C-4B44-A5A8-7730937BD110}" type="presParOf" srcId="{971B2A8C-0F61-431C-B9A8-C7A5842C7A16}" destId="{B937B0A3-693C-4F47-87D4-98A7EE7A2183}" srcOrd="1" destOrd="0" presId="urn:microsoft.com/office/officeart/2005/8/layout/hierarchy1"/>
    <dgm:cxn modelId="{3B6BF209-46AB-48A2-A3A8-169221EBBC21}" type="presParOf" srcId="{B937B0A3-693C-4F47-87D4-98A7EE7A2183}" destId="{CA78ADD7-1A68-4E99-922E-0D9F145816DA}" srcOrd="0" destOrd="0" presId="urn:microsoft.com/office/officeart/2005/8/layout/hierarchy1"/>
    <dgm:cxn modelId="{087F6583-47CC-434F-AF09-C692FEB34DB4}" type="presParOf" srcId="{CA78ADD7-1A68-4E99-922E-0D9F145816DA}" destId="{4F76F2E8-DC22-412C-9878-20B772C999FC}" srcOrd="0" destOrd="0" presId="urn:microsoft.com/office/officeart/2005/8/layout/hierarchy1"/>
    <dgm:cxn modelId="{BA21935E-81BB-4297-A3A0-FE217CAE7EDD}" type="presParOf" srcId="{CA78ADD7-1A68-4E99-922E-0D9F145816DA}" destId="{9B62BA52-4F30-4AA0-A99C-A978AC8E9A08}" srcOrd="1" destOrd="0" presId="urn:microsoft.com/office/officeart/2005/8/layout/hierarchy1"/>
    <dgm:cxn modelId="{743D3E27-5F4B-4BC8-BFD0-36A7934F2EED}" type="presParOf" srcId="{B937B0A3-693C-4F47-87D4-98A7EE7A2183}" destId="{366BDB26-8A30-4E0A-B50B-7EE09F9E1A39}" srcOrd="1" destOrd="0" presId="urn:microsoft.com/office/officeart/2005/8/layout/hierarchy1"/>
    <dgm:cxn modelId="{C2B05AC5-297E-4E42-AFC3-F59588FE06C7}" type="presParOf" srcId="{366BDB26-8A30-4E0A-B50B-7EE09F9E1A39}" destId="{5D76F35D-E6DE-418A-8F7A-64FDC0E82A69}" srcOrd="0" destOrd="0" presId="urn:microsoft.com/office/officeart/2005/8/layout/hierarchy1"/>
    <dgm:cxn modelId="{9A2F4666-5AB7-48CA-A8B3-9CB8103473DC}" type="presParOf" srcId="{366BDB26-8A30-4E0A-B50B-7EE09F9E1A39}" destId="{F1DE0E51-1F62-434D-9194-E8FB0DD50687}" srcOrd="1" destOrd="0" presId="urn:microsoft.com/office/officeart/2005/8/layout/hierarchy1"/>
    <dgm:cxn modelId="{011158CE-A553-4A6B-8B04-DFF9BB3B402A}" type="presParOf" srcId="{F1DE0E51-1F62-434D-9194-E8FB0DD50687}" destId="{F50B2360-A657-44DB-87F6-17A002AB9027}" srcOrd="0" destOrd="0" presId="urn:microsoft.com/office/officeart/2005/8/layout/hierarchy1"/>
    <dgm:cxn modelId="{CC4D16B3-8441-4A5D-8740-E44B5944E251}" type="presParOf" srcId="{F50B2360-A657-44DB-87F6-17A002AB9027}" destId="{D94F6C87-5317-4B2B-82D2-616E9E301A31}" srcOrd="0" destOrd="0" presId="urn:microsoft.com/office/officeart/2005/8/layout/hierarchy1"/>
    <dgm:cxn modelId="{0BE314B8-8A12-4E3E-9887-EC3D79485597}" type="presParOf" srcId="{F50B2360-A657-44DB-87F6-17A002AB9027}" destId="{F20E05E8-98DE-4B84-8B1A-F10911B9A4C6}" srcOrd="1" destOrd="0" presId="urn:microsoft.com/office/officeart/2005/8/layout/hierarchy1"/>
    <dgm:cxn modelId="{5EDEF7E3-F5C6-4DBF-AC9B-57F4D4B398F2}" type="presParOf" srcId="{F1DE0E51-1F62-434D-9194-E8FB0DD50687}" destId="{04A9687F-2AA0-4002-9704-EF7A9B5071C5}" srcOrd="1" destOrd="0" presId="urn:microsoft.com/office/officeart/2005/8/layout/hierarchy1"/>
    <dgm:cxn modelId="{F6A56107-6679-441F-BBE5-6D6832564CF4}" type="presParOf" srcId="{366BDB26-8A30-4E0A-B50B-7EE09F9E1A39}" destId="{D145ECD4-93EC-499B-9178-0A8EF2FE6708}" srcOrd="2" destOrd="0" presId="urn:microsoft.com/office/officeart/2005/8/layout/hierarchy1"/>
    <dgm:cxn modelId="{270B6794-92DB-44D2-82CC-EE9554652857}" type="presParOf" srcId="{366BDB26-8A30-4E0A-B50B-7EE09F9E1A39}" destId="{2A196C53-C48F-40D2-9369-EBB025F7CAB0}" srcOrd="3" destOrd="0" presId="urn:microsoft.com/office/officeart/2005/8/layout/hierarchy1"/>
    <dgm:cxn modelId="{8623A874-8615-421F-B061-CD568E839ACB}" type="presParOf" srcId="{2A196C53-C48F-40D2-9369-EBB025F7CAB0}" destId="{E65458A2-FE99-4774-8F14-F2970826EB5D}" srcOrd="0" destOrd="0" presId="urn:microsoft.com/office/officeart/2005/8/layout/hierarchy1"/>
    <dgm:cxn modelId="{372F39C4-868B-4DC6-BB14-CFCEB6D2434D}" type="presParOf" srcId="{E65458A2-FE99-4774-8F14-F2970826EB5D}" destId="{99C7340D-6643-4E11-89D4-5AD8A7E22B8D}" srcOrd="0" destOrd="0" presId="urn:microsoft.com/office/officeart/2005/8/layout/hierarchy1"/>
    <dgm:cxn modelId="{D1BEE8D7-9827-46F8-95BF-FE7E64E6F92B}" type="presParOf" srcId="{E65458A2-FE99-4774-8F14-F2970826EB5D}" destId="{AD399C43-145D-43D0-B88A-8736ED8C28B5}" srcOrd="1" destOrd="0" presId="urn:microsoft.com/office/officeart/2005/8/layout/hierarchy1"/>
    <dgm:cxn modelId="{EB3C0634-F36B-47EE-BE0E-65501EBDCB4F}" type="presParOf" srcId="{2A196C53-C48F-40D2-9369-EBB025F7CAB0}" destId="{68007693-870D-40CF-A464-E1BBEB848B3D}" srcOrd="1" destOrd="0" presId="urn:microsoft.com/office/officeart/2005/8/layout/hierarchy1"/>
    <dgm:cxn modelId="{AB22E284-AF6F-448A-A873-E8622EFDAEF3}" type="presParOf" srcId="{366BDB26-8A30-4E0A-B50B-7EE09F9E1A39}" destId="{E018ADC2-A1E0-4B5D-9EF2-ABB1F83116C6}" srcOrd="4" destOrd="0" presId="urn:microsoft.com/office/officeart/2005/8/layout/hierarchy1"/>
    <dgm:cxn modelId="{259F2816-7C5E-41CC-8B44-ED47AC379B57}" type="presParOf" srcId="{366BDB26-8A30-4E0A-B50B-7EE09F9E1A39}" destId="{12D6202A-89A9-4B1B-AA0C-7747B5904A02}" srcOrd="5" destOrd="0" presId="urn:microsoft.com/office/officeart/2005/8/layout/hierarchy1"/>
    <dgm:cxn modelId="{D1DEFF74-5BDD-4699-825D-4EB9710CC9DD}" type="presParOf" srcId="{12D6202A-89A9-4B1B-AA0C-7747B5904A02}" destId="{6E9EE8E1-1387-4654-9EC9-CA986EC73F54}" srcOrd="0" destOrd="0" presId="urn:microsoft.com/office/officeart/2005/8/layout/hierarchy1"/>
    <dgm:cxn modelId="{A1C21830-AC88-4622-B29E-C7F11568DF75}" type="presParOf" srcId="{6E9EE8E1-1387-4654-9EC9-CA986EC73F54}" destId="{A6FFE2F9-BD39-443A-9D32-687E2CAA1C65}" srcOrd="0" destOrd="0" presId="urn:microsoft.com/office/officeart/2005/8/layout/hierarchy1"/>
    <dgm:cxn modelId="{3CE95D58-6A28-40EE-8A75-DFE7A3DD48BF}" type="presParOf" srcId="{6E9EE8E1-1387-4654-9EC9-CA986EC73F54}" destId="{E8DC985C-085B-4BB6-A608-9315A50D25A5}" srcOrd="1" destOrd="0" presId="urn:microsoft.com/office/officeart/2005/8/layout/hierarchy1"/>
    <dgm:cxn modelId="{DB1E9489-A674-4F78-8294-1AD8AC030E9A}" type="presParOf" srcId="{12D6202A-89A9-4B1B-AA0C-7747B5904A02}" destId="{60615E2E-2A38-42BA-AFA4-D9C29A2270B4}" srcOrd="1" destOrd="0" presId="urn:microsoft.com/office/officeart/2005/8/layout/hierarchy1"/>
    <dgm:cxn modelId="{B8CFFF3E-FD7E-4A5F-B0C4-043DB156133C}" type="presParOf" srcId="{971B2A8C-0F61-431C-B9A8-C7A5842C7A16}" destId="{3D75012E-8A82-4865-A212-995E5B23B53F}" srcOrd="2" destOrd="0" presId="urn:microsoft.com/office/officeart/2005/8/layout/hierarchy1"/>
    <dgm:cxn modelId="{AC373C08-5E48-4A60-95C6-9C328975FC61}" type="presParOf" srcId="{971B2A8C-0F61-431C-B9A8-C7A5842C7A16}" destId="{6C2A9894-37AC-4DA6-8B3B-29C3BC0508A1}" srcOrd="3" destOrd="0" presId="urn:microsoft.com/office/officeart/2005/8/layout/hierarchy1"/>
    <dgm:cxn modelId="{F2C31BB6-FC5D-48CA-8964-E4B25AB9CF28}" type="presParOf" srcId="{6C2A9894-37AC-4DA6-8B3B-29C3BC0508A1}" destId="{50872345-3560-412B-A2D4-C6AD4B23C2B0}" srcOrd="0" destOrd="0" presId="urn:microsoft.com/office/officeart/2005/8/layout/hierarchy1"/>
    <dgm:cxn modelId="{5E7057D9-9B5E-4B83-AEF0-520EB25174ED}" type="presParOf" srcId="{50872345-3560-412B-A2D4-C6AD4B23C2B0}" destId="{924734B9-EF78-48C2-849B-304785CD741B}" srcOrd="0" destOrd="0" presId="urn:microsoft.com/office/officeart/2005/8/layout/hierarchy1"/>
    <dgm:cxn modelId="{6D315323-CE9B-48B5-80F1-157E2295BA0F}" type="presParOf" srcId="{50872345-3560-412B-A2D4-C6AD4B23C2B0}" destId="{1415E29B-43D4-44A5-8AA3-469DD797FBF4}" srcOrd="1" destOrd="0" presId="urn:microsoft.com/office/officeart/2005/8/layout/hierarchy1"/>
    <dgm:cxn modelId="{3787212D-5378-4B67-9A36-10B51F9E0581}" type="presParOf" srcId="{6C2A9894-37AC-4DA6-8B3B-29C3BC0508A1}" destId="{CFEFFCF2-CF79-4D6E-9341-B5FB0C539F4D}" srcOrd="1" destOrd="0" presId="urn:microsoft.com/office/officeart/2005/8/layout/hierarchy1"/>
    <dgm:cxn modelId="{69043C6F-4DE4-4A6A-88B0-45DB8F9EEFD8}" type="presParOf" srcId="{CFEFFCF2-CF79-4D6E-9341-B5FB0C539F4D}" destId="{C4AEFC6E-EE2B-4900-ABDB-41C0A2A11AB5}" srcOrd="0" destOrd="0" presId="urn:microsoft.com/office/officeart/2005/8/layout/hierarchy1"/>
    <dgm:cxn modelId="{BE2B2E6D-41D0-4BD8-89A0-9C53B3B0FA36}" type="presParOf" srcId="{CFEFFCF2-CF79-4D6E-9341-B5FB0C539F4D}" destId="{3AD20E24-78BD-4C4F-AD47-1550D0FFD9AA}" srcOrd="1" destOrd="0" presId="urn:microsoft.com/office/officeart/2005/8/layout/hierarchy1"/>
    <dgm:cxn modelId="{53F5C70E-447D-4255-AF67-14B1075550D1}" type="presParOf" srcId="{3AD20E24-78BD-4C4F-AD47-1550D0FFD9AA}" destId="{3E305601-BDB2-4861-A82A-F43150029680}" srcOrd="0" destOrd="0" presId="urn:microsoft.com/office/officeart/2005/8/layout/hierarchy1"/>
    <dgm:cxn modelId="{D0D9C2E1-E370-4699-86A6-1C0CDEC4BE4E}" type="presParOf" srcId="{3E305601-BDB2-4861-A82A-F43150029680}" destId="{D4A68836-AADE-4DBC-A0B7-A278A20C0F7D}" srcOrd="0" destOrd="0" presId="urn:microsoft.com/office/officeart/2005/8/layout/hierarchy1"/>
    <dgm:cxn modelId="{200AD09E-3BC6-450B-84CF-CC4556FB3F61}" type="presParOf" srcId="{3E305601-BDB2-4861-A82A-F43150029680}" destId="{841F4723-2A9F-4DEE-8239-DF8932A11B1E}" srcOrd="1" destOrd="0" presId="urn:microsoft.com/office/officeart/2005/8/layout/hierarchy1"/>
    <dgm:cxn modelId="{7D9198A9-2B53-40A8-9D93-1A231D981E0B}" type="presParOf" srcId="{3AD20E24-78BD-4C4F-AD47-1550D0FFD9AA}" destId="{4CA04ECB-EF59-47C3-9151-F78FADF2BADB}" srcOrd="1" destOrd="0" presId="urn:microsoft.com/office/officeart/2005/8/layout/hierarchy1"/>
    <dgm:cxn modelId="{14878F2D-7BD8-444E-B851-D39A238D539A}" type="presParOf" srcId="{CFEFFCF2-CF79-4D6E-9341-B5FB0C539F4D}" destId="{BBEE5186-8C39-4ABB-B2B5-FCFD8B59BF52}" srcOrd="2" destOrd="0" presId="urn:microsoft.com/office/officeart/2005/8/layout/hierarchy1"/>
    <dgm:cxn modelId="{3702C460-B185-4972-8D0D-8261A81E9C2B}" type="presParOf" srcId="{CFEFFCF2-CF79-4D6E-9341-B5FB0C539F4D}" destId="{48BDC20E-0CCF-4286-AC59-A72585F69842}" srcOrd="3" destOrd="0" presId="urn:microsoft.com/office/officeart/2005/8/layout/hierarchy1"/>
    <dgm:cxn modelId="{D1237670-32CE-4A43-B538-13B17C3A0FBC}" type="presParOf" srcId="{48BDC20E-0CCF-4286-AC59-A72585F69842}" destId="{0ABFD2D6-96EB-4250-BCBB-D5768C7B655E}" srcOrd="0" destOrd="0" presId="urn:microsoft.com/office/officeart/2005/8/layout/hierarchy1"/>
    <dgm:cxn modelId="{3A0CD4E4-963A-4E73-87B3-6164FDF268FE}" type="presParOf" srcId="{0ABFD2D6-96EB-4250-BCBB-D5768C7B655E}" destId="{4B5E4625-6A7A-4868-9A70-854A44350837}" srcOrd="0" destOrd="0" presId="urn:microsoft.com/office/officeart/2005/8/layout/hierarchy1"/>
    <dgm:cxn modelId="{2FE03AA3-3472-4879-A044-74AA1282F42F}" type="presParOf" srcId="{0ABFD2D6-96EB-4250-BCBB-D5768C7B655E}" destId="{E05F15C2-60BB-4609-9F5C-F81658C74E26}" srcOrd="1" destOrd="0" presId="urn:microsoft.com/office/officeart/2005/8/layout/hierarchy1"/>
    <dgm:cxn modelId="{56899B1E-50BA-4379-BAE2-C0CF2B8F62F5}" type="presParOf" srcId="{48BDC20E-0CCF-4286-AC59-A72585F69842}" destId="{0E6FEED8-5D7B-4CF9-8961-F69396E355DD}" srcOrd="1" destOrd="0" presId="urn:microsoft.com/office/officeart/2005/8/layout/hierarchy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42D645C-39C7-47D6-B1A1-B11FD89D5E87}" type="doc">
      <dgm:prSet loTypeId="urn:microsoft.com/office/officeart/2005/8/layout/vList6" loCatId="process" qsTypeId="urn:microsoft.com/office/officeart/2005/8/quickstyle/simple1" qsCatId="simple" csTypeId="urn:microsoft.com/office/officeart/2005/8/colors/accent1_2" csCatId="accent1" phldr="1"/>
      <dgm:spPr/>
      <dgm:t>
        <a:bodyPr/>
        <a:lstStyle/>
        <a:p>
          <a:endParaRPr lang="en-US"/>
        </a:p>
      </dgm:t>
    </dgm:pt>
    <dgm:pt modelId="{7C6804A9-CC31-45E0-9D32-856EAD3F8B53}">
      <dgm:prSet/>
      <dgm:spPr/>
      <dgm:t>
        <a:bodyPr/>
        <a:lstStyle/>
        <a:p>
          <a:pPr rtl="0"/>
          <a:r>
            <a:rPr lang="en-US" smtClean="0"/>
            <a:t>CGST</a:t>
          </a:r>
          <a:endParaRPr lang="en-US"/>
        </a:p>
      </dgm:t>
    </dgm:pt>
    <dgm:pt modelId="{FD6540A8-D74C-4167-A56A-1CF675A88E1B}" type="parTrans" cxnId="{62929332-B8A6-4807-B927-BF7A56FB0612}">
      <dgm:prSet/>
      <dgm:spPr/>
      <dgm:t>
        <a:bodyPr/>
        <a:lstStyle/>
        <a:p>
          <a:endParaRPr lang="en-US"/>
        </a:p>
      </dgm:t>
    </dgm:pt>
    <dgm:pt modelId="{ABE09B7E-BE6F-4BEB-9CDB-7C395210F871}" type="sibTrans" cxnId="{62929332-B8A6-4807-B927-BF7A56FB0612}">
      <dgm:prSet/>
      <dgm:spPr/>
      <dgm:t>
        <a:bodyPr/>
        <a:lstStyle/>
        <a:p>
          <a:endParaRPr lang="en-US"/>
        </a:p>
      </dgm:t>
    </dgm:pt>
    <dgm:pt modelId="{471C3E65-7F34-4784-821F-3941E129F715}">
      <dgm:prSet custT="1"/>
      <dgm:spPr/>
      <dgm:t>
        <a:bodyPr/>
        <a:lstStyle/>
        <a:p>
          <a:pPr rtl="0"/>
          <a:r>
            <a:rPr lang="en-US" sz="2000" dirty="0" smtClean="0"/>
            <a:t>Central Excise</a:t>
          </a:r>
          <a:endParaRPr lang="en-US" sz="2000" dirty="0"/>
        </a:p>
      </dgm:t>
    </dgm:pt>
    <dgm:pt modelId="{E5956B00-7A8A-428B-8DAA-B749DF857F0E}" type="parTrans" cxnId="{88DF2257-1547-4C08-A516-7FA9E966FA30}">
      <dgm:prSet/>
      <dgm:spPr/>
      <dgm:t>
        <a:bodyPr/>
        <a:lstStyle/>
        <a:p>
          <a:endParaRPr lang="en-US"/>
        </a:p>
      </dgm:t>
    </dgm:pt>
    <dgm:pt modelId="{AA5F5DDB-29FB-4E74-9C6E-D9F13BC02E5D}" type="sibTrans" cxnId="{88DF2257-1547-4C08-A516-7FA9E966FA30}">
      <dgm:prSet/>
      <dgm:spPr/>
      <dgm:t>
        <a:bodyPr/>
        <a:lstStyle/>
        <a:p>
          <a:endParaRPr lang="en-US"/>
        </a:p>
      </dgm:t>
    </dgm:pt>
    <dgm:pt modelId="{E4037CE5-9591-401C-AFC1-6711623C294B}">
      <dgm:prSet custT="1"/>
      <dgm:spPr/>
      <dgm:t>
        <a:bodyPr/>
        <a:lstStyle/>
        <a:p>
          <a:pPr rtl="0"/>
          <a:r>
            <a:rPr lang="en-US" sz="2000" dirty="0" smtClean="0"/>
            <a:t>Additional duties of Custom (CVD)</a:t>
          </a:r>
          <a:endParaRPr lang="en-US" sz="2000" dirty="0"/>
        </a:p>
      </dgm:t>
    </dgm:pt>
    <dgm:pt modelId="{DFE611D2-F975-4956-9FE1-3F9F2587A1C8}" type="parTrans" cxnId="{BA149F1D-B630-45BE-A463-67AA6F39E908}">
      <dgm:prSet/>
      <dgm:spPr/>
      <dgm:t>
        <a:bodyPr/>
        <a:lstStyle/>
        <a:p>
          <a:endParaRPr lang="en-US"/>
        </a:p>
      </dgm:t>
    </dgm:pt>
    <dgm:pt modelId="{5124D654-9583-4991-8FA2-B3A6C5C1393C}" type="sibTrans" cxnId="{BA149F1D-B630-45BE-A463-67AA6F39E908}">
      <dgm:prSet/>
      <dgm:spPr/>
      <dgm:t>
        <a:bodyPr/>
        <a:lstStyle/>
        <a:p>
          <a:endParaRPr lang="en-US"/>
        </a:p>
      </dgm:t>
    </dgm:pt>
    <dgm:pt modelId="{9309E2F0-43F8-4500-8DE5-7FEEBBFB8E7A}">
      <dgm:prSet custT="1"/>
      <dgm:spPr/>
      <dgm:t>
        <a:bodyPr/>
        <a:lstStyle/>
        <a:p>
          <a:pPr rtl="0"/>
          <a:r>
            <a:rPr lang="en-US" sz="2000" dirty="0" smtClean="0"/>
            <a:t>Service Tax</a:t>
          </a:r>
          <a:endParaRPr lang="en-US" sz="2000" dirty="0"/>
        </a:p>
      </dgm:t>
    </dgm:pt>
    <dgm:pt modelId="{34614FEA-BDD1-4EDF-9889-E7BB1FEA5055}" type="parTrans" cxnId="{D63F7A60-DC19-4DF5-8125-310109E15521}">
      <dgm:prSet/>
      <dgm:spPr/>
      <dgm:t>
        <a:bodyPr/>
        <a:lstStyle/>
        <a:p>
          <a:endParaRPr lang="en-US"/>
        </a:p>
      </dgm:t>
    </dgm:pt>
    <dgm:pt modelId="{BF0B8312-8B4B-48CA-841C-74638367DE83}" type="sibTrans" cxnId="{D63F7A60-DC19-4DF5-8125-310109E15521}">
      <dgm:prSet/>
      <dgm:spPr/>
      <dgm:t>
        <a:bodyPr/>
        <a:lstStyle/>
        <a:p>
          <a:endParaRPr lang="en-US"/>
        </a:p>
      </dgm:t>
    </dgm:pt>
    <dgm:pt modelId="{E75DF324-5926-47E3-923D-AAF18F3F0380}">
      <dgm:prSet/>
      <dgm:spPr/>
      <dgm:t>
        <a:bodyPr/>
        <a:lstStyle/>
        <a:p>
          <a:pPr rtl="0"/>
          <a:r>
            <a:rPr lang="en-US" dirty="0" smtClean="0"/>
            <a:t>SGST</a:t>
          </a:r>
          <a:endParaRPr lang="en-US" dirty="0"/>
        </a:p>
      </dgm:t>
    </dgm:pt>
    <dgm:pt modelId="{45E558F6-9BE5-4982-98DB-AFC3081C6D66}" type="parTrans" cxnId="{95926226-EED3-4CF4-BF3D-5106E39F79C0}">
      <dgm:prSet/>
      <dgm:spPr/>
      <dgm:t>
        <a:bodyPr/>
        <a:lstStyle/>
        <a:p>
          <a:endParaRPr lang="en-US"/>
        </a:p>
      </dgm:t>
    </dgm:pt>
    <dgm:pt modelId="{673CDE10-DD51-4086-8CFB-6E0E2AC0CBD3}" type="sibTrans" cxnId="{95926226-EED3-4CF4-BF3D-5106E39F79C0}">
      <dgm:prSet/>
      <dgm:spPr/>
      <dgm:t>
        <a:bodyPr/>
        <a:lstStyle/>
        <a:p>
          <a:endParaRPr lang="en-US"/>
        </a:p>
      </dgm:t>
    </dgm:pt>
    <dgm:pt modelId="{A1448E71-254E-46A8-B59C-6597B26BF322}">
      <dgm:prSet custT="1"/>
      <dgm:spPr/>
      <dgm:t>
        <a:bodyPr/>
        <a:lstStyle/>
        <a:p>
          <a:pPr rtl="0"/>
          <a:r>
            <a:rPr lang="en-US" sz="2000" dirty="0" smtClean="0"/>
            <a:t>VAT/sales tax</a:t>
          </a:r>
          <a:endParaRPr lang="en-US" sz="2000" dirty="0"/>
        </a:p>
      </dgm:t>
    </dgm:pt>
    <dgm:pt modelId="{DF39BD2E-59A6-410F-8977-A3276F67079C}" type="parTrans" cxnId="{C01438E1-B7C5-4128-985A-98526197B07F}">
      <dgm:prSet/>
      <dgm:spPr/>
      <dgm:t>
        <a:bodyPr/>
        <a:lstStyle/>
        <a:p>
          <a:endParaRPr lang="en-US"/>
        </a:p>
      </dgm:t>
    </dgm:pt>
    <dgm:pt modelId="{FDFD56ED-086E-4304-93FB-1D0F141167DE}" type="sibTrans" cxnId="{C01438E1-B7C5-4128-985A-98526197B07F}">
      <dgm:prSet/>
      <dgm:spPr/>
      <dgm:t>
        <a:bodyPr/>
        <a:lstStyle/>
        <a:p>
          <a:endParaRPr lang="en-US"/>
        </a:p>
      </dgm:t>
    </dgm:pt>
    <dgm:pt modelId="{63985F0E-F713-4FCB-BA58-83EEA9AC0101}">
      <dgm:prSet custT="1"/>
      <dgm:spPr/>
      <dgm:t>
        <a:bodyPr/>
        <a:lstStyle/>
        <a:p>
          <a:pPr rtl="0"/>
          <a:r>
            <a:rPr lang="en-US" sz="2000" dirty="0" smtClean="0"/>
            <a:t>Entertainment Tax</a:t>
          </a:r>
          <a:endParaRPr lang="en-US" sz="2000" dirty="0"/>
        </a:p>
      </dgm:t>
    </dgm:pt>
    <dgm:pt modelId="{2E6F935A-90A5-4672-AAC1-54757FC2E1CC}" type="parTrans" cxnId="{1D0BFBE6-57EA-41DD-AE01-74BA3DDFBCE5}">
      <dgm:prSet/>
      <dgm:spPr/>
      <dgm:t>
        <a:bodyPr/>
        <a:lstStyle/>
        <a:p>
          <a:endParaRPr lang="en-US"/>
        </a:p>
      </dgm:t>
    </dgm:pt>
    <dgm:pt modelId="{C7E978D0-294E-4107-8838-EB98E685FE0B}" type="sibTrans" cxnId="{1D0BFBE6-57EA-41DD-AE01-74BA3DDFBCE5}">
      <dgm:prSet/>
      <dgm:spPr/>
      <dgm:t>
        <a:bodyPr/>
        <a:lstStyle/>
        <a:p>
          <a:endParaRPr lang="en-US"/>
        </a:p>
      </dgm:t>
    </dgm:pt>
    <dgm:pt modelId="{0F225906-9BC7-4912-872B-BB9B32BC16AA}">
      <dgm:prSet custT="1"/>
      <dgm:spPr/>
      <dgm:t>
        <a:bodyPr/>
        <a:lstStyle/>
        <a:p>
          <a:pPr rtl="0"/>
          <a:r>
            <a:rPr lang="en-US" sz="2000" smtClean="0"/>
            <a:t>Luxury Tax</a:t>
          </a:r>
          <a:endParaRPr lang="en-US" sz="2000"/>
        </a:p>
      </dgm:t>
    </dgm:pt>
    <dgm:pt modelId="{829DB48D-EEAC-4153-A612-AAE31B3D977F}" type="parTrans" cxnId="{B407CB21-5C73-493F-A2E9-E4866BC215C9}">
      <dgm:prSet/>
      <dgm:spPr/>
      <dgm:t>
        <a:bodyPr/>
        <a:lstStyle/>
        <a:p>
          <a:endParaRPr lang="en-US"/>
        </a:p>
      </dgm:t>
    </dgm:pt>
    <dgm:pt modelId="{C310097C-E086-4A3B-AD16-D52DD02E4E4E}" type="sibTrans" cxnId="{B407CB21-5C73-493F-A2E9-E4866BC215C9}">
      <dgm:prSet/>
      <dgm:spPr/>
      <dgm:t>
        <a:bodyPr/>
        <a:lstStyle/>
        <a:p>
          <a:endParaRPr lang="en-US"/>
        </a:p>
      </dgm:t>
    </dgm:pt>
    <dgm:pt modelId="{965D8092-1698-4BEB-842F-29700A7AB334}">
      <dgm:prSet custT="1"/>
      <dgm:spPr/>
      <dgm:t>
        <a:bodyPr/>
        <a:lstStyle/>
        <a:p>
          <a:pPr rtl="0"/>
          <a:r>
            <a:rPr lang="en-US" sz="2000" dirty="0" smtClean="0"/>
            <a:t>Lottery Tax</a:t>
          </a:r>
          <a:endParaRPr lang="en-US" sz="2000" dirty="0"/>
        </a:p>
      </dgm:t>
    </dgm:pt>
    <dgm:pt modelId="{42D4E590-321F-4033-84A8-9F48D02115BC}" type="parTrans" cxnId="{724E83F3-D362-41C8-9D75-08E5EFB8CAAB}">
      <dgm:prSet/>
      <dgm:spPr/>
      <dgm:t>
        <a:bodyPr/>
        <a:lstStyle/>
        <a:p>
          <a:endParaRPr lang="en-US"/>
        </a:p>
      </dgm:t>
    </dgm:pt>
    <dgm:pt modelId="{F10B0464-82FF-4714-8DC2-542B68405E8B}" type="sibTrans" cxnId="{724E83F3-D362-41C8-9D75-08E5EFB8CAAB}">
      <dgm:prSet/>
      <dgm:spPr/>
      <dgm:t>
        <a:bodyPr/>
        <a:lstStyle/>
        <a:p>
          <a:endParaRPr lang="en-US"/>
        </a:p>
      </dgm:t>
    </dgm:pt>
    <dgm:pt modelId="{72208498-D31F-4097-B828-AAB11EBFBD84}">
      <dgm:prSet custT="1"/>
      <dgm:spPr/>
      <dgm:t>
        <a:bodyPr/>
        <a:lstStyle/>
        <a:p>
          <a:pPr rtl="0"/>
          <a:r>
            <a:rPr lang="en-US" sz="2000" dirty="0" smtClean="0"/>
            <a:t>Entry Tax</a:t>
          </a:r>
          <a:endParaRPr lang="en-US" sz="2000" dirty="0"/>
        </a:p>
      </dgm:t>
    </dgm:pt>
    <dgm:pt modelId="{E0F6B49B-0EF8-4FFF-90EB-D2599C8928E9}" type="parTrans" cxnId="{6CC68CFF-69F5-4FF5-ACD6-49AEAF12AAD9}">
      <dgm:prSet/>
      <dgm:spPr/>
      <dgm:t>
        <a:bodyPr/>
        <a:lstStyle/>
        <a:p>
          <a:endParaRPr lang="en-US"/>
        </a:p>
      </dgm:t>
    </dgm:pt>
    <dgm:pt modelId="{696E044B-69F8-46E2-A1E9-B3A7B046E0D1}" type="sibTrans" cxnId="{6CC68CFF-69F5-4FF5-ACD6-49AEAF12AAD9}">
      <dgm:prSet/>
      <dgm:spPr/>
      <dgm:t>
        <a:bodyPr/>
        <a:lstStyle/>
        <a:p>
          <a:endParaRPr lang="en-US"/>
        </a:p>
      </dgm:t>
    </dgm:pt>
    <dgm:pt modelId="{A7185902-CAE4-41E0-8448-758B86EE2E03}">
      <dgm:prSet custT="1"/>
      <dgm:spPr/>
      <dgm:t>
        <a:bodyPr/>
        <a:lstStyle/>
        <a:p>
          <a:pPr rtl="0"/>
          <a:r>
            <a:rPr lang="en-US" sz="2000" dirty="0" smtClean="0"/>
            <a:t>Purchase Tax</a:t>
          </a:r>
          <a:endParaRPr lang="en-US" sz="2000" dirty="0"/>
        </a:p>
      </dgm:t>
    </dgm:pt>
    <dgm:pt modelId="{FDA04A99-BC99-4F83-89DD-4B74DDA98835}" type="parTrans" cxnId="{DE2D399C-FF9A-40BB-B93F-E11413FA377B}">
      <dgm:prSet/>
      <dgm:spPr/>
      <dgm:t>
        <a:bodyPr/>
        <a:lstStyle/>
        <a:p>
          <a:endParaRPr lang="en-US"/>
        </a:p>
      </dgm:t>
    </dgm:pt>
    <dgm:pt modelId="{8DCF6A74-E275-4909-9341-38B1EDEC7E0F}" type="sibTrans" cxnId="{DE2D399C-FF9A-40BB-B93F-E11413FA377B}">
      <dgm:prSet/>
      <dgm:spPr/>
      <dgm:t>
        <a:bodyPr/>
        <a:lstStyle/>
        <a:p>
          <a:endParaRPr lang="en-US"/>
        </a:p>
      </dgm:t>
    </dgm:pt>
    <dgm:pt modelId="{660932D4-619F-4BED-A53C-C2F39A27ED92}">
      <dgm:prSet/>
      <dgm:spPr/>
      <dgm:t>
        <a:bodyPr/>
        <a:lstStyle/>
        <a:p>
          <a:pPr rtl="0"/>
          <a:endParaRPr lang="en-US" sz="1200" dirty="0"/>
        </a:p>
      </dgm:t>
    </dgm:pt>
    <dgm:pt modelId="{4E4D9936-525E-49F5-9F64-C6D245BD18A4}" type="parTrans" cxnId="{E8C000EE-3AB6-4F99-ACFC-91F85F70BE34}">
      <dgm:prSet/>
      <dgm:spPr/>
      <dgm:t>
        <a:bodyPr/>
        <a:lstStyle/>
        <a:p>
          <a:endParaRPr lang="en-US"/>
        </a:p>
      </dgm:t>
    </dgm:pt>
    <dgm:pt modelId="{ECFE662A-F8DC-4C35-A8E4-CF87EF08B2D7}" type="sibTrans" cxnId="{E8C000EE-3AB6-4F99-ACFC-91F85F70BE34}">
      <dgm:prSet/>
      <dgm:spPr/>
      <dgm:t>
        <a:bodyPr/>
        <a:lstStyle/>
        <a:p>
          <a:endParaRPr lang="en-US"/>
        </a:p>
      </dgm:t>
    </dgm:pt>
    <dgm:pt modelId="{2D3D3079-9040-4605-8848-285F63568FF8}">
      <dgm:prSet/>
      <dgm:spPr/>
      <dgm:t>
        <a:bodyPr/>
        <a:lstStyle/>
        <a:p>
          <a:pPr rtl="0"/>
          <a:endParaRPr lang="en-US" sz="1200" dirty="0"/>
        </a:p>
      </dgm:t>
    </dgm:pt>
    <dgm:pt modelId="{609952C0-FA76-4FAB-8BFB-494D1C8020DF}" type="parTrans" cxnId="{75270845-D2B2-4337-9833-ED2F655CF778}">
      <dgm:prSet/>
      <dgm:spPr/>
      <dgm:t>
        <a:bodyPr/>
        <a:lstStyle/>
        <a:p>
          <a:endParaRPr lang="en-US"/>
        </a:p>
      </dgm:t>
    </dgm:pt>
    <dgm:pt modelId="{6568B5C6-A715-405F-B14B-556303E32191}" type="sibTrans" cxnId="{75270845-D2B2-4337-9833-ED2F655CF778}">
      <dgm:prSet/>
      <dgm:spPr/>
      <dgm:t>
        <a:bodyPr/>
        <a:lstStyle/>
        <a:p>
          <a:endParaRPr lang="en-US"/>
        </a:p>
      </dgm:t>
    </dgm:pt>
    <dgm:pt modelId="{C866B43E-0F64-4912-924E-E58E3D6A3A88}">
      <dgm:prSet custT="1"/>
      <dgm:spPr/>
      <dgm:t>
        <a:bodyPr/>
        <a:lstStyle/>
        <a:p>
          <a:pPr rtl="0"/>
          <a:r>
            <a:rPr lang="en-US" sz="2000" dirty="0" smtClean="0"/>
            <a:t>Surcharges and all </a:t>
          </a:r>
          <a:r>
            <a:rPr lang="en-US" sz="2000" dirty="0" err="1" smtClean="0"/>
            <a:t>cesses</a:t>
          </a:r>
          <a:endParaRPr lang="en-US" sz="2000" dirty="0"/>
        </a:p>
      </dgm:t>
    </dgm:pt>
    <dgm:pt modelId="{E445F076-90B2-442E-953B-804EF6DD471D}" type="parTrans" cxnId="{EF1B1E27-D742-452D-A40C-E2EAC0411450}">
      <dgm:prSet/>
      <dgm:spPr/>
      <dgm:t>
        <a:bodyPr/>
        <a:lstStyle/>
        <a:p>
          <a:endParaRPr lang="en-US"/>
        </a:p>
      </dgm:t>
    </dgm:pt>
    <dgm:pt modelId="{DC5E435A-F19A-45A0-BEC9-FD2A80B74347}" type="sibTrans" cxnId="{EF1B1E27-D742-452D-A40C-E2EAC0411450}">
      <dgm:prSet/>
      <dgm:spPr/>
      <dgm:t>
        <a:bodyPr/>
        <a:lstStyle/>
        <a:p>
          <a:endParaRPr lang="en-US"/>
        </a:p>
      </dgm:t>
    </dgm:pt>
    <dgm:pt modelId="{C3D7D26E-0D9C-4CA3-83E7-B8A70816DC6F}">
      <dgm:prSet/>
      <dgm:spPr/>
      <dgm:t>
        <a:bodyPr/>
        <a:lstStyle/>
        <a:p>
          <a:r>
            <a:rPr lang="en-US" dirty="0" smtClean="0"/>
            <a:t>IGST</a:t>
          </a:r>
          <a:endParaRPr lang="en-US" dirty="0"/>
        </a:p>
      </dgm:t>
    </dgm:pt>
    <dgm:pt modelId="{F79D6A1D-7660-48E1-950E-0199705BA972}" type="sibTrans" cxnId="{7F1263AF-0A40-4FE1-B953-82AD1064CACB}">
      <dgm:prSet/>
      <dgm:spPr/>
      <dgm:t>
        <a:bodyPr/>
        <a:lstStyle/>
        <a:p>
          <a:endParaRPr lang="en-US"/>
        </a:p>
      </dgm:t>
    </dgm:pt>
    <dgm:pt modelId="{5F6096A3-C500-4CC2-9D08-EC9AD649C5CB}" type="parTrans" cxnId="{7F1263AF-0A40-4FE1-B953-82AD1064CACB}">
      <dgm:prSet/>
      <dgm:spPr/>
      <dgm:t>
        <a:bodyPr/>
        <a:lstStyle/>
        <a:p>
          <a:endParaRPr lang="en-US"/>
        </a:p>
      </dgm:t>
    </dgm:pt>
    <dgm:pt modelId="{5547BDF9-D134-4EDF-8BEC-0EC0CB8B984F}">
      <dgm:prSet custT="1"/>
      <dgm:spPr/>
      <dgm:t>
        <a:bodyPr/>
        <a:lstStyle/>
        <a:p>
          <a:r>
            <a:rPr lang="en-US" sz="2500" dirty="0" smtClean="0"/>
            <a:t>CST</a:t>
          </a:r>
          <a:endParaRPr lang="en-US" sz="2500" dirty="0"/>
        </a:p>
      </dgm:t>
    </dgm:pt>
    <dgm:pt modelId="{5EC45685-B086-4AE3-8980-C9578224A34E}" type="parTrans" cxnId="{1A61F1C4-5BA5-48CE-A866-0CA2ACB390F1}">
      <dgm:prSet/>
      <dgm:spPr/>
      <dgm:t>
        <a:bodyPr/>
        <a:lstStyle/>
        <a:p>
          <a:endParaRPr lang="en-US"/>
        </a:p>
      </dgm:t>
    </dgm:pt>
    <dgm:pt modelId="{E9AE880E-97C4-443B-A612-209C897E4C6C}" type="sibTrans" cxnId="{1A61F1C4-5BA5-48CE-A866-0CA2ACB390F1}">
      <dgm:prSet/>
      <dgm:spPr/>
      <dgm:t>
        <a:bodyPr/>
        <a:lstStyle/>
        <a:p>
          <a:endParaRPr lang="en-US"/>
        </a:p>
      </dgm:t>
    </dgm:pt>
    <dgm:pt modelId="{04238735-912E-48CE-91BD-9C8C861AA2B3}" type="pres">
      <dgm:prSet presAssocID="{942D645C-39C7-47D6-B1A1-B11FD89D5E87}" presName="Name0" presStyleCnt="0">
        <dgm:presLayoutVars>
          <dgm:dir/>
          <dgm:animLvl val="lvl"/>
          <dgm:resizeHandles/>
        </dgm:presLayoutVars>
      </dgm:prSet>
      <dgm:spPr/>
      <dgm:t>
        <a:bodyPr/>
        <a:lstStyle/>
        <a:p>
          <a:endParaRPr lang="en-US"/>
        </a:p>
      </dgm:t>
    </dgm:pt>
    <dgm:pt modelId="{A33EE430-359A-41BF-A684-0AA42C136CA0}" type="pres">
      <dgm:prSet presAssocID="{7C6804A9-CC31-45E0-9D32-856EAD3F8B53}" presName="linNode" presStyleCnt="0"/>
      <dgm:spPr/>
    </dgm:pt>
    <dgm:pt modelId="{8F082955-45C6-4F20-BA5C-9643938DBF72}" type="pres">
      <dgm:prSet presAssocID="{7C6804A9-CC31-45E0-9D32-856EAD3F8B53}" presName="parentShp" presStyleLbl="node1" presStyleIdx="0" presStyleCnt="3" custScaleX="71296" custScaleY="34335">
        <dgm:presLayoutVars>
          <dgm:bulletEnabled val="1"/>
        </dgm:presLayoutVars>
      </dgm:prSet>
      <dgm:spPr/>
      <dgm:t>
        <a:bodyPr/>
        <a:lstStyle/>
        <a:p>
          <a:endParaRPr lang="en-US"/>
        </a:p>
      </dgm:t>
    </dgm:pt>
    <dgm:pt modelId="{3A359BE0-9CEF-4177-837A-C87441745178}" type="pres">
      <dgm:prSet presAssocID="{7C6804A9-CC31-45E0-9D32-856EAD3F8B53}" presName="childShp" presStyleLbl="bgAccFollowNode1" presStyleIdx="0" presStyleCnt="3" custScaleX="94411" custScaleY="46134" custLinFactNeighborX="0" custLinFactNeighborY="-21">
        <dgm:presLayoutVars>
          <dgm:bulletEnabled val="1"/>
        </dgm:presLayoutVars>
      </dgm:prSet>
      <dgm:spPr/>
      <dgm:t>
        <a:bodyPr/>
        <a:lstStyle/>
        <a:p>
          <a:endParaRPr lang="en-US"/>
        </a:p>
      </dgm:t>
    </dgm:pt>
    <dgm:pt modelId="{2B80081A-36D2-4CD9-8E43-A9FC6E9D2CE9}" type="pres">
      <dgm:prSet presAssocID="{ABE09B7E-BE6F-4BEB-9CDB-7C395210F871}" presName="spacing" presStyleCnt="0"/>
      <dgm:spPr/>
    </dgm:pt>
    <dgm:pt modelId="{0562E74B-374C-4492-8516-72146DB65F40}" type="pres">
      <dgm:prSet presAssocID="{E75DF324-5926-47E3-923D-AAF18F3F0380}" presName="linNode" presStyleCnt="0"/>
      <dgm:spPr/>
    </dgm:pt>
    <dgm:pt modelId="{8AF75A05-E229-4361-B383-098C06C49042}" type="pres">
      <dgm:prSet presAssocID="{E75DF324-5926-47E3-923D-AAF18F3F0380}" presName="parentShp" presStyleLbl="node1" presStyleIdx="1" presStyleCnt="3" custScaleX="71296" custScaleY="30061">
        <dgm:presLayoutVars>
          <dgm:bulletEnabled val="1"/>
        </dgm:presLayoutVars>
      </dgm:prSet>
      <dgm:spPr/>
      <dgm:t>
        <a:bodyPr/>
        <a:lstStyle/>
        <a:p>
          <a:endParaRPr lang="en-US"/>
        </a:p>
      </dgm:t>
    </dgm:pt>
    <dgm:pt modelId="{37CF3B28-73FE-4987-BF6D-7EB72803E8AA}" type="pres">
      <dgm:prSet presAssocID="{E75DF324-5926-47E3-923D-AAF18F3F0380}" presName="childShp" presStyleLbl="bgAccFollowNode1" presStyleIdx="1" presStyleCnt="3" custScaleY="59689">
        <dgm:presLayoutVars>
          <dgm:bulletEnabled val="1"/>
        </dgm:presLayoutVars>
      </dgm:prSet>
      <dgm:spPr/>
      <dgm:t>
        <a:bodyPr/>
        <a:lstStyle/>
        <a:p>
          <a:endParaRPr lang="en-US"/>
        </a:p>
      </dgm:t>
    </dgm:pt>
    <dgm:pt modelId="{348D3EF4-902B-4C4D-A6BE-F29E63FF0584}" type="pres">
      <dgm:prSet presAssocID="{673CDE10-DD51-4086-8CFB-6E0E2AC0CBD3}" presName="spacing" presStyleCnt="0"/>
      <dgm:spPr/>
    </dgm:pt>
    <dgm:pt modelId="{154B454D-79F3-489A-B413-BFB7FC591B82}" type="pres">
      <dgm:prSet presAssocID="{C3D7D26E-0D9C-4CA3-83E7-B8A70816DC6F}" presName="linNode" presStyleCnt="0"/>
      <dgm:spPr/>
    </dgm:pt>
    <dgm:pt modelId="{7B6D2A75-2020-4351-8EB4-E00EFFC75B8F}" type="pres">
      <dgm:prSet presAssocID="{C3D7D26E-0D9C-4CA3-83E7-B8A70816DC6F}" presName="parentShp" presStyleLbl="node1" presStyleIdx="2" presStyleCnt="3" custAng="10800000" custFlipVert="1" custScaleX="69643" custScaleY="22605">
        <dgm:presLayoutVars>
          <dgm:bulletEnabled val="1"/>
        </dgm:presLayoutVars>
      </dgm:prSet>
      <dgm:spPr/>
      <dgm:t>
        <a:bodyPr/>
        <a:lstStyle/>
        <a:p>
          <a:endParaRPr lang="en-US"/>
        </a:p>
      </dgm:t>
    </dgm:pt>
    <dgm:pt modelId="{62B496E2-D067-44E3-81B5-ADAAC2562AC1}" type="pres">
      <dgm:prSet presAssocID="{C3D7D26E-0D9C-4CA3-83E7-B8A70816DC6F}" presName="childShp" presStyleLbl="bgAccFollowNode1" presStyleIdx="2" presStyleCnt="3" custScaleX="51191" custScaleY="22831" custLinFactNeighborX="446" custLinFactNeighborY="-2874">
        <dgm:presLayoutVars>
          <dgm:bulletEnabled val="1"/>
        </dgm:presLayoutVars>
      </dgm:prSet>
      <dgm:spPr/>
      <dgm:t>
        <a:bodyPr/>
        <a:lstStyle/>
        <a:p>
          <a:endParaRPr lang="en-US"/>
        </a:p>
      </dgm:t>
    </dgm:pt>
  </dgm:ptLst>
  <dgm:cxnLst>
    <dgm:cxn modelId="{B9D4D08A-C0B5-48E5-9FB8-96BA5DCD0B3A}" type="presOf" srcId="{9309E2F0-43F8-4500-8DE5-7FEEBBFB8E7A}" destId="{3A359BE0-9CEF-4177-837A-C87441745178}" srcOrd="0" destOrd="2" presId="urn:microsoft.com/office/officeart/2005/8/layout/vList6"/>
    <dgm:cxn modelId="{75270845-D2B2-4337-9833-ED2F655CF778}" srcId="{E75DF324-5926-47E3-923D-AAF18F3F0380}" destId="{2D3D3079-9040-4605-8848-285F63568FF8}" srcOrd="7" destOrd="0" parTransId="{609952C0-FA76-4FAB-8BFB-494D1C8020DF}" sibTransId="{6568B5C6-A715-405F-B14B-556303E32191}"/>
    <dgm:cxn modelId="{022FB19F-AD90-47D2-A0B8-20C02C99A2D0}" type="presOf" srcId="{A7185902-CAE4-41E0-8448-758B86EE2E03}" destId="{37CF3B28-73FE-4987-BF6D-7EB72803E8AA}" srcOrd="0" destOrd="5" presId="urn:microsoft.com/office/officeart/2005/8/layout/vList6"/>
    <dgm:cxn modelId="{1A61F1C4-5BA5-48CE-A866-0CA2ACB390F1}" srcId="{C3D7D26E-0D9C-4CA3-83E7-B8A70816DC6F}" destId="{5547BDF9-D134-4EDF-8BEC-0EC0CB8B984F}" srcOrd="0" destOrd="0" parTransId="{5EC45685-B086-4AE3-8980-C9578224A34E}" sibTransId="{E9AE880E-97C4-443B-A612-209C897E4C6C}"/>
    <dgm:cxn modelId="{EF1B1E27-D742-452D-A40C-E2EAC0411450}" srcId="{7C6804A9-CC31-45E0-9D32-856EAD3F8B53}" destId="{C866B43E-0F64-4912-924E-E58E3D6A3A88}" srcOrd="3" destOrd="0" parTransId="{E445F076-90B2-442E-953B-804EF6DD471D}" sibTransId="{DC5E435A-F19A-45A0-BEC9-FD2A80B74347}"/>
    <dgm:cxn modelId="{D53BAB4A-D680-46CF-AA6A-2ECECE302ECF}" type="presOf" srcId="{C3D7D26E-0D9C-4CA3-83E7-B8A70816DC6F}" destId="{7B6D2A75-2020-4351-8EB4-E00EFFC75B8F}" srcOrd="0" destOrd="0" presId="urn:microsoft.com/office/officeart/2005/8/layout/vList6"/>
    <dgm:cxn modelId="{FAB0D7E8-D1B5-4C53-8286-A4E1C20C3843}" type="presOf" srcId="{660932D4-619F-4BED-A53C-C2F39A27ED92}" destId="{37CF3B28-73FE-4987-BF6D-7EB72803E8AA}" srcOrd="0" destOrd="6" presId="urn:microsoft.com/office/officeart/2005/8/layout/vList6"/>
    <dgm:cxn modelId="{724E83F3-D362-41C8-9D75-08E5EFB8CAAB}" srcId="{E75DF324-5926-47E3-923D-AAF18F3F0380}" destId="{965D8092-1698-4BEB-842F-29700A7AB334}" srcOrd="3" destOrd="0" parTransId="{42D4E590-321F-4033-84A8-9F48D02115BC}" sibTransId="{F10B0464-82FF-4714-8DC2-542B68405E8B}"/>
    <dgm:cxn modelId="{F811EF9D-CB16-4787-BD11-D20B57EA2060}" type="presOf" srcId="{0F225906-9BC7-4912-872B-BB9B32BC16AA}" destId="{37CF3B28-73FE-4987-BF6D-7EB72803E8AA}" srcOrd="0" destOrd="2" presId="urn:microsoft.com/office/officeart/2005/8/layout/vList6"/>
    <dgm:cxn modelId="{9C6FB56D-6C5F-4449-9CE5-A34DB94879C3}" type="presOf" srcId="{5547BDF9-D134-4EDF-8BEC-0EC0CB8B984F}" destId="{62B496E2-D067-44E3-81B5-ADAAC2562AC1}" srcOrd="0" destOrd="0" presId="urn:microsoft.com/office/officeart/2005/8/layout/vList6"/>
    <dgm:cxn modelId="{CACB3FB8-1074-460F-A5FE-676D2C84894B}" type="presOf" srcId="{A1448E71-254E-46A8-B59C-6597B26BF322}" destId="{37CF3B28-73FE-4987-BF6D-7EB72803E8AA}" srcOrd="0" destOrd="0" presId="urn:microsoft.com/office/officeart/2005/8/layout/vList6"/>
    <dgm:cxn modelId="{88DF2257-1547-4C08-A516-7FA9E966FA30}" srcId="{7C6804A9-CC31-45E0-9D32-856EAD3F8B53}" destId="{471C3E65-7F34-4784-821F-3941E129F715}" srcOrd="0" destOrd="0" parTransId="{E5956B00-7A8A-428B-8DAA-B749DF857F0E}" sibTransId="{AA5F5DDB-29FB-4E74-9C6E-D9F13BC02E5D}"/>
    <dgm:cxn modelId="{3221EE45-5F93-4516-983D-967023179063}" type="presOf" srcId="{C866B43E-0F64-4912-924E-E58E3D6A3A88}" destId="{3A359BE0-9CEF-4177-837A-C87441745178}" srcOrd="0" destOrd="3" presId="urn:microsoft.com/office/officeart/2005/8/layout/vList6"/>
    <dgm:cxn modelId="{D4081BB2-F4AA-4CC4-8A17-5894F4C4600E}" type="presOf" srcId="{2D3D3079-9040-4605-8848-285F63568FF8}" destId="{37CF3B28-73FE-4987-BF6D-7EB72803E8AA}" srcOrd="0" destOrd="7" presId="urn:microsoft.com/office/officeart/2005/8/layout/vList6"/>
    <dgm:cxn modelId="{1D0BFBE6-57EA-41DD-AE01-74BA3DDFBCE5}" srcId="{E75DF324-5926-47E3-923D-AAF18F3F0380}" destId="{63985F0E-F713-4FCB-BA58-83EEA9AC0101}" srcOrd="1" destOrd="0" parTransId="{2E6F935A-90A5-4672-AAC1-54757FC2E1CC}" sibTransId="{C7E978D0-294E-4107-8838-EB98E685FE0B}"/>
    <dgm:cxn modelId="{39C3B500-9C60-4C2F-A535-C0D5A3D17E93}" type="presOf" srcId="{E4037CE5-9591-401C-AFC1-6711623C294B}" destId="{3A359BE0-9CEF-4177-837A-C87441745178}" srcOrd="0" destOrd="1" presId="urn:microsoft.com/office/officeart/2005/8/layout/vList6"/>
    <dgm:cxn modelId="{BA149F1D-B630-45BE-A463-67AA6F39E908}" srcId="{7C6804A9-CC31-45E0-9D32-856EAD3F8B53}" destId="{E4037CE5-9591-401C-AFC1-6711623C294B}" srcOrd="1" destOrd="0" parTransId="{DFE611D2-F975-4956-9FE1-3F9F2587A1C8}" sibTransId="{5124D654-9583-4991-8FA2-B3A6C5C1393C}"/>
    <dgm:cxn modelId="{2FDC7238-7A78-446D-AE88-D6ADB3358316}" type="presOf" srcId="{63985F0E-F713-4FCB-BA58-83EEA9AC0101}" destId="{37CF3B28-73FE-4987-BF6D-7EB72803E8AA}" srcOrd="0" destOrd="1" presId="urn:microsoft.com/office/officeart/2005/8/layout/vList6"/>
    <dgm:cxn modelId="{64F8DAEF-88B3-432C-90CC-920B4FE0EE9B}" type="presOf" srcId="{942D645C-39C7-47D6-B1A1-B11FD89D5E87}" destId="{04238735-912E-48CE-91BD-9C8C861AA2B3}" srcOrd="0" destOrd="0" presId="urn:microsoft.com/office/officeart/2005/8/layout/vList6"/>
    <dgm:cxn modelId="{03953848-272D-4E3C-9A6C-BF53038977B8}" type="presOf" srcId="{E75DF324-5926-47E3-923D-AAF18F3F0380}" destId="{8AF75A05-E229-4361-B383-098C06C49042}" srcOrd="0" destOrd="0" presId="urn:microsoft.com/office/officeart/2005/8/layout/vList6"/>
    <dgm:cxn modelId="{D63F7A60-DC19-4DF5-8125-310109E15521}" srcId="{7C6804A9-CC31-45E0-9D32-856EAD3F8B53}" destId="{9309E2F0-43F8-4500-8DE5-7FEEBBFB8E7A}" srcOrd="2" destOrd="0" parTransId="{34614FEA-BDD1-4EDF-9889-E7BB1FEA5055}" sibTransId="{BF0B8312-8B4B-48CA-841C-74638367DE83}"/>
    <dgm:cxn modelId="{B407CB21-5C73-493F-A2E9-E4866BC215C9}" srcId="{E75DF324-5926-47E3-923D-AAF18F3F0380}" destId="{0F225906-9BC7-4912-872B-BB9B32BC16AA}" srcOrd="2" destOrd="0" parTransId="{829DB48D-EEAC-4153-A612-AAE31B3D977F}" sibTransId="{C310097C-E086-4A3B-AD16-D52DD02E4E4E}"/>
    <dgm:cxn modelId="{95926226-EED3-4CF4-BF3D-5106E39F79C0}" srcId="{942D645C-39C7-47D6-B1A1-B11FD89D5E87}" destId="{E75DF324-5926-47E3-923D-AAF18F3F0380}" srcOrd="1" destOrd="0" parTransId="{45E558F6-9BE5-4982-98DB-AFC3081C6D66}" sibTransId="{673CDE10-DD51-4086-8CFB-6E0E2AC0CBD3}"/>
    <dgm:cxn modelId="{C01438E1-B7C5-4128-985A-98526197B07F}" srcId="{E75DF324-5926-47E3-923D-AAF18F3F0380}" destId="{A1448E71-254E-46A8-B59C-6597B26BF322}" srcOrd="0" destOrd="0" parTransId="{DF39BD2E-59A6-410F-8977-A3276F67079C}" sibTransId="{FDFD56ED-086E-4304-93FB-1D0F141167DE}"/>
    <dgm:cxn modelId="{96F7A352-DBB4-418D-9020-98956B078C35}" type="presOf" srcId="{7C6804A9-CC31-45E0-9D32-856EAD3F8B53}" destId="{8F082955-45C6-4F20-BA5C-9643938DBF72}" srcOrd="0" destOrd="0" presId="urn:microsoft.com/office/officeart/2005/8/layout/vList6"/>
    <dgm:cxn modelId="{C97AA951-F541-4B9A-B262-387F765BCCB5}" type="presOf" srcId="{965D8092-1698-4BEB-842F-29700A7AB334}" destId="{37CF3B28-73FE-4987-BF6D-7EB72803E8AA}" srcOrd="0" destOrd="3" presId="urn:microsoft.com/office/officeart/2005/8/layout/vList6"/>
    <dgm:cxn modelId="{E0DA1DDD-9EC2-4863-BBC9-CE3472832113}" type="presOf" srcId="{471C3E65-7F34-4784-821F-3941E129F715}" destId="{3A359BE0-9CEF-4177-837A-C87441745178}" srcOrd="0" destOrd="0" presId="urn:microsoft.com/office/officeart/2005/8/layout/vList6"/>
    <dgm:cxn modelId="{7F1263AF-0A40-4FE1-B953-82AD1064CACB}" srcId="{942D645C-39C7-47D6-B1A1-B11FD89D5E87}" destId="{C3D7D26E-0D9C-4CA3-83E7-B8A70816DC6F}" srcOrd="2" destOrd="0" parTransId="{5F6096A3-C500-4CC2-9D08-EC9AD649C5CB}" sibTransId="{F79D6A1D-7660-48E1-950E-0199705BA972}"/>
    <dgm:cxn modelId="{F2D9A8EC-CBAC-42DF-86C5-2DAB915055A6}" type="presOf" srcId="{72208498-D31F-4097-B828-AAB11EBFBD84}" destId="{37CF3B28-73FE-4987-BF6D-7EB72803E8AA}" srcOrd="0" destOrd="4" presId="urn:microsoft.com/office/officeart/2005/8/layout/vList6"/>
    <dgm:cxn modelId="{62929332-B8A6-4807-B927-BF7A56FB0612}" srcId="{942D645C-39C7-47D6-B1A1-B11FD89D5E87}" destId="{7C6804A9-CC31-45E0-9D32-856EAD3F8B53}" srcOrd="0" destOrd="0" parTransId="{FD6540A8-D74C-4167-A56A-1CF675A88E1B}" sibTransId="{ABE09B7E-BE6F-4BEB-9CDB-7C395210F871}"/>
    <dgm:cxn modelId="{6CC68CFF-69F5-4FF5-ACD6-49AEAF12AAD9}" srcId="{E75DF324-5926-47E3-923D-AAF18F3F0380}" destId="{72208498-D31F-4097-B828-AAB11EBFBD84}" srcOrd="4" destOrd="0" parTransId="{E0F6B49B-0EF8-4FFF-90EB-D2599C8928E9}" sibTransId="{696E044B-69F8-46E2-A1E9-B3A7B046E0D1}"/>
    <dgm:cxn modelId="{DE2D399C-FF9A-40BB-B93F-E11413FA377B}" srcId="{E75DF324-5926-47E3-923D-AAF18F3F0380}" destId="{A7185902-CAE4-41E0-8448-758B86EE2E03}" srcOrd="5" destOrd="0" parTransId="{FDA04A99-BC99-4F83-89DD-4B74DDA98835}" sibTransId="{8DCF6A74-E275-4909-9341-38B1EDEC7E0F}"/>
    <dgm:cxn modelId="{E8C000EE-3AB6-4F99-ACFC-91F85F70BE34}" srcId="{E75DF324-5926-47E3-923D-AAF18F3F0380}" destId="{660932D4-619F-4BED-A53C-C2F39A27ED92}" srcOrd="6" destOrd="0" parTransId="{4E4D9936-525E-49F5-9F64-C6D245BD18A4}" sibTransId="{ECFE662A-F8DC-4C35-A8E4-CF87EF08B2D7}"/>
    <dgm:cxn modelId="{FED8591F-DE03-491F-B54A-5F6E26382CD8}" type="presParOf" srcId="{04238735-912E-48CE-91BD-9C8C861AA2B3}" destId="{A33EE430-359A-41BF-A684-0AA42C136CA0}" srcOrd="0" destOrd="0" presId="urn:microsoft.com/office/officeart/2005/8/layout/vList6"/>
    <dgm:cxn modelId="{0D9FA963-B2C0-4804-8664-B29AAAE54761}" type="presParOf" srcId="{A33EE430-359A-41BF-A684-0AA42C136CA0}" destId="{8F082955-45C6-4F20-BA5C-9643938DBF72}" srcOrd="0" destOrd="0" presId="urn:microsoft.com/office/officeart/2005/8/layout/vList6"/>
    <dgm:cxn modelId="{8B6EC6EF-7E2C-4580-972F-8CF803B0C0E9}" type="presParOf" srcId="{A33EE430-359A-41BF-A684-0AA42C136CA0}" destId="{3A359BE0-9CEF-4177-837A-C87441745178}" srcOrd="1" destOrd="0" presId="urn:microsoft.com/office/officeart/2005/8/layout/vList6"/>
    <dgm:cxn modelId="{74A6F2B5-4B71-4F14-B59E-CC4BA5C26AEF}" type="presParOf" srcId="{04238735-912E-48CE-91BD-9C8C861AA2B3}" destId="{2B80081A-36D2-4CD9-8E43-A9FC6E9D2CE9}" srcOrd="1" destOrd="0" presId="urn:microsoft.com/office/officeart/2005/8/layout/vList6"/>
    <dgm:cxn modelId="{C141221B-64DF-4A18-971C-A5780E3205D6}" type="presParOf" srcId="{04238735-912E-48CE-91BD-9C8C861AA2B3}" destId="{0562E74B-374C-4492-8516-72146DB65F40}" srcOrd="2" destOrd="0" presId="urn:microsoft.com/office/officeart/2005/8/layout/vList6"/>
    <dgm:cxn modelId="{2B2D7224-4AA8-4C43-AD90-6622D986BC6E}" type="presParOf" srcId="{0562E74B-374C-4492-8516-72146DB65F40}" destId="{8AF75A05-E229-4361-B383-098C06C49042}" srcOrd="0" destOrd="0" presId="urn:microsoft.com/office/officeart/2005/8/layout/vList6"/>
    <dgm:cxn modelId="{7B2EC3D0-21EA-4D70-9671-4B434C4074C2}" type="presParOf" srcId="{0562E74B-374C-4492-8516-72146DB65F40}" destId="{37CF3B28-73FE-4987-BF6D-7EB72803E8AA}" srcOrd="1" destOrd="0" presId="urn:microsoft.com/office/officeart/2005/8/layout/vList6"/>
    <dgm:cxn modelId="{58C998D1-D554-46FE-93B5-26D1DA06D189}" type="presParOf" srcId="{04238735-912E-48CE-91BD-9C8C861AA2B3}" destId="{348D3EF4-902B-4C4D-A6BE-F29E63FF0584}" srcOrd="3" destOrd="0" presId="urn:microsoft.com/office/officeart/2005/8/layout/vList6"/>
    <dgm:cxn modelId="{354B6D39-57BA-4311-8841-EE10718C69C9}" type="presParOf" srcId="{04238735-912E-48CE-91BD-9C8C861AA2B3}" destId="{154B454D-79F3-489A-B413-BFB7FC591B82}" srcOrd="4" destOrd="0" presId="urn:microsoft.com/office/officeart/2005/8/layout/vList6"/>
    <dgm:cxn modelId="{F535B52B-65DC-45EC-989D-015BCD8E2CC3}" type="presParOf" srcId="{154B454D-79F3-489A-B413-BFB7FC591B82}" destId="{7B6D2A75-2020-4351-8EB4-E00EFFC75B8F}" srcOrd="0" destOrd="0" presId="urn:microsoft.com/office/officeart/2005/8/layout/vList6"/>
    <dgm:cxn modelId="{BD19F572-F208-4617-BB80-D07A07D89B10}" type="presParOf" srcId="{154B454D-79F3-489A-B413-BFB7FC591B82}" destId="{62B496E2-D067-44E3-81B5-ADAAC2562AC1}" srcOrd="1" destOrd="0" presId="urn:microsoft.com/office/officeart/2005/8/layout/v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C67BEAE-6876-4075-B6B9-899283B525AC}" type="doc">
      <dgm:prSet loTypeId="urn:microsoft.com/office/officeart/2005/8/layout/hierarchy3" loCatId="hierarchy" qsTypeId="urn:microsoft.com/office/officeart/2005/8/quickstyle/3d2#1" qsCatId="3D" csTypeId="urn:microsoft.com/office/officeart/2005/8/colors/accent5_1" csCatId="accent5" phldr="1"/>
      <dgm:spPr/>
      <dgm:t>
        <a:bodyPr/>
        <a:lstStyle/>
        <a:p>
          <a:endParaRPr lang="en-US"/>
        </a:p>
      </dgm:t>
    </dgm:pt>
    <dgm:pt modelId="{1438FD66-3293-46FB-9107-840E26624E0F}">
      <dgm:prSet phldrT="[Text]"/>
      <dgm:spPr/>
      <dgm:t>
        <a:bodyPr/>
        <a:lstStyle/>
        <a:p>
          <a:r>
            <a:rPr lang="en-US" dirty="0"/>
            <a:t>One Tax For</a:t>
          </a:r>
        </a:p>
      </dgm:t>
    </dgm:pt>
    <dgm:pt modelId="{2339D9CE-97D6-4373-8FCA-1311B5A5660C}" type="parTrans" cxnId="{9808C8B7-E1F0-4823-AC7C-BD75F3BD502C}">
      <dgm:prSet/>
      <dgm:spPr/>
      <dgm:t>
        <a:bodyPr/>
        <a:lstStyle/>
        <a:p>
          <a:endParaRPr lang="en-US"/>
        </a:p>
      </dgm:t>
    </dgm:pt>
    <dgm:pt modelId="{2F967744-B6F4-46AB-9B8C-2E3CAB22A4B4}" type="sibTrans" cxnId="{9808C8B7-E1F0-4823-AC7C-BD75F3BD502C}">
      <dgm:prSet/>
      <dgm:spPr/>
      <dgm:t>
        <a:bodyPr/>
        <a:lstStyle/>
        <a:p>
          <a:endParaRPr lang="en-US"/>
        </a:p>
      </dgm:t>
    </dgm:pt>
    <dgm:pt modelId="{E9819839-1073-4D30-AE70-D7C70DCC96A9}">
      <dgm:prSet phldrT="[Text]"/>
      <dgm:spPr/>
      <dgm:t>
        <a:bodyPr/>
        <a:lstStyle/>
        <a:p>
          <a:r>
            <a:rPr lang="en-US" dirty="0"/>
            <a:t>Manufacturing</a:t>
          </a:r>
        </a:p>
      </dgm:t>
    </dgm:pt>
    <dgm:pt modelId="{1EB8FE7A-BA4F-44D5-9FC1-30B0431752DE}" type="parTrans" cxnId="{10989937-47E9-4F52-BF46-A0C158F3E3FA}">
      <dgm:prSet/>
      <dgm:spPr/>
      <dgm:t>
        <a:bodyPr/>
        <a:lstStyle/>
        <a:p>
          <a:endParaRPr lang="en-US"/>
        </a:p>
      </dgm:t>
    </dgm:pt>
    <dgm:pt modelId="{2952620F-CE4D-40DB-8923-0D2D724669F3}" type="sibTrans" cxnId="{10989937-47E9-4F52-BF46-A0C158F3E3FA}">
      <dgm:prSet/>
      <dgm:spPr/>
      <dgm:t>
        <a:bodyPr/>
        <a:lstStyle/>
        <a:p>
          <a:endParaRPr lang="en-US"/>
        </a:p>
      </dgm:t>
    </dgm:pt>
    <dgm:pt modelId="{659B2BAA-3ADD-44C7-9D49-22F494C374C9}">
      <dgm:prSet phldrT="[Text]"/>
      <dgm:spPr/>
      <dgm:t>
        <a:bodyPr/>
        <a:lstStyle/>
        <a:p>
          <a:r>
            <a:rPr lang="en-US" dirty="0"/>
            <a:t>Trading</a:t>
          </a:r>
        </a:p>
      </dgm:t>
    </dgm:pt>
    <dgm:pt modelId="{30C7E324-92D4-4D8E-8AB4-6A21C753AB5B}" type="parTrans" cxnId="{E1EF72DD-B48F-4822-A306-AB8A53F2287D}">
      <dgm:prSet/>
      <dgm:spPr/>
      <dgm:t>
        <a:bodyPr/>
        <a:lstStyle/>
        <a:p>
          <a:endParaRPr lang="en-US"/>
        </a:p>
      </dgm:t>
    </dgm:pt>
    <dgm:pt modelId="{DE7B230B-5BBA-41FD-A941-6F9A7B1D03C8}" type="sibTrans" cxnId="{E1EF72DD-B48F-4822-A306-AB8A53F2287D}">
      <dgm:prSet/>
      <dgm:spPr/>
      <dgm:t>
        <a:bodyPr/>
        <a:lstStyle/>
        <a:p>
          <a:endParaRPr lang="en-US"/>
        </a:p>
      </dgm:t>
    </dgm:pt>
    <dgm:pt modelId="{58D557FA-F067-445F-BB84-0AE14D944B4C}">
      <dgm:prSet phldrT="[Text]"/>
      <dgm:spPr/>
      <dgm:t>
        <a:bodyPr/>
        <a:lstStyle/>
        <a:p>
          <a:r>
            <a:rPr lang="en-US" dirty="0"/>
            <a:t>Services</a:t>
          </a:r>
        </a:p>
      </dgm:t>
    </dgm:pt>
    <dgm:pt modelId="{8C36A91E-246C-40CC-B590-D1DC3899CC36}" type="parTrans" cxnId="{C532B503-D3E6-4082-AEF7-B07FE917815D}">
      <dgm:prSet/>
      <dgm:spPr/>
      <dgm:t>
        <a:bodyPr/>
        <a:lstStyle/>
        <a:p>
          <a:endParaRPr lang="en-US"/>
        </a:p>
      </dgm:t>
    </dgm:pt>
    <dgm:pt modelId="{EADC3FB7-EB8B-430F-A32C-C89C9EA1DAEB}" type="sibTrans" cxnId="{C532B503-D3E6-4082-AEF7-B07FE917815D}">
      <dgm:prSet/>
      <dgm:spPr/>
      <dgm:t>
        <a:bodyPr/>
        <a:lstStyle/>
        <a:p>
          <a:endParaRPr lang="en-US"/>
        </a:p>
      </dgm:t>
    </dgm:pt>
    <dgm:pt modelId="{928DDE3F-6AB3-4D17-A098-DD4B7F5118D4}" type="pres">
      <dgm:prSet presAssocID="{7C67BEAE-6876-4075-B6B9-899283B525AC}" presName="diagram" presStyleCnt="0">
        <dgm:presLayoutVars>
          <dgm:chPref val="1"/>
          <dgm:dir/>
          <dgm:animOne val="branch"/>
          <dgm:animLvl val="lvl"/>
          <dgm:resizeHandles/>
        </dgm:presLayoutVars>
      </dgm:prSet>
      <dgm:spPr/>
      <dgm:t>
        <a:bodyPr/>
        <a:lstStyle/>
        <a:p>
          <a:endParaRPr lang="en-US"/>
        </a:p>
      </dgm:t>
    </dgm:pt>
    <dgm:pt modelId="{F6EC2D30-03F3-483B-8C19-4614E4C678E7}" type="pres">
      <dgm:prSet presAssocID="{1438FD66-3293-46FB-9107-840E26624E0F}" presName="root" presStyleCnt="0"/>
      <dgm:spPr/>
    </dgm:pt>
    <dgm:pt modelId="{B15ED12E-7E52-49C4-A85A-B775C5E4F54C}" type="pres">
      <dgm:prSet presAssocID="{1438FD66-3293-46FB-9107-840E26624E0F}" presName="rootComposite" presStyleCnt="0"/>
      <dgm:spPr/>
    </dgm:pt>
    <dgm:pt modelId="{A1CBB1CE-9344-485C-9CD0-509BE119BCB1}" type="pres">
      <dgm:prSet presAssocID="{1438FD66-3293-46FB-9107-840E26624E0F}" presName="rootText" presStyleLbl="node1" presStyleIdx="0" presStyleCnt="1"/>
      <dgm:spPr/>
      <dgm:t>
        <a:bodyPr/>
        <a:lstStyle/>
        <a:p>
          <a:endParaRPr lang="en-US"/>
        </a:p>
      </dgm:t>
    </dgm:pt>
    <dgm:pt modelId="{0D84AA63-9733-45BE-81A1-9477B7CA6C87}" type="pres">
      <dgm:prSet presAssocID="{1438FD66-3293-46FB-9107-840E26624E0F}" presName="rootConnector" presStyleLbl="node1" presStyleIdx="0" presStyleCnt="1"/>
      <dgm:spPr/>
      <dgm:t>
        <a:bodyPr/>
        <a:lstStyle/>
        <a:p>
          <a:endParaRPr lang="en-US"/>
        </a:p>
      </dgm:t>
    </dgm:pt>
    <dgm:pt modelId="{790E2FF9-A3F2-4191-AF02-BE3C775366EB}" type="pres">
      <dgm:prSet presAssocID="{1438FD66-3293-46FB-9107-840E26624E0F}" presName="childShape" presStyleCnt="0"/>
      <dgm:spPr/>
    </dgm:pt>
    <dgm:pt modelId="{8B4576FA-A3F9-449C-A8C8-1AA027612033}" type="pres">
      <dgm:prSet presAssocID="{1EB8FE7A-BA4F-44D5-9FC1-30B0431752DE}" presName="Name13" presStyleLbl="parChTrans1D2" presStyleIdx="0" presStyleCnt="3"/>
      <dgm:spPr/>
      <dgm:t>
        <a:bodyPr/>
        <a:lstStyle/>
        <a:p>
          <a:endParaRPr lang="en-US"/>
        </a:p>
      </dgm:t>
    </dgm:pt>
    <dgm:pt modelId="{469DA331-B091-45DB-816A-CBA08A3CBE13}" type="pres">
      <dgm:prSet presAssocID="{E9819839-1073-4D30-AE70-D7C70DCC96A9}" presName="childText" presStyleLbl="bgAcc1" presStyleIdx="0" presStyleCnt="3">
        <dgm:presLayoutVars>
          <dgm:bulletEnabled val="1"/>
        </dgm:presLayoutVars>
      </dgm:prSet>
      <dgm:spPr/>
      <dgm:t>
        <a:bodyPr/>
        <a:lstStyle/>
        <a:p>
          <a:endParaRPr lang="en-US"/>
        </a:p>
      </dgm:t>
    </dgm:pt>
    <dgm:pt modelId="{E34363D9-EE97-42EB-BA75-5AAE8B3C2957}" type="pres">
      <dgm:prSet presAssocID="{30C7E324-92D4-4D8E-8AB4-6A21C753AB5B}" presName="Name13" presStyleLbl="parChTrans1D2" presStyleIdx="1" presStyleCnt="3"/>
      <dgm:spPr/>
      <dgm:t>
        <a:bodyPr/>
        <a:lstStyle/>
        <a:p>
          <a:endParaRPr lang="en-US"/>
        </a:p>
      </dgm:t>
    </dgm:pt>
    <dgm:pt modelId="{ECFFDD07-AA87-4A2E-8172-2F00D2DAE1AA}" type="pres">
      <dgm:prSet presAssocID="{659B2BAA-3ADD-44C7-9D49-22F494C374C9}" presName="childText" presStyleLbl="bgAcc1" presStyleIdx="1" presStyleCnt="3">
        <dgm:presLayoutVars>
          <dgm:bulletEnabled val="1"/>
        </dgm:presLayoutVars>
      </dgm:prSet>
      <dgm:spPr/>
      <dgm:t>
        <a:bodyPr/>
        <a:lstStyle/>
        <a:p>
          <a:endParaRPr lang="en-US"/>
        </a:p>
      </dgm:t>
    </dgm:pt>
    <dgm:pt modelId="{22B77204-8798-45D6-94FE-1D80D86B855D}" type="pres">
      <dgm:prSet presAssocID="{8C36A91E-246C-40CC-B590-D1DC3899CC36}" presName="Name13" presStyleLbl="parChTrans1D2" presStyleIdx="2" presStyleCnt="3"/>
      <dgm:spPr/>
      <dgm:t>
        <a:bodyPr/>
        <a:lstStyle/>
        <a:p>
          <a:endParaRPr lang="en-US"/>
        </a:p>
      </dgm:t>
    </dgm:pt>
    <dgm:pt modelId="{D825E0CB-05D8-4D17-9295-A0319E61CB3C}" type="pres">
      <dgm:prSet presAssocID="{58D557FA-F067-445F-BB84-0AE14D944B4C}" presName="childText" presStyleLbl="bgAcc1" presStyleIdx="2" presStyleCnt="3">
        <dgm:presLayoutVars>
          <dgm:bulletEnabled val="1"/>
        </dgm:presLayoutVars>
      </dgm:prSet>
      <dgm:spPr/>
      <dgm:t>
        <a:bodyPr/>
        <a:lstStyle/>
        <a:p>
          <a:endParaRPr lang="en-US"/>
        </a:p>
      </dgm:t>
    </dgm:pt>
  </dgm:ptLst>
  <dgm:cxnLst>
    <dgm:cxn modelId="{E1EF72DD-B48F-4822-A306-AB8A53F2287D}" srcId="{1438FD66-3293-46FB-9107-840E26624E0F}" destId="{659B2BAA-3ADD-44C7-9D49-22F494C374C9}" srcOrd="1" destOrd="0" parTransId="{30C7E324-92D4-4D8E-8AB4-6A21C753AB5B}" sibTransId="{DE7B230B-5BBA-41FD-A941-6F9A7B1D03C8}"/>
    <dgm:cxn modelId="{01488426-F843-40A8-B2D6-D8B177B83682}" type="presOf" srcId="{7C67BEAE-6876-4075-B6B9-899283B525AC}" destId="{928DDE3F-6AB3-4D17-A098-DD4B7F5118D4}" srcOrd="0" destOrd="0" presId="urn:microsoft.com/office/officeart/2005/8/layout/hierarchy3"/>
    <dgm:cxn modelId="{37C29B47-2AF6-4A60-80E9-651EE1776478}" type="presOf" srcId="{8C36A91E-246C-40CC-B590-D1DC3899CC36}" destId="{22B77204-8798-45D6-94FE-1D80D86B855D}" srcOrd="0" destOrd="0" presId="urn:microsoft.com/office/officeart/2005/8/layout/hierarchy3"/>
    <dgm:cxn modelId="{F49A6707-DEF2-4A9B-8ABA-9557936D2AF0}" type="presOf" srcId="{E9819839-1073-4D30-AE70-D7C70DCC96A9}" destId="{469DA331-B091-45DB-816A-CBA08A3CBE13}" srcOrd="0" destOrd="0" presId="urn:microsoft.com/office/officeart/2005/8/layout/hierarchy3"/>
    <dgm:cxn modelId="{10989937-47E9-4F52-BF46-A0C158F3E3FA}" srcId="{1438FD66-3293-46FB-9107-840E26624E0F}" destId="{E9819839-1073-4D30-AE70-D7C70DCC96A9}" srcOrd="0" destOrd="0" parTransId="{1EB8FE7A-BA4F-44D5-9FC1-30B0431752DE}" sibTransId="{2952620F-CE4D-40DB-8923-0D2D724669F3}"/>
    <dgm:cxn modelId="{9808C8B7-E1F0-4823-AC7C-BD75F3BD502C}" srcId="{7C67BEAE-6876-4075-B6B9-899283B525AC}" destId="{1438FD66-3293-46FB-9107-840E26624E0F}" srcOrd="0" destOrd="0" parTransId="{2339D9CE-97D6-4373-8FCA-1311B5A5660C}" sibTransId="{2F967744-B6F4-46AB-9B8C-2E3CAB22A4B4}"/>
    <dgm:cxn modelId="{ED493CC2-8E28-4C25-8FBD-C2F721D068C8}" type="presOf" srcId="{1438FD66-3293-46FB-9107-840E26624E0F}" destId="{A1CBB1CE-9344-485C-9CD0-509BE119BCB1}" srcOrd="0" destOrd="0" presId="urn:microsoft.com/office/officeart/2005/8/layout/hierarchy3"/>
    <dgm:cxn modelId="{C532B503-D3E6-4082-AEF7-B07FE917815D}" srcId="{1438FD66-3293-46FB-9107-840E26624E0F}" destId="{58D557FA-F067-445F-BB84-0AE14D944B4C}" srcOrd="2" destOrd="0" parTransId="{8C36A91E-246C-40CC-B590-D1DC3899CC36}" sibTransId="{EADC3FB7-EB8B-430F-A32C-C89C9EA1DAEB}"/>
    <dgm:cxn modelId="{4275E2CC-5D40-461F-9D99-15F6622DBFA2}" type="presOf" srcId="{1438FD66-3293-46FB-9107-840E26624E0F}" destId="{0D84AA63-9733-45BE-81A1-9477B7CA6C87}" srcOrd="1" destOrd="0" presId="urn:microsoft.com/office/officeart/2005/8/layout/hierarchy3"/>
    <dgm:cxn modelId="{DA4FCD9A-3456-4547-8EB8-B2A8612CAA83}" type="presOf" srcId="{30C7E324-92D4-4D8E-8AB4-6A21C753AB5B}" destId="{E34363D9-EE97-42EB-BA75-5AAE8B3C2957}" srcOrd="0" destOrd="0" presId="urn:microsoft.com/office/officeart/2005/8/layout/hierarchy3"/>
    <dgm:cxn modelId="{DAD05860-9080-45C3-A3A0-B46E29CB1A16}" type="presOf" srcId="{659B2BAA-3ADD-44C7-9D49-22F494C374C9}" destId="{ECFFDD07-AA87-4A2E-8172-2F00D2DAE1AA}" srcOrd="0" destOrd="0" presId="urn:microsoft.com/office/officeart/2005/8/layout/hierarchy3"/>
    <dgm:cxn modelId="{72CEA8F9-5FC4-42A7-920A-8238F659E6E9}" type="presOf" srcId="{1EB8FE7A-BA4F-44D5-9FC1-30B0431752DE}" destId="{8B4576FA-A3F9-449C-A8C8-1AA027612033}" srcOrd="0" destOrd="0" presId="urn:microsoft.com/office/officeart/2005/8/layout/hierarchy3"/>
    <dgm:cxn modelId="{297C4664-E551-4A23-BD6A-E2452DF9D64D}" type="presOf" srcId="{58D557FA-F067-445F-BB84-0AE14D944B4C}" destId="{D825E0CB-05D8-4D17-9295-A0319E61CB3C}" srcOrd="0" destOrd="0" presId="urn:microsoft.com/office/officeart/2005/8/layout/hierarchy3"/>
    <dgm:cxn modelId="{170B2B26-486F-4FB7-BE86-31A911A75448}" type="presParOf" srcId="{928DDE3F-6AB3-4D17-A098-DD4B7F5118D4}" destId="{F6EC2D30-03F3-483B-8C19-4614E4C678E7}" srcOrd="0" destOrd="0" presId="urn:microsoft.com/office/officeart/2005/8/layout/hierarchy3"/>
    <dgm:cxn modelId="{C4C24E1E-7B76-45F0-A6C1-50E8FC86D893}" type="presParOf" srcId="{F6EC2D30-03F3-483B-8C19-4614E4C678E7}" destId="{B15ED12E-7E52-49C4-A85A-B775C5E4F54C}" srcOrd="0" destOrd="0" presId="urn:microsoft.com/office/officeart/2005/8/layout/hierarchy3"/>
    <dgm:cxn modelId="{23440CC8-2909-4068-8A88-82FAB931FD2C}" type="presParOf" srcId="{B15ED12E-7E52-49C4-A85A-B775C5E4F54C}" destId="{A1CBB1CE-9344-485C-9CD0-509BE119BCB1}" srcOrd="0" destOrd="0" presId="urn:microsoft.com/office/officeart/2005/8/layout/hierarchy3"/>
    <dgm:cxn modelId="{87139E09-AC23-42F4-AB6B-044DD3EF21AB}" type="presParOf" srcId="{B15ED12E-7E52-49C4-A85A-B775C5E4F54C}" destId="{0D84AA63-9733-45BE-81A1-9477B7CA6C87}" srcOrd="1" destOrd="0" presId="urn:microsoft.com/office/officeart/2005/8/layout/hierarchy3"/>
    <dgm:cxn modelId="{9F066B52-8D5F-42CB-A0EF-B3073389611B}" type="presParOf" srcId="{F6EC2D30-03F3-483B-8C19-4614E4C678E7}" destId="{790E2FF9-A3F2-4191-AF02-BE3C775366EB}" srcOrd="1" destOrd="0" presId="urn:microsoft.com/office/officeart/2005/8/layout/hierarchy3"/>
    <dgm:cxn modelId="{0CEA843E-0168-4B38-AAB2-792D56110A0F}" type="presParOf" srcId="{790E2FF9-A3F2-4191-AF02-BE3C775366EB}" destId="{8B4576FA-A3F9-449C-A8C8-1AA027612033}" srcOrd="0" destOrd="0" presId="urn:microsoft.com/office/officeart/2005/8/layout/hierarchy3"/>
    <dgm:cxn modelId="{7B52FAB8-197E-498B-A98F-10CD12C8A2EE}" type="presParOf" srcId="{790E2FF9-A3F2-4191-AF02-BE3C775366EB}" destId="{469DA331-B091-45DB-816A-CBA08A3CBE13}" srcOrd="1" destOrd="0" presId="urn:microsoft.com/office/officeart/2005/8/layout/hierarchy3"/>
    <dgm:cxn modelId="{67B01671-1BAB-4B80-A34F-98BAB6209BAA}" type="presParOf" srcId="{790E2FF9-A3F2-4191-AF02-BE3C775366EB}" destId="{E34363D9-EE97-42EB-BA75-5AAE8B3C2957}" srcOrd="2" destOrd="0" presId="urn:microsoft.com/office/officeart/2005/8/layout/hierarchy3"/>
    <dgm:cxn modelId="{B127E27E-9D21-4851-B136-574D6A67551A}" type="presParOf" srcId="{790E2FF9-A3F2-4191-AF02-BE3C775366EB}" destId="{ECFFDD07-AA87-4A2E-8172-2F00D2DAE1AA}" srcOrd="3" destOrd="0" presId="urn:microsoft.com/office/officeart/2005/8/layout/hierarchy3"/>
    <dgm:cxn modelId="{CE82A27C-5A9D-4F74-B439-59EE08C64D29}" type="presParOf" srcId="{790E2FF9-A3F2-4191-AF02-BE3C775366EB}" destId="{22B77204-8798-45D6-94FE-1D80D86B855D}" srcOrd="4" destOrd="0" presId="urn:microsoft.com/office/officeart/2005/8/layout/hierarchy3"/>
    <dgm:cxn modelId="{B3B19F84-DCFB-40E8-85DB-60AF79F1EA87}" type="presParOf" srcId="{790E2FF9-A3F2-4191-AF02-BE3C775366EB}" destId="{D825E0CB-05D8-4D17-9295-A0319E61CB3C}" srcOrd="5" destOrd="0" presId="urn:microsoft.com/office/officeart/2005/8/layout/hierarchy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EE5186-8C39-4ABB-B2B5-FCFD8B59BF52}">
      <dsp:nvSpPr>
        <dsp:cNvPr id="0" name=""/>
        <dsp:cNvSpPr/>
      </dsp:nvSpPr>
      <dsp:spPr>
        <a:xfrm>
          <a:off x="7216024" y="3694381"/>
          <a:ext cx="734857" cy="349725"/>
        </a:xfrm>
        <a:custGeom>
          <a:avLst/>
          <a:gdLst/>
          <a:ahLst/>
          <a:cxnLst/>
          <a:rect l="0" t="0" r="0" b="0"/>
          <a:pathLst>
            <a:path>
              <a:moveTo>
                <a:pt x="0" y="0"/>
              </a:moveTo>
              <a:lnTo>
                <a:pt x="0" y="238327"/>
              </a:lnTo>
              <a:lnTo>
                <a:pt x="734857" y="238327"/>
              </a:lnTo>
              <a:lnTo>
                <a:pt x="734857" y="34972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4AEFC6E-EE2B-4900-ABDB-41C0A2A11AB5}">
      <dsp:nvSpPr>
        <dsp:cNvPr id="0" name=""/>
        <dsp:cNvSpPr/>
      </dsp:nvSpPr>
      <dsp:spPr>
        <a:xfrm>
          <a:off x="6481167" y="3694381"/>
          <a:ext cx="734857" cy="349725"/>
        </a:xfrm>
        <a:custGeom>
          <a:avLst/>
          <a:gdLst/>
          <a:ahLst/>
          <a:cxnLst/>
          <a:rect l="0" t="0" r="0" b="0"/>
          <a:pathLst>
            <a:path>
              <a:moveTo>
                <a:pt x="734857" y="0"/>
              </a:moveTo>
              <a:lnTo>
                <a:pt x="734857" y="238327"/>
              </a:lnTo>
              <a:lnTo>
                <a:pt x="0" y="238327"/>
              </a:lnTo>
              <a:lnTo>
                <a:pt x="0" y="34972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D75012E-8A82-4865-A212-995E5B23B53F}">
      <dsp:nvSpPr>
        <dsp:cNvPr id="0" name=""/>
        <dsp:cNvSpPr/>
      </dsp:nvSpPr>
      <dsp:spPr>
        <a:xfrm>
          <a:off x="5378880" y="2581072"/>
          <a:ext cx="1837143" cy="349725"/>
        </a:xfrm>
        <a:custGeom>
          <a:avLst/>
          <a:gdLst/>
          <a:ahLst/>
          <a:cxnLst/>
          <a:rect l="0" t="0" r="0" b="0"/>
          <a:pathLst>
            <a:path>
              <a:moveTo>
                <a:pt x="0" y="0"/>
              </a:moveTo>
              <a:lnTo>
                <a:pt x="0" y="238327"/>
              </a:lnTo>
              <a:lnTo>
                <a:pt x="1837143" y="238327"/>
              </a:lnTo>
              <a:lnTo>
                <a:pt x="1837143" y="34972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018ADC2-A1E0-4B5D-9EF2-ABB1F83116C6}">
      <dsp:nvSpPr>
        <dsp:cNvPr id="0" name=""/>
        <dsp:cNvSpPr/>
      </dsp:nvSpPr>
      <dsp:spPr>
        <a:xfrm>
          <a:off x="3541737" y="3694381"/>
          <a:ext cx="1469714" cy="349725"/>
        </a:xfrm>
        <a:custGeom>
          <a:avLst/>
          <a:gdLst/>
          <a:ahLst/>
          <a:cxnLst/>
          <a:rect l="0" t="0" r="0" b="0"/>
          <a:pathLst>
            <a:path>
              <a:moveTo>
                <a:pt x="0" y="0"/>
              </a:moveTo>
              <a:lnTo>
                <a:pt x="0" y="238327"/>
              </a:lnTo>
              <a:lnTo>
                <a:pt x="1469714" y="238327"/>
              </a:lnTo>
              <a:lnTo>
                <a:pt x="1469714" y="34972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145ECD4-93EC-499B-9178-0A8EF2FE6708}">
      <dsp:nvSpPr>
        <dsp:cNvPr id="0" name=""/>
        <dsp:cNvSpPr/>
      </dsp:nvSpPr>
      <dsp:spPr>
        <a:xfrm>
          <a:off x="3496017" y="3694381"/>
          <a:ext cx="91440" cy="349725"/>
        </a:xfrm>
        <a:custGeom>
          <a:avLst/>
          <a:gdLst/>
          <a:ahLst/>
          <a:cxnLst/>
          <a:rect l="0" t="0" r="0" b="0"/>
          <a:pathLst>
            <a:path>
              <a:moveTo>
                <a:pt x="45720" y="0"/>
              </a:moveTo>
              <a:lnTo>
                <a:pt x="45720" y="34972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D76F35D-E6DE-418A-8F7A-64FDC0E82A69}">
      <dsp:nvSpPr>
        <dsp:cNvPr id="0" name=""/>
        <dsp:cNvSpPr/>
      </dsp:nvSpPr>
      <dsp:spPr>
        <a:xfrm>
          <a:off x="2072022" y="3694381"/>
          <a:ext cx="1469714" cy="349725"/>
        </a:xfrm>
        <a:custGeom>
          <a:avLst/>
          <a:gdLst/>
          <a:ahLst/>
          <a:cxnLst/>
          <a:rect l="0" t="0" r="0" b="0"/>
          <a:pathLst>
            <a:path>
              <a:moveTo>
                <a:pt x="1469714" y="0"/>
              </a:moveTo>
              <a:lnTo>
                <a:pt x="1469714" y="238327"/>
              </a:lnTo>
              <a:lnTo>
                <a:pt x="0" y="238327"/>
              </a:lnTo>
              <a:lnTo>
                <a:pt x="0" y="34972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1952042-1375-4E98-A307-7B062BBF620F}">
      <dsp:nvSpPr>
        <dsp:cNvPr id="0" name=""/>
        <dsp:cNvSpPr/>
      </dsp:nvSpPr>
      <dsp:spPr>
        <a:xfrm>
          <a:off x="3541737" y="2581072"/>
          <a:ext cx="1837143" cy="349725"/>
        </a:xfrm>
        <a:custGeom>
          <a:avLst/>
          <a:gdLst/>
          <a:ahLst/>
          <a:cxnLst/>
          <a:rect l="0" t="0" r="0" b="0"/>
          <a:pathLst>
            <a:path>
              <a:moveTo>
                <a:pt x="1837143" y="0"/>
              </a:moveTo>
              <a:lnTo>
                <a:pt x="1837143" y="238327"/>
              </a:lnTo>
              <a:lnTo>
                <a:pt x="0" y="238327"/>
              </a:lnTo>
              <a:lnTo>
                <a:pt x="0" y="34972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425EA85-1220-4EFD-B211-4850C8BB43E7}">
      <dsp:nvSpPr>
        <dsp:cNvPr id="0" name=""/>
        <dsp:cNvSpPr/>
      </dsp:nvSpPr>
      <dsp:spPr>
        <a:xfrm>
          <a:off x="3358022" y="1467763"/>
          <a:ext cx="2020858" cy="349725"/>
        </a:xfrm>
        <a:custGeom>
          <a:avLst/>
          <a:gdLst/>
          <a:ahLst/>
          <a:cxnLst/>
          <a:rect l="0" t="0" r="0" b="0"/>
          <a:pathLst>
            <a:path>
              <a:moveTo>
                <a:pt x="0" y="0"/>
              </a:moveTo>
              <a:lnTo>
                <a:pt x="0" y="238327"/>
              </a:lnTo>
              <a:lnTo>
                <a:pt x="2020858" y="238327"/>
              </a:lnTo>
              <a:lnTo>
                <a:pt x="2020858" y="34972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735E66A-DE2C-4391-974E-5235C3F90876}">
      <dsp:nvSpPr>
        <dsp:cNvPr id="0" name=""/>
        <dsp:cNvSpPr/>
      </dsp:nvSpPr>
      <dsp:spPr>
        <a:xfrm>
          <a:off x="1337164" y="2581072"/>
          <a:ext cx="734857" cy="349725"/>
        </a:xfrm>
        <a:custGeom>
          <a:avLst/>
          <a:gdLst/>
          <a:ahLst/>
          <a:cxnLst/>
          <a:rect l="0" t="0" r="0" b="0"/>
          <a:pathLst>
            <a:path>
              <a:moveTo>
                <a:pt x="0" y="0"/>
              </a:moveTo>
              <a:lnTo>
                <a:pt x="0" y="238327"/>
              </a:lnTo>
              <a:lnTo>
                <a:pt x="734857" y="238327"/>
              </a:lnTo>
              <a:lnTo>
                <a:pt x="734857" y="34972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9003078-F5E9-43E9-989F-0DE3873C6855}">
      <dsp:nvSpPr>
        <dsp:cNvPr id="0" name=""/>
        <dsp:cNvSpPr/>
      </dsp:nvSpPr>
      <dsp:spPr>
        <a:xfrm>
          <a:off x="602307" y="2581072"/>
          <a:ext cx="734857" cy="349725"/>
        </a:xfrm>
        <a:custGeom>
          <a:avLst/>
          <a:gdLst/>
          <a:ahLst/>
          <a:cxnLst/>
          <a:rect l="0" t="0" r="0" b="0"/>
          <a:pathLst>
            <a:path>
              <a:moveTo>
                <a:pt x="734857" y="0"/>
              </a:moveTo>
              <a:lnTo>
                <a:pt x="734857" y="238327"/>
              </a:lnTo>
              <a:lnTo>
                <a:pt x="0" y="238327"/>
              </a:lnTo>
              <a:lnTo>
                <a:pt x="0" y="34972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C0469FD-B98E-4637-A481-108F4E50CACB}">
      <dsp:nvSpPr>
        <dsp:cNvPr id="0" name=""/>
        <dsp:cNvSpPr/>
      </dsp:nvSpPr>
      <dsp:spPr>
        <a:xfrm>
          <a:off x="1337164" y="1467763"/>
          <a:ext cx="2020858" cy="349725"/>
        </a:xfrm>
        <a:custGeom>
          <a:avLst/>
          <a:gdLst/>
          <a:ahLst/>
          <a:cxnLst/>
          <a:rect l="0" t="0" r="0" b="0"/>
          <a:pathLst>
            <a:path>
              <a:moveTo>
                <a:pt x="2020858" y="0"/>
              </a:moveTo>
              <a:lnTo>
                <a:pt x="2020858" y="238327"/>
              </a:lnTo>
              <a:lnTo>
                <a:pt x="0" y="238327"/>
              </a:lnTo>
              <a:lnTo>
                <a:pt x="0" y="34972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5B37764-B936-4A82-941E-933050CE1DD0}">
      <dsp:nvSpPr>
        <dsp:cNvPr id="0" name=""/>
        <dsp:cNvSpPr/>
      </dsp:nvSpPr>
      <dsp:spPr>
        <a:xfrm>
          <a:off x="2756775" y="704179"/>
          <a:ext cx="1202494" cy="76358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41A6D5-DD07-4CF9-A9F7-F72748EC608C}">
      <dsp:nvSpPr>
        <dsp:cNvPr id="0" name=""/>
        <dsp:cNvSpPr/>
      </dsp:nvSpPr>
      <dsp:spPr>
        <a:xfrm>
          <a:off x="2890386" y="831109"/>
          <a:ext cx="1202494" cy="76358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lvl="0" algn="ctr" defTabSz="577850">
            <a:lnSpc>
              <a:spcPct val="90000"/>
            </a:lnSpc>
            <a:spcBef>
              <a:spcPct val="0"/>
            </a:spcBef>
            <a:spcAft>
              <a:spcPct val="35000"/>
            </a:spcAft>
          </a:pPr>
          <a:r>
            <a:rPr lang="en-US" sz="1300" kern="1200" dirty="0" smtClean="0"/>
            <a:t>Tax Structure</a:t>
          </a:r>
          <a:endParaRPr lang="en-US" sz="1300" kern="1200" dirty="0"/>
        </a:p>
      </dsp:txBody>
      <dsp:txXfrm>
        <a:off x="2912751" y="853474"/>
        <a:ext cx="1157764" cy="718853"/>
      </dsp:txXfrm>
    </dsp:sp>
    <dsp:sp modelId="{EA12A5BA-5FFC-45F1-B49F-FCEF2A07016E}">
      <dsp:nvSpPr>
        <dsp:cNvPr id="0" name=""/>
        <dsp:cNvSpPr/>
      </dsp:nvSpPr>
      <dsp:spPr>
        <a:xfrm>
          <a:off x="735917" y="1817488"/>
          <a:ext cx="1202494" cy="76358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20FD404-409D-4E1F-AEB7-F7D7BD9BE221}">
      <dsp:nvSpPr>
        <dsp:cNvPr id="0" name=""/>
        <dsp:cNvSpPr/>
      </dsp:nvSpPr>
      <dsp:spPr>
        <a:xfrm>
          <a:off x="869528" y="1944418"/>
          <a:ext cx="1202494" cy="76358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lvl="0" algn="ctr" defTabSz="577850">
            <a:lnSpc>
              <a:spcPct val="90000"/>
            </a:lnSpc>
            <a:spcBef>
              <a:spcPct val="0"/>
            </a:spcBef>
            <a:spcAft>
              <a:spcPct val="35000"/>
            </a:spcAft>
          </a:pPr>
          <a:r>
            <a:rPr lang="en-US" sz="1300" kern="1200" dirty="0" smtClean="0"/>
            <a:t>Direct Tax</a:t>
          </a:r>
          <a:endParaRPr lang="en-US" sz="1300" kern="1200" dirty="0"/>
        </a:p>
      </dsp:txBody>
      <dsp:txXfrm>
        <a:off x="891893" y="1966783"/>
        <a:ext cx="1157764" cy="718853"/>
      </dsp:txXfrm>
    </dsp:sp>
    <dsp:sp modelId="{2C673FAB-0977-4995-B93B-5B834DB770C4}">
      <dsp:nvSpPr>
        <dsp:cNvPr id="0" name=""/>
        <dsp:cNvSpPr/>
      </dsp:nvSpPr>
      <dsp:spPr>
        <a:xfrm>
          <a:off x="1060" y="2930797"/>
          <a:ext cx="1202494" cy="76358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1744D33-82A3-44AA-AD62-5DC4D6AF031C}">
      <dsp:nvSpPr>
        <dsp:cNvPr id="0" name=""/>
        <dsp:cNvSpPr/>
      </dsp:nvSpPr>
      <dsp:spPr>
        <a:xfrm>
          <a:off x="134670" y="3057727"/>
          <a:ext cx="1202494" cy="76358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lvl="0" algn="ctr" defTabSz="577850">
            <a:lnSpc>
              <a:spcPct val="90000"/>
            </a:lnSpc>
            <a:spcBef>
              <a:spcPct val="0"/>
            </a:spcBef>
            <a:spcAft>
              <a:spcPct val="35000"/>
            </a:spcAft>
          </a:pPr>
          <a:r>
            <a:rPr lang="en-US" sz="1300" kern="1200" dirty="0" smtClean="0"/>
            <a:t>Income Tax	</a:t>
          </a:r>
          <a:endParaRPr lang="en-US" sz="1300" kern="1200" dirty="0"/>
        </a:p>
      </dsp:txBody>
      <dsp:txXfrm>
        <a:off x="157035" y="3080092"/>
        <a:ext cx="1157764" cy="718853"/>
      </dsp:txXfrm>
    </dsp:sp>
    <dsp:sp modelId="{DF180794-925B-4AB1-9E13-C12518871128}">
      <dsp:nvSpPr>
        <dsp:cNvPr id="0" name=""/>
        <dsp:cNvSpPr/>
      </dsp:nvSpPr>
      <dsp:spPr>
        <a:xfrm>
          <a:off x="1470775" y="2930797"/>
          <a:ext cx="1202494" cy="76358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5B29A14-8A61-4A85-867B-D3DBCE39CD78}">
      <dsp:nvSpPr>
        <dsp:cNvPr id="0" name=""/>
        <dsp:cNvSpPr/>
      </dsp:nvSpPr>
      <dsp:spPr>
        <a:xfrm>
          <a:off x="1604385" y="3057727"/>
          <a:ext cx="1202494" cy="76358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lvl="0" algn="ctr" defTabSz="577850">
            <a:lnSpc>
              <a:spcPct val="90000"/>
            </a:lnSpc>
            <a:spcBef>
              <a:spcPct val="0"/>
            </a:spcBef>
            <a:spcAft>
              <a:spcPct val="35000"/>
            </a:spcAft>
          </a:pPr>
          <a:r>
            <a:rPr lang="en-US" sz="1300" kern="1200" dirty="0" smtClean="0"/>
            <a:t>Wealth Tax</a:t>
          </a:r>
          <a:endParaRPr lang="en-US" sz="1300" kern="1200" dirty="0"/>
        </a:p>
      </dsp:txBody>
      <dsp:txXfrm>
        <a:off x="1626750" y="3080092"/>
        <a:ext cx="1157764" cy="718853"/>
      </dsp:txXfrm>
    </dsp:sp>
    <dsp:sp modelId="{2B102F27-AD70-4135-9158-4E15606A314D}">
      <dsp:nvSpPr>
        <dsp:cNvPr id="0" name=""/>
        <dsp:cNvSpPr/>
      </dsp:nvSpPr>
      <dsp:spPr>
        <a:xfrm>
          <a:off x="4777633" y="1817488"/>
          <a:ext cx="1202494" cy="76358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952A5B5-D156-4AA0-8C86-A0AA4980AFC2}">
      <dsp:nvSpPr>
        <dsp:cNvPr id="0" name=""/>
        <dsp:cNvSpPr/>
      </dsp:nvSpPr>
      <dsp:spPr>
        <a:xfrm>
          <a:off x="4911244" y="1944418"/>
          <a:ext cx="1202494" cy="76358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lvl="0" algn="ctr" defTabSz="577850">
            <a:lnSpc>
              <a:spcPct val="90000"/>
            </a:lnSpc>
            <a:spcBef>
              <a:spcPct val="0"/>
            </a:spcBef>
            <a:spcAft>
              <a:spcPct val="35000"/>
            </a:spcAft>
          </a:pPr>
          <a:r>
            <a:rPr lang="en-US" sz="1300" kern="1200" dirty="0" smtClean="0"/>
            <a:t>Indirect Tax</a:t>
          </a:r>
          <a:endParaRPr lang="en-US" sz="1300" kern="1200" dirty="0"/>
        </a:p>
      </dsp:txBody>
      <dsp:txXfrm>
        <a:off x="4933609" y="1966783"/>
        <a:ext cx="1157764" cy="718853"/>
      </dsp:txXfrm>
    </dsp:sp>
    <dsp:sp modelId="{4F76F2E8-DC22-412C-9878-20B772C999FC}">
      <dsp:nvSpPr>
        <dsp:cNvPr id="0" name=""/>
        <dsp:cNvSpPr/>
      </dsp:nvSpPr>
      <dsp:spPr>
        <a:xfrm>
          <a:off x="2940490" y="2930797"/>
          <a:ext cx="1202494" cy="76358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B62BA52-4F30-4AA0-A99C-A978AC8E9A08}">
      <dsp:nvSpPr>
        <dsp:cNvPr id="0" name=""/>
        <dsp:cNvSpPr/>
      </dsp:nvSpPr>
      <dsp:spPr>
        <a:xfrm>
          <a:off x="3074100" y="3057727"/>
          <a:ext cx="1202494" cy="76358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lvl="0" algn="ctr" defTabSz="577850">
            <a:lnSpc>
              <a:spcPct val="90000"/>
            </a:lnSpc>
            <a:spcBef>
              <a:spcPct val="0"/>
            </a:spcBef>
            <a:spcAft>
              <a:spcPct val="35000"/>
            </a:spcAft>
          </a:pPr>
          <a:r>
            <a:rPr lang="en-US" sz="1300" kern="1200" dirty="0" smtClean="0"/>
            <a:t>Central Tax</a:t>
          </a:r>
          <a:endParaRPr lang="en-US" sz="1300" kern="1200" dirty="0"/>
        </a:p>
      </dsp:txBody>
      <dsp:txXfrm>
        <a:off x="3096465" y="3080092"/>
        <a:ext cx="1157764" cy="718853"/>
      </dsp:txXfrm>
    </dsp:sp>
    <dsp:sp modelId="{D94F6C87-5317-4B2B-82D2-616E9E301A31}">
      <dsp:nvSpPr>
        <dsp:cNvPr id="0" name=""/>
        <dsp:cNvSpPr/>
      </dsp:nvSpPr>
      <dsp:spPr>
        <a:xfrm>
          <a:off x="1470775" y="4044106"/>
          <a:ext cx="1202494" cy="76358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20E05E8-98DE-4B84-8B1A-F10911B9A4C6}">
      <dsp:nvSpPr>
        <dsp:cNvPr id="0" name=""/>
        <dsp:cNvSpPr/>
      </dsp:nvSpPr>
      <dsp:spPr>
        <a:xfrm>
          <a:off x="1604385" y="4171036"/>
          <a:ext cx="1202494" cy="76358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lvl="0" algn="ctr" defTabSz="577850">
            <a:lnSpc>
              <a:spcPct val="90000"/>
            </a:lnSpc>
            <a:spcBef>
              <a:spcPct val="0"/>
            </a:spcBef>
            <a:spcAft>
              <a:spcPct val="35000"/>
            </a:spcAft>
          </a:pPr>
          <a:r>
            <a:rPr lang="en-US" sz="1300" kern="1200" dirty="0" smtClean="0"/>
            <a:t>Excise</a:t>
          </a:r>
          <a:endParaRPr lang="en-US" sz="1300" kern="1200" dirty="0"/>
        </a:p>
      </dsp:txBody>
      <dsp:txXfrm>
        <a:off x="1626750" y="4193401"/>
        <a:ext cx="1157764" cy="718853"/>
      </dsp:txXfrm>
    </dsp:sp>
    <dsp:sp modelId="{99C7340D-6643-4E11-89D4-5AD8A7E22B8D}">
      <dsp:nvSpPr>
        <dsp:cNvPr id="0" name=""/>
        <dsp:cNvSpPr/>
      </dsp:nvSpPr>
      <dsp:spPr>
        <a:xfrm>
          <a:off x="2940490" y="4044106"/>
          <a:ext cx="1202494" cy="76358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D399C43-145D-43D0-B88A-8736ED8C28B5}">
      <dsp:nvSpPr>
        <dsp:cNvPr id="0" name=""/>
        <dsp:cNvSpPr/>
      </dsp:nvSpPr>
      <dsp:spPr>
        <a:xfrm>
          <a:off x="3074100" y="4171036"/>
          <a:ext cx="1202494" cy="76358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lvl="0" algn="ctr" defTabSz="577850">
            <a:lnSpc>
              <a:spcPct val="90000"/>
            </a:lnSpc>
            <a:spcBef>
              <a:spcPct val="0"/>
            </a:spcBef>
            <a:spcAft>
              <a:spcPct val="35000"/>
            </a:spcAft>
          </a:pPr>
          <a:r>
            <a:rPr lang="en-US" sz="1300" kern="1200" dirty="0" smtClean="0"/>
            <a:t>Service Tax</a:t>
          </a:r>
          <a:endParaRPr lang="en-US" sz="1300" kern="1200" dirty="0"/>
        </a:p>
      </dsp:txBody>
      <dsp:txXfrm>
        <a:off x="3096465" y="4193401"/>
        <a:ext cx="1157764" cy="718853"/>
      </dsp:txXfrm>
    </dsp:sp>
    <dsp:sp modelId="{A6FFE2F9-BD39-443A-9D32-687E2CAA1C65}">
      <dsp:nvSpPr>
        <dsp:cNvPr id="0" name=""/>
        <dsp:cNvSpPr/>
      </dsp:nvSpPr>
      <dsp:spPr>
        <a:xfrm>
          <a:off x="4410205" y="4044106"/>
          <a:ext cx="1202494" cy="76358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8DC985C-085B-4BB6-A608-9315A50D25A5}">
      <dsp:nvSpPr>
        <dsp:cNvPr id="0" name=""/>
        <dsp:cNvSpPr/>
      </dsp:nvSpPr>
      <dsp:spPr>
        <a:xfrm>
          <a:off x="4543815" y="4171036"/>
          <a:ext cx="1202494" cy="76358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lvl="0" algn="ctr" defTabSz="577850">
            <a:lnSpc>
              <a:spcPct val="90000"/>
            </a:lnSpc>
            <a:spcBef>
              <a:spcPct val="0"/>
            </a:spcBef>
            <a:spcAft>
              <a:spcPct val="35000"/>
            </a:spcAft>
          </a:pPr>
          <a:r>
            <a:rPr lang="en-US" sz="1300" kern="1200" smtClean="0"/>
            <a:t>Custome</a:t>
          </a:r>
          <a:endParaRPr lang="en-US" sz="1300" kern="1200" dirty="0"/>
        </a:p>
      </dsp:txBody>
      <dsp:txXfrm>
        <a:off x="4566180" y="4193401"/>
        <a:ext cx="1157764" cy="718853"/>
      </dsp:txXfrm>
    </dsp:sp>
    <dsp:sp modelId="{924734B9-EF78-48C2-849B-304785CD741B}">
      <dsp:nvSpPr>
        <dsp:cNvPr id="0" name=""/>
        <dsp:cNvSpPr/>
      </dsp:nvSpPr>
      <dsp:spPr>
        <a:xfrm>
          <a:off x="6614777" y="2930797"/>
          <a:ext cx="1202494" cy="76358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415E29B-43D4-44A5-8AA3-469DD797FBF4}">
      <dsp:nvSpPr>
        <dsp:cNvPr id="0" name=""/>
        <dsp:cNvSpPr/>
      </dsp:nvSpPr>
      <dsp:spPr>
        <a:xfrm>
          <a:off x="6748388" y="3057727"/>
          <a:ext cx="1202494" cy="76358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lvl="0" algn="ctr" defTabSz="577850">
            <a:lnSpc>
              <a:spcPct val="90000"/>
            </a:lnSpc>
            <a:spcBef>
              <a:spcPct val="0"/>
            </a:spcBef>
            <a:spcAft>
              <a:spcPct val="35000"/>
            </a:spcAft>
          </a:pPr>
          <a:r>
            <a:rPr lang="en-US" sz="1300" kern="1200" dirty="0" smtClean="0"/>
            <a:t>State Tax</a:t>
          </a:r>
          <a:endParaRPr lang="en-US" sz="1300" kern="1200" dirty="0"/>
        </a:p>
      </dsp:txBody>
      <dsp:txXfrm>
        <a:off x="6770753" y="3080092"/>
        <a:ext cx="1157764" cy="718853"/>
      </dsp:txXfrm>
    </dsp:sp>
    <dsp:sp modelId="{D4A68836-AADE-4DBC-A0B7-A278A20C0F7D}">
      <dsp:nvSpPr>
        <dsp:cNvPr id="0" name=""/>
        <dsp:cNvSpPr/>
      </dsp:nvSpPr>
      <dsp:spPr>
        <a:xfrm>
          <a:off x="5879920" y="4044106"/>
          <a:ext cx="1202494" cy="76358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41F4723-2A9F-4DEE-8239-DF8932A11B1E}">
      <dsp:nvSpPr>
        <dsp:cNvPr id="0" name=""/>
        <dsp:cNvSpPr/>
      </dsp:nvSpPr>
      <dsp:spPr>
        <a:xfrm>
          <a:off x="6013530" y="4171036"/>
          <a:ext cx="1202494" cy="76358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lvl="0" algn="ctr" defTabSz="577850">
            <a:lnSpc>
              <a:spcPct val="90000"/>
            </a:lnSpc>
            <a:spcBef>
              <a:spcPct val="0"/>
            </a:spcBef>
            <a:spcAft>
              <a:spcPct val="35000"/>
            </a:spcAft>
          </a:pPr>
          <a:r>
            <a:rPr lang="en-US" sz="1300" kern="1200" dirty="0" smtClean="0"/>
            <a:t>VAT</a:t>
          </a:r>
          <a:endParaRPr lang="en-US" sz="1300" kern="1200" dirty="0"/>
        </a:p>
      </dsp:txBody>
      <dsp:txXfrm>
        <a:off x="6035895" y="4193401"/>
        <a:ext cx="1157764" cy="718853"/>
      </dsp:txXfrm>
    </dsp:sp>
    <dsp:sp modelId="{4B5E4625-6A7A-4868-9A70-854A44350837}">
      <dsp:nvSpPr>
        <dsp:cNvPr id="0" name=""/>
        <dsp:cNvSpPr/>
      </dsp:nvSpPr>
      <dsp:spPr>
        <a:xfrm>
          <a:off x="7349635" y="4044106"/>
          <a:ext cx="1202494" cy="76358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05F15C2-60BB-4609-9F5C-F81658C74E26}">
      <dsp:nvSpPr>
        <dsp:cNvPr id="0" name=""/>
        <dsp:cNvSpPr/>
      </dsp:nvSpPr>
      <dsp:spPr>
        <a:xfrm>
          <a:off x="7483245" y="4171036"/>
          <a:ext cx="1202494" cy="76358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lvl="0" algn="ctr" defTabSz="577850">
            <a:lnSpc>
              <a:spcPct val="90000"/>
            </a:lnSpc>
            <a:spcBef>
              <a:spcPct val="0"/>
            </a:spcBef>
            <a:spcAft>
              <a:spcPct val="35000"/>
            </a:spcAft>
          </a:pPr>
          <a:r>
            <a:rPr lang="en-US" sz="1300" kern="1200" dirty="0" smtClean="0"/>
            <a:t>Entry Tax, luxury tax, Lottery Tax, etc.</a:t>
          </a:r>
          <a:endParaRPr lang="en-US" sz="1300" kern="1200" dirty="0"/>
        </a:p>
      </dsp:txBody>
      <dsp:txXfrm>
        <a:off x="7505610" y="4193401"/>
        <a:ext cx="1157764" cy="71885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359BE0-9CEF-4177-837A-C87441745178}">
      <dsp:nvSpPr>
        <dsp:cNvPr id="0" name=""/>
        <dsp:cNvSpPr/>
      </dsp:nvSpPr>
      <dsp:spPr>
        <a:xfrm>
          <a:off x="3066913" y="2638"/>
          <a:ext cx="4834447" cy="1724199"/>
        </a:xfrm>
        <a:prstGeom prst="rightArrow">
          <a:avLst>
            <a:gd name="adj1" fmla="val 75000"/>
            <a:gd name="adj2" fmla="val 5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t" anchorCtr="0">
          <a:noAutofit/>
        </a:bodyPr>
        <a:lstStyle/>
        <a:p>
          <a:pPr marL="228600" lvl="1" indent="-228600" algn="l" defTabSz="889000" rtl="0">
            <a:lnSpc>
              <a:spcPct val="90000"/>
            </a:lnSpc>
            <a:spcBef>
              <a:spcPct val="0"/>
            </a:spcBef>
            <a:spcAft>
              <a:spcPct val="15000"/>
            </a:spcAft>
            <a:buChar char="••"/>
          </a:pPr>
          <a:r>
            <a:rPr lang="en-US" sz="2000" kern="1200" dirty="0" smtClean="0"/>
            <a:t>Central Excise</a:t>
          </a:r>
          <a:endParaRPr lang="en-US" sz="2000" kern="1200" dirty="0"/>
        </a:p>
        <a:p>
          <a:pPr marL="228600" lvl="1" indent="-228600" algn="l" defTabSz="889000" rtl="0">
            <a:lnSpc>
              <a:spcPct val="90000"/>
            </a:lnSpc>
            <a:spcBef>
              <a:spcPct val="0"/>
            </a:spcBef>
            <a:spcAft>
              <a:spcPct val="15000"/>
            </a:spcAft>
            <a:buChar char="••"/>
          </a:pPr>
          <a:r>
            <a:rPr lang="en-US" sz="2000" kern="1200" dirty="0" smtClean="0"/>
            <a:t>Additional duties of Custom (CVD)</a:t>
          </a:r>
          <a:endParaRPr lang="en-US" sz="2000" kern="1200" dirty="0"/>
        </a:p>
        <a:p>
          <a:pPr marL="228600" lvl="1" indent="-228600" algn="l" defTabSz="889000" rtl="0">
            <a:lnSpc>
              <a:spcPct val="90000"/>
            </a:lnSpc>
            <a:spcBef>
              <a:spcPct val="0"/>
            </a:spcBef>
            <a:spcAft>
              <a:spcPct val="15000"/>
            </a:spcAft>
            <a:buChar char="••"/>
          </a:pPr>
          <a:r>
            <a:rPr lang="en-US" sz="2000" kern="1200" dirty="0" smtClean="0"/>
            <a:t>Service Tax</a:t>
          </a:r>
          <a:endParaRPr lang="en-US" sz="2000" kern="1200" dirty="0"/>
        </a:p>
        <a:p>
          <a:pPr marL="228600" lvl="1" indent="-228600" algn="l" defTabSz="889000" rtl="0">
            <a:lnSpc>
              <a:spcPct val="90000"/>
            </a:lnSpc>
            <a:spcBef>
              <a:spcPct val="0"/>
            </a:spcBef>
            <a:spcAft>
              <a:spcPct val="15000"/>
            </a:spcAft>
            <a:buChar char="••"/>
          </a:pPr>
          <a:r>
            <a:rPr lang="en-US" sz="2000" kern="1200" dirty="0" smtClean="0"/>
            <a:t>Surcharges and all </a:t>
          </a:r>
          <a:r>
            <a:rPr lang="en-US" sz="2000" kern="1200" dirty="0" err="1" smtClean="0"/>
            <a:t>cesses</a:t>
          </a:r>
          <a:endParaRPr lang="en-US" sz="2000" kern="1200" dirty="0"/>
        </a:p>
      </dsp:txBody>
      <dsp:txXfrm>
        <a:off x="3066913" y="218163"/>
        <a:ext cx="4187872" cy="1293149"/>
      </dsp:txXfrm>
    </dsp:sp>
    <dsp:sp modelId="{8F082955-45C6-4F20-BA5C-9643938DBF72}">
      <dsp:nvSpPr>
        <dsp:cNvPr id="0" name=""/>
        <dsp:cNvSpPr/>
      </dsp:nvSpPr>
      <dsp:spPr>
        <a:xfrm>
          <a:off x="633039" y="223909"/>
          <a:ext cx="2433874" cy="128322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80010" rIns="160020" bIns="80010" numCol="1" spcCol="1270" anchor="ctr" anchorCtr="0">
          <a:noAutofit/>
        </a:bodyPr>
        <a:lstStyle/>
        <a:p>
          <a:pPr lvl="0" algn="ctr" defTabSz="1866900" rtl="0">
            <a:lnSpc>
              <a:spcPct val="90000"/>
            </a:lnSpc>
            <a:spcBef>
              <a:spcPct val="0"/>
            </a:spcBef>
            <a:spcAft>
              <a:spcPct val="35000"/>
            </a:spcAft>
          </a:pPr>
          <a:r>
            <a:rPr lang="en-US" sz="4200" kern="1200" smtClean="0"/>
            <a:t>CGST</a:t>
          </a:r>
          <a:endParaRPr lang="en-US" sz="4200" kern="1200"/>
        </a:p>
      </dsp:txBody>
      <dsp:txXfrm>
        <a:off x="695681" y="286551"/>
        <a:ext cx="2308590" cy="1157942"/>
      </dsp:txXfrm>
    </dsp:sp>
    <dsp:sp modelId="{37CF3B28-73FE-4987-BF6D-7EB72803E8AA}">
      <dsp:nvSpPr>
        <dsp:cNvPr id="0" name=""/>
        <dsp:cNvSpPr/>
      </dsp:nvSpPr>
      <dsp:spPr>
        <a:xfrm>
          <a:off x="2923817" y="2101359"/>
          <a:ext cx="5120640" cy="2230799"/>
        </a:xfrm>
        <a:prstGeom prst="rightArrow">
          <a:avLst>
            <a:gd name="adj1" fmla="val 75000"/>
            <a:gd name="adj2" fmla="val 5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t" anchorCtr="0">
          <a:noAutofit/>
        </a:bodyPr>
        <a:lstStyle/>
        <a:p>
          <a:pPr marL="228600" lvl="1" indent="-228600" algn="l" defTabSz="889000" rtl="0">
            <a:lnSpc>
              <a:spcPct val="90000"/>
            </a:lnSpc>
            <a:spcBef>
              <a:spcPct val="0"/>
            </a:spcBef>
            <a:spcAft>
              <a:spcPct val="15000"/>
            </a:spcAft>
            <a:buChar char="••"/>
          </a:pPr>
          <a:r>
            <a:rPr lang="en-US" sz="2000" kern="1200" dirty="0" smtClean="0"/>
            <a:t>VAT/sales tax</a:t>
          </a:r>
          <a:endParaRPr lang="en-US" sz="2000" kern="1200" dirty="0"/>
        </a:p>
        <a:p>
          <a:pPr marL="228600" lvl="1" indent="-228600" algn="l" defTabSz="889000" rtl="0">
            <a:lnSpc>
              <a:spcPct val="90000"/>
            </a:lnSpc>
            <a:spcBef>
              <a:spcPct val="0"/>
            </a:spcBef>
            <a:spcAft>
              <a:spcPct val="15000"/>
            </a:spcAft>
            <a:buChar char="••"/>
          </a:pPr>
          <a:r>
            <a:rPr lang="en-US" sz="2000" kern="1200" dirty="0" smtClean="0"/>
            <a:t>Entertainment Tax</a:t>
          </a:r>
          <a:endParaRPr lang="en-US" sz="2000" kern="1200" dirty="0"/>
        </a:p>
        <a:p>
          <a:pPr marL="228600" lvl="1" indent="-228600" algn="l" defTabSz="889000" rtl="0">
            <a:lnSpc>
              <a:spcPct val="90000"/>
            </a:lnSpc>
            <a:spcBef>
              <a:spcPct val="0"/>
            </a:spcBef>
            <a:spcAft>
              <a:spcPct val="15000"/>
            </a:spcAft>
            <a:buChar char="••"/>
          </a:pPr>
          <a:r>
            <a:rPr lang="en-US" sz="2000" kern="1200" smtClean="0"/>
            <a:t>Luxury Tax</a:t>
          </a:r>
          <a:endParaRPr lang="en-US" sz="2000" kern="1200"/>
        </a:p>
        <a:p>
          <a:pPr marL="228600" lvl="1" indent="-228600" algn="l" defTabSz="889000" rtl="0">
            <a:lnSpc>
              <a:spcPct val="90000"/>
            </a:lnSpc>
            <a:spcBef>
              <a:spcPct val="0"/>
            </a:spcBef>
            <a:spcAft>
              <a:spcPct val="15000"/>
            </a:spcAft>
            <a:buChar char="••"/>
          </a:pPr>
          <a:r>
            <a:rPr lang="en-US" sz="2000" kern="1200" dirty="0" smtClean="0"/>
            <a:t>Lottery Tax</a:t>
          </a:r>
          <a:endParaRPr lang="en-US" sz="2000" kern="1200" dirty="0"/>
        </a:p>
        <a:p>
          <a:pPr marL="228600" lvl="1" indent="-228600" algn="l" defTabSz="889000" rtl="0">
            <a:lnSpc>
              <a:spcPct val="90000"/>
            </a:lnSpc>
            <a:spcBef>
              <a:spcPct val="0"/>
            </a:spcBef>
            <a:spcAft>
              <a:spcPct val="15000"/>
            </a:spcAft>
            <a:buChar char="••"/>
          </a:pPr>
          <a:r>
            <a:rPr lang="en-US" sz="2000" kern="1200" dirty="0" smtClean="0"/>
            <a:t>Entry Tax</a:t>
          </a:r>
          <a:endParaRPr lang="en-US" sz="2000" kern="1200" dirty="0"/>
        </a:p>
        <a:p>
          <a:pPr marL="228600" lvl="1" indent="-228600" algn="l" defTabSz="889000" rtl="0">
            <a:lnSpc>
              <a:spcPct val="90000"/>
            </a:lnSpc>
            <a:spcBef>
              <a:spcPct val="0"/>
            </a:spcBef>
            <a:spcAft>
              <a:spcPct val="15000"/>
            </a:spcAft>
            <a:buChar char="••"/>
          </a:pPr>
          <a:r>
            <a:rPr lang="en-US" sz="2000" kern="1200" dirty="0" smtClean="0"/>
            <a:t>Purchase Tax</a:t>
          </a:r>
          <a:endParaRPr lang="en-US" sz="2000" kern="1200" dirty="0"/>
        </a:p>
        <a:p>
          <a:pPr marL="114300" lvl="1" indent="-114300" algn="l" defTabSz="533400" rtl="0">
            <a:lnSpc>
              <a:spcPct val="90000"/>
            </a:lnSpc>
            <a:spcBef>
              <a:spcPct val="0"/>
            </a:spcBef>
            <a:spcAft>
              <a:spcPct val="15000"/>
            </a:spcAft>
            <a:buChar char="••"/>
          </a:pPr>
          <a:endParaRPr lang="en-US" sz="1200" kern="1200" dirty="0"/>
        </a:p>
        <a:p>
          <a:pPr marL="114300" lvl="1" indent="-114300" algn="l" defTabSz="533400" rtl="0">
            <a:lnSpc>
              <a:spcPct val="90000"/>
            </a:lnSpc>
            <a:spcBef>
              <a:spcPct val="0"/>
            </a:spcBef>
            <a:spcAft>
              <a:spcPct val="15000"/>
            </a:spcAft>
            <a:buChar char="••"/>
          </a:pPr>
          <a:endParaRPr lang="en-US" sz="1200" kern="1200" dirty="0"/>
        </a:p>
      </dsp:txBody>
      <dsp:txXfrm>
        <a:off x="2923817" y="2380209"/>
        <a:ext cx="4284090" cy="1673099"/>
      </dsp:txXfrm>
    </dsp:sp>
    <dsp:sp modelId="{8AF75A05-E229-4361-B383-098C06C49042}">
      <dsp:nvSpPr>
        <dsp:cNvPr id="0" name=""/>
        <dsp:cNvSpPr/>
      </dsp:nvSpPr>
      <dsp:spPr>
        <a:xfrm>
          <a:off x="489942" y="2655014"/>
          <a:ext cx="2433874" cy="112349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80010" rIns="160020" bIns="80010" numCol="1" spcCol="1270" anchor="ctr" anchorCtr="0">
          <a:noAutofit/>
        </a:bodyPr>
        <a:lstStyle/>
        <a:p>
          <a:pPr lvl="0" algn="ctr" defTabSz="1866900" rtl="0">
            <a:lnSpc>
              <a:spcPct val="90000"/>
            </a:lnSpc>
            <a:spcBef>
              <a:spcPct val="0"/>
            </a:spcBef>
            <a:spcAft>
              <a:spcPct val="35000"/>
            </a:spcAft>
          </a:pPr>
          <a:r>
            <a:rPr lang="en-US" sz="4200" kern="1200" dirty="0" smtClean="0"/>
            <a:t>SGST</a:t>
          </a:r>
          <a:endParaRPr lang="en-US" sz="4200" kern="1200" dirty="0"/>
        </a:p>
      </dsp:txBody>
      <dsp:txXfrm>
        <a:off x="544786" y="2709858"/>
        <a:ext cx="2324186" cy="1013803"/>
      </dsp:txXfrm>
    </dsp:sp>
    <dsp:sp modelId="{62B496E2-D067-44E3-81B5-ADAAC2562AC1}">
      <dsp:nvSpPr>
        <dsp:cNvPr id="0" name=""/>
        <dsp:cNvSpPr/>
      </dsp:nvSpPr>
      <dsp:spPr>
        <a:xfrm>
          <a:off x="4160494" y="4598484"/>
          <a:ext cx="2621306" cy="853279"/>
        </a:xfrm>
        <a:prstGeom prst="rightArrow">
          <a:avLst>
            <a:gd name="adj1" fmla="val 75000"/>
            <a:gd name="adj2" fmla="val 5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875" tIns="15875" rIns="15875" bIns="15875" numCol="1" spcCol="1270" anchor="t" anchorCtr="0">
          <a:noAutofit/>
        </a:bodyPr>
        <a:lstStyle/>
        <a:p>
          <a:pPr marL="228600" lvl="1" indent="-228600" algn="l" defTabSz="1111250">
            <a:lnSpc>
              <a:spcPct val="90000"/>
            </a:lnSpc>
            <a:spcBef>
              <a:spcPct val="0"/>
            </a:spcBef>
            <a:spcAft>
              <a:spcPct val="15000"/>
            </a:spcAft>
            <a:buChar char="••"/>
          </a:pPr>
          <a:r>
            <a:rPr lang="en-US" sz="2500" kern="1200" dirty="0" smtClean="0"/>
            <a:t>CST</a:t>
          </a:r>
          <a:endParaRPr lang="en-US" sz="2500" kern="1200" dirty="0"/>
        </a:p>
      </dsp:txBody>
      <dsp:txXfrm>
        <a:off x="4160494" y="4705144"/>
        <a:ext cx="2301326" cy="639959"/>
      </dsp:txXfrm>
    </dsp:sp>
    <dsp:sp modelId="{7B6D2A75-2020-4351-8EB4-E00EFFC75B8F}">
      <dsp:nvSpPr>
        <dsp:cNvPr id="0" name=""/>
        <dsp:cNvSpPr/>
      </dsp:nvSpPr>
      <dsp:spPr>
        <a:xfrm rot="10800000" flipV="1">
          <a:off x="1767824" y="4710120"/>
          <a:ext cx="2377444" cy="84483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80010" rIns="160020" bIns="80010" numCol="1" spcCol="1270" anchor="ctr" anchorCtr="0">
          <a:noAutofit/>
        </a:bodyPr>
        <a:lstStyle/>
        <a:p>
          <a:pPr lvl="0" algn="ctr" defTabSz="1866900">
            <a:lnSpc>
              <a:spcPct val="90000"/>
            </a:lnSpc>
            <a:spcBef>
              <a:spcPct val="0"/>
            </a:spcBef>
            <a:spcAft>
              <a:spcPct val="35000"/>
            </a:spcAft>
          </a:pPr>
          <a:r>
            <a:rPr lang="en-US" sz="4200" kern="1200" dirty="0" smtClean="0"/>
            <a:t>IGST</a:t>
          </a:r>
          <a:endParaRPr lang="en-US" sz="4200" kern="1200" dirty="0"/>
        </a:p>
      </dsp:txBody>
      <dsp:txXfrm rot="-10800000">
        <a:off x="1809065" y="4751361"/>
        <a:ext cx="2294962" cy="76235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CBB1CE-9344-485C-9CD0-509BE119BCB1}">
      <dsp:nvSpPr>
        <dsp:cNvPr id="0" name=""/>
        <dsp:cNvSpPr/>
      </dsp:nvSpPr>
      <dsp:spPr>
        <a:xfrm>
          <a:off x="848320" y="503"/>
          <a:ext cx="2113359" cy="1056679"/>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0960" tIns="40640" rIns="60960" bIns="40640" numCol="1" spcCol="1270" anchor="ctr" anchorCtr="0">
          <a:noAutofit/>
        </a:bodyPr>
        <a:lstStyle/>
        <a:p>
          <a:pPr lvl="0" algn="ctr" defTabSz="1422400">
            <a:lnSpc>
              <a:spcPct val="90000"/>
            </a:lnSpc>
            <a:spcBef>
              <a:spcPct val="0"/>
            </a:spcBef>
            <a:spcAft>
              <a:spcPct val="35000"/>
            </a:spcAft>
          </a:pPr>
          <a:r>
            <a:rPr lang="en-US" sz="3200" kern="1200" dirty="0"/>
            <a:t>One Tax For</a:t>
          </a:r>
        </a:p>
      </dsp:txBody>
      <dsp:txXfrm>
        <a:off x="879269" y="31452"/>
        <a:ext cx="2051461" cy="994781"/>
      </dsp:txXfrm>
    </dsp:sp>
    <dsp:sp modelId="{8B4576FA-A3F9-449C-A8C8-1AA027612033}">
      <dsp:nvSpPr>
        <dsp:cNvPr id="0" name=""/>
        <dsp:cNvSpPr/>
      </dsp:nvSpPr>
      <dsp:spPr>
        <a:xfrm>
          <a:off x="1059656" y="1057182"/>
          <a:ext cx="211335" cy="792509"/>
        </a:xfrm>
        <a:custGeom>
          <a:avLst/>
          <a:gdLst/>
          <a:ahLst/>
          <a:cxnLst/>
          <a:rect l="0" t="0" r="0" b="0"/>
          <a:pathLst>
            <a:path>
              <a:moveTo>
                <a:pt x="0" y="0"/>
              </a:moveTo>
              <a:lnTo>
                <a:pt x="0" y="792509"/>
              </a:lnTo>
              <a:lnTo>
                <a:pt x="211335" y="792509"/>
              </a:lnTo>
            </a:path>
          </a:pathLst>
        </a:custGeom>
        <a:noFill/>
        <a:ln w="12700" cap="flat" cmpd="sng" algn="ctr">
          <a:solidFill>
            <a:schemeClr val="accent5">
              <a:shade val="60000"/>
              <a:hueOff val="0"/>
              <a:satOff val="0"/>
              <a:lumOff val="0"/>
              <a:alphaOff val="0"/>
            </a:schemeClr>
          </a:solidFill>
          <a:prstDash val="solid"/>
          <a:miter lim="800000"/>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469DA331-B091-45DB-816A-CBA08A3CBE13}">
      <dsp:nvSpPr>
        <dsp:cNvPr id="0" name=""/>
        <dsp:cNvSpPr/>
      </dsp:nvSpPr>
      <dsp:spPr>
        <a:xfrm>
          <a:off x="1270992" y="1321352"/>
          <a:ext cx="1690687" cy="1056679"/>
        </a:xfrm>
        <a:prstGeom prst="roundRect">
          <a:avLst>
            <a:gd name="adj" fmla="val 10000"/>
          </a:avLst>
        </a:prstGeom>
        <a:solidFill>
          <a:schemeClr val="accent5">
            <a:alpha val="90000"/>
            <a:tint val="40000"/>
            <a:hueOff val="0"/>
            <a:satOff val="0"/>
            <a:lumOff val="0"/>
            <a:alphaOff val="0"/>
          </a:schemeClr>
        </a:solidFill>
        <a:ln w="6350" cap="flat" cmpd="sng" algn="ctr">
          <a:solidFill>
            <a:schemeClr val="accent5">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24450" h="16350" prst="relaxedInset"/>
          <a:contourClr>
            <a:schemeClr val="bg1"/>
          </a:contourClr>
        </a:sp3d>
      </dsp:spPr>
      <dsp:style>
        <a:lnRef idx="1">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lvl="0" algn="ctr" defTabSz="889000">
            <a:lnSpc>
              <a:spcPct val="90000"/>
            </a:lnSpc>
            <a:spcBef>
              <a:spcPct val="0"/>
            </a:spcBef>
            <a:spcAft>
              <a:spcPct val="35000"/>
            </a:spcAft>
          </a:pPr>
          <a:r>
            <a:rPr lang="en-US" sz="2000" kern="1200" dirty="0"/>
            <a:t>Manufacturing</a:t>
          </a:r>
        </a:p>
      </dsp:txBody>
      <dsp:txXfrm>
        <a:off x="1301941" y="1352301"/>
        <a:ext cx="1628789" cy="994781"/>
      </dsp:txXfrm>
    </dsp:sp>
    <dsp:sp modelId="{E34363D9-EE97-42EB-BA75-5AAE8B3C2957}">
      <dsp:nvSpPr>
        <dsp:cNvPr id="0" name=""/>
        <dsp:cNvSpPr/>
      </dsp:nvSpPr>
      <dsp:spPr>
        <a:xfrm>
          <a:off x="1059656" y="1057182"/>
          <a:ext cx="211335" cy="2113359"/>
        </a:xfrm>
        <a:custGeom>
          <a:avLst/>
          <a:gdLst/>
          <a:ahLst/>
          <a:cxnLst/>
          <a:rect l="0" t="0" r="0" b="0"/>
          <a:pathLst>
            <a:path>
              <a:moveTo>
                <a:pt x="0" y="0"/>
              </a:moveTo>
              <a:lnTo>
                <a:pt x="0" y="2113359"/>
              </a:lnTo>
              <a:lnTo>
                <a:pt x="211335" y="2113359"/>
              </a:lnTo>
            </a:path>
          </a:pathLst>
        </a:custGeom>
        <a:noFill/>
        <a:ln w="12700" cap="flat" cmpd="sng" algn="ctr">
          <a:solidFill>
            <a:schemeClr val="accent5">
              <a:shade val="60000"/>
              <a:hueOff val="0"/>
              <a:satOff val="0"/>
              <a:lumOff val="0"/>
              <a:alphaOff val="0"/>
            </a:schemeClr>
          </a:solidFill>
          <a:prstDash val="solid"/>
          <a:miter lim="800000"/>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ECFFDD07-AA87-4A2E-8172-2F00D2DAE1AA}">
      <dsp:nvSpPr>
        <dsp:cNvPr id="0" name=""/>
        <dsp:cNvSpPr/>
      </dsp:nvSpPr>
      <dsp:spPr>
        <a:xfrm>
          <a:off x="1270992" y="2642202"/>
          <a:ext cx="1690687" cy="1056679"/>
        </a:xfrm>
        <a:prstGeom prst="roundRect">
          <a:avLst>
            <a:gd name="adj" fmla="val 10000"/>
          </a:avLst>
        </a:prstGeom>
        <a:solidFill>
          <a:schemeClr val="accent5">
            <a:alpha val="90000"/>
            <a:tint val="40000"/>
            <a:hueOff val="0"/>
            <a:satOff val="0"/>
            <a:lumOff val="0"/>
            <a:alphaOff val="0"/>
          </a:schemeClr>
        </a:solidFill>
        <a:ln w="6350" cap="flat" cmpd="sng" algn="ctr">
          <a:solidFill>
            <a:schemeClr val="accent5">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24450" h="16350" prst="relaxedInset"/>
          <a:contourClr>
            <a:schemeClr val="bg1"/>
          </a:contourClr>
        </a:sp3d>
      </dsp:spPr>
      <dsp:style>
        <a:lnRef idx="1">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lvl="0" algn="ctr" defTabSz="889000">
            <a:lnSpc>
              <a:spcPct val="90000"/>
            </a:lnSpc>
            <a:spcBef>
              <a:spcPct val="0"/>
            </a:spcBef>
            <a:spcAft>
              <a:spcPct val="35000"/>
            </a:spcAft>
          </a:pPr>
          <a:r>
            <a:rPr lang="en-US" sz="2000" kern="1200" dirty="0"/>
            <a:t>Trading</a:t>
          </a:r>
        </a:p>
      </dsp:txBody>
      <dsp:txXfrm>
        <a:off x="1301941" y="2673151"/>
        <a:ext cx="1628789" cy="994781"/>
      </dsp:txXfrm>
    </dsp:sp>
    <dsp:sp modelId="{22B77204-8798-45D6-94FE-1D80D86B855D}">
      <dsp:nvSpPr>
        <dsp:cNvPr id="0" name=""/>
        <dsp:cNvSpPr/>
      </dsp:nvSpPr>
      <dsp:spPr>
        <a:xfrm>
          <a:off x="1059656" y="1057182"/>
          <a:ext cx="211335" cy="3434208"/>
        </a:xfrm>
        <a:custGeom>
          <a:avLst/>
          <a:gdLst/>
          <a:ahLst/>
          <a:cxnLst/>
          <a:rect l="0" t="0" r="0" b="0"/>
          <a:pathLst>
            <a:path>
              <a:moveTo>
                <a:pt x="0" y="0"/>
              </a:moveTo>
              <a:lnTo>
                <a:pt x="0" y="3434208"/>
              </a:lnTo>
              <a:lnTo>
                <a:pt x="211335" y="3434208"/>
              </a:lnTo>
            </a:path>
          </a:pathLst>
        </a:custGeom>
        <a:noFill/>
        <a:ln w="12700" cap="flat" cmpd="sng" algn="ctr">
          <a:solidFill>
            <a:schemeClr val="accent5">
              <a:shade val="60000"/>
              <a:hueOff val="0"/>
              <a:satOff val="0"/>
              <a:lumOff val="0"/>
              <a:alphaOff val="0"/>
            </a:schemeClr>
          </a:solidFill>
          <a:prstDash val="solid"/>
          <a:miter lim="800000"/>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D825E0CB-05D8-4D17-9295-A0319E61CB3C}">
      <dsp:nvSpPr>
        <dsp:cNvPr id="0" name=""/>
        <dsp:cNvSpPr/>
      </dsp:nvSpPr>
      <dsp:spPr>
        <a:xfrm>
          <a:off x="1270992" y="3963052"/>
          <a:ext cx="1690687" cy="1056679"/>
        </a:xfrm>
        <a:prstGeom prst="roundRect">
          <a:avLst>
            <a:gd name="adj" fmla="val 10000"/>
          </a:avLst>
        </a:prstGeom>
        <a:solidFill>
          <a:schemeClr val="accent5">
            <a:alpha val="90000"/>
            <a:tint val="40000"/>
            <a:hueOff val="0"/>
            <a:satOff val="0"/>
            <a:lumOff val="0"/>
            <a:alphaOff val="0"/>
          </a:schemeClr>
        </a:solidFill>
        <a:ln w="6350" cap="flat" cmpd="sng" algn="ctr">
          <a:solidFill>
            <a:schemeClr val="accent5">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24450" h="16350" prst="relaxedInset"/>
          <a:contourClr>
            <a:schemeClr val="bg1"/>
          </a:contourClr>
        </a:sp3d>
      </dsp:spPr>
      <dsp:style>
        <a:lnRef idx="1">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lvl="0" algn="ctr" defTabSz="889000">
            <a:lnSpc>
              <a:spcPct val="90000"/>
            </a:lnSpc>
            <a:spcBef>
              <a:spcPct val="0"/>
            </a:spcBef>
            <a:spcAft>
              <a:spcPct val="35000"/>
            </a:spcAft>
          </a:pPr>
          <a:r>
            <a:rPr lang="en-US" sz="2000" kern="1200" dirty="0"/>
            <a:t>Services</a:t>
          </a:r>
        </a:p>
      </dsp:txBody>
      <dsp:txXfrm>
        <a:off x="1301941" y="3994001"/>
        <a:ext cx="1628789" cy="994781"/>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2#1">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B2EE44-1AB5-40A7-B1F1-E177ABE92A3F}" type="datetimeFigureOut">
              <a:rPr lang="en-US" smtClean="0"/>
              <a:t>10/23/2024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A4C2C4-6FE2-4473-B21F-ACE5173EB4C6}" type="slidenum">
              <a:rPr lang="en-US" smtClean="0"/>
              <a:t>‹#›</a:t>
            </a:fld>
            <a:endParaRPr lang="en-US"/>
          </a:p>
        </p:txBody>
      </p:sp>
    </p:spTree>
    <p:extLst>
      <p:ext uri="{BB962C8B-B14F-4D97-AF65-F5344CB8AC3E}">
        <p14:creationId xmlns:p14="http://schemas.microsoft.com/office/powerpoint/2010/main" val="40967236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F088EF1-2FC8-49F7-9131-FB1BC47D15C2}" type="slidenum">
              <a:rPr lang="en-US" smtClean="0"/>
              <a:pPr/>
              <a:t>2</a:t>
            </a:fld>
            <a:endParaRPr lang="en-US"/>
          </a:p>
        </p:txBody>
      </p:sp>
    </p:spTree>
    <p:extLst>
      <p:ext uri="{BB962C8B-B14F-4D97-AF65-F5344CB8AC3E}">
        <p14:creationId xmlns:p14="http://schemas.microsoft.com/office/powerpoint/2010/main" val="5113512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F088EF1-2FC8-49F7-9131-FB1BC47D15C2}" type="slidenum">
              <a:rPr lang="en-US" smtClean="0"/>
              <a:pPr/>
              <a:t>3</a:t>
            </a:fld>
            <a:endParaRPr lang="en-US"/>
          </a:p>
        </p:txBody>
      </p:sp>
    </p:spTree>
    <p:extLst>
      <p:ext uri="{BB962C8B-B14F-4D97-AF65-F5344CB8AC3E}">
        <p14:creationId xmlns:p14="http://schemas.microsoft.com/office/powerpoint/2010/main" val="1697998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smtClean="0"/>
              <a:t>There is a concept of Goods-Service Continuum; If goods and services</a:t>
            </a:r>
            <a:r>
              <a:rPr lang="en-IN" baseline="0" dirty="0" smtClean="0"/>
              <a:t> are places on a scale with pure goods being on one side and services on the other side, most of the transactions lie some where in between having elements of goods as well as service. State government and Centre are in Court in many cases just to decide as regards the classification as goods or services. The distinction between two is getting blurred with the advent of technology. For instance software is being taxed by treating it as services as well as goods.  GST appears to be much more efficient tax and may solve most of the existing inefficiencies in indirect taxation system. </a:t>
            </a:r>
            <a:endParaRPr lang="en-IN" dirty="0"/>
          </a:p>
        </p:txBody>
      </p:sp>
      <p:sp>
        <p:nvSpPr>
          <p:cNvPr id="4" name="Slide Number Placeholder 3"/>
          <p:cNvSpPr>
            <a:spLocks noGrp="1"/>
          </p:cNvSpPr>
          <p:nvPr>
            <p:ph type="sldNum" sz="quarter" idx="10"/>
          </p:nvPr>
        </p:nvSpPr>
        <p:spPr/>
        <p:txBody>
          <a:bodyPr/>
          <a:lstStyle/>
          <a:p>
            <a:fld id="{1FF8F1D3-5D6A-4849-AB65-90F6DF036ED2}" type="slidenum">
              <a:rPr lang="en-US" smtClean="0"/>
              <a:pPr/>
              <a:t>4</a:t>
            </a:fld>
            <a:endParaRPr lang="en-US"/>
          </a:p>
        </p:txBody>
      </p:sp>
    </p:spTree>
    <p:extLst>
      <p:ext uri="{BB962C8B-B14F-4D97-AF65-F5344CB8AC3E}">
        <p14:creationId xmlns:p14="http://schemas.microsoft.com/office/powerpoint/2010/main" val="4010361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aseline="0" dirty="0" smtClean="0"/>
              <a:t>Harmonisation in the different taxation laws of states appears to be missing many a times. Uniformity is lacking while levying VAT or entry taxes in many states. The companies try to take advantage of tax arbitrages leading to decisions being taken on the basis of tax structure rather than on the basis of pure economic reasons. All this leads to inefficiencies in the system. </a:t>
            </a:r>
            <a:endParaRPr lang="en-IN" dirty="0"/>
          </a:p>
        </p:txBody>
      </p:sp>
      <p:sp>
        <p:nvSpPr>
          <p:cNvPr id="4" name="Slide Number Placeholder 3"/>
          <p:cNvSpPr>
            <a:spLocks noGrp="1"/>
          </p:cNvSpPr>
          <p:nvPr>
            <p:ph type="sldNum" sz="quarter" idx="10"/>
          </p:nvPr>
        </p:nvSpPr>
        <p:spPr/>
        <p:txBody>
          <a:bodyPr/>
          <a:lstStyle/>
          <a:p>
            <a:fld id="{1FF8F1D3-5D6A-4849-AB65-90F6DF036ED2}" type="slidenum">
              <a:rPr lang="en-US" smtClean="0"/>
              <a:pPr/>
              <a:t>5</a:t>
            </a:fld>
            <a:endParaRPr lang="en-US"/>
          </a:p>
        </p:txBody>
      </p:sp>
    </p:spTree>
    <p:extLst>
      <p:ext uri="{BB962C8B-B14F-4D97-AF65-F5344CB8AC3E}">
        <p14:creationId xmlns:p14="http://schemas.microsoft.com/office/powerpoint/2010/main" val="35117445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smtClean="0"/>
              <a:t>There are different taxable events</a:t>
            </a:r>
            <a:r>
              <a:rPr lang="en-IN" baseline="0" dirty="0" smtClean="0"/>
              <a:t> with each having issues of definitions, interpretations resulting in overlapping at many places. All this creates confusions with many of the issues reaching courts for a decisions. </a:t>
            </a:r>
            <a:endParaRPr lang="en-IN" dirty="0"/>
          </a:p>
        </p:txBody>
      </p:sp>
      <p:sp>
        <p:nvSpPr>
          <p:cNvPr id="4" name="Slide Number Placeholder 3"/>
          <p:cNvSpPr>
            <a:spLocks noGrp="1"/>
          </p:cNvSpPr>
          <p:nvPr>
            <p:ph type="sldNum" sz="quarter" idx="10"/>
          </p:nvPr>
        </p:nvSpPr>
        <p:spPr/>
        <p:txBody>
          <a:bodyPr/>
          <a:lstStyle/>
          <a:p>
            <a:fld id="{1FF8F1D3-5D6A-4849-AB65-90F6DF036ED2}" type="slidenum">
              <a:rPr lang="en-US" smtClean="0"/>
              <a:pPr/>
              <a:t>6</a:t>
            </a:fld>
            <a:endParaRPr lang="en-US"/>
          </a:p>
        </p:txBody>
      </p:sp>
    </p:spTree>
    <p:extLst>
      <p:ext uri="{BB962C8B-B14F-4D97-AF65-F5344CB8AC3E}">
        <p14:creationId xmlns:p14="http://schemas.microsoft.com/office/powerpoint/2010/main" val="13438582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smtClean="0"/>
              <a:t>Whether you are manufacturer, trader,</a:t>
            </a:r>
            <a:r>
              <a:rPr lang="en-IN" baseline="0" dirty="0" smtClean="0"/>
              <a:t> dealer, service supplier- all will be considered as same </a:t>
            </a:r>
            <a:r>
              <a:rPr lang="en-IN" baseline="0" dirty="0" err="1" smtClean="0"/>
              <a:t>i.e</a:t>
            </a:r>
            <a:r>
              <a:rPr lang="en-IN" baseline="0" dirty="0" smtClean="0"/>
              <a:t> taxpayer. </a:t>
            </a:r>
            <a:r>
              <a:rPr lang="en-IN" dirty="0" smtClean="0"/>
              <a:t>Whether </a:t>
            </a:r>
            <a:r>
              <a:rPr lang="en-IN" dirty="0"/>
              <a:t>you supply</a:t>
            </a:r>
            <a:r>
              <a:rPr lang="en-IN" baseline="0" dirty="0"/>
              <a:t> within the same state or anywhere in the country, the rate of tax is same, thereby obviating any need for various forms and border check points which is prevalent today. </a:t>
            </a:r>
            <a:endParaRPr lang="en-IN" dirty="0"/>
          </a:p>
        </p:txBody>
      </p:sp>
      <p:sp>
        <p:nvSpPr>
          <p:cNvPr id="4" name="Slide Number Placeholder 3"/>
          <p:cNvSpPr>
            <a:spLocks noGrp="1"/>
          </p:cNvSpPr>
          <p:nvPr>
            <p:ph type="sldNum" sz="quarter" idx="10"/>
          </p:nvPr>
        </p:nvSpPr>
        <p:spPr/>
        <p:txBody>
          <a:bodyPr/>
          <a:lstStyle/>
          <a:p>
            <a:fld id="{1FF8F1D3-5D6A-4849-AB65-90F6DF036ED2}" type="slidenum">
              <a:rPr lang="en-US" smtClean="0"/>
              <a:pPr/>
              <a:t>10</a:t>
            </a:fld>
            <a:endParaRPr lang="en-US"/>
          </a:p>
        </p:txBody>
      </p:sp>
    </p:spTree>
    <p:extLst>
      <p:ext uri="{BB962C8B-B14F-4D97-AF65-F5344CB8AC3E}">
        <p14:creationId xmlns:p14="http://schemas.microsoft.com/office/powerpoint/2010/main" val="37232048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7A4C2C4-6FE2-4473-B21F-ACE5173EB4C6}" type="slidenum">
              <a:rPr lang="en-US" smtClean="0"/>
              <a:t>73</a:t>
            </a:fld>
            <a:endParaRPr lang="en-US"/>
          </a:p>
        </p:txBody>
      </p:sp>
    </p:spTree>
    <p:extLst>
      <p:ext uri="{BB962C8B-B14F-4D97-AF65-F5344CB8AC3E}">
        <p14:creationId xmlns:p14="http://schemas.microsoft.com/office/powerpoint/2010/main" val="22795936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87A4C2C4-6FE2-4473-B21F-ACE5173EB4C6}" type="slidenum">
              <a:rPr lang="en-US" smtClean="0"/>
              <a:t>84</a:t>
            </a:fld>
            <a:endParaRPr lang="en-US"/>
          </a:p>
        </p:txBody>
      </p:sp>
    </p:spTree>
    <p:extLst>
      <p:ext uri="{BB962C8B-B14F-4D97-AF65-F5344CB8AC3E}">
        <p14:creationId xmlns:p14="http://schemas.microsoft.com/office/powerpoint/2010/main" val="10698963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87A4C2C4-6FE2-4473-B21F-ACE5173EB4C6}" type="slidenum">
              <a:rPr lang="en-US" smtClean="0"/>
              <a:t>85</a:t>
            </a:fld>
            <a:endParaRPr lang="en-US"/>
          </a:p>
        </p:txBody>
      </p:sp>
    </p:spTree>
    <p:extLst>
      <p:ext uri="{BB962C8B-B14F-4D97-AF65-F5344CB8AC3E}">
        <p14:creationId xmlns:p14="http://schemas.microsoft.com/office/powerpoint/2010/main" val="15269539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87A4C2C4-6FE2-4473-B21F-ACE5173EB4C6}" type="slidenum">
              <a:rPr lang="en-US" smtClean="0"/>
              <a:t>86</a:t>
            </a:fld>
            <a:endParaRPr lang="en-US"/>
          </a:p>
        </p:txBody>
      </p:sp>
    </p:spTree>
    <p:extLst>
      <p:ext uri="{BB962C8B-B14F-4D97-AF65-F5344CB8AC3E}">
        <p14:creationId xmlns:p14="http://schemas.microsoft.com/office/powerpoint/2010/main" val="29200320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87A4C2C4-6FE2-4473-B21F-ACE5173EB4C6}" type="slidenum">
              <a:rPr lang="en-US" smtClean="0"/>
              <a:t>87</a:t>
            </a:fld>
            <a:endParaRPr lang="en-US"/>
          </a:p>
        </p:txBody>
      </p:sp>
    </p:spTree>
    <p:extLst>
      <p:ext uri="{BB962C8B-B14F-4D97-AF65-F5344CB8AC3E}">
        <p14:creationId xmlns:p14="http://schemas.microsoft.com/office/powerpoint/2010/main" val="9432702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87A4C2C4-6FE2-4473-B21F-ACE5173EB4C6}" type="slidenum">
              <a:rPr lang="en-US" smtClean="0"/>
              <a:t>88</a:t>
            </a:fld>
            <a:endParaRPr lang="en-US"/>
          </a:p>
        </p:txBody>
      </p:sp>
    </p:spTree>
    <p:extLst>
      <p:ext uri="{BB962C8B-B14F-4D97-AF65-F5344CB8AC3E}">
        <p14:creationId xmlns:p14="http://schemas.microsoft.com/office/powerpoint/2010/main" val="9848723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87A4C2C4-6FE2-4473-B21F-ACE5173EB4C6}" type="slidenum">
              <a:rPr lang="en-US" smtClean="0"/>
              <a:t>89</a:t>
            </a:fld>
            <a:endParaRPr lang="en-US"/>
          </a:p>
        </p:txBody>
      </p:sp>
    </p:spTree>
    <p:extLst>
      <p:ext uri="{BB962C8B-B14F-4D97-AF65-F5344CB8AC3E}">
        <p14:creationId xmlns:p14="http://schemas.microsoft.com/office/powerpoint/2010/main" val="12653680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87A4C2C4-6FE2-4473-B21F-ACE5173EB4C6}" type="slidenum">
              <a:rPr lang="en-US" smtClean="0"/>
              <a:t>90</a:t>
            </a:fld>
            <a:endParaRPr lang="en-US"/>
          </a:p>
        </p:txBody>
      </p:sp>
    </p:spTree>
    <p:extLst>
      <p:ext uri="{BB962C8B-B14F-4D97-AF65-F5344CB8AC3E}">
        <p14:creationId xmlns:p14="http://schemas.microsoft.com/office/powerpoint/2010/main" val="15220954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87A4C2C4-6FE2-4473-B21F-ACE5173EB4C6}" type="slidenum">
              <a:rPr lang="en-US" smtClean="0"/>
              <a:t>91</a:t>
            </a:fld>
            <a:endParaRPr lang="en-US"/>
          </a:p>
        </p:txBody>
      </p:sp>
    </p:spTree>
    <p:extLst>
      <p:ext uri="{BB962C8B-B14F-4D97-AF65-F5344CB8AC3E}">
        <p14:creationId xmlns:p14="http://schemas.microsoft.com/office/powerpoint/2010/main" val="35018722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87A4C2C4-6FE2-4473-B21F-ACE5173EB4C6}" type="slidenum">
              <a:rPr lang="en-US" smtClean="0"/>
              <a:t>92</a:t>
            </a:fld>
            <a:endParaRPr lang="en-US"/>
          </a:p>
        </p:txBody>
      </p:sp>
    </p:spTree>
    <p:extLst>
      <p:ext uri="{BB962C8B-B14F-4D97-AF65-F5344CB8AC3E}">
        <p14:creationId xmlns:p14="http://schemas.microsoft.com/office/powerpoint/2010/main" val="24375384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87A4C2C4-6FE2-4473-B21F-ACE5173EB4C6}" type="slidenum">
              <a:rPr lang="en-US" smtClean="0"/>
              <a:t>93</a:t>
            </a:fld>
            <a:endParaRPr lang="en-US"/>
          </a:p>
        </p:txBody>
      </p:sp>
    </p:spTree>
    <p:extLst>
      <p:ext uri="{BB962C8B-B14F-4D97-AF65-F5344CB8AC3E}">
        <p14:creationId xmlns:p14="http://schemas.microsoft.com/office/powerpoint/2010/main" val="41819859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87A4C2C4-6FE2-4473-B21F-ACE5173EB4C6}" type="slidenum">
              <a:rPr lang="en-US" smtClean="0"/>
              <a:t>94</a:t>
            </a:fld>
            <a:endParaRPr lang="en-US"/>
          </a:p>
        </p:txBody>
      </p:sp>
    </p:spTree>
    <p:extLst>
      <p:ext uri="{BB962C8B-B14F-4D97-AF65-F5344CB8AC3E}">
        <p14:creationId xmlns:p14="http://schemas.microsoft.com/office/powerpoint/2010/main" val="8358793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87A4C2C4-6FE2-4473-B21F-ACE5173EB4C6}" type="slidenum">
              <a:rPr lang="en-US" smtClean="0"/>
              <a:t>95</a:t>
            </a:fld>
            <a:endParaRPr lang="en-US"/>
          </a:p>
        </p:txBody>
      </p:sp>
    </p:spTree>
    <p:extLst>
      <p:ext uri="{BB962C8B-B14F-4D97-AF65-F5344CB8AC3E}">
        <p14:creationId xmlns:p14="http://schemas.microsoft.com/office/powerpoint/2010/main" val="18522555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87A4C2C4-6FE2-4473-B21F-ACE5173EB4C6}" type="slidenum">
              <a:rPr lang="en-US" smtClean="0"/>
              <a:t>96</a:t>
            </a:fld>
            <a:endParaRPr lang="en-US"/>
          </a:p>
        </p:txBody>
      </p:sp>
    </p:spTree>
    <p:extLst>
      <p:ext uri="{BB962C8B-B14F-4D97-AF65-F5344CB8AC3E}">
        <p14:creationId xmlns:p14="http://schemas.microsoft.com/office/powerpoint/2010/main" val="9227294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87A4C2C4-6FE2-4473-B21F-ACE5173EB4C6}" type="slidenum">
              <a:rPr lang="en-US" smtClean="0"/>
              <a:t>97</a:t>
            </a:fld>
            <a:endParaRPr lang="en-US"/>
          </a:p>
        </p:txBody>
      </p:sp>
    </p:spTree>
    <p:extLst>
      <p:ext uri="{BB962C8B-B14F-4D97-AF65-F5344CB8AC3E}">
        <p14:creationId xmlns:p14="http://schemas.microsoft.com/office/powerpoint/2010/main" val="4366471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87A4C2C4-6FE2-4473-B21F-ACE5173EB4C6}" type="slidenum">
              <a:rPr lang="en-US" smtClean="0"/>
              <a:t>98</a:t>
            </a:fld>
            <a:endParaRPr lang="en-US"/>
          </a:p>
        </p:txBody>
      </p:sp>
    </p:spTree>
    <p:extLst>
      <p:ext uri="{BB962C8B-B14F-4D97-AF65-F5344CB8AC3E}">
        <p14:creationId xmlns:p14="http://schemas.microsoft.com/office/powerpoint/2010/main" val="33439038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87A4C2C4-6FE2-4473-B21F-ACE5173EB4C6}" type="slidenum">
              <a:rPr lang="en-US" smtClean="0"/>
              <a:t>99</a:t>
            </a:fld>
            <a:endParaRPr lang="en-US"/>
          </a:p>
        </p:txBody>
      </p:sp>
    </p:spTree>
    <p:extLst>
      <p:ext uri="{BB962C8B-B14F-4D97-AF65-F5344CB8AC3E}">
        <p14:creationId xmlns:p14="http://schemas.microsoft.com/office/powerpoint/2010/main" val="114184081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87A4C2C4-6FE2-4473-B21F-ACE5173EB4C6}" type="slidenum">
              <a:rPr lang="en-US" smtClean="0"/>
              <a:t>100</a:t>
            </a:fld>
            <a:endParaRPr lang="en-US"/>
          </a:p>
        </p:txBody>
      </p:sp>
    </p:spTree>
    <p:extLst>
      <p:ext uri="{BB962C8B-B14F-4D97-AF65-F5344CB8AC3E}">
        <p14:creationId xmlns:p14="http://schemas.microsoft.com/office/powerpoint/2010/main" val="12166442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87A4C2C4-6FE2-4473-B21F-ACE5173EB4C6}" type="slidenum">
              <a:rPr lang="en-US" smtClean="0"/>
              <a:t>101</a:t>
            </a:fld>
            <a:endParaRPr lang="en-US"/>
          </a:p>
        </p:txBody>
      </p:sp>
    </p:spTree>
    <p:extLst>
      <p:ext uri="{BB962C8B-B14F-4D97-AF65-F5344CB8AC3E}">
        <p14:creationId xmlns:p14="http://schemas.microsoft.com/office/powerpoint/2010/main" val="329546656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87A4C2C4-6FE2-4473-B21F-ACE5173EB4C6}" type="slidenum">
              <a:rPr lang="en-US" smtClean="0"/>
              <a:t>102</a:t>
            </a:fld>
            <a:endParaRPr lang="en-US"/>
          </a:p>
        </p:txBody>
      </p:sp>
    </p:spTree>
    <p:extLst>
      <p:ext uri="{BB962C8B-B14F-4D97-AF65-F5344CB8AC3E}">
        <p14:creationId xmlns:p14="http://schemas.microsoft.com/office/powerpoint/2010/main" val="25948285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87A4C2C4-6FE2-4473-B21F-ACE5173EB4C6}" type="slidenum">
              <a:rPr lang="en-US" smtClean="0"/>
              <a:t>103</a:t>
            </a:fld>
            <a:endParaRPr lang="en-US"/>
          </a:p>
        </p:txBody>
      </p:sp>
    </p:spTree>
    <p:extLst>
      <p:ext uri="{BB962C8B-B14F-4D97-AF65-F5344CB8AC3E}">
        <p14:creationId xmlns:p14="http://schemas.microsoft.com/office/powerpoint/2010/main" val="4973206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FD7AE61-87DC-4554-A01F-182CFC75E7E6}" type="datetimeFigureOut">
              <a:rPr lang="en-US" smtClean="0"/>
              <a:t>10/23/2024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8531E8-CB3B-4585-878D-C855E26057DC}" type="slidenum">
              <a:rPr lang="en-US" smtClean="0"/>
              <a:t>‹#›</a:t>
            </a:fld>
            <a:endParaRPr lang="en-US"/>
          </a:p>
        </p:txBody>
      </p:sp>
    </p:spTree>
    <p:extLst>
      <p:ext uri="{BB962C8B-B14F-4D97-AF65-F5344CB8AC3E}">
        <p14:creationId xmlns:p14="http://schemas.microsoft.com/office/powerpoint/2010/main" val="1635172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FD7AE61-87DC-4554-A01F-182CFC75E7E6}" type="datetimeFigureOut">
              <a:rPr lang="en-US" smtClean="0"/>
              <a:t>10/23/2024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8531E8-CB3B-4585-878D-C855E26057DC}" type="slidenum">
              <a:rPr lang="en-US" smtClean="0"/>
              <a:t>‹#›</a:t>
            </a:fld>
            <a:endParaRPr lang="en-US"/>
          </a:p>
        </p:txBody>
      </p:sp>
    </p:spTree>
    <p:extLst>
      <p:ext uri="{BB962C8B-B14F-4D97-AF65-F5344CB8AC3E}">
        <p14:creationId xmlns:p14="http://schemas.microsoft.com/office/powerpoint/2010/main" val="18946245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FD7AE61-87DC-4554-A01F-182CFC75E7E6}" type="datetimeFigureOut">
              <a:rPr lang="en-US" smtClean="0"/>
              <a:t>10/23/2024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8531E8-CB3B-4585-878D-C855E26057DC}" type="slidenum">
              <a:rPr lang="en-US" smtClean="0"/>
              <a:t>‹#›</a:t>
            </a:fld>
            <a:endParaRPr lang="en-US"/>
          </a:p>
        </p:txBody>
      </p:sp>
    </p:spTree>
    <p:extLst>
      <p:ext uri="{BB962C8B-B14F-4D97-AF65-F5344CB8AC3E}">
        <p14:creationId xmlns:p14="http://schemas.microsoft.com/office/powerpoint/2010/main" val="21868370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FD7AE61-87DC-4554-A01F-182CFC75E7E6}" type="datetimeFigureOut">
              <a:rPr lang="en-US" smtClean="0"/>
              <a:t>10/23/2024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8531E8-CB3B-4585-878D-C855E26057DC}" type="slidenum">
              <a:rPr lang="en-US" smtClean="0"/>
              <a:t>‹#›</a:t>
            </a:fld>
            <a:endParaRPr lang="en-US"/>
          </a:p>
        </p:txBody>
      </p:sp>
    </p:spTree>
    <p:extLst>
      <p:ext uri="{BB962C8B-B14F-4D97-AF65-F5344CB8AC3E}">
        <p14:creationId xmlns:p14="http://schemas.microsoft.com/office/powerpoint/2010/main" val="4920739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FD7AE61-87DC-4554-A01F-182CFC75E7E6}" type="datetimeFigureOut">
              <a:rPr lang="en-US" smtClean="0"/>
              <a:t>10/23/2024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38531E8-CB3B-4585-878D-C855E26057DC}" type="slidenum">
              <a:rPr lang="en-US" smtClean="0"/>
              <a:t>‹#›</a:t>
            </a:fld>
            <a:endParaRPr lang="en-US"/>
          </a:p>
        </p:txBody>
      </p:sp>
    </p:spTree>
    <p:extLst>
      <p:ext uri="{BB962C8B-B14F-4D97-AF65-F5344CB8AC3E}">
        <p14:creationId xmlns:p14="http://schemas.microsoft.com/office/powerpoint/2010/main" val="2576197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FD7AE61-87DC-4554-A01F-182CFC75E7E6}" type="datetimeFigureOut">
              <a:rPr lang="en-US" smtClean="0"/>
              <a:t>10/23/2024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8531E8-CB3B-4585-878D-C855E26057DC}" type="slidenum">
              <a:rPr lang="en-US" smtClean="0"/>
              <a:t>‹#›</a:t>
            </a:fld>
            <a:endParaRPr lang="en-US"/>
          </a:p>
        </p:txBody>
      </p:sp>
    </p:spTree>
    <p:extLst>
      <p:ext uri="{BB962C8B-B14F-4D97-AF65-F5344CB8AC3E}">
        <p14:creationId xmlns:p14="http://schemas.microsoft.com/office/powerpoint/2010/main" val="29158657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FD7AE61-87DC-4554-A01F-182CFC75E7E6}" type="datetimeFigureOut">
              <a:rPr lang="en-US" smtClean="0"/>
              <a:t>10/23/2024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38531E8-CB3B-4585-878D-C855E26057DC}" type="slidenum">
              <a:rPr lang="en-US" smtClean="0"/>
              <a:t>‹#›</a:t>
            </a:fld>
            <a:endParaRPr lang="en-US"/>
          </a:p>
        </p:txBody>
      </p:sp>
    </p:spTree>
    <p:extLst>
      <p:ext uri="{BB962C8B-B14F-4D97-AF65-F5344CB8AC3E}">
        <p14:creationId xmlns:p14="http://schemas.microsoft.com/office/powerpoint/2010/main" val="21588454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FD7AE61-87DC-4554-A01F-182CFC75E7E6}" type="datetimeFigureOut">
              <a:rPr lang="en-US" smtClean="0"/>
              <a:t>10/23/2024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8531E8-CB3B-4585-878D-C855E26057DC}" type="slidenum">
              <a:rPr lang="en-US" smtClean="0"/>
              <a:t>‹#›</a:t>
            </a:fld>
            <a:endParaRPr lang="en-US"/>
          </a:p>
        </p:txBody>
      </p:sp>
    </p:spTree>
    <p:extLst>
      <p:ext uri="{BB962C8B-B14F-4D97-AF65-F5344CB8AC3E}">
        <p14:creationId xmlns:p14="http://schemas.microsoft.com/office/powerpoint/2010/main" val="4201452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FD7AE61-87DC-4554-A01F-182CFC75E7E6}" type="datetimeFigureOut">
              <a:rPr lang="en-US" smtClean="0"/>
              <a:t>10/23/2024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8531E8-CB3B-4585-878D-C855E26057DC}" type="slidenum">
              <a:rPr lang="en-US" smtClean="0"/>
              <a:t>‹#›</a:t>
            </a:fld>
            <a:endParaRPr lang="en-US"/>
          </a:p>
        </p:txBody>
      </p:sp>
    </p:spTree>
    <p:extLst>
      <p:ext uri="{BB962C8B-B14F-4D97-AF65-F5344CB8AC3E}">
        <p14:creationId xmlns:p14="http://schemas.microsoft.com/office/powerpoint/2010/main" val="12181558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FD7AE61-87DC-4554-A01F-182CFC75E7E6}" type="datetimeFigureOut">
              <a:rPr lang="en-US" smtClean="0"/>
              <a:t>10/23/2024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8531E8-CB3B-4585-878D-C855E26057DC}" type="slidenum">
              <a:rPr lang="en-US" smtClean="0"/>
              <a:t>‹#›</a:t>
            </a:fld>
            <a:endParaRPr lang="en-US"/>
          </a:p>
        </p:txBody>
      </p:sp>
    </p:spTree>
    <p:extLst>
      <p:ext uri="{BB962C8B-B14F-4D97-AF65-F5344CB8AC3E}">
        <p14:creationId xmlns:p14="http://schemas.microsoft.com/office/powerpoint/2010/main" val="19633911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FD7AE61-87DC-4554-A01F-182CFC75E7E6}" type="datetimeFigureOut">
              <a:rPr lang="en-US" smtClean="0"/>
              <a:t>10/23/2024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8531E8-CB3B-4585-878D-C855E26057DC}" type="slidenum">
              <a:rPr lang="en-US" smtClean="0"/>
              <a:t>‹#›</a:t>
            </a:fld>
            <a:endParaRPr lang="en-US"/>
          </a:p>
        </p:txBody>
      </p:sp>
    </p:spTree>
    <p:extLst>
      <p:ext uri="{BB962C8B-B14F-4D97-AF65-F5344CB8AC3E}">
        <p14:creationId xmlns:p14="http://schemas.microsoft.com/office/powerpoint/2010/main" val="17899020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cxnSp>
        <p:nvCxnSpPr>
          <p:cNvPr id="7" name="Straight Arrow Connector 6"/>
          <p:cNvCxnSpPr/>
          <p:nvPr userDrawn="1"/>
        </p:nvCxnSpPr>
        <p:spPr>
          <a:xfrm flipV="1">
            <a:off x="1" y="821634"/>
            <a:ext cx="11078817" cy="0"/>
          </a:xfrm>
          <a:prstGeom prst="straightConnector1">
            <a:avLst/>
          </a:prstGeom>
          <a:ln w="38100">
            <a:solidFill>
              <a:srgbClr val="002060"/>
            </a:solidFill>
            <a:tailEnd type="ova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10762" y="67949"/>
            <a:ext cx="1598701" cy="494027"/>
          </a:xfrm>
          <a:prstGeom prst="rect">
            <a:avLst/>
          </a:prstGeom>
        </p:spPr>
      </p:pic>
      <p:sp>
        <p:nvSpPr>
          <p:cNvPr id="13" name="Slide Number Placeholder 5"/>
          <p:cNvSpPr>
            <a:spLocks noGrp="1"/>
          </p:cNvSpPr>
          <p:nvPr>
            <p:ph type="sldNum" sz="quarter" idx="12"/>
          </p:nvPr>
        </p:nvSpPr>
        <p:spPr>
          <a:xfrm>
            <a:off x="-2167835" y="6492876"/>
            <a:ext cx="2743200" cy="365125"/>
          </a:xfrm>
        </p:spPr>
        <p:txBody>
          <a:bodyPr/>
          <a:lstStyle/>
          <a:p>
            <a:fld id="{6E89A129-2810-4121-97A1-215370DB2F83}" type="slidenum">
              <a:rPr lang="en-US" smtClean="0"/>
              <a:pPr/>
              <a:t>‹#›</a:t>
            </a:fld>
            <a:endParaRPr lang="en-US"/>
          </a:p>
        </p:txBody>
      </p:sp>
    </p:spTree>
    <p:extLst>
      <p:ext uri="{BB962C8B-B14F-4D97-AF65-F5344CB8AC3E}">
        <p14:creationId xmlns:p14="http://schemas.microsoft.com/office/powerpoint/2010/main" val="2292890173"/>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Title Only">
    <p:spTree>
      <p:nvGrpSpPr>
        <p:cNvPr id="1" name=""/>
        <p:cNvGrpSpPr/>
        <p:nvPr/>
      </p:nvGrpSpPr>
      <p:grpSpPr>
        <a:xfrm>
          <a:off x="0" y="0"/>
          <a:ext cx="0" cy="0"/>
          <a:chOff x="0" y="0"/>
          <a:chExt cx="0" cy="0"/>
        </a:xfrm>
      </p:grpSpPr>
      <p:cxnSp>
        <p:nvCxnSpPr>
          <p:cNvPr id="7" name="Straight Arrow Connector 6"/>
          <p:cNvCxnSpPr/>
          <p:nvPr userDrawn="1"/>
        </p:nvCxnSpPr>
        <p:spPr>
          <a:xfrm flipV="1">
            <a:off x="1" y="821634"/>
            <a:ext cx="11078817" cy="0"/>
          </a:xfrm>
          <a:prstGeom prst="straightConnector1">
            <a:avLst/>
          </a:prstGeom>
          <a:ln w="38100">
            <a:solidFill>
              <a:srgbClr val="002060"/>
            </a:solidFill>
            <a:tailEnd type="ova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10762" y="67949"/>
            <a:ext cx="1598701" cy="494027"/>
          </a:xfrm>
          <a:prstGeom prst="rect">
            <a:avLst/>
          </a:prstGeom>
        </p:spPr>
      </p:pic>
      <p:sp>
        <p:nvSpPr>
          <p:cNvPr id="13" name="Slide Number Placeholder 5"/>
          <p:cNvSpPr>
            <a:spLocks noGrp="1"/>
          </p:cNvSpPr>
          <p:nvPr>
            <p:ph type="sldNum" sz="quarter" idx="12"/>
          </p:nvPr>
        </p:nvSpPr>
        <p:spPr>
          <a:xfrm>
            <a:off x="-2167835" y="6492876"/>
            <a:ext cx="2743200" cy="365125"/>
          </a:xfrm>
        </p:spPr>
        <p:txBody>
          <a:bodyPr/>
          <a:lstStyle/>
          <a:p>
            <a:fld id="{6E89A129-2810-4121-97A1-215370DB2F83}" type="slidenum">
              <a:rPr lang="en-US" smtClean="0"/>
              <a:pPr/>
              <a:t>‹#›</a:t>
            </a:fld>
            <a:endParaRPr lang="en-US"/>
          </a:p>
        </p:txBody>
      </p:sp>
    </p:spTree>
    <p:extLst>
      <p:ext uri="{BB962C8B-B14F-4D97-AF65-F5344CB8AC3E}">
        <p14:creationId xmlns:p14="http://schemas.microsoft.com/office/powerpoint/2010/main" val="304637681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D7AE61-87DC-4554-A01F-182CFC75E7E6}" type="datetimeFigureOut">
              <a:rPr lang="en-US" smtClean="0"/>
              <a:t>10/23/2024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8531E8-CB3B-4585-878D-C855E26057DC}" type="slidenum">
              <a:rPr lang="en-US" smtClean="0"/>
              <a:t>‹#›</a:t>
            </a:fld>
            <a:endParaRPr lang="en-US"/>
          </a:p>
        </p:txBody>
      </p:sp>
    </p:spTree>
    <p:extLst>
      <p:ext uri="{BB962C8B-B14F-4D97-AF65-F5344CB8AC3E}">
        <p14:creationId xmlns:p14="http://schemas.microsoft.com/office/powerpoint/2010/main" val="26500317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12.jpeg"/><Relationship Id="rId7" Type="http://schemas.openxmlformats.org/officeDocument/2006/relationships/diagramColors" Target="../diagrams/colors4.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11.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23.png"/><Relationship Id="rId2" Type="http://schemas.openxmlformats.org/officeDocument/2006/relationships/image" Target="../media/image13.jpg"/><Relationship Id="rId1" Type="http://schemas.openxmlformats.org/officeDocument/2006/relationships/slideLayout" Target="../slideLayouts/slideLayout2.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 Id="rId14" Type="http://schemas.openxmlformats.org/officeDocument/2006/relationships/image" Target="../media/image2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image" Target="../media/image27.png"/><Relationship Id="rId1" Type="http://schemas.openxmlformats.org/officeDocument/2006/relationships/slideLayout" Target="../slideLayouts/slideLayout7.xml"/><Relationship Id="rId4" Type="http://schemas.openxmlformats.org/officeDocument/2006/relationships/image" Target="../media/image29.jpg"/></Relationships>
</file>

<file path=ppt/slides/_rels/slide22.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41.png"/><Relationship Id="rId3" Type="http://schemas.openxmlformats.org/officeDocument/2006/relationships/image" Target="../media/image31.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5" Type="http://schemas.openxmlformats.org/officeDocument/2006/relationships/image" Target="../media/image43.png"/><Relationship Id="rId10" Type="http://schemas.openxmlformats.org/officeDocument/2006/relationships/image" Target="../media/image38.png"/><Relationship Id="rId4" Type="http://schemas.openxmlformats.org/officeDocument/2006/relationships/image" Target="../media/image32.png"/><Relationship Id="rId9" Type="http://schemas.openxmlformats.org/officeDocument/2006/relationships/image" Target="../media/image37.png"/><Relationship Id="rId14" Type="http://schemas.openxmlformats.org/officeDocument/2006/relationships/image" Target="../media/image4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image" Target="../media/image44.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image" Target="../media/image46.jpg"/><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30.xml.rels><?xml version="1.0" encoding="UTF-8" standalone="yes"?>
<Relationships xmlns="http://schemas.openxmlformats.org/package/2006/relationships"><Relationship Id="rId8" Type="http://schemas.openxmlformats.org/officeDocument/2006/relationships/image" Target="../media/image59.png"/><Relationship Id="rId13" Type="http://schemas.openxmlformats.org/officeDocument/2006/relationships/image" Target="../media/image64.png"/><Relationship Id="rId18" Type="http://schemas.openxmlformats.org/officeDocument/2006/relationships/image" Target="../media/image69.png"/><Relationship Id="rId3" Type="http://schemas.openxmlformats.org/officeDocument/2006/relationships/image" Target="../media/image54.jpg"/><Relationship Id="rId7" Type="http://schemas.openxmlformats.org/officeDocument/2006/relationships/image" Target="../media/image58.png"/><Relationship Id="rId12" Type="http://schemas.openxmlformats.org/officeDocument/2006/relationships/image" Target="../media/image63.png"/><Relationship Id="rId17" Type="http://schemas.openxmlformats.org/officeDocument/2006/relationships/image" Target="../media/image68.png"/><Relationship Id="rId2" Type="http://schemas.openxmlformats.org/officeDocument/2006/relationships/image" Target="../media/image53.jpg"/><Relationship Id="rId16" Type="http://schemas.openxmlformats.org/officeDocument/2006/relationships/image" Target="../media/image67.png"/><Relationship Id="rId20" Type="http://schemas.openxmlformats.org/officeDocument/2006/relationships/image" Target="../media/image71.png"/><Relationship Id="rId1" Type="http://schemas.openxmlformats.org/officeDocument/2006/relationships/slideLayout" Target="../slideLayouts/slideLayout2.xml"/><Relationship Id="rId6" Type="http://schemas.openxmlformats.org/officeDocument/2006/relationships/image" Target="../media/image57.png"/><Relationship Id="rId11" Type="http://schemas.openxmlformats.org/officeDocument/2006/relationships/image" Target="../media/image62.png"/><Relationship Id="rId5" Type="http://schemas.openxmlformats.org/officeDocument/2006/relationships/image" Target="../media/image56.jpg"/><Relationship Id="rId15" Type="http://schemas.openxmlformats.org/officeDocument/2006/relationships/image" Target="../media/image66.png"/><Relationship Id="rId10" Type="http://schemas.openxmlformats.org/officeDocument/2006/relationships/image" Target="../media/image61.jpg"/><Relationship Id="rId19" Type="http://schemas.openxmlformats.org/officeDocument/2006/relationships/image" Target="../media/image70.jpg"/><Relationship Id="rId4" Type="http://schemas.openxmlformats.org/officeDocument/2006/relationships/image" Target="../media/image55.png"/><Relationship Id="rId9" Type="http://schemas.openxmlformats.org/officeDocument/2006/relationships/image" Target="../media/image60.png"/><Relationship Id="rId14" Type="http://schemas.openxmlformats.org/officeDocument/2006/relationships/image" Target="../media/image6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slide" Target="slide18.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slide" Target="slide18.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70.jpg"/><Relationship Id="rId2" Type="http://schemas.openxmlformats.org/officeDocument/2006/relationships/image" Target="../media/image44.jp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70.jpg"/><Relationship Id="rId2" Type="http://schemas.openxmlformats.org/officeDocument/2006/relationships/image" Target="../media/image44.jp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76.emf"/><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hyperlink" Target="https://cleartax.in/s/time-supply-goods-gst" TargetMode="Externa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hyperlink" Target="https://cleartax.in/s/time-supply-services-gst" TargetMode="Externa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hyperlink" Target="https://cleartax.in/s/place-of-supply-gst/" TargetMode="Externa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hyperlink" Target="https://cleartax.in/s/place-of-supply-gst/"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hyperlink" Target="https://cleartax.in/s/place-of-supply-for-specific-services" TargetMode="External"/><Relationship Id="rId2" Type="http://schemas.openxmlformats.org/officeDocument/2006/relationships/hyperlink" Target="https://cleartax.in/s/place-of-supply-of-service-gst/" TargetMode="External"/><Relationship Id="rId1" Type="http://schemas.openxmlformats.org/officeDocument/2006/relationships/slideLayout" Target="../slideLayouts/slideLayout2.xml"/><Relationship Id="rId6" Type="http://schemas.openxmlformats.org/officeDocument/2006/relationships/hyperlink" Target="https://cleartax.in/s/place-of-supply-of-banking-and-financial-services" TargetMode="External"/><Relationship Id="rId5" Type="http://schemas.openxmlformats.org/officeDocument/2006/relationships/hyperlink" Target="https://cleartax.in/s/place-of-supply-for-transportation-services" TargetMode="External"/><Relationship Id="rId4" Type="http://schemas.openxmlformats.org/officeDocument/2006/relationships/hyperlink" Target="https://cleartax.in/s/place-of-supply-for-services-of-immovable-property" TargetMode="Externa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image" Target="../media/image46.jpg"/><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335902" y="1548882"/>
            <a:ext cx="11548188" cy="3704253"/>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4200" b="1" dirty="0" smtClean="0">
                <a:solidFill>
                  <a:srgbClr val="FF0000"/>
                </a:solidFill>
              </a:rPr>
              <a:t>Module 4</a:t>
            </a:r>
          </a:p>
          <a:p>
            <a:pPr algn="ctr"/>
            <a:r>
              <a:rPr lang="en-IN" sz="4200" b="1" dirty="0" smtClean="0"/>
              <a:t>Goods </a:t>
            </a:r>
            <a:r>
              <a:rPr lang="en-IN" sz="4200" b="1" dirty="0"/>
              <a:t>and Services Tax</a:t>
            </a:r>
            <a:endParaRPr lang="en-US" sz="4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7209183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8" name="Content Placeholder 67"/>
          <p:cNvGraphicFramePr>
            <a:graphicFrameLocks noGrp="1"/>
          </p:cNvGraphicFramePr>
          <p:nvPr>
            <p:ph idx="1"/>
            <p:extLst/>
          </p:nvPr>
        </p:nvGraphicFramePr>
        <p:xfrm>
          <a:off x="1981200" y="1481138"/>
          <a:ext cx="8229600" cy="45259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5" name="Title 64"/>
          <p:cNvSpPr>
            <a:spLocks noGrp="1"/>
          </p:cNvSpPr>
          <p:nvPr>
            <p:ph type="title"/>
          </p:nvPr>
        </p:nvSpPr>
        <p:spPr/>
        <p:txBody>
          <a:bodyPr>
            <a:normAutofit/>
          </a:bodyPr>
          <a:lstStyle/>
          <a:p>
            <a:r>
              <a:rPr lang="en-US" b="1" dirty="0" smtClean="0">
                <a:solidFill>
                  <a:srgbClr val="0070C0"/>
                </a:solidFill>
              </a:rPr>
              <a:t>Pre-</a:t>
            </a:r>
            <a:r>
              <a:rPr lang="en-US" b="1" dirty="0" err="1" smtClean="0">
                <a:solidFill>
                  <a:srgbClr val="0070C0"/>
                </a:solidFill>
              </a:rPr>
              <a:t>gst</a:t>
            </a:r>
            <a:r>
              <a:rPr lang="en-US" b="1" dirty="0" smtClean="0">
                <a:solidFill>
                  <a:srgbClr val="0070C0"/>
                </a:solidFill>
              </a:rPr>
              <a:t> Tax structure in India</a:t>
            </a:r>
            <a:endParaRPr lang="en-US" b="1" dirty="0">
              <a:solidFill>
                <a:srgbClr val="0070C0"/>
              </a:solidFill>
            </a:endParaRPr>
          </a:p>
        </p:txBody>
      </p:sp>
      <p:graphicFrame>
        <p:nvGraphicFramePr>
          <p:cNvPr id="71" name="Diagram 70"/>
          <p:cNvGraphicFramePr/>
          <p:nvPr>
            <p:extLst/>
          </p:nvPr>
        </p:nvGraphicFramePr>
        <p:xfrm>
          <a:off x="1676400" y="1219200"/>
          <a:ext cx="8686800" cy="56388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2" name="Footer Placeholder 1"/>
          <p:cNvSpPr>
            <a:spLocks noGrp="1"/>
          </p:cNvSpPr>
          <p:nvPr>
            <p:ph type="ftr" sz="quarter" idx="11"/>
          </p:nvPr>
        </p:nvSpPr>
        <p:spPr/>
        <p:txBody>
          <a:bodyPr/>
          <a:lstStyle/>
          <a:p>
            <a:r>
              <a:rPr lang="en-US" dirty="0" smtClean="0"/>
              <a:t>S </a:t>
            </a:r>
            <a:r>
              <a:rPr lang="en-US" dirty="0" err="1" smtClean="0"/>
              <a:t>S</a:t>
            </a:r>
            <a:r>
              <a:rPr lang="en-US" dirty="0" smtClean="0"/>
              <a:t> KALE</a:t>
            </a:r>
            <a:endParaRPr lang="en-US" dirty="0"/>
          </a:p>
        </p:txBody>
      </p:sp>
    </p:spTree>
    <p:extLst>
      <p:ext uri="{BB962C8B-B14F-4D97-AF65-F5344CB8AC3E}">
        <p14:creationId xmlns:p14="http://schemas.microsoft.com/office/powerpoint/2010/main" val="3116814760"/>
      </p:ext>
    </p:extLst>
  </p:cSld>
  <p:clrMapOvr>
    <a:masterClrMapping/>
  </p:clrMapOvr>
  <p:transition>
    <p:wedg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extLst/>
          </p:nvPr>
        </p:nvGraphicFramePr>
        <p:xfrm>
          <a:off x="1981200" y="1143000"/>
          <a:ext cx="8534400" cy="5562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1"/>
          <p:cNvSpPr>
            <a:spLocks noGrp="1"/>
          </p:cNvSpPr>
          <p:nvPr>
            <p:ph type="title"/>
          </p:nvPr>
        </p:nvSpPr>
        <p:spPr>
          <a:xfrm>
            <a:off x="1981200" y="274638"/>
            <a:ext cx="8229600" cy="792162"/>
          </a:xfrm>
        </p:spPr>
        <p:txBody>
          <a:bodyPr/>
          <a:lstStyle/>
          <a:p>
            <a:r>
              <a:rPr lang="en-US" b="1" dirty="0">
                <a:solidFill>
                  <a:srgbClr val="0070C0"/>
                </a:solidFill>
              </a:rPr>
              <a:t>Subsuming of Existing Taxes</a:t>
            </a:r>
            <a:endParaRPr lang="en-US" dirty="0">
              <a:solidFill>
                <a:srgbClr val="0070C0"/>
              </a:solidFill>
            </a:endParaRPr>
          </a:p>
        </p:txBody>
      </p:sp>
      <p:sp>
        <p:nvSpPr>
          <p:cNvPr id="3" name="Footer Placeholder 2"/>
          <p:cNvSpPr>
            <a:spLocks noGrp="1"/>
          </p:cNvSpPr>
          <p:nvPr>
            <p:ph type="ftr" sz="quarter" idx="11"/>
          </p:nvPr>
        </p:nvSpPr>
        <p:spPr/>
        <p:txBody>
          <a:bodyPr/>
          <a:lstStyle/>
          <a:p>
            <a:r>
              <a:rPr lang="en-US" dirty="0" smtClean="0"/>
              <a:t>S </a:t>
            </a:r>
            <a:r>
              <a:rPr lang="en-US" dirty="0" err="1" smtClean="0"/>
              <a:t>S</a:t>
            </a:r>
            <a:r>
              <a:rPr lang="en-US" dirty="0" smtClean="0"/>
              <a:t> KALE	</a:t>
            </a:r>
            <a:endParaRPr lang="en-US" dirty="0"/>
          </a:p>
        </p:txBody>
      </p:sp>
    </p:spTree>
    <p:extLst>
      <p:ext uri="{BB962C8B-B14F-4D97-AF65-F5344CB8AC3E}">
        <p14:creationId xmlns:p14="http://schemas.microsoft.com/office/powerpoint/2010/main" val="504861120"/>
      </p:ext>
    </p:extLst>
  </p:cSld>
  <p:clrMapOvr>
    <a:masterClrMapping/>
  </p:clrMapOvr>
  <p:transition>
    <p:wedg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E:\GST\PPT\images FOR PPT\dilema1-300x225.jpg"/>
          <p:cNvPicPr>
            <a:picLocks noChangeAspect="1" noChangeArrowheads="1"/>
          </p:cNvPicPr>
          <p:nvPr/>
        </p:nvPicPr>
        <p:blipFill>
          <a:blip r:embed="rId3"/>
          <a:srcRect/>
          <a:stretch>
            <a:fillRect/>
          </a:stretch>
        </p:blipFill>
        <p:spPr bwMode="auto">
          <a:xfrm>
            <a:off x="4408714" y="4202206"/>
            <a:ext cx="2286000" cy="2117912"/>
          </a:xfrm>
          <a:prstGeom prst="rect">
            <a:avLst/>
          </a:prstGeom>
          <a:noFill/>
        </p:spPr>
      </p:pic>
      <p:sp>
        <p:nvSpPr>
          <p:cNvPr id="58" name="Rectangle 57"/>
          <p:cNvSpPr/>
          <p:nvPr/>
        </p:nvSpPr>
        <p:spPr>
          <a:xfrm>
            <a:off x="2286001" y="460194"/>
            <a:ext cx="6749143" cy="5169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1113" tIns="35556" rIns="71113" bIns="35556" rtlCol="0" anchor="ctr"/>
          <a:lstStyle/>
          <a:p>
            <a:pPr lvl="0" algn="ctr"/>
            <a:r>
              <a:rPr lang="en-US" sz="2500" b="1" dirty="0" smtClean="0">
                <a:solidFill>
                  <a:schemeClr val="tx1"/>
                </a:solidFill>
              </a:rPr>
              <a:t> </a:t>
            </a:r>
            <a:r>
              <a:rPr lang="en-US" sz="3200" b="1" dirty="0">
                <a:solidFill>
                  <a:schemeClr val="tx1"/>
                </a:solidFill>
              </a:rPr>
              <a:t>Goods Vs. Services dilemma ? </a:t>
            </a:r>
          </a:p>
        </p:txBody>
      </p:sp>
      <p:pic>
        <p:nvPicPr>
          <p:cNvPr id="6" name="Picture 5" descr="download.png"/>
          <p:cNvPicPr>
            <a:picLocks noChangeAspect="1"/>
          </p:cNvPicPr>
          <p:nvPr/>
        </p:nvPicPr>
        <p:blipFill>
          <a:blip r:embed="rId4"/>
          <a:stretch>
            <a:fillRect/>
          </a:stretch>
        </p:blipFill>
        <p:spPr>
          <a:xfrm>
            <a:off x="7021286" y="2218766"/>
            <a:ext cx="1585232" cy="1815353"/>
          </a:xfrm>
          <a:prstGeom prst="rect">
            <a:avLst/>
          </a:prstGeom>
        </p:spPr>
      </p:pic>
      <p:sp>
        <p:nvSpPr>
          <p:cNvPr id="23" name="TextBox 22"/>
          <p:cNvSpPr txBox="1"/>
          <p:nvPr/>
        </p:nvSpPr>
        <p:spPr>
          <a:xfrm>
            <a:off x="5334001" y="4605618"/>
            <a:ext cx="1034143" cy="364194"/>
          </a:xfrm>
          <a:prstGeom prst="rect">
            <a:avLst/>
          </a:prstGeom>
          <a:noFill/>
        </p:spPr>
        <p:txBody>
          <a:bodyPr wrap="square" lIns="71113" tIns="35556" rIns="71113" bIns="35556" rtlCol="0">
            <a:spAutoFit/>
          </a:bodyPr>
          <a:lstStyle/>
          <a:p>
            <a:r>
              <a:rPr lang="en-US" sz="1900" b="1" dirty="0">
                <a:solidFill>
                  <a:srgbClr val="FF0000"/>
                </a:solidFill>
              </a:rPr>
              <a:t>Sale</a:t>
            </a:r>
          </a:p>
        </p:txBody>
      </p:sp>
      <p:sp>
        <p:nvSpPr>
          <p:cNvPr id="24" name="TextBox 23"/>
          <p:cNvSpPr txBox="1"/>
          <p:nvPr/>
        </p:nvSpPr>
        <p:spPr>
          <a:xfrm>
            <a:off x="6585857" y="5345207"/>
            <a:ext cx="1872343" cy="364194"/>
          </a:xfrm>
          <a:prstGeom prst="rect">
            <a:avLst/>
          </a:prstGeom>
          <a:noFill/>
        </p:spPr>
        <p:txBody>
          <a:bodyPr wrap="square" lIns="71113" tIns="35556" rIns="71113" bIns="35556" rtlCol="0">
            <a:spAutoFit/>
          </a:bodyPr>
          <a:lstStyle/>
          <a:p>
            <a:r>
              <a:rPr lang="en-US" sz="1900" b="1" dirty="0">
                <a:solidFill>
                  <a:srgbClr val="FF0000"/>
                </a:solidFill>
              </a:rPr>
              <a:t>Manufacturing</a:t>
            </a:r>
          </a:p>
        </p:txBody>
      </p:sp>
      <p:sp>
        <p:nvSpPr>
          <p:cNvPr id="25" name="TextBox 24"/>
          <p:cNvSpPr txBox="1"/>
          <p:nvPr/>
        </p:nvSpPr>
        <p:spPr>
          <a:xfrm>
            <a:off x="2177143" y="1210236"/>
            <a:ext cx="2122714" cy="841248"/>
          </a:xfrm>
          <a:prstGeom prst="rect">
            <a:avLst/>
          </a:prstGeom>
          <a:noFill/>
        </p:spPr>
        <p:txBody>
          <a:bodyPr wrap="square" lIns="71113" tIns="35556" rIns="71113" bIns="35556" rtlCol="0">
            <a:spAutoFit/>
          </a:bodyPr>
          <a:lstStyle/>
          <a:p>
            <a:pPr algn="ctr"/>
            <a:r>
              <a:rPr lang="en-US" sz="2500" dirty="0">
                <a:solidFill>
                  <a:srgbClr val="FF0000"/>
                </a:solidFill>
              </a:rPr>
              <a:t>License</a:t>
            </a:r>
            <a:r>
              <a:rPr lang="en-US" sz="2500" dirty="0"/>
              <a:t> </a:t>
            </a:r>
            <a:r>
              <a:rPr lang="en-US" sz="2500" dirty="0">
                <a:solidFill>
                  <a:srgbClr val="FF0000"/>
                </a:solidFill>
              </a:rPr>
              <a:t>Software in CD</a:t>
            </a:r>
          </a:p>
        </p:txBody>
      </p:sp>
      <p:sp>
        <p:nvSpPr>
          <p:cNvPr id="27" name="TextBox 26"/>
          <p:cNvSpPr txBox="1"/>
          <p:nvPr/>
        </p:nvSpPr>
        <p:spPr>
          <a:xfrm>
            <a:off x="3657601" y="5143501"/>
            <a:ext cx="1132114" cy="364194"/>
          </a:xfrm>
          <a:prstGeom prst="rect">
            <a:avLst/>
          </a:prstGeom>
          <a:noFill/>
        </p:spPr>
        <p:txBody>
          <a:bodyPr wrap="square" lIns="71113" tIns="35556" rIns="71113" bIns="35556" rtlCol="0">
            <a:spAutoFit/>
          </a:bodyPr>
          <a:lstStyle/>
          <a:p>
            <a:r>
              <a:rPr lang="en-US" sz="1900" b="1" dirty="0">
                <a:solidFill>
                  <a:srgbClr val="FF0000"/>
                </a:solidFill>
              </a:rPr>
              <a:t>Services</a:t>
            </a:r>
          </a:p>
        </p:txBody>
      </p:sp>
      <p:pic>
        <p:nvPicPr>
          <p:cNvPr id="2051" name="Picture 3" descr="E:\GST\PPT\images FOR PPT\Software.jpg"/>
          <p:cNvPicPr>
            <a:picLocks noChangeAspect="1" noChangeArrowheads="1"/>
          </p:cNvPicPr>
          <p:nvPr/>
        </p:nvPicPr>
        <p:blipFill>
          <a:blip r:embed="rId5" cstate="print"/>
          <a:srcRect/>
          <a:stretch>
            <a:fillRect/>
          </a:stretch>
        </p:blipFill>
        <p:spPr bwMode="auto">
          <a:xfrm>
            <a:off x="2286000" y="2487706"/>
            <a:ext cx="1905000" cy="1764926"/>
          </a:xfrm>
          <a:prstGeom prst="rect">
            <a:avLst/>
          </a:prstGeom>
          <a:noFill/>
        </p:spPr>
      </p:pic>
      <p:sp>
        <p:nvSpPr>
          <p:cNvPr id="29" name="TextBox 28"/>
          <p:cNvSpPr txBox="1"/>
          <p:nvPr/>
        </p:nvSpPr>
        <p:spPr>
          <a:xfrm>
            <a:off x="6858000" y="1277471"/>
            <a:ext cx="2122714" cy="841248"/>
          </a:xfrm>
          <a:prstGeom prst="rect">
            <a:avLst/>
          </a:prstGeom>
          <a:noFill/>
        </p:spPr>
        <p:txBody>
          <a:bodyPr wrap="square" lIns="71113" tIns="35556" rIns="71113" bIns="35556" rtlCol="0">
            <a:spAutoFit/>
          </a:bodyPr>
          <a:lstStyle/>
          <a:p>
            <a:pPr algn="ctr"/>
            <a:r>
              <a:rPr lang="en-US" sz="2500" dirty="0">
                <a:solidFill>
                  <a:srgbClr val="FF0000"/>
                </a:solidFill>
              </a:rPr>
              <a:t>Sale of Food In Restaurant </a:t>
            </a:r>
          </a:p>
        </p:txBody>
      </p:sp>
    </p:spTree>
    <p:extLst>
      <p:ext uri="{BB962C8B-B14F-4D97-AF65-F5344CB8AC3E}">
        <p14:creationId xmlns:p14="http://schemas.microsoft.com/office/powerpoint/2010/main" val="226068639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2.jpg"/>
          <p:cNvPicPr>
            <a:picLocks noChangeAspect="1"/>
          </p:cNvPicPr>
          <p:nvPr/>
        </p:nvPicPr>
        <p:blipFill>
          <a:blip r:embed="rId3">
            <a:clrChange>
              <a:clrFrom>
                <a:srgbClr val="F1F0EC"/>
              </a:clrFrom>
              <a:clrTo>
                <a:srgbClr val="F1F0EC">
                  <a:alpha val="0"/>
                </a:srgbClr>
              </a:clrTo>
            </a:clrChange>
          </a:blip>
          <a:srcRect l="19278" r="11905"/>
          <a:stretch>
            <a:fillRect/>
          </a:stretch>
        </p:blipFill>
        <p:spPr>
          <a:xfrm>
            <a:off x="2122714" y="1933016"/>
            <a:ext cx="3048000" cy="3244103"/>
          </a:xfrm>
          <a:prstGeom prst="rect">
            <a:avLst/>
          </a:prstGeom>
        </p:spPr>
      </p:pic>
      <p:pic>
        <p:nvPicPr>
          <p:cNvPr id="7" name="Picture 6" descr="gujrat-011.jpg"/>
          <p:cNvPicPr>
            <a:picLocks noChangeAspect="1"/>
          </p:cNvPicPr>
          <p:nvPr/>
        </p:nvPicPr>
        <p:blipFill>
          <a:blip r:embed="rId4">
            <a:clrChange>
              <a:clrFrom>
                <a:srgbClr val="E4E4E4"/>
              </a:clrFrom>
              <a:clrTo>
                <a:srgbClr val="E4E4E4">
                  <a:alpha val="0"/>
                </a:srgbClr>
              </a:clrTo>
            </a:clrChange>
          </a:blip>
          <a:srcRect l="16571" t="9518" r="16000" b="5663"/>
          <a:stretch>
            <a:fillRect/>
          </a:stretch>
        </p:blipFill>
        <p:spPr>
          <a:xfrm>
            <a:off x="6368143" y="2017060"/>
            <a:ext cx="3211286" cy="2958353"/>
          </a:xfrm>
          <a:prstGeom prst="rect">
            <a:avLst/>
          </a:prstGeom>
        </p:spPr>
      </p:pic>
      <p:sp>
        <p:nvSpPr>
          <p:cNvPr id="8" name="Arc 7"/>
          <p:cNvSpPr/>
          <p:nvPr/>
        </p:nvSpPr>
        <p:spPr>
          <a:xfrm rot="18880889">
            <a:off x="4111969" y="2252563"/>
            <a:ext cx="3388659" cy="2808514"/>
          </a:xfrm>
          <a:prstGeom prst="arc">
            <a:avLst/>
          </a:prstGeom>
          <a:ln>
            <a:solidFill>
              <a:srgbClr val="FF0000"/>
            </a:solidFill>
          </a:ln>
        </p:spPr>
        <p:style>
          <a:lnRef idx="3">
            <a:schemeClr val="dk1"/>
          </a:lnRef>
          <a:fillRef idx="0">
            <a:schemeClr val="dk1"/>
          </a:fillRef>
          <a:effectRef idx="2">
            <a:schemeClr val="dk1"/>
          </a:effectRef>
          <a:fontRef idx="minor">
            <a:schemeClr val="tx1"/>
          </a:fontRef>
        </p:style>
        <p:txBody>
          <a:bodyPr lIns="71113" tIns="35556" rIns="71113" bIns="35556" rtlCol="0" anchor="ctr"/>
          <a:lstStyle/>
          <a:p>
            <a:pPr algn="ctr"/>
            <a:endParaRPr lang="en-US"/>
          </a:p>
        </p:txBody>
      </p:sp>
      <p:sp>
        <p:nvSpPr>
          <p:cNvPr id="13" name="Arc 12"/>
          <p:cNvSpPr/>
          <p:nvPr/>
        </p:nvSpPr>
        <p:spPr>
          <a:xfrm rot="8213184">
            <a:off x="4482791" y="409790"/>
            <a:ext cx="2743200" cy="3550024"/>
          </a:xfrm>
          <a:prstGeom prst="arc">
            <a:avLst/>
          </a:prstGeom>
          <a:ln>
            <a:solidFill>
              <a:srgbClr val="FF0000"/>
            </a:solidFill>
          </a:ln>
        </p:spPr>
        <p:style>
          <a:lnRef idx="3">
            <a:schemeClr val="dk1"/>
          </a:lnRef>
          <a:fillRef idx="0">
            <a:schemeClr val="dk1"/>
          </a:fillRef>
          <a:effectRef idx="2">
            <a:schemeClr val="dk1"/>
          </a:effectRef>
          <a:fontRef idx="minor">
            <a:schemeClr val="tx1"/>
          </a:fontRef>
        </p:style>
        <p:txBody>
          <a:bodyPr lIns="71113" tIns="35556" rIns="71113" bIns="35556" rtlCol="0" anchor="ctr"/>
          <a:lstStyle/>
          <a:p>
            <a:pPr algn="ctr"/>
            <a:endParaRPr lang="en-US"/>
          </a:p>
        </p:txBody>
      </p:sp>
      <p:sp>
        <p:nvSpPr>
          <p:cNvPr id="15" name="Right Arrow 14"/>
          <p:cNvSpPr/>
          <p:nvPr/>
        </p:nvSpPr>
        <p:spPr>
          <a:xfrm>
            <a:off x="5551714" y="3765178"/>
            <a:ext cx="544286" cy="268941"/>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71113" tIns="35556" rIns="71113" bIns="35556" rtlCol="0" anchor="ctr"/>
          <a:lstStyle/>
          <a:p>
            <a:pPr algn="ctr"/>
            <a:endParaRPr lang="en-US"/>
          </a:p>
        </p:txBody>
      </p:sp>
      <p:sp>
        <p:nvSpPr>
          <p:cNvPr id="17" name="Left Arrow 16"/>
          <p:cNvSpPr/>
          <p:nvPr/>
        </p:nvSpPr>
        <p:spPr>
          <a:xfrm>
            <a:off x="5497286" y="1815354"/>
            <a:ext cx="544286" cy="268941"/>
          </a:xfrm>
          <a:prstGeom prst="lef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71113" tIns="35556" rIns="71113" bIns="35556" rtlCol="0" anchor="ctr"/>
          <a:lstStyle/>
          <a:p>
            <a:pPr algn="ctr"/>
            <a:endParaRPr lang="en-US"/>
          </a:p>
        </p:txBody>
      </p:sp>
      <p:sp>
        <p:nvSpPr>
          <p:cNvPr id="18" name="TextBox 17"/>
          <p:cNvSpPr txBox="1"/>
          <p:nvPr/>
        </p:nvSpPr>
        <p:spPr>
          <a:xfrm>
            <a:off x="5606143" y="1542473"/>
            <a:ext cx="1796142" cy="364194"/>
          </a:xfrm>
          <a:prstGeom prst="rect">
            <a:avLst/>
          </a:prstGeom>
          <a:noFill/>
        </p:spPr>
        <p:txBody>
          <a:bodyPr wrap="square" lIns="71113" tIns="35556" rIns="71113" bIns="35556" rtlCol="0">
            <a:spAutoFit/>
          </a:bodyPr>
          <a:lstStyle/>
          <a:p>
            <a:r>
              <a:rPr lang="en-US" sz="1900" b="1" dirty="0">
                <a:solidFill>
                  <a:srgbClr val="371FC9"/>
                </a:solidFill>
              </a:rPr>
              <a:t>No Entry Tax</a:t>
            </a:r>
          </a:p>
        </p:txBody>
      </p:sp>
      <p:sp>
        <p:nvSpPr>
          <p:cNvPr id="19" name="TextBox 18"/>
          <p:cNvSpPr txBox="1"/>
          <p:nvPr/>
        </p:nvSpPr>
        <p:spPr>
          <a:xfrm>
            <a:off x="5061858" y="3895708"/>
            <a:ext cx="1088571" cy="364194"/>
          </a:xfrm>
          <a:prstGeom prst="rect">
            <a:avLst/>
          </a:prstGeom>
          <a:noFill/>
        </p:spPr>
        <p:txBody>
          <a:bodyPr wrap="square" lIns="71113" tIns="35556" rIns="71113" bIns="35556" rtlCol="0">
            <a:spAutoFit/>
          </a:bodyPr>
          <a:lstStyle/>
          <a:p>
            <a:r>
              <a:rPr lang="en-US" sz="1900" b="1" dirty="0">
                <a:solidFill>
                  <a:srgbClr val="371FC9"/>
                </a:solidFill>
              </a:rPr>
              <a:t>Entry Tax</a:t>
            </a:r>
          </a:p>
        </p:txBody>
      </p:sp>
      <p:sp>
        <p:nvSpPr>
          <p:cNvPr id="20" name="TextBox 19"/>
          <p:cNvSpPr txBox="1"/>
          <p:nvPr/>
        </p:nvSpPr>
        <p:spPr>
          <a:xfrm>
            <a:off x="4953001" y="5580530"/>
            <a:ext cx="1959429" cy="656582"/>
          </a:xfrm>
          <a:prstGeom prst="rect">
            <a:avLst/>
          </a:prstGeom>
          <a:noFill/>
        </p:spPr>
        <p:txBody>
          <a:bodyPr wrap="square" lIns="71113" tIns="35556" rIns="71113" bIns="35556" rtlCol="0">
            <a:spAutoFit/>
          </a:bodyPr>
          <a:lstStyle/>
          <a:p>
            <a:pPr algn="ctr"/>
            <a:r>
              <a:rPr lang="en-US" sz="1900" b="1" dirty="0">
                <a:solidFill>
                  <a:srgbClr val="371FC9"/>
                </a:solidFill>
              </a:rPr>
              <a:t>Value Added Tax</a:t>
            </a:r>
          </a:p>
          <a:p>
            <a:pPr algn="ctr"/>
            <a:r>
              <a:rPr lang="en-US" sz="1900" b="1" dirty="0">
                <a:solidFill>
                  <a:srgbClr val="371FC9"/>
                </a:solidFill>
              </a:rPr>
              <a:t>e.g. on Sugar</a:t>
            </a:r>
          </a:p>
        </p:txBody>
      </p:sp>
      <p:cxnSp>
        <p:nvCxnSpPr>
          <p:cNvPr id="22" name="Straight Arrow Connector 21"/>
          <p:cNvCxnSpPr/>
          <p:nvPr/>
        </p:nvCxnSpPr>
        <p:spPr>
          <a:xfrm rot="5400000" flipH="1" flipV="1">
            <a:off x="6320341" y="4610197"/>
            <a:ext cx="1456316" cy="707571"/>
          </a:xfrm>
          <a:prstGeom prst="straightConnector1">
            <a:avLst/>
          </a:prstGeom>
          <a:ln>
            <a:solidFill>
              <a:srgbClr val="FF0000"/>
            </a:solidFill>
            <a:tailEnd type="arrow"/>
          </a:ln>
        </p:spPr>
        <p:style>
          <a:lnRef idx="2">
            <a:schemeClr val="dk1"/>
          </a:lnRef>
          <a:fillRef idx="0">
            <a:schemeClr val="dk1"/>
          </a:fillRef>
          <a:effectRef idx="1">
            <a:schemeClr val="dk1"/>
          </a:effectRef>
          <a:fontRef idx="minor">
            <a:schemeClr val="tx1"/>
          </a:fontRef>
        </p:style>
      </p:cxnSp>
      <p:cxnSp>
        <p:nvCxnSpPr>
          <p:cNvPr id="27" name="Straight Arrow Connector 26"/>
          <p:cNvCxnSpPr/>
          <p:nvPr/>
        </p:nvCxnSpPr>
        <p:spPr>
          <a:xfrm rot="10800000">
            <a:off x="4299858" y="3832413"/>
            <a:ext cx="816429" cy="1880619"/>
          </a:xfrm>
          <a:prstGeom prst="straightConnector1">
            <a:avLst/>
          </a:prstGeom>
          <a:ln>
            <a:solidFill>
              <a:srgbClr val="FF0000"/>
            </a:solidFill>
            <a:tailEnd type="arrow"/>
          </a:ln>
        </p:spPr>
        <p:style>
          <a:lnRef idx="2">
            <a:schemeClr val="dk1"/>
          </a:lnRef>
          <a:fillRef idx="0">
            <a:schemeClr val="dk1"/>
          </a:fillRef>
          <a:effectRef idx="1">
            <a:schemeClr val="dk1"/>
          </a:effectRef>
          <a:fontRef idx="minor">
            <a:schemeClr val="tx1"/>
          </a:fontRef>
        </p:style>
      </p:cxnSp>
      <p:sp>
        <p:nvSpPr>
          <p:cNvPr id="28" name="TextBox 27"/>
          <p:cNvSpPr txBox="1"/>
          <p:nvPr/>
        </p:nvSpPr>
        <p:spPr>
          <a:xfrm>
            <a:off x="6803573" y="4706472"/>
            <a:ext cx="707571" cy="564249"/>
          </a:xfrm>
          <a:prstGeom prst="rect">
            <a:avLst/>
          </a:prstGeom>
          <a:noFill/>
          <a:ln>
            <a:noFill/>
          </a:ln>
        </p:spPr>
        <p:txBody>
          <a:bodyPr wrap="square" lIns="71113" tIns="35556" rIns="71113" bIns="35556" rtlCol="0">
            <a:spAutoFit/>
          </a:bodyPr>
          <a:lstStyle/>
          <a:p>
            <a:r>
              <a:rPr lang="en-US" sz="1600" b="1" dirty="0">
                <a:solidFill>
                  <a:srgbClr val="FF0000"/>
                </a:solidFill>
              </a:rPr>
              <a:t>@   4%</a:t>
            </a:r>
          </a:p>
        </p:txBody>
      </p:sp>
      <p:sp>
        <p:nvSpPr>
          <p:cNvPr id="29" name="TextBox 28"/>
          <p:cNvSpPr txBox="1"/>
          <p:nvPr/>
        </p:nvSpPr>
        <p:spPr>
          <a:xfrm>
            <a:off x="4517572" y="4706472"/>
            <a:ext cx="816429" cy="564249"/>
          </a:xfrm>
          <a:prstGeom prst="rect">
            <a:avLst/>
          </a:prstGeom>
          <a:noFill/>
          <a:ln>
            <a:noFill/>
          </a:ln>
        </p:spPr>
        <p:txBody>
          <a:bodyPr wrap="square" lIns="71113" tIns="35556" rIns="71113" bIns="35556" rtlCol="0">
            <a:spAutoFit/>
          </a:bodyPr>
          <a:lstStyle/>
          <a:p>
            <a:r>
              <a:rPr lang="en-US" sz="1600" b="1" dirty="0">
                <a:solidFill>
                  <a:srgbClr val="FF0000"/>
                </a:solidFill>
              </a:rPr>
              <a:t>@  NIL %</a:t>
            </a:r>
          </a:p>
        </p:txBody>
      </p:sp>
      <p:sp>
        <p:nvSpPr>
          <p:cNvPr id="30" name="Rectangle 29"/>
          <p:cNvSpPr/>
          <p:nvPr/>
        </p:nvSpPr>
        <p:spPr>
          <a:xfrm>
            <a:off x="2639786" y="460194"/>
            <a:ext cx="6047015" cy="5169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71113" tIns="35556" rIns="71113" bIns="35556" rtlCol="0" anchor="ctr"/>
          <a:lstStyle/>
          <a:p>
            <a:pPr algn="ctr"/>
            <a:r>
              <a:rPr lang="en-US" sz="2500" b="1" dirty="0" smtClean="0">
                <a:solidFill>
                  <a:schemeClr val="tx1"/>
                </a:solidFill>
              </a:rPr>
              <a:t> </a:t>
            </a:r>
            <a:r>
              <a:rPr lang="en-US" sz="3200" b="1" dirty="0">
                <a:solidFill>
                  <a:schemeClr val="tx1"/>
                </a:solidFill>
              </a:rPr>
              <a:t>Lack of Uniformity</a:t>
            </a:r>
            <a:endParaRPr lang="en-IN" sz="2500" b="1" dirty="0">
              <a:solidFill>
                <a:schemeClr val="tx1"/>
              </a:solidFill>
            </a:endParaRPr>
          </a:p>
        </p:txBody>
      </p:sp>
    </p:spTree>
    <p:extLst>
      <p:ext uri="{BB962C8B-B14F-4D97-AF65-F5344CB8AC3E}">
        <p14:creationId xmlns:p14="http://schemas.microsoft.com/office/powerpoint/2010/main" val="41720384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57"/>
          <p:cNvSpPr/>
          <p:nvPr/>
        </p:nvSpPr>
        <p:spPr>
          <a:xfrm>
            <a:off x="2857501" y="457200"/>
            <a:ext cx="6368143" cy="5169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71113" tIns="35556" rIns="71113" bIns="35556" rtlCol="0" anchor="ctr"/>
          <a:lstStyle/>
          <a:p>
            <a:pPr algn="ctr"/>
            <a:r>
              <a:rPr lang="en-US" sz="2500" b="1" dirty="0" smtClean="0">
                <a:solidFill>
                  <a:schemeClr val="tx1"/>
                </a:solidFill>
              </a:rPr>
              <a:t> </a:t>
            </a:r>
            <a:r>
              <a:rPr lang="en-US" sz="3200" b="1" dirty="0">
                <a:solidFill>
                  <a:schemeClr val="tx1"/>
                </a:solidFill>
              </a:rPr>
              <a:t>Different Points of Taxation</a:t>
            </a:r>
            <a:endParaRPr lang="en-IN" sz="3200" b="1" dirty="0">
              <a:solidFill>
                <a:schemeClr val="tx1"/>
              </a:solidFill>
            </a:endParaRPr>
          </a:p>
        </p:txBody>
      </p:sp>
      <p:pic>
        <p:nvPicPr>
          <p:cNvPr id="6" name="Picture 5" descr="shopping-cart-hi.png"/>
          <p:cNvPicPr>
            <a:picLocks noChangeAspect="1"/>
          </p:cNvPicPr>
          <p:nvPr/>
        </p:nvPicPr>
        <p:blipFill>
          <a:blip r:embed="rId3" cstate="print"/>
          <a:stretch>
            <a:fillRect/>
          </a:stretch>
        </p:blipFill>
        <p:spPr>
          <a:xfrm>
            <a:off x="8701856" y="2689413"/>
            <a:ext cx="1149716" cy="1344491"/>
          </a:xfrm>
          <a:prstGeom prst="rect">
            <a:avLst/>
          </a:prstGeom>
        </p:spPr>
      </p:pic>
      <p:pic>
        <p:nvPicPr>
          <p:cNvPr id="7" name="Picture 6" descr="manufacturing-icon-the-manufacturing-process-17.jpg"/>
          <p:cNvPicPr>
            <a:picLocks noChangeAspect="1"/>
          </p:cNvPicPr>
          <p:nvPr/>
        </p:nvPicPr>
        <p:blipFill>
          <a:blip r:embed="rId4">
            <a:clrChange>
              <a:clrFrom>
                <a:srgbClr val="FFFFFF"/>
              </a:clrFrom>
              <a:clrTo>
                <a:srgbClr val="FFFFFF">
                  <a:alpha val="0"/>
                </a:srgbClr>
              </a:clrTo>
            </a:clrChange>
          </a:blip>
          <a:stretch>
            <a:fillRect/>
          </a:stretch>
        </p:blipFill>
        <p:spPr>
          <a:xfrm>
            <a:off x="1401537" y="2057401"/>
            <a:ext cx="2136321" cy="2638985"/>
          </a:xfrm>
          <a:prstGeom prst="rect">
            <a:avLst/>
          </a:prstGeom>
        </p:spPr>
      </p:pic>
      <p:pic>
        <p:nvPicPr>
          <p:cNvPr id="8" name="Picture 7" descr="green-delivery-truck-clipart-delivery_truck.jpg"/>
          <p:cNvPicPr>
            <a:picLocks noChangeAspect="1"/>
          </p:cNvPicPr>
          <p:nvPr/>
        </p:nvPicPr>
        <p:blipFill>
          <a:blip r:embed="rId5"/>
          <a:stretch>
            <a:fillRect/>
          </a:stretch>
        </p:blipFill>
        <p:spPr>
          <a:xfrm>
            <a:off x="4082144" y="2353237"/>
            <a:ext cx="1598839" cy="1890993"/>
          </a:xfrm>
          <a:prstGeom prst="rect">
            <a:avLst/>
          </a:prstGeom>
        </p:spPr>
      </p:pic>
      <p:pic>
        <p:nvPicPr>
          <p:cNvPr id="9" name="Picture 8" descr="department_store-exterior-clipart-4109.jpg"/>
          <p:cNvPicPr>
            <a:picLocks noChangeAspect="1"/>
          </p:cNvPicPr>
          <p:nvPr/>
        </p:nvPicPr>
        <p:blipFill>
          <a:blip r:embed="rId6"/>
          <a:srcRect l="2000" t="3383" r="2000" b="15414"/>
          <a:stretch>
            <a:fillRect/>
          </a:stretch>
        </p:blipFill>
        <p:spPr>
          <a:xfrm>
            <a:off x="6327826" y="2420471"/>
            <a:ext cx="1673175" cy="1680882"/>
          </a:xfrm>
          <a:prstGeom prst="rect">
            <a:avLst/>
          </a:prstGeom>
        </p:spPr>
      </p:pic>
      <p:sp>
        <p:nvSpPr>
          <p:cNvPr id="10" name="Right Arrow 9"/>
          <p:cNvSpPr/>
          <p:nvPr/>
        </p:nvSpPr>
        <p:spPr>
          <a:xfrm>
            <a:off x="3320143" y="3227294"/>
            <a:ext cx="598714" cy="403412"/>
          </a:xfrm>
          <a:prstGeom prst="right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lIns="71113" tIns="35556" rIns="71113" bIns="35556" rtlCol="0" anchor="ctr"/>
          <a:lstStyle/>
          <a:p>
            <a:pPr algn="ctr"/>
            <a:endParaRPr lang="en-US"/>
          </a:p>
        </p:txBody>
      </p:sp>
      <p:sp>
        <p:nvSpPr>
          <p:cNvPr id="11" name="Right Arrow 10"/>
          <p:cNvSpPr/>
          <p:nvPr/>
        </p:nvSpPr>
        <p:spPr>
          <a:xfrm>
            <a:off x="5660572" y="3227294"/>
            <a:ext cx="598714" cy="403412"/>
          </a:xfrm>
          <a:prstGeom prst="right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lIns="71113" tIns="35556" rIns="71113" bIns="35556" rtlCol="0" anchor="ctr"/>
          <a:lstStyle/>
          <a:p>
            <a:pPr algn="ctr"/>
            <a:endParaRPr lang="en-US"/>
          </a:p>
        </p:txBody>
      </p:sp>
      <p:sp>
        <p:nvSpPr>
          <p:cNvPr id="12" name="Right Arrow 11"/>
          <p:cNvSpPr/>
          <p:nvPr/>
        </p:nvSpPr>
        <p:spPr>
          <a:xfrm>
            <a:off x="8218714" y="3227294"/>
            <a:ext cx="598714" cy="403412"/>
          </a:xfrm>
          <a:prstGeom prst="rightArrow">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lIns="71113" tIns="35556" rIns="71113" bIns="35556" rtlCol="0" anchor="ctr"/>
          <a:lstStyle/>
          <a:p>
            <a:pPr algn="ctr"/>
            <a:endParaRPr lang="en-US"/>
          </a:p>
        </p:txBody>
      </p:sp>
      <p:sp>
        <p:nvSpPr>
          <p:cNvPr id="13" name="TextBox 12"/>
          <p:cNvSpPr txBox="1"/>
          <p:nvPr/>
        </p:nvSpPr>
        <p:spPr>
          <a:xfrm>
            <a:off x="2286001" y="4840943"/>
            <a:ext cx="2612571" cy="748915"/>
          </a:xfrm>
          <a:prstGeom prst="rect">
            <a:avLst/>
          </a:prstGeom>
          <a:noFill/>
        </p:spPr>
        <p:txBody>
          <a:bodyPr wrap="square" lIns="71113" tIns="35556" rIns="71113" bIns="35556" rtlCol="0">
            <a:spAutoFit/>
          </a:bodyPr>
          <a:lstStyle/>
          <a:p>
            <a:pPr algn="ctr"/>
            <a:r>
              <a:rPr lang="en-US" sz="2200" b="1" dirty="0">
                <a:solidFill>
                  <a:srgbClr val="FF0000"/>
                </a:solidFill>
              </a:rPr>
              <a:t>Central Excise</a:t>
            </a:r>
          </a:p>
          <a:p>
            <a:pPr algn="ctr"/>
            <a:r>
              <a:rPr lang="en-US" sz="2200" b="1" dirty="0">
                <a:solidFill>
                  <a:srgbClr val="FF0000"/>
                </a:solidFill>
              </a:rPr>
              <a:t>(On Manufacturing)</a:t>
            </a:r>
          </a:p>
        </p:txBody>
      </p:sp>
      <p:cxnSp>
        <p:nvCxnSpPr>
          <p:cNvPr id="15" name="Straight Arrow Connector 14"/>
          <p:cNvCxnSpPr/>
          <p:nvPr/>
        </p:nvCxnSpPr>
        <p:spPr>
          <a:xfrm rot="5400000">
            <a:off x="3356963" y="4605618"/>
            <a:ext cx="470647" cy="0"/>
          </a:xfrm>
          <a:prstGeom prst="straightConnector1">
            <a:avLst/>
          </a:prstGeom>
          <a:ln>
            <a:solidFill>
              <a:srgbClr val="FF0000"/>
            </a:solidFill>
            <a:tailEnd type="arrow"/>
          </a:ln>
          <a:effectLst>
            <a:glow rad="63500">
              <a:schemeClr val="accent1">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rot="5400000">
            <a:off x="5806249" y="4605618"/>
            <a:ext cx="470647" cy="0"/>
          </a:xfrm>
          <a:prstGeom prst="straightConnector1">
            <a:avLst/>
          </a:prstGeom>
          <a:ln>
            <a:solidFill>
              <a:srgbClr val="FF0000"/>
            </a:solidFill>
            <a:tailEnd type="arrow"/>
          </a:ln>
          <a:effectLst>
            <a:glow rad="63500">
              <a:schemeClr val="accent1">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4789714" y="4840943"/>
            <a:ext cx="2830286" cy="1087469"/>
          </a:xfrm>
          <a:prstGeom prst="rect">
            <a:avLst/>
          </a:prstGeom>
          <a:noFill/>
        </p:spPr>
        <p:txBody>
          <a:bodyPr wrap="square" lIns="71113" tIns="35556" rIns="71113" bIns="35556" rtlCol="0">
            <a:spAutoFit/>
          </a:bodyPr>
          <a:lstStyle/>
          <a:p>
            <a:pPr algn="ctr"/>
            <a:r>
              <a:rPr lang="en-US" sz="2200" b="1" dirty="0">
                <a:solidFill>
                  <a:srgbClr val="FF0000"/>
                </a:solidFill>
              </a:rPr>
              <a:t>Service Tax</a:t>
            </a:r>
          </a:p>
          <a:p>
            <a:pPr algn="ctr"/>
            <a:r>
              <a:rPr lang="en-US" sz="2200" b="1" dirty="0">
                <a:solidFill>
                  <a:srgbClr val="FF0000"/>
                </a:solidFill>
              </a:rPr>
              <a:t>(On provision of Service)</a:t>
            </a:r>
          </a:p>
        </p:txBody>
      </p:sp>
      <p:sp>
        <p:nvSpPr>
          <p:cNvPr id="18" name="TextBox 17"/>
          <p:cNvSpPr txBox="1"/>
          <p:nvPr/>
        </p:nvSpPr>
        <p:spPr>
          <a:xfrm>
            <a:off x="7456715" y="4840943"/>
            <a:ext cx="2394857" cy="748915"/>
          </a:xfrm>
          <a:prstGeom prst="rect">
            <a:avLst/>
          </a:prstGeom>
          <a:noFill/>
        </p:spPr>
        <p:txBody>
          <a:bodyPr wrap="square" lIns="71113" tIns="35556" rIns="71113" bIns="35556" rtlCol="0">
            <a:spAutoFit/>
          </a:bodyPr>
          <a:lstStyle/>
          <a:p>
            <a:pPr algn="ctr"/>
            <a:r>
              <a:rPr lang="en-US" sz="2200" b="1" dirty="0">
                <a:solidFill>
                  <a:srgbClr val="FF0000"/>
                </a:solidFill>
              </a:rPr>
              <a:t>VAT</a:t>
            </a:r>
          </a:p>
          <a:p>
            <a:pPr algn="ctr"/>
            <a:r>
              <a:rPr lang="en-US" sz="2200" b="1" dirty="0">
                <a:solidFill>
                  <a:srgbClr val="FF0000"/>
                </a:solidFill>
              </a:rPr>
              <a:t>( On sale of Goods)</a:t>
            </a:r>
          </a:p>
        </p:txBody>
      </p:sp>
      <p:cxnSp>
        <p:nvCxnSpPr>
          <p:cNvPr id="19" name="Straight Arrow Connector 18"/>
          <p:cNvCxnSpPr/>
          <p:nvPr/>
        </p:nvCxnSpPr>
        <p:spPr>
          <a:xfrm rot="5400000">
            <a:off x="8418820" y="4605618"/>
            <a:ext cx="470647" cy="0"/>
          </a:xfrm>
          <a:prstGeom prst="straightConnector1">
            <a:avLst/>
          </a:prstGeom>
          <a:ln>
            <a:solidFill>
              <a:srgbClr val="FF0000"/>
            </a:solidFill>
            <a:tailEnd type="arrow"/>
          </a:ln>
          <a:effectLst>
            <a:glow rad="63500">
              <a:schemeClr val="accent1">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2" name="Rectangle 1"/>
          <p:cNvSpPr/>
          <p:nvPr/>
        </p:nvSpPr>
        <p:spPr>
          <a:xfrm>
            <a:off x="4679618" y="3275113"/>
            <a:ext cx="2672206" cy="307777"/>
          </a:xfrm>
          <a:prstGeom prst="rect">
            <a:avLst/>
          </a:prstGeom>
        </p:spPr>
        <p:txBody>
          <a:bodyPr wrap="none">
            <a:spAutoFit/>
          </a:bodyPr>
          <a:lstStyle/>
          <a:p>
            <a:pPr lvl="0"/>
            <a:r>
              <a:rPr lang="en-US" sz="1400" dirty="0">
                <a:solidFill>
                  <a:srgbClr val="FF0000"/>
                </a:solidFill>
              </a:rPr>
              <a:t>Limitations of current Tax regime :</a:t>
            </a:r>
          </a:p>
        </p:txBody>
      </p:sp>
    </p:spTree>
    <p:extLst>
      <p:ext uri="{BB962C8B-B14F-4D97-AF65-F5344CB8AC3E}">
        <p14:creationId xmlns:p14="http://schemas.microsoft.com/office/powerpoint/2010/main" val="142452058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516379" y="59715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US" sz="2800" b="1" dirty="0" smtClean="0">
              <a:solidFill>
                <a:schemeClr val="tx1"/>
              </a:solidFill>
              <a:latin typeface="Times New Roman" panose="02020603050405020304" pitchFamily="18" charset="0"/>
              <a:cs typeface="Times New Roman" panose="02020603050405020304" pitchFamily="18" charset="0"/>
            </a:endParaRPr>
          </a:p>
          <a:p>
            <a:endParaRPr lang="en-US" sz="2800" b="1" dirty="0" smtClean="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smtClean="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smtClean="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IN" sz="2800" dirty="0" smtClean="0">
                <a:solidFill>
                  <a:schemeClr val="tx1"/>
                </a:solidFill>
              </a:rPr>
              <a:t>Value </a:t>
            </a:r>
            <a:r>
              <a:rPr lang="en-IN" sz="2800" dirty="0">
                <a:solidFill>
                  <a:schemeClr val="tx1"/>
                </a:solidFill>
              </a:rPr>
              <a:t>Added Tax, or otherwise called as </a:t>
            </a:r>
            <a:r>
              <a:rPr lang="en-IN" sz="2800" dirty="0">
                <a:solidFill>
                  <a:srgbClr val="FF0000"/>
                </a:solidFill>
              </a:rPr>
              <a:t>VAT</a:t>
            </a:r>
            <a:r>
              <a:rPr lang="en-IN" sz="2800" dirty="0">
                <a:solidFill>
                  <a:schemeClr val="tx1"/>
                </a:solidFill>
              </a:rPr>
              <a:t>, is a </a:t>
            </a:r>
            <a:r>
              <a:rPr lang="en-IN" sz="2800" dirty="0">
                <a:solidFill>
                  <a:srgbClr val="FF0000"/>
                </a:solidFill>
              </a:rPr>
              <a:t>multi-point tax </a:t>
            </a:r>
            <a:r>
              <a:rPr lang="en-IN" sz="2800" dirty="0">
                <a:solidFill>
                  <a:schemeClr val="tx1"/>
                </a:solidFill>
              </a:rPr>
              <a:t>system, wherein the </a:t>
            </a:r>
            <a:r>
              <a:rPr lang="en-IN" sz="2800" dirty="0">
                <a:solidFill>
                  <a:srgbClr val="0070C0"/>
                </a:solidFill>
              </a:rPr>
              <a:t>tax is levied </a:t>
            </a:r>
            <a:r>
              <a:rPr lang="en-IN" sz="2800" dirty="0">
                <a:solidFill>
                  <a:schemeClr val="tx1"/>
                </a:solidFill>
              </a:rPr>
              <a:t>by the </a:t>
            </a:r>
            <a:r>
              <a:rPr lang="en-IN" sz="2800" dirty="0">
                <a:solidFill>
                  <a:srgbClr val="0070C0"/>
                </a:solidFill>
              </a:rPr>
              <a:t>state government</a:t>
            </a:r>
            <a:r>
              <a:rPr lang="en-IN" sz="2800" dirty="0">
                <a:solidFill>
                  <a:schemeClr val="tx1"/>
                </a:solidFill>
              </a:rPr>
              <a:t>, at each level of production/distribution of </a:t>
            </a:r>
            <a:r>
              <a:rPr lang="en-IN" sz="2800" dirty="0" smtClean="0">
                <a:solidFill>
                  <a:schemeClr val="tx1"/>
                </a:solidFill>
              </a:rPr>
              <a:t>goods.</a:t>
            </a:r>
          </a:p>
          <a:p>
            <a:endParaRPr lang="en-IN" sz="2800" dirty="0" smtClean="0">
              <a:solidFill>
                <a:schemeClr val="tx1"/>
              </a:solidFill>
            </a:endParaRPr>
          </a:p>
          <a:p>
            <a:pPr marL="457200" indent="-457200">
              <a:buFont typeface="Wingdings" panose="05000000000000000000" pitchFamily="2" charset="2"/>
              <a:buChar char="Ø"/>
            </a:pPr>
            <a:r>
              <a:rPr lang="en-IN" sz="2800" dirty="0">
                <a:solidFill>
                  <a:schemeClr val="tx1"/>
                </a:solidFill>
              </a:rPr>
              <a:t>In this regime, </a:t>
            </a:r>
            <a:r>
              <a:rPr lang="en-IN" sz="2800" dirty="0">
                <a:solidFill>
                  <a:srgbClr val="0070C0"/>
                </a:solidFill>
              </a:rPr>
              <a:t>the tax is levied on the incremental value </a:t>
            </a:r>
            <a:r>
              <a:rPr lang="en-IN" sz="2800" dirty="0">
                <a:solidFill>
                  <a:schemeClr val="tx1"/>
                </a:solidFill>
              </a:rPr>
              <a:t>of the goods, </a:t>
            </a:r>
            <a:r>
              <a:rPr lang="en-IN" sz="2800" dirty="0">
                <a:solidFill>
                  <a:srgbClr val="0070C0"/>
                </a:solidFill>
              </a:rPr>
              <a:t>to eliminate the cascading effect</a:t>
            </a:r>
            <a:r>
              <a:rPr lang="en-IN" sz="2800" dirty="0">
                <a:solidFill>
                  <a:schemeClr val="tx1"/>
                </a:solidFill>
              </a:rPr>
              <a:t>, at </a:t>
            </a:r>
            <a:r>
              <a:rPr lang="en-IN" sz="2800" dirty="0">
                <a:solidFill>
                  <a:srgbClr val="0070C0"/>
                </a:solidFill>
              </a:rPr>
              <a:t>different levels of sale</a:t>
            </a:r>
            <a:r>
              <a:rPr lang="en-IN" sz="2800" dirty="0">
                <a:solidFill>
                  <a:schemeClr val="tx1"/>
                </a:solidFill>
              </a:rPr>
              <a:t>. It is a type of consumption tax, wherein the value addition made by the firm is equal to the difference between proceeds and the cost of purchases</a:t>
            </a:r>
            <a:r>
              <a:rPr lang="en-IN" sz="2800" dirty="0" smtClean="0">
                <a:solidFill>
                  <a:schemeClr val="tx1"/>
                </a:solidFill>
              </a:rPr>
              <a:t>.</a:t>
            </a:r>
          </a:p>
          <a:p>
            <a:endParaRPr lang="en-IN" sz="2600" dirty="0">
              <a:solidFill>
                <a:schemeClr val="tx1"/>
              </a:solidFill>
            </a:endParaRPr>
          </a:p>
          <a:p>
            <a:pPr marL="457200" indent="-457200">
              <a:buFont typeface="Wingdings" panose="05000000000000000000" pitchFamily="2" charset="2"/>
              <a:buChar char="Ø"/>
            </a:pPr>
            <a:endParaRPr lang="en-US" sz="26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smtClean="0">
                <a:solidFill>
                  <a:schemeClr val="tx1"/>
                </a:solidFill>
                <a:latin typeface="Times New Roman" panose="02020603050405020304" pitchFamily="18" charset="0"/>
                <a:cs typeface="Times New Roman" panose="02020603050405020304" pitchFamily="18" charset="0"/>
              </a:rPr>
              <a:t> </a:t>
            </a:r>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2118360" y="137893"/>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smtClean="0">
                <a:solidFill>
                  <a:schemeClr val="bg1"/>
                </a:solidFill>
                <a:latin typeface="Times New Roman" panose="02020603050405020304" pitchFamily="18" charset="0"/>
                <a:cs typeface="Times New Roman" panose="02020603050405020304" pitchFamily="18" charset="0"/>
              </a:rPr>
              <a:t>Value Added Tax (VAT)</a:t>
            </a:r>
            <a:endParaRPr lang="en-US" sz="36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59989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516379" y="59715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US" sz="2800" b="1" dirty="0" smtClean="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smtClean="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smtClean="0">
              <a:solidFill>
                <a:schemeClr val="tx1"/>
              </a:solidFill>
              <a:latin typeface="Times New Roman" panose="02020603050405020304" pitchFamily="18" charset="0"/>
              <a:cs typeface="Times New Roman" panose="02020603050405020304" pitchFamily="18" charset="0"/>
            </a:endParaRPr>
          </a:p>
          <a:p>
            <a:endParaRPr lang="en-US" sz="2800" b="1" dirty="0" smtClean="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smtClean="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IN" sz="2800" dirty="0" smtClean="0">
                <a:solidFill>
                  <a:schemeClr val="tx1"/>
                </a:solidFill>
              </a:rPr>
              <a:t>It </a:t>
            </a:r>
            <a:r>
              <a:rPr lang="en-IN" sz="2800" dirty="0">
                <a:solidFill>
                  <a:schemeClr val="tx1"/>
                </a:solidFill>
              </a:rPr>
              <a:t>allows the purchaser of the goods to avail </a:t>
            </a:r>
            <a:r>
              <a:rPr lang="en-IN" sz="2800" dirty="0">
                <a:solidFill>
                  <a:srgbClr val="FF0000"/>
                </a:solidFill>
              </a:rPr>
              <a:t>input tax credit</a:t>
            </a:r>
            <a:r>
              <a:rPr lang="en-IN" sz="2800" dirty="0">
                <a:solidFill>
                  <a:schemeClr val="tx1"/>
                </a:solidFill>
              </a:rPr>
              <a:t>, i.e. </a:t>
            </a:r>
            <a:r>
              <a:rPr lang="en-IN" sz="2800" dirty="0">
                <a:solidFill>
                  <a:srgbClr val="FF0000"/>
                </a:solidFill>
              </a:rPr>
              <a:t>the tax paid at the previous stage will be deducted from the net tax liability</a:t>
            </a:r>
            <a:r>
              <a:rPr lang="en-IN" sz="2800" dirty="0">
                <a:solidFill>
                  <a:schemeClr val="tx1"/>
                </a:solidFill>
              </a:rPr>
              <a:t>. To avail the </a:t>
            </a:r>
            <a:r>
              <a:rPr lang="en-IN" sz="2800" dirty="0">
                <a:solidFill>
                  <a:srgbClr val="0070C0"/>
                </a:solidFill>
              </a:rPr>
              <a:t>input tax credit under VAT system</a:t>
            </a:r>
            <a:r>
              <a:rPr lang="en-IN" sz="2800" dirty="0">
                <a:solidFill>
                  <a:schemeClr val="tx1"/>
                </a:solidFill>
              </a:rPr>
              <a:t>, every dealer is required to </a:t>
            </a:r>
            <a:r>
              <a:rPr lang="en-IN" sz="2800" dirty="0">
                <a:solidFill>
                  <a:srgbClr val="0070C0"/>
                </a:solidFill>
              </a:rPr>
              <a:t>obtain registration</a:t>
            </a:r>
            <a:r>
              <a:rPr lang="en-IN" sz="2800" dirty="0" smtClean="0">
                <a:solidFill>
                  <a:schemeClr val="tx1"/>
                </a:solidFill>
              </a:rPr>
              <a:t>.</a:t>
            </a: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r>
              <a:rPr lang="en-IN" sz="2800" dirty="0">
                <a:solidFill>
                  <a:schemeClr val="tx1"/>
                </a:solidFill>
              </a:rPr>
              <a:t>In this system, the VAT is levied at different types of rates, </a:t>
            </a:r>
            <a:r>
              <a:rPr lang="en-IN" sz="2800" dirty="0">
                <a:solidFill>
                  <a:srgbClr val="0070C0"/>
                </a:solidFill>
              </a:rPr>
              <a:t>0% is for agricultural goods and items of social importance</a:t>
            </a:r>
            <a:r>
              <a:rPr lang="en-IN" sz="2800" dirty="0">
                <a:solidFill>
                  <a:schemeClr val="tx1"/>
                </a:solidFill>
              </a:rPr>
              <a:t>, </a:t>
            </a:r>
            <a:r>
              <a:rPr lang="en-IN" sz="2800" dirty="0">
                <a:solidFill>
                  <a:srgbClr val="FF0000"/>
                </a:solidFill>
              </a:rPr>
              <a:t>1% gold and silver jewellery,</a:t>
            </a:r>
            <a:r>
              <a:rPr lang="en-IN" sz="2800" dirty="0">
                <a:solidFill>
                  <a:schemeClr val="tx1"/>
                </a:solidFill>
              </a:rPr>
              <a:t> 4% raw material or inputs used in manufacturing and capital goods, </a:t>
            </a:r>
            <a:r>
              <a:rPr lang="en-IN" sz="2800" dirty="0">
                <a:solidFill>
                  <a:srgbClr val="FF0000"/>
                </a:solidFill>
              </a:rPr>
              <a:t>20% for luxury items and </a:t>
            </a:r>
            <a:r>
              <a:rPr lang="en-IN" sz="2800" dirty="0">
                <a:solidFill>
                  <a:srgbClr val="0070C0"/>
                </a:solidFill>
              </a:rPr>
              <a:t>remaining items are taxed as per normal slab rate, i.e. 12.5%.</a:t>
            </a:r>
          </a:p>
          <a:p>
            <a:pPr marL="457200" indent="-457200">
              <a:buFont typeface="Wingdings" panose="05000000000000000000" pitchFamily="2" charset="2"/>
              <a:buChar char="Ø"/>
            </a:pPr>
            <a:endParaRPr lang="en-IN" sz="2800" dirty="0" smtClean="0">
              <a:solidFill>
                <a:schemeClr val="tx1"/>
              </a:solidFill>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800" dirty="0" smtClean="0">
              <a:solidFill>
                <a:schemeClr val="tx1"/>
              </a:solidFill>
            </a:endParaRPr>
          </a:p>
          <a:p>
            <a:pPr marL="457200" indent="-457200">
              <a:buFont typeface="Wingdings" panose="05000000000000000000" pitchFamily="2" charset="2"/>
              <a:buChar char="Ø"/>
            </a:pPr>
            <a:endParaRPr lang="en-IN" sz="2600" dirty="0">
              <a:solidFill>
                <a:schemeClr val="tx1"/>
              </a:solidFill>
            </a:endParaRPr>
          </a:p>
          <a:p>
            <a:pPr marL="457200" indent="-457200">
              <a:buFont typeface="Wingdings" panose="05000000000000000000" pitchFamily="2" charset="2"/>
              <a:buChar char="Ø"/>
            </a:pPr>
            <a:endParaRPr lang="en-US" sz="26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smtClean="0">
                <a:solidFill>
                  <a:schemeClr val="tx1"/>
                </a:solidFill>
                <a:latin typeface="Times New Roman" panose="02020603050405020304" pitchFamily="18" charset="0"/>
                <a:cs typeface="Times New Roman" panose="02020603050405020304" pitchFamily="18" charset="0"/>
              </a:rPr>
              <a:t> </a:t>
            </a:r>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2118360" y="137893"/>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smtClean="0">
                <a:solidFill>
                  <a:schemeClr val="bg1"/>
                </a:solidFill>
                <a:latin typeface="Times New Roman" panose="02020603050405020304" pitchFamily="18" charset="0"/>
                <a:cs typeface="Times New Roman" panose="02020603050405020304" pitchFamily="18" charset="0"/>
              </a:rPr>
              <a:t>Value Added Tax(VAT)</a:t>
            </a:r>
            <a:endParaRPr lang="en-US" sz="36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3552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US" sz="2800" b="1" dirty="0" smtClean="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smtClean="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smtClean="0">
              <a:solidFill>
                <a:schemeClr val="tx1"/>
              </a:solidFill>
              <a:latin typeface="Times New Roman" panose="02020603050405020304" pitchFamily="18" charset="0"/>
              <a:cs typeface="Times New Roman" panose="02020603050405020304" pitchFamily="18" charset="0"/>
            </a:endParaRPr>
          </a:p>
          <a:p>
            <a:endParaRPr lang="en-US" sz="2800" b="1" dirty="0" smtClean="0">
              <a:solidFill>
                <a:schemeClr val="tx1"/>
              </a:solidFill>
              <a:latin typeface="Times New Roman" panose="02020603050405020304" pitchFamily="18" charset="0"/>
              <a:cs typeface="Times New Roman" panose="02020603050405020304" pitchFamily="18" charset="0"/>
            </a:endParaRPr>
          </a:p>
          <a:p>
            <a:endParaRPr lang="en-US" sz="2800" b="1" dirty="0" smtClean="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IN" sz="2800" dirty="0">
              <a:solidFill>
                <a:schemeClr val="tx1"/>
              </a:solidFill>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800" dirty="0" smtClean="0">
              <a:solidFill>
                <a:schemeClr val="tx1"/>
              </a:solidFill>
            </a:endParaRPr>
          </a:p>
          <a:p>
            <a:pPr marL="457200" indent="-457200">
              <a:buFont typeface="Wingdings" panose="05000000000000000000" pitchFamily="2" charset="2"/>
              <a:buChar char="Ø"/>
            </a:pPr>
            <a:endParaRPr lang="en-IN" sz="2600" dirty="0">
              <a:solidFill>
                <a:schemeClr val="tx1"/>
              </a:solidFill>
            </a:endParaRPr>
          </a:p>
          <a:p>
            <a:pPr marL="457200" indent="-457200">
              <a:buFont typeface="Wingdings" panose="05000000000000000000" pitchFamily="2" charset="2"/>
              <a:buChar char="Ø"/>
            </a:pPr>
            <a:endParaRPr lang="en-US" sz="26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smtClean="0">
                <a:solidFill>
                  <a:schemeClr val="tx1"/>
                </a:solidFill>
                <a:latin typeface="Times New Roman" panose="02020603050405020304" pitchFamily="18" charset="0"/>
                <a:cs typeface="Times New Roman" panose="02020603050405020304" pitchFamily="18" charset="0"/>
              </a:rPr>
              <a:t> </a:t>
            </a:r>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2118360" y="137893"/>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smtClean="0">
                <a:solidFill>
                  <a:schemeClr val="bg1"/>
                </a:solidFill>
                <a:latin typeface="Times New Roman" panose="02020603050405020304" pitchFamily="18" charset="0"/>
                <a:cs typeface="Times New Roman" panose="02020603050405020304" pitchFamily="18" charset="0"/>
              </a:rPr>
              <a:t>Goods and Services Tax (GST)</a:t>
            </a:r>
            <a:endParaRPr lang="en-US" sz="3600" b="1" dirty="0">
              <a:solidFill>
                <a:schemeClr val="bg1"/>
              </a:solidFill>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1632857" y="1138336"/>
            <a:ext cx="8733453" cy="4654525"/>
          </a:xfrm>
          <a:prstGeom prst="rect">
            <a:avLst/>
          </a:prstGeom>
        </p:spPr>
      </p:pic>
    </p:spTree>
    <p:extLst>
      <p:ext uri="{BB962C8B-B14F-4D97-AF65-F5344CB8AC3E}">
        <p14:creationId xmlns:p14="http://schemas.microsoft.com/office/powerpoint/2010/main" val="1278706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57"/>
          <p:cNvSpPr/>
          <p:nvPr/>
        </p:nvSpPr>
        <p:spPr>
          <a:xfrm>
            <a:off x="3124200" y="337625"/>
            <a:ext cx="5334000" cy="51697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71113" tIns="35556" rIns="71113" bIns="35556" rtlCol="0" anchor="ctr"/>
          <a:lstStyle/>
          <a:p>
            <a:pPr algn="ctr"/>
            <a:r>
              <a:rPr lang="en-US" sz="3200" b="1" dirty="0">
                <a:latin typeface="+mj-lt"/>
              </a:rPr>
              <a:t>What is GST?</a:t>
            </a:r>
            <a:endParaRPr lang="en-IN" sz="3200" b="1" dirty="0">
              <a:latin typeface="+mj-lt"/>
            </a:endParaRPr>
          </a:p>
        </p:txBody>
      </p:sp>
      <p:pic>
        <p:nvPicPr>
          <p:cNvPr id="1026" name="Picture 2" descr="E:\GST\PPT\images FOR PPT\GST complexity.jpg"/>
          <p:cNvPicPr>
            <a:picLocks noChangeAspect="1" noChangeArrowheads="1"/>
          </p:cNvPicPr>
          <p:nvPr/>
        </p:nvPicPr>
        <p:blipFill>
          <a:blip r:embed="rId3"/>
          <a:srcRect b="4000"/>
          <a:stretch>
            <a:fillRect/>
          </a:stretch>
        </p:blipFill>
        <p:spPr bwMode="auto">
          <a:xfrm>
            <a:off x="6259286" y="1949823"/>
            <a:ext cx="3810000" cy="3630706"/>
          </a:xfrm>
          <a:prstGeom prst="rect">
            <a:avLst/>
          </a:prstGeom>
          <a:noFill/>
        </p:spPr>
      </p:pic>
      <p:graphicFrame>
        <p:nvGraphicFramePr>
          <p:cNvPr id="158" name="Diagram 157"/>
          <p:cNvGraphicFramePr/>
          <p:nvPr/>
        </p:nvGraphicFramePr>
        <p:xfrm>
          <a:off x="1905000" y="1075766"/>
          <a:ext cx="3810000" cy="502023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TextBox 1"/>
          <p:cNvSpPr txBox="1"/>
          <p:nvPr/>
        </p:nvSpPr>
        <p:spPr>
          <a:xfrm>
            <a:off x="6400800" y="5580529"/>
            <a:ext cx="3886200" cy="369332"/>
          </a:xfrm>
          <a:prstGeom prst="rect">
            <a:avLst/>
          </a:prstGeom>
          <a:noFill/>
        </p:spPr>
        <p:txBody>
          <a:bodyPr wrap="square" rtlCol="0">
            <a:spAutoFit/>
          </a:bodyPr>
          <a:lstStyle/>
          <a:p>
            <a:pPr algn="ctr"/>
            <a:r>
              <a:rPr lang="en-US" dirty="0">
                <a:solidFill>
                  <a:srgbClr val="002060"/>
                </a:solidFill>
              </a:rPr>
              <a:t>ONE NATION: ONE TAX</a:t>
            </a:r>
          </a:p>
        </p:txBody>
      </p:sp>
    </p:spTree>
    <p:extLst>
      <p:ext uri="{BB962C8B-B14F-4D97-AF65-F5344CB8AC3E}">
        <p14:creationId xmlns:p14="http://schemas.microsoft.com/office/powerpoint/2010/main" val="191064002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solidFill>
                  <a:srgbClr val="212A35"/>
                </a:solidFill>
              </a:rPr>
              <a:t>The</a:t>
            </a:r>
            <a:r>
              <a:rPr spc="-30" dirty="0">
                <a:solidFill>
                  <a:srgbClr val="212A35"/>
                </a:solidFill>
              </a:rPr>
              <a:t> </a:t>
            </a:r>
            <a:r>
              <a:rPr dirty="0">
                <a:solidFill>
                  <a:srgbClr val="212A35"/>
                </a:solidFill>
              </a:rPr>
              <a:t>Journey</a:t>
            </a:r>
            <a:r>
              <a:rPr spc="-40" dirty="0">
                <a:solidFill>
                  <a:srgbClr val="212A35"/>
                </a:solidFill>
              </a:rPr>
              <a:t> </a:t>
            </a:r>
            <a:r>
              <a:rPr dirty="0">
                <a:solidFill>
                  <a:srgbClr val="212A35"/>
                </a:solidFill>
              </a:rPr>
              <a:t>to</a:t>
            </a:r>
            <a:r>
              <a:rPr spc="-20" dirty="0">
                <a:solidFill>
                  <a:srgbClr val="212A35"/>
                </a:solidFill>
              </a:rPr>
              <a:t> </a:t>
            </a:r>
            <a:r>
              <a:rPr spc="-25" dirty="0">
                <a:solidFill>
                  <a:srgbClr val="212A35"/>
                </a:solidFill>
              </a:rPr>
              <a:t>GST</a:t>
            </a:r>
          </a:p>
        </p:txBody>
      </p:sp>
      <p:grpSp>
        <p:nvGrpSpPr>
          <p:cNvPr id="3" name="object 3"/>
          <p:cNvGrpSpPr/>
          <p:nvPr/>
        </p:nvGrpSpPr>
        <p:grpSpPr>
          <a:xfrm>
            <a:off x="440690" y="1959229"/>
            <a:ext cx="10666730" cy="3676650"/>
            <a:chOff x="440690" y="1959229"/>
            <a:chExt cx="10666730" cy="3676650"/>
          </a:xfrm>
        </p:grpSpPr>
        <p:sp>
          <p:nvSpPr>
            <p:cNvPr id="4" name="object 4"/>
            <p:cNvSpPr/>
            <p:nvPr/>
          </p:nvSpPr>
          <p:spPr>
            <a:xfrm>
              <a:off x="459740" y="2063115"/>
              <a:ext cx="10628630" cy="1599565"/>
            </a:xfrm>
            <a:custGeom>
              <a:avLst/>
              <a:gdLst/>
              <a:ahLst/>
              <a:cxnLst/>
              <a:rect l="l" t="t" r="r" b="b"/>
              <a:pathLst>
                <a:path w="10628630" h="1599564">
                  <a:moveTo>
                    <a:pt x="0" y="0"/>
                  </a:moveTo>
                  <a:lnTo>
                    <a:pt x="10607040" y="0"/>
                  </a:lnTo>
                </a:path>
                <a:path w="10628630" h="1599564">
                  <a:moveTo>
                    <a:pt x="21272" y="1599184"/>
                  </a:moveTo>
                  <a:lnTo>
                    <a:pt x="10628249" y="1599184"/>
                  </a:lnTo>
                </a:path>
              </a:pathLst>
            </a:custGeom>
            <a:ln w="38100">
              <a:solidFill>
                <a:srgbClr val="5B9BD4"/>
              </a:solidFill>
            </a:ln>
          </p:spPr>
          <p:txBody>
            <a:bodyPr wrap="square" lIns="0" tIns="0" rIns="0" bIns="0" rtlCol="0"/>
            <a:lstStyle/>
            <a:p>
              <a:endParaRPr/>
            </a:p>
          </p:txBody>
        </p:sp>
        <p:sp>
          <p:nvSpPr>
            <p:cNvPr id="5" name="object 5"/>
            <p:cNvSpPr/>
            <p:nvPr/>
          </p:nvSpPr>
          <p:spPr>
            <a:xfrm>
              <a:off x="1462912" y="2063115"/>
              <a:ext cx="8590280" cy="3419475"/>
            </a:xfrm>
            <a:custGeom>
              <a:avLst/>
              <a:gdLst/>
              <a:ahLst/>
              <a:cxnLst/>
              <a:rect l="l" t="t" r="r" b="b"/>
              <a:pathLst>
                <a:path w="8590280" h="3419475">
                  <a:moveTo>
                    <a:pt x="8590153" y="0"/>
                  </a:moveTo>
                  <a:lnTo>
                    <a:pt x="8590153" y="792480"/>
                  </a:lnTo>
                  <a:lnTo>
                    <a:pt x="8583803" y="792480"/>
                  </a:lnTo>
                  <a:lnTo>
                    <a:pt x="8583803" y="1584960"/>
                  </a:lnTo>
                </a:path>
                <a:path w="8590280" h="3419475">
                  <a:moveTo>
                    <a:pt x="0" y="1604010"/>
                  </a:moveTo>
                  <a:lnTo>
                    <a:pt x="0" y="3419348"/>
                  </a:lnTo>
                  <a:lnTo>
                    <a:pt x="0" y="3223895"/>
                  </a:lnTo>
                </a:path>
              </a:pathLst>
            </a:custGeom>
            <a:ln w="38100">
              <a:solidFill>
                <a:srgbClr val="5B9BD4"/>
              </a:solidFill>
            </a:ln>
          </p:spPr>
          <p:txBody>
            <a:bodyPr wrap="square" lIns="0" tIns="0" rIns="0" bIns="0" rtlCol="0"/>
            <a:lstStyle/>
            <a:p>
              <a:endParaRPr/>
            </a:p>
          </p:txBody>
        </p:sp>
        <p:sp>
          <p:nvSpPr>
            <p:cNvPr id="6" name="object 6"/>
            <p:cNvSpPr/>
            <p:nvPr/>
          </p:nvSpPr>
          <p:spPr>
            <a:xfrm>
              <a:off x="459740" y="5463158"/>
              <a:ext cx="7776209" cy="0"/>
            </a:xfrm>
            <a:custGeom>
              <a:avLst/>
              <a:gdLst/>
              <a:ahLst/>
              <a:cxnLst/>
              <a:rect l="l" t="t" r="r" b="b"/>
              <a:pathLst>
                <a:path w="7776209">
                  <a:moveTo>
                    <a:pt x="0" y="0"/>
                  </a:moveTo>
                  <a:lnTo>
                    <a:pt x="7775956" y="0"/>
                  </a:lnTo>
                </a:path>
              </a:pathLst>
            </a:custGeom>
            <a:ln w="38100">
              <a:solidFill>
                <a:srgbClr val="5B9BD4"/>
              </a:solidFill>
            </a:ln>
          </p:spPr>
          <p:txBody>
            <a:bodyPr wrap="square" lIns="0" tIns="0" rIns="0" bIns="0" rtlCol="0"/>
            <a:lstStyle/>
            <a:p>
              <a:endParaRPr/>
            </a:p>
          </p:txBody>
        </p:sp>
        <p:pic>
          <p:nvPicPr>
            <p:cNvPr id="7" name="object 7"/>
            <p:cNvPicPr/>
            <p:nvPr/>
          </p:nvPicPr>
          <p:blipFill>
            <a:blip r:embed="rId2" cstate="print"/>
            <a:stretch>
              <a:fillRect/>
            </a:stretch>
          </p:blipFill>
          <p:spPr>
            <a:xfrm>
              <a:off x="2816860" y="5280101"/>
              <a:ext cx="799350" cy="355333"/>
            </a:xfrm>
            <a:prstGeom prst="rect">
              <a:avLst/>
            </a:prstGeom>
          </p:spPr>
        </p:pic>
        <p:pic>
          <p:nvPicPr>
            <p:cNvPr id="8" name="object 8"/>
            <p:cNvPicPr/>
            <p:nvPr/>
          </p:nvPicPr>
          <p:blipFill>
            <a:blip r:embed="rId3" cstate="print"/>
            <a:stretch>
              <a:fillRect/>
            </a:stretch>
          </p:blipFill>
          <p:spPr>
            <a:xfrm>
              <a:off x="458431" y="1959229"/>
              <a:ext cx="208800" cy="193675"/>
            </a:xfrm>
            <a:prstGeom prst="rect">
              <a:avLst/>
            </a:prstGeom>
          </p:spPr>
        </p:pic>
        <p:pic>
          <p:nvPicPr>
            <p:cNvPr id="9" name="object 9"/>
            <p:cNvPicPr/>
            <p:nvPr/>
          </p:nvPicPr>
          <p:blipFill>
            <a:blip r:embed="rId4" cstate="print"/>
            <a:stretch>
              <a:fillRect/>
            </a:stretch>
          </p:blipFill>
          <p:spPr>
            <a:xfrm>
              <a:off x="4220463" y="1965325"/>
              <a:ext cx="211836" cy="193675"/>
            </a:xfrm>
            <a:prstGeom prst="rect">
              <a:avLst/>
            </a:prstGeom>
          </p:spPr>
        </p:pic>
        <p:pic>
          <p:nvPicPr>
            <p:cNvPr id="10" name="object 10"/>
            <p:cNvPicPr/>
            <p:nvPr/>
          </p:nvPicPr>
          <p:blipFill>
            <a:blip r:embed="rId5" cstate="print"/>
            <a:stretch>
              <a:fillRect/>
            </a:stretch>
          </p:blipFill>
          <p:spPr>
            <a:xfrm>
              <a:off x="6595999" y="1974850"/>
              <a:ext cx="211835" cy="193675"/>
            </a:xfrm>
            <a:prstGeom prst="rect">
              <a:avLst/>
            </a:prstGeom>
          </p:spPr>
        </p:pic>
        <p:pic>
          <p:nvPicPr>
            <p:cNvPr id="11" name="object 11"/>
            <p:cNvPicPr/>
            <p:nvPr/>
          </p:nvPicPr>
          <p:blipFill>
            <a:blip r:embed="rId6" cstate="print"/>
            <a:stretch>
              <a:fillRect/>
            </a:stretch>
          </p:blipFill>
          <p:spPr>
            <a:xfrm>
              <a:off x="8958833" y="1965325"/>
              <a:ext cx="211709" cy="193675"/>
            </a:xfrm>
            <a:prstGeom prst="rect">
              <a:avLst/>
            </a:prstGeom>
          </p:spPr>
        </p:pic>
        <p:pic>
          <p:nvPicPr>
            <p:cNvPr id="12" name="object 12"/>
            <p:cNvPicPr/>
            <p:nvPr/>
          </p:nvPicPr>
          <p:blipFill>
            <a:blip r:embed="rId7" cstate="print"/>
            <a:stretch>
              <a:fillRect/>
            </a:stretch>
          </p:blipFill>
          <p:spPr>
            <a:xfrm>
              <a:off x="9947147" y="2705989"/>
              <a:ext cx="211708" cy="193675"/>
            </a:xfrm>
            <a:prstGeom prst="rect">
              <a:avLst/>
            </a:prstGeom>
          </p:spPr>
        </p:pic>
        <p:pic>
          <p:nvPicPr>
            <p:cNvPr id="13" name="object 13"/>
            <p:cNvPicPr/>
            <p:nvPr/>
          </p:nvPicPr>
          <p:blipFill>
            <a:blip r:embed="rId8" cstate="print"/>
            <a:stretch>
              <a:fillRect/>
            </a:stretch>
          </p:blipFill>
          <p:spPr>
            <a:xfrm>
              <a:off x="6764528" y="3563874"/>
              <a:ext cx="211708" cy="193675"/>
            </a:xfrm>
            <a:prstGeom prst="rect">
              <a:avLst/>
            </a:prstGeom>
          </p:spPr>
        </p:pic>
        <p:pic>
          <p:nvPicPr>
            <p:cNvPr id="14" name="object 14"/>
            <p:cNvPicPr/>
            <p:nvPr/>
          </p:nvPicPr>
          <p:blipFill>
            <a:blip r:embed="rId9" cstate="print"/>
            <a:stretch>
              <a:fillRect/>
            </a:stretch>
          </p:blipFill>
          <p:spPr>
            <a:xfrm>
              <a:off x="8891396" y="3563874"/>
              <a:ext cx="211708" cy="193675"/>
            </a:xfrm>
            <a:prstGeom prst="rect">
              <a:avLst/>
            </a:prstGeom>
          </p:spPr>
        </p:pic>
        <p:pic>
          <p:nvPicPr>
            <p:cNvPr id="15" name="object 15"/>
            <p:cNvPicPr/>
            <p:nvPr/>
          </p:nvPicPr>
          <p:blipFill>
            <a:blip r:embed="rId10" cstate="print"/>
            <a:stretch>
              <a:fillRect/>
            </a:stretch>
          </p:blipFill>
          <p:spPr>
            <a:xfrm>
              <a:off x="4473193" y="3551174"/>
              <a:ext cx="211708" cy="193675"/>
            </a:xfrm>
            <a:prstGeom prst="rect">
              <a:avLst/>
            </a:prstGeom>
          </p:spPr>
        </p:pic>
      </p:grpSp>
      <p:sp>
        <p:nvSpPr>
          <p:cNvPr id="16" name="object 16"/>
          <p:cNvSpPr txBox="1"/>
          <p:nvPr/>
        </p:nvSpPr>
        <p:spPr>
          <a:xfrm>
            <a:off x="377443" y="2241550"/>
            <a:ext cx="2719070" cy="697230"/>
          </a:xfrm>
          <a:prstGeom prst="rect">
            <a:avLst/>
          </a:prstGeom>
        </p:spPr>
        <p:txBody>
          <a:bodyPr vert="horz" wrap="square" lIns="0" tIns="13335" rIns="0" bIns="0" rtlCol="0">
            <a:spAutoFit/>
          </a:bodyPr>
          <a:lstStyle/>
          <a:p>
            <a:pPr marL="12700" marR="5080" algn="just">
              <a:lnSpc>
                <a:spcPct val="100000"/>
              </a:lnSpc>
              <a:spcBef>
                <a:spcPts val="105"/>
              </a:spcBef>
            </a:pPr>
            <a:r>
              <a:rPr sz="1100" dirty="0">
                <a:latin typeface="Microsoft Sans Serif"/>
                <a:cs typeface="Microsoft Sans Serif"/>
              </a:rPr>
              <a:t>Announcement</a:t>
            </a:r>
            <a:r>
              <a:rPr sz="1100" spc="345" dirty="0">
                <a:latin typeface="Microsoft Sans Serif"/>
                <a:cs typeface="Microsoft Sans Serif"/>
              </a:rPr>
              <a:t> </a:t>
            </a:r>
            <a:r>
              <a:rPr sz="1100" dirty="0">
                <a:latin typeface="Microsoft Sans Serif"/>
                <a:cs typeface="Microsoft Sans Serif"/>
              </a:rPr>
              <a:t>of</a:t>
            </a:r>
            <a:r>
              <a:rPr sz="1100" spc="350" dirty="0">
                <a:latin typeface="Microsoft Sans Serif"/>
                <a:cs typeface="Microsoft Sans Serif"/>
              </a:rPr>
              <a:t> </a:t>
            </a:r>
            <a:r>
              <a:rPr sz="1100" dirty="0">
                <a:latin typeface="Microsoft Sans Serif"/>
                <a:cs typeface="Microsoft Sans Serif"/>
              </a:rPr>
              <a:t>GST</a:t>
            </a:r>
            <a:r>
              <a:rPr sz="1100" spc="335" dirty="0">
                <a:latin typeface="Microsoft Sans Serif"/>
                <a:cs typeface="Microsoft Sans Serif"/>
              </a:rPr>
              <a:t> </a:t>
            </a:r>
            <a:r>
              <a:rPr sz="1100" dirty="0">
                <a:latin typeface="Microsoft Sans Serif"/>
                <a:cs typeface="Microsoft Sans Serif"/>
              </a:rPr>
              <a:t>for</a:t>
            </a:r>
            <a:r>
              <a:rPr sz="1100" spc="350" dirty="0">
                <a:latin typeface="Microsoft Sans Serif"/>
                <a:cs typeface="Microsoft Sans Serif"/>
              </a:rPr>
              <a:t> </a:t>
            </a:r>
            <a:r>
              <a:rPr sz="1100" dirty="0">
                <a:latin typeface="Microsoft Sans Serif"/>
                <a:cs typeface="Microsoft Sans Serif"/>
              </a:rPr>
              <a:t>the</a:t>
            </a:r>
            <a:r>
              <a:rPr sz="1100" spc="330" dirty="0">
                <a:latin typeface="Microsoft Sans Serif"/>
                <a:cs typeface="Microsoft Sans Serif"/>
              </a:rPr>
              <a:t> </a:t>
            </a:r>
            <a:r>
              <a:rPr sz="1100" dirty="0">
                <a:latin typeface="Microsoft Sans Serif"/>
                <a:cs typeface="Microsoft Sans Serif"/>
              </a:rPr>
              <a:t>first</a:t>
            </a:r>
            <a:r>
              <a:rPr sz="1100" spc="335" dirty="0">
                <a:latin typeface="Microsoft Sans Serif"/>
                <a:cs typeface="Microsoft Sans Serif"/>
              </a:rPr>
              <a:t> </a:t>
            </a:r>
            <a:r>
              <a:rPr sz="1100" spc="-20" dirty="0">
                <a:latin typeface="Microsoft Sans Serif"/>
                <a:cs typeface="Microsoft Sans Serif"/>
              </a:rPr>
              <a:t>time </a:t>
            </a:r>
            <a:r>
              <a:rPr sz="1100" dirty="0">
                <a:latin typeface="Microsoft Sans Serif"/>
                <a:cs typeface="Microsoft Sans Serif"/>
              </a:rPr>
              <a:t>was</a:t>
            </a:r>
            <a:r>
              <a:rPr sz="1100" spc="490" dirty="0">
                <a:latin typeface="Microsoft Sans Serif"/>
                <a:cs typeface="Microsoft Sans Serif"/>
              </a:rPr>
              <a:t> </a:t>
            </a:r>
            <a:r>
              <a:rPr sz="1100" dirty="0">
                <a:latin typeface="Microsoft Sans Serif"/>
                <a:cs typeface="Microsoft Sans Serif"/>
              </a:rPr>
              <a:t>made</a:t>
            </a:r>
            <a:r>
              <a:rPr sz="1100" spc="484" dirty="0">
                <a:latin typeface="Microsoft Sans Serif"/>
                <a:cs typeface="Microsoft Sans Serif"/>
              </a:rPr>
              <a:t> </a:t>
            </a:r>
            <a:r>
              <a:rPr sz="1100" dirty="0">
                <a:latin typeface="Microsoft Sans Serif"/>
                <a:cs typeface="Microsoft Sans Serif"/>
              </a:rPr>
              <a:t>by</a:t>
            </a:r>
            <a:r>
              <a:rPr sz="1100" spc="475" dirty="0">
                <a:latin typeface="Microsoft Sans Serif"/>
                <a:cs typeface="Microsoft Sans Serif"/>
              </a:rPr>
              <a:t> </a:t>
            </a:r>
            <a:r>
              <a:rPr sz="1100" dirty="0">
                <a:latin typeface="Microsoft Sans Serif"/>
                <a:cs typeface="Microsoft Sans Serif"/>
              </a:rPr>
              <a:t>the</a:t>
            </a:r>
            <a:r>
              <a:rPr sz="1100" spc="480" dirty="0">
                <a:latin typeface="Microsoft Sans Serif"/>
                <a:cs typeface="Microsoft Sans Serif"/>
              </a:rPr>
              <a:t> </a:t>
            </a:r>
            <a:r>
              <a:rPr sz="1100" dirty="0">
                <a:latin typeface="Microsoft Sans Serif"/>
                <a:cs typeface="Microsoft Sans Serif"/>
              </a:rPr>
              <a:t>then</a:t>
            </a:r>
            <a:r>
              <a:rPr sz="1100" spc="490" dirty="0">
                <a:latin typeface="Microsoft Sans Serif"/>
                <a:cs typeface="Microsoft Sans Serif"/>
              </a:rPr>
              <a:t> </a:t>
            </a:r>
            <a:r>
              <a:rPr sz="1100" dirty="0">
                <a:latin typeface="Microsoft Sans Serif"/>
                <a:cs typeface="Microsoft Sans Serif"/>
              </a:rPr>
              <a:t>Union</a:t>
            </a:r>
            <a:r>
              <a:rPr sz="1100" spc="495" dirty="0">
                <a:latin typeface="Microsoft Sans Serif"/>
                <a:cs typeface="Microsoft Sans Serif"/>
              </a:rPr>
              <a:t> </a:t>
            </a:r>
            <a:r>
              <a:rPr sz="1100" spc="-10" dirty="0">
                <a:latin typeface="Microsoft Sans Serif"/>
                <a:cs typeface="Microsoft Sans Serif"/>
              </a:rPr>
              <a:t>Finance </a:t>
            </a:r>
            <a:r>
              <a:rPr sz="1100" dirty="0">
                <a:latin typeface="Microsoft Sans Serif"/>
                <a:cs typeface="Microsoft Sans Serif"/>
              </a:rPr>
              <a:t>Minister,</a:t>
            </a:r>
            <a:r>
              <a:rPr sz="1100" spc="240" dirty="0">
                <a:latin typeface="Microsoft Sans Serif"/>
                <a:cs typeface="Microsoft Sans Serif"/>
              </a:rPr>
              <a:t> </a:t>
            </a:r>
            <a:r>
              <a:rPr sz="1100" dirty="0">
                <a:latin typeface="Microsoft Sans Serif"/>
                <a:cs typeface="Microsoft Sans Serif"/>
              </a:rPr>
              <a:t>during</a:t>
            </a:r>
            <a:r>
              <a:rPr sz="1100" spc="229" dirty="0">
                <a:latin typeface="Microsoft Sans Serif"/>
                <a:cs typeface="Microsoft Sans Serif"/>
              </a:rPr>
              <a:t> </a:t>
            </a:r>
            <a:r>
              <a:rPr sz="1100" dirty="0">
                <a:latin typeface="Microsoft Sans Serif"/>
                <a:cs typeface="Microsoft Sans Serif"/>
              </a:rPr>
              <a:t>budget</a:t>
            </a:r>
            <a:r>
              <a:rPr sz="1100" spc="220" dirty="0">
                <a:latin typeface="Microsoft Sans Serif"/>
                <a:cs typeface="Microsoft Sans Serif"/>
              </a:rPr>
              <a:t> </a:t>
            </a:r>
            <a:r>
              <a:rPr sz="1100" dirty="0">
                <a:latin typeface="Microsoft Sans Serif"/>
                <a:cs typeface="Microsoft Sans Serif"/>
              </a:rPr>
              <a:t>of</a:t>
            </a:r>
            <a:r>
              <a:rPr sz="1100" spc="250" dirty="0">
                <a:latin typeface="Microsoft Sans Serif"/>
                <a:cs typeface="Microsoft Sans Serif"/>
              </a:rPr>
              <a:t> </a:t>
            </a:r>
            <a:r>
              <a:rPr sz="1100" spc="-10" dirty="0">
                <a:latin typeface="Microsoft Sans Serif"/>
                <a:cs typeface="Microsoft Sans Serif"/>
              </a:rPr>
              <a:t>2006-</a:t>
            </a:r>
            <a:r>
              <a:rPr sz="1100" dirty="0">
                <a:latin typeface="Microsoft Sans Serif"/>
                <a:cs typeface="Microsoft Sans Serif"/>
              </a:rPr>
              <a:t>07</a:t>
            </a:r>
            <a:r>
              <a:rPr sz="1100" spc="220" dirty="0">
                <a:latin typeface="Microsoft Sans Serif"/>
                <a:cs typeface="Microsoft Sans Serif"/>
              </a:rPr>
              <a:t> </a:t>
            </a:r>
            <a:r>
              <a:rPr sz="1100" dirty="0">
                <a:latin typeface="Microsoft Sans Serif"/>
                <a:cs typeface="Microsoft Sans Serif"/>
              </a:rPr>
              <a:t>that</a:t>
            </a:r>
            <a:r>
              <a:rPr sz="1100" spc="240" dirty="0">
                <a:latin typeface="Microsoft Sans Serif"/>
                <a:cs typeface="Microsoft Sans Serif"/>
              </a:rPr>
              <a:t> </a:t>
            </a:r>
            <a:r>
              <a:rPr sz="1100" spc="-25" dirty="0">
                <a:latin typeface="Microsoft Sans Serif"/>
                <a:cs typeface="Microsoft Sans Serif"/>
              </a:rPr>
              <a:t>it </a:t>
            </a:r>
            <a:r>
              <a:rPr sz="1100" dirty="0">
                <a:latin typeface="Microsoft Sans Serif"/>
                <a:cs typeface="Microsoft Sans Serif"/>
              </a:rPr>
              <a:t>would</a:t>
            </a:r>
            <a:r>
              <a:rPr sz="1100" spc="15" dirty="0">
                <a:latin typeface="Microsoft Sans Serif"/>
                <a:cs typeface="Microsoft Sans Serif"/>
              </a:rPr>
              <a:t> </a:t>
            </a:r>
            <a:r>
              <a:rPr sz="1100" dirty="0">
                <a:latin typeface="Microsoft Sans Serif"/>
                <a:cs typeface="Microsoft Sans Serif"/>
              </a:rPr>
              <a:t>introduced</a:t>
            </a:r>
            <a:r>
              <a:rPr sz="1100" spc="-25" dirty="0">
                <a:latin typeface="Microsoft Sans Serif"/>
                <a:cs typeface="Microsoft Sans Serif"/>
              </a:rPr>
              <a:t> </a:t>
            </a:r>
            <a:r>
              <a:rPr sz="1100" dirty="0">
                <a:latin typeface="Microsoft Sans Serif"/>
                <a:cs typeface="Microsoft Sans Serif"/>
              </a:rPr>
              <a:t>from</a:t>
            </a:r>
            <a:r>
              <a:rPr sz="1100" spc="-55" dirty="0">
                <a:latin typeface="Microsoft Sans Serif"/>
                <a:cs typeface="Microsoft Sans Serif"/>
              </a:rPr>
              <a:t> </a:t>
            </a:r>
            <a:r>
              <a:rPr sz="1100" dirty="0">
                <a:latin typeface="Microsoft Sans Serif"/>
                <a:cs typeface="Microsoft Sans Serif"/>
              </a:rPr>
              <a:t>1</a:t>
            </a:r>
            <a:r>
              <a:rPr sz="1100" spc="-15" dirty="0">
                <a:latin typeface="Microsoft Sans Serif"/>
                <a:cs typeface="Microsoft Sans Serif"/>
              </a:rPr>
              <a:t> </a:t>
            </a:r>
            <a:r>
              <a:rPr sz="1100" dirty="0">
                <a:latin typeface="Microsoft Sans Serif"/>
                <a:cs typeface="Microsoft Sans Serif"/>
              </a:rPr>
              <a:t>April</a:t>
            </a:r>
            <a:r>
              <a:rPr sz="1100" spc="-10" dirty="0">
                <a:latin typeface="Microsoft Sans Serif"/>
                <a:cs typeface="Microsoft Sans Serif"/>
              </a:rPr>
              <a:t> </a:t>
            </a:r>
            <a:r>
              <a:rPr sz="1100" spc="-20" dirty="0">
                <a:latin typeface="Microsoft Sans Serif"/>
                <a:cs typeface="Microsoft Sans Serif"/>
              </a:rPr>
              <a:t>2010</a:t>
            </a:r>
            <a:endParaRPr sz="1100">
              <a:latin typeface="Microsoft Sans Serif"/>
              <a:cs typeface="Microsoft Sans Serif"/>
            </a:endParaRPr>
          </a:p>
        </p:txBody>
      </p:sp>
      <p:sp>
        <p:nvSpPr>
          <p:cNvPr id="17" name="object 17"/>
          <p:cNvSpPr txBox="1"/>
          <p:nvPr/>
        </p:nvSpPr>
        <p:spPr>
          <a:xfrm>
            <a:off x="377443" y="1668018"/>
            <a:ext cx="422275" cy="239395"/>
          </a:xfrm>
          <a:prstGeom prst="rect">
            <a:avLst/>
          </a:prstGeom>
        </p:spPr>
        <p:txBody>
          <a:bodyPr vert="horz" wrap="square" lIns="0" tIns="13335" rIns="0" bIns="0" rtlCol="0">
            <a:spAutoFit/>
          </a:bodyPr>
          <a:lstStyle/>
          <a:p>
            <a:pPr marL="12700">
              <a:lnSpc>
                <a:spcPct val="100000"/>
              </a:lnSpc>
              <a:spcBef>
                <a:spcPts val="105"/>
              </a:spcBef>
            </a:pPr>
            <a:r>
              <a:rPr sz="1400" b="1" spc="-20" dirty="0">
                <a:latin typeface="Arial"/>
                <a:cs typeface="Arial"/>
              </a:rPr>
              <a:t>2006</a:t>
            </a:r>
            <a:endParaRPr sz="1400">
              <a:latin typeface="Arial"/>
              <a:cs typeface="Arial"/>
            </a:endParaRPr>
          </a:p>
        </p:txBody>
      </p:sp>
      <p:sp>
        <p:nvSpPr>
          <p:cNvPr id="18" name="object 18"/>
          <p:cNvSpPr txBox="1"/>
          <p:nvPr/>
        </p:nvSpPr>
        <p:spPr>
          <a:xfrm>
            <a:off x="3751579" y="1307972"/>
            <a:ext cx="1488440" cy="529590"/>
          </a:xfrm>
          <a:prstGeom prst="rect">
            <a:avLst/>
          </a:prstGeom>
        </p:spPr>
        <p:txBody>
          <a:bodyPr vert="horz" wrap="square" lIns="0" tIns="13335" rIns="0" bIns="0" rtlCol="0">
            <a:spAutoFit/>
          </a:bodyPr>
          <a:lstStyle/>
          <a:p>
            <a:pPr marL="12700" marR="5080">
              <a:lnSpc>
                <a:spcPct val="100000"/>
              </a:lnSpc>
              <a:spcBef>
                <a:spcPts val="105"/>
              </a:spcBef>
            </a:pPr>
            <a:r>
              <a:rPr sz="1100" dirty="0">
                <a:latin typeface="Microsoft Sans Serif"/>
                <a:cs typeface="Microsoft Sans Serif"/>
              </a:rPr>
              <a:t>First</a:t>
            </a:r>
            <a:r>
              <a:rPr sz="1100" spc="-45" dirty="0">
                <a:latin typeface="Microsoft Sans Serif"/>
                <a:cs typeface="Microsoft Sans Serif"/>
              </a:rPr>
              <a:t> </a:t>
            </a:r>
            <a:r>
              <a:rPr sz="1100" dirty="0">
                <a:latin typeface="Microsoft Sans Serif"/>
                <a:cs typeface="Microsoft Sans Serif"/>
              </a:rPr>
              <a:t>Discussion</a:t>
            </a:r>
            <a:r>
              <a:rPr sz="1100" spc="-20" dirty="0">
                <a:latin typeface="Microsoft Sans Serif"/>
                <a:cs typeface="Microsoft Sans Serif"/>
              </a:rPr>
              <a:t> </a:t>
            </a:r>
            <a:r>
              <a:rPr sz="1100" spc="-10" dirty="0">
                <a:latin typeface="Microsoft Sans Serif"/>
                <a:cs typeface="Microsoft Sans Serif"/>
              </a:rPr>
              <a:t>Paper </a:t>
            </a:r>
            <a:r>
              <a:rPr sz="1100" dirty="0">
                <a:latin typeface="Microsoft Sans Serif"/>
                <a:cs typeface="Microsoft Sans Serif"/>
              </a:rPr>
              <a:t>was</a:t>
            </a:r>
            <a:r>
              <a:rPr sz="1100" spc="-5" dirty="0">
                <a:latin typeface="Microsoft Sans Serif"/>
                <a:cs typeface="Microsoft Sans Serif"/>
              </a:rPr>
              <a:t> </a:t>
            </a:r>
            <a:r>
              <a:rPr sz="1100" dirty="0">
                <a:latin typeface="Microsoft Sans Serif"/>
                <a:cs typeface="Microsoft Sans Serif"/>
              </a:rPr>
              <a:t>released</a:t>
            </a:r>
            <a:r>
              <a:rPr sz="1100" spc="-20" dirty="0">
                <a:latin typeface="Microsoft Sans Serif"/>
                <a:cs typeface="Microsoft Sans Serif"/>
              </a:rPr>
              <a:t> </a:t>
            </a:r>
            <a:r>
              <a:rPr sz="1100" dirty="0">
                <a:latin typeface="Microsoft Sans Serif"/>
                <a:cs typeface="Microsoft Sans Serif"/>
              </a:rPr>
              <a:t>by</a:t>
            </a:r>
            <a:r>
              <a:rPr sz="1100" spc="-35" dirty="0">
                <a:latin typeface="Microsoft Sans Serif"/>
                <a:cs typeface="Microsoft Sans Serif"/>
              </a:rPr>
              <a:t> </a:t>
            </a:r>
            <a:r>
              <a:rPr sz="1100" spc="-25" dirty="0">
                <a:latin typeface="Microsoft Sans Serif"/>
                <a:cs typeface="Microsoft Sans Serif"/>
              </a:rPr>
              <a:t>the </a:t>
            </a:r>
            <a:r>
              <a:rPr sz="1100" dirty="0">
                <a:latin typeface="Microsoft Sans Serif"/>
                <a:cs typeface="Microsoft Sans Serif"/>
              </a:rPr>
              <a:t>Empowered</a:t>
            </a:r>
            <a:r>
              <a:rPr sz="1100" spc="-55" dirty="0">
                <a:latin typeface="Microsoft Sans Serif"/>
                <a:cs typeface="Microsoft Sans Serif"/>
              </a:rPr>
              <a:t> </a:t>
            </a:r>
            <a:r>
              <a:rPr sz="1100" spc="-10" dirty="0">
                <a:latin typeface="Microsoft Sans Serif"/>
                <a:cs typeface="Microsoft Sans Serif"/>
              </a:rPr>
              <a:t>Committee</a:t>
            </a:r>
            <a:endParaRPr sz="1100">
              <a:latin typeface="Microsoft Sans Serif"/>
              <a:cs typeface="Microsoft Sans Serif"/>
            </a:endParaRPr>
          </a:p>
        </p:txBody>
      </p:sp>
      <p:sp>
        <p:nvSpPr>
          <p:cNvPr id="19" name="object 19"/>
          <p:cNvSpPr txBox="1"/>
          <p:nvPr/>
        </p:nvSpPr>
        <p:spPr>
          <a:xfrm>
            <a:off x="4144136" y="2211070"/>
            <a:ext cx="422275" cy="239395"/>
          </a:xfrm>
          <a:prstGeom prst="rect">
            <a:avLst/>
          </a:prstGeom>
        </p:spPr>
        <p:txBody>
          <a:bodyPr vert="horz" wrap="square" lIns="0" tIns="13335" rIns="0" bIns="0" rtlCol="0">
            <a:spAutoFit/>
          </a:bodyPr>
          <a:lstStyle/>
          <a:p>
            <a:pPr marL="12700">
              <a:lnSpc>
                <a:spcPct val="100000"/>
              </a:lnSpc>
              <a:spcBef>
                <a:spcPts val="105"/>
              </a:spcBef>
            </a:pPr>
            <a:r>
              <a:rPr sz="1400" b="1" spc="-20" dirty="0">
                <a:latin typeface="Arial"/>
                <a:cs typeface="Arial"/>
              </a:rPr>
              <a:t>2009</a:t>
            </a:r>
            <a:endParaRPr sz="1400">
              <a:latin typeface="Arial"/>
              <a:cs typeface="Arial"/>
            </a:endParaRPr>
          </a:p>
        </p:txBody>
      </p:sp>
      <p:sp>
        <p:nvSpPr>
          <p:cNvPr id="20" name="object 20"/>
          <p:cNvSpPr txBox="1"/>
          <p:nvPr/>
        </p:nvSpPr>
        <p:spPr>
          <a:xfrm>
            <a:off x="5583301" y="2317495"/>
            <a:ext cx="2312670" cy="361315"/>
          </a:xfrm>
          <a:prstGeom prst="rect">
            <a:avLst/>
          </a:prstGeom>
        </p:spPr>
        <p:txBody>
          <a:bodyPr vert="horz" wrap="square" lIns="0" tIns="13335" rIns="0" bIns="0" rtlCol="0">
            <a:spAutoFit/>
          </a:bodyPr>
          <a:lstStyle/>
          <a:p>
            <a:pPr marL="38100" marR="30480">
              <a:lnSpc>
                <a:spcPct val="100000"/>
              </a:lnSpc>
              <a:spcBef>
                <a:spcPts val="105"/>
              </a:spcBef>
            </a:pPr>
            <a:r>
              <a:rPr sz="1100" dirty="0">
                <a:latin typeface="Microsoft Sans Serif"/>
                <a:cs typeface="Microsoft Sans Serif"/>
              </a:rPr>
              <a:t>Constitution</a:t>
            </a:r>
            <a:r>
              <a:rPr sz="1100" spc="-30" dirty="0">
                <a:latin typeface="Microsoft Sans Serif"/>
                <a:cs typeface="Microsoft Sans Serif"/>
              </a:rPr>
              <a:t> </a:t>
            </a:r>
            <a:r>
              <a:rPr sz="1100" dirty="0">
                <a:latin typeface="Microsoft Sans Serif"/>
                <a:cs typeface="Microsoft Sans Serif"/>
              </a:rPr>
              <a:t>(115</a:t>
            </a:r>
            <a:r>
              <a:rPr sz="1050" baseline="27777" dirty="0">
                <a:latin typeface="Microsoft Sans Serif"/>
                <a:cs typeface="Microsoft Sans Serif"/>
              </a:rPr>
              <a:t>th</a:t>
            </a:r>
            <a:r>
              <a:rPr sz="1050" spc="142" baseline="27777" dirty="0">
                <a:latin typeface="Microsoft Sans Serif"/>
                <a:cs typeface="Microsoft Sans Serif"/>
              </a:rPr>
              <a:t> </a:t>
            </a:r>
            <a:r>
              <a:rPr sz="1100" dirty="0">
                <a:latin typeface="Microsoft Sans Serif"/>
                <a:cs typeface="Microsoft Sans Serif"/>
              </a:rPr>
              <a:t>Amendment)</a:t>
            </a:r>
            <a:r>
              <a:rPr sz="1100" spc="-45" dirty="0">
                <a:latin typeface="Microsoft Sans Serif"/>
                <a:cs typeface="Microsoft Sans Serif"/>
              </a:rPr>
              <a:t> </a:t>
            </a:r>
            <a:r>
              <a:rPr sz="1100" spc="-20" dirty="0">
                <a:latin typeface="Microsoft Sans Serif"/>
                <a:cs typeface="Microsoft Sans Serif"/>
              </a:rPr>
              <a:t>Bill </a:t>
            </a:r>
            <a:r>
              <a:rPr sz="1100" dirty="0">
                <a:latin typeface="Microsoft Sans Serif"/>
                <a:cs typeface="Microsoft Sans Serif"/>
              </a:rPr>
              <a:t>introduced</a:t>
            </a:r>
            <a:r>
              <a:rPr sz="1100" spc="-35" dirty="0">
                <a:latin typeface="Microsoft Sans Serif"/>
                <a:cs typeface="Microsoft Sans Serif"/>
              </a:rPr>
              <a:t> </a:t>
            </a:r>
            <a:r>
              <a:rPr sz="1100" dirty="0">
                <a:latin typeface="Microsoft Sans Serif"/>
                <a:cs typeface="Microsoft Sans Serif"/>
              </a:rPr>
              <a:t>and</a:t>
            </a:r>
            <a:r>
              <a:rPr sz="1100" spc="-15" dirty="0">
                <a:latin typeface="Microsoft Sans Serif"/>
                <a:cs typeface="Microsoft Sans Serif"/>
              </a:rPr>
              <a:t> </a:t>
            </a:r>
            <a:r>
              <a:rPr sz="1100" dirty="0">
                <a:latin typeface="Microsoft Sans Serif"/>
                <a:cs typeface="Microsoft Sans Serif"/>
              </a:rPr>
              <a:t>subsequently</a:t>
            </a:r>
            <a:r>
              <a:rPr sz="1100" spc="-30" dirty="0">
                <a:latin typeface="Microsoft Sans Serif"/>
                <a:cs typeface="Microsoft Sans Serif"/>
              </a:rPr>
              <a:t> </a:t>
            </a:r>
            <a:r>
              <a:rPr sz="1100" spc="-10" dirty="0">
                <a:latin typeface="Microsoft Sans Serif"/>
                <a:cs typeface="Microsoft Sans Serif"/>
              </a:rPr>
              <a:t>lapsed</a:t>
            </a:r>
            <a:endParaRPr sz="1100">
              <a:latin typeface="Microsoft Sans Serif"/>
              <a:cs typeface="Microsoft Sans Serif"/>
            </a:endParaRPr>
          </a:p>
        </p:txBody>
      </p:sp>
      <p:sp>
        <p:nvSpPr>
          <p:cNvPr id="21" name="object 21"/>
          <p:cNvSpPr txBox="1"/>
          <p:nvPr/>
        </p:nvSpPr>
        <p:spPr>
          <a:xfrm>
            <a:off x="6496303" y="1695450"/>
            <a:ext cx="412750" cy="239395"/>
          </a:xfrm>
          <a:prstGeom prst="rect">
            <a:avLst/>
          </a:prstGeom>
        </p:spPr>
        <p:txBody>
          <a:bodyPr vert="horz" wrap="square" lIns="0" tIns="13335" rIns="0" bIns="0" rtlCol="0">
            <a:spAutoFit/>
          </a:bodyPr>
          <a:lstStyle/>
          <a:p>
            <a:pPr marL="12700">
              <a:lnSpc>
                <a:spcPct val="100000"/>
              </a:lnSpc>
              <a:spcBef>
                <a:spcPts val="105"/>
              </a:spcBef>
            </a:pPr>
            <a:r>
              <a:rPr sz="1400" b="1" spc="-20" dirty="0">
                <a:latin typeface="Arial"/>
                <a:cs typeface="Arial"/>
              </a:rPr>
              <a:t>2011</a:t>
            </a:r>
            <a:endParaRPr sz="1400">
              <a:latin typeface="Arial"/>
              <a:cs typeface="Arial"/>
            </a:endParaRPr>
          </a:p>
        </p:txBody>
      </p:sp>
      <p:sp>
        <p:nvSpPr>
          <p:cNvPr id="22" name="object 22"/>
          <p:cNvSpPr txBox="1"/>
          <p:nvPr/>
        </p:nvSpPr>
        <p:spPr>
          <a:xfrm>
            <a:off x="8096757" y="1288541"/>
            <a:ext cx="2355215" cy="529590"/>
          </a:xfrm>
          <a:prstGeom prst="rect">
            <a:avLst/>
          </a:prstGeom>
        </p:spPr>
        <p:txBody>
          <a:bodyPr vert="horz" wrap="square" lIns="0" tIns="13335" rIns="0" bIns="0" rtlCol="0">
            <a:spAutoFit/>
          </a:bodyPr>
          <a:lstStyle/>
          <a:p>
            <a:pPr marL="50800" marR="55880" algn="just">
              <a:lnSpc>
                <a:spcPct val="100000"/>
              </a:lnSpc>
              <a:spcBef>
                <a:spcPts val="105"/>
              </a:spcBef>
              <a:tabLst>
                <a:tab pos="731520" algn="l"/>
                <a:tab pos="1906905" algn="l"/>
              </a:tabLst>
            </a:pPr>
            <a:r>
              <a:rPr sz="1100" spc="-25" dirty="0">
                <a:latin typeface="Microsoft Sans Serif"/>
                <a:cs typeface="Microsoft Sans Serif"/>
              </a:rPr>
              <a:t>The</a:t>
            </a:r>
            <a:r>
              <a:rPr sz="1100" dirty="0">
                <a:latin typeface="Microsoft Sans Serif"/>
                <a:cs typeface="Microsoft Sans Serif"/>
              </a:rPr>
              <a:t>	</a:t>
            </a:r>
            <a:r>
              <a:rPr sz="1100" spc="-10" dirty="0">
                <a:latin typeface="Microsoft Sans Serif"/>
                <a:cs typeface="Microsoft Sans Serif"/>
              </a:rPr>
              <a:t>Constitution</a:t>
            </a:r>
            <a:r>
              <a:rPr sz="1100" dirty="0">
                <a:latin typeface="Microsoft Sans Serif"/>
                <a:cs typeface="Microsoft Sans Serif"/>
              </a:rPr>
              <a:t>	</a:t>
            </a:r>
            <a:r>
              <a:rPr sz="1100" spc="-10" dirty="0">
                <a:latin typeface="Microsoft Sans Serif"/>
                <a:cs typeface="Microsoft Sans Serif"/>
              </a:rPr>
              <a:t>(122</a:t>
            </a:r>
            <a:r>
              <a:rPr sz="1050" spc="-15" baseline="27777" dirty="0">
                <a:latin typeface="Microsoft Sans Serif"/>
                <a:cs typeface="Microsoft Sans Serif"/>
              </a:rPr>
              <a:t>nd</a:t>
            </a:r>
            <a:r>
              <a:rPr sz="1050" spc="750" baseline="27777" dirty="0">
                <a:latin typeface="Microsoft Sans Serif"/>
                <a:cs typeface="Microsoft Sans Serif"/>
              </a:rPr>
              <a:t> </a:t>
            </a:r>
            <a:r>
              <a:rPr sz="1100" dirty="0">
                <a:latin typeface="Microsoft Sans Serif"/>
                <a:cs typeface="Microsoft Sans Serif"/>
              </a:rPr>
              <a:t>Amendment)</a:t>
            </a:r>
            <a:r>
              <a:rPr sz="1100" spc="145" dirty="0">
                <a:latin typeface="Microsoft Sans Serif"/>
                <a:cs typeface="Microsoft Sans Serif"/>
              </a:rPr>
              <a:t> </a:t>
            </a:r>
            <a:r>
              <a:rPr sz="1100" dirty="0">
                <a:latin typeface="Microsoft Sans Serif"/>
                <a:cs typeface="Microsoft Sans Serif"/>
              </a:rPr>
              <a:t>Bill</a:t>
            </a:r>
            <a:r>
              <a:rPr sz="1100" spc="145" dirty="0">
                <a:latin typeface="Microsoft Sans Serif"/>
                <a:cs typeface="Microsoft Sans Serif"/>
              </a:rPr>
              <a:t> </a:t>
            </a:r>
            <a:r>
              <a:rPr sz="1100" dirty="0">
                <a:latin typeface="Microsoft Sans Serif"/>
                <a:cs typeface="Microsoft Sans Serif"/>
              </a:rPr>
              <a:t>was</a:t>
            </a:r>
            <a:r>
              <a:rPr sz="1100" spc="150" dirty="0">
                <a:latin typeface="Microsoft Sans Serif"/>
                <a:cs typeface="Microsoft Sans Serif"/>
              </a:rPr>
              <a:t> </a:t>
            </a:r>
            <a:r>
              <a:rPr sz="1100" dirty="0">
                <a:latin typeface="Microsoft Sans Serif"/>
                <a:cs typeface="Microsoft Sans Serif"/>
              </a:rPr>
              <a:t>introduced</a:t>
            </a:r>
            <a:r>
              <a:rPr sz="1100" spc="140" dirty="0">
                <a:latin typeface="Microsoft Sans Serif"/>
                <a:cs typeface="Microsoft Sans Serif"/>
              </a:rPr>
              <a:t> </a:t>
            </a:r>
            <a:r>
              <a:rPr sz="1100" spc="-25" dirty="0">
                <a:latin typeface="Microsoft Sans Serif"/>
                <a:cs typeface="Microsoft Sans Serif"/>
              </a:rPr>
              <a:t>in </a:t>
            </a:r>
            <a:r>
              <a:rPr sz="1100" dirty="0">
                <a:latin typeface="Microsoft Sans Serif"/>
                <a:cs typeface="Microsoft Sans Serif"/>
              </a:rPr>
              <a:t>the</a:t>
            </a:r>
            <a:r>
              <a:rPr sz="1100" spc="-15" dirty="0">
                <a:latin typeface="Microsoft Sans Serif"/>
                <a:cs typeface="Microsoft Sans Serif"/>
              </a:rPr>
              <a:t> </a:t>
            </a:r>
            <a:r>
              <a:rPr sz="1100" dirty="0">
                <a:latin typeface="Microsoft Sans Serif"/>
                <a:cs typeface="Microsoft Sans Serif"/>
              </a:rPr>
              <a:t>Lok </a:t>
            </a:r>
            <a:r>
              <a:rPr sz="1100" spc="-20" dirty="0">
                <a:latin typeface="Microsoft Sans Serif"/>
                <a:cs typeface="Microsoft Sans Serif"/>
              </a:rPr>
              <a:t>Sabha</a:t>
            </a:r>
            <a:endParaRPr sz="1100">
              <a:latin typeface="Microsoft Sans Serif"/>
              <a:cs typeface="Microsoft Sans Serif"/>
            </a:endParaRPr>
          </a:p>
        </p:txBody>
      </p:sp>
      <p:sp>
        <p:nvSpPr>
          <p:cNvPr id="23" name="object 23"/>
          <p:cNvSpPr txBox="1"/>
          <p:nvPr/>
        </p:nvSpPr>
        <p:spPr>
          <a:xfrm>
            <a:off x="8847201" y="2208657"/>
            <a:ext cx="422275" cy="239395"/>
          </a:xfrm>
          <a:prstGeom prst="rect">
            <a:avLst/>
          </a:prstGeom>
        </p:spPr>
        <p:txBody>
          <a:bodyPr vert="horz" wrap="square" lIns="0" tIns="13335" rIns="0" bIns="0" rtlCol="0">
            <a:spAutoFit/>
          </a:bodyPr>
          <a:lstStyle/>
          <a:p>
            <a:pPr marL="12700">
              <a:lnSpc>
                <a:spcPct val="100000"/>
              </a:lnSpc>
              <a:spcBef>
                <a:spcPts val="105"/>
              </a:spcBef>
            </a:pPr>
            <a:r>
              <a:rPr sz="1400" b="1" spc="-20" dirty="0">
                <a:latin typeface="Arial"/>
                <a:cs typeface="Arial"/>
              </a:rPr>
              <a:t>2014</a:t>
            </a:r>
            <a:endParaRPr sz="1400">
              <a:latin typeface="Arial"/>
              <a:cs typeface="Arial"/>
            </a:endParaRPr>
          </a:p>
        </p:txBody>
      </p:sp>
      <p:sp>
        <p:nvSpPr>
          <p:cNvPr id="24" name="object 24"/>
          <p:cNvSpPr txBox="1"/>
          <p:nvPr/>
        </p:nvSpPr>
        <p:spPr>
          <a:xfrm>
            <a:off x="9066656" y="2685414"/>
            <a:ext cx="815340" cy="239395"/>
          </a:xfrm>
          <a:prstGeom prst="rect">
            <a:avLst/>
          </a:prstGeom>
        </p:spPr>
        <p:txBody>
          <a:bodyPr vert="horz" wrap="square" lIns="0" tIns="13335" rIns="0" bIns="0" rtlCol="0">
            <a:spAutoFit/>
          </a:bodyPr>
          <a:lstStyle/>
          <a:p>
            <a:pPr marL="12700">
              <a:lnSpc>
                <a:spcPct val="100000"/>
              </a:lnSpc>
              <a:spcBef>
                <a:spcPts val="105"/>
              </a:spcBef>
            </a:pPr>
            <a:r>
              <a:rPr sz="1400" b="1" dirty="0">
                <a:latin typeface="Arial"/>
                <a:cs typeface="Arial"/>
              </a:rPr>
              <a:t>Aug</a:t>
            </a:r>
            <a:r>
              <a:rPr sz="1400" b="1" spc="-35" dirty="0">
                <a:latin typeface="Arial"/>
                <a:cs typeface="Arial"/>
              </a:rPr>
              <a:t> </a:t>
            </a:r>
            <a:r>
              <a:rPr sz="1400" b="1" spc="-20" dirty="0">
                <a:latin typeface="Arial"/>
                <a:cs typeface="Arial"/>
              </a:rPr>
              <a:t>2016</a:t>
            </a:r>
            <a:endParaRPr sz="1400">
              <a:latin typeface="Arial"/>
              <a:cs typeface="Arial"/>
            </a:endParaRPr>
          </a:p>
        </p:txBody>
      </p:sp>
      <p:sp>
        <p:nvSpPr>
          <p:cNvPr id="25" name="object 25"/>
          <p:cNvSpPr txBox="1"/>
          <p:nvPr/>
        </p:nvSpPr>
        <p:spPr>
          <a:xfrm>
            <a:off x="10272141" y="2455926"/>
            <a:ext cx="1112520" cy="193675"/>
          </a:xfrm>
          <a:prstGeom prst="rect">
            <a:avLst/>
          </a:prstGeom>
        </p:spPr>
        <p:txBody>
          <a:bodyPr vert="horz" wrap="square" lIns="0" tIns="13335" rIns="0" bIns="0" rtlCol="0">
            <a:spAutoFit/>
          </a:bodyPr>
          <a:lstStyle/>
          <a:p>
            <a:pPr marL="12700">
              <a:lnSpc>
                <a:spcPct val="100000"/>
              </a:lnSpc>
              <a:spcBef>
                <a:spcPts val="105"/>
              </a:spcBef>
            </a:pPr>
            <a:r>
              <a:rPr sz="1100" dirty="0">
                <a:latin typeface="Microsoft Sans Serif"/>
                <a:cs typeface="Microsoft Sans Serif"/>
              </a:rPr>
              <a:t>The</a:t>
            </a:r>
            <a:r>
              <a:rPr sz="1100" spc="120" dirty="0">
                <a:latin typeface="Microsoft Sans Serif"/>
                <a:cs typeface="Microsoft Sans Serif"/>
              </a:rPr>
              <a:t>  </a:t>
            </a:r>
            <a:r>
              <a:rPr sz="1100" spc="-10" dirty="0">
                <a:latin typeface="Microsoft Sans Serif"/>
                <a:cs typeface="Microsoft Sans Serif"/>
              </a:rPr>
              <a:t>Constitution</a:t>
            </a:r>
            <a:endParaRPr sz="1100">
              <a:latin typeface="Microsoft Sans Serif"/>
              <a:cs typeface="Microsoft Sans Serif"/>
            </a:endParaRPr>
          </a:p>
        </p:txBody>
      </p:sp>
      <p:sp>
        <p:nvSpPr>
          <p:cNvPr id="26" name="object 26"/>
          <p:cNvSpPr txBox="1"/>
          <p:nvPr/>
        </p:nvSpPr>
        <p:spPr>
          <a:xfrm>
            <a:off x="11463908" y="2455926"/>
            <a:ext cx="337185" cy="528955"/>
          </a:xfrm>
          <a:prstGeom prst="rect">
            <a:avLst/>
          </a:prstGeom>
        </p:spPr>
        <p:txBody>
          <a:bodyPr vert="horz" wrap="square" lIns="0" tIns="13335" rIns="0" bIns="0" rtlCol="0">
            <a:spAutoFit/>
          </a:bodyPr>
          <a:lstStyle/>
          <a:p>
            <a:pPr marL="52069" marR="5080" indent="-40005" algn="just">
              <a:lnSpc>
                <a:spcPct val="100000"/>
              </a:lnSpc>
              <a:spcBef>
                <a:spcPts val="105"/>
              </a:spcBef>
            </a:pPr>
            <a:r>
              <a:rPr sz="1100" spc="-20" dirty="0">
                <a:latin typeface="Microsoft Sans Serif"/>
                <a:cs typeface="Microsoft Sans Serif"/>
              </a:rPr>
              <a:t>(One </a:t>
            </a:r>
            <a:r>
              <a:rPr sz="1100" spc="-10" dirty="0">
                <a:latin typeface="Microsoft Sans Serif"/>
                <a:cs typeface="Microsoft Sans Serif"/>
              </a:rPr>
              <a:t>First </a:t>
            </a:r>
            <a:r>
              <a:rPr sz="1100" spc="-25" dirty="0">
                <a:latin typeface="Microsoft Sans Serif"/>
                <a:cs typeface="Microsoft Sans Serif"/>
              </a:rPr>
              <a:t>was</a:t>
            </a:r>
            <a:endParaRPr sz="1100">
              <a:latin typeface="Microsoft Sans Serif"/>
              <a:cs typeface="Microsoft Sans Serif"/>
            </a:endParaRPr>
          </a:p>
        </p:txBody>
      </p:sp>
      <p:sp>
        <p:nvSpPr>
          <p:cNvPr id="27" name="object 27"/>
          <p:cNvSpPr txBox="1"/>
          <p:nvPr/>
        </p:nvSpPr>
        <p:spPr>
          <a:xfrm>
            <a:off x="10272141" y="2623566"/>
            <a:ext cx="1026794" cy="193675"/>
          </a:xfrm>
          <a:prstGeom prst="rect">
            <a:avLst/>
          </a:prstGeom>
        </p:spPr>
        <p:txBody>
          <a:bodyPr vert="horz" wrap="square" lIns="0" tIns="13335" rIns="0" bIns="0" rtlCol="0">
            <a:spAutoFit/>
          </a:bodyPr>
          <a:lstStyle/>
          <a:p>
            <a:pPr marL="12700">
              <a:lnSpc>
                <a:spcPct val="100000"/>
              </a:lnSpc>
              <a:spcBef>
                <a:spcPts val="105"/>
              </a:spcBef>
              <a:tabLst>
                <a:tab pos="780415" algn="l"/>
              </a:tabLst>
            </a:pPr>
            <a:r>
              <a:rPr sz="1100" spc="-10" dirty="0">
                <a:latin typeface="Microsoft Sans Serif"/>
                <a:cs typeface="Microsoft Sans Serif"/>
              </a:rPr>
              <a:t>Hundred</a:t>
            </a:r>
            <a:r>
              <a:rPr sz="1100" dirty="0">
                <a:latin typeface="Microsoft Sans Serif"/>
                <a:cs typeface="Microsoft Sans Serif"/>
              </a:rPr>
              <a:t>	</a:t>
            </a:r>
            <a:r>
              <a:rPr sz="1100" spc="-25" dirty="0">
                <a:latin typeface="Microsoft Sans Serif"/>
                <a:cs typeface="Microsoft Sans Serif"/>
              </a:rPr>
              <a:t>and</a:t>
            </a:r>
            <a:endParaRPr sz="1100">
              <a:latin typeface="Microsoft Sans Serif"/>
              <a:cs typeface="Microsoft Sans Serif"/>
            </a:endParaRPr>
          </a:p>
        </p:txBody>
      </p:sp>
      <p:sp>
        <p:nvSpPr>
          <p:cNvPr id="28" name="object 28"/>
          <p:cNvSpPr txBox="1"/>
          <p:nvPr/>
        </p:nvSpPr>
        <p:spPr>
          <a:xfrm>
            <a:off x="10272141" y="2791206"/>
            <a:ext cx="1152525" cy="361950"/>
          </a:xfrm>
          <a:prstGeom prst="rect">
            <a:avLst/>
          </a:prstGeom>
        </p:spPr>
        <p:txBody>
          <a:bodyPr vert="horz" wrap="square" lIns="0" tIns="13335" rIns="0" bIns="0" rtlCol="0">
            <a:spAutoFit/>
          </a:bodyPr>
          <a:lstStyle/>
          <a:p>
            <a:pPr marL="12700" marR="5080">
              <a:lnSpc>
                <a:spcPct val="100000"/>
              </a:lnSpc>
              <a:spcBef>
                <a:spcPts val="105"/>
              </a:spcBef>
              <a:tabLst>
                <a:tab pos="939165" algn="l"/>
              </a:tabLst>
            </a:pPr>
            <a:r>
              <a:rPr sz="1100" spc="-10" dirty="0">
                <a:latin typeface="Microsoft Sans Serif"/>
                <a:cs typeface="Microsoft Sans Serif"/>
              </a:rPr>
              <a:t>Amendment)</a:t>
            </a:r>
            <a:r>
              <a:rPr sz="1100" dirty="0">
                <a:latin typeface="Microsoft Sans Serif"/>
                <a:cs typeface="Microsoft Sans Serif"/>
              </a:rPr>
              <a:t>	</a:t>
            </a:r>
            <a:r>
              <a:rPr sz="1100" spc="-25" dirty="0">
                <a:latin typeface="Microsoft Sans Serif"/>
                <a:cs typeface="Microsoft Sans Serif"/>
              </a:rPr>
              <a:t>Act </a:t>
            </a:r>
            <a:r>
              <a:rPr sz="1100" spc="-10" dirty="0">
                <a:latin typeface="Microsoft Sans Serif"/>
                <a:cs typeface="Microsoft Sans Serif"/>
              </a:rPr>
              <a:t>enacted</a:t>
            </a:r>
            <a:endParaRPr sz="1100">
              <a:latin typeface="Microsoft Sans Serif"/>
              <a:cs typeface="Microsoft Sans Serif"/>
            </a:endParaRPr>
          </a:p>
        </p:txBody>
      </p:sp>
      <p:sp>
        <p:nvSpPr>
          <p:cNvPr id="29" name="object 29"/>
          <p:cNvSpPr txBox="1"/>
          <p:nvPr/>
        </p:nvSpPr>
        <p:spPr>
          <a:xfrm>
            <a:off x="6406641" y="3221482"/>
            <a:ext cx="993775" cy="239395"/>
          </a:xfrm>
          <a:prstGeom prst="rect">
            <a:avLst/>
          </a:prstGeom>
        </p:spPr>
        <p:txBody>
          <a:bodyPr vert="horz" wrap="square" lIns="0" tIns="13335" rIns="0" bIns="0" rtlCol="0">
            <a:spAutoFit/>
          </a:bodyPr>
          <a:lstStyle/>
          <a:p>
            <a:pPr marL="12700">
              <a:lnSpc>
                <a:spcPct val="100000"/>
              </a:lnSpc>
              <a:spcBef>
                <a:spcPts val="105"/>
              </a:spcBef>
            </a:pPr>
            <a:r>
              <a:rPr sz="1400" b="1" dirty="0">
                <a:latin typeface="Arial"/>
                <a:cs typeface="Arial"/>
              </a:rPr>
              <a:t>March</a:t>
            </a:r>
            <a:r>
              <a:rPr sz="1400" b="1" spc="-35" dirty="0">
                <a:latin typeface="Arial"/>
                <a:cs typeface="Arial"/>
              </a:rPr>
              <a:t> </a:t>
            </a:r>
            <a:r>
              <a:rPr sz="1400" b="1" spc="-20" dirty="0">
                <a:latin typeface="Arial"/>
                <a:cs typeface="Arial"/>
              </a:rPr>
              <a:t>2017</a:t>
            </a:r>
            <a:endParaRPr sz="1400">
              <a:latin typeface="Arial"/>
              <a:cs typeface="Arial"/>
            </a:endParaRPr>
          </a:p>
        </p:txBody>
      </p:sp>
      <p:sp>
        <p:nvSpPr>
          <p:cNvPr id="30" name="object 30"/>
          <p:cNvSpPr txBox="1"/>
          <p:nvPr/>
        </p:nvSpPr>
        <p:spPr>
          <a:xfrm>
            <a:off x="6058915" y="3863085"/>
            <a:ext cx="1721485" cy="697230"/>
          </a:xfrm>
          <a:prstGeom prst="rect">
            <a:avLst/>
          </a:prstGeom>
        </p:spPr>
        <p:txBody>
          <a:bodyPr vert="horz" wrap="square" lIns="0" tIns="12700" rIns="0" bIns="0" rtlCol="0">
            <a:spAutoFit/>
          </a:bodyPr>
          <a:lstStyle/>
          <a:p>
            <a:pPr marL="12700" marR="5080">
              <a:lnSpc>
                <a:spcPct val="100000"/>
              </a:lnSpc>
              <a:spcBef>
                <a:spcPts val="100"/>
              </a:spcBef>
            </a:pPr>
            <a:r>
              <a:rPr sz="1100" dirty="0">
                <a:latin typeface="Microsoft Sans Serif"/>
                <a:cs typeface="Microsoft Sans Serif"/>
              </a:rPr>
              <a:t>GST</a:t>
            </a:r>
            <a:r>
              <a:rPr sz="1100" spc="-40" dirty="0">
                <a:latin typeface="Microsoft Sans Serif"/>
                <a:cs typeface="Microsoft Sans Serif"/>
              </a:rPr>
              <a:t> </a:t>
            </a:r>
            <a:r>
              <a:rPr sz="1100" dirty="0">
                <a:latin typeface="Microsoft Sans Serif"/>
                <a:cs typeface="Microsoft Sans Serif"/>
              </a:rPr>
              <a:t>Council</a:t>
            </a:r>
            <a:r>
              <a:rPr sz="1100" spc="-20" dirty="0">
                <a:latin typeface="Microsoft Sans Serif"/>
                <a:cs typeface="Microsoft Sans Serif"/>
              </a:rPr>
              <a:t> </a:t>
            </a:r>
            <a:r>
              <a:rPr sz="1100" spc="-10" dirty="0">
                <a:latin typeface="Microsoft Sans Serif"/>
                <a:cs typeface="Microsoft Sans Serif"/>
              </a:rPr>
              <a:t>Recommends </a:t>
            </a:r>
            <a:r>
              <a:rPr sz="1100" dirty="0">
                <a:latin typeface="Microsoft Sans Serif"/>
                <a:cs typeface="Microsoft Sans Serif"/>
              </a:rPr>
              <a:t>the</a:t>
            </a:r>
            <a:r>
              <a:rPr sz="1100" spc="-20" dirty="0">
                <a:latin typeface="Microsoft Sans Serif"/>
                <a:cs typeface="Microsoft Sans Serif"/>
              </a:rPr>
              <a:t> </a:t>
            </a:r>
            <a:r>
              <a:rPr sz="1100" dirty="0">
                <a:latin typeface="Microsoft Sans Serif"/>
                <a:cs typeface="Microsoft Sans Serif"/>
              </a:rPr>
              <a:t>CGST,</a:t>
            </a:r>
            <a:r>
              <a:rPr sz="1100" spc="-25" dirty="0">
                <a:latin typeface="Microsoft Sans Serif"/>
                <a:cs typeface="Microsoft Sans Serif"/>
              </a:rPr>
              <a:t> </a:t>
            </a:r>
            <a:r>
              <a:rPr sz="1100" dirty="0">
                <a:latin typeface="Microsoft Sans Serif"/>
                <a:cs typeface="Microsoft Sans Serif"/>
              </a:rPr>
              <a:t>SGST,</a:t>
            </a:r>
            <a:r>
              <a:rPr sz="1100" spc="-25" dirty="0">
                <a:latin typeface="Microsoft Sans Serif"/>
                <a:cs typeface="Microsoft Sans Serif"/>
              </a:rPr>
              <a:t> </a:t>
            </a:r>
            <a:r>
              <a:rPr sz="1100" spc="-20" dirty="0">
                <a:latin typeface="Microsoft Sans Serif"/>
                <a:cs typeface="Microsoft Sans Serif"/>
              </a:rPr>
              <a:t>IGST,</a:t>
            </a:r>
            <a:endParaRPr sz="1100">
              <a:latin typeface="Microsoft Sans Serif"/>
              <a:cs typeface="Microsoft Sans Serif"/>
            </a:endParaRPr>
          </a:p>
          <a:p>
            <a:pPr marL="12700" marR="13335">
              <a:lnSpc>
                <a:spcPct val="100000"/>
              </a:lnSpc>
              <a:spcBef>
                <a:spcPts val="5"/>
              </a:spcBef>
            </a:pPr>
            <a:r>
              <a:rPr sz="1100" dirty="0">
                <a:latin typeface="Microsoft Sans Serif"/>
                <a:cs typeface="Microsoft Sans Serif"/>
              </a:rPr>
              <a:t>UTGST</a:t>
            </a:r>
            <a:r>
              <a:rPr sz="1100" spc="-30" dirty="0">
                <a:latin typeface="Microsoft Sans Serif"/>
                <a:cs typeface="Microsoft Sans Serif"/>
              </a:rPr>
              <a:t> </a:t>
            </a:r>
            <a:r>
              <a:rPr sz="1100" dirty="0">
                <a:latin typeface="Microsoft Sans Serif"/>
                <a:cs typeface="Microsoft Sans Serif"/>
              </a:rPr>
              <a:t>and</a:t>
            </a:r>
            <a:r>
              <a:rPr sz="1100" spc="-15" dirty="0">
                <a:latin typeface="Microsoft Sans Serif"/>
                <a:cs typeface="Microsoft Sans Serif"/>
              </a:rPr>
              <a:t> </a:t>
            </a:r>
            <a:r>
              <a:rPr sz="1100" spc="-10" dirty="0">
                <a:latin typeface="Microsoft Sans Serif"/>
                <a:cs typeface="Microsoft Sans Serif"/>
              </a:rPr>
              <a:t>Compensation </a:t>
            </a:r>
            <a:r>
              <a:rPr sz="1100" dirty="0">
                <a:latin typeface="Microsoft Sans Serif"/>
                <a:cs typeface="Microsoft Sans Serif"/>
              </a:rPr>
              <a:t>Cess</a:t>
            </a:r>
            <a:r>
              <a:rPr sz="1100" spc="-15" dirty="0">
                <a:latin typeface="Microsoft Sans Serif"/>
                <a:cs typeface="Microsoft Sans Serif"/>
              </a:rPr>
              <a:t> </a:t>
            </a:r>
            <a:r>
              <a:rPr sz="1100" spc="-25" dirty="0">
                <a:latin typeface="Microsoft Sans Serif"/>
                <a:cs typeface="Microsoft Sans Serif"/>
              </a:rPr>
              <a:t>Act</a:t>
            </a:r>
            <a:endParaRPr sz="1100">
              <a:latin typeface="Microsoft Sans Serif"/>
              <a:cs typeface="Microsoft Sans Serif"/>
            </a:endParaRPr>
          </a:p>
        </p:txBody>
      </p:sp>
      <p:sp>
        <p:nvSpPr>
          <p:cNvPr id="31" name="object 31"/>
          <p:cNvSpPr txBox="1"/>
          <p:nvPr/>
        </p:nvSpPr>
        <p:spPr>
          <a:xfrm>
            <a:off x="4161790" y="3250183"/>
            <a:ext cx="875665" cy="239395"/>
          </a:xfrm>
          <a:prstGeom prst="rect">
            <a:avLst/>
          </a:prstGeom>
        </p:spPr>
        <p:txBody>
          <a:bodyPr vert="horz" wrap="square" lIns="0" tIns="13335" rIns="0" bIns="0" rtlCol="0">
            <a:spAutoFit/>
          </a:bodyPr>
          <a:lstStyle/>
          <a:p>
            <a:pPr marL="12700">
              <a:lnSpc>
                <a:spcPct val="100000"/>
              </a:lnSpc>
              <a:spcBef>
                <a:spcPts val="105"/>
              </a:spcBef>
            </a:pPr>
            <a:r>
              <a:rPr sz="1400" b="1" dirty="0">
                <a:latin typeface="Arial"/>
                <a:cs typeface="Arial"/>
              </a:rPr>
              <a:t>April</a:t>
            </a:r>
            <a:r>
              <a:rPr sz="1400" b="1" spc="-45" dirty="0">
                <a:latin typeface="Arial"/>
                <a:cs typeface="Arial"/>
              </a:rPr>
              <a:t> </a:t>
            </a:r>
            <a:r>
              <a:rPr sz="1400" b="1" spc="-20" dirty="0">
                <a:latin typeface="Arial"/>
                <a:cs typeface="Arial"/>
              </a:rPr>
              <a:t>2017</a:t>
            </a:r>
            <a:endParaRPr sz="1400">
              <a:latin typeface="Arial"/>
              <a:cs typeface="Arial"/>
            </a:endParaRPr>
          </a:p>
        </p:txBody>
      </p:sp>
      <p:sp>
        <p:nvSpPr>
          <p:cNvPr id="32" name="object 32"/>
          <p:cNvSpPr txBox="1"/>
          <p:nvPr/>
        </p:nvSpPr>
        <p:spPr>
          <a:xfrm>
            <a:off x="3925315" y="3806190"/>
            <a:ext cx="1659889" cy="529590"/>
          </a:xfrm>
          <a:prstGeom prst="rect">
            <a:avLst/>
          </a:prstGeom>
        </p:spPr>
        <p:txBody>
          <a:bodyPr vert="horz" wrap="square" lIns="0" tIns="12700" rIns="0" bIns="0" rtlCol="0">
            <a:spAutoFit/>
          </a:bodyPr>
          <a:lstStyle/>
          <a:p>
            <a:pPr marL="12700">
              <a:lnSpc>
                <a:spcPct val="100000"/>
              </a:lnSpc>
              <a:spcBef>
                <a:spcPts val="100"/>
              </a:spcBef>
            </a:pPr>
            <a:r>
              <a:rPr sz="1100" dirty="0">
                <a:latin typeface="Microsoft Sans Serif"/>
                <a:cs typeface="Microsoft Sans Serif"/>
              </a:rPr>
              <a:t>CGST,</a:t>
            </a:r>
            <a:r>
              <a:rPr sz="1100" spc="25" dirty="0">
                <a:latin typeface="Microsoft Sans Serif"/>
                <a:cs typeface="Microsoft Sans Serif"/>
              </a:rPr>
              <a:t> </a:t>
            </a:r>
            <a:r>
              <a:rPr sz="1100" dirty="0">
                <a:latin typeface="Microsoft Sans Serif"/>
                <a:cs typeface="Microsoft Sans Serif"/>
              </a:rPr>
              <a:t>IGST,</a:t>
            </a:r>
            <a:r>
              <a:rPr sz="1100" spc="40" dirty="0">
                <a:latin typeface="Microsoft Sans Serif"/>
                <a:cs typeface="Microsoft Sans Serif"/>
              </a:rPr>
              <a:t> </a:t>
            </a:r>
            <a:r>
              <a:rPr sz="1100" dirty="0">
                <a:latin typeface="Microsoft Sans Serif"/>
                <a:cs typeface="Microsoft Sans Serif"/>
              </a:rPr>
              <a:t>UTGST</a:t>
            </a:r>
            <a:r>
              <a:rPr sz="1100" spc="45" dirty="0">
                <a:latin typeface="Microsoft Sans Serif"/>
                <a:cs typeface="Microsoft Sans Serif"/>
              </a:rPr>
              <a:t> </a:t>
            </a:r>
            <a:r>
              <a:rPr sz="1100" spc="-25" dirty="0">
                <a:latin typeface="Microsoft Sans Serif"/>
                <a:cs typeface="Microsoft Sans Serif"/>
              </a:rPr>
              <a:t>and</a:t>
            </a:r>
            <a:endParaRPr sz="1100">
              <a:latin typeface="Microsoft Sans Serif"/>
              <a:cs typeface="Microsoft Sans Serif"/>
            </a:endParaRPr>
          </a:p>
          <a:p>
            <a:pPr marL="12700" marR="5080">
              <a:lnSpc>
                <a:spcPct val="100000"/>
              </a:lnSpc>
              <a:spcBef>
                <a:spcPts val="5"/>
              </a:spcBef>
            </a:pPr>
            <a:r>
              <a:rPr sz="1100" dirty="0">
                <a:latin typeface="Microsoft Sans Serif"/>
                <a:cs typeface="Microsoft Sans Serif"/>
              </a:rPr>
              <a:t>Compensation</a:t>
            </a:r>
            <a:r>
              <a:rPr sz="1100" spc="195" dirty="0">
                <a:latin typeface="Microsoft Sans Serif"/>
                <a:cs typeface="Microsoft Sans Serif"/>
              </a:rPr>
              <a:t> </a:t>
            </a:r>
            <a:r>
              <a:rPr sz="1100" dirty="0">
                <a:latin typeface="Microsoft Sans Serif"/>
                <a:cs typeface="Microsoft Sans Serif"/>
              </a:rPr>
              <a:t>Cess</a:t>
            </a:r>
            <a:r>
              <a:rPr sz="1100" spc="220" dirty="0">
                <a:latin typeface="Microsoft Sans Serif"/>
                <a:cs typeface="Microsoft Sans Serif"/>
              </a:rPr>
              <a:t> </a:t>
            </a:r>
            <a:r>
              <a:rPr sz="1100" spc="-20" dirty="0">
                <a:latin typeface="Microsoft Sans Serif"/>
                <a:cs typeface="Microsoft Sans Serif"/>
              </a:rPr>
              <a:t>Acts </a:t>
            </a:r>
            <a:r>
              <a:rPr sz="1100" spc="-10" dirty="0">
                <a:latin typeface="Microsoft Sans Serif"/>
                <a:cs typeface="Microsoft Sans Serif"/>
              </a:rPr>
              <a:t>passed</a:t>
            </a:r>
            <a:endParaRPr sz="1100">
              <a:latin typeface="Microsoft Sans Serif"/>
              <a:cs typeface="Microsoft Sans Serif"/>
            </a:endParaRPr>
          </a:p>
        </p:txBody>
      </p:sp>
      <p:sp>
        <p:nvSpPr>
          <p:cNvPr id="33" name="object 33"/>
          <p:cNvSpPr txBox="1"/>
          <p:nvPr/>
        </p:nvSpPr>
        <p:spPr>
          <a:xfrm>
            <a:off x="293624" y="4279772"/>
            <a:ext cx="477520" cy="528955"/>
          </a:xfrm>
          <a:prstGeom prst="rect">
            <a:avLst/>
          </a:prstGeom>
        </p:spPr>
        <p:txBody>
          <a:bodyPr vert="horz" wrap="square" lIns="0" tIns="12700" rIns="0" bIns="0" rtlCol="0">
            <a:spAutoFit/>
          </a:bodyPr>
          <a:lstStyle/>
          <a:p>
            <a:pPr marL="12700" marR="5080">
              <a:lnSpc>
                <a:spcPct val="100000"/>
              </a:lnSpc>
              <a:spcBef>
                <a:spcPts val="100"/>
              </a:spcBef>
            </a:pPr>
            <a:r>
              <a:rPr sz="1100" spc="-25" dirty="0">
                <a:latin typeface="Microsoft Sans Serif"/>
                <a:cs typeface="Microsoft Sans Serif"/>
              </a:rPr>
              <a:t>All </a:t>
            </a:r>
            <a:r>
              <a:rPr sz="1100" spc="-10" dirty="0">
                <a:latin typeface="Microsoft Sans Serif"/>
                <a:cs typeface="Microsoft Sans Serif"/>
              </a:rPr>
              <a:t>except passed</a:t>
            </a:r>
            <a:endParaRPr sz="1100">
              <a:latin typeface="Microsoft Sans Serif"/>
              <a:cs typeface="Microsoft Sans Serif"/>
            </a:endParaRPr>
          </a:p>
        </p:txBody>
      </p:sp>
      <p:sp>
        <p:nvSpPr>
          <p:cNvPr id="34" name="object 34"/>
          <p:cNvSpPr txBox="1"/>
          <p:nvPr/>
        </p:nvSpPr>
        <p:spPr>
          <a:xfrm>
            <a:off x="796544" y="4279772"/>
            <a:ext cx="422909" cy="528955"/>
          </a:xfrm>
          <a:prstGeom prst="rect">
            <a:avLst/>
          </a:prstGeom>
        </p:spPr>
        <p:txBody>
          <a:bodyPr vert="horz" wrap="square" lIns="0" tIns="12700" rIns="0" bIns="0" rtlCol="0">
            <a:spAutoFit/>
          </a:bodyPr>
          <a:lstStyle/>
          <a:p>
            <a:pPr marL="12700">
              <a:lnSpc>
                <a:spcPct val="100000"/>
              </a:lnSpc>
              <a:spcBef>
                <a:spcPts val="100"/>
              </a:spcBef>
            </a:pPr>
            <a:r>
              <a:rPr sz="1100" spc="-10" dirty="0">
                <a:latin typeface="Microsoft Sans Serif"/>
                <a:cs typeface="Microsoft Sans Serif"/>
              </a:rPr>
              <a:t>States</a:t>
            </a:r>
            <a:endParaRPr sz="1100">
              <a:latin typeface="Microsoft Sans Serif"/>
              <a:cs typeface="Microsoft Sans Serif"/>
            </a:endParaRPr>
          </a:p>
          <a:p>
            <a:pPr marL="135890" marR="5715" indent="16510">
              <a:lnSpc>
                <a:spcPct val="100000"/>
              </a:lnSpc>
            </a:pPr>
            <a:r>
              <a:rPr sz="1100" spc="-25" dirty="0">
                <a:latin typeface="Microsoft Sans Serif"/>
                <a:cs typeface="Microsoft Sans Serif"/>
              </a:rPr>
              <a:t>J&amp;K </a:t>
            </a:r>
            <a:r>
              <a:rPr sz="1100" spc="-10" dirty="0">
                <a:latin typeface="Microsoft Sans Serif"/>
                <a:cs typeface="Microsoft Sans Serif"/>
              </a:rPr>
              <a:t>their</a:t>
            </a:r>
            <a:endParaRPr sz="1100">
              <a:latin typeface="Microsoft Sans Serif"/>
              <a:cs typeface="Microsoft Sans Serif"/>
            </a:endParaRPr>
          </a:p>
        </p:txBody>
      </p:sp>
      <p:sp>
        <p:nvSpPr>
          <p:cNvPr id="35" name="object 35"/>
          <p:cNvSpPr txBox="1"/>
          <p:nvPr/>
        </p:nvSpPr>
        <p:spPr>
          <a:xfrm>
            <a:off x="293624" y="4782692"/>
            <a:ext cx="723265" cy="193675"/>
          </a:xfrm>
          <a:prstGeom prst="rect">
            <a:avLst/>
          </a:prstGeom>
        </p:spPr>
        <p:txBody>
          <a:bodyPr vert="horz" wrap="square" lIns="0" tIns="12700" rIns="0" bIns="0" rtlCol="0">
            <a:spAutoFit/>
          </a:bodyPr>
          <a:lstStyle/>
          <a:p>
            <a:pPr marL="12700">
              <a:lnSpc>
                <a:spcPct val="100000"/>
              </a:lnSpc>
              <a:spcBef>
                <a:spcPts val="100"/>
              </a:spcBef>
            </a:pPr>
            <a:r>
              <a:rPr sz="1100" dirty="0">
                <a:latin typeface="Microsoft Sans Serif"/>
                <a:cs typeface="Microsoft Sans Serif"/>
              </a:rPr>
              <a:t>SGST</a:t>
            </a:r>
            <a:r>
              <a:rPr sz="1100" spc="-20" dirty="0">
                <a:latin typeface="Microsoft Sans Serif"/>
                <a:cs typeface="Microsoft Sans Serif"/>
              </a:rPr>
              <a:t> </a:t>
            </a:r>
            <a:r>
              <a:rPr sz="1100" spc="-25" dirty="0">
                <a:latin typeface="Microsoft Sans Serif"/>
                <a:cs typeface="Microsoft Sans Serif"/>
              </a:rPr>
              <a:t>ACT</a:t>
            </a:r>
            <a:endParaRPr sz="1100">
              <a:latin typeface="Microsoft Sans Serif"/>
              <a:cs typeface="Microsoft Sans Serif"/>
            </a:endParaRPr>
          </a:p>
        </p:txBody>
      </p:sp>
      <p:sp>
        <p:nvSpPr>
          <p:cNvPr id="36" name="object 36"/>
          <p:cNvSpPr txBox="1"/>
          <p:nvPr/>
        </p:nvSpPr>
        <p:spPr>
          <a:xfrm>
            <a:off x="2303779" y="3231007"/>
            <a:ext cx="815340" cy="239395"/>
          </a:xfrm>
          <a:prstGeom prst="rect">
            <a:avLst/>
          </a:prstGeom>
        </p:spPr>
        <p:txBody>
          <a:bodyPr vert="horz" wrap="square" lIns="0" tIns="13335" rIns="0" bIns="0" rtlCol="0">
            <a:spAutoFit/>
          </a:bodyPr>
          <a:lstStyle/>
          <a:p>
            <a:pPr marL="12700">
              <a:lnSpc>
                <a:spcPct val="100000"/>
              </a:lnSpc>
              <a:spcBef>
                <a:spcPts val="105"/>
              </a:spcBef>
            </a:pPr>
            <a:r>
              <a:rPr sz="1400" b="1" dirty="0">
                <a:latin typeface="Arial"/>
                <a:cs typeface="Arial"/>
              </a:rPr>
              <a:t>May</a:t>
            </a:r>
            <a:r>
              <a:rPr sz="1400" b="1" spc="-30" dirty="0">
                <a:latin typeface="Arial"/>
                <a:cs typeface="Arial"/>
              </a:rPr>
              <a:t> </a:t>
            </a:r>
            <a:r>
              <a:rPr sz="1400" b="1" spc="-20" dirty="0">
                <a:latin typeface="Arial"/>
                <a:cs typeface="Arial"/>
              </a:rPr>
              <a:t>2017</a:t>
            </a:r>
            <a:endParaRPr sz="1400">
              <a:latin typeface="Arial"/>
              <a:cs typeface="Arial"/>
            </a:endParaRPr>
          </a:p>
        </p:txBody>
      </p:sp>
      <p:sp>
        <p:nvSpPr>
          <p:cNvPr id="37" name="object 37"/>
          <p:cNvSpPr txBox="1"/>
          <p:nvPr/>
        </p:nvSpPr>
        <p:spPr>
          <a:xfrm>
            <a:off x="2665222" y="5700776"/>
            <a:ext cx="1102995" cy="208279"/>
          </a:xfrm>
          <a:prstGeom prst="rect">
            <a:avLst/>
          </a:prstGeom>
        </p:spPr>
        <p:txBody>
          <a:bodyPr vert="horz" wrap="square" lIns="0" tIns="12700" rIns="0" bIns="0" rtlCol="0">
            <a:spAutoFit/>
          </a:bodyPr>
          <a:lstStyle/>
          <a:p>
            <a:pPr marL="12700">
              <a:lnSpc>
                <a:spcPct val="100000"/>
              </a:lnSpc>
              <a:spcBef>
                <a:spcPts val="100"/>
              </a:spcBef>
            </a:pPr>
            <a:r>
              <a:rPr sz="1200" b="1" dirty="0">
                <a:latin typeface="Arial"/>
                <a:cs typeface="Arial"/>
              </a:rPr>
              <a:t>GST</a:t>
            </a:r>
            <a:r>
              <a:rPr sz="1200" b="1" spc="-25" dirty="0">
                <a:latin typeface="Arial"/>
                <a:cs typeface="Arial"/>
              </a:rPr>
              <a:t> </a:t>
            </a:r>
            <a:r>
              <a:rPr sz="1200" b="1" spc="-10" dirty="0">
                <a:latin typeface="Arial"/>
                <a:cs typeface="Arial"/>
              </a:rPr>
              <a:t>Launched</a:t>
            </a:r>
            <a:endParaRPr sz="1200">
              <a:latin typeface="Arial"/>
              <a:cs typeface="Arial"/>
            </a:endParaRPr>
          </a:p>
        </p:txBody>
      </p:sp>
      <p:sp>
        <p:nvSpPr>
          <p:cNvPr id="38" name="object 38"/>
          <p:cNvSpPr txBox="1"/>
          <p:nvPr/>
        </p:nvSpPr>
        <p:spPr>
          <a:xfrm>
            <a:off x="2747517" y="5028946"/>
            <a:ext cx="1129665" cy="239395"/>
          </a:xfrm>
          <a:prstGeom prst="rect">
            <a:avLst/>
          </a:prstGeom>
        </p:spPr>
        <p:txBody>
          <a:bodyPr vert="horz" wrap="square" lIns="0" tIns="12700" rIns="0" bIns="0" rtlCol="0">
            <a:spAutoFit/>
          </a:bodyPr>
          <a:lstStyle/>
          <a:p>
            <a:pPr marL="38100">
              <a:lnSpc>
                <a:spcPct val="100000"/>
              </a:lnSpc>
              <a:spcBef>
                <a:spcPts val="100"/>
              </a:spcBef>
            </a:pPr>
            <a:r>
              <a:rPr sz="1400" b="1" dirty="0">
                <a:latin typeface="Arial"/>
                <a:cs typeface="Arial"/>
              </a:rPr>
              <a:t>1</a:t>
            </a:r>
            <a:r>
              <a:rPr sz="1350" b="1" baseline="24691" dirty="0">
                <a:latin typeface="Arial"/>
                <a:cs typeface="Arial"/>
              </a:rPr>
              <a:t>st</a:t>
            </a:r>
            <a:r>
              <a:rPr sz="1350" b="1" spc="225" baseline="24691" dirty="0">
                <a:latin typeface="Arial"/>
                <a:cs typeface="Arial"/>
              </a:rPr>
              <a:t> </a:t>
            </a:r>
            <a:r>
              <a:rPr sz="1400" b="1" dirty="0">
                <a:latin typeface="Arial"/>
                <a:cs typeface="Arial"/>
              </a:rPr>
              <a:t>July</a:t>
            </a:r>
            <a:r>
              <a:rPr sz="1400" b="1" spc="-30" dirty="0">
                <a:latin typeface="Arial"/>
                <a:cs typeface="Arial"/>
              </a:rPr>
              <a:t> </a:t>
            </a:r>
            <a:r>
              <a:rPr sz="1400" b="1" spc="-20" dirty="0">
                <a:latin typeface="Arial"/>
                <a:cs typeface="Arial"/>
              </a:rPr>
              <a:t>2017</a:t>
            </a:r>
            <a:endParaRPr sz="1400">
              <a:latin typeface="Arial"/>
              <a:cs typeface="Arial"/>
            </a:endParaRPr>
          </a:p>
        </p:txBody>
      </p:sp>
      <p:sp>
        <p:nvSpPr>
          <p:cNvPr id="39" name="object 39"/>
          <p:cNvSpPr txBox="1"/>
          <p:nvPr/>
        </p:nvSpPr>
        <p:spPr>
          <a:xfrm>
            <a:off x="8522843" y="3874389"/>
            <a:ext cx="1054100" cy="361315"/>
          </a:xfrm>
          <a:prstGeom prst="rect">
            <a:avLst/>
          </a:prstGeom>
        </p:spPr>
        <p:txBody>
          <a:bodyPr vert="horz" wrap="square" lIns="0" tIns="12700" rIns="0" bIns="0" rtlCol="0">
            <a:spAutoFit/>
          </a:bodyPr>
          <a:lstStyle/>
          <a:p>
            <a:pPr marL="38100" marR="30480">
              <a:lnSpc>
                <a:spcPct val="100000"/>
              </a:lnSpc>
              <a:spcBef>
                <a:spcPts val="100"/>
              </a:spcBef>
            </a:pPr>
            <a:r>
              <a:rPr sz="1100" dirty="0">
                <a:latin typeface="Microsoft Sans Serif"/>
                <a:cs typeface="Microsoft Sans Serif"/>
              </a:rPr>
              <a:t>1</a:t>
            </a:r>
            <a:r>
              <a:rPr sz="1050" baseline="27777" dirty="0">
                <a:latin typeface="Microsoft Sans Serif"/>
                <a:cs typeface="Microsoft Sans Serif"/>
              </a:rPr>
              <a:t>st</a:t>
            </a:r>
            <a:r>
              <a:rPr sz="1050" spc="150" baseline="27777" dirty="0">
                <a:latin typeface="Microsoft Sans Serif"/>
                <a:cs typeface="Microsoft Sans Serif"/>
              </a:rPr>
              <a:t> </a:t>
            </a:r>
            <a:r>
              <a:rPr sz="1100" dirty="0">
                <a:latin typeface="Microsoft Sans Serif"/>
                <a:cs typeface="Microsoft Sans Serif"/>
              </a:rPr>
              <a:t>GST</a:t>
            </a:r>
            <a:r>
              <a:rPr sz="1100" spc="-5" dirty="0">
                <a:latin typeface="Microsoft Sans Serif"/>
                <a:cs typeface="Microsoft Sans Serif"/>
              </a:rPr>
              <a:t> </a:t>
            </a:r>
            <a:r>
              <a:rPr sz="1100" spc="-10" dirty="0">
                <a:latin typeface="Microsoft Sans Serif"/>
                <a:cs typeface="Microsoft Sans Serif"/>
              </a:rPr>
              <a:t>Council Meeting</a:t>
            </a:r>
            <a:endParaRPr sz="1100">
              <a:latin typeface="Microsoft Sans Serif"/>
              <a:cs typeface="Microsoft Sans Serif"/>
            </a:endParaRPr>
          </a:p>
        </p:txBody>
      </p:sp>
      <p:sp>
        <p:nvSpPr>
          <p:cNvPr id="40" name="object 40"/>
          <p:cNvSpPr txBox="1"/>
          <p:nvPr/>
        </p:nvSpPr>
        <p:spPr>
          <a:xfrm>
            <a:off x="8613140" y="3283711"/>
            <a:ext cx="797560" cy="239395"/>
          </a:xfrm>
          <a:prstGeom prst="rect">
            <a:avLst/>
          </a:prstGeom>
        </p:spPr>
        <p:txBody>
          <a:bodyPr vert="horz" wrap="square" lIns="0" tIns="13335" rIns="0" bIns="0" rtlCol="0">
            <a:spAutoFit/>
          </a:bodyPr>
          <a:lstStyle/>
          <a:p>
            <a:pPr marL="12700">
              <a:lnSpc>
                <a:spcPct val="100000"/>
              </a:lnSpc>
              <a:spcBef>
                <a:spcPts val="105"/>
              </a:spcBef>
            </a:pPr>
            <a:r>
              <a:rPr sz="1400" b="1" dirty="0">
                <a:latin typeface="Arial"/>
                <a:cs typeface="Arial"/>
              </a:rPr>
              <a:t>Sep</a:t>
            </a:r>
            <a:r>
              <a:rPr sz="1400" b="1" spc="-15" dirty="0">
                <a:latin typeface="Arial"/>
                <a:cs typeface="Arial"/>
              </a:rPr>
              <a:t> </a:t>
            </a:r>
            <a:r>
              <a:rPr sz="1400" b="1" spc="-20" dirty="0">
                <a:latin typeface="Arial"/>
                <a:cs typeface="Arial"/>
              </a:rPr>
              <a:t>2016</a:t>
            </a:r>
            <a:endParaRPr sz="1400">
              <a:latin typeface="Arial"/>
              <a:cs typeface="Arial"/>
            </a:endParaRPr>
          </a:p>
        </p:txBody>
      </p:sp>
      <p:grpSp>
        <p:nvGrpSpPr>
          <p:cNvPr id="41" name="object 41"/>
          <p:cNvGrpSpPr/>
          <p:nvPr/>
        </p:nvGrpSpPr>
        <p:grpSpPr>
          <a:xfrm>
            <a:off x="1356994" y="3570223"/>
            <a:ext cx="7892415" cy="2006600"/>
            <a:chOff x="1356994" y="3570223"/>
            <a:chExt cx="7892415" cy="2006600"/>
          </a:xfrm>
        </p:grpSpPr>
        <p:pic>
          <p:nvPicPr>
            <p:cNvPr id="42" name="object 42"/>
            <p:cNvPicPr/>
            <p:nvPr/>
          </p:nvPicPr>
          <p:blipFill>
            <a:blip r:embed="rId11" cstate="print"/>
            <a:stretch>
              <a:fillRect/>
            </a:stretch>
          </p:blipFill>
          <p:spPr>
            <a:xfrm>
              <a:off x="1356994" y="4538090"/>
              <a:ext cx="211836" cy="193675"/>
            </a:xfrm>
            <a:prstGeom prst="rect">
              <a:avLst/>
            </a:prstGeom>
          </p:spPr>
        </p:pic>
        <p:pic>
          <p:nvPicPr>
            <p:cNvPr id="43" name="object 43"/>
            <p:cNvPicPr/>
            <p:nvPr/>
          </p:nvPicPr>
          <p:blipFill>
            <a:blip r:embed="rId12" cstate="print"/>
            <a:stretch>
              <a:fillRect/>
            </a:stretch>
          </p:blipFill>
          <p:spPr>
            <a:xfrm>
              <a:off x="2605150" y="3570223"/>
              <a:ext cx="211709" cy="193675"/>
            </a:xfrm>
            <a:prstGeom prst="rect">
              <a:avLst/>
            </a:prstGeom>
          </p:spPr>
        </p:pic>
        <p:pic>
          <p:nvPicPr>
            <p:cNvPr id="44" name="object 44"/>
            <p:cNvPicPr/>
            <p:nvPr/>
          </p:nvPicPr>
          <p:blipFill>
            <a:blip r:embed="rId13" cstate="print"/>
            <a:stretch>
              <a:fillRect/>
            </a:stretch>
          </p:blipFill>
          <p:spPr>
            <a:xfrm>
              <a:off x="5817488" y="5382894"/>
              <a:ext cx="212725" cy="193675"/>
            </a:xfrm>
            <a:prstGeom prst="rect">
              <a:avLst/>
            </a:prstGeom>
          </p:spPr>
        </p:pic>
        <p:pic>
          <p:nvPicPr>
            <p:cNvPr id="45" name="object 45"/>
            <p:cNvPicPr/>
            <p:nvPr/>
          </p:nvPicPr>
          <p:blipFill>
            <a:blip r:embed="rId14" cstate="print"/>
            <a:stretch>
              <a:fillRect/>
            </a:stretch>
          </p:blipFill>
          <p:spPr>
            <a:xfrm>
              <a:off x="7665211" y="5356809"/>
              <a:ext cx="1583944" cy="203250"/>
            </a:xfrm>
            <a:prstGeom prst="rect">
              <a:avLst/>
            </a:prstGeom>
          </p:spPr>
        </p:pic>
      </p:grpSp>
      <p:sp>
        <p:nvSpPr>
          <p:cNvPr id="46" name="object 46"/>
          <p:cNvSpPr txBox="1"/>
          <p:nvPr/>
        </p:nvSpPr>
        <p:spPr>
          <a:xfrm>
            <a:off x="1632839" y="4525136"/>
            <a:ext cx="1294765" cy="239395"/>
          </a:xfrm>
          <a:prstGeom prst="rect">
            <a:avLst/>
          </a:prstGeom>
        </p:spPr>
        <p:txBody>
          <a:bodyPr vert="horz" wrap="square" lIns="0" tIns="12700" rIns="0" bIns="0" rtlCol="0">
            <a:spAutoFit/>
          </a:bodyPr>
          <a:lstStyle/>
          <a:p>
            <a:pPr marL="38100">
              <a:lnSpc>
                <a:spcPct val="100000"/>
              </a:lnSpc>
              <a:spcBef>
                <a:spcPts val="100"/>
              </a:spcBef>
            </a:pPr>
            <a:r>
              <a:rPr sz="1400" b="1" dirty="0">
                <a:latin typeface="Arial"/>
                <a:cs typeface="Arial"/>
              </a:rPr>
              <a:t>30</a:t>
            </a:r>
            <a:r>
              <a:rPr sz="1350" b="1" baseline="24691" dirty="0">
                <a:latin typeface="Arial"/>
                <a:cs typeface="Arial"/>
              </a:rPr>
              <a:t>th</a:t>
            </a:r>
            <a:r>
              <a:rPr sz="1350" b="1" spc="179" baseline="24691" dirty="0">
                <a:latin typeface="Arial"/>
                <a:cs typeface="Arial"/>
              </a:rPr>
              <a:t> </a:t>
            </a:r>
            <a:r>
              <a:rPr sz="1400" b="1" dirty="0">
                <a:latin typeface="Arial"/>
                <a:cs typeface="Arial"/>
              </a:rPr>
              <a:t>June</a:t>
            </a:r>
            <a:r>
              <a:rPr sz="1400" b="1" spc="-10" dirty="0">
                <a:latin typeface="Arial"/>
                <a:cs typeface="Arial"/>
              </a:rPr>
              <a:t> </a:t>
            </a:r>
            <a:r>
              <a:rPr sz="1400" b="1" spc="-20" dirty="0">
                <a:latin typeface="Arial"/>
                <a:cs typeface="Arial"/>
              </a:rPr>
              <a:t>2017</a:t>
            </a:r>
            <a:endParaRPr sz="1400">
              <a:latin typeface="Arial"/>
              <a:cs typeface="Arial"/>
            </a:endParaRPr>
          </a:p>
        </p:txBody>
      </p:sp>
      <p:sp>
        <p:nvSpPr>
          <p:cNvPr id="47" name="object 47"/>
          <p:cNvSpPr txBox="1"/>
          <p:nvPr/>
        </p:nvSpPr>
        <p:spPr>
          <a:xfrm>
            <a:off x="2239517" y="3851528"/>
            <a:ext cx="927100" cy="528955"/>
          </a:xfrm>
          <a:prstGeom prst="rect">
            <a:avLst/>
          </a:prstGeom>
        </p:spPr>
        <p:txBody>
          <a:bodyPr vert="horz" wrap="square" lIns="0" tIns="12700" rIns="0" bIns="0" rtlCol="0">
            <a:spAutoFit/>
          </a:bodyPr>
          <a:lstStyle/>
          <a:p>
            <a:pPr marL="12700" marR="5080">
              <a:lnSpc>
                <a:spcPct val="100000"/>
              </a:lnSpc>
              <a:spcBef>
                <a:spcPts val="100"/>
              </a:spcBef>
              <a:tabLst>
                <a:tab pos="448309" algn="l"/>
              </a:tabLst>
            </a:pPr>
            <a:r>
              <a:rPr sz="1100" spc="-25" dirty="0">
                <a:latin typeface="Microsoft Sans Serif"/>
                <a:cs typeface="Microsoft Sans Serif"/>
              </a:rPr>
              <a:t>GST</a:t>
            </a:r>
            <a:r>
              <a:rPr sz="1100" dirty="0">
                <a:latin typeface="Microsoft Sans Serif"/>
                <a:cs typeface="Microsoft Sans Serif"/>
              </a:rPr>
              <a:t>	</a:t>
            </a:r>
            <a:r>
              <a:rPr sz="1100" spc="-10" dirty="0">
                <a:latin typeface="Microsoft Sans Serif"/>
                <a:cs typeface="Microsoft Sans Serif"/>
              </a:rPr>
              <a:t>Council recommends </a:t>
            </a:r>
            <a:r>
              <a:rPr sz="1100" dirty="0">
                <a:latin typeface="Microsoft Sans Serif"/>
                <a:cs typeface="Microsoft Sans Serif"/>
              </a:rPr>
              <a:t>all</a:t>
            </a:r>
            <a:r>
              <a:rPr sz="1100" spc="10" dirty="0">
                <a:latin typeface="Microsoft Sans Serif"/>
                <a:cs typeface="Microsoft Sans Serif"/>
              </a:rPr>
              <a:t> </a:t>
            </a:r>
            <a:r>
              <a:rPr sz="1100" dirty="0">
                <a:latin typeface="Microsoft Sans Serif"/>
                <a:cs typeface="Microsoft Sans Serif"/>
              </a:rPr>
              <a:t>the</a:t>
            </a:r>
            <a:r>
              <a:rPr sz="1100" spc="-25" dirty="0">
                <a:latin typeface="Microsoft Sans Serif"/>
                <a:cs typeface="Microsoft Sans Serif"/>
              </a:rPr>
              <a:t> </a:t>
            </a:r>
            <a:r>
              <a:rPr sz="1100" spc="-10" dirty="0">
                <a:latin typeface="Microsoft Sans Serif"/>
                <a:cs typeface="Microsoft Sans Serif"/>
              </a:rPr>
              <a:t>rules</a:t>
            </a:r>
            <a:endParaRPr sz="1100">
              <a:latin typeface="Microsoft Sans Serif"/>
              <a:cs typeface="Microsoft Sans Serif"/>
            </a:endParaRPr>
          </a:p>
        </p:txBody>
      </p:sp>
      <p:sp>
        <p:nvSpPr>
          <p:cNvPr id="48" name="object 48"/>
          <p:cNvSpPr txBox="1"/>
          <p:nvPr/>
        </p:nvSpPr>
        <p:spPr>
          <a:xfrm>
            <a:off x="4338573" y="5714491"/>
            <a:ext cx="3159125" cy="391160"/>
          </a:xfrm>
          <a:prstGeom prst="rect">
            <a:avLst/>
          </a:prstGeom>
        </p:spPr>
        <p:txBody>
          <a:bodyPr vert="horz" wrap="square" lIns="0" tIns="12700" rIns="0" bIns="0" rtlCol="0">
            <a:spAutoFit/>
          </a:bodyPr>
          <a:lstStyle/>
          <a:p>
            <a:pPr marL="12700" marR="5080">
              <a:lnSpc>
                <a:spcPct val="100000"/>
              </a:lnSpc>
              <a:spcBef>
                <a:spcPts val="100"/>
              </a:spcBef>
              <a:tabLst>
                <a:tab pos="455930" algn="l"/>
                <a:tab pos="796290" algn="l"/>
                <a:tab pos="1358265" algn="l"/>
                <a:tab pos="1640205" algn="l"/>
                <a:tab pos="2047239" algn="l"/>
                <a:tab pos="2499995" algn="l"/>
                <a:tab pos="2868930" algn="l"/>
              </a:tabLst>
            </a:pPr>
            <a:r>
              <a:rPr sz="1200" spc="-20" dirty="0">
                <a:latin typeface="Calibri"/>
                <a:cs typeface="Calibri"/>
              </a:rPr>
              <a:t>SGST</a:t>
            </a:r>
            <a:r>
              <a:rPr sz="1200" dirty="0">
                <a:latin typeface="Calibri"/>
                <a:cs typeface="Calibri"/>
              </a:rPr>
              <a:t>	</a:t>
            </a:r>
            <a:r>
              <a:rPr sz="1200" spc="-25" dirty="0">
                <a:latin typeface="Calibri"/>
                <a:cs typeface="Calibri"/>
              </a:rPr>
              <a:t>Act</a:t>
            </a:r>
            <a:r>
              <a:rPr sz="1200" dirty="0">
                <a:latin typeface="Calibri"/>
                <a:cs typeface="Calibri"/>
              </a:rPr>
              <a:t>	</a:t>
            </a:r>
            <a:r>
              <a:rPr sz="1200" spc="-10" dirty="0">
                <a:latin typeface="Calibri"/>
                <a:cs typeface="Calibri"/>
              </a:rPr>
              <a:t>passed</a:t>
            </a:r>
            <a:r>
              <a:rPr sz="1200" dirty="0">
                <a:latin typeface="Calibri"/>
                <a:cs typeface="Calibri"/>
              </a:rPr>
              <a:t>	</a:t>
            </a:r>
            <a:r>
              <a:rPr sz="1200" spc="-25" dirty="0">
                <a:latin typeface="Calibri"/>
                <a:cs typeface="Calibri"/>
              </a:rPr>
              <a:t>by</a:t>
            </a:r>
            <a:r>
              <a:rPr sz="1200" dirty="0">
                <a:latin typeface="Calibri"/>
                <a:cs typeface="Calibri"/>
              </a:rPr>
              <a:t>	</a:t>
            </a:r>
            <a:r>
              <a:rPr sz="1200" spc="-20" dirty="0">
                <a:latin typeface="Calibri"/>
                <a:cs typeface="Calibri"/>
              </a:rPr>
              <a:t>J&amp;K;</a:t>
            </a:r>
            <a:r>
              <a:rPr sz="1200" dirty="0">
                <a:latin typeface="Calibri"/>
                <a:cs typeface="Calibri"/>
              </a:rPr>
              <a:t>	</a:t>
            </a:r>
            <a:r>
              <a:rPr sz="1200" spc="-20" dirty="0">
                <a:latin typeface="Calibri"/>
                <a:cs typeface="Calibri"/>
              </a:rPr>
              <a:t>CGST</a:t>
            </a:r>
            <a:r>
              <a:rPr sz="1200" dirty="0">
                <a:latin typeface="Calibri"/>
                <a:cs typeface="Calibri"/>
              </a:rPr>
              <a:t>	</a:t>
            </a:r>
            <a:r>
              <a:rPr sz="1200" spc="-25" dirty="0">
                <a:latin typeface="Calibri"/>
                <a:cs typeface="Calibri"/>
              </a:rPr>
              <a:t>and</a:t>
            </a:r>
            <a:r>
              <a:rPr sz="1200" dirty="0">
                <a:latin typeface="Calibri"/>
                <a:cs typeface="Calibri"/>
              </a:rPr>
              <a:t>	</a:t>
            </a:r>
            <a:r>
              <a:rPr sz="1200" spc="-20" dirty="0">
                <a:latin typeface="Calibri"/>
                <a:cs typeface="Calibri"/>
              </a:rPr>
              <a:t>IGST </a:t>
            </a:r>
            <a:r>
              <a:rPr sz="1200" dirty="0">
                <a:latin typeface="Calibri"/>
                <a:cs typeface="Calibri"/>
              </a:rPr>
              <a:t>Ordinances</a:t>
            </a:r>
            <a:r>
              <a:rPr sz="1200" spc="-40" dirty="0">
                <a:latin typeface="Calibri"/>
                <a:cs typeface="Calibri"/>
              </a:rPr>
              <a:t> </a:t>
            </a:r>
            <a:r>
              <a:rPr sz="1200" spc="-10" dirty="0">
                <a:latin typeface="Calibri"/>
                <a:cs typeface="Calibri"/>
              </a:rPr>
              <a:t>promulgated</a:t>
            </a:r>
            <a:r>
              <a:rPr sz="1200" spc="-55" dirty="0">
                <a:latin typeface="Calibri"/>
                <a:cs typeface="Calibri"/>
              </a:rPr>
              <a:t> </a:t>
            </a:r>
            <a:r>
              <a:rPr sz="1200" dirty="0">
                <a:latin typeface="Calibri"/>
                <a:cs typeface="Calibri"/>
              </a:rPr>
              <a:t>to</a:t>
            </a:r>
            <a:r>
              <a:rPr sz="1200" spc="-20" dirty="0">
                <a:latin typeface="Calibri"/>
                <a:cs typeface="Calibri"/>
              </a:rPr>
              <a:t> </a:t>
            </a:r>
            <a:r>
              <a:rPr sz="1200" dirty="0">
                <a:latin typeface="Calibri"/>
                <a:cs typeface="Calibri"/>
              </a:rPr>
              <a:t>extend</a:t>
            </a:r>
            <a:r>
              <a:rPr sz="1200" spc="-35" dirty="0">
                <a:latin typeface="Calibri"/>
                <a:cs typeface="Calibri"/>
              </a:rPr>
              <a:t> </a:t>
            </a:r>
            <a:r>
              <a:rPr sz="1200" dirty="0">
                <a:latin typeface="Calibri"/>
                <a:cs typeface="Calibri"/>
              </a:rPr>
              <a:t>GST</a:t>
            </a:r>
            <a:r>
              <a:rPr sz="1200" spc="-20" dirty="0">
                <a:latin typeface="Calibri"/>
                <a:cs typeface="Calibri"/>
              </a:rPr>
              <a:t> </a:t>
            </a:r>
            <a:r>
              <a:rPr sz="1200" dirty="0">
                <a:latin typeface="Calibri"/>
                <a:cs typeface="Calibri"/>
              </a:rPr>
              <a:t>to</a:t>
            </a:r>
            <a:r>
              <a:rPr sz="1200" spc="-25" dirty="0">
                <a:latin typeface="Calibri"/>
                <a:cs typeface="Calibri"/>
              </a:rPr>
              <a:t> J&amp;K</a:t>
            </a:r>
            <a:endParaRPr sz="1200">
              <a:latin typeface="Calibri"/>
              <a:cs typeface="Calibri"/>
            </a:endParaRPr>
          </a:p>
        </p:txBody>
      </p:sp>
      <p:sp>
        <p:nvSpPr>
          <p:cNvPr id="49" name="object 49"/>
          <p:cNvSpPr txBox="1"/>
          <p:nvPr/>
        </p:nvSpPr>
        <p:spPr>
          <a:xfrm>
            <a:off x="5430646" y="5053965"/>
            <a:ext cx="995044" cy="239395"/>
          </a:xfrm>
          <a:prstGeom prst="rect">
            <a:avLst/>
          </a:prstGeom>
        </p:spPr>
        <p:txBody>
          <a:bodyPr vert="horz" wrap="square" lIns="0" tIns="12700" rIns="0" bIns="0" rtlCol="0">
            <a:spAutoFit/>
          </a:bodyPr>
          <a:lstStyle/>
          <a:p>
            <a:pPr marL="38100">
              <a:lnSpc>
                <a:spcPct val="100000"/>
              </a:lnSpc>
              <a:spcBef>
                <a:spcPts val="100"/>
              </a:spcBef>
            </a:pPr>
            <a:r>
              <a:rPr sz="1400" b="1" dirty="0">
                <a:latin typeface="Calibri"/>
                <a:cs typeface="Calibri"/>
              </a:rPr>
              <a:t>8</a:t>
            </a:r>
            <a:r>
              <a:rPr sz="1350" b="1" baseline="24691" dirty="0">
                <a:latin typeface="Calibri"/>
                <a:cs typeface="Calibri"/>
              </a:rPr>
              <a:t>th</a:t>
            </a:r>
            <a:r>
              <a:rPr sz="1350" b="1" spc="150" baseline="24691" dirty="0">
                <a:latin typeface="Calibri"/>
                <a:cs typeface="Calibri"/>
              </a:rPr>
              <a:t> </a:t>
            </a:r>
            <a:r>
              <a:rPr sz="1400" b="1" dirty="0">
                <a:latin typeface="Calibri"/>
                <a:cs typeface="Calibri"/>
              </a:rPr>
              <a:t>July</a:t>
            </a:r>
            <a:r>
              <a:rPr sz="1400" b="1" spc="-10" dirty="0">
                <a:latin typeface="Calibri"/>
                <a:cs typeface="Calibri"/>
              </a:rPr>
              <a:t> </a:t>
            </a:r>
            <a:r>
              <a:rPr sz="1400" b="1" spc="-20" dirty="0">
                <a:latin typeface="Calibri"/>
                <a:cs typeface="Calibri"/>
              </a:rPr>
              <a:t>2017</a:t>
            </a:r>
            <a:endParaRPr sz="1400">
              <a:latin typeface="Calibri"/>
              <a:cs typeface="Calibri"/>
            </a:endParaRPr>
          </a:p>
        </p:txBody>
      </p:sp>
      <p:sp>
        <p:nvSpPr>
          <p:cNvPr id="50" name="object 50"/>
          <p:cNvSpPr txBox="1"/>
          <p:nvPr/>
        </p:nvSpPr>
        <p:spPr>
          <a:xfrm>
            <a:off x="4299584" y="6173063"/>
            <a:ext cx="3236595" cy="277495"/>
          </a:xfrm>
          <a:prstGeom prst="rect">
            <a:avLst/>
          </a:prstGeom>
          <a:solidFill>
            <a:srgbClr val="4471C4"/>
          </a:solidFill>
        </p:spPr>
        <p:txBody>
          <a:bodyPr vert="horz" wrap="square" lIns="0" tIns="37465" rIns="0" bIns="0" rtlCol="0">
            <a:spAutoFit/>
          </a:bodyPr>
          <a:lstStyle/>
          <a:p>
            <a:pPr marL="536575">
              <a:lnSpc>
                <a:spcPct val="100000"/>
              </a:lnSpc>
              <a:spcBef>
                <a:spcPts val="295"/>
              </a:spcBef>
            </a:pPr>
            <a:r>
              <a:rPr sz="1200" spc="-10" dirty="0">
                <a:solidFill>
                  <a:srgbClr val="FFFFFF"/>
                </a:solidFill>
                <a:latin typeface="Calibri"/>
                <a:cs typeface="Calibri"/>
              </a:rPr>
              <a:t>True</a:t>
            </a:r>
            <a:r>
              <a:rPr sz="1200" spc="-35" dirty="0">
                <a:solidFill>
                  <a:srgbClr val="FFFFFF"/>
                </a:solidFill>
                <a:latin typeface="Calibri"/>
                <a:cs typeface="Calibri"/>
              </a:rPr>
              <a:t> </a:t>
            </a:r>
            <a:r>
              <a:rPr sz="1200" dirty="0">
                <a:solidFill>
                  <a:srgbClr val="FFFFFF"/>
                </a:solidFill>
                <a:latin typeface="Calibri"/>
                <a:cs typeface="Calibri"/>
              </a:rPr>
              <a:t>Economic</a:t>
            </a:r>
            <a:r>
              <a:rPr sz="1200" spc="-10" dirty="0">
                <a:solidFill>
                  <a:srgbClr val="FFFFFF"/>
                </a:solidFill>
                <a:latin typeface="Calibri"/>
                <a:cs typeface="Calibri"/>
              </a:rPr>
              <a:t> Integration</a:t>
            </a:r>
            <a:r>
              <a:rPr sz="1200" spc="-45" dirty="0">
                <a:solidFill>
                  <a:srgbClr val="FFFFFF"/>
                </a:solidFill>
                <a:latin typeface="Calibri"/>
                <a:cs typeface="Calibri"/>
              </a:rPr>
              <a:t> </a:t>
            </a:r>
            <a:r>
              <a:rPr sz="1200" dirty="0">
                <a:solidFill>
                  <a:srgbClr val="FFFFFF"/>
                </a:solidFill>
                <a:latin typeface="Calibri"/>
                <a:cs typeface="Calibri"/>
              </a:rPr>
              <a:t>of</a:t>
            </a:r>
            <a:r>
              <a:rPr sz="1200" spc="254" dirty="0">
                <a:solidFill>
                  <a:srgbClr val="FFFFFF"/>
                </a:solidFill>
                <a:latin typeface="Calibri"/>
                <a:cs typeface="Calibri"/>
              </a:rPr>
              <a:t> </a:t>
            </a:r>
            <a:r>
              <a:rPr sz="1200" spc="-20" dirty="0">
                <a:solidFill>
                  <a:srgbClr val="FFFFFF"/>
                </a:solidFill>
                <a:latin typeface="Calibri"/>
                <a:cs typeface="Calibri"/>
              </a:rPr>
              <a:t>India</a:t>
            </a:r>
            <a:endParaRPr sz="1200">
              <a:latin typeface="Calibri"/>
              <a:cs typeface="Calibri"/>
            </a:endParaRPr>
          </a:p>
        </p:txBody>
      </p:sp>
      <p:sp>
        <p:nvSpPr>
          <p:cNvPr id="51" name="object 51"/>
          <p:cNvSpPr txBox="1"/>
          <p:nvPr/>
        </p:nvSpPr>
        <p:spPr>
          <a:xfrm>
            <a:off x="7724013" y="5071109"/>
            <a:ext cx="1515745" cy="239395"/>
          </a:xfrm>
          <a:prstGeom prst="rect">
            <a:avLst/>
          </a:prstGeom>
        </p:spPr>
        <p:txBody>
          <a:bodyPr vert="horz" wrap="square" lIns="0" tIns="12700" rIns="0" bIns="0" rtlCol="0">
            <a:spAutoFit/>
          </a:bodyPr>
          <a:lstStyle/>
          <a:p>
            <a:pPr marL="12700">
              <a:lnSpc>
                <a:spcPct val="100000"/>
              </a:lnSpc>
              <a:spcBef>
                <a:spcPts val="100"/>
              </a:spcBef>
            </a:pPr>
            <a:r>
              <a:rPr sz="1400" b="1" dirty="0">
                <a:latin typeface="Calibri"/>
                <a:cs typeface="Calibri"/>
              </a:rPr>
              <a:t>Journey</a:t>
            </a:r>
            <a:r>
              <a:rPr sz="1400" b="1" spc="-65" dirty="0">
                <a:latin typeface="Calibri"/>
                <a:cs typeface="Calibri"/>
              </a:rPr>
              <a:t> </a:t>
            </a:r>
            <a:r>
              <a:rPr sz="1400" b="1" spc="-10" dirty="0">
                <a:latin typeface="Calibri"/>
                <a:cs typeface="Calibri"/>
              </a:rPr>
              <a:t>Continues…</a:t>
            </a:r>
            <a:endParaRPr sz="1400">
              <a:latin typeface="Calibri"/>
              <a:cs typeface="Calibri"/>
            </a:endParaRPr>
          </a:p>
        </p:txBody>
      </p:sp>
      <p:sp>
        <p:nvSpPr>
          <p:cNvPr id="52" name="object 52"/>
          <p:cNvSpPr txBox="1"/>
          <p:nvPr/>
        </p:nvSpPr>
        <p:spPr>
          <a:xfrm>
            <a:off x="9419335" y="4961890"/>
            <a:ext cx="2294890" cy="574040"/>
          </a:xfrm>
          <a:prstGeom prst="rect">
            <a:avLst/>
          </a:prstGeom>
        </p:spPr>
        <p:txBody>
          <a:bodyPr vert="horz" wrap="square" lIns="0" tIns="12700" rIns="0" bIns="0" rtlCol="0">
            <a:spAutoFit/>
          </a:bodyPr>
          <a:lstStyle/>
          <a:p>
            <a:pPr marL="299085" indent="-286385">
              <a:lnSpc>
                <a:spcPct val="100000"/>
              </a:lnSpc>
              <a:spcBef>
                <a:spcPts val="100"/>
              </a:spcBef>
              <a:buChar char="•"/>
              <a:tabLst>
                <a:tab pos="299085" algn="l"/>
              </a:tabLst>
            </a:pPr>
            <a:r>
              <a:rPr sz="1200" dirty="0">
                <a:solidFill>
                  <a:srgbClr val="FF0000"/>
                </a:solidFill>
                <a:latin typeface="Microsoft Sans Serif"/>
                <a:cs typeface="Microsoft Sans Serif"/>
              </a:rPr>
              <a:t>Notifying</a:t>
            </a:r>
            <a:r>
              <a:rPr sz="1200" spc="-25" dirty="0">
                <a:solidFill>
                  <a:srgbClr val="FF0000"/>
                </a:solidFill>
                <a:latin typeface="Microsoft Sans Serif"/>
                <a:cs typeface="Microsoft Sans Serif"/>
              </a:rPr>
              <a:t> </a:t>
            </a:r>
            <a:r>
              <a:rPr sz="1200" dirty="0">
                <a:solidFill>
                  <a:srgbClr val="FF0000"/>
                </a:solidFill>
                <a:latin typeface="Microsoft Sans Serif"/>
                <a:cs typeface="Microsoft Sans Serif"/>
              </a:rPr>
              <a:t>and</a:t>
            </a:r>
            <a:r>
              <a:rPr sz="1200" spc="-40" dirty="0">
                <a:solidFill>
                  <a:srgbClr val="FF0000"/>
                </a:solidFill>
                <a:latin typeface="Microsoft Sans Serif"/>
                <a:cs typeface="Microsoft Sans Serif"/>
              </a:rPr>
              <a:t> </a:t>
            </a:r>
            <a:r>
              <a:rPr sz="1200" dirty="0">
                <a:solidFill>
                  <a:srgbClr val="FF0000"/>
                </a:solidFill>
                <a:latin typeface="Microsoft Sans Serif"/>
                <a:cs typeface="Microsoft Sans Serif"/>
              </a:rPr>
              <a:t>amending</a:t>
            </a:r>
            <a:r>
              <a:rPr sz="1200" spc="-50" dirty="0">
                <a:solidFill>
                  <a:srgbClr val="FF0000"/>
                </a:solidFill>
                <a:latin typeface="Microsoft Sans Serif"/>
                <a:cs typeface="Microsoft Sans Serif"/>
              </a:rPr>
              <a:t> </a:t>
            </a:r>
            <a:r>
              <a:rPr sz="1200" spc="-10" dirty="0">
                <a:solidFill>
                  <a:srgbClr val="FF0000"/>
                </a:solidFill>
                <a:latin typeface="Microsoft Sans Serif"/>
                <a:cs typeface="Microsoft Sans Serif"/>
              </a:rPr>
              <a:t>rules</a:t>
            </a:r>
            <a:endParaRPr sz="1200">
              <a:latin typeface="Microsoft Sans Serif"/>
              <a:cs typeface="Microsoft Sans Serif"/>
            </a:endParaRPr>
          </a:p>
          <a:p>
            <a:pPr marL="299085" indent="-286385">
              <a:lnSpc>
                <a:spcPct val="100000"/>
              </a:lnSpc>
              <a:buChar char="•"/>
              <a:tabLst>
                <a:tab pos="299085" algn="l"/>
              </a:tabLst>
            </a:pPr>
            <a:r>
              <a:rPr sz="1200" dirty="0">
                <a:solidFill>
                  <a:srgbClr val="FF0000"/>
                </a:solidFill>
                <a:latin typeface="Microsoft Sans Serif"/>
                <a:cs typeface="Microsoft Sans Serif"/>
              </a:rPr>
              <a:t>Dealing</a:t>
            </a:r>
            <a:r>
              <a:rPr sz="1200" spc="-45" dirty="0">
                <a:solidFill>
                  <a:srgbClr val="FF0000"/>
                </a:solidFill>
                <a:latin typeface="Microsoft Sans Serif"/>
                <a:cs typeface="Microsoft Sans Serif"/>
              </a:rPr>
              <a:t> </a:t>
            </a:r>
            <a:r>
              <a:rPr sz="1200" dirty="0">
                <a:solidFill>
                  <a:srgbClr val="FF0000"/>
                </a:solidFill>
                <a:latin typeface="Microsoft Sans Serif"/>
                <a:cs typeface="Microsoft Sans Serif"/>
              </a:rPr>
              <a:t>with</a:t>
            </a:r>
            <a:r>
              <a:rPr sz="1200" spc="-10" dirty="0">
                <a:solidFill>
                  <a:srgbClr val="FF0000"/>
                </a:solidFill>
                <a:latin typeface="Microsoft Sans Serif"/>
                <a:cs typeface="Microsoft Sans Serif"/>
              </a:rPr>
              <a:t> </a:t>
            </a:r>
            <a:r>
              <a:rPr sz="1200" dirty="0">
                <a:solidFill>
                  <a:srgbClr val="FF0000"/>
                </a:solidFill>
                <a:latin typeface="Microsoft Sans Serif"/>
                <a:cs typeface="Microsoft Sans Serif"/>
              </a:rPr>
              <a:t>IT</a:t>
            </a:r>
            <a:r>
              <a:rPr sz="1200" spc="-25" dirty="0">
                <a:solidFill>
                  <a:srgbClr val="FF0000"/>
                </a:solidFill>
                <a:latin typeface="Microsoft Sans Serif"/>
                <a:cs typeface="Microsoft Sans Serif"/>
              </a:rPr>
              <a:t> </a:t>
            </a:r>
            <a:r>
              <a:rPr sz="1200" dirty="0">
                <a:solidFill>
                  <a:srgbClr val="FF0000"/>
                </a:solidFill>
                <a:latin typeface="Microsoft Sans Serif"/>
                <a:cs typeface="Microsoft Sans Serif"/>
              </a:rPr>
              <a:t>related</a:t>
            </a:r>
            <a:r>
              <a:rPr sz="1200" spc="-45" dirty="0">
                <a:solidFill>
                  <a:srgbClr val="FF0000"/>
                </a:solidFill>
                <a:latin typeface="Microsoft Sans Serif"/>
                <a:cs typeface="Microsoft Sans Serif"/>
              </a:rPr>
              <a:t> </a:t>
            </a:r>
            <a:r>
              <a:rPr sz="1200" spc="-10" dirty="0">
                <a:solidFill>
                  <a:srgbClr val="FF0000"/>
                </a:solidFill>
                <a:latin typeface="Microsoft Sans Serif"/>
                <a:cs typeface="Microsoft Sans Serif"/>
              </a:rPr>
              <a:t>issues</a:t>
            </a:r>
            <a:endParaRPr sz="1200">
              <a:latin typeface="Microsoft Sans Serif"/>
              <a:cs typeface="Microsoft Sans Serif"/>
            </a:endParaRPr>
          </a:p>
          <a:p>
            <a:pPr marL="299085" indent="-286385">
              <a:lnSpc>
                <a:spcPct val="100000"/>
              </a:lnSpc>
              <a:buChar char="•"/>
              <a:tabLst>
                <a:tab pos="299085" algn="l"/>
              </a:tabLst>
            </a:pPr>
            <a:r>
              <a:rPr sz="1200" dirty="0">
                <a:solidFill>
                  <a:srgbClr val="FF0000"/>
                </a:solidFill>
                <a:latin typeface="Microsoft Sans Serif"/>
                <a:cs typeface="Microsoft Sans Serif"/>
              </a:rPr>
              <a:t>Revision</a:t>
            </a:r>
            <a:r>
              <a:rPr sz="1200" spc="-35" dirty="0">
                <a:solidFill>
                  <a:srgbClr val="FF0000"/>
                </a:solidFill>
                <a:latin typeface="Microsoft Sans Serif"/>
                <a:cs typeface="Microsoft Sans Serif"/>
              </a:rPr>
              <a:t> </a:t>
            </a:r>
            <a:r>
              <a:rPr sz="1200" dirty="0">
                <a:solidFill>
                  <a:srgbClr val="FF0000"/>
                </a:solidFill>
                <a:latin typeface="Microsoft Sans Serif"/>
                <a:cs typeface="Microsoft Sans Serif"/>
              </a:rPr>
              <a:t>of</a:t>
            </a:r>
            <a:r>
              <a:rPr sz="1200" spc="-10" dirty="0">
                <a:solidFill>
                  <a:srgbClr val="FF0000"/>
                </a:solidFill>
                <a:latin typeface="Microsoft Sans Serif"/>
                <a:cs typeface="Microsoft Sans Serif"/>
              </a:rPr>
              <a:t> </a:t>
            </a:r>
            <a:r>
              <a:rPr sz="1200" spc="-20" dirty="0">
                <a:solidFill>
                  <a:srgbClr val="FF0000"/>
                </a:solidFill>
                <a:latin typeface="Microsoft Sans Serif"/>
                <a:cs typeface="Microsoft Sans Serif"/>
              </a:rPr>
              <a:t>Rates</a:t>
            </a:r>
            <a:endParaRPr sz="1200">
              <a:latin typeface="Microsoft Sans Serif"/>
              <a:cs typeface="Microsoft Sans Serif"/>
            </a:endParaRPr>
          </a:p>
        </p:txBody>
      </p:sp>
      <p:sp>
        <p:nvSpPr>
          <p:cNvPr id="53" name="object 53"/>
          <p:cNvSpPr txBox="1"/>
          <p:nvPr/>
        </p:nvSpPr>
        <p:spPr>
          <a:xfrm>
            <a:off x="9419335" y="5510580"/>
            <a:ext cx="2346960" cy="391160"/>
          </a:xfrm>
          <a:prstGeom prst="rect">
            <a:avLst/>
          </a:prstGeom>
        </p:spPr>
        <p:txBody>
          <a:bodyPr vert="horz" wrap="square" lIns="0" tIns="12700" rIns="0" bIns="0" rtlCol="0">
            <a:spAutoFit/>
          </a:bodyPr>
          <a:lstStyle/>
          <a:p>
            <a:pPr marL="299085" marR="5080" indent="-287020">
              <a:lnSpc>
                <a:spcPct val="100000"/>
              </a:lnSpc>
              <a:spcBef>
                <a:spcPts val="100"/>
              </a:spcBef>
              <a:buChar char="•"/>
              <a:tabLst>
                <a:tab pos="299085" algn="l"/>
              </a:tabLst>
            </a:pPr>
            <a:r>
              <a:rPr sz="1200" spc="-10" dirty="0">
                <a:solidFill>
                  <a:srgbClr val="FF0000"/>
                </a:solidFill>
                <a:latin typeface="Microsoft Sans Serif"/>
                <a:cs typeface="Microsoft Sans Serif"/>
              </a:rPr>
              <a:t>Clarification</a:t>
            </a:r>
            <a:r>
              <a:rPr sz="1200" spc="25" dirty="0">
                <a:solidFill>
                  <a:srgbClr val="FF0000"/>
                </a:solidFill>
                <a:latin typeface="Microsoft Sans Serif"/>
                <a:cs typeface="Microsoft Sans Serif"/>
              </a:rPr>
              <a:t> </a:t>
            </a:r>
            <a:r>
              <a:rPr sz="1200" spc="-25" dirty="0">
                <a:solidFill>
                  <a:srgbClr val="FF0000"/>
                </a:solidFill>
                <a:latin typeface="Microsoft Sans Serif"/>
                <a:cs typeface="Microsoft Sans Serif"/>
              </a:rPr>
              <a:t>and </a:t>
            </a:r>
            <a:r>
              <a:rPr sz="1200" spc="-10" dirty="0">
                <a:solidFill>
                  <a:srgbClr val="FF0000"/>
                </a:solidFill>
                <a:latin typeface="Microsoft Sans Serif"/>
                <a:cs typeface="Microsoft Sans Serif"/>
              </a:rPr>
              <a:t>communication</a:t>
            </a:r>
            <a:r>
              <a:rPr sz="1200" spc="-30" dirty="0">
                <a:solidFill>
                  <a:srgbClr val="FF0000"/>
                </a:solidFill>
                <a:latin typeface="Microsoft Sans Serif"/>
                <a:cs typeface="Microsoft Sans Serif"/>
              </a:rPr>
              <a:t> </a:t>
            </a:r>
            <a:r>
              <a:rPr sz="1200" dirty="0">
                <a:solidFill>
                  <a:srgbClr val="FF0000"/>
                </a:solidFill>
                <a:latin typeface="Microsoft Sans Serif"/>
                <a:cs typeface="Microsoft Sans Serif"/>
              </a:rPr>
              <a:t>with</a:t>
            </a:r>
            <a:r>
              <a:rPr sz="1200" spc="20" dirty="0">
                <a:solidFill>
                  <a:srgbClr val="FF0000"/>
                </a:solidFill>
                <a:latin typeface="Microsoft Sans Serif"/>
                <a:cs typeface="Microsoft Sans Serif"/>
              </a:rPr>
              <a:t> </a:t>
            </a:r>
            <a:r>
              <a:rPr sz="1200" spc="-10" dirty="0">
                <a:solidFill>
                  <a:srgbClr val="FF0000"/>
                </a:solidFill>
                <a:latin typeface="Microsoft Sans Serif"/>
                <a:cs typeface="Microsoft Sans Serif"/>
              </a:rPr>
              <a:t>taxpayers</a:t>
            </a:r>
            <a:endParaRPr sz="1200">
              <a:latin typeface="Microsoft Sans Serif"/>
              <a:cs typeface="Microsoft Sans Serif"/>
            </a:endParaRPr>
          </a:p>
        </p:txBody>
      </p:sp>
      <p:sp>
        <p:nvSpPr>
          <p:cNvPr id="54" name="object 54"/>
          <p:cNvSpPr txBox="1"/>
          <p:nvPr/>
        </p:nvSpPr>
        <p:spPr>
          <a:xfrm>
            <a:off x="391464" y="6563664"/>
            <a:ext cx="102870" cy="208279"/>
          </a:xfrm>
          <a:prstGeom prst="rect">
            <a:avLst/>
          </a:prstGeom>
        </p:spPr>
        <p:txBody>
          <a:bodyPr vert="horz" wrap="square" lIns="0" tIns="12700" rIns="0" bIns="0" rtlCol="0">
            <a:spAutoFit/>
          </a:bodyPr>
          <a:lstStyle/>
          <a:p>
            <a:pPr marL="12700">
              <a:lnSpc>
                <a:spcPct val="100000"/>
              </a:lnSpc>
              <a:spcBef>
                <a:spcPts val="100"/>
              </a:spcBef>
            </a:pPr>
            <a:r>
              <a:rPr sz="1200" spc="-50" dirty="0">
                <a:solidFill>
                  <a:srgbClr val="888888"/>
                </a:solidFill>
                <a:latin typeface="Calibri"/>
                <a:cs typeface="Calibri"/>
              </a:rPr>
              <a:t>3</a:t>
            </a:r>
            <a:endParaRPr sz="1200">
              <a:latin typeface="Calibri"/>
              <a:cs typeface="Calibri"/>
            </a:endParaRPr>
          </a:p>
        </p:txBody>
      </p:sp>
    </p:spTree>
    <p:extLst>
      <p:ext uri="{BB962C8B-B14F-4D97-AF65-F5344CB8AC3E}">
        <p14:creationId xmlns:p14="http://schemas.microsoft.com/office/powerpoint/2010/main" val="314525266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1464" y="6563664"/>
            <a:ext cx="102870" cy="208279"/>
          </a:xfrm>
          <a:prstGeom prst="rect">
            <a:avLst/>
          </a:prstGeom>
        </p:spPr>
        <p:txBody>
          <a:bodyPr vert="horz" wrap="square" lIns="0" tIns="12700" rIns="0" bIns="0" rtlCol="0">
            <a:spAutoFit/>
          </a:bodyPr>
          <a:lstStyle/>
          <a:p>
            <a:pPr marL="12700">
              <a:lnSpc>
                <a:spcPct val="100000"/>
              </a:lnSpc>
              <a:spcBef>
                <a:spcPts val="100"/>
              </a:spcBef>
            </a:pPr>
            <a:r>
              <a:rPr sz="1200" spc="-50" dirty="0">
                <a:solidFill>
                  <a:srgbClr val="888888"/>
                </a:solidFill>
                <a:latin typeface="Calibri"/>
                <a:cs typeface="Calibri"/>
              </a:rPr>
              <a:t>4</a:t>
            </a:r>
            <a:endParaRPr sz="1200">
              <a:latin typeface="Calibri"/>
              <a:cs typeface="Calibri"/>
            </a:endParaRPr>
          </a:p>
        </p:txBody>
      </p:sp>
      <p:sp>
        <p:nvSpPr>
          <p:cNvPr id="3" name="object 3"/>
          <p:cNvSpPr txBox="1"/>
          <p:nvPr/>
        </p:nvSpPr>
        <p:spPr>
          <a:xfrm>
            <a:off x="3389503" y="1562862"/>
            <a:ext cx="7994650" cy="330835"/>
          </a:xfrm>
          <a:prstGeom prst="rect">
            <a:avLst/>
          </a:prstGeom>
        </p:spPr>
        <p:txBody>
          <a:bodyPr vert="horz" wrap="square" lIns="0" tIns="13335" rIns="0" bIns="0" rtlCol="0">
            <a:spAutoFit/>
          </a:bodyPr>
          <a:lstStyle/>
          <a:p>
            <a:pPr marL="12700">
              <a:lnSpc>
                <a:spcPct val="100000"/>
              </a:lnSpc>
              <a:spcBef>
                <a:spcPts val="105"/>
              </a:spcBef>
            </a:pPr>
            <a:r>
              <a:rPr sz="2000" b="1" dirty="0">
                <a:latin typeface="Calibri"/>
                <a:cs typeface="Calibri"/>
              </a:rPr>
              <a:t>“Goods</a:t>
            </a:r>
            <a:r>
              <a:rPr sz="2000" b="1" spc="145" dirty="0">
                <a:latin typeface="Calibri"/>
                <a:cs typeface="Calibri"/>
              </a:rPr>
              <a:t> </a:t>
            </a:r>
            <a:r>
              <a:rPr sz="2000" b="1" dirty="0">
                <a:latin typeface="Calibri"/>
                <a:cs typeface="Calibri"/>
              </a:rPr>
              <a:t>and</a:t>
            </a:r>
            <a:r>
              <a:rPr sz="2000" b="1" spc="140" dirty="0">
                <a:latin typeface="Calibri"/>
                <a:cs typeface="Calibri"/>
              </a:rPr>
              <a:t> </a:t>
            </a:r>
            <a:r>
              <a:rPr sz="2000" b="1" dirty="0">
                <a:latin typeface="Calibri"/>
                <a:cs typeface="Calibri"/>
              </a:rPr>
              <a:t>services</a:t>
            </a:r>
            <a:r>
              <a:rPr sz="2000" b="1" spc="145" dirty="0">
                <a:latin typeface="Calibri"/>
                <a:cs typeface="Calibri"/>
              </a:rPr>
              <a:t> </a:t>
            </a:r>
            <a:r>
              <a:rPr sz="2000" b="1" dirty="0">
                <a:latin typeface="Calibri"/>
                <a:cs typeface="Calibri"/>
              </a:rPr>
              <a:t>tax”</a:t>
            </a:r>
            <a:r>
              <a:rPr sz="2000" b="1" spc="155" dirty="0">
                <a:latin typeface="Calibri"/>
                <a:cs typeface="Calibri"/>
              </a:rPr>
              <a:t> </a:t>
            </a:r>
            <a:r>
              <a:rPr sz="2000" dirty="0">
                <a:latin typeface="Calibri"/>
                <a:cs typeface="Calibri"/>
              </a:rPr>
              <a:t>means</a:t>
            </a:r>
            <a:r>
              <a:rPr sz="2000" spc="140" dirty="0">
                <a:latin typeface="Calibri"/>
                <a:cs typeface="Calibri"/>
              </a:rPr>
              <a:t> </a:t>
            </a:r>
            <a:r>
              <a:rPr sz="2000" dirty="0">
                <a:latin typeface="Calibri"/>
                <a:cs typeface="Calibri"/>
              </a:rPr>
              <a:t>any</a:t>
            </a:r>
            <a:r>
              <a:rPr sz="2000" spc="140" dirty="0">
                <a:latin typeface="Calibri"/>
                <a:cs typeface="Calibri"/>
              </a:rPr>
              <a:t> </a:t>
            </a:r>
            <a:r>
              <a:rPr sz="2000" dirty="0">
                <a:latin typeface="Calibri"/>
                <a:cs typeface="Calibri"/>
              </a:rPr>
              <a:t>tax</a:t>
            </a:r>
            <a:r>
              <a:rPr sz="2000" spc="140" dirty="0">
                <a:latin typeface="Calibri"/>
                <a:cs typeface="Calibri"/>
              </a:rPr>
              <a:t> </a:t>
            </a:r>
            <a:r>
              <a:rPr sz="2000" dirty="0">
                <a:latin typeface="Calibri"/>
                <a:cs typeface="Calibri"/>
              </a:rPr>
              <a:t>on</a:t>
            </a:r>
            <a:r>
              <a:rPr sz="2000" spc="145" dirty="0">
                <a:latin typeface="Calibri"/>
                <a:cs typeface="Calibri"/>
              </a:rPr>
              <a:t> </a:t>
            </a:r>
            <a:r>
              <a:rPr sz="2000" u="sng" dirty="0">
                <a:uFill>
                  <a:solidFill>
                    <a:srgbClr val="000000"/>
                  </a:solidFill>
                </a:uFill>
                <a:latin typeface="Calibri"/>
                <a:cs typeface="Calibri"/>
              </a:rPr>
              <a:t>supply</a:t>
            </a:r>
            <a:r>
              <a:rPr sz="2000" u="sng" spc="140" dirty="0">
                <a:uFill>
                  <a:solidFill>
                    <a:srgbClr val="000000"/>
                  </a:solidFill>
                </a:uFill>
                <a:latin typeface="Calibri"/>
                <a:cs typeface="Calibri"/>
              </a:rPr>
              <a:t> </a:t>
            </a:r>
            <a:r>
              <a:rPr sz="2000" u="sng" dirty="0">
                <a:uFill>
                  <a:solidFill>
                    <a:srgbClr val="000000"/>
                  </a:solidFill>
                </a:uFill>
                <a:latin typeface="Calibri"/>
                <a:cs typeface="Calibri"/>
              </a:rPr>
              <a:t>of</a:t>
            </a:r>
            <a:r>
              <a:rPr sz="2000" u="sng" spc="114" dirty="0">
                <a:uFill>
                  <a:solidFill>
                    <a:srgbClr val="000000"/>
                  </a:solidFill>
                </a:uFill>
                <a:latin typeface="Calibri"/>
                <a:cs typeface="Calibri"/>
              </a:rPr>
              <a:t> </a:t>
            </a:r>
            <a:r>
              <a:rPr sz="2000" u="sng" dirty="0">
                <a:uFill>
                  <a:solidFill>
                    <a:srgbClr val="000000"/>
                  </a:solidFill>
                </a:uFill>
                <a:latin typeface="Calibri"/>
                <a:cs typeface="Calibri"/>
              </a:rPr>
              <a:t>goods,</a:t>
            </a:r>
            <a:r>
              <a:rPr sz="2000" u="sng" spc="135" dirty="0">
                <a:uFill>
                  <a:solidFill>
                    <a:srgbClr val="000000"/>
                  </a:solidFill>
                </a:uFill>
                <a:latin typeface="Calibri"/>
                <a:cs typeface="Calibri"/>
              </a:rPr>
              <a:t> </a:t>
            </a:r>
            <a:r>
              <a:rPr sz="2000" u="sng" dirty="0">
                <a:uFill>
                  <a:solidFill>
                    <a:srgbClr val="000000"/>
                  </a:solidFill>
                </a:uFill>
                <a:latin typeface="Calibri"/>
                <a:cs typeface="Calibri"/>
              </a:rPr>
              <a:t>or</a:t>
            </a:r>
            <a:r>
              <a:rPr sz="2000" spc="140" dirty="0">
                <a:latin typeface="Calibri"/>
                <a:cs typeface="Calibri"/>
              </a:rPr>
              <a:t> </a:t>
            </a:r>
            <a:r>
              <a:rPr sz="2000" u="sng" dirty="0">
                <a:uFill>
                  <a:solidFill>
                    <a:srgbClr val="000000"/>
                  </a:solidFill>
                </a:uFill>
                <a:latin typeface="Calibri"/>
                <a:cs typeface="Calibri"/>
              </a:rPr>
              <a:t>services</a:t>
            </a:r>
            <a:r>
              <a:rPr sz="2000" u="sng" spc="140" dirty="0">
                <a:uFill>
                  <a:solidFill>
                    <a:srgbClr val="000000"/>
                  </a:solidFill>
                </a:uFill>
                <a:latin typeface="Calibri"/>
                <a:cs typeface="Calibri"/>
              </a:rPr>
              <a:t> </a:t>
            </a:r>
            <a:r>
              <a:rPr sz="2000" u="sng" spc="-25" dirty="0">
                <a:uFill>
                  <a:solidFill>
                    <a:srgbClr val="000000"/>
                  </a:solidFill>
                </a:uFill>
                <a:latin typeface="Calibri"/>
                <a:cs typeface="Calibri"/>
              </a:rPr>
              <a:t>or</a:t>
            </a:r>
            <a:endParaRPr sz="2000">
              <a:latin typeface="Calibri"/>
              <a:cs typeface="Calibri"/>
            </a:endParaRPr>
          </a:p>
        </p:txBody>
      </p:sp>
      <p:sp>
        <p:nvSpPr>
          <p:cNvPr id="4" name="object 4"/>
          <p:cNvSpPr txBox="1"/>
          <p:nvPr/>
        </p:nvSpPr>
        <p:spPr>
          <a:xfrm>
            <a:off x="3389503" y="1867662"/>
            <a:ext cx="7994015" cy="330835"/>
          </a:xfrm>
          <a:prstGeom prst="rect">
            <a:avLst/>
          </a:prstGeom>
        </p:spPr>
        <p:txBody>
          <a:bodyPr vert="horz" wrap="square" lIns="0" tIns="13335" rIns="0" bIns="0" rtlCol="0">
            <a:spAutoFit/>
          </a:bodyPr>
          <a:lstStyle/>
          <a:p>
            <a:pPr marL="12700">
              <a:lnSpc>
                <a:spcPct val="100000"/>
              </a:lnSpc>
              <a:spcBef>
                <a:spcPts val="105"/>
              </a:spcBef>
              <a:tabLst>
                <a:tab pos="670560" algn="l"/>
                <a:tab pos="1520825" algn="l"/>
                <a:tab pos="2223770" algn="l"/>
                <a:tab pos="2664460" algn="l"/>
                <a:tab pos="3182620" algn="l"/>
                <a:tab pos="4026535" algn="l"/>
                <a:tab pos="4411345" algn="l"/>
                <a:tab pos="4927600" algn="l"/>
                <a:tab pos="6011545" algn="l"/>
                <a:tab pos="6790690" algn="l"/>
                <a:tab pos="7256780" algn="l"/>
              </a:tabLst>
            </a:pPr>
            <a:r>
              <a:rPr sz="2000" u="sng" spc="-20" dirty="0">
                <a:uFill>
                  <a:solidFill>
                    <a:srgbClr val="000000"/>
                  </a:solidFill>
                </a:uFill>
                <a:latin typeface="Calibri"/>
                <a:cs typeface="Calibri"/>
              </a:rPr>
              <a:t>both</a:t>
            </a:r>
            <a:r>
              <a:rPr sz="2000" dirty="0">
                <a:latin typeface="Calibri"/>
                <a:cs typeface="Calibri"/>
              </a:rPr>
              <a:t>	</a:t>
            </a:r>
            <a:r>
              <a:rPr sz="2000" spc="-10" dirty="0">
                <a:latin typeface="Calibri"/>
                <a:cs typeface="Calibri"/>
              </a:rPr>
              <a:t>except</a:t>
            </a:r>
            <a:r>
              <a:rPr sz="2000" dirty="0">
                <a:latin typeface="Calibri"/>
                <a:cs typeface="Calibri"/>
              </a:rPr>
              <a:t>	</a:t>
            </a:r>
            <a:r>
              <a:rPr sz="2000" spc="-20" dirty="0">
                <a:latin typeface="Calibri"/>
                <a:cs typeface="Calibri"/>
              </a:rPr>
              <a:t>taxes</a:t>
            </a:r>
            <a:r>
              <a:rPr sz="2000" dirty="0">
                <a:latin typeface="Calibri"/>
                <a:cs typeface="Calibri"/>
              </a:rPr>
              <a:t>	</a:t>
            </a:r>
            <a:r>
              <a:rPr sz="2000" spc="-25" dirty="0">
                <a:latin typeface="Calibri"/>
                <a:cs typeface="Calibri"/>
              </a:rPr>
              <a:t>on</a:t>
            </a:r>
            <a:r>
              <a:rPr sz="2000" dirty="0">
                <a:latin typeface="Calibri"/>
                <a:cs typeface="Calibri"/>
              </a:rPr>
              <a:t>	</a:t>
            </a:r>
            <a:r>
              <a:rPr sz="2000" spc="-25" dirty="0">
                <a:latin typeface="Calibri"/>
                <a:cs typeface="Calibri"/>
              </a:rPr>
              <a:t>the</a:t>
            </a:r>
            <a:r>
              <a:rPr sz="2000" dirty="0">
                <a:latin typeface="Calibri"/>
                <a:cs typeface="Calibri"/>
              </a:rPr>
              <a:t>	</a:t>
            </a:r>
            <a:r>
              <a:rPr sz="2000" spc="-10" dirty="0">
                <a:latin typeface="Calibri"/>
                <a:cs typeface="Calibri"/>
              </a:rPr>
              <a:t>supply</a:t>
            </a:r>
            <a:r>
              <a:rPr sz="2000" dirty="0">
                <a:latin typeface="Calibri"/>
                <a:cs typeface="Calibri"/>
              </a:rPr>
              <a:t>	</a:t>
            </a:r>
            <a:r>
              <a:rPr sz="2000" spc="-25" dirty="0">
                <a:latin typeface="Calibri"/>
                <a:cs typeface="Calibri"/>
              </a:rPr>
              <a:t>of</a:t>
            </a:r>
            <a:r>
              <a:rPr sz="2000" dirty="0">
                <a:latin typeface="Calibri"/>
                <a:cs typeface="Calibri"/>
              </a:rPr>
              <a:t>	</a:t>
            </a:r>
            <a:r>
              <a:rPr sz="2000" spc="-25" dirty="0">
                <a:latin typeface="Calibri"/>
                <a:cs typeface="Calibri"/>
              </a:rPr>
              <a:t>the</a:t>
            </a:r>
            <a:r>
              <a:rPr sz="2000" dirty="0">
                <a:latin typeface="Calibri"/>
                <a:cs typeface="Calibri"/>
              </a:rPr>
              <a:t>	</a:t>
            </a:r>
            <a:r>
              <a:rPr sz="2000" spc="-10" dirty="0">
                <a:latin typeface="Calibri"/>
                <a:cs typeface="Calibri"/>
              </a:rPr>
              <a:t>alcoholic</a:t>
            </a:r>
            <a:r>
              <a:rPr sz="2000" dirty="0">
                <a:latin typeface="Calibri"/>
                <a:cs typeface="Calibri"/>
              </a:rPr>
              <a:t>	</a:t>
            </a:r>
            <a:r>
              <a:rPr sz="2000" spc="-10" dirty="0">
                <a:latin typeface="Calibri"/>
                <a:cs typeface="Calibri"/>
              </a:rPr>
              <a:t>liquor</a:t>
            </a:r>
            <a:r>
              <a:rPr sz="2000" dirty="0">
                <a:latin typeface="Calibri"/>
                <a:cs typeface="Calibri"/>
              </a:rPr>
              <a:t>	</a:t>
            </a:r>
            <a:r>
              <a:rPr sz="2000" spc="-25" dirty="0">
                <a:latin typeface="Calibri"/>
                <a:cs typeface="Calibri"/>
              </a:rPr>
              <a:t>for</a:t>
            </a:r>
            <a:r>
              <a:rPr sz="2000" dirty="0">
                <a:latin typeface="Calibri"/>
                <a:cs typeface="Calibri"/>
              </a:rPr>
              <a:t>	</a:t>
            </a:r>
            <a:r>
              <a:rPr sz="2000" spc="-10" dirty="0">
                <a:latin typeface="Calibri"/>
                <a:cs typeface="Calibri"/>
              </a:rPr>
              <a:t>human</a:t>
            </a:r>
            <a:endParaRPr sz="2000">
              <a:latin typeface="Calibri"/>
              <a:cs typeface="Calibri"/>
            </a:endParaRPr>
          </a:p>
        </p:txBody>
      </p:sp>
      <p:sp>
        <p:nvSpPr>
          <p:cNvPr id="5" name="object 5"/>
          <p:cNvSpPr txBox="1"/>
          <p:nvPr/>
        </p:nvSpPr>
        <p:spPr>
          <a:xfrm>
            <a:off x="3389503" y="2172716"/>
            <a:ext cx="1379855" cy="330835"/>
          </a:xfrm>
          <a:prstGeom prst="rect">
            <a:avLst/>
          </a:prstGeom>
        </p:spPr>
        <p:txBody>
          <a:bodyPr vert="horz" wrap="square" lIns="0" tIns="13335" rIns="0" bIns="0" rtlCol="0">
            <a:spAutoFit/>
          </a:bodyPr>
          <a:lstStyle/>
          <a:p>
            <a:pPr marL="12700">
              <a:lnSpc>
                <a:spcPct val="100000"/>
              </a:lnSpc>
              <a:spcBef>
                <a:spcPts val="105"/>
              </a:spcBef>
            </a:pPr>
            <a:r>
              <a:rPr sz="2000" spc="-10" dirty="0">
                <a:latin typeface="Calibri"/>
                <a:cs typeface="Calibri"/>
              </a:rPr>
              <a:t>consumption</a:t>
            </a:r>
            <a:endParaRPr sz="2000">
              <a:latin typeface="Calibri"/>
              <a:cs typeface="Calibri"/>
            </a:endParaRPr>
          </a:p>
        </p:txBody>
      </p:sp>
      <p:sp>
        <p:nvSpPr>
          <p:cNvPr id="6" name="object 6"/>
          <p:cNvSpPr txBox="1"/>
          <p:nvPr/>
        </p:nvSpPr>
        <p:spPr>
          <a:xfrm>
            <a:off x="604837" y="1185925"/>
            <a:ext cx="2560955" cy="1181100"/>
          </a:xfrm>
          <a:prstGeom prst="rect">
            <a:avLst/>
          </a:prstGeom>
          <a:ln w="57150">
            <a:solidFill>
              <a:srgbClr val="44536A"/>
            </a:solidFill>
          </a:ln>
        </p:spPr>
        <p:txBody>
          <a:bodyPr vert="horz" wrap="square" lIns="0" tIns="139065" rIns="0" bIns="0" rtlCol="0">
            <a:spAutoFit/>
          </a:bodyPr>
          <a:lstStyle/>
          <a:p>
            <a:pPr>
              <a:lnSpc>
                <a:spcPct val="100000"/>
              </a:lnSpc>
              <a:spcBef>
                <a:spcPts val="1095"/>
              </a:spcBef>
            </a:pPr>
            <a:endParaRPr sz="2000">
              <a:latin typeface="Times New Roman"/>
              <a:cs typeface="Times New Roman"/>
            </a:endParaRPr>
          </a:p>
          <a:p>
            <a:pPr marL="283845">
              <a:lnSpc>
                <a:spcPct val="100000"/>
              </a:lnSpc>
              <a:tabLst>
                <a:tab pos="1213485" algn="l"/>
              </a:tabLst>
            </a:pPr>
            <a:r>
              <a:rPr sz="2000" b="1" spc="-10" dirty="0">
                <a:latin typeface="Arial"/>
                <a:cs typeface="Arial"/>
              </a:rPr>
              <a:t>Article</a:t>
            </a:r>
            <a:r>
              <a:rPr sz="2000" b="1" dirty="0">
                <a:latin typeface="Arial"/>
                <a:cs typeface="Arial"/>
              </a:rPr>
              <a:t>	</a:t>
            </a:r>
            <a:r>
              <a:rPr sz="2000" b="1" spc="-10" dirty="0">
                <a:latin typeface="Arial"/>
                <a:cs typeface="Arial"/>
              </a:rPr>
              <a:t>366(12A)</a:t>
            </a:r>
            <a:endParaRPr sz="2000">
              <a:latin typeface="Arial"/>
              <a:cs typeface="Arial"/>
            </a:endParaRPr>
          </a:p>
        </p:txBody>
      </p:sp>
      <p:sp>
        <p:nvSpPr>
          <p:cNvPr id="7" name="object 7"/>
          <p:cNvSpPr txBox="1"/>
          <p:nvPr/>
        </p:nvSpPr>
        <p:spPr>
          <a:xfrm>
            <a:off x="3354323" y="957325"/>
            <a:ext cx="4156075" cy="457200"/>
          </a:xfrm>
          <a:prstGeom prst="rect">
            <a:avLst/>
          </a:prstGeom>
          <a:ln w="12700">
            <a:solidFill>
              <a:srgbClr val="6FAC46"/>
            </a:solidFill>
          </a:ln>
        </p:spPr>
        <p:txBody>
          <a:bodyPr vert="horz" wrap="square" lIns="0" tIns="27305" rIns="0" bIns="0" rtlCol="0">
            <a:spAutoFit/>
          </a:bodyPr>
          <a:lstStyle/>
          <a:p>
            <a:pPr marL="195580">
              <a:lnSpc>
                <a:spcPct val="100000"/>
              </a:lnSpc>
              <a:spcBef>
                <a:spcPts val="215"/>
              </a:spcBef>
            </a:pPr>
            <a:r>
              <a:rPr sz="2800" b="1" dirty="0">
                <a:latin typeface="Calibri"/>
                <a:cs typeface="Calibri"/>
              </a:rPr>
              <a:t>Definition</a:t>
            </a:r>
            <a:r>
              <a:rPr sz="2800" b="1" spc="-60" dirty="0">
                <a:latin typeface="Calibri"/>
                <a:cs typeface="Calibri"/>
              </a:rPr>
              <a:t> </a:t>
            </a:r>
            <a:r>
              <a:rPr sz="2800" b="1" dirty="0">
                <a:latin typeface="Calibri"/>
                <a:cs typeface="Calibri"/>
              </a:rPr>
              <a:t>of</a:t>
            </a:r>
            <a:r>
              <a:rPr sz="2800" b="1" spc="-75" dirty="0">
                <a:latin typeface="Calibri"/>
                <a:cs typeface="Calibri"/>
              </a:rPr>
              <a:t> </a:t>
            </a:r>
            <a:r>
              <a:rPr sz="2800" b="1" spc="-25" dirty="0">
                <a:latin typeface="Calibri"/>
                <a:cs typeface="Calibri"/>
              </a:rPr>
              <a:t>GST</a:t>
            </a:r>
            <a:endParaRPr sz="2800">
              <a:latin typeface="Calibri"/>
              <a:cs typeface="Calibri"/>
            </a:endParaRPr>
          </a:p>
        </p:txBody>
      </p:sp>
      <p:graphicFrame>
        <p:nvGraphicFramePr>
          <p:cNvPr id="8" name="object 8"/>
          <p:cNvGraphicFramePr>
            <a:graphicFrameLocks noGrp="1"/>
          </p:cNvGraphicFramePr>
          <p:nvPr/>
        </p:nvGraphicFramePr>
        <p:xfrm>
          <a:off x="741362" y="2685288"/>
          <a:ext cx="10977879" cy="2445384"/>
        </p:xfrm>
        <a:graphic>
          <a:graphicData uri="http://schemas.openxmlformats.org/drawingml/2006/table">
            <a:tbl>
              <a:tblPr firstRow="1" bandRow="1">
                <a:tableStyleId>{2D5ABB26-0587-4C30-8999-92F81FD0307C}</a:tableStyleId>
              </a:tblPr>
              <a:tblGrid>
                <a:gridCol w="74676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09039">
                  <a:extLst>
                    <a:ext uri="{9D8B030D-6E8A-4147-A177-3AD203B41FA5}">
                      <a16:colId xmlns:a16="http://schemas.microsoft.com/office/drawing/2014/main" val="20002"/>
                    </a:ext>
                  </a:extLst>
                </a:gridCol>
                <a:gridCol w="7802880">
                  <a:extLst>
                    <a:ext uri="{9D8B030D-6E8A-4147-A177-3AD203B41FA5}">
                      <a16:colId xmlns:a16="http://schemas.microsoft.com/office/drawing/2014/main" val="20003"/>
                    </a:ext>
                  </a:extLst>
                </a:gridCol>
              </a:tblGrid>
              <a:tr h="406400">
                <a:tc>
                  <a:txBody>
                    <a:bodyPr/>
                    <a:lstStyle/>
                    <a:p>
                      <a:pPr marR="40005" algn="ctr">
                        <a:lnSpc>
                          <a:spcPct val="100000"/>
                        </a:lnSpc>
                        <a:spcBef>
                          <a:spcPts val="240"/>
                        </a:spcBef>
                      </a:pPr>
                      <a:r>
                        <a:rPr sz="1900" b="1" dirty="0">
                          <a:latin typeface="Calibri"/>
                          <a:cs typeface="Calibri"/>
                        </a:rPr>
                        <a:t>Sl</a:t>
                      </a:r>
                      <a:r>
                        <a:rPr sz="1900" b="1" spc="-25" dirty="0">
                          <a:latin typeface="Calibri"/>
                          <a:cs typeface="Calibri"/>
                        </a:rPr>
                        <a:t> No</a:t>
                      </a:r>
                      <a:endParaRPr sz="19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5B9BD4"/>
                    </a:solidFill>
                  </a:tcPr>
                </a:tc>
                <a:tc>
                  <a:txBody>
                    <a:bodyPr/>
                    <a:lstStyle/>
                    <a:p>
                      <a:pPr marR="28575" algn="ctr">
                        <a:lnSpc>
                          <a:spcPct val="100000"/>
                        </a:lnSpc>
                        <a:spcBef>
                          <a:spcPts val="240"/>
                        </a:spcBef>
                      </a:pPr>
                      <a:r>
                        <a:rPr sz="1900" b="1" spc="-10" dirty="0">
                          <a:latin typeface="Calibri"/>
                          <a:cs typeface="Calibri"/>
                        </a:rPr>
                        <a:t>Definition</a:t>
                      </a:r>
                      <a:endParaRPr sz="19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5B9BD4"/>
                    </a:solidFill>
                  </a:tcPr>
                </a:tc>
                <a:tc>
                  <a:txBody>
                    <a:bodyPr/>
                    <a:lstStyle/>
                    <a:p>
                      <a:pPr marL="91440">
                        <a:lnSpc>
                          <a:spcPct val="100000"/>
                        </a:lnSpc>
                        <a:spcBef>
                          <a:spcPts val="240"/>
                        </a:spcBef>
                      </a:pPr>
                      <a:r>
                        <a:rPr sz="1900" b="1" spc="-10" dirty="0">
                          <a:latin typeface="Calibri"/>
                          <a:cs typeface="Calibri"/>
                        </a:rPr>
                        <a:t>Article</a:t>
                      </a:r>
                      <a:endParaRPr sz="19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5B9BD4"/>
                    </a:solidFill>
                  </a:tcPr>
                </a:tc>
                <a:tc>
                  <a:txBody>
                    <a:bodyPr/>
                    <a:lstStyle/>
                    <a:p>
                      <a:pPr marL="91440">
                        <a:lnSpc>
                          <a:spcPct val="100000"/>
                        </a:lnSpc>
                        <a:spcBef>
                          <a:spcPts val="240"/>
                        </a:spcBef>
                      </a:pPr>
                      <a:r>
                        <a:rPr sz="1900" b="1" spc="-10" dirty="0">
                          <a:latin typeface="Calibri"/>
                          <a:cs typeface="Calibri"/>
                        </a:rPr>
                        <a:t>Definition</a:t>
                      </a:r>
                      <a:endParaRPr sz="19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5B9BD4"/>
                    </a:solidFill>
                  </a:tcPr>
                </a:tc>
                <a:extLst>
                  <a:ext uri="{0D108BD9-81ED-4DB2-BD59-A6C34878D82A}">
                    <a16:rowId xmlns:a16="http://schemas.microsoft.com/office/drawing/2014/main" val="10000"/>
                  </a:ext>
                </a:extLst>
              </a:tr>
              <a:tr h="408305">
                <a:tc>
                  <a:txBody>
                    <a:bodyPr/>
                    <a:lstStyle/>
                    <a:p>
                      <a:pPr algn="ctr">
                        <a:lnSpc>
                          <a:spcPct val="100000"/>
                        </a:lnSpc>
                        <a:spcBef>
                          <a:spcPts val="240"/>
                        </a:spcBef>
                      </a:pPr>
                      <a:r>
                        <a:rPr sz="1900" spc="-25" dirty="0">
                          <a:latin typeface="Calibri"/>
                          <a:cs typeface="Calibri"/>
                        </a:rPr>
                        <a:t>1.</a:t>
                      </a:r>
                      <a:endParaRPr sz="19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2DEEE"/>
                    </a:solidFill>
                  </a:tcPr>
                </a:tc>
                <a:tc>
                  <a:txBody>
                    <a:bodyPr/>
                    <a:lstStyle/>
                    <a:p>
                      <a:pPr algn="ctr">
                        <a:lnSpc>
                          <a:spcPct val="100000"/>
                        </a:lnSpc>
                        <a:spcBef>
                          <a:spcPts val="240"/>
                        </a:spcBef>
                      </a:pPr>
                      <a:r>
                        <a:rPr sz="1900" spc="-10" dirty="0">
                          <a:latin typeface="Calibri"/>
                          <a:cs typeface="Calibri"/>
                        </a:rPr>
                        <a:t>Goods</a:t>
                      </a:r>
                      <a:endParaRPr sz="19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2DEEE"/>
                    </a:solidFill>
                  </a:tcPr>
                </a:tc>
                <a:tc>
                  <a:txBody>
                    <a:bodyPr/>
                    <a:lstStyle/>
                    <a:p>
                      <a:pPr marL="226060">
                        <a:lnSpc>
                          <a:spcPct val="100000"/>
                        </a:lnSpc>
                        <a:spcBef>
                          <a:spcPts val="240"/>
                        </a:spcBef>
                      </a:pPr>
                      <a:r>
                        <a:rPr sz="1900" spc="-10" dirty="0">
                          <a:latin typeface="Calibri"/>
                          <a:cs typeface="Calibri"/>
                        </a:rPr>
                        <a:t>366(12)</a:t>
                      </a:r>
                      <a:endParaRPr sz="19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2DEEE"/>
                    </a:solidFill>
                  </a:tcPr>
                </a:tc>
                <a:tc>
                  <a:txBody>
                    <a:bodyPr/>
                    <a:lstStyle/>
                    <a:p>
                      <a:pPr marL="144780">
                        <a:lnSpc>
                          <a:spcPct val="100000"/>
                        </a:lnSpc>
                        <a:spcBef>
                          <a:spcPts val="240"/>
                        </a:spcBef>
                      </a:pPr>
                      <a:r>
                        <a:rPr sz="1900" dirty="0">
                          <a:latin typeface="Calibri"/>
                          <a:cs typeface="Calibri"/>
                        </a:rPr>
                        <a:t>Includes</a:t>
                      </a:r>
                      <a:r>
                        <a:rPr sz="1900" spc="-60" dirty="0">
                          <a:latin typeface="Calibri"/>
                          <a:cs typeface="Calibri"/>
                        </a:rPr>
                        <a:t> </a:t>
                      </a:r>
                      <a:r>
                        <a:rPr sz="1900" dirty="0">
                          <a:latin typeface="Calibri"/>
                          <a:cs typeface="Calibri"/>
                        </a:rPr>
                        <a:t>all</a:t>
                      </a:r>
                      <a:r>
                        <a:rPr sz="1900" spc="-55" dirty="0">
                          <a:latin typeface="Calibri"/>
                          <a:cs typeface="Calibri"/>
                        </a:rPr>
                        <a:t> </a:t>
                      </a:r>
                      <a:r>
                        <a:rPr sz="1900" spc="-10" dirty="0">
                          <a:latin typeface="Calibri"/>
                          <a:cs typeface="Calibri"/>
                        </a:rPr>
                        <a:t>materials,</a:t>
                      </a:r>
                      <a:r>
                        <a:rPr sz="1900" spc="-65" dirty="0">
                          <a:latin typeface="Calibri"/>
                          <a:cs typeface="Calibri"/>
                        </a:rPr>
                        <a:t> </a:t>
                      </a:r>
                      <a:r>
                        <a:rPr sz="1900" dirty="0">
                          <a:latin typeface="Calibri"/>
                          <a:cs typeface="Calibri"/>
                        </a:rPr>
                        <a:t>commodities,</a:t>
                      </a:r>
                      <a:r>
                        <a:rPr sz="1900" spc="-50" dirty="0">
                          <a:latin typeface="Calibri"/>
                          <a:cs typeface="Calibri"/>
                        </a:rPr>
                        <a:t> </a:t>
                      </a:r>
                      <a:r>
                        <a:rPr sz="1900" dirty="0">
                          <a:latin typeface="Calibri"/>
                          <a:cs typeface="Calibri"/>
                        </a:rPr>
                        <a:t>and</a:t>
                      </a:r>
                      <a:r>
                        <a:rPr sz="1900" spc="-50" dirty="0">
                          <a:latin typeface="Calibri"/>
                          <a:cs typeface="Calibri"/>
                        </a:rPr>
                        <a:t> </a:t>
                      </a:r>
                      <a:r>
                        <a:rPr sz="1900" dirty="0">
                          <a:latin typeface="Calibri"/>
                          <a:cs typeface="Calibri"/>
                        </a:rPr>
                        <a:t>articles</a:t>
                      </a:r>
                      <a:r>
                        <a:rPr sz="1900" spc="-55" dirty="0">
                          <a:latin typeface="Calibri"/>
                          <a:cs typeface="Calibri"/>
                        </a:rPr>
                        <a:t> </a:t>
                      </a:r>
                      <a:r>
                        <a:rPr sz="1900" dirty="0">
                          <a:latin typeface="Calibri"/>
                          <a:cs typeface="Calibri"/>
                        </a:rPr>
                        <a:t>[Pre</a:t>
                      </a:r>
                      <a:r>
                        <a:rPr sz="1900" spc="-50" dirty="0">
                          <a:latin typeface="Calibri"/>
                          <a:cs typeface="Calibri"/>
                        </a:rPr>
                        <a:t> </a:t>
                      </a:r>
                      <a:r>
                        <a:rPr sz="1900" dirty="0">
                          <a:latin typeface="Calibri"/>
                          <a:cs typeface="Calibri"/>
                        </a:rPr>
                        <a:t>Existing</a:t>
                      </a:r>
                      <a:r>
                        <a:rPr sz="1900" spc="-45" dirty="0">
                          <a:latin typeface="Calibri"/>
                          <a:cs typeface="Calibri"/>
                        </a:rPr>
                        <a:t> </a:t>
                      </a:r>
                      <a:r>
                        <a:rPr sz="1900" spc="-10" dirty="0">
                          <a:latin typeface="Calibri"/>
                          <a:cs typeface="Calibri"/>
                        </a:rPr>
                        <a:t>Definition]</a:t>
                      </a:r>
                      <a:endParaRPr sz="19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2DEEE"/>
                    </a:solidFill>
                  </a:tcPr>
                </a:tc>
                <a:extLst>
                  <a:ext uri="{0D108BD9-81ED-4DB2-BD59-A6C34878D82A}">
                    <a16:rowId xmlns:a16="http://schemas.microsoft.com/office/drawing/2014/main" val="10001"/>
                  </a:ext>
                </a:extLst>
              </a:tr>
              <a:tr h="670560">
                <a:tc>
                  <a:txBody>
                    <a:bodyPr/>
                    <a:lstStyle/>
                    <a:p>
                      <a:pPr algn="ctr">
                        <a:lnSpc>
                          <a:spcPct val="100000"/>
                        </a:lnSpc>
                        <a:spcBef>
                          <a:spcPts val="244"/>
                        </a:spcBef>
                      </a:pPr>
                      <a:r>
                        <a:rPr sz="1900" spc="-25" dirty="0">
                          <a:latin typeface="Calibri"/>
                          <a:cs typeface="Calibri"/>
                        </a:rPr>
                        <a:t>2.</a:t>
                      </a:r>
                      <a:endParaRPr sz="19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AEEF7"/>
                    </a:solidFill>
                  </a:tcPr>
                </a:tc>
                <a:tc>
                  <a:txBody>
                    <a:bodyPr/>
                    <a:lstStyle/>
                    <a:p>
                      <a:pPr algn="ctr">
                        <a:lnSpc>
                          <a:spcPct val="100000"/>
                        </a:lnSpc>
                        <a:spcBef>
                          <a:spcPts val="244"/>
                        </a:spcBef>
                      </a:pPr>
                      <a:r>
                        <a:rPr sz="1900" spc="-10" dirty="0">
                          <a:latin typeface="Calibri"/>
                          <a:cs typeface="Calibri"/>
                        </a:rPr>
                        <a:t>Service</a:t>
                      </a:r>
                      <a:endParaRPr sz="19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AEEF7"/>
                    </a:solidFill>
                  </a:tcPr>
                </a:tc>
                <a:tc>
                  <a:txBody>
                    <a:bodyPr/>
                    <a:lstStyle/>
                    <a:p>
                      <a:pPr marL="130175">
                        <a:lnSpc>
                          <a:spcPct val="100000"/>
                        </a:lnSpc>
                        <a:spcBef>
                          <a:spcPts val="244"/>
                        </a:spcBef>
                      </a:pPr>
                      <a:r>
                        <a:rPr sz="1900" dirty="0">
                          <a:latin typeface="Calibri"/>
                          <a:cs typeface="Calibri"/>
                        </a:rPr>
                        <a:t>366</a:t>
                      </a:r>
                      <a:r>
                        <a:rPr sz="1900" spc="-40" dirty="0">
                          <a:latin typeface="Calibri"/>
                          <a:cs typeface="Calibri"/>
                        </a:rPr>
                        <a:t> </a:t>
                      </a:r>
                      <a:r>
                        <a:rPr sz="1900" spc="-20" dirty="0">
                          <a:latin typeface="Calibri"/>
                          <a:cs typeface="Calibri"/>
                        </a:rPr>
                        <a:t>(26A)</a:t>
                      </a:r>
                      <a:endParaRPr sz="19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AEEF7"/>
                    </a:solidFill>
                  </a:tcPr>
                </a:tc>
                <a:tc>
                  <a:txBody>
                    <a:bodyPr/>
                    <a:lstStyle/>
                    <a:p>
                      <a:pPr marL="144780">
                        <a:lnSpc>
                          <a:spcPct val="100000"/>
                        </a:lnSpc>
                        <a:spcBef>
                          <a:spcPts val="244"/>
                        </a:spcBef>
                      </a:pPr>
                      <a:r>
                        <a:rPr sz="1900" dirty="0">
                          <a:latin typeface="Calibri"/>
                          <a:cs typeface="Calibri"/>
                        </a:rPr>
                        <a:t>Anything</a:t>
                      </a:r>
                      <a:r>
                        <a:rPr sz="1900" spc="-45" dirty="0">
                          <a:latin typeface="Calibri"/>
                          <a:cs typeface="Calibri"/>
                        </a:rPr>
                        <a:t> </a:t>
                      </a:r>
                      <a:r>
                        <a:rPr sz="1900" dirty="0">
                          <a:latin typeface="Calibri"/>
                          <a:cs typeface="Calibri"/>
                        </a:rPr>
                        <a:t>other</a:t>
                      </a:r>
                      <a:r>
                        <a:rPr sz="1900" spc="-70" dirty="0">
                          <a:latin typeface="Calibri"/>
                          <a:cs typeface="Calibri"/>
                        </a:rPr>
                        <a:t> </a:t>
                      </a:r>
                      <a:r>
                        <a:rPr sz="1900" dirty="0">
                          <a:latin typeface="Calibri"/>
                          <a:cs typeface="Calibri"/>
                        </a:rPr>
                        <a:t>than</a:t>
                      </a:r>
                      <a:r>
                        <a:rPr sz="1900" spc="-60" dirty="0">
                          <a:latin typeface="Calibri"/>
                          <a:cs typeface="Calibri"/>
                        </a:rPr>
                        <a:t> </a:t>
                      </a:r>
                      <a:r>
                        <a:rPr sz="1900" dirty="0">
                          <a:latin typeface="Calibri"/>
                          <a:cs typeface="Calibri"/>
                        </a:rPr>
                        <a:t>goods</a:t>
                      </a:r>
                      <a:r>
                        <a:rPr sz="1900" spc="-70" dirty="0">
                          <a:latin typeface="Calibri"/>
                          <a:cs typeface="Calibri"/>
                        </a:rPr>
                        <a:t> </a:t>
                      </a:r>
                      <a:r>
                        <a:rPr sz="1900" spc="-10" dirty="0">
                          <a:latin typeface="Calibri"/>
                          <a:cs typeface="Calibri"/>
                        </a:rPr>
                        <a:t>[Introduced</a:t>
                      </a:r>
                      <a:r>
                        <a:rPr sz="1900" spc="-35" dirty="0">
                          <a:latin typeface="Calibri"/>
                          <a:cs typeface="Calibri"/>
                        </a:rPr>
                        <a:t> </a:t>
                      </a:r>
                      <a:r>
                        <a:rPr sz="1900" dirty="0">
                          <a:latin typeface="Calibri"/>
                          <a:cs typeface="Calibri"/>
                        </a:rPr>
                        <a:t>vide</a:t>
                      </a:r>
                      <a:r>
                        <a:rPr sz="1900" spc="-65" dirty="0">
                          <a:latin typeface="Calibri"/>
                          <a:cs typeface="Calibri"/>
                        </a:rPr>
                        <a:t> </a:t>
                      </a:r>
                      <a:r>
                        <a:rPr sz="1900" dirty="0">
                          <a:latin typeface="Calibri"/>
                          <a:cs typeface="Calibri"/>
                        </a:rPr>
                        <a:t>101</a:t>
                      </a:r>
                      <a:r>
                        <a:rPr sz="1875" baseline="26666" dirty="0">
                          <a:latin typeface="Calibri"/>
                          <a:cs typeface="Calibri"/>
                        </a:rPr>
                        <a:t>st</a:t>
                      </a:r>
                      <a:r>
                        <a:rPr sz="1875" spc="127" baseline="26666" dirty="0">
                          <a:latin typeface="Calibri"/>
                          <a:cs typeface="Calibri"/>
                        </a:rPr>
                        <a:t> </a:t>
                      </a:r>
                      <a:r>
                        <a:rPr sz="1900" dirty="0">
                          <a:latin typeface="Calibri"/>
                          <a:cs typeface="Calibri"/>
                        </a:rPr>
                        <a:t>Constitutional</a:t>
                      </a:r>
                      <a:r>
                        <a:rPr sz="1900" spc="-45" dirty="0">
                          <a:latin typeface="Calibri"/>
                          <a:cs typeface="Calibri"/>
                        </a:rPr>
                        <a:t> </a:t>
                      </a:r>
                      <a:r>
                        <a:rPr sz="1900" spc="-10" dirty="0">
                          <a:latin typeface="Calibri"/>
                          <a:cs typeface="Calibri"/>
                        </a:rPr>
                        <a:t>Amendment</a:t>
                      </a:r>
                      <a:endParaRPr sz="1900">
                        <a:latin typeface="Calibri"/>
                        <a:cs typeface="Calibri"/>
                      </a:endParaRPr>
                    </a:p>
                    <a:p>
                      <a:pPr marL="91440">
                        <a:lnSpc>
                          <a:spcPct val="100000"/>
                        </a:lnSpc>
                      </a:pPr>
                      <a:r>
                        <a:rPr sz="1900" spc="-20" dirty="0">
                          <a:latin typeface="Calibri"/>
                          <a:cs typeface="Calibri"/>
                        </a:rPr>
                        <a:t>Act]</a:t>
                      </a:r>
                      <a:endParaRPr sz="19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AEEF7"/>
                    </a:solidFill>
                  </a:tcPr>
                </a:tc>
                <a:extLst>
                  <a:ext uri="{0D108BD9-81ED-4DB2-BD59-A6C34878D82A}">
                    <a16:rowId xmlns:a16="http://schemas.microsoft.com/office/drawing/2014/main" val="10002"/>
                  </a:ext>
                </a:extLst>
              </a:tr>
              <a:tr h="960119">
                <a:tc>
                  <a:txBody>
                    <a:bodyPr/>
                    <a:lstStyle/>
                    <a:p>
                      <a:pPr algn="ctr">
                        <a:lnSpc>
                          <a:spcPct val="100000"/>
                        </a:lnSpc>
                        <a:spcBef>
                          <a:spcPts val="240"/>
                        </a:spcBef>
                      </a:pPr>
                      <a:r>
                        <a:rPr sz="1900" spc="-25" dirty="0">
                          <a:latin typeface="Calibri"/>
                          <a:cs typeface="Calibri"/>
                        </a:rPr>
                        <a:t>3.</a:t>
                      </a:r>
                      <a:endParaRPr sz="19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2DEEE"/>
                    </a:solidFill>
                  </a:tcPr>
                </a:tc>
                <a:tc>
                  <a:txBody>
                    <a:bodyPr/>
                    <a:lstStyle/>
                    <a:p>
                      <a:pPr algn="ctr">
                        <a:lnSpc>
                          <a:spcPct val="100000"/>
                        </a:lnSpc>
                        <a:spcBef>
                          <a:spcPts val="240"/>
                        </a:spcBef>
                      </a:pPr>
                      <a:r>
                        <a:rPr sz="1900" spc="-10" dirty="0">
                          <a:latin typeface="Calibri"/>
                          <a:cs typeface="Calibri"/>
                        </a:rPr>
                        <a:t>State</a:t>
                      </a:r>
                      <a:endParaRPr sz="19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2DEEE"/>
                    </a:solidFill>
                  </a:tcPr>
                </a:tc>
                <a:tc>
                  <a:txBody>
                    <a:bodyPr/>
                    <a:lstStyle/>
                    <a:p>
                      <a:pPr marL="160655">
                        <a:lnSpc>
                          <a:spcPct val="100000"/>
                        </a:lnSpc>
                        <a:spcBef>
                          <a:spcPts val="240"/>
                        </a:spcBef>
                      </a:pPr>
                      <a:r>
                        <a:rPr sz="1900" spc="-10" dirty="0">
                          <a:latin typeface="Calibri"/>
                          <a:cs typeface="Calibri"/>
                        </a:rPr>
                        <a:t>366(26B)</a:t>
                      </a:r>
                      <a:endParaRPr sz="19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2DEEE"/>
                    </a:solidFill>
                  </a:tcPr>
                </a:tc>
                <a:tc>
                  <a:txBody>
                    <a:bodyPr/>
                    <a:lstStyle/>
                    <a:p>
                      <a:pPr marL="91440" marR="414655">
                        <a:lnSpc>
                          <a:spcPct val="100000"/>
                        </a:lnSpc>
                        <a:spcBef>
                          <a:spcPts val="240"/>
                        </a:spcBef>
                      </a:pPr>
                      <a:r>
                        <a:rPr sz="1900" dirty="0">
                          <a:latin typeface="Calibri"/>
                          <a:cs typeface="Calibri"/>
                        </a:rPr>
                        <a:t>With</a:t>
                      </a:r>
                      <a:r>
                        <a:rPr sz="1900" spc="-70" dirty="0">
                          <a:latin typeface="Calibri"/>
                          <a:cs typeface="Calibri"/>
                        </a:rPr>
                        <a:t> </a:t>
                      </a:r>
                      <a:r>
                        <a:rPr sz="1900" spc="-10" dirty="0">
                          <a:latin typeface="Calibri"/>
                          <a:cs typeface="Calibri"/>
                        </a:rPr>
                        <a:t>reference</a:t>
                      </a:r>
                      <a:r>
                        <a:rPr sz="1900" spc="-55" dirty="0">
                          <a:latin typeface="Calibri"/>
                          <a:cs typeface="Calibri"/>
                        </a:rPr>
                        <a:t> </a:t>
                      </a:r>
                      <a:r>
                        <a:rPr sz="1900" dirty="0">
                          <a:latin typeface="Calibri"/>
                          <a:cs typeface="Calibri"/>
                        </a:rPr>
                        <a:t>to</a:t>
                      </a:r>
                      <a:r>
                        <a:rPr sz="1900" spc="-65" dirty="0">
                          <a:latin typeface="Calibri"/>
                          <a:cs typeface="Calibri"/>
                        </a:rPr>
                        <a:t> </a:t>
                      </a:r>
                      <a:r>
                        <a:rPr sz="1900" dirty="0">
                          <a:latin typeface="Calibri"/>
                          <a:cs typeface="Calibri"/>
                        </a:rPr>
                        <a:t>articles</a:t>
                      </a:r>
                      <a:r>
                        <a:rPr sz="1900" spc="-60" dirty="0">
                          <a:latin typeface="Calibri"/>
                          <a:cs typeface="Calibri"/>
                        </a:rPr>
                        <a:t> </a:t>
                      </a:r>
                      <a:r>
                        <a:rPr sz="1900" dirty="0">
                          <a:latin typeface="Calibri"/>
                          <a:cs typeface="Calibri"/>
                        </a:rPr>
                        <a:t>246A,</a:t>
                      </a:r>
                      <a:r>
                        <a:rPr sz="1900" spc="-45" dirty="0">
                          <a:latin typeface="Calibri"/>
                          <a:cs typeface="Calibri"/>
                        </a:rPr>
                        <a:t> </a:t>
                      </a:r>
                      <a:r>
                        <a:rPr sz="1900" dirty="0">
                          <a:latin typeface="Calibri"/>
                          <a:cs typeface="Calibri"/>
                        </a:rPr>
                        <a:t>268,</a:t>
                      </a:r>
                      <a:r>
                        <a:rPr sz="1900" spc="-70" dirty="0">
                          <a:latin typeface="Calibri"/>
                          <a:cs typeface="Calibri"/>
                        </a:rPr>
                        <a:t> </a:t>
                      </a:r>
                      <a:r>
                        <a:rPr sz="1900" dirty="0">
                          <a:latin typeface="Calibri"/>
                          <a:cs typeface="Calibri"/>
                        </a:rPr>
                        <a:t>269,269A</a:t>
                      </a:r>
                      <a:r>
                        <a:rPr sz="1900" spc="-45" dirty="0">
                          <a:latin typeface="Calibri"/>
                          <a:cs typeface="Calibri"/>
                        </a:rPr>
                        <a:t> </a:t>
                      </a:r>
                      <a:r>
                        <a:rPr sz="1900" dirty="0">
                          <a:latin typeface="Calibri"/>
                          <a:cs typeface="Calibri"/>
                        </a:rPr>
                        <a:t>and</a:t>
                      </a:r>
                      <a:r>
                        <a:rPr sz="1900" spc="-65" dirty="0">
                          <a:latin typeface="Calibri"/>
                          <a:cs typeface="Calibri"/>
                        </a:rPr>
                        <a:t> </a:t>
                      </a:r>
                      <a:r>
                        <a:rPr sz="1900" dirty="0">
                          <a:latin typeface="Calibri"/>
                          <a:cs typeface="Calibri"/>
                        </a:rPr>
                        <a:t>Article</a:t>
                      </a:r>
                      <a:r>
                        <a:rPr sz="1900" spc="-35" dirty="0">
                          <a:latin typeface="Calibri"/>
                          <a:cs typeface="Calibri"/>
                        </a:rPr>
                        <a:t> </a:t>
                      </a:r>
                      <a:r>
                        <a:rPr sz="1900" dirty="0">
                          <a:latin typeface="Calibri"/>
                          <a:cs typeface="Calibri"/>
                        </a:rPr>
                        <a:t>279A</a:t>
                      </a:r>
                      <a:r>
                        <a:rPr sz="1900" spc="-70" dirty="0">
                          <a:latin typeface="Calibri"/>
                          <a:cs typeface="Calibri"/>
                        </a:rPr>
                        <a:t> </a:t>
                      </a:r>
                      <a:r>
                        <a:rPr sz="1900" dirty="0">
                          <a:latin typeface="Calibri"/>
                          <a:cs typeface="Calibri"/>
                        </a:rPr>
                        <a:t>includes</a:t>
                      </a:r>
                      <a:r>
                        <a:rPr sz="1900" spc="-45" dirty="0">
                          <a:latin typeface="Calibri"/>
                          <a:cs typeface="Calibri"/>
                        </a:rPr>
                        <a:t> </a:t>
                      </a:r>
                      <a:r>
                        <a:rPr sz="1900" spc="-50" dirty="0">
                          <a:latin typeface="Calibri"/>
                          <a:cs typeface="Calibri"/>
                        </a:rPr>
                        <a:t>a </a:t>
                      </a:r>
                      <a:r>
                        <a:rPr sz="1900" dirty="0">
                          <a:latin typeface="Calibri"/>
                          <a:cs typeface="Calibri"/>
                        </a:rPr>
                        <a:t>Union</a:t>
                      </a:r>
                      <a:r>
                        <a:rPr sz="1900" spc="-40" dirty="0">
                          <a:latin typeface="Calibri"/>
                          <a:cs typeface="Calibri"/>
                        </a:rPr>
                        <a:t> </a:t>
                      </a:r>
                      <a:r>
                        <a:rPr sz="1900" dirty="0">
                          <a:latin typeface="Calibri"/>
                          <a:cs typeface="Calibri"/>
                        </a:rPr>
                        <a:t>territory</a:t>
                      </a:r>
                      <a:r>
                        <a:rPr sz="1900" spc="-30" dirty="0">
                          <a:latin typeface="Calibri"/>
                          <a:cs typeface="Calibri"/>
                        </a:rPr>
                        <a:t> </a:t>
                      </a:r>
                      <a:r>
                        <a:rPr sz="1900" dirty="0">
                          <a:latin typeface="Calibri"/>
                          <a:cs typeface="Calibri"/>
                        </a:rPr>
                        <a:t>with</a:t>
                      </a:r>
                      <a:r>
                        <a:rPr sz="1900" spc="-50" dirty="0">
                          <a:latin typeface="Calibri"/>
                          <a:cs typeface="Calibri"/>
                        </a:rPr>
                        <a:t> </a:t>
                      </a:r>
                      <a:r>
                        <a:rPr sz="1900" spc="-10" dirty="0">
                          <a:latin typeface="Calibri"/>
                          <a:cs typeface="Calibri"/>
                        </a:rPr>
                        <a:t>Legislature.</a:t>
                      </a:r>
                      <a:r>
                        <a:rPr sz="1900" spc="-25" dirty="0">
                          <a:latin typeface="Calibri"/>
                          <a:cs typeface="Calibri"/>
                        </a:rPr>
                        <a:t> </a:t>
                      </a:r>
                      <a:r>
                        <a:rPr sz="1900" spc="-10" dirty="0">
                          <a:latin typeface="Calibri"/>
                          <a:cs typeface="Calibri"/>
                        </a:rPr>
                        <a:t>[Introduced</a:t>
                      </a:r>
                      <a:r>
                        <a:rPr sz="1900" spc="-30" dirty="0">
                          <a:latin typeface="Calibri"/>
                          <a:cs typeface="Calibri"/>
                        </a:rPr>
                        <a:t> </a:t>
                      </a:r>
                      <a:r>
                        <a:rPr sz="1900" dirty="0">
                          <a:latin typeface="Calibri"/>
                          <a:cs typeface="Calibri"/>
                        </a:rPr>
                        <a:t>vide</a:t>
                      </a:r>
                      <a:r>
                        <a:rPr sz="1900" spc="-40" dirty="0">
                          <a:latin typeface="Calibri"/>
                          <a:cs typeface="Calibri"/>
                        </a:rPr>
                        <a:t> </a:t>
                      </a:r>
                      <a:r>
                        <a:rPr sz="1900" dirty="0">
                          <a:latin typeface="Calibri"/>
                          <a:cs typeface="Calibri"/>
                        </a:rPr>
                        <a:t>101</a:t>
                      </a:r>
                      <a:r>
                        <a:rPr sz="1875" baseline="26666" dirty="0">
                          <a:latin typeface="Calibri"/>
                          <a:cs typeface="Calibri"/>
                        </a:rPr>
                        <a:t>st</a:t>
                      </a:r>
                      <a:r>
                        <a:rPr sz="1875" spc="142" baseline="26666" dirty="0">
                          <a:latin typeface="Calibri"/>
                          <a:cs typeface="Calibri"/>
                        </a:rPr>
                        <a:t> </a:t>
                      </a:r>
                      <a:r>
                        <a:rPr sz="1900" spc="-10" dirty="0">
                          <a:latin typeface="Calibri"/>
                          <a:cs typeface="Calibri"/>
                        </a:rPr>
                        <a:t>Constitutional Amendment</a:t>
                      </a:r>
                      <a:r>
                        <a:rPr sz="1900" spc="-40" dirty="0">
                          <a:latin typeface="Calibri"/>
                          <a:cs typeface="Calibri"/>
                        </a:rPr>
                        <a:t> </a:t>
                      </a:r>
                      <a:r>
                        <a:rPr sz="1900" spc="-20" dirty="0">
                          <a:latin typeface="Calibri"/>
                          <a:cs typeface="Calibri"/>
                        </a:rPr>
                        <a:t>Act]</a:t>
                      </a:r>
                      <a:endParaRPr sz="19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2DEEE"/>
                    </a:solidFill>
                  </a:tcPr>
                </a:tc>
                <a:extLst>
                  <a:ext uri="{0D108BD9-81ED-4DB2-BD59-A6C34878D82A}">
                    <a16:rowId xmlns:a16="http://schemas.microsoft.com/office/drawing/2014/main" val="10003"/>
                  </a:ext>
                </a:extLst>
              </a:tr>
            </a:tbl>
          </a:graphicData>
        </a:graphic>
      </p:graphicFrame>
      <p:sp>
        <p:nvSpPr>
          <p:cNvPr id="9" name="object 9"/>
          <p:cNvSpPr txBox="1"/>
          <p:nvPr/>
        </p:nvSpPr>
        <p:spPr>
          <a:xfrm>
            <a:off x="828547" y="5284723"/>
            <a:ext cx="10686415" cy="940435"/>
          </a:xfrm>
          <a:prstGeom prst="rect">
            <a:avLst/>
          </a:prstGeom>
        </p:spPr>
        <p:txBody>
          <a:bodyPr vert="horz" wrap="square" lIns="0" tIns="12700" rIns="0" bIns="0" rtlCol="0">
            <a:spAutoFit/>
          </a:bodyPr>
          <a:lstStyle/>
          <a:p>
            <a:pPr marL="12700" marR="5080" algn="just">
              <a:lnSpc>
                <a:spcPct val="100000"/>
              </a:lnSpc>
              <a:spcBef>
                <a:spcPts val="100"/>
              </a:spcBef>
            </a:pPr>
            <a:r>
              <a:rPr sz="2000" b="1" dirty="0">
                <a:latin typeface="Calibri"/>
                <a:cs typeface="Calibri"/>
              </a:rPr>
              <a:t>“Goods</a:t>
            </a:r>
            <a:r>
              <a:rPr sz="2000" b="1" spc="50" dirty="0">
                <a:latin typeface="Calibri"/>
                <a:cs typeface="Calibri"/>
              </a:rPr>
              <a:t> </a:t>
            </a:r>
            <a:r>
              <a:rPr sz="2000" b="1" dirty="0">
                <a:latin typeface="Calibri"/>
                <a:cs typeface="Calibri"/>
              </a:rPr>
              <a:t>and</a:t>
            </a:r>
            <a:r>
              <a:rPr sz="2000" b="1" spc="55" dirty="0">
                <a:latin typeface="Calibri"/>
                <a:cs typeface="Calibri"/>
              </a:rPr>
              <a:t> </a:t>
            </a:r>
            <a:r>
              <a:rPr sz="2000" b="1" dirty="0">
                <a:latin typeface="Calibri"/>
                <a:cs typeface="Calibri"/>
              </a:rPr>
              <a:t>Services</a:t>
            </a:r>
            <a:r>
              <a:rPr sz="2000" b="1" spc="55" dirty="0">
                <a:latin typeface="Calibri"/>
                <a:cs typeface="Calibri"/>
              </a:rPr>
              <a:t> </a:t>
            </a:r>
            <a:r>
              <a:rPr sz="2000" b="1" dirty="0">
                <a:latin typeface="Calibri"/>
                <a:cs typeface="Calibri"/>
              </a:rPr>
              <a:t>tax”</a:t>
            </a:r>
            <a:r>
              <a:rPr sz="2000" b="1" spc="55" dirty="0">
                <a:latin typeface="Calibri"/>
                <a:cs typeface="Calibri"/>
              </a:rPr>
              <a:t> </a:t>
            </a:r>
            <a:r>
              <a:rPr sz="2000" dirty="0">
                <a:latin typeface="Calibri"/>
                <a:cs typeface="Calibri"/>
              </a:rPr>
              <a:t>law</a:t>
            </a:r>
            <a:r>
              <a:rPr sz="2000" spc="45" dirty="0">
                <a:latin typeface="Calibri"/>
                <a:cs typeface="Calibri"/>
              </a:rPr>
              <a:t> </a:t>
            </a:r>
            <a:r>
              <a:rPr sz="2000" dirty="0">
                <a:latin typeface="Calibri"/>
                <a:cs typeface="Calibri"/>
              </a:rPr>
              <a:t>while</a:t>
            </a:r>
            <a:r>
              <a:rPr sz="2000" spc="50" dirty="0">
                <a:latin typeface="Calibri"/>
                <a:cs typeface="Calibri"/>
              </a:rPr>
              <a:t> </a:t>
            </a:r>
            <a:r>
              <a:rPr sz="2000" dirty="0">
                <a:latin typeface="Calibri"/>
                <a:cs typeface="Calibri"/>
              </a:rPr>
              <a:t>having</a:t>
            </a:r>
            <a:r>
              <a:rPr sz="2000" spc="50" dirty="0">
                <a:latin typeface="Calibri"/>
                <a:cs typeface="Calibri"/>
              </a:rPr>
              <a:t> </a:t>
            </a:r>
            <a:r>
              <a:rPr sz="2000" dirty="0">
                <a:latin typeface="Calibri"/>
                <a:cs typeface="Calibri"/>
              </a:rPr>
              <a:t>unique</a:t>
            </a:r>
            <a:r>
              <a:rPr sz="2000" spc="50" dirty="0">
                <a:latin typeface="Calibri"/>
                <a:cs typeface="Calibri"/>
              </a:rPr>
              <a:t> </a:t>
            </a:r>
            <a:r>
              <a:rPr sz="2000" dirty="0">
                <a:latin typeface="Calibri"/>
                <a:cs typeface="Calibri"/>
              </a:rPr>
              <a:t>principles,</a:t>
            </a:r>
            <a:r>
              <a:rPr sz="2000" spc="60" dirty="0">
                <a:latin typeface="Calibri"/>
                <a:cs typeface="Calibri"/>
              </a:rPr>
              <a:t> </a:t>
            </a:r>
            <a:r>
              <a:rPr sz="2000" dirty="0">
                <a:latin typeface="Calibri"/>
                <a:cs typeface="Calibri"/>
              </a:rPr>
              <a:t>has</a:t>
            </a:r>
            <a:r>
              <a:rPr sz="2000" spc="55" dirty="0">
                <a:latin typeface="Calibri"/>
                <a:cs typeface="Calibri"/>
              </a:rPr>
              <a:t> </a:t>
            </a:r>
            <a:r>
              <a:rPr sz="2000" dirty="0">
                <a:latin typeface="Calibri"/>
                <a:cs typeface="Calibri"/>
              </a:rPr>
              <a:t>significant</a:t>
            </a:r>
            <a:r>
              <a:rPr sz="2000" spc="50" dirty="0">
                <a:latin typeface="Calibri"/>
                <a:cs typeface="Calibri"/>
              </a:rPr>
              <a:t> </a:t>
            </a:r>
            <a:r>
              <a:rPr sz="2000" dirty="0">
                <a:latin typeface="Calibri"/>
                <a:cs typeface="Calibri"/>
              </a:rPr>
              <a:t>elements</a:t>
            </a:r>
            <a:r>
              <a:rPr sz="2000" spc="65" dirty="0">
                <a:latin typeface="Calibri"/>
                <a:cs typeface="Calibri"/>
              </a:rPr>
              <a:t> </a:t>
            </a:r>
            <a:r>
              <a:rPr sz="2000" dirty="0">
                <a:latin typeface="Calibri"/>
                <a:cs typeface="Calibri"/>
              </a:rPr>
              <a:t>of</a:t>
            </a:r>
            <a:r>
              <a:rPr sz="2000" spc="55" dirty="0">
                <a:latin typeface="Calibri"/>
                <a:cs typeface="Calibri"/>
              </a:rPr>
              <a:t> </a:t>
            </a:r>
            <a:r>
              <a:rPr sz="2000" dirty="0">
                <a:latin typeface="Calibri"/>
                <a:cs typeface="Calibri"/>
              </a:rPr>
              <a:t>prior</a:t>
            </a:r>
            <a:r>
              <a:rPr sz="2000" spc="40" dirty="0">
                <a:latin typeface="Calibri"/>
                <a:cs typeface="Calibri"/>
              </a:rPr>
              <a:t> </a:t>
            </a:r>
            <a:r>
              <a:rPr sz="2000" spc="-10" dirty="0">
                <a:latin typeface="Calibri"/>
                <a:cs typeface="Calibri"/>
              </a:rPr>
              <a:t>Central </a:t>
            </a:r>
            <a:r>
              <a:rPr sz="2000" dirty="0">
                <a:latin typeface="Calibri"/>
                <a:cs typeface="Calibri"/>
              </a:rPr>
              <a:t>and</a:t>
            </a:r>
            <a:r>
              <a:rPr sz="2000" spc="170" dirty="0">
                <a:latin typeface="Calibri"/>
                <a:cs typeface="Calibri"/>
              </a:rPr>
              <a:t> </a:t>
            </a:r>
            <a:r>
              <a:rPr sz="2000" dirty="0">
                <a:latin typeface="Calibri"/>
                <a:cs typeface="Calibri"/>
              </a:rPr>
              <a:t>State</a:t>
            </a:r>
            <a:r>
              <a:rPr sz="2000" spc="170" dirty="0">
                <a:latin typeface="Calibri"/>
                <a:cs typeface="Calibri"/>
              </a:rPr>
              <a:t> </a:t>
            </a:r>
            <a:r>
              <a:rPr sz="2000" dirty="0">
                <a:latin typeface="Calibri"/>
                <a:cs typeface="Calibri"/>
              </a:rPr>
              <a:t>laws;</a:t>
            </a:r>
            <a:r>
              <a:rPr sz="2000" spc="175" dirty="0">
                <a:latin typeface="Calibri"/>
                <a:cs typeface="Calibri"/>
              </a:rPr>
              <a:t> </a:t>
            </a:r>
            <a:r>
              <a:rPr sz="2000" dirty="0">
                <a:latin typeface="Calibri"/>
                <a:cs typeface="Calibri"/>
              </a:rPr>
              <a:t>and</a:t>
            </a:r>
            <a:r>
              <a:rPr sz="2000" spc="165" dirty="0">
                <a:latin typeface="Calibri"/>
                <a:cs typeface="Calibri"/>
              </a:rPr>
              <a:t> </a:t>
            </a:r>
            <a:r>
              <a:rPr sz="2000" dirty="0">
                <a:latin typeface="Calibri"/>
                <a:cs typeface="Calibri"/>
              </a:rPr>
              <a:t>is</a:t>
            </a:r>
            <a:r>
              <a:rPr sz="2000" spc="165" dirty="0">
                <a:latin typeface="Calibri"/>
                <a:cs typeface="Calibri"/>
              </a:rPr>
              <a:t> </a:t>
            </a:r>
            <a:r>
              <a:rPr sz="2000" dirty="0">
                <a:latin typeface="Calibri"/>
                <a:cs typeface="Calibri"/>
              </a:rPr>
              <a:t>also</a:t>
            </a:r>
            <a:r>
              <a:rPr sz="2000" spc="165" dirty="0">
                <a:latin typeface="Calibri"/>
                <a:cs typeface="Calibri"/>
              </a:rPr>
              <a:t> </a:t>
            </a:r>
            <a:r>
              <a:rPr sz="2000" dirty="0">
                <a:latin typeface="Calibri"/>
                <a:cs typeface="Calibri"/>
              </a:rPr>
              <a:t>inspired</a:t>
            </a:r>
            <a:r>
              <a:rPr sz="2000" spc="170" dirty="0">
                <a:latin typeface="Calibri"/>
                <a:cs typeface="Calibri"/>
              </a:rPr>
              <a:t> </a:t>
            </a:r>
            <a:r>
              <a:rPr sz="2000" dirty="0">
                <a:latin typeface="Calibri"/>
                <a:cs typeface="Calibri"/>
              </a:rPr>
              <a:t>by</a:t>
            </a:r>
            <a:r>
              <a:rPr sz="2000" spc="175" dirty="0">
                <a:latin typeface="Calibri"/>
                <a:cs typeface="Calibri"/>
              </a:rPr>
              <a:t> </a:t>
            </a:r>
            <a:r>
              <a:rPr sz="2000" spc="-20" dirty="0">
                <a:latin typeface="Calibri"/>
                <a:cs typeface="Calibri"/>
              </a:rPr>
              <a:t>VAT/GST</a:t>
            </a:r>
            <a:r>
              <a:rPr sz="2000" spc="170" dirty="0">
                <a:latin typeface="Calibri"/>
                <a:cs typeface="Calibri"/>
              </a:rPr>
              <a:t> </a:t>
            </a:r>
            <a:r>
              <a:rPr sz="2000" dirty="0">
                <a:latin typeface="Calibri"/>
                <a:cs typeface="Calibri"/>
              </a:rPr>
              <a:t>legislation</a:t>
            </a:r>
            <a:r>
              <a:rPr sz="2000" spc="165" dirty="0">
                <a:latin typeface="Calibri"/>
                <a:cs typeface="Calibri"/>
              </a:rPr>
              <a:t> </a:t>
            </a:r>
            <a:r>
              <a:rPr sz="2000" dirty="0">
                <a:latin typeface="Calibri"/>
                <a:cs typeface="Calibri"/>
              </a:rPr>
              <a:t>of</a:t>
            </a:r>
            <a:r>
              <a:rPr sz="2000" spc="155" dirty="0">
                <a:latin typeface="Calibri"/>
                <a:cs typeface="Calibri"/>
              </a:rPr>
              <a:t> </a:t>
            </a:r>
            <a:r>
              <a:rPr sz="2000" dirty="0">
                <a:latin typeface="Calibri"/>
                <a:cs typeface="Calibri"/>
              </a:rPr>
              <a:t>EU,</a:t>
            </a:r>
            <a:r>
              <a:rPr sz="2000" spc="165" dirty="0">
                <a:latin typeface="Calibri"/>
                <a:cs typeface="Calibri"/>
              </a:rPr>
              <a:t> </a:t>
            </a:r>
            <a:r>
              <a:rPr sz="2000" dirty="0">
                <a:latin typeface="Calibri"/>
                <a:cs typeface="Calibri"/>
              </a:rPr>
              <a:t>Australia,</a:t>
            </a:r>
            <a:r>
              <a:rPr sz="2000" spc="175" dirty="0">
                <a:latin typeface="Calibri"/>
                <a:cs typeface="Calibri"/>
              </a:rPr>
              <a:t> </a:t>
            </a:r>
            <a:r>
              <a:rPr sz="2000" dirty="0">
                <a:latin typeface="Calibri"/>
                <a:cs typeface="Calibri"/>
              </a:rPr>
              <a:t>Malaysia</a:t>
            </a:r>
            <a:r>
              <a:rPr sz="2000" spc="175" dirty="0">
                <a:latin typeface="Calibri"/>
                <a:cs typeface="Calibri"/>
              </a:rPr>
              <a:t> </a:t>
            </a:r>
            <a:r>
              <a:rPr sz="2000" dirty="0">
                <a:latin typeface="Calibri"/>
                <a:cs typeface="Calibri"/>
              </a:rPr>
              <a:t>etc.</a:t>
            </a:r>
            <a:r>
              <a:rPr sz="2000" spc="165" dirty="0">
                <a:latin typeface="Calibri"/>
                <a:cs typeface="Calibri"/>
              </a:rPr>
              <a:t> </a:t>
            </a:r>
            <a:r>
              <a:rPr sz="2000" dirty="0">
                <a:latin typeface="Calibri"/>
                <a:cs typeface="Calibri"/>
              </a:rPr>
              <a:t>along</a:t>
            </a:r>
            <a:r>
              <a:rPr sz="2000" spc="180" dirty="0">
                <a:latin typeface="Calibri"/>
                <a:cs typeface="Calibri"/>
              </a:rPr>
              <a:t> </a:t>
            </a:r>
            <a:r>
              <a:rPr sz="2000" spc="-20" dirty="0">
                <a:latin typeface="Calibri"/>
                <a:cs typeface="Calibri"/>
              </a:rPr>
              <a:t>with </a:t>
            </a:r>
            <a:r>
              <a:rPr sz="2000" spc="-10" dirty="0">
                <a:latin typeface="Calibri"/>
                <a:cs typeface="Calibri"/>
              </a:rPr>
              <a:t>International</a:t>
            </a:r>
            <a:r>
              <a:rPr sz="2000" spc="-40" dirty="0">
                <a:latin typeface="Calibri"/>
                <a:cs typeface="Calibri"/>
              </a:rPr>
              <a:t> </a:t>
            </a:r>
            <a:r>
              <a:rPr sz="2000" spc="-55" dirty="0">
                <a:latin typeface="Calibri"/>
                <a:cs typeface="Calibri"/>
              </a:rPr>
              <a:t>VAT/GST</a:t>
            </a:r>
            <a:r>
              <a:rPr sz="2000" spc="-50" dirty="0">
                <a:latin typeface="Calibri"/>
                <a:cs typeface="Calibri"/>
              </a:rPr>
              <a:t> </a:t>
            </a:r>
            <a:r>
              <a:rPr sz="2000" dirty="0">
                <a:latin typeface="Calibri"/>
                <a:cs typeface="Calibri"/>
              </a:rPr>
              <a:t>guidelines</a:t>
            </a:r>
            <a:r>
              <a:rPr sz="2000" spc="-45" dirty="0">
                <a:latin typeface="Calibri"/>
                <a:cs typeface="Calibri"/>
              </a:rPr>
              <a:t> </a:t>
            </a:r>
            <a:r>
              <a:rPr sz="2000" dirty="0">
                <a:latin typeface="Calibri"/>
                <a:cs typeface="Calibri"/>
              </a:rPr>
              <a:t>of</a:t>
            </a:r>
            <a:r>
              <a:rPr sz="2000" spc="-60" dirty="0">
                <a:latin typeface="Calibri"/>
                <a:cs typeface="Calibri"/>
              </a:rPr>
              <a:t> </a:t>
            </a:r>
            <a:r>
              <a:rPr sz="2000" spc="-20" dirty="0">
                <a:latin typeface="Calibri"/>
                <a:cs typeface="Calibri"/>
              </a:rPr>
              <a:t>OECD</a:t>
            </a:r>
            <a:endParaRPr sz="2000">
              <a:latin typeface="Calibri"/>
              <a:cs typeface="Calibri"/>
            </a:endParaRPr>
          </a:p>
        </p:txBody>
      </p:sp>
      <p:sp>
        <p:nvSpPr>
          <p:cNvPr id="10" name="object 10"/>
          <p:cNvSpPr txBox="1">
            <a:spLocks noGrp="1"/>
          </p:cNvSpPr>
          <p:nvPr>
            <p:ph type="title"/>
          </p:nvPr>
        </p:nvSpPr>
        <p:spPr>
          <a:xfrm>
            <a:off x="913954" y="283606"/>
            <a:ext cx="10515600" cy="690574"/>
          </a:xfrm>
          <a:prstGeom prst="rect">
            <a:avLst/>
          </a:prstGeom>
        </p:spPr>
        <p:txBody>
          <a:bodyPr vert="horz" wrap="square" lIns="0" tIns="13335" rIns="0" bIns="0" rtlCol="0">
            <a:spAutoFit/>
          </a:bodyPr>
          <a:lstStyle/>
          <a:p>
            <a:pPr marL="36195">
              <a:lnSpc>
                <a:spcPct val="100000"/>
              </a:lnSpc>
              <a:spcBef>
                <a:spcPts val="105"/>
              </a:spcBef>
            </a:pPr>
            <a:r>
              <a:rPr dirty="0">
                <a:solidFill>
                  <a:srgbClr val="212A35"/>
                </a:solidFill>
              </a:rPr>
              <a:t>GST</a:t>
            </a:r>
            <a:r>
              <a:rPr spc="-50" dirty="0">
                <a:solidFill>
                  <a:srgbClr val="212A35"/>
                </a:solidFill>
              </a:rPr>
              <a:t> </a:t>
            </a:r>
            <a:r>
              <a:rPr dirty="0">
                <a:solidFill>
                  <a:srgbClr val="212A35"/>
                </a:solidFill>
              </a:rPr>
              <a:t>Law</a:t>
            </a:r>
            <a:r>
              <a:rPr spc="-35" dirty="0">
                <a:solidFill>
                  <a:srgbClr val="212A35"/>
                </a:solidFill>
              </a:rPr>
              <a:t> </a:t>
            </a:r>
            <a:r>
              <a:rPr dirty="0">
                <a:solidFill>
                  <a:srgbClr val="212A35"/>
                </a:solidFill>
              </a:rPr>
              <a:t>from</a:t>
            </a:r>
            <a:r>
              <a:rPr spc="-40" dirty="0">
                <a:solidFill>
                  <a:srgbClr val="212A35"/>
                </a:solidFill>
              </a:rPr>
              <a:t> </a:t>
            </a:r>
            <a:r>
              <a:rPr dirty="0">
                <a:solidFill>
                  <a:srgbClr val="212A35"/>
                </a:solidFill>
              </a:rPr>
              <a:t>a</a:t>
            </a:r>
            <a:r>
              <a:rPr spc="-30" dirty="0">
                <a:solidFill>
                  <a:srgbClr val="212A35"/>
                </a:solidFill>
              </a:rPr>
              <a:t> </a:t>
            </a:r>
            <a:r>
              <a:rPr dirty="0">
                <a:solidFill>
                  <a:srgbClr val="212A35"/>
                </a:solidFill>
              </a:rPr>
              <a:t>Constitutional</a:t>
            </a:r>
            <a:r>
              <a:rPr spc="-55" dirty="0">
                <a:solidFill>
                  <a:srgbClr val="212A35"/>
                </a:solidFill>
              </a:rPr>
              <a:t> </a:t>
            </a:r>
            <a:r>
              <a:rPr dirty="0">
                <a:solidFill>
                  <a:srgbClr val="212A35"/>
                </a:solidFill>
              </a:rPr>
              <a:t>Perspective</a:t>
            </a:r>
            <a:r>
              <a:rPr spc="-50" dirty="0">
                <a:solidFill>
                  <a:srgbClr val="212A35"/>
                </a:solidFill>
              </a:rPr>
              <a:t> </a:t>
            </a:r>
            <a:endParaRPr spc="-10" dirty="0">
              <a:solidFill>
                <a:srgbClr val="FF0000"/>
              </a:solidFill>
            </a:endParaRPr>
          </a:p>
        </p:txBody>
      </p:sp>
    </p:spTree>
    <p:extLst>
      <p:ext uri="{BB962C8B-B14F-4D97-AF65-F5344CB8AC3E}">
        <p14:creationId xmlns:p14="http://schemas.microsoft.com/office/powerpoint/2010/main" val="213590224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1464" y="6563664"/>
            <a:ext cx="102870" cy="208279"/>
          </a:xfrm>
          <a:prstGeom prst="rect">
            <a:avLst/>
          </a:prstGeom>
        </p:spPr>
        <p:txBody>
          <a:bodyPr vert="horz" wrap="square" lIns="0" tIns="12700" rIns="0" bIns="0" rtlCol="0">
            <a:spAutoFit/>
          </a:bodyPr>
          <a:lstStyle/>
          <a:p>
            <a:pPr marL="12700">
              <a:lnSpc>
                <a:spcPct val="100000"/>
              </a:lnSpc>
              <a:spcBef>
                <a:spcPts val="100"/>
              </a:spcBef>
            </a:pPr>
            <a:r>
              <a:rPr sz="1200" spc="-50" dirty="0">
                <a:solidFill>
                  <a:srgbClr val="888888"/>
                </a:solidFill>
                <a:latin typeface="Calibri"/>
                <a:cs typeface="Calibri"/>
              </a:rPr>
              <a:t>5</a:t>
            </a:r>
            <a:endParaRPr sz="1200">
              <a:latin typeface="Calibri"/>
              <a:cs typeface="Calibri"/>
            </a:endParaRPr>
          </a:p>
        </p:txBody>
      </p:sp>
      <p:sp>
        <p:nvSpPr>
          <p:cNvPr id="3" name="object 3"/>
          <p:cNvSpPr txBox="1">
            <a:spLocks noGrp="1"/>
          </p:cNvSpPr>
          <p:nvPr>
            <p:ph type="title"/>
          </p:nvPr>
        </p:nvSpPr>
        <p:spPr>
          <a:xfrm>
            <a:off x="1084385" y="178528"/>
            <a:ext cx="10515600" cy="690574"/>
          </a:xfrm>
          <a:prstGeom prst="rect">
            <a:avLst/>
          </a:prstGeom>
        </p:spPr>
        <p:txBody>
          <a:bodyPr vert="horz" wrap="square" lIns="0" tIns="13335" rIns="0" bIns="0" rtlCol="0">
            <a:spAutoFit/>
          </a:bodyPr>
          <a:lstStyle/>
          <a:p>
            <a:pPr marL="36195">
              <a:lnSpc>
                <a:spcPct val="100000"/>
              </a:lnSpc>
              <a:spcBef>
                <a:spcPts val="105"/>
              </a:spcBef>
            </a:pPr>
            <a:r>
              <a:rPr dirty="0">
                <a:solidFill>
                  <a:srgbClr val="212A35"/>
                </a:solidFill>
              </a:rPr>
              <a:t>GST</a:t>
            </a:r>
            <a:r>
              <a:rPr spc="-50" dirty="0">
                <a:solidFill>
                  <a:srgbClr val="212A35"/>
                </a:solidFill>
              </a:rPr>
              <a:t> </a:t>
            </a:r>
            <a:r>
              <a:rPr dirty="0">
                <a:solidFill>
                  <a:srgbClr val="212A35"/>
                </a:solidFill>
              </a:rPr>
              <a:t>Law</a:t>
            </a:r>
            <a:r>
              <a:rPr spc="-35" dirty="0">
                <a:solidFill>
                  <a:srgbClr val="212A35"/>
                </a:solidFill>
              </a:rPr>
              <a:t> </a:t>
            </a:r>
            <a:r>
              <a:rPr dirty="0">
                <a:solidFill>
                  <a:srgbClr val="212A35"/>
                </a:solidFill>
              </a:rPr>
              <a:t>from</a:t>
            </a:r>
            <a:r>
              <a:rPr spc="-40" dirty="0">
                <a:solidFill>
                  <a:srgbClr val="212A35"/>
                </a:solidFill>
              </a:rPr>
              <a:t> </a:t>
            </a:r>
            <a:r>
              <a:rPr dirty="0">
                <a:solidFill>
                  <a:srgbClr val="212A35"/>
                </a:solidFill>
              </a:rPr>
              <a:t>a</a:t>
            </a:r>
            <a:r>
              <a:rPr spc="-30" dirty="0">
                <a:solidFill>
                  <a:srgbClr val="212A35"/>
                </a:solidFill>
              </a:rPr>
              <a:t> </a:t>
            </a:r>
            <a:r>
              <a:rPr dirty="0">
                <a:solidFill>
                  <a:srgbClr val="212A35"/>
                </a:solidFill>
              </a:rPr>
              <a:t>Constitutional</a:t>
            </a:r>
            <a:r>
              <a:rPr spc="-55" dirty="0">
                <a:solidFill>
                  <a:srgbClr val="212A35"/>
                </a:solidFill>
              </a:rPr>
              <a:t> </a:t>
            </a:r>
            <a:r>
              <a:rPr dirty="0" smtClean="0">
                <a:solidFill>
                  <a:srgbClr val="212A35"/>
                </a:solidFill>
              </a:rPr>
              <a:t>Perspective</a:t>
            </a:r>
            <a:endParaRPr spc="-10" dirty="0">
              <a:solidFill>
                <a:srgbClr val="FF0000"/>
              </a:solidFill>
            </a:endParaRPr>
          </a:p>
        </p:txBody>
      </p:sp>
      <p:sp>
        <p:nvSpPr>
          <p:cNvPr id="4" name="object 4"/>
          <p:cNvSpPr txBox="1"/>
          <p:nvPr/>
        </p:nvSpPr>
        <p:spPr>
          <a:xfrm>
            <a:off x="388721" y="765175"/>
            <a:ext cx="10950575" cy="3604895"/>
          </a:xfrm>
          <a:prstGeom prst="rect">
            <a:avLst/>
          </a:prstGeom>
        </p:spPr>
        <p:txBody>
          <a:bodyPr vert="horz" wrap="square" lIns="0" tIns="201295" rIns="0" bIns="0" rtlCol="0">
            <a:spAutoFit/>
          </a:bodyPr>
          <a:lstStyle/>
          <a:p>
            <a:pPr marL="469265" indent="-456565">
              <a:lnSpc>
                <a:spcPct val="100000"/>
              </a:lnSpc>
              <a:spcBef>
                <a:spcPts val="1585"/>
              </a:spcBef>
              <a:buSzPct val="75000"/>
              <a:buFont typeface="Wingdings"/>
              <a:buChar char=""/>
              <a:tabLst>
                <a:tab pos="469265" algn="l"/>
              </a:tabLst>
            </a:pPr>
            <a:r>
              <a:rPr sz="2400" dirty="0">
                <a:latin typeface="Microsoft Sans Serif"/>
                <a:cs typeface="Microsoft Sans Serif"/>
              </a:rPr>
              <a:t>Bill</a:t>
            </a:r>
            <a:r>
              <a:rPr sz="2400" spc="-25" dirty="0">
                <a:latin typeface="Microsoft Sans Serif"/>
                <a:cs typeface="Microsoft Sans Serif"/>
              </a:rPr>
              <a:t> </a:t>
            </a:r>
            <a:r>
              <a:rPr sz="2400" dirty="0">
                <a:latin typeface="Microsoft Sans Serif"/>
                <a:cs typeface="Microsoft Sans Serif"/>
              </a:rPr>
              <a:t>passed</a:t>
            </a:r>
            <a:r>
              <a:rPr sz="2400" spc="-35" dirty="0">
                <a:latin typeface="Microsoft Sans Serif"/>
                <a:cs typeface="Microsoft Sans Serif"/>
              </a:rPr>
              <a:t> </a:t>
            </a:r>
            <a:r>
              <a:rPr sz="2400" dirty="0">
                <a:latin typeface="Microsoft Sans Serif"/>
                <a:cs typeface="Microsoft Sans Serif"/>
              </a:rPr>
              <a:t>by</a:t>
            </a:r>
            <a:r>
              <a:rPr sz="2400" spc="-40" dirty="0">
                <a:latin typeface="Microsoft Sans Serif"/>
                <a:cs typeface="Microsoft Sans Serif"/>
              </a:rPr>
              <a:t> </a:t>
            </a:r>
            <a:r>
              <a:rPr sz="2400" dirty="0">
                <a:latin typeface="Microsoft Sans Serif"/>
                <a:cs typeface="Microsoft Sans Serif"/>
              </a:rPr>
              <a:t>Rajya</a:t>
            </a:r>
            <a:r>
              <a:rPr sz="2400" spc="-40" dirty="0">
                <a:latin typeface="Microsoft Sans Serif"/>
                <a:cs typeface="Microsoft Sans Serif"/>
              </a:rPr>
              <a:t> </a:t>
            </a:r>
            <a:r>
              <a:rPr sz="2400" dirty="0">
                <a:latin typeface="Microsoft Sans Serif"/>
                <a:cs typeface="Microsoft Sans Serif"/>
              </a:rPr>
              <a:t>Sabha</a:t>
            </a:r>
            <a:r>
              <a:rPr sz="2400" spc="-20" dirty="0">
                <a:latin typeface="Microsoft Sans Serif"/>
                <a:cs typeface="Microsoft Sans Serif"/>
              </a:rPr>
              <a:t> </a:t>
            </a:r>
            <a:r>
              <a:rPr sz="2400" dirty="0">
                <a:latin typeface="Microsoft Sans Serif"/>
                <a:cs typeface="Microsoft Sans Serif"/>
              </a:rPr>
              <a:t>on</a:t>
            </a:r>
            <a:r>
              <a:rPr sz="2400" spc="-40" dirty="0">
                <a:latin typeface="Microsoft Sans Serif"/>
                <a:cs typeface="Microsoft Sans Serif"/>
              </a:rPr>
              <a:t> </a:t>
            </a:r>
            <a:r>
              <a:rPr sz="2400" dirty="0">
                <a:latin typeface="Microsoft Sans Serif"/>
                <a:cs typeface="Microsoft Sans Serif"/>
              </a:rPr>
              <a:t>03.08.2016</a:t>
            </a:r>
            <a:r>
              <a:rPr sz="2400" spc="-30" dirty="0">
                <a:latin typeface="Microsoft Sans Serif"/>
                <a:cs typeface="Microsoft Sans Serif"/>
              </a:rPr>
              <a:t> </a:t>
            </a:r>
            <a:r>
              <a:rPr sz="2400" dirty="0">
                <a:latin typeface="Microsoft Sans Serif"/>
                <a:cs typeface="Microsoft Sans Serif"/>
              </a:rPr>
              <a:t>&amp;</a:t>
            </a:r>
            <a:r>
              <a:rPr sz="2400" spc="-40" dirty="0">
                <a:latin typeface="Microsoft Sans Serif"/>
                <a:cs typeface="Microsoft Sans Serif"/>
              </a:rPr>
              <a:t> </a:t>
            </a:r>
            <a:r>
              <a:rPr sz="2400" dirty="0">
                <a:latin typeface="Microsoft Sans Serif"/>
                <a:cs typeface="Microsoft Sans Serif"/>
              </a:rPr>
              <a:t>Lok</a:t>
            </a:r>
            <a:r>
              <a:rPr sz="2400" spc="-35" dirty="0">
                <a:latin typeface="Microsoft Sans Serif"/>
                <a:cs typeface="Microsoft Sans Serif"/>
              </a:rPr>
              <a:t> </a:t>
            </a:r>
            <a:r>
              <a:rPr sz="2400" dirty="0">
                <a:latin typeface="Microsoft Sans Serif"/>
                <a:cs typeface="Microsoft Sans Serif"/>
              </a:rPr>
              <a:t>Sabha</a:t>
            </a:r>
            <a:r>
              <a:rPr sz="2400" spc="-35" dirty="0">
                <a:latin typeface="Microsoft Sans Serif"/>
                <a:cs typeface="Microsoft Sans Serif"/>
              </a:rPr>
              <a:t> </a:t>
            </a:r>
            <a:r>
              <a:rPr sz="2400" dirty="0">
                <a:latin typeface="Microsoft Sans Serif"/>
                <a:cs typeface="Microsoft Sans Serif"/>
              </a:rPr>
              <a:t>on</a:t>
            </a:r>
            <a:r>
              <a:rPr sz="2400" spc="-40" dirty="0">
                <a:latin typeface="Microsoft Sans Serif"/>
                <a:cs typeface="Microsoft Sans Serif"/>
              </a:rPr>
              <a:t> </a:t>
            </a:r>
            <a:r>
              <a:rPr sz="2400" spc="-10" dirty="0">
                <a:latin typeface="Microsoft Sans Serif"/>
                <a:cs typeface="Microsoft Sans Serif"/>
              </a:rPr>
              <a:t>08.08.2016</a:t>
            </a:r>
            <a:endParaRPr sz="2400" dirty="0">
              <a:latin typeface="Microsoft Sans Serif"/>
              <a:cs typeface="Microsoft Sans Serif"/>
            </a:endParaRPr>
          </a:p>
          <a:p>
            <a:pPr marL="469265" indent="-456565">
              <a:lnSpc>
                <a:spcPct val="100000"/>
              </a:lnSpc>
              <a:spcBef>
                <a:spcPts val="1490"/>
              </a:spcBef>
              <a:buSzPct val="75000"/>
              <a:buFont typeface="Wingdings"/>
              <a:buChar char=""/>
              <a:tabLst>
                <a:tab pos="469265" algn="l"/>
                <a:tab pos="4691380" algn="l"/>
              </a:tabLst>
            </a:pPr>
            <a:r>
              <a:rPr sz="2400" dirty="0">
                <a:latin typeface="Microsoft Sans Serif"/>
                <a:cs typeface="Microsoft Sans Serif"/>
              </a:rPr>
              <a:t>Notified</a:t>
            </a:r>
            <a:r>
              <a:rPr sz="2400" spc="-70" dirty="0">
                <a:latin typeface="Microsoft Sans Serif"/>
                <a:cs typeface="Microsoft Sans Serif"/>
              </a:rPr>
              <a:t> </a:t>
            </a:r>
            <a:r>
              <a:rPr sz="2400" dirty="0">
                <a:latin typeface="Microsoft Sans Serif"/>
                <a:cs typeface="Microsoft Sans Serif"/>
              </a:rPr>
              <a:t>as</a:t>
            </a:r>
            <a:r>
              <a:rPr sz="2400" spc="-80" dirty="0">
                <a:latin typeface="Microsoft Sans Serif"/>
                <a:cs typeface="Microsoft Sans Serif"/>
              </a:rPr>
              <a:t> </a:t>
            </a:r>
            <a:r>
              <a:rPr sz="2400" dirty="0">
                <a:latin typeface="Microsoft Sans Serif"/>
                <a:cs typeface="Microsoft Sans Serif"/>
              </a:rPr>
              <a:t>Constitution</a:t>
            </a:r>
            <a:r>
              <a:rPr sz="2400" spc="-60" dirty="0">
                <a:latin typeface="Microsoft Sans Serif"/>
                <a:cs typeface="Microsoft Sans Serif"/>
              </a:rPr>
              <a:t> </a:t>
            </a:r>
            <a:r>
              <a:rPr sz="2400" spc="-10" dirty="0">
                <a:latin typeface="Microsoft Sans Serif"/>
                <a:cs typeface="Microsoft Sans Serif"/>
              </a:rPr>
              <a:t>(101st</a:t>
            </a:r>
            <a:r>
              <a:rPr sz="2400" dirty="0">
                <a:latin typeface="Microsoft Sans Serif"/>
                <a:cs typeface="Microsoft Sans Serif"/>
              </a:rPr>
              <a:t>	Amendment</a:t>
            </a:r>
            <a:r>
              <a:rPr sz="2400" spc="-25" dirty="0">
                <a:latin typeface="Microsoft Sans Serif"/>
                <a:cs typeface="Microsoft Sans Serif"/>
              </a:rPr>
              <a:t> </a:t>
            </a:r>
            <a:r>
              <a:rPr sz="2400" dirty="0">
                <a:latin typeface="Microsoft Sans Serif"/>
                <a:cs typeface="Microsoft Sans Serif"/>
              </a:rPr>
              <a:t>)</a:t>
            </a:r>
            <a:r>
              <a:rPr sz="2400" spc="-160" dirty="0">
                <a:latin typeface="Microsoft Sans Serif"/>
                <a:cs typeface="Microsoft Sans Serif"/>
              </a:rPr>
              <a:t> </a:t>
            </a:r>
            <a:r>
              <a:rPr sz="2400" dirty="0">
                <a:latin typeface="Microsoft Sans Serif"/>
                <a:cs typeface="Microsoft Sans Serif"/>
              </a:rPr>
              <a:t>Act,</a:t>
            </a:r>
            <a:r>
              <a:rPr sz="2400" spc="-40" dirty="0">
                <a:latin typeface="Microsoft Sans Serif"/>
                <a:cs typeface="Microsoft Sans Serif"/>
              </a:rPr>
              <a:t> </a:t>
            </a:r>
            <a:r>
              <a:rPr sz="2400" dirty="0">
                <a:latin typeface="Microsoft Sans Serif"/>
                <a:cs typeface="Microsoft Sans Serif"/>
              </a:rPr>
              <a:t>2016</a:t>
            </a:r>
            <a:r>
              <a:rPr sz="2400" spc="-20" dirty="0">
                <a:latin typeface="Microsoft Sans Serif"/>
                <a:cs typeface="Microsoft Sans Serif"/>
              </a:rPr>
              <a:t> </a:t>
            </a:r>
            <a:r>
              <a:rPr sz="2400" dirty="0">
                <a:latin typeface="Microsoft Sans Serif"/>
                <a:cs typeface="Microsoft Sans Serif"/>
              </a:rPr>
              <a:t>on</a:t>
            </a:r>
            <a:r>
              <a:rPr sz="2400" spc="-20" dirty="0">
                <a:latin typeface="Microsoft Sans Serif"/>
                <a:cs typeface="Microsoft Sans Serif"/>
              </a:rPr>
              <a:t> </a:t>
            </a:r>
            <a:r>
              <a:rPr sz="2400" spc="-10" dirty="0">
                <a:latin typeface="Microsoft Sans Serif"/>
                <a:cs typeface="Microsoft Sans Serif"/>
              </a:rPr>
              <a:t>08.09.2016</a:t>
            </a:r>
            <a:endParaRPr sz="2400" dirty="0">
              <a:latin typeface="Microsoft Sans Serif"/>
              <a:cs typeface="Microsoft Sans Serif"/>
            </a:endParaRPr>
          </a:p>
          <a:p>
            <a:pPr marL="469265" indent="-456565">
              <a:lnSpc>
                <a:spcPct val="100000"/>
              </a:lnSpc>
              <a:spcBef>
                <a:spcPts val="1490"/>
              </a:spcBef>
              <a:buSzPct val="75000"/>
              <a:buFont typeface="Wingdings"/>
              <a:buChar char=""/>
              <a:tabLst>
                <a:tab pos="469265" algn="l"/>
              </a:tabLst>
            </a:pPr>
            <a:r>
              <a:rPr sz="2400" dirty="0">
                <a:latin typeface="Microsoft Sans Serif"/>
                <a:cs typeface="Microsoft Sans Serif"/>
              </a:rPr>
              <a:t>Key</a:t>
            </a:r>
            <a:r>
              <a:rPr sz="2400" spc="-10" dirty="0">
                <a:latin typeface="Microsoft Sans Serif"/>
                <a:cs typeface="Microsoft Sans Serif"/>
              </a:rPr>
              <a:t> Features:</a:t>
            </a:r>
            <a:endParaRPr sz="2400" dirty="0">
              <a:latin typeface="Microsoft Sans Serif"/>
              <a:cs typeface="Microsoft Sans Serif"/>
            </a:endParaRPr>
          </a:p>
          <a:p>
            <a:pPr marL="736600" marR="5080" lvl="1" indent="-342900">
              <a:lnSpc>
                <a:spcPct val="110100"/>
              </a:lnSpc>
              <a:spcBef>
                <a:spcPts val="1195"/>
              </a:spcBef>
              <a:buSzPct val="75000"/>
              <a:buFont typeface="Wingdings"/>
              <a:buChar char=""/>
              <a:tabLst>
                <a:tab pos="736600" algn="l"/>
                <a:tab pos="2390140" algn="l"/>
                <a:tab pos="3975100" algn="l"/>
                <a:tab pos="4473575" algn="l"/>
                <a:tab pos="5158105" algn="l"/>
                <a:tab pos="5504180" algn="l"/>
                <a:tab pos="6920230" algn="l"/>
                <a:tab pos="7316470" algn="l"/>
                <a:tab pos="8078470" algn="l"/>
                <a:tab pos="8543290" algn="l"/>
                <a:tab pos="9110345" algn="l"/>
                <a:tab pos="10169525" algn="l"/>
                <a:tab pos="10513695" algn="l"/>
              </a:tabLst>
            </a:pPr>
            <a:r>
              <a:rPr sz="2400" spc="-10" dirty="0">
                <a:latin typeface="Microsoft Sans Serif"/>
                <a:cs typeface="Microsoft Sans Serif"/>
              </a:rPr>
              <a:t>Concurrent</a:t>
            </a:r>
            <a:r>
              <a:rPr sz="2400" dirty="0">
                <a:latin typeface="Microsoft Sans Serif"/>
                <a:cs typeface="Microsoft Sans Serif"/>
              </a:rPr>
              <a:t>	</a:t>
            </a:r>
            <a:r>
              <a:rPr sz="2400" spc="-10" dirty="0">
                <a:latin typeface="Microsoft Sans Serif"/>
                <a:cs typeface="Microsoft Sans Serif"/>
              </a:rPr>
              <a:t>jurisdiction</a:t>
            </a:r>
            <a:r>
              <a:rPr sz="2400" dirty="0">
                <a:latin typeface="Microsoft Sans Serif"/>
                <a:cs typeface="Microsoft Sans Serif"/>
              </a:rPr>
              <a:t>	</a:t>
            </a:r>
            <a:r>
              <a:rPr sz="2400" spc="-25" dirty="0">
                <a:latin typeface="Microsoft Sans Serif"/>
                <a:cs typeface="Microsoft Sans Serif"/>
              </a:rPr>
              <a:t>for</a:t>
            </a:r>
            <a:r>
              <a:rPr sz="2400" dirty="0">
                <a:latin typeface="Microsoft Sans Serif"/>
                <a:cs typeface="Microsoft Sans Serif"/>
              </a:rPr>
              <a:t>	</a:t>
            </a:r>
            <a:r>
              <a:rPr sz="2400" spc="-20" dirty="0">
                <a:latin typeface="Microsoft Sans Serif"/>
                <a:cs typeface="Microsoft Sans Serif"/>
              </a:rPr>
              <a:t>levy</a:t>
            </a:r>
            <a:r>
              <a:rPr sz="2400" dirty="0">
                <a:latin typeface="Microsoft Sans Serif"/>
                <a:cs typeface="Microsoft Sans Serif"/>
              </a:rPr>
              <a:t>	</a:t>
            </a:r>
            <a:r>
              <a:rPr sz="2400" spc="-50" dirty="0">
                <a:latin typeface="Microsoft Sans Serif"/>
                <a:cs typeface="Microsoft Sans Serif"/>
              </a:rPr>
              <a:t>&amp;</a:t>
            </a:r>
            <a:r>
              <a:rPr sz="2400" dirty="0">
                <a:latin typeface="Microsoft Sans Serif"/>
                <a:cs typeface="Microsoft Sans Serif"/>
              </a:rPr>
              <a:t>	</a:t>
            </a:r>
            <a:r>
              <a:rPr sz="2400" spc="-10" dirty="0">
                <a:latin typeface="Microsoft Sans Serif"/>
                <a:cs typeface="Microsoft Sans Serif"/>
              </a:rPr>
              <a:t>collection</a:t>
            </a:r>
            <a:r>
              <a:rPr sz="2400" dirty="0">
                <a:latin typeface="Microsoft Sans Serif"/>
                <a:cs typeface="Microsoft Sans Serif"/>
              </a:rPr>
              <a:t>	</a:t>
            </a:r>
            <a:r>
              <a:rPr sz="2400" spc="-25" dirty="0">
                <a:latin typeface="Microsoft Sans Serif"/>
                <a:cs typeface="Microsoft Sans Serif"/>
              </a:rPr>
              <a:t>of</a:t>
            </a:r>
            <a:r>
              <a:rPr sz="2400" dirty="0">
                <a:latin typeface="Microsoft Sans Serif"/>
                <a:cs typeface="Microsoft Sans Serif"/>
              </a:rPr>
              <a:t>	</a:t>
            </a:r>
            <a:r>
              <a:rPr sz="2400" spc="-25" dirty="0">
                <a:latin typeface="Microsoft Sans Serif"/>
                <a:cs typeface="Microsoft Sans Serif"/>
              </a:rPr>
              <a:t>GST</a:t>
            </a:r>
            <a:r>
              <a:rPr sz="2400" dirty="0">
                <a:latin typeface="Microsoft Sans Serif"/>
                <a:cs typeface="Microsoft Sans Serif"/>
              </a:rPr>
              <a:t>	</a:t>
            </a:r>
            <a:r>
              <a:rPr sz="2400" spc="-25" dirty="0">
                <a:latin typeface="Microsoft Sans Serif"/>
                <a:cs typeface="Microsoft Sans Serif"/>
              </a:rPr>
              <a:t>by</a:t>
            </a:r>
            <a:r>
              <a:rPr sz="2400" dirty="0">
                <a:latin typeface="Microsoft Sans Serif"/>
                <a:cs typeface="Microsoft Sans Serif"/>
              </a:rPr>
              <a:t>	</a:t>
            </a:r>
            <a:r>
              <a:rPr sz="2400" spc="-25" dirty="0">
                <a:latin typeface="Microsoft Sans Serif"/>
                <a:cs typeface="Microsoft Sans Serif"/>
              </a:rPr>
              <a:t>the</a:t>
            </a:r>
            <a:r>
              <a:rPr sz="2400" dirty="0">
                <a:latin typeface="Microsoft Sans Serif"/>
                <a:cs typeface="Microsoft Sans Serif"/>
              </a:rPr>
              <a:t>	</a:t>
            </a:r>
            <a:r>
              <a:rPr sz="2400" spc="-10" dirty="0">
                <a:latin typeface="Microsoft Sans Serif"/>
                <a:cs typeface="Microsoft Sans Serif"/>
              </a:rPr>
              <a:t>Centre</a:t>
            </a:r>
            <a:r>
              <a:rPr sz="2400" dirty="0">
                <a:latin typeface="Microsoft Sans Serif"/>
                <a:cs typeface="Microsoft Sans Serif"/>
              </a:rPr>
              <a:t>	</a:t>
            </a:r>
            <a:r>
              <a:rPr sz="2400" spc="-50" dirty="0">
                <a:latin typeface="Microsoft Sans Serif"/>
                <a:cs typeface="Microsoft Sans Serif"/>
              </a:rPr>
              <a:t>&amp;</a:t>
            </a:r>
            <a:r>
              <a:rPr sz="2400" dirty="0">
                <a:latin typeface="Microsoft Sans Serif"/>
                <a:cs typeface="Microsoft Sans Serif"/>
              </a:rPr>
              <a:t>	</a:t>
            </a:r>
            <a:r>
              <a:rPr sz="2400" spc="-25" dirty="0">
                <a:latin typeface="Microsoft Sans Serif"/>
                <a:cs typeface="Microsoft Sans Serif"/>
              </a:rPr>
              <a:t>the </a:t>
            </a:r>
            <a:r>
              <a:rPr sz="2400" dirty="0">
                <a:latin typeface="Microsoft Sans Serif"/>
                <a:cs typeface="Microsoft Sans Serif"/>
              </a:rPr>
              <a:t>States</a:t>
            </a:r>
            <a:r>
              <a:rPr sz="2400" spc="-25" dirty="0">
                <a:latin typeface="Microsoft Sans Serif"/>
                <a:cs typeface="Microsoft Sans Serif"/>
              </a:rPr>
              <a:t> </a:t>
            </a:r>
            <a:r>
              <a:rPr sz="2400" spc="630" dirty="0">
                <a:latin typeface="Microsoft Sans Serif"/>
                <a:cs typeface="Microsoft Sans Serif"/>
              </a:rPr>
              <a:t>–</a:t>
            </a:r>
            <a:r>
              <a:rPr sz="2400" spc="-140" dirty="0">
                <a:latin typeface="Microsoft Sans Serif"/>
                <a:cs typeface="Microsoft Sans Serif"/>
              </a:rPr>
              <a:t> </a:t>
            </a:r>
            <a:r>
              <a:rPr sz="2400" dirty="0">
                <a:latin typeface="Microsoft Sans Serif"/>
                <a:cs typeface="Microsoft Sans Serif"/>
              </a:rPr>
              <a:t>Article </a:t>
            </a:r>
            <a:r>
              <a:rPr sz="2400" spc="-20" dirty="0">
                <a:latin typeface="Microsoft Sans Serif"/>
                <a:cs typeface="Microsoft Sans Serif"/>
              </a:rPr>
              <a:t>246A</a:t>
            </a:r>
            <a:endParaRPr sz="2400" dirty="0">
              <a:latin typeface="Microsoft Sans Serif"/>
              <a:cs typeface="Microsoft Sans Serif"/>
            </a:endParaRPr>
          </a:p>
          <a:p>
            <a:pPr marL="736600" marR="6985" lvl="1" indent="-342900">
              <a:lnSpc>
                <a:spcPct val="110000"/>
              </a:lnSpc>
              <a:spcBef>
                <a:spcPts val="1200"/>
              </a:spcBef>
              <a:buSzPct val="75000"/>
              <a:buFont typeface="Wingdings"/>
              <a:buChar char=""/>
              <a:tabLst>
                <a:tab pos="736600" algn="l"/>
              </a:tabLst>
            </a:pPr>
            <a:r>
              <a:rPr sz="2400" dirty="0">
                <a:latin typeface="Microsoft Sans Serif"/>
                <a:cs typeface="Microsoft Sans Serif"/>
              </a:rPr>
              <a:t>Centre</a:t>
            </a:r>
            <a:r>
              <a:rPr sz="2400" spc="130" dirty="0">
                <a:latin typeface="Microsoft Sans Serif"/>
                <a:cs typeface="Microsoft Sans Serif"/>
              </a:rPr>
              <a:t> </a:t>
            </a:r>
            <a:r>
              <a:rPr sz="2400" dirty="0">
                <a:latin typeface="Microsoft Sans Serif"/>
                <a:cs typeface="Microsoft Sans Serif"/>
              </a:rPr>
              <a:t>to</a:t>
            </a:r>
            <a:r>
              <a:rPr sz="2400" spc="120" dirty="0">
                <a:latin typeface="Microsoft Sans Serif"/>
                <a:cs typeface="Microsoft Sans Serif"/>
              </a:rPr>
              <a:t> </a:t>
            </a:r>
            <a:r>
              <a:rPr sz="2400" dirty="0">
                <a:latin typeface="Microsoft Sans Serif"/>
                <a:cs typeface="Microsoft Sans Serif"/>
              </a:rPr>
              <a:t>levy</a:t>
            </a:r>
            <a:r>
              <a:rPr sz="2400" spc="125" dirty="0">
                <a:latin typeface="Microsoft Sans Serif"/>
                <a:cs typeface="Microsoft Sans Serif"/>
              </a:rPr>
              <a:t> </a:t>
            </a:r>
            <a:r>
              <a:rPr sz="2400" dirty="0">
                <a:latin typeface="Microsoft Sans Serif"/>
                <a:cs typeface="Microsoft Sans Serif"/>
              </a:rPr>
              <a:t>&amp;</a:t>
            </a:r>
            <a:r>
              <a:rPr sz="2400" spc="120" dirty="0">
                <a:latin typeface="Microsoft Sans Serif"/>
                <a:cs typeface="Microsoft Sans Serif"/>
              </a:rPr>
              <a:t> </a:t>
            </a:r>
            <a:r>
              <a:rPr sz="2400" dirty="0">
                <a:latin typeface="Microsoft Sans Serif"/>
                <a:cs typeface="Microsoft Sans Serif"/>
              </a:rPr>
              <a:t>collect</a:t>
            </a:r>
            <a:r>
              <a:rPr sz="2400" spc="125" dirty="0">
                <a:latin typeface="Microsoft Sans Serif"/>
                <a:cs typeface="Microsoft Sans Serif"/>
              </a:rPr>
              <a:t> </a:t>
            </a:r>
            <a:r>
              <a:rPr sz="2400" dirty="0">
                <a:latin typeface="Microsoft Sans Serif"/>
                <a:cs typeface="Microsoft Sans Serif"/>
              </a:rPr>
              <a:t>IGST</a:t>
            </a:r>
            <a:r>
              <a:rPr sz="2400" spc="75" dirty="0">
                <a:latin typeface="Microsoft Sans Serif"/>
                <a:cs typeface="Microsoft Sans Serif"/>
              </a:rPr>
              <a:t> </a:t>
            </a:r>
            <a:r>
              <a:rPr sz="2400" dirty="0">
                <a:latin typeface="Microsoft Sans Serif"/>
                <a:cs typeface="Microsoft Sans Serif"/>
              </a:rPr>
              <a:t>on</a:t>
            </a:r>
            <a:r>
              <a:rPr sz="2400" spc="120" dirty="0">
                <a:latin typeface="Microsoft Sans Serif"/>
                <a:cs typeface="Microsoft Sans Serif"/>
              </a:rPr>
              <a:t> </a:t>
            </a:r>
            <a:r>
              <a:rPr sz="2400" dirty="0">
                <a:latin typeface="Microsoft Sans Serif"/>
                <a:cs typeface="Microsoft Sans Serif"/>
              </a:rPr>
              <a:t>supplies</a:t>
            </a:r>
            <a:r>
              <a:rPr sz="2400" spc="130" dirty="0">
                <a:latin typeface="Microsoft Sans Serif"/>
                <a:cs typeface="Microsoft Sans Serif"/>
              </a:rPr>
              <a:t> </a:t>
            </a:r>
            <a:r>
              <a:rPr sz="2400" dirty="0">
                <a:latin typeface="Microsoft Sans Serif"/>
                <a:cs typeface="Microsoft Sans Serif"/>
              </a:rPr>
              <a:t>in</a:t>
            </a:r>
            <a:r>
              <a:rPr sz="2400" spc="120" dirty="0">
                <a:latin typeface="Microsoft Sans Serif"/>
                <a:cs typeface="Microsoft Sans Serif"/>
              </a:rPr>
              <a:t> </a:t>
            </a:r>
            <a:r>
              <a:rPr sz="2400" dirty="0">
                <a:latin typeface="Microsoft Sans Serif"/>
                <a:cs typeface="Microsoft Sans Serif"/>
              </a:rPr>
              <a:t>the</a:t>
            </a:r>
            <a:r>
              <a:rPr sz="2400" spc="130" dirty="0">
                <a:latin typeface="Microsoft Sans Serif"/>
                <a:cs typeface="Microsoft Sans Serif"/>
              </a:rPr>
              <a:t> </a:t>
            </a:r>
            <a:r>
              <a:rPr sz="2400" dirty="0">
                <a:latin typeface="Microsoft Sans Serif"/>
                <a:cs typeface="Microsoft Sans Serif"/>
              </a:rPr>
              <a:t>course</a:t>
            </a:r>
            <a:r>
              <a:rPr sz="2400" spc="120" dirty="0">
                <a:latin typeface="Microsoft Sans Serif"/>
                <a:cs typeface="Microsoft Sans Serif"/>
              </a:rPr>
              <a:t> </a:t>
            </a:r>
            <a:r>
              <a:rPr sz="2400" dirty="0">
                <a:latin typeface="Microsoft Sans Serif"/>
                <a:cs typeface="Microsoft Sans Serif"/>
              </a:rPr>
              <a:t>of</a:t>
            </a:r>
            <a:r>
              <a:rPr sz="2400" spc="130" dirty="0">
                <a:latin typeface="Microsoft Sans Serif"/>
                <a:cs typeface="Microsoft Sans Serif"/>
              </a:rPr>
              <a:t> </a:t>
            </a:r>
            <a:r>
              <a:rPr sz="2400" spc="-10" dirty="0">
                <a:latin typeface="Microsoft Sans Serif"/>
                <a:cs typeface="Microsoft Sans Serif"/>
              </a:rPr>
              <a:t>inter-</a:t>
            </a:r>
            <a:r>
              <a:rPr sz="2400" dirty="0">
                <a:latin typeface="Microsoft Sans Serif"/>
                <a:cs typeface="Microsoft Sans Serif"/>
              </a:rPr>
              <a:t>State</a:t>
            </a:r>
            <a:r>
              <a:rPr sz="2400" spc="114" dirty="0">
                <a:latin typeface="Microsoft Sans Serif"/>
                <a:cs typeface="Microsoft Sans Serif"/>
              </a:rPr>
              <a:t> </a:t>
            </a:r>
            <a:r>
              <a:rPr sz="2400" spc="-10" dirty="0">
                <a:latin typeface="Microsoft Sans Serif"/>
                <a:cs typeface="Microsoft Sans Serif"/>
              </a:rPr>
              <a:t>trade </a:t>
            </a:r>
            <a:r>
              <a:rPr sz="2400" dirty="0">
                <a:latin typeface="Microsoft Sans Serif"/>
                <a:cs typeface="Microsoft Sans Serif"/>
              </a:rPr>
              <a:t>or</a:t>
            </a:r>
            <a:r>
              <a:rPr sz="2400" spc="-75" dirty="0">
                <a:latin typeface="Microsoft Sans Serif"/>
                <a:cs typeface="Microsoft Sans Serif"/>
              </a:rPr>
              <a:t> </a:t>
            </a:r>
            <a:r>
              <a:rPr sz="2400" dirty="0">
                <a:latin typeface="Microsoft Sans Serif"/>
                <a:cs typeface="Microsoft Sans Serif"/>
              </a:rPr>
              <a:t>commerce</a:t>
            </a:r>
            <a:r>
              <a:rPr sz="2400" spc="-50" dirty="0">
                <a:latin typeface="Microsoft Sans Serif"/>
                <a:cs typeface="Microsoft Sans Serif"/>
              </a:rPr>
              <a:t> </a:t>
            </a:r>
            <a:r>
              <a:rPr sz="2400" dirty="0">
                <a:latin typeface="Microsoft Sans Serif"/>
                <a:cs typeface="Microsoft Sans Serif"/>
              </a:rPr>
              <a:t>including</a:t>
            </a:r>
            <a:r>
              <a:rPr sz="2400" spc="-15" dirty="0">
                <a:latin typeface="Microsoft Sans Serif"/>
                <a:cs typeface="Microsoft Sans Serif"/>
              </a:rPr>
              <a:t> </a:t>
            </a:r>
            <a:r>
              <a:rPr sz="2400" dirty="0">
                <a:latin typeface="Microsoft Sans Serif"/>
                <a:cs typeface="Microsoft Sans Serif"/>
              </a:rPr>
              <a:t>imports</a:t>
            </a:r>
            <a:r>
              <a:rPr sz="2400" spc="-55" dirty="0">
                <a:latin typeface="Microsoft Sans Serif"/>
                <a:cs typeface="Microsoft Sans Serif"/>
              </a:rPr>
              <a:t> </a:t>
            </a:r>
            <a:r>
              <a:rPr sz="2400" spc="630" dirty="0">
                <a:latin typeface="Microsoft Sans Serif"/>
                <a:cs typeface="Microsoft Sans Serif"/>
              </a:rPr>
              <a:t>–</a:t>
            </a:r>
            <a:r>
              <a:rPr sz="2400" spc="-160" dirty="0">
                <a:latin typeface="Microsoft Sans Serif"/>
                <a:cs typeface="Microsoft Sans Serif"/>
              </a:rPr>
              <a:t> </a:t>
            </a:r>
            <a:r>
              <a:rPr sz="2400" dirty="0">
                <a:latin typeface="Microsoft Sans Serif"/>
                <a:cs typeface="Microsoft Sans Serif"/>
              </a:rPr>
              <a:t>Article</a:t>
            </a:r>
            <a:r>
              <a:rPr sz="2400" spc="-60" dirty="0">
                <a:latin typeface="Microsoft Sans Serif"/>
                <a:cs typeface="Microsoft Sans Serif"/>
              </a:rPr>
              <a:t> </a:t>
            </a:r>
            <a:r>
              <a:rPr sz="2400" spc="-20" dirty="0">
                <a:latin typeface="Microsoft Sans Serif"/>
                <a:cs typeface="Microsoft Sans Serif"/>
              </a:rPr>
              <a:t>269A</a:t>
            </a:r>
            <a:endParaRPr sz="2400" dirty="0">
              <a:latin typeface="Microsoft Sans Serif"/>
              <a:cs typeface="Microsoft Sans Serif"/>
            </a:endParaRPr>
          </a:p>
        </p:txBody>
      </p:sp>
      <p:sp>
        <p:nvSpPr>
          <p:cNvPr id="5" name="object 5"/>
          <p:cNvSpPr txBox="1"/>
          <p:nvPr/>
        </p:nvSpPr>
        <p:spPr>
          <a:xfrm>
            <a:off x="769721" y="4528515"/>
            <a:ext cx="10568305" cy="391795"/>
          </a:xfrm>
          <a:prstGeom prst="rect">
            <a:avLst/>
          </a:prstGeom>
        </p:spPr>
        <p:txBody>
          <a:bodyPr vert="horz" wrap="square" lIns="0" tIns="12700" rIns="0" bIns="0" rtlCol="0">
            <a:spAutoFit/>
          </a:bodyPr>
          <a:lstStyle/>
          <a:p>
            <a:pPr marL="354965" indent="-342265">
              <a:lnSpc>
                <a:spcPct val="100000"/>
              </a:lnSpc>
              <a:spcBef>
                <a:spcPts val="100"/>
              </a:spcBef>
              <a:buSzPct val="75000"/>
              <a:buFont typeface="Wingdings"/>
              <a:buChar char=""/>
              <a:tabLst>
                <a:tab pos="354965" algn="l"/>
                <a:tab pos="2618740" algn="l"/>
                <a:tab pos="3269615" algn="l"/>
                <a:tab pos="4106545" algn="l"/>
                <a:tab pos="4655185" algn="l"/>
                <a:tab pos="6051550" algn="l"/>
                <a:tab pos="6601459" algn="l"/>
                <a:tab pos="7758430" algn="l"/>
                <a:tab pos="8407400" algn="l"/>
                <a:tab pos="9177020" algn="l"/>
                <a:tab pos="10216515" algn="l"/>
              </a:tabLst>
            </a:pPr>
            <a:r>
              <a:rPr sz="2400" spc="-10" dirty="0">
                <a:latin typeface="Microsoft Sans Serif"/>
                <a:cs typeface="Microsoft Sans Serif"/>
              </a:rPr>
              <a:t>Compensation</a:t>
            </a:r>
            <a:r>
              <a:rPr sz="2400" dirty="0">
                <a:latin typeface="Microsoft Sans Serif"/>
                <a:cs typeface="Microsoft Sans Serif"/>
              </a:rPr>
              <a:t>	</a:t>
            </a:r>
            <a:r>
              <a:rPr sz="2400" spc="-25" dirty="0">
                <a:latin typeface="Microsoft Sans Serif"/>
                <a:cs typeface="Microsoft Sans Serif"/>
              </a:rPr>
              <a:t>for</a:t>
            </a:r>
            <a:r>
              <a:rPr sz="2400" dirty="0">
                <a:latin typeface="Microsoft Sans Serif"/>
                <a:cs typeface="Microsoft Sans Serif"/>
              </a:rPr>
              <a:t>	</a:t>
            </a:r>
            <a:r>
              <a:rPr sz="2400" spc="-20" dirty="0">
                <a:latin typeface="Microsoft Sans Serif"/>
                <a:cs typeface="Microsoft Sans Serif"/>
              </a:rPr>
              <a:t>loss</a:t>
            </a:r>
            <a:r>
              <a:rPr sz="2400" dirty="0">
                <a:latin typeface="Microsoft Sans Serif"/>
                <a:cs typeface="Microsoft Sans Serif"/>
              </a:rPr>
              <a:t>	</a:t>
            </a:r>
            <a:r>
              <a:rPr sz="2400" spc="-25" dirty="0">
                <a:latin typeface="Microsoft Sans Serif"/>
                <a:cs typeface="Microsoft Sans Serif"/>
              </a:rPr>
              <a:t>of</a:t>
            </a:r>
            <a:r>
              <a:rPr sz="2400" dirty="0">
                <a:latin typeface="Microsoft Sans Serif"/>
                <a:cs typeface="Microsoft Sans Serif"/>
              </a:rPr>
              <a:t>	</a:t>
            </a:r>
            <a:r>
              <a:rPr sz="2400" spc="-10" dirty="0">
                <a:latin typeface="Microsoft Sans Serif"/>
                <a:cs typeface="Microsoft Sans Serif"/>
              </a:rPr>
              <a:t>revenue</a:t>
            </a:r>
            <a:r>
              <a:rPr sz="2400" dirty="0">
                <a:latin typeface="Microsoft Sans Serif"/>
                <a:cs typeface="Microsoft Sans Serif"/>
              </a:rPr>
              <a:t>	</a:t>
            </a:r>
            <a:r>
              <a:rPr sz="2400" spc="-25" dirty="0">
                <a:latin typeface="Microsoft Sans Serif"/>
                <a:cs typeface="Microsoft Sans Serif"/>
              </a:rPr>
              <a:t>to</a:t>
            </a:r>
            <a:r>
              <a:rPr sz="2400" dirty="0">
                <a:latin typeface="Microsoft Sans Serif"/>
                <a:cs typeface="Microsoft Sans Serif"/>
              </a:rPr>
              <a:t>	</a:t>
            </a:r>
            <a:r>
              <a:rPr sz="2400" spc="-10" dirty="0">
                <a:latin typeface="Microsoft Sans Serif"/>
                <a:cs typeface="Microsoft Sans Serif"/>
              </a:rPr>
              <a:t>States</a:t>
            </a:r>
            <a:r>
              <a:rPr sz="2400" dirty="0">
                <a:latin typeface="Microsoft Sans Serif"/>
                <a:cs typeface="Microsoft Sans Serif"/>
              </a:rPr>
              <a:t>	</a:t>
            </a:r>
            <a:r>
              <a:rPr sz="2400" spc="-25" dirty="0">
                <a:latin typeface="Microsoft Sans Serif"/>
                <a:cs typeface="Microsoft Sans Serif"/>
              </a:rPr>
              <a:t>for</a:t>
            </a:r>
            <a:r>
              <a:rPr sz="2400" dirty="0">
                <a:latin typeface="Microsoft Sans Serif"/>
                <a:cs typeface="Microsoft Sans Serif"/>
              </a:rPr>
              <a:t>	</a:t>
            </a:r>
            <a:r>
              <a:rPr sz="2400" spc="-20" dirty="0">
                <a:latin typeface="Microsoft Sans Serif"/>
                <a:cs typeface="Microsoft Sans Serif"/>
              </a:rPr>
              <a:t>five</a:t>
            </a:r>
            <a:r>
              <a:rPr sz="2400" dirty="0">
                <a:latin typeface="Microsoft Sans Serif"/>
                <a:cs typeface="Microsoft Sans Serif"/>
              </a:rPr>
              <a:t>	</a:t>
            </a:r>
            <a:r>
              <a:rPr sz="2400" spc="-10" dirty="0">
                <a:latin typeface="Microsoft Sans Serif"/>
                <a:cs typeface="Microsoft Sans Serif"/>
              </a:rPr>
              <a:t>years</a:t>
            </a:r>
            <a:r>
              <a:rPr sz="2400" dirty="0">
                <a:latin typeface="Microsoft Sans Serif"/>
                <a:cs typeface="Microsoft Sans Serif"/>
              </a:rPr>
              <a:t>	</a:t>
            </a:r>
            <a:r>
              <a:rPr sz="2400" spc="-25" dirty="0">
                <a:latin typeface="Microsoft Sans Serif"/>
                <a:cs typeface="Microsoft Sans Serif"/>
              </a:rPr>
              <a:t>on</a:t>
            </a:r>
            <a:endParaRPr sz="2400">
              <a:latin typeface="Microsoft Sans Serif"/>
              <a:cs typeface="Microsoft Sans Serif"/>
            </a:endParaRPr>
          </a:p>
        </p:txBody>
      </p:sp>
      <p:sp>
        <p:nvSpPr>
          <p:cNvPr id="6" name="object 6"/>
          <p:cNvSpPr txBox="1"/>
          <p:nvPr/>
        </p:nvSpPr>
        <p:spPr>
          <a:xfrm>
            <a:off x="769721" y="4742179"/>
            <a:ext cx="10567035" cy="1793875"/>
          </a:xfrm>
          <a:prstGeom prst="rect">
            <a:avLst/>
          </a:prstGeom>
        </p:spPr>
        <p:txBody>
          <a:bodyPr vert="horz" wrap="square" lIns="0" tIns="165100" rIns="0" bIns="0" rtlCol="0">
            <a:spAutoFit/>
          </a:bodyPr>
          <a:lstStyle/>
          <a:p>
            <a:pPr marL="355600" algn="just">
              <a:lnSpc>
                <a:spcPct val="100000"/>
              </a:lnSpc>
              <a:spcBef>
                <a:spcPts val="1300"/>
              </a:spcBef>
            </a:pPr>
            <a:r>
              <a:rPr sz="2400" dirty="0">
                <a:latin typeface="Microsoft Sans Serif"/>
                <a:cs typeface="Microsoft Sans Serif"/>
              </a:rPr>
              <a:t>recommendation</a:t>
            </a:r>
            <a:r>
              <a:rPr sz="2400" spc="-15" dirty="0">
                <a:latin typeface="Microsoft Sans Serif"/>
                <a:cs typeface="Microsoft Sans Serif"/>
              </a:rPr>
              <a:t> </a:t>
            </a:r>
            <a:r>
              <a:rPr sz="2400" dirty="0">
                <a:latin typeface="Microsoft Sans Serif"/>
                <a:cs typeface="Microsoft Sans Serif"/>
              </a:rPr>
              <a:t>of</a:t>
            </a:r>
            <a:r>
              <a:rPr sz="2400" spc="-40" dirty="0">
                <a:latin typeface="Microsoft Sans Serif"/>
                <a:cs typeface="Microsoft Sans Serif"/>
              </a:rPr>
              <a:t> </a:t>
            </a:r>
            <a:r>
              <a:rPr sz="2400" dirty="0">
                <a:latin typeface="Microsoft Sans Serif"/>
                <a:cs typeface="Microsoft Sans Serif"/>
              </a:rPr>
              <a:t>GSTC</a:t>
            </a:r>
            <a:r>
              <a:rPr sz="2400" spc="-45" dirty="0">
                <a:latin typeface="Microsoft Sans Serif"/>
                <a:cs typeface="Microsoft Sans Serif"/>
              </a:rPr>
              <a:t> </a:t>
            </a:r>
            <a:r>
              <a:rPr sz="2400" spc="630" dirty="0">
                <a:latin typeface="Microsoft Sans Serif"/>
                <a:cs typeface="Microsoft Sans Serif"/>
              </a:rPr>
              <a:t>–</a:t>
            </a:r>
            <a:r>
              <a:rPr sz="2400" spc="-35" dirty="0">
                <a:latin typeface="Microsoft Sans Serif"/>
                <a:cs typeface="Microsoft Sans Serif"/>
              </a:rPr>
              <a:t> </a:t>
            </a:r>
            <a:r>
              <a:rPr sz="2400" dirty="0">
                <a:latin typeface="Microsoft Sans Serif"/>
                <a:cs typeface="Microsoft Sans Serif"/>
              </a:rPr>
              <a:t>Clause</a:t>
            </a:r>
            <a:r>
              <a:rPr sz="2400" spc="-15" dirty="0">
                <a:latin typeface="Microsoft Sans Serif"/>
                <a:cs typeface="Microsoft Sans Serif"/>
              </a:rPr>
              <a:t> </a:t>
            </a:r>
            <a:r>
              <a:rPr sz="2400" spc="-25" dirty="0">
                <a:latin typeface="Microsoft Sans Serif"/>
                <a:cs typeface="Microsoft Sans Serif"/>
              </a:rPr>
              <a:t>19</a:t>
            </a:r>
            <a:endParaRPr sz="2400">
              <a:latin typeface="Microsoft Sans Serif"/>
              <a:cs typeface="Microsoft Sans Serif"/>
            </a:endParaRPr>
          </a:p>
          <a:p>
            <a:pPr marL="355600" marR="5080" indent="-342900" algn="just">
              <a:lnSpc>
                <a:spcPct val="100000"/>
              </a:lnSpc>
              <a:spcBef>
                <a:spcPts val="1200"/>
              </a:spcBef>
              <a:buSzPct val="75000"/>
              <a:buFont typeface="Wingdings"/>
              <a:buChar char=""/>
              <a:tabLst>
                <a:tab pos="355600" algn="l"/>
              </a:tabLst>
            </a:pPr>
            <a:r>
              <a:rPr sz="2400" dirty="0">
                <a:latin typeface="Microsoft Sans Serif"/>
                <a:cs typeface="Microsoft Sans Serif"/>
              </a:rPr>
              <a:t>GST</a:t>
            </a:r>
            <a:r>
              <a:rPr sz="2400" spc="5" dirty="0">
                <a:latin typeface="Microsoft Sans Serif"/>
                <a:cs typeface="Microsoft Sans Serif"/>
              </a:rPr>
              <a:t> </a:t>
            </a:r>
            <a:r>
              <a:rPr sz="2400" dirty="0">
                <a:latin typeface="Microsoft Sans Serif"/>
                <a:cs typeface="Microsoft Sans Serif"/>
              </a:rPr>
              <a:t>on</a:t>
            </a:r>
            <a:r>
              <a:rPr sz="2400" spc="35" dirty="0">
                <a:latin typeface="Microsoft Sans Serif"/>
                <a:cs typeface="Microsoft Sans Serif"/>
              </a:rPr>
              <a:t> </a:t>
            </a:r>
            <a:r>
              <a:rPr sz="2400" dirty="0">
                <a:latin typeface="Microsoft Sans Serif"/>
                <a:cs typeface="Microsoft Sans Serif"/>
              </a:rPr>
              <a:t>petroleum</a:t>
            </a:r>
            <a:r>
              <a:rPr sz="2400" spc="45" dirty="0">
                <a:latin typeface="Microsoft Sans Serif"/>
                <a:cs typeface="Microsoft Sans Serif"/>
              </a:rPr>
              <a:t> </a:t>
            </a:r>
            <a:r>
              <a:rPr sz="2400" dirty="0">
                <a:latin typeface="Microsoft Sans Serif"/>
                <a:cs typeface="Microsoft Sans Serif"/>
              </a:rPr>
              <a:t>crude,</a:t>
            </a:r>
            <a:r>
              <a:rPr sz="2400" spc="50" dirty="0">
                <a:latin typeface="Microsoft Sans Serif"/>
                <a:cs typeface="Microsoft Sans Serif"/>
              </a:rPr>
              <a:t> </a:t>
            </a:r>
            <a:r>
              <a:rPr sz="2400" dirty="0">
                <a:latin typeface="Microsoft Sans Serif"/>
                <a:cs typeface="Microsoft Sans Serif"/>
              </a:rPr>
              <a:t>high</a:t>
            </a:r>
            <a:r>
              <a:rPr sz="2400" spc="50" dirty="0">
                <a:latin typeface="Microsoft Sans Serif"/>
                <a:cs typeface="Microsoft Sans Serif"/>
              </a:rPr>
              <a:t> </a:t>
            </a:r>
            <a:r>
              <a:rPr sz="2400" dirty="0">
                <a:latin typeface="Microsoft Sans Serif"/>
                <a:cs typeface="Microsoft Sans Serif"/>
              </a:rPr>
              <a:t>speed</a:t>
            </a:r>
            <a:r>
              <a:rPr sz="2400" spc="50" dirty="0">
                <a:latin typeface="Microsoft Sans Serif"/>
                <a:cs typeface="Microsoft Sans Serif"/>
              </a:rPr>
              <a:t> </a:t>
            </a:r>
            <a:r>
              <a:rPr sz="2400" dirty="0">
                <a:latin typeface="Microsoft Sans Serif"/>
                <a:cs typeface="Microsoft Sans Serif"/>
              </a:rPr>
              <a:t>diesel,</a:t>
            </a:r>
            <a:r>
              <a:rPr sz="2400" spc="45" dirty="0">
                <a:latin typeface="Microsoft Sans Serif"/>
                <a:cs typeface="Microsoft Sans Serif"/>
              </a:rPr>
              <a:t> </a:t>
            </a:r>
            <a:r>
              <a:rPr sz="2400" dirty="0">
                <a:latin typeface="Microsoft Sans Serif"/>
                <a:cs typeface="Microsoft Sans Serif"/>
              </a:rPr>
              <a:t>motor</a:t>
            </a:r>
            <a:r>
              <a:rPr sz="2400" spc="35" dirty="0">
                <a:latin typeface="Microsoft Sans Serif"/>
                <a:cs typeface="Microsoft Sans Serif"/>
              </a:rPr>
              <a:t> </a:t>
            </a:r>
            <a:r>
              <a:rPr sz="2400" dirty="0">
                <a:latin typeface="Microsoft Sans Serif"/>
                <a:cs typeface="Microsoft Sans Serif"/>
              </a:rPr>
              <a:t>spirit</a:t>
            </a:r>
            <a:r>
              <a:rPr sz="2400" spc="45" dirty="0">
                <a:latin typeface="Microsoft Sans Serif"/>
                <a:cs typeface="Microsoft Sans Serif"/>
              </a:rPr>
              <a:t> </a:t>
            </a:r>
            <a:r>
              <a:rPr sz="2400" dirty="0">
                <a:latin typeface="Microsoft Sans Serif"/>
                <a:cs typeface="Microsoft Sans Serif"/>
              </a:rPr>
              <a:t>(commonly</a:t>
            </a:r>
            <a:r>
              <a:rPr sz="2400" spc="55" dirty="0">
                <a:latin typeface="Microsoft Sans Serif"/>
                <a:cs typeface="Microsoft Sans Serif"/>
              </a:rPr>
              <a:t> </a:t>
            </a:r>
            <a:r>
              <a:rPr sz="2400" spc="-10" dirty="0">
                <a:latin typeface="Microsoft Sans Serif"/>
                <a:cs typeface="Microsoft Sans Serif"/>
              </a:rPr>
              <a:t>known </a:t>
            </a:r>
            <a:r>
              <a:rPr sz="2400" dirty="0">
                <a:latin typeface="Microsoft Sans Serif"/>
                <a:cs typeface="Microsoft Sans Serif"/>
              </a:rPr>
              <a:t>as</a:t>
            </a:r>
            <a:r>
              <a:rPr sz="2400" spc="135" dirty="0">
                <a:latin typeface="Microsoft Sans Serif"/>
                <a:cs typeface="Microsoft Sans Serif"/>
              </a:rPr>
              <a:t> </a:t>
            </a:r>
            <a:r>
              <a:rPr sz="2400" dirty="0">
                <a:latin typeface="Microsoft Sans Serif"/>
                <a:cs typeface="Microsoft Sans Serif"/>
              </a:rPr>
              <a:t>petrol),</a:t>
            </a:r>
            <a:r>
              <a:rPr sz="2400" spc="135" dirty="0">
                <a:latin typeface="Microsoft Sans Serif"/>
                <a:cs typeface="Microsoft Sans Serif"/>
              </a:rPr>
              <a:t> </a:t>
            </a:r>
            <a:r>
              <a:rPr sz="2400" dirty="0">
                <a:latin typeface="Microsoft Sans Serif"/>
                <a:cs typeface="Microsoft Sans Serif"/>
              </a:rPr>
              <a:t>natural</a:t>
            </a:r>
            <a:r>
              <a:rPr sz="2400" spc="130" dirty="0">
                <a:latin typeface="Microsoft Sans Serif"/>
                <a:cs typeface="Microsoft Sans Serif"/>
              </a:rPr>
              <a:t> </a:t>
            </a:r>
            <a:r>
              <a:rPr sz="2400" dirty="0">
                <a:latin typeface="Microsoft Sans Serif"/>
                <a:cs typeface="Microsoft Sans Serif"/>
              </a:rPr>
              <a:t>gas</a:t>
            </a:r>
            <a:r>
              <a:rPr sz="2400" spc="150" dirty="0">
                <a:latin typeface="Microsoft Sans Serif"/>
                <a:cs typeface="Microsoft Sans Serif"/>
              </a:rPr>
              <a:t> </a:t>
            </a:r>
            <a:r>
              <a:rPr sz="2400" dirty="0">
                <a:latin typeface="Microsoft Sans Serif"/>
                <a:cs typeface="Microsoft Sans Serif"/>
              </a:rPr>
              <a:t>&amp;</a:t>
            </a:r>
            <a:r>
              <a:rPr sz="2400" spc="130" dirty="0">
                <a:latin typeface="Microsoft Sans Serif"/>
                <a:cs typeface="Microsoft Sans Serif"/>
              </a:rPr>
              <a:t> </a:t>
            </a:r>
            <a:r>
              <a:rPr sz="2400" dirty="0">
                <a:latin typeface="Microsoft Sans Serif"/>
                <a:cs typeface="Microsoft Sans Serif"/>
              </a:rPr>
              <a:t>aviation</a:t>
            </a:r>
            <a:r>
              <a:rPr sz="2400" spc="150" dirty="0">
                <a:latin typeface="Microsoft Sans Serif"/>
                <a:cs typeface="Microsoft Sans Serif"/>
              </a:rPr>
              <a:t> </a:t>
            </a:r>
            <a:r>
              <a:rPr sz="2400" dirty="0">
                <a:latin typeface="Microsoft Sans Serif"/>
                <a:cs typeface="Microsoft Sans Serif"/>
              </a:rPr>
              <a:t>turbine</a:t>
            </a:r>
            <a:r>
              <a:rPr sz="2400" spc="130" dirty="0">
                <a:latin typeface="Microsoft Sans Serif"/>
                <a:cs typeface="Microsoft Sans Serif"/>
              </a:rPr>
              <a:t> </a:t>
            </a:r>
            <a:r>
              <a:rPr sz="2400" dirty="0">
                <a:latin typeface="Microsoft Sans Serif"/>
                <a:cs typeface="Microsoft Sans Serif"/>
              </a:rPr>
              <a:t>fuel</a:t>
            </a:r>
            <a:r>
              <a:rPr sz="2400" spc="135" dirty="0">
                <a:latin typeface="Microsoft Sans Serif"/>
                <a:cs typeface="Microsoft Sans Serif"/>
              </a:rPr>
              <a:t> </a:t>
            </a:r>
            <a:r>
              <a:rPr sz="2400" dirty="0">
                <a:latin typeface="Microsoft Sans Serif"/>
                <a:cs typeface="Microsoft Sans Serif"/>
              </a:rPr>
              <a:t>to</a:t>
            </a:r>
            <a:r>
              <a:rPr sz="2400" spc="135" dirty="0">
                <a:latin typeface="Microsoft Sans Serif"/>
                <a:cs typeface="Microsoft Sans Serif"/>
              </a:rPr>
              <a:t> </a:t>
            </a:r>
            <a:r>
              <a:rPr sz="2400" dirty="0">
                <a:latin typeface="Microsoft Sans Serif"/>
                <a:cs typeface="Microsoft Sans Serif"/>
              </a:rPr>
              <a:t>be</a:t>
            </a:r>
            <a:r>
              <a:rPr sz="2400" spc="130" dirty="0">
                <a:latin typeface="Microsoft Sans Serif"/>
                <a:cs typeface="Microsoft Sans Serif"/>
              </a:rPr>
              <a:t> </a:t>
            </a:r>
            <a:r>
              <a:rPr sz="2400" dirty="0">
                <a:latin typeface="Microsoft Sans Serif"/>
                <a:cs typeface="Microsoft Sans Serif"/>
              </a:rPr>
              <a:t>levied</a:t>
            </a:r>
            <a:r>
              <a:rPr sz="2400" spc="140" dirty="0">
                <a:latin typeface="Microsoft Sans Serif"/>
                <a:cs typeface="Microsoft Sans Serif"/>
              </a:rPr>
              <a:t> </a:t>
            </a:r>
            <a:r>
              <a:rPr sz="2400" dirty="0">
                <a:latin typeface="Microsoft Sans Serif"/>
                <a:cs typeface="Microsoft Sans Serif"/>
              </a:rPr>
              <a:t>from</a:t>
            </a:r>
            <a:r>
              <a:rPr sz="2400" spc="140" dirty="0">
                <a:latin typeface="Microsoft Sans Serif"/>
                <a:cs typeface="Microsoft Sans Serif"/>
              </a:rPr>
              <a:t> </a:t>
            </a:r>
            <a:r>
              <a:rPr sz="2400" dirty="0">
                <a:latin typeface="Microsoft Sans Serif"/>
                <a:cs typeface="Microsoft Sans Serif"/>
              </a:rPr>
              <a:t>a</a:t>
            </a:r>
            <a:r>
              <a:rPr sz="2400" spc="125" dirty="0">
                <a:latin typeface="Microsoft Sans Serif"/>
                <a:cs typeface="Microsoft Sans Serif"/>
              </a:rPr>
              <a:t> </a:t>
            </a:r>
            <a:r>
              <a:rPr sz="2400" dirty="0">
                <a:latin typeface="Microsoft Sans Serif"/>
                <a:cs typeface="Microsoft Sans Serif"/>
              </a:rPr>
              <a:t>later</a:t>
            </a:r>
            <a:r>
              <a:rPr sz="2400" spc="145" dirty="0">
                <a:latin typeface="Microsoft Sans Serif"/>
                <a:cs typeface="Microsoft Sans Serif"/>
              </a:rPr>
              <a:t> </a:t>
            </a:r>
            <a:r>
              <a:rPr sz="2400" spc="-20" dirty="0">
                <a:latin typeface="Microsoft Sans Serif"/>
                <a:cs typeface="Microsoft Sans Serif"/>
              </a:rPr>
              <a:t>date </a:t>
            </a:r>
            <a:r>
              <a:rPr sz="2400" dirty="0">
                <a:latin typeface="Microsoft Sans Serif"/>
                <a:cs typeface="Microsoft Sans Serif"/>
              </a:rPr>
              <a:t>on</a:t>
            </a:r>
            <a:r>
              <a:rPr sz="2400" spc="-10" dirty="0">
                <a:latin typeface="Microsoft Sans Serif"/>
                <a:cs typeface="Microsoft Sans Serif"/>
              </a:rPr>
              <a:t> recommendations</a:t>
            </a:r>
            <a:r>
              <a:rPr sz="2400" spc="25" dirty="0">
                <a:latin typeface="Microsoft Sans Serif"/>
                <a:cs typeface="Microsoft Sans Serif"/>
              </a:rPr>
              <a:t> </a:t>
            </a:r>
            <a:r>
              <a:rPr sz="2400" dirty="0">
                <a:latin typeface="Microsoft Sans Serif"/>
                <a:cs typeface="Microsoft Sans Serif"/>
              </a:rPr>
              <a:t>of</a:t>
            </a:r>
            <a:r>
              <a:rPr sz="2400" spc="-15" dirty="0">
                <a:latin typeface="Microsoft Sans Serif"/>
                <a:cs typeface="Microsoft Sans Serif"/>
              </a:rPr>
              <a:t> </a:t>
            </a:r>
            <a:r>
              <a:rPr sz="2400" spc="-20" dirty="0">
                <a:latin typeface="Microsoft Sans Serif"/>
                <a:cs typeface="Microsoft Sans Serif"/>
              </a:rPr>
              <a:t>GSTC</a:t>
            </a:r>
            <a:endParaRPr sz="2400">
              <a:latin typeface="Microsoft Sans Serif"/>
              <a:cs typeface="Microsoft Sans Serif"/>
            </a:endParaRPr>
          </a:p>
        </p:txBody>
      </p:sp>
    </p:spTree>
    <p:extLst>
      <p:ext uri="{BB962C8B-B14F-4D97-AF65-F5344CB8AC3E}">
        <p14:creationId xmlns:p14="http://schemas.microsoft.com/office/powerpoint/2010/main" val="288803283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lvl="0"/>
            <a:r>
              <a:rPr lang="en-US" sz="3200" dirty="0" smtClean="0"/>
              <a:t>Distinction between goods &amp; services or mix thereof was a big problem in earlier laws/regime. </a:t>
            </a:r>
          </a:p>
          <a:p>
            <a:pPr lvl="0"/>
            <a:endParaRPr lang="en-US" sz="3200" dirty="0"/>
          </a:p>
          <a:p>
            <a:pPr lvl="0"/>
            <a:r>
              <a:rPr lang="en-US" sz="3200" dirty="0" smtClean="0"/>
              <a:t>Especially in respect of Works Contract </a:t>
            </a:r>
            <a:r>
              <a:rPr lang="en-US" sz="3200" dirty="0"/>
              <a:t>S</a:t>
            </a:r>
            <a:r>
              <a:rPr lang="en-US" sz="3200" dirty="0" smtClean="0"/>
              <a:t>ervice where both material and service is involved, things become more complex because of Reverse Charge Mechanism (RCM).</a:t>
            </a:r>
          </a:p>
          <a:p>
            <a:endParaRPr lang="en-US" sz="3200" dirty="0"/>
          </a:p>
        </p:txBody>
      </p:sp>
      <p:sp>
        <p:nvSpPr>
          <p:cNvPr id="3" name="Footer Placeholder 2"/>
          <p:cNvSpPr>
            <a:spLocks noGrp="1"/>
          </p:cNvSpPr>
          <p:nvPr>
            <p:ph type="ftr" sz="quarter" idx="11"/>
          </p:nvPr>
        </p:nvSpPr>
        <p:spPr/>
        <p:txBody>
          <a:bodyPr/>
          <a:lstStyle/>
          <a:p>
            <a:r>
              <a:rPr lang="en-US" dirty="0" smtClean="0"/>
              <a:t>Download Source-</a:t>
            </a:r>
            <a:endParaRPr lang="en-US" dirty="0"/>
          </a:p>
        </p:txBody>
      </p:sp>
      <p:sp>
        <p:nvSpPr>
          <p:cNvPr id="4" name="Title 3"/>
          <p:cNvSpPr>
            <a:spLocks noGrp="1"/>
          </p:cNvSpPr>
          <p:nvPr>
            <p:ph type="title"/>
          </p:nvPr>
        </p:nvSpPr>
        <p:spPr/>
        <p:txBody>
          <a:bodyPr/>
          <a:lstStyle/>
          <a:p>
            <a:r>
              <a:rPr lang="en-US" dirty="0" smtClean="0"/>
              <a:t>Why GST ?</a:t>
            </a:r>
            <a:endParaRPr lang="en-US" dirty="0"/>
          </a:p>
        </p:txBody>
      </p:sp>
    </p:spTree>
    <p:extLst>
      <p:ext uri="{BB962C8B-B14F-4D97-AF65-F5344CB8AC3E}">
        <p14:creationId xmlns:p14="http://schemas.microsoft.com/office/powerpoint/2010/main" val="206429381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GST IS APPLICABLE TO ALL GOODS &amp; SERVICES, EXCEPT FEW.</a:t>
            </a:r>
          </a:p>
          <a:p>
            <a:endParaRPr lang="en-US" dirty="0" smtClean="0"/>
          </a:p>
          <a:p>
            <a:r>
              <a:rPr lang="en-US" dirty="0" smtClean="0"/>
              <a:t>EXCEPT AGRI, MEDICAL SERVICES AND EDUCATION, EVERYTHING IS TAXABLE UNDER GST.</a:t>
            </a:r>
          </a:p>
          <a:p>
            <a:endParaRPr lang="en-US" dirty="0"/>
          </a:p>
        </p:txBody>
      </p:sp>
      <p:sp>
        <p:nvSpPr>
          <p:cNvPr id="3" name="Footer Placeholder 2"/>
          <p:cNvSpPr>
            <a:spLocks noGrp="1"/>
          </p:cNvSpPr>
          <p:nvPr>
            <p:ph type="ftr" sz="quarter" idx="11"/>
          </p:nvPr>
        </p:nvSpPr>
        <p:spPr/>
        <p:txBody>
          <a:bodyPr/>
          <a:lstStyle/>
          <a:p>
            <a:r>
              <a:rPr lang="en-US" dirty="0" smtClean="0"/>
              <a:t>Download Source-</a:t>
            </a:r>
            <a:endParaRPr lang="en-US" dirty="0"/>
          </a:p>
        </p:txBody>
      </p:sp>
      <p:sp>
        <p:nvSpPr>
          <p:cNvPr id="4" name="Title 3"/>
          <p:cNvSpPr>
            <a:spLocks noGrp="1"/>
          </p:cNvSpPr>
          <p:nvPr>
            <p:ph type="title"/>
          </p:nvPr>
        </p:nvSpPr>
        <p:spPr/>
        <p:txBody>
          <a:bodyPr/>
          <a:lstStyle/>
          <a:p>
            <a:r>
              <a:rPr lang="en-US" dirty="0" smtClean="0"/>
              <a:t>IMPORTANCE OF GST </a:t>
            </a:r>
            <a:endParaRPr lang="en-US" dirty="0"/>
          </a:p>
        </p:txBody>
      </p:sp>
    </p:spTree>
    <p:extLst>
      <p:ext uri="{BB962C8B-B14F-4D97-AF65-F5344CB8AC3E}">
        <p14:creationId xmlns:p14="http://schemas.microsoft.com/office/powerpoint/2010/main" val="193716040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38200" y="1825625"/>
            <a:ext cx="10515600" cy="2816713"/>
          </a:xfrm>
        </p:spPr>
        <p:txBody>
          <a:bodyPr>
            <a:normAutofit/>
          </a:bodyPr>
          <a:lstStyle/>
          <a:p>
            <a:pPr algn="just"/>
            <a:r>
              <a:rPr lang="en-US" sz="3200" dirty="0" smtClean="0"/>
              <a:t>GST may not be a very ideal for many people &amp; for many reasons but in fact  things in earlier taxation system had gone to such low &amp; complex level, so  further worsening of things was almost impossible, so hopefully things will only get better day by day.</a:t>
            </a:r>
            <a:endParaRPr lang="en-US" sz="3200" dirty="0"/>
          </a:p>
        </p:txBody>
      </p:sp>
      <p:sp>
        <p:nvSpPr>
          <p:cNvPr id="3" name="Footer Placeholder 2"/>
          <p:cNvSpPr>
            <a:spLocks noGrp="1"/>
          </p:cNvSpPr>
          <p:nvPr>
            <p:ph type="ftr" sz="quarter" idx="11"/>
          </p:nvPr>
        </p:nvSpPr>
        <p:spPr/>
        <p:txBody>
          <a:bodyPr/>
          <a:lstStyle/>
          <a:p>
            <a:r>
              <a:rPr lang="en-US" dirty="0" smtClean="0"/>
              <a:t>Download Source-</a:t>
            </a:r>
            <a:endParaRPr lang="en-US" dirty="0"/>
          </a:p>
        </p:txBody>
      </p:sp>
      <p:sp>
        <p:nvSpPr>
          <p:cNvPr id="4" name="Title 3"/>
          <p:cNvSpPr>
            <a:spLocks noGrp="1"/>
          </p:cNvSpPr>
          <p:nvPr>
            <p:ph type="title"/>
          </p:nvPr>
        </p:nvSpPr>
        <p:spPr/>
        <p:txBody>
          <a:bodyPr>
            <a:normAutofit/>
          </a:bodyPr>
          <a:lstStyle/>
          <a:p>
            <a:r>
              <a:rPr lang="en-US" b="1" dirty="0" smtClean="0"/>
              <a:t>WHY GST BETTER THAN EARLIER LAWS ?</a:t>
            </a:r>
            <a:endParaRPr lang="en-US" b="1" dirty="0"/>
          </a:p>
        </p:txBody>
      </p:sp>
    </p:spTree>
    <p:extLst>
      <p:ext uri="{BB962C8B-B14F-4D97-AF65-F5344CB8AC3E}">
        <p14:creationId xmlns:p14="http://schemas.microsoft.com/office/powerpoint/2010/main" val="103773388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lvl="0"/>
            <a:r>
              <a:rPr lang="en-US" dirty="0" smtClean="0"/>
              <a:t>What constitutional amendment says as purpose</a:t>
            </a:r>
          </a:p>
          <a:p>
            <a:pPr marL="0" lvl="0" indent="0">
              <a:buNone/>
            </a:pPr>
            <a:r>
              <a:rPr lang="en-US" dirty="0" smtClean="0"/>
              <a:t>	(1) to avoid </a:t>
            </a:r>
            <a:r>
              <a:rPr lang="en-US" dirty="0" smtClean="0">
                <a:solidFill>
                  <a:srgbClr val="FF0000"/>
                </a:solidFill>
              </a:rPr>
              <a:t>cascading</a:t>
            </a:r>
            <a:r>
              <a:rPr lang="en-US" dirty="0" smtClean="0"/>
              <a:t> effect </a:t>
            </a:r>
          </a:p>
          <a:p>
            <a:pPr marL="0" lvl="0" indent="0">
              <a:buNone/>
            </a:pPr>
            <a:r>
              <a:rPr lang="en-US" dirty="0" smtClean="0"/>
              <a:t>	(2) to have common national market.</a:t>
            </a:r>
          </a:p>
          <a:p>
            <a:endParaRPr lang="en-US" dirty="0"/>
          </a:p>
        </p:txBody>
      </p:sp>
      <p:sp>
        <p:nvSpPr>
          <p:cNvPr id="3" name="Footer Placeholder 2"/>
          <p:cNvSpPr>
            <a:spLocks noGrp="1"/>
          </p:cNvSpPr>
          <p:nvPr>
            <p:ph type="ftr" sz="quarter" idx="11"/>
          </p:nvPr>
        </p:nvSpPr>
        <p:spPr/>
        <p:txBody>
          <a:bodyPr/>
          <a:lstStyle/>
          <a:p>
            <a:r>
              <a:rPr lang="en-US" dirty="0" smtClean="0"/>
              <a:t>Download Source- </a:t>
            </a:r>
            <a:endParaRPr lang="en-US" dirty="0"/>
          </a:p>
        </p:txBody>
      </p:sp>
      <p:sp>
        <p:nvSpPr>
          <p:cNvPr id="4" name="Title 3"/>
          <p:cNvSpPr>
            <a:spLocks noGrp="1"/>
          </p:cNvSpPr>
          <p:nvPr>
            <p:ph type="title"/>
          </p:nvPr>
        </p:nvSpPr>
        <p:spPr/>
        <p:txBody>
          <a:bodyPr>
            <a:normAutofit/>
          </a:bodyPr>
          <a:lstStyle/>
          <a:p>
            <a:r>
              <a:rPr lang="en-US" dirty="0" smtClean="0"/>
              <a:t>Purpose of GST as per constitution</a:t>
            </a:r>
            <a:endParaRPr lang="en-US" dirty="0"/>
          </a:p>
        </p:txBody>
      </p:sp>
    </p:spTree>
    <p:extLst>
      <p:ext uri="{BB962C8B-B14F-4D97-AF65-F5344CB8AC3E}">
        <p14:creationId xmlns:p14="http://schemas.microsoft.com/office/powerpoint/2010/main" val="120251221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IGST/(contribution of India in GST).</a:t>
            </a:r>
          </a:p>
          <a:p>
            <a:r>
              <a:rPr lang="en-US" dirty="0" smtClean="0"/>
              <a:t>DESTINATION BASED TAX</a:t>
            </a:r>
          </a:p>
          <a:p>
            <a:r>
              <a:rPr lang="en-US" dirty="0" smtClean="0"/>
              <a:t>CONSUMPTION BASED TAX</a:t>
            </a:r>
          </a:p>
          <a:p>
            <a:r>
              <a:rPr lang="en-US" dirty="0" smtClean="0"/>
              <a:t>COMPLIANCE RATING</a:t>
            </a:r>
          </a:p>
          <a:p>
            <a:r>
              <a:rPr lang="en-US" dirty="0" smtClean="0"/>
              <a:t>RARE EXAMPLE OF STATE &amp; CENTRAL GOVT CO-OPERATION.</a:t>
            </a:r>
          </a:p>
          <a:p>
            <a:r>
              <a:rPr lang="en-US" dirty="0" smtClean="0">
                <a:solidFill>
                  <a:srgbClr val="FF0000"/>
                </a:solidFill>
              </a:rPr>
              <a:t>GST COUNCIL- </a:t>
            </a:r>
            <a:r>
              <a:rPr lang="en-US" dirty="0" smtClean="0"/>
              <a:t>NEW POWER CENTRE</a:t>
            </a:r>
          </a:p>
          <a:p>
            <a:r>
              <a:rPr lang="en-US" dirty="0" smtClean="0"/>
              <a:t>ALL DECISIONS UNANIMOUS, NEVER VOTING.</a:t>
            </a:r>
          </a:p>
          <a:p>
            <a:r>
              <a:rPr lang="en-US" dirty="0" smtClean="0"/>
              <a:t>END OF INSPECTOR RAJ ?</a:t>
            </a:r>
            <a:endParaRPr lang="en-US" dirty="0"/>
          </a:p>
        </p:txBody>
      </p:sp>
      <p:sp>
        <p:nvSpPr>
          <p:cNvPr id="3" name="Footer Placeholder 2"/>
          <p:cNvSpPr>
            <a:spLocks noGrp="1"/>
          </p:cNvSpPr>
          <p:nvPr>
            <p:ph type="ftr" sz="quarter" idx="11"/>
          </p:nvPr>
        </p:nvSpPr>
        <p:spPr/>
        <p:txBody>
          <a:bodyPr/>
          <a:lstStyle/>
          <a:p>
            <a:r>
              <a:rPr lang="en-US" dirty="0" smtClean="0"/>
              <a:t>Download Source- </a:t>
            </a:r>
            <a:endParaRPr lang="en-US" dirty="0"/>
          </a:p>
        </p:txBody>
      </p:sp>
      <p:sp>
        <p:nvSpPr>
          <p:cNvPr id="4" name="Title 3"/>
          <p:cNvSpPr>
            <a:spLocks noGrp="1"/>
          </p:cNvSpPr>
          <p:nvPr>
            <p:ph type="title"/>
          </p:nvPr>
        </p:nvSpPr>
        <p:spPr/>
        <p:txBody>
          <a:bodyPr>
            <a:normAutofit/>
          </a:bodyPr>
          <a:lstStyle/>
          <a:p>
            <a:r>
              <a:rPr lang="en-US" dirty="0" smtClean="0"/>
              <a:t>Unique Concepts/Features:-</a:t>
            </a:r>
            <a:endParaRPr lang="en-US" dirty="0"/>
          </a:p>
        </p:txBody>
      </p:sp>
    </p:spTree>
    <p:extLst>
      <p:ext uri="{BB962C8B-B14F-4D97-AF65-F5344CB8AC3E}">
        <p14:creationId xmlns:p14="http://schemas.microsoft.com/office/powerpoint/2010/main" val="116722191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lvl="0"/>
            <a:r>
              <a:rPr lang="en-US" dirty="0" smtClean="0"/>
              <a:t>Earlier tax on tax</a:t>
            </a:r>
          </a:p>
          <a:p>
            <a:pPr lvl="0"/>
            <a:r>
              <a:rPr lang="en-US" dirty="0" smtClean="0"/>
              <a:t>Exports can not be made tax free.</a:t>
            </a:r>
          </a:p>
          <a:p>
            <a:pPr lvl="0"/>
            <a:r>
              <a:rPr lang="en-US" dirty="0" smtClean="0"/>
              <a:t>Under GST:- self police mechanism.</a:t>
            </a:r>
          </a:p>
          <a:p>
            <a:pPr lvl="0"/>
            <a:r>
              <a:rPr lang="en-US" dirty="0" smtClean="0"/>
              <a:t>All transactions recorded in book, tax collection will go up.</a:t>
            </a:r>
          </a:p>
          <a:p>
            <a:pPr lvl="0"/>
            <a:r>
              <a:rPr lang="en-US" dirty="0" err="1" smtClean="0"/>
              <a:t>Pararrel</a:t>
            </a:r>
            <a:r>
              <a:rPr lang="en-US" dirty="0" smtClean="0"/>
              <a:t> economy ratio expected to go down.</a:t>
            </a:r>
          </a:p>
          <a:p>
            <a:pPr lvl="0"/>
            <a:r>
              <a:rPr lang="en-US" dirty="0" smtClean="0"/>
              <a:t>What is easy to </a:t>
            </a:r>
            <a:r>
              <a:rPr lang="en-US" dirty="0" smtClean="0">
                <a:solidFill>
                  <a:srgbClr val="FF0000"/>
                </a:solidFill>
              </a:rPr>
              <a:t>print</a:t>
            </a:r>
            <a:r>
              <a:rPr lang="en-US" dirty="0" smtClean="0"/>
              <a:t> </a:t>
            </a:r>
            <a:r>
              <a:rPr lang="en-US" dirty="0" smtClean="0">
                <a:solidFill>
                  <a:srgbClr val="FF0000"/>
                </a:solidFill>
              </a:rPr>
              <a:t>a currency note </a:t>
            </a:r>
            <a:r>
              <a:rPr lang="en-US" dirty="0" smtClean="0"/>
              <a:t>or </a:t>
            </a:r>
            <a:r>
              <a:rPr lang="en-US" dirty="0" smtClean="0">
                <a:solidFill>
                  <a:srgbClr val="FF0000"/>
                </a:solidFill>
              </a:rPr>
              <a:t>CENVAT invoice</a:t>
            </a:r>
            <a:r>
              <a:rPr lang="en-US" dirty="0" smtClean="0"/>
              <a:t> ? .</a:t>
            </a:r>
          </a:p>
          <a:p>
            <a:pPr lvl="0"/>
            <a:r>
              <a:rPr lang="en-US" dirty="0" smtClean="0"/>
              <a:t>Matching basis-soul of GST.</a:t>
            </a:r>
          </a:p>
          <a:p>
            <a:r>
              <a:rPr lang="en-US" dirty="0" smtClean="0"/>
              <a:t>Earlier taxation under excise, vat was restricted to those transactions, now 360degree angle is required</a:t>
            </a:r>
            <a:endParaRPr lang="en-US" dirty="0"/>
          </a:p>
        </p:txBody>
      </p:sp>
      <p:sp>
        <p:nvSpPr>
          <p:cNvPr id="3" name="Footer Placeholder 2"/>
          <p:cNvSpPr>
            <a:spLocks noGrp="1"/>
          </p:cNvSpPr>
          <p:nvPr>
            <p:ph type="ftr" sz="quarter" idx="11"/>
          </p:nvPr>
        </p:nvSpPr>
        <p:spPr/>
        <p:txBody>
          <a:bodyPr/>
          <a:lstStyle/>
          <a:p>
            <a:r>
              <a:rPr lang="en-US" dirty="0" err="1" smtClean="0"/>
              <a:t>Shrikant</a:t>
            </a:r>
            <a:r>
              <a:rPr lang="en-US" dirty="0" smtClean="0"/>
              <a:t> kale</a:t>
            </a:r>
          </a:p>
          <a:p>
            <a:endParaRPr lang="en-US" dirty="0"/>
          </a:p>
        </p:txBody>
      </p:sp>
      <p:sp>
        <p:nvSpPr>
          <p:cNvPr id="4" name="Title 3"/>
          <p:cNvSpPr>
            <a:spLocks noGrp="1"/>
          </p:cNvSpPr>
          <p:nvPr>
            <p:ph type="title"/>
          </p:nvPr>
        </p:nvSpPr>
        <p:spPr/>
        <p:txBody>
          <a:bodyPr/>
          <a:lstStyle/>
          <a:p>
            <a:r>
              <a:rPr lang="en-US" dirty="0" smtClean="0"/>
              <a:t>WHY GST IS MUST ?</a:t>
            </a:r>
            <a:endParaRPr lang="en-US" dirty="0"/>
          </a:p>
        </p:txBody>
      </p:sp>
    </p:spTree>
    <p:extLst>
      <p:ext uri="{BB962C8B-B14F-4D97-AF65-F5344CB8AC3E}">
        <p14:creationId xmlns:p14="http://schemas.microsoft.com/office/powerpoint/2010/main" val="408854754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06500" y="-75572"/>
            <a:ext cx="10515600" cy="1325563"/>
          </a:xfrm>
          <a:prstGeom prst="rect">
            <a:avLst/>
          </a:prstGeom>
        </p:spPr>
        <p:txBody>
          <a:bodyPr vert="horz" wrap="square" lIns="0" tIns="66929" rIns="0" bIns="0" rtlCol="0">
            <a:spAutoFit/>
          </a:bodyPr>
          <a:lstStyle/>
          <a:p>
            <a:pPr marL="64769">
              <a:lnSpc>
                <a:spcPct val="100000"/>
              </a:lnSpc>
              <a:spcBef>
                <a:spcPts val="100"/>
              </a:spcBef>
            </a:pPr>
            <a:r>
              <a:rPr dirty="0">
                <a:solidFill>
                  <a:srgbClr val="212A35"/>
                </a:solidFill>
              </a:rPr>
              <a:t>Existing</a:t>
            </a:r>
            <a:r>
              <a:rPr spc="-80" dirty="0">
                <a:solidFill>
                  <a:srgbClr val="212A35"/>
                </a:solidFill>
              </a:rPr>
              <a:t> </a:t>
            </a:r>
            <a:r>
              <a:rPr dirty="0">
                <a:solidFill>
                  <a:srgbClr val="212A35"/>
                </a:solidFill>
              </a:rPr>
              <a:t>Indirect</a:t>
            </a:r>
            <a:r>
              <a:rPr spc="-60" dirty="0">
                <a:solidFill>
                  <a:srgbClr val="212A35"/>
                </a:solidFill>
              </a:rPr>
              <a:t> </a:t>
            </a:r>
            <a:r>
              <a:rPr spc="-25" dirty="0">
                <a:solidFill>
                  <a:srgbClr val="212A35"/>
                </a:solidFill>
              </a:rPr>
              <a:t>Tax</a:t>
            </a:r>
            <a:r>
              <a:rPr spc="-65" dirty="0">
                <a:solidFill>
                  <a:srgbClr val="212A35"/>
                </a:solidFill>
              </a:rPr>
              <a:t> </a:t>
            </a:r>
            <a:r>
              <a:rPr dirty="0">
                <a:solidFill>
                  <a:srgbClr val="212A35"/>
                </a:solidFill>
              </a:rPr>
              <a:t>Structure</a:t>
            </a:r>
            <a:r>
              <a:rPr spc="-65" dirty="0">
                <a:solidFill>
                  <a:srgbClr val="212A35"/>
                </a:solidFill>
              </a:rPr>
              <a:t> </a:t>
            </a:r>
            <a:r>
              <a:rPr dirty="0">
                <a:solidFill>
                  <a:srgbClr val="212A35"/>
                </a:solidFill>
              </a:rPr>
              <a:t>in</a:t>
            </a:r>
            <a:r>
              <a:rPr spc="-60" dirty="0">
                <a:solidFill>
                  <a:srgbClr val="212A35"/>
                </a:solidFill>
              </a:rPr>
              <a:t> </a:t>
            </a:r>
            <a:r>
              <a:rPr spc="-10" dirty="0">
                <a:solidFill>
                  <a:srgbClr val="212A35"/>
                </a:solidFill>
              </a:rPr>
              <a:t>India</a:t>
            </a:r>
          </a:p>
        </p:txBody>
      </p:sp>
      <p:sp>
        <p:nvSpPr>
          <p:cNvPr id="3" name="object 3"/>
          <p:cNvSpPr txBox="1"/>
          <p:nvPr/>
        </p:nvSpPr>
        <p:spPr>
          <a:xfrm>
            <a:off x="1206500" y="5857443"/>
            <a:ext cx="9649460" cy="574040"/>
          </a:xfrm>
          <a:prstGeom prst="rect">
            <a:avLst/>
          </a:prstGeom>
        </p:spPr>
        <p:txBody>
          <a:bodyPr vert="horz" wrap="square" lIns="0" tIns="12700" rIns="0" bIns="0" rtlCol="0">
            <a:spAutoFit/>
          </a:bodyPr>
          <a:lstStyle/>
          <a:p>
            <a:pPr marL="1165860" marR="5080" indent="-1153795">
              <a:lnSpc>
                <a:spcPct val="100000"/>
              </a:lnSpc>
              <a:spcBef>
                <a:spcPts val="100"/>
              </a:spcBef>
            </a:pPr>
            <a:r>
              <a:rPr sz="1800" b="1" dirty="0">
                <a:solidFill>
                  <a:srgbClr val="1F3863"/>
                </a:solidFill>
                <a:latin typeface="Arial"/>
                <a:cs typeface="Arial"/>
              </a:rPr>
              <a:t>Constitution</a:t>
            </a:r>
            <a:r>
              <a:rPr sz="1800" b="1" spc="-45" dirty="0">
                <a:solidFill>
                  <a:srgbClr val="1F3863"/>
                </a:solidFill>
                <a:latin typeface="Arial"/>
                <a:cs typeface="Arial"/>
              </a:rPr>
              <a:t> </a:t>
            </a:r>
            <a:r>
              <a:rPr sz="1800" b="1" dirty="0">
                <a:solidFill>
                  <a:srgbClr val="1F3863"/>
                </a:solidFill>
                <a:latin typeface="Arial"/>
                <a:cs typeface="Arial"/>
              </a:rPr>
              <a:t>amended</a:t>
            </a:r>
            <a:r>
              <a:rPr sz="1800" b="1" spc="-20" dirty="0">
                <a:solidFill>
                  <a:srgbClr val="1F3863"/>
                </a:solidFill>
                <a:latin typeface="Arial"/>
                <a:cs typeface="Arial"/>
              </a:rPr>
              <a:t> </a:t>
            </a:r>
            <a:r>
              <a:rPr sz="1800" b="1" dirty="0">
                <a:solidFill>
                  <a:srgbClr val="1F3863"/>
                </a:solidFill>
                <a:latin typeface="Arial"/>
                <a:cs typeface="Arial"/>
              </a:rPr>
              <a:t>to</a:t>
            </a:r>
            <a:r>
              <a:rPr sz="1800" b="1" spc="-25" dirty="0">
                <a:solidFill>
                  <a:srgbClr val="1F3863"/>
                </a:solidFill>
                <a:latin typeface="Arial"/>
                <a:cs typeface="Arial"/>
              </a:rPr>
              <a:t> </a:t>
            </a:r>
            <a:r>
              <a:rPr sz="1800" b="1" dirty="0">
                <a:solidFill>
                  <a:srgbClr val="1F3863"/>
                </a:solidFill>
                <a:latin typeface="Arial"/>
                <a:cs typeface="Arial"/>
              </a:rPr>
              <a:t>provide</a:t>
            </a:r>
            <a:r>
              <a:rPr sz="1800" b="1" spc="5" dirty="0">
                <a:solidFill>
                  <a:srgbClr val="1F3863"/>
                </a:solidFill>
                <a:latin typeface="Arial"/>
                <a:cs typeface="Arial"/>
              </a:rPr>
              <a:t> </a:t>
            </a:r>
            <a:r>
              <a:rPr sz="1800" b="1" dirty="0">
                <a:solidFill>
                  <a:srgbClr val="1F3863"/>
                </a:solidFill>
                <a:latin typeface="Arial"/>
                <a:cs typeface="Arial"/>
              </a:rPr>
              <a:t>concurrent</a:t>
            </a:r>
            <a:r>
              <a:rPr sz="1800" b="1" spc="-25" dirty="0">
                <a:solidFill>
                  <a:srgbClr val="1F3863"/>
                </a:solidFill>
                <a:latin typeface="Arial"/>
                <a:cs typeface="Arial"/>
              </a:rPr>
              <a:t> </a:t>
            </a:r>
            <a:r>
              <a:rPr sz="1800" b="1" dirty="0">
                <a:solidFill>
                  <a:srgbClr val="1F3863"/>
                </a:solidFill>
                <a:latin typeface="Arial"/>
                <a:cs typeface="Arial"/>
              </a:rPr>
              <a:t>powers</a:t>
            </a:r>
            <a:r>
              <a:rPr sz="1800" b="1" spc="-65" dirty="0">
                <a:solidFill>
                  <a:srgbClr val="1F3863"/>
                </a:solidFill>
                <a:latin typeface="Arial"/>
                <a:cs typeface="Arial"/>
              </a:rPr>
              <a:t> </a:t>
            </a:r>
            <a:r>
              <a:rPr sz="1800" b="1" dirty="0">
                <a:solidFill>
                  <a:srgbClr val="1F3863"/>
                </a:solidFill>
                <a:latin typeface="Arial"/>
                <a:cs typeface="Arial"/>
              </a:rPr>
              <a:t>to</a:t>
            </a:r>
            <a:r>
              <a:rPr sz="1800" b="1" spc="-20" dirty="0">
                <a:solidFill>
                  <a:srgbClr val="1F3863"/>
                </a:solidFill>
                <a:latin typeface="Arial"/>
                <a:cs typeface="Arial"/>
              </a:rPr>
              <a:t> </a:t>
            </a:r>
            <a:r>
              <a:rPr sz="1800" b="1" dirty="0">
                <a:solidFill>
                  <a:srgbClr val="1F3863"/>
                </a:solidFill>
                <a:latin typeface="Arial"/>
                <a:cs typeface="Arial"/>
              </a:rPr>
              <a:t>both</a:t>
            </a:r>
            <a:r>
              <a:rPr sz="1800" b="1" spc="-40" dirty="0">
                <a:solidFill>
                  <a:srgbClr val="1F3863"/>
                </a:solidFill>
                <a:latin typeface="Arial"/>
                <a:cs typeface="Arial"/>
              </a:rPr>
              <a:t> </a:t>
            </a:r>
            <a:r>
              <a:rPr sz="1800" b="1" dirty="0">
                <a:solidFill>
                  <a:srgbClr val="1F3863"/>
                </a:solidFill>
                <a:latin typeface="Arial"/>
                <a:cs typeface="Arial"/>
              </a:rPr>
              <a:t>Centre</a:t>
            </a:r>
            <a:r>
              <a:rPr sz="1800" b="1" spc="-20" dirty="0">
                <a:solidFill>
                  <a:srgbClr val="1F3863"/>
                </a:solidFill>
                <a:latin typeface="Arial"/>
                <a:cs typeface="Arial"/>
              </a:rPr>
              <a:t> </a:t>
            </a:r>
            <a:r>
              <a:rPr sz="1800" b="1" dirty="0">
                <a:solidFill>
                  <a:srgbClr val="1F3863"/>
                </a:solidFill>
                <a:latin typeface="Arial"/>
                <a:cs typeface="Arial"/>
              </a:rPr>
              <a:t>&amp;</a:t>
            </a:r>
            <a:r>
              <a:rPr sz="1800" b="1" spc="-25" dirty="0">
                <a:solidFill>
                  <a:srgbClr val="1F3863"/>
                </a:solidFill>
                <a:latin typeface="Arial"/>
                <a:cs typeface="Arial"/>
              </a:rPr>
              <a:t> </a:t>
            </a:r>
            <a:r>
              <a:rPr sz="1800" b="1" dirty="0">
                <a:solidFill>
                  <a:srgbClr val="1F3863"/>
                </a:solidFill>
                <a:latin typeface="Arial"/>
                <a:cs typeface="Arial"/>
              </a:rPr>
              <a:t>States</a:t>
            </a:r>
            <a:r>
              <a:rPr sz="1800" b="1" spc="-20" dirty="0">
                <a:solidFill>
                  <a:srgbClr val="1F3863"/>
                </a:solidFill>
                <a:latin typeface="Arial"/>
                <a:cs typeface="Arial"/>
              </a:rPr>
              <a:t> </a:t>
            </a:r>
            <a:r>
              <a:rPr sz="1800" b="1" dirty="0">
                <a:solidFill>
                  <a:srgbClr val="1F3863"/>
                </a:solidFill>
                <a:latin typeface="Arial"/>
                <a:cs typeface="Arial"/>
              </a:rPr>
              <a:t>to</a:t>
            </a:r>
            <a:r>
              <a:rPr sz="1800" b="1" spc="-25" dirty="0">
                <a:solidFill>
                  <a:srgbClr val="1F3863"/>
                </a:solidFill>
                <a:latin typeface="Arial"/>
                <a:cs typeface="Arial"/>
              </a:rPr>
              <a:t> </a:t>
            </a:r>
            <a:r>
              <a:rPr sz="1800" b="1" dirty="0">
                <a:solidFill>
                  <a:srgbClr val="1F3863"/>
                </a:solidFill>
                <a:latin typeface="Arial"/>
                <a:cs typeface="Arial"/>
              </a:rPr>
              <a:t>levy</a:t>
            </a:r>
            <a:r>
              <a:rPr sz="1800" b="1" spc="5" dirty="0">
                <a:solidFill>
                  <a:srgbClr val="1F3863"/>
                </a:solidFill>
                <a:latin typeface="Arial"/>
                <a:cs typeface="Arial"/>
              </a:rPr>
              <a:t> </a:t>
            </a:r>
            <a:r>
              <a:rPr sz="1800" b="1" spc="-25" dirty="0">
                <a:solidFill>
                  <a:srgbClr val="1F3863"/>
                </a:solidFill>
                <a:latin typeface="Arial"/>
                <a:cs typeface="Arial"/>
              </a:rPr>
              <a:t>GST </a:t>
            </a:r>
            <a:r>
              <a:rPr sz="1800" b="1" dirty="0">
                <a:solidFill>
                  <a:srgbClr val="1F3863"/>
                </a:solidFill>
                <a:latin typeface="Arial"/>
                <a:cs typeface="Arial"/>
              </a:rPr>
              <a:t>(Centre</a:t>
            </a:r>
            <a:r>
              <a:rPr sz="1800" b="1" spc="-15" dirty="0">
                <a:solidFill>
                  <a:srgbClr val="1F3863"/>
                </a:solidFill>
                <a:latin typeface="Arial"/>
                <a:cs typeface="Arial"/>
              </a:rPr>
              <a:t> </a:t>
            </a:r>
            <a:r>
              <a:rPr sz="1800" b="1" dirty="0">
                <a:solidFill>
                  <a:srgbClr val="1F3863"/>
                </a:solidFill>
                <a:latin typeface="Arial"/>
                <a:cs typeface="Arial"/>
              </a:rPr>
              <a:t>to</a:t>
            </a:r>
            <a:r>
              <a:rPr sz="1800" b="1" spc="-15" dirty="0">
                <a:solidFill>
                  <a:srgbClr val="1F3863"/>
                </a:solidFill>
                <a:latin typeface="Arial"/>
                <a:cs typeface="Arial"/>
              </a:rPr>
              <a:t> </a:t>
            </a:r>
            <a:r>
              <a:rPr sz="1800" b="1" dirty="0">
                <a:solidFill>
                  <a:srgbClr val="1F3863"/>
                </a:solidFill>
                <a:latin typeface="Arial"/>
                <a:cs typeface="Arial"/>
              </a:rPr>
              <a:t>tax</a:t>
            </a:r>
            <a:r>
              <a:rPr sz="1800" b="1" spc="-20" dirty="0">
                <a:solidFill>
                  <a:srgbClr val="1F3863"/>
                </a:solidFill>
                <a:latin typeface="Arial"/>
                <a:cs typeface="Arial"/>
              </a:rPr>
              <a:t> </a:t>
            </a:r>
            <a:r>
              <a:rPr sz="1800" b="1" dirty="0">
                <a:solidFill>
                  <a:srgbClr val="1F3863"/>
                </a:solidFill>
                <a:latin typeface="Arial"/>
                <a:cs typeface="Arial"/>
              </a:rPr>
              <a:t>sale</a:t>
            </a:r>
            <a:r>
              <a:rPr sz="1800" b="1" spc="-10" dirty="0">
                <a:solidFill>
                  <a:srgbClr val="1F3863"/>
                </a:solidFill>
                <a:latin typeface="Arial"/>
                <a:cs typeface="Arial"/>
              </a:rPr>
              <a:t> </a:t>
            </a:r>
            <a:r>
              <a:rPr sz="1800" b="1" dirty="0">
                <a:solidFill>
                  <a:srgbClr val="1F3863"/>
                </a:solidFill>
                <a:latin typeface="Arial"/>
                <a:cs typeface="Arial"/>
              </a:rPr>
              <a:t>of</a:t>
            </a:r>
            <a:r>
              <a:rPr sz="1800" b="1" spc="-15" dirty="0">
                <a:solidFill>
                  <a:srgbClr val="1F3863"/>
                </a:solidFill>
                <a:latin typeface="Arial"/>
                <a:cs typeface="Arial"/>
              </a:rPr>
              <a:t> </a:t>
            </a:r>
            <a:r>
              <a:rPr sz="1800" b="1" dirty="0">
                <a:solidFill>
                  <a:srgbClr val="1F3863"/>
                </a:solidFill>
                <a:latin typeface="Arial"/>
                <a:cs typeface="Arial"/>
              </a:rPr>
              <a:t>goods</a:t>
            </a:r>
            <a:r>
              <a:rPr sz="1800" b="1" spc="-30" dirty="0">
                <a:solidFill>
                  <a:srgbClr val="1F3863"/>
                </a:solidFill>
                <a:latin typeface="Arial"/>
                <a:cs typeface="Arial"/>
              </a:rPr>
              <a:t> </a:t>
            </a:r>
            <a:r>
              <a:rPr sz="1800" b="1" dirty="0">
                <a:solidFill>
                  <a:srgbClr val="1F3863"/>
                </a:solidFill>
                <a:latin typeface="Arial"/>
                <a:cs typeface="Arial"/>
              </a:rPr>
              <a:t>and</a:t>
            </a:r>
            <a:r>
              <a:rPr sz="1800" b="1" spc="-15" dirty="0">
                <a:solidFill>
                  <a:srgbClr val="1F3863"/>
                </a:solidFill>
                <a:latin typeface="Arial"/>
                <a:cs typeface="Arial"/>
              </a:rPr>
              <a:t> </a:t>
            </a:r>
            <a:r>
              <a:rPr sz="1800" b="1" dirty="0">
                <a:solidFill>
                  <a:srgbClr val="1F3863"/>
                </a:solidFill>
                <a:latin typeface="Arial"/>
                <a:cs typeface="Arial"/>
              </a:rPr>
              <a:t>States</a:t>
            </a:r>
            <a:r>
              <a:rPr sz="1800" b="1" spc="-10" dirty="0">
                <a:solidFill>
                  <a:srgbClr val="1F3863"/>
                </a:solidFill>
                <a:latin typeface="Arial"/>
                <a:cs typeface="Arial"/>
              </a:rPr>
              <a:t> </a:t>
            </a:r>
            <a:r>
              <a:rPr sz="1800" b="1" dirty="0">
                <a:solidFill>
                  <a:srgbClr val="1F3863"/>
                </a:solidFill>
                <a:latin typeface="Arial"/>
                <a:cs typeface="Arial"/>
              </a:rPr>
              <a:t>to</a:t>
            </a:r>
            <a:r>
              <a:rPr sz="1800" b="1" spc="-20" dirty="0">
                <a:solidFill>
                  <a:srgbClr val="1F3863"/>
                </a:solidFill>
                <a:latin typeface="Arial"/>
                <a:cs typeface="Arial"/>
              </a:rPr>
              <a:t> </a:t>
            </a:r>
            <a:r>
              <a:rPr sz="1800" b="1" dirty="0">
                <a:solidFill>
                  <a:srgbClr val="1F3863"/>
                </a:solidFill>
                <a:latin typeface="Arial"/>
                <a:cs typeface="Arial"/>
              </a:rPr>
              <a:t>tax</a:t>
            </a:r>
            <a:r>
              <a:rPr sz="1800" b="1" spc="-15" dirty="0">
                <a:solidFill>
                  <a:srgbClr val="1F3863"/>
                </a:solidFill>
                <a:latin typeface="Arial"/>
                <a:cs typeface="Arial"/>
              </a:rPr>
              <a:t> </a:t>
            </a:r>
            <a:r>
              <a:rPr sz="1800" b="1" dirty="0">
                <a:solidFill>
                  <a:srgbClr val="1F3863"/>
                </a:solidFill>
                <a:latin typeface="Arial"/>
                <a:cs typeface="Arial"/>
              </a:rPr>
              <a:t>provision</a:t>
            </a:r>
            <a:r>
              <a:rPr sz="1800" b="1" spc="10" dirty="0">
                <a:solidFill>
                  <a:srgbClr val="1F3863"/>
                </a:solidFill>
                <a:latin typeface="Arial"/>
                <a:cs typeface="Arial"/>
              </a:rPr>
              <a:t> </a:t>
            </a:r>
            <a:r>
              <a:rPr sz="1800" b="1" dirty="0">
                <a:solidFill>
                  <a:srgbClr val="1F3863"/>
                </a:solidFill>
                <a:latin typeface="Arial"/>
                <a:cs typeface="Arial"/>
              </a:rPr>
              <a:t>of</a:t>
            </a:r>
            <a:r>
              <a:rPr sz="1800" b="1" spc="-15" dirty="0">
                <a:solidFill>
                  <a:srgbClr val="1F3863"/>
                </a:solidFill>
                <a:latin typeface="Arial"/>
                <a:cs typeface="Arial"/>
              </a:rPr>
              <a:t> </a:t>
            </a:r>
            <a:r>
              <a:rPr sz="1800" b="1" spc="-10" dirty="0">
                <a:solidFill>
                  <a:srgbClr val="1F3863"/>
                </a:solidFill>
                <a:latin typeface="Arial"/>
                <a:cs typeface="Arial"/>
              </a:rPr>
              <a:t>services)</a:t>
            </a:r>
            <a:endParaRPr sz="1800">
              <a:latin typeface="Arial"/>
              <a:cs typeface="Arial"/>
            </a:endParaRPr>
          </a:p>
        </p:txBody>
      </p:sp>
      <p:sp>
        <p:nvSpPr>
          <p:cNvPr id="4" name="object 4"/>
          <p:cNvSpPr txBox="1"/>
          <p:nvPr/>
        </p:nvSpPr>
        <p:spPr>
          <a:xfrm>
            <a:off x="1917445" y="1424558"/>
            <a:ext cx="4114800" cy="3324225"/>
          </a:xfrm>
          <a:prstGeom prst="rect">
            <a:avLst/>
          </a:prstGeom>
          <a:ln w="12700">
            <a:solidFill>
              <a:srgbClr val="4471C4"/>
            </a:solidFill>
          </a:ln>
        </p:spPr>
        <p:txBody>
          <a:bodyPr vert="horz" wrap="square" lIns="0" tIns="29844" rIns="0" bIns="0" rtlCol="0">
            <a:spAutoFit/>
          </a:bodyPr>
          <a:lstStyle/>
          <a:p>
            <a:pPr marL="273050" indent="-181610">
              <a:lnSpc>
                <a:spcPct val="100000"/>
              </a:lnSpc>
              <a:spcBef>
                <a:spcPts val="234"/>
              </a:spcBef>
              <a:buFont typeface="Microsoft Sans Serif"/>
              <a:buChar char="•"/>
              <a:tabLst>
                <a:tab pos="273050" algn="l"/>
              </a:tabLst>
            </a:pPr>
            <a:r>
              <a:rPr sz="2000" dirty="0">
                <a:latin typeface="Calibri"/>
                <a:cs typeface="Calibri"/>
              </a:rPr>
              <a:t>Central</a:t>
            </a:r>
            <a:r>
              <a:rPr sz="2000" spc="-100" dirty="0">
                <a:latin typeface="Calibri"/>
                <a:cs typeface="Calibri"/>
              </a:rPr>
              <a:t> </a:t>
            </a:r>
            <a:r>
              <a:rPr sz="2000" dirty="0">
                <a:latin typeface="Calibri"/>
                <a:cs typeface="Calibri"/>
              </a:rPr>
              <a:t>Excise</a:t>
            </a:r>
            <a:r>
              <a:rPr sz="2000" spc="-100" dirty="0">
                <a:latin typeface="Calibri"/>
                <a:cs typeface="Calibri"/>
              </a:rPr>
              <a:t> </a:t>
            </a:r>
            <a:r>
              <a:rPr sz="2000" spc="-20" dirty="0">
                <a:latin typeface="Calibri"/>
                <a:cs typeface="Calibri"/>
              </a:rPr>
              <a:t>duty</a:t>
            </a:r>
            <a:endParaRPr sz="2000">
              <a:latin typeface="Calibri"/>
              <a:cs typeface="Calibri"/>
            </a:endParaRPr>
          </a:p>
          <a:p>
            <a:pPr marL="273050" indent="-181610">
              <a:lnSpc>
                <a:spcPct val="100000"/>
              </a:lnSpc>
              <a:spcBef>
                <a:spcPts val="600"/>
              </a:spcBef>
              <a:buFont typeface="Microsoft Sans Serif"/>
              <a:buChar char="•"/>
              <a:tabLst>
                <a:tab pos="273050" algn="l"/>
              </a:tabLst>
            </a:pPr>
            <a:r>
              <a:rPr sz="2000" dirty="0">
                <a:latin typeface="Calibri"/>
                <a:cs typeface="Calibri"/>
              </a:rPr>
              <a:t>Additional</a:t>
            </a:r>
            <a:r>
              <a:rPr sz="2000" spc="-55" dirty="0">
                <a:latin typeface="Calibri"/>
                <a:cs typeface="Calibri"/>
              </a:rPr>
              <a:t> </a:t>
            </a:r>
            <a:r>
              <a:rPr sz="2000" dirty="0">
                <a:latin typeface="Calibri"/>
                <a:cs typeface="Calibri"/>
              </a:rPr>
              <a:t>duties</a:t>
            </a:r>
            <a:r>
              <a:rPr sz="2000" spc="-30" dirty="0">
                <a:latin typeface="Calibri"/>
                <a:cs typeface="Calibri"/>
              </a:rPr>
              <a:t> </a:t>
            </a:r>
            <a:r>
              <a:rPr sz="2000" dirty="0">
                <a:latin typeface="Calibri"/>
                <a:cs typeface="Calibri"/>
              </a:rPr>
              <a:t>of</a:t>
            </a:r>
            <a:r>
              <a:rPr sz="2000" spc="-45" dirty="0">
                <a:latin typeface="Calibri"/>
                <a:cs typeface="Calibri"/>
              </a:rPr>
              <a:t> </a:t>
            </a:r>
            <a:r>
              <a:rPr sz="2000" spc="-10" dirty="0">
                <a:latin typeface="Calibri"/>
                <a:cs typeface="Calibri"/>
              </a:rPr>
              <a:t>excise</a:t>
            </a:r>
            <a:endParaRPr sz="2000">
              <a:latin typeface="Calibri"/>
              <a:cs typeface="Calibri"/>
            </a:endParaRPr>
          </a:p>
          <a:p>
            <a:pPr marL="273050" indent="-181610">
              <a:lnSpc>
                <a:spcPct val="100000"/>
              </a:lnSpc>
              <a:spcBef>
                <a:spcPts val="600"/>
              </a:spcBef>
              <a:buFont typeface="Microsoft Sans Serif"/>
              <a:buChar char="•"/>
              <a:tabLst>
                <a:tab pos="273050" algn="l"/>
              </a:tabLst>
            </a:pPr>
            <a:r>
              <a:rPr sz="2000" dirty="0">
                <a:latin typeface="Calibri"/>
                <a:cs typeface="Calibri"/>
              </a:rPr>
              <a:t>Excise</a:t>
            </a:r>
            <a:r>
              <a:rPr sz="2000" spc="315" dirty="0">
                <a:latin typeface="Calibri"/>
                <a:cs typeface="Calibri"/>
              </a:rPr>
              <a:t> </a:t>
            </a:r>
            <a:r>
              <a:rPr sz="2000" dirty="0">
                <a:latin typeface="Calibri"/>
                <a:cs typeface="Calibri"/>
              </a:rPr>
              <a:t>duty</a:t>
            </a:r>
            <a:r>
              <a:rPr sz="2000" spc="325" dirty="0">
                <a:latin typeface="Calibri"/>
                <a:cs typeface="Calibri"/>
              </a:rPr>
              <a:t> </a:t>
            </a:r>
            <a:r>
              <a:rPr sz="2000" dirty="0">
                <a:latin typeface="Calibri"/>
                <a:cs typeface="Calibri"/>
              </a:rPr>
              <a:t>levied</a:t>
            </a:r>
            <a:r>
              <a:rPr sz="2000" spc="320" dirty="0">
                <a:latin typeface="Calibri"/>
                <a:cs typeface="Calibri"/>
              </a:rPr>
              <a:t> </a:t>
            </a:r>
            <a:r>
              <a:rPr sz="2000" dirty="0">
                <a:latin typeface="Calibri"/>
                <a:cs typeface="Calibri"/>
              </a:rPr>
              <a:t>under</a:t>
            </a:r>
            <a:r>
              <a:rPr sz="2000" spc="310" dirty="0">
                <a:latin typeface="Calibri"/>
                <a:cs typeface="Calibri"/>
              </a:rPr>
              <a:t> </a:t>
            </a:r>
            <a:r>
              <a:rPr sz="2000" spc="-10" dirty="0">
                <a:latin typeface="Calibri"/>
                <a:cs typeface="Calibri"/>
              </a:rPr>
              <a:t>Medicinal</a:t>
            </a:r>
            <a:endParaRPr sz="2000">
              <a:latin typeface="Calibri"/>
              <a:cs typeface="Calibri"/>
            </a:endParaRPr>
          </a:p>
          <a:p>
            <a:pPr marL="273050">
              <a:lnSpc>
                <a:spcPct val="100000"/>
              </a:lnSpc>
            </a:pPr>
            <a:r>
              <a:rPr sz="2000" dirty="0">
                <a:latin typeface="Calibri"/>
                <a:cs typeface="Calibri"/>
              </a:rPr>
              <a:t>&amp;</a:t>
            </a:r>
            <a:r>
              <a:rPr sz="2000" spc="-70" dirty="0">
                <a:latin typeface="Calibri"/>
                <a:cs typeface="Calibri"/>
              </a:rPr>
              <a:t> </a:t>
            </a:r>
            <a:r>
              <a:rPr sz="2000" spc="-25" dirty="0">
                <a:latin typeface="Calibri"/>
                <a:cs typeface="Calibri"/>
              </a:rPr>
              <a:t>Toilet</a:t>
            </a:r>
            <a:r>
              <a:rPr sz="2000" spc="-50" dirty="0">
                <a:latin typeface="Calibri"/>
                <a:cs typeface="Calibri"/>
              </a:rPr>
              <a:t> </a:t>
            </a:r>
            <a:r>
              <a:rPr sz="2000" dirty="0">
                <a:latin typeface="Calibri"/>
                <a:cs typeface="Calibri"/>
              </a:rPr>
              <a:t>Preparation</a:t>
            </a:r>
            <a:r>
              <a:rPr sz="2000" spc="335" dirty="0">
                <a:latin typeface="Calibri"/>
                <a:cs typeface="Calibri"/>
              </a:rPr>
              <a:t> </a:t>
            </a:r>
            <a:r>
              <a:rPr sz="2000" spc="-25" dirty="0">
                <a:latin typeface="Calibri"/>
                <a:cs typeface="Calibri"/>
              </a:rPr>
              <a:t>Act</a:t>
            </a:r>
            <a:endParaRPr sz="2000">
              <a:latin typeface="Calibri"/>
              <a:cs typeface="Calibri"/>
            </a:endParaRPr>
          </a:p>
          <a:p>
            <a:pPr marL="273050" marR="83185" indent="-181610">
              <a:lnSpc>
                <a:spcPct val="100000"/>
              </a:lnSpc>
              <a:spcBef>
                <a:spcPts val="600"/>
              </a:spcBef>
              <a:buFont typeface="Microsoft Sans Serif"/>
              <a:buChar char="•"/>
              <a:tabLst>
                <a:tab pos="273050" algn="l"/>
              </a:tabLst>
            </a:pPr>
            <a:r>
              <a:rPr sz="2000" dirty="0">
                <a:latin typeface="Calibri"/>
                <a:cs typeface="Calibri"/>
              </a:rPr>
              <a:t>Additional</a:t>
            </a:r>
            <a:r>
              <a:rPr sz="2000" spc="-50" dirty="0">
                <a:latin typeface="Calibri"/>
                <a:cs typeface="Calibri"/>
              </a:rPr>
              <a:t> </a:t>
            </a:r>
            <a:r>
              <a:rPr sz="2000" dirty="0">
                <a:latin typeface="Calibri"/>
                <a:cs typeface="Calibri"/>
              </a:rPr>
              <a:t>duties</a:t>
            </a:r>
            <a:r>
              <a:rPr sz="2000" spc="-40" dirty="0">
                <a:latin typeface="Calibri"/>
                <a:cs typeface="Calibri"/>
              </a:rPr>
              <a:t> </a:t>
            </a:r>
            <a:r>
              <a:rPr sz="2000" dirty="0">
                <a:latin typeface="Calibri"/>
                <a:cs typeface="Calibri"/>
              </a:rPr>
              <a:t>of</a:t>
            </a:r>
            <a:r>
              <a:rPr sz="2000" spc="-40" dirty="0">
                <a:latin typeface="Calibri"/>
                <a:cs typeface="Calibri"/>
              </a:rPr>
              <a:t> </a:t>
            </a:r>
            <a:r>
              <a:rPr sz="2000" dirty="0">
                <a:latin typeface="Calibri"/>
                <a:cs typeface="Calibri"/>
              </a:rPr>
              <a:t>customs</a:t>
            </a:r>
            <a:r>
              <a:rPr sz="2000" spc="-45" dirty="0">
                <a:latin typeface="Calibri"/>
                <a:cs typeface="Calibri"/>
              </a:rPr>
              <a:t> </a:t>
            </a:r>
            <a:r>
              <a:rPr sz="2000" dirty="0">
                <a:latin typeface="Calibri"/>
                <a:cs typeface="Calibri"/>
              </a:rPr>
              <a:t>(CVD</a:t>
            </a:r>
            <a:r>
              <a:rPr sz="2000" spc="-55" dirty="0">
                <a:latin typeface="Calibri"/>
                <a:cs typeface="Calibri"/>
              </a:rPr>
              <a:t> </a:t>
            </a:r>
            <a:r>
              <a:rPr sz="2000" spc="-50" dirty="0">
                <a:latin typeface="Calibri"/>
                <a:cs typeface="Calibri"/>
              </a:rPr>
              <a:t>&amp; </a:t>
            </a:r>
            <a:r>
              <a:rPr sz="2000" spc="-20" dirty="0">
                <a:latin typeface="Calibri"/>
                <a:cs typeface="Calibri"/>
              </a:rPr>
              <a:t>SAD)</a:t>
            </a:r>
            <a:endParaRPr sz="2000">
              <a:latin typeface="Calibri"/>
              <a:cs typeface="Calibri"/>
            </a:endParaRPr>
          </a:p>
          <a:p>
            <a:pPr marL="273050" indent="-181610">
              <a:lnSpc>
                <a:spcPct val="100000"/>
              </a:lnSpc>
              <a:spcBef>
                <a:spcPts val="600"/>
              </a:spcBef>
              <a:buFont typeface="Microsoft Sans Serif"/>
              <a:buChar char="•"/>
              <a:tabLst>
                <a:tab pos="273050" algn="l"/>
              </a:tabLst>
            </a:pPr>
            <a:r>
              <a:rPr sz="2000" dirty="0">
                <a:latin typeface="Calibri"/>
                <a:cs typeface="Calibri"/>
              </a:rPr>
              <a:t>Service</a:t>
            </a:r>
            <a:r>
              <a:rPr sz="2000" spc="-30" dirty="0">
                <a:latin typeface="Calibri"/>
                <a:cs typeface="Calibri"/>
              </a:rPr>
              <a:t> </a:t>
            </a:r>
            <a:r>
              <a:rPr sz="2000" spc="-25" dirty="0">
                <a:latin typeface="Calibri"/>
                <a:cs typeface="Calibri"/>
              </a:rPr>
              <a:t>Tax</a:t>
            </a:r>
            <a:endParaRPr sz="2000">
              <a:latin typeface="Calibri"/>
              <a:cs typeface="Calibri"/>
            </a:endParaRPr>
          </a:p>
          <a:p>
            <a:pPr marL="272415" indent="-180975">
              <a:lnSpc>
                <a:spcPct val="100000"/>
              </a:lnSpc>
              <a:spcBef>
                <a:spcPts val="605"/>
              </a:spcBef>
              <a:buFont typeface="Microsoft Sans Serif"/>
              <a:buChar char="•"/>
              <a:tabLst>
                <a:tab pos="272415" algn="l"/>
              </a:tabLst>
            </a:pPr>
            <a:r>
              <a:rPr sz="2000" spc="-10" dirty="0">
                <a:latin typeface="Calibri"/>
                <a:cs typeface="Calibri"/>
              </a:rPr>
              <a:t>Surcharges</a:t>
            </a:r>
            <a:r>
              <a:rPr sz="2000" spc="-30" dirty="0">
                <a:latin typeface="Calibri"/>
                <a:cs typeface="Calibri"/>
              </a:rPr>
              <a:t> </a:t>
            </a:r>
            <a:r>
              <a:rPr sz="2000" dirty="0">
                <a:latin typeface="Calibri"/>
                <a:cs typeface="Calibri"/>
              </a:rPr>
              <a:t>&amp; </a:t>
            </a:r>
            <a:r>
              <a:rPr sz="2000" spc="-10" dirty="0">
                <a:latin typeface="Calibri"/>
                <a:cs typeface="Calibri"/>
              </a:rPr>
              <a:t>Cesses</a:t>
            </a:r>
            <a:endParaRPr sz="2000">
              <a:latin typeface="Calibri"/>
              <a:cs typeface="Calibri"/>
            </a:endParaRPr>
          </a:p>
        </p:txBody>
      </p:sp>
      <p:sp>
        <p:nvSpPr>
          <p:cNvPr id="5" name="object 5"/>
          <p:cNvSpPr txBox="1"/>
          <p:nvPr/>
        </p:nvSpPr>
        <p:spPr>
          <a:xfrm>
            <a:off x="6266179" y="1459991"/>
            <a:ext cx="4295775" cy="3185795"/>
          </a:xfrm>
          <a:prstGeom prst="rect">
            <a:avLst/>
          </a:prstGeom>
          <a:ln w="12700">
            <a:solidFill>
              <a:srgbClr val="4471C4"/>
            </a:solidFill>
          </a:ln>
        </p:spPr>
        <p:txBody>
          <a:bodyPr vert="horz" wrap="square" lIns="0" tIns="29209" rIns="0" bIns="0" rtlCol="0">
            <a:spAutoFit/>
          </a:bodyPr>
          <a:lstStyle/>
          <a:p>
            <a:pPr marL="273685" indent="-181610">
              <a:lnSpc>
                <a:spcPct val="100000"/>
              </a:lnSpc>
              <a:spcBef>
                <a:spcPts val="229"/>
              </a:spcBef>
              <a:buFont typeface="Microsoft Sans Serif"/>
              <a:buChar char="•"/>
              <a:tabLst>
                <a:tab pos="273685" algn="l"/>
              </a:tabLst>
            </a:pPr>
            <a:r>
              <a:rPr sz="2000" dirty="0">
                <a:latin typeface="Calibri"/>
                <a:cs typeface="Calibri"/>
              </a:rPr>
              <a:t>State</a:t>
            </a:r>
            <a:r>
              <a:rPr sz="2000" spc="-65" dirty="0">
                <a:latin typeface="Calibri"/>
                <a:cs typeface="Calibri"/>
              </a:rPr>
              <a:t> </a:t>
            </a:r>
            <a:r>
              <a:rPr sz="2000" spc="-90" dirty="0">
                <a:latin typeface="Calibri"/>
                <a:cs typeface="Calibri"/>
              </a:rPr>
              <a:t>VAT</a:t>
            </a:r>
            <a:r>
              <a:rPr sz="2000" spc="-20" dirty="0">
                <a:latin typeface="Calibri"/>
                <a:cs typeface="Calibri"/>
              </a:rPr>
              <a:t> </a:t>
            </a:r>
            <a:r>
              <a:rPr sz="2000" dirty="0">
                <a:latin typeface="Calibri"/>
                <a:cs typeface="Calibri"/>
              </a:rPr>
              <a:t>/</a:t>
            </a:r>
            <a:r>
              <a:rPr sz="2000" spc="-45" dirty="0">
                <a:latin typeface="Calibri"/>
                <a:cs typeface="Calibri"/>
              </a:rPr>
              <a:t> </a:t>
            </a:r>
            <a:r>
              <a:rPr sz="2000" dirty="0">
                <a:latin typeface="Calibri"/>
                <a:cs typeface="Calibri"/>
              </a:rPr>
              <a:t>Sales</a:t>
            </a:r>
            <a:r>
              <a:rPr sz="2000" spc="-45" dirty="0">
                <a:latin typeface="Calibri"/>
                <a:cs typeface="Calibri"/>
              </a:rPr>
              <a:t> </a:t>
            </a:r>
            <a:r>
              <a:rPr sz="2000" spc="-25" dirty="0">
                <a:latin typeface="Calibri"/>
                <a:cs typeface="Calibri"/>
              </a:rPr>
              <a:t>Tax</a:t>
            </a:r>
            <a:endParaRPr sz="2000">
              <a:latin typeface="Calibri"/>
              <a:cs typeface="Calibri"/>
            </a:endParaRPr>
          </a:p>
          <a:p>
            <a:pPr marL="273050" indent="-180975">
              <a:lnSpc>
                <a:spcPct val="100000"/>
              </a:lnSpc>
              <a:spcBef>
                <a:spcPts val="365"/>
              </a:spcBef>
              <a:buFont typeface="Microsoft Sans Serif"/>
              <a:buChar char="•"/>
              <a:tabLst>
                <a:tab pos="273050" algn="l"/>
              </a:tabLst>
            </a:pPr>
            <a:r>
              <a:rPr sz="2000" spc="-10" dirty="0">
                <a:latin typeface="Calibri"/>
                <a:cs typeface="Calibri"/>
              </a:rPr>
              <a:t>Central</a:t>
            </a:r>
            <a:r>
              <a:rPr sz="2000" spc="-55" dirty="0">
                <a:latin typeface="Calibri"/>
                <a:cs typeface="Calibri"/>
              </a:rPr>
              <a:t> </a:t>
            </a:r>
            <a:r>
              <a:rPr sz="2000" dirty="0">
                <a:latin typeface="Calibri"/>
                <a:cs typeface="Calibri"/>
              </a:rPr>
              <a:t>Sales</a:t>
            </a:r>
            <a:r>
              <a:rPr sz="2000" spc="-35" dirty="0">
                <a:latin typeface="Calibri"/>
                <a:cs typeface="Calibri"/>
              </a:rPr>
              <a:t> </a:t>
            </a:r>
            <a:r>
              <a:rPr sz="2000" spc="-25" dirty="0">
                <a:latin typeface="Calibri"/>
                <a:cs typeface="Calibri"/>
              </a:rPr>
              <a:t>Tax</a:t>
            </a:r>
            <a:endParaRPr sz="2000">
              <a:latin typeface="Calibri"/>
              <a:cs typeface="Calibri"/>
            </a:endParaRPr>
          </a:p>
          <a:p>
            <a:pPr marL="273685" indent="-181610">
              <a:lnSpc>
                <a:spcPct val="100000"/>
              </a:lnSpc>
              <a:spcBef>
                <a:spcPts val="360"/>
              </a:spcBef>
              <a:buFont typeface="Microsoft Sans Serif"/>
              <a:buChar char="•"/>
              <a:tabLst>
                <a:tab pos="273685" algn="l"/>
              </a:tabLst>
            </a:pPr>
            <a:r>
              <a:rPr sz="2000" dirty="0">
                <a:latin typeface="Calibri"/>
                <a:cs typeface="Calibri"/>
              </a:rPr>
              <a:t>Purchase</a:t>
            </a:r>
            <a:r>
              <a:rPr sz="2000" spc="-90" dirty="0">
                <a:latin typeface="Calibri"/>
                <a:cs typeface="Calibri"/>
              </a:rPr>
              <a:t> </a:t>
            </a:r>
            <a:r>
              <a:rPr sz="2000" spc="-25" dirty="0">
                <a:latin typeface="Calibri"/>
                <a:cs typeface="Calibri"/>
              </a:rPr>
              <a:t>Tax</a:t>
            </a:r>
            <a:endParaRPr sz="2000">
              <a:latin typeface="Calibri"/>
              <a:cs typeface="Calibri"/>
            </a:endParaRPr>
          </a:p>
          <a:p>
            <a:pPr marL="273050" marR="255270" indent="-181610">
              <a:lnSpc>
                <a:spcPct val="100000"/>
              </a:lnSpc>
              <a:spcBef>
                <a:spcPts val="360"/>
              </a:spcBef>
              <a:buFont typeface="Microsoft Sans Serif"/>
              <a:buChar char="•"/>
              <a:tabLst>
                <a:tab pos="273050" algn="l"/>
              </a:tabLst>
            </a:pPr>
            <a:r>
              <a:rPr sz="2000" spc="-10" dirty="0">
                <a:latin typeface="Calibri"/>
                <a:cs typeface="Calibri"/>
              </a:rPr>
              <a:t>Entertainment</a:t>
            </a:r>
            <a:r>
              <a:rPr sz="2000" spc="-45" dirty="0">
                <a:latin typeface="Calibri"/>
                <a:cs typeface="Calibri"/>
              </a:rPr>
              <a:t> Tax</a:t>
            </a:r>
            <a:r>
              <a:rPr sz="2000" spc="-55" dirty="0">
                <a:latin typeface="Calibri"/>
                <a:cs typeface="Calibri"/>
              </a:rPr>
              <a:t> </a:t>
            </a:r>
            <a:r>
              <a:rPr sz="2000" dirty="0">
                <a:latin typeface="Calibri"/>
                <a:cs typeface="Calibri"/>
              </a:rPr>
              <a:t>(other</a:t>
            </a:r>
            <a:r>
              <a:rPr sz="2000" spc="-50" dirty="0">
                <a:latin typeface="Calibri"/>
                <a:cs typeface="Calibri"/>
              </a:rPr>
              <a:t> </a:t>
            </a:r>
            <a:r>
              <a:rPr sz="2000" dirty="0">
                <a:latin typeface="Calibri"/>
                <a:cs typeface="Calibri"/>
              </a:rPr>
              <a:t>than</a:t>
            </a:r>
            <a:r>
              <a:rPr sz="2000" spc="-60" dirty="0">
                <a:latin typeface="Calibri"/>
                <a:cs typeface="Calibri"/>
              </a:rPr>
              <a:t> </a:t>
            </a:r>
            <a:r>
              <a:rPr sz="2000" spc="-10" dirty="0">
                <a:latin typeface="Calibri"/>
                <a:cs typeface="Calibri"/>
              </a:rPr>
              <a:t>those </a:t>
            </a:r>
            <a:r>
              <a:rPr sz="2000" dirty="0">
                <a:latin typeface="Calibri"/>
                <a:cs typeface="Calibri"/>
              </a:rPr>
              <a:t>levied</a:t>
            </a:r>
            <a:r>
              <a:rPr sz="2000" spc="-25" dirty="0">
                <a:latin typeface="Calibri"/>
                <a:cs typeface="Calibri"/>
              </a:rPr>
              <a:t> </a:t>
            </a:r>
            <a:r>
              <a:rPr sz="2000" dirty="0">
                <a:latin typeface="Calibri"/>
                <a:cs typeface="Calibri"/>
              </a:rPr>
              <a:t>by</a:t>
            </a:r>
            <a:r>
              <a:rPr sz="2000" spc="-40" dirty="0">
                <a:latin typeface="Calibri"/>
                <a:cs typeface="Calibri"/>
              </a:rPr>
              <a:t> </a:t>
            </a:r>
            <a:r>
              <a:rPr sz="2000" dirty="0">
                <a:latin typeface="Calibri"/>
                <a:cs typeface="Calibri"/>
              </a:rPr>
              <a:t>local</a:t>
            </a:r>
            <a:r>
              <a:rPr sz="2000" spc="-30" dirty="0">
                <a:latin typeface="Calibri"/>
                <a:cs typeface="Calibri"/>
              </a:rPr>
              <a:t> </a:t>
            </a:r>
            <a:r>
              <a:rPr sz="2000" spc="-10" dirty="0">
                <a:latin typeface="Calibri"/>
                <a:cs typeface="Calibri"/>
              </a:rPr>
              <a:t>bodies)</a:t>
            </a:r>
            <a:endParaRPr sz="2000">
              <a:latin typeface="Calibri"/>
              <a:cs typeface="Calibri"/>
            </a:endParaRPr>
          </a:p>
          <a:p>
            <a:pPr marL="273685" indent="-181610">
              <a:lnSpc>
                <a:spcPct val="100000"/>
              </a:lnSpc>
              <a:spcBef>
                <a:spcPts val="360"/>
              </a:spcBef>
              <a:buFont typeface="Microsoft Sans Serif"/>
              <a:buChar char="•"/>
              <a:tabLst>
                <a:tab pos="273685" algn="l"/>
              </a:tabLst>
            </a:pPr>
            <a:r>
              <a:rPr sz="2000" dirty="0">
                <a:latin typeface="Calibri"/>
                <a:cs typeface="Calibri"/>
              </a:rPr>
              <a:t>Luxury</a:t>
            </a:r>
            <a:r>
              <a:rPr sz="2000" spc="-45" dirty="0">
                <a:latin typeface="Calibri"/>
                <a:cs typeface="Calibri"/>
              </a:rPr>
              <a:t> </a:t>
            </a:r>
            <a:r>
              <a:rPr sz="2000" spc="-25" dirty="0">
                <a:latin typeface="Calibri"/>
                <a:cs typeface="Calibri"/>
              </a:rPr>
              <a:t>Tax</a:t>
            </a:r>
            <a:endParaRPr sz="2000">
              <a:latin typeface="Calibri"/>
              <a:cs typeface="Calibri"/>
            </a:endParaRPr>
          </a:p>
          <a:p>
            <a:pPr marL="273685" indent="-181610">
              <a:lnSpc>
                <a:spcPct val="100000"/>
              </a:lnSpc>
              <a:spcBef>
                <a:spcPts val="365"/>
              </a:spcBef>
              <a:buFont typeface="Microsoft Sans Serif"/>
              <a:buChar char="•"/>
              <a:tabLst>
                <a:tab pos="273685" algn="l"/>
              </a:tabLst>
            </a:pPr>
            <a:r>
              <a:rPr sz="2000" dirty="0">
                <a:latin typeface="Calibri"/>
                <a:cs typeface="Calibri"/>
              </a:rPr>
              <a:t>Entry</a:t>
            </a:r>
            <a:r>
              <a:rPr sz="2000" spc="-55" dirty="0">
                <a:latin typeface="Calibri"/>
                <a:cs typeface="Calibri"/>
              </a:rPr>
              <a:t> </a:t>
            </a:r>
            <a:r>
              <a:rPr sz="2000" spc="-45" dirty="0">
                <a:latin typeface="Calibri"/>
                <a:cs typeface="Calibri"/>
              </a:rPr>
              <a:t>Tax</a:t>
            </a:r>
            <a:r>
              <a:rPr sz="2000" spc="-40" dirty="0">
                <a:latin typeface="Calibri"/>
                <a:cs typeface="Calibri"/>
              </a:rPr>
              <a:t> </a:t>
            </a:r>
            <a:r>
              <a:rPr sz="2000" dirty="0">
                <a:latin typeface="Calibri"/>
                <a:cs typeface="Calibri"/>
              </a:rPr>
              <a:t>(All</a:t>
            </a:r>
            <a:r>
              <a:rPr sz="2000" spc="-40" dirty="0">
                <a:latin typeface="Calibri"/>
                <a:cs typeface="Calibri"/>
              </a:rPr>
              <a:t> </a:t>
            </a:r>
            <a:r>
              <a:rPr sz="2000" spc="-10" dirty="0">
                <a:latin typeface="Calibri"/>
                <a:cs typeface="Calibri"/>
              </a:rPr>
              <a:t>forms)</a:t>
            </a:r>
            <a:endParaRPr sz="2000">
              <a:latin typeface="Calibri"/>
              <a:cs typeface="Calibri"/>
            </a:endParaRPr>
          </a:p>
          <a:p>
            <a:pPr marL="273685" indent="-181610">
              <a:lnSpc>
                <a:spcPct val="100000"/>
              </a:lnSpc>
              <a:spcBef>
                <a:spcPts val="355"/>
              </a:spcBef>
              <a:buFont typeface="Microsoft Sans Serif"/>
              <a:buChar char="•"/>
              <a:tabLst>
                <a:tab pos="273685" algn="l"/>
              </a:tabLst>
            </a:pPr>
            <a:r>
              <a:rPr sz="2000" spc="-40" dirty="0">
                <a:latin typeface="Calibri"/>
                <a:cs typeface="Calibri"/>
              </a:rPr>
              <a:t>Taxes</a:t>
            </a:r>
            <a:r>
              <a:rPr sz="2000" spc="-35" dirty="0">
                <a:latin typeface="Calibri"/>
                <a:cs typeface="Calibri"/>
              </a:rPr>
              <a:t> </a:t>
            </a:r>
            <a:r>
              <a:rPr sz="2000" dirty="0">
                <a:latin typeface="Calibri"/>
                <a:cs typeface="Calibri"/>
              </a:rPr>
              <a:t>on</a:t>
            </a:r>
            <a:r>
              <a:rPr sz="2000" spc="-55" dirty="0">
                <a:latin typeface="Calibri"/>
                <a:cs typeface="Calibri"/>
              </a:rPr>
              <a:t> </a:t>
            </a:r>
            <a:r>
              <a:rPr sz="2000" spc="-20" dirty="0">
                <a:latin typeface="Calibri"/>
                <a:cs typeface="Calibri"/>
              </a:rPr>
              <a:t>lottery,</a:t>
            </a:r>
            <a:r>
              <a:rPr sz="2000" spc="-35" dirty="0">
                <a:latin typeface="Calibri"/>
                <a:cs typeface="Calibri"/>
              </a:rPr>
              <a:t> </a:t>
            </a:r>
            <a:r>
              <a:rPr sz="2000" dirty="0">
                <a:latin typeface="Calibri"/>
                <a:cs typeface="Calibri"/>
              </a:rPr>
              <a:t>betting</a:t>
            </a:r>
            <a:r>
              <a:rPr sz="2000" spc="-55" dirty="0">
                <a:latin typeface="Calibri"/>
                <a:cs typeface="Calibri"/>
              </a:rPr>
              <a:t> </a:t>
            </a:r>
            <a:r>
              <a:rPr sz="2000" dirty="0">
                <a:latin typeface="Calibri"/>
                <a:cs typeface="Calibri"/>
              </a:rPr>
              <a:t>&amp;</a:t>
            </a:r>
            <a:r>
              <a:rPr sz="2000" spc="-45" dirty="0">
                <a:latin typeface="Calibri"/>
                <a:cs typeface="Calibri"/>
              </a:rPr>
              <a:t> </a:t>
            </a:r>
            <a:r>
              <a:rPr sz="2000" spc="-10" dirty="0">
                <a:latin typeface="Calibri"/>
                <a:cs typeface="Calibri"/>
              </a:rPr>
              <a:t>gambling</a:t>
            </a:r>
            <a:endParaRPr sz="2000">
              <a:latin typeface="Calibri"/>
              <a:cs typeface="Calibri"/>
            </a:endParaRPr>
          </a:p>
          <a:p>
            <a:pPr marL="273685" indent="-181610">
              <a:lnSpc>
                <a:spcPct val="100000"/>
              </a:lnSpc>
              <a:spcBef>
                <a:spcPts val="365"/>
              </a:spcBef>
              <a:buFont typeface="Microsoft Sans Serif"/>
              <a:buChar char="•"/>
              <a:tabLst>
                <a:tab pos="273685" algn="l"/>
              </a:tabLst>
            </a:pPr>
            <a:r>
              <a:rPr sz="2000" spc="-10" dirty="0">
                <a:latin typeface="Calibri"/>
                <a:cs typeface="Calibri"/>
              </a:rPr>
              <a:t>Surcharges</a:t>
            </a:r>
            <a:r>
              <a:rPr sz="2000" spc="-50" dirty="0">
                <a:latin typeface="Calibri"/>
                <a:cs typeface="Calibri"/>
              </a:rPr>
              <a:t> </a:t>
            </a:r>
            <a:r>
              <a:rPr sz="2000" dirty="0">
                <a:latin typeface="Calibri"/>
                <a:cs typeface="Calibri"/>
              </a:rPr>
              <a:t>&amp;</a:t>
            </a:r>
            <a:r>
              <a:rPr sz="2000" spc="-25" dirty="0">
                <a:latin typeface="Calibri"/>
                <a:cs typeface="Calibri"/>
              </a:rPr>
              <a:t> </a:t>
            </a:r>
            <a:r>
              <a:rPr sz="2000" spc="-10" dirty="0">
                <a:latin typeface="Calibri"/>
                <a:cs typeface="Calibri"/>
              </a:rPr>
              <a:t>Cesses</a:t>
            </a:r>
            <a:endParaRPr sz="2000">
              <a:latin typeface="Calibri"/>
              <a:cs typeface="Calibri"/>
            </a:endParaRPr>
          </a:p>
        </p:txBody>
      </p:sp>
      <p:sp>
        <p:nvSpPr>
          <p:cNvPr id="6" name="object 6"/>
          <p:cNvSpPr txBox="1"/>
          <p:nvPr/>
        </p:nvSpPr>
        <p:spPr>
          <a:xfrm>
            <a:off x="1943226" y="997712"/>
            <a:ext cx="2169795" cy="422275"/>
          </a:xfrm>
          <a:prstGeom prst="rect">
            <a:avLst/>
          </a:prstGeom>
        </p:spPr>
        <p:txBody>
          <a:bodyPr vert="horz" wrap="square" lIns="0" tIns="13335" rIns="0" bIns="0" rtlCol="0">
            <a:spAutoFit/>
          </a:bodyPr>
          <a:lstStyle/>
          <a:p>
            <a:pPr marL="12700">
              <a:lnSpc>
                <a:spcPct val="100000"/>
              </a:lnSpc>
              <a:spcBef>
                <a:spcPts val="105"/>
              </a:spcBef>
            </a:pPr>
            <a:r>
              <a:rPr sz="2600" b="1" dirty="0">
                <a:latin typeface="Arial"/>
                <a:cs typeface="Arial"/>
              </a:rPr>
              <a:t>Central</a:t>
            </a:r>
            <a:r>
              <a:rPr sz="2600" b="1" spc="-15" dirty="0">
                <a:latin typeface="Arial"/>
                <a:cs typeface="Arial"/>
              </a:rPr>
              <a:t> </a:t>
            </a:r>
            <a:r>
              <a:rPr sz="2600" b="1" spc="-25" dirty="0">
                <a:latin typeface="Arial"/>
                <a:cs typeface="Arial"/>
              </a:rPr>
              <a:t>Taxes</a:t>
            </a:r>
            <a:endParaRPr sz="2600">
              <a:latin typeface="Arial"/>
              <a:cs typeface="Arial"/>
            </a:endParaRPr>
          </a:p>
        </p:txBody>
      </p:sp>
      <p:sp>
        <p:nvSpPr>
          <p:cNvPr id="7" name="object 7"/>
          <p:cNvSpPr txBox="1"/>
          <p:nvPr/>
        </p:nvSpPr>
        <p:spPr>
          <a:xfrm>
            <a:off x="6281420" y="980694"/>
            <a:ext cx="1841500" cy="422275"/>
          </a:xfrm>
          <a:prstGeom prst="rect">
            <a:avLst/>
          </a:prstGeom>
        </p:spPr>
        <p:txBody>
          <a:bodyPr vert="horz" wrap="square" lIns="0" tIns="13335" rIns="0" bIns="0" rtlCol="0">
            <a:spAutoFit/>
          </a:bodyPr>
          <a:lstStyle/>
          <a:p>
            <a:pPr marL="12700">
              <a:lnSpc>
                <a:spcPct val="100000"/>
              </a:lnSpc>
              <a:spcBef>
                <a:spcPts val="105"/>
              </a:spcBef>
            </a:pPr>
            <a:r>
              <a:rPr sz="2600" b="1" dirty="0">
                <a:latin typeface="Arial"/>
                <a:cs typeface="Arial"/>
              </a:rPr>
              <a:t>State </a:t>
            </a:r>
            <a:r>
              <a:rPr sz="2600" b="1" spc="-25" dirty="0">
                <a:latin typeface="Arial"/>
                <a:cs typeface="Arial"/>
              </a:rPr>
              <a:t>Taxes</a:t>
            </a:r>
            <a:endParaRPr sz="2600">
              <a:latin typeface="Arial"/>
              <a:cs typeface="Arial"/>
            </a:endParaRPr>
          </a:p>
        </p:txBody>
      </p:sp>
      <p:grpSp>
        <p:nvGrpSpPr>
          <p:cNvPr id="8" name="object 8"/>
          <p:cNvGrpSpPr/>
          <p:nvPr/>
        </p:nvGrpSpPr>
        <p:grpSpPr>
          <a:xfrm>
            <a:off x="3968496" y="4645533"/>
            <a:ext cx="4451985" cy="1111885"/>
            <a:chOff x="3968496" y="4645533"/>
            <a:chExt cx="4451985" cy="1111885"/>
          </a:xfrm>
        </p:grpSpPr>
        <p:pic>
          <p:nvPicPr>
            <p:cNvPr id="9" name="object 9"/>
            <p:cNvPicPr/>
            <p:nvPr/>
          </p:nvPicPr>
          <p:blipFill>
            <a:blip r:embed="rId2" cstate="print"/>
            <a:stretch>
              <a:fillRect/>
            </a:stretch>
          </p:blipFill>
          <p:spPr>
            <a:xfrm>
              <a:off x="5678485" y="5250225"/>
              <a:ext cx="718723" cy="507008"/>
            </a:xfrm>
            <a:prstGeom prst="rect">
              <a:avLst/>
            </a:prstGeom>
          </p:spPr>
        </p:pic>
        <p:sp>
          <p:nvSpPr>
            <p:cNvPr id="10" name="object 10"/>
            <p:cNvSpPr/>
            <p:nvPr/>
          </p:nvSpPr>
          <p:spPr>
            <a:xfrm>
              <a:off x="3968496" y="4645533"/>
              <a:ext cx="4451985" cy="901700"/>
            </a:xfrm>
            <a:custGeom>
              <a:avLst/>
              <a:gdLst/>
              <a:ahLst/>
              <a:cxnLst/>
              <a:rect l="l" t="t" r="r" b="b"/>
              <a:pathLst>
                <a:path w="4451984" h="901700">
                  <a:moveTo>
                    <a:pt x="1687703" y="849884"/>
                  </a:moveTo>
                  <a:lnTo>
                    <a:pt x="1676831" y="843534"/>
                  </a:lnTo>
                  <a:lnTo>
                    <a:pt x="1602105" y="799846"/>
                  </a:lnTo>
                  <a:lnTo>
                    <a:pt x="1599057" y="798195"/>
                  </a:lnTo>
                  <a:lnTo>
                    <a:pt x="1595247" y="799211"/>
                  </a:lnTo>
                  <a:lnTo>
                    <a:pt x="1593469" y="802132"/>
                  </a:lnTo>
                  <a:lnTo>
                    <a:pt x="1591691" y="805180"/>
                  </a:lnTo>
                  <a:lnTo>
                    <a:pt x="1592707" y="809117"/>
                  </a:lnTo>
                  <a:lnTo>
                    <a:pt x="1651698" y="843534"/>
                  </a:lnTo>
                  <a:lnTo>
                    <a:pt x="12700" y="843534"/>
                  </a:lnTo>
                  <a:lnTo>
                    <a:pt x="12700" y="102997"/>
                  </a:lnTo>
                  <a:lnTo>
                    <a:pt x="0" y="102997"/>
                  </a:lnTo>
                  <a:lnTo>
                    <a:pt x="0" y="856234"/>
                  </a:lnTo>
                  <a:lnTo>
                    <a:pt x="1651482" y="856234"/>
                  </a:lnTo>
                  <a:lnTo>
                    <a:pt x="1592707" y="890524"/>
                  </a:lnTo>
                  <a:lnTo>
                    <a:pt x="1591691" y="894461"/>
                  </a:lnTo>
                  <a:lnTo>
                    <a:pt x="1595247" y="900557"/>
                  </a:lnTo>
                  <a:lnTo>
                    <a:pt x="1599057" y="901573"/>
                  </a:lnTo>
                  <a:lnTo>
                    <a:pt x="1676806" y="856234"/>
                  </a:lnTo>
                  <a:lnTo>
                    <a:pt x="1687703" y="849884"/>
                  </a:lnTo>
                  <a:close/>
                </a:path>
                <a:path w="4451984" h="901700">
                  <a:moveTo>
                    <a:pt x="4451731" y="0"/>
                  </a:moveTo>
                  <a:lnTo>
                    <a:pt x="4439031" y="0"/>
                  </a:lnTo>
                  <a:lnTo>
                    <a:pt x="4439031" y="843534"/>
                  </a:lnTo>
                  <a:lnTo>
                    <a:pt x="2486964" y="843534"/>
                  </a:lnTo>
                  <a:lnTo>
                    <a:pt x="2545969" y="809117"/>
                  </a:lnTo>
                  <a:lnTo>
                    <a:pt x="2546985" y="805180"/>
                  </a:lnTo>
                  <a:lnTo>
                    <a:pt x="2545207" y="802132"/>
                  </a:lnTo>
                  <a:lnTo>
                    <a:pt x="2543429" y="799211"/>
                  </a:lnTo>
                  <a:lnTo>
                    <a:pt x="2539619" y="798195"/>
                  </a:lnTo>
                  <a:lnTo>
                    <a:pt x="2536571" y="799846"/>
                  </a:lnTo>
                  <a:lnTo>
                    <a:pt x="2450973" y="849884"/>
                  </a:lnTo>
                  <a:lnTo>
                    <a:pt x="2539619" y="901573"/>
                  </a:lnTo>
                  <a:lnTo>
                    <a:pt x="2543429" y="900557"/>
                  </a:lnTo>
                  <a:lnTo>
                    <a:pt x="2546985" y="894461"/>
                  </a:lnTo>
                  <a:lnTo>
                    <a:pt x="2545969" y="890524"/>
                  </a:lnTo>
                  <a:lnTo>
                    <a:pt x="2487180" y="856234"/>
                  </a:lnTo>
                  <a:lnTo>
                    <a:pt x="4451731" y="856234"/>
                  </a:lnTo>
                  <a:lnTo>
                    <a:pt x="4451731" y="849884"/>
                  </a:lnTo>
                  <a:lnTo>
                    <a:pt x="4451731" y="843534"/>
                  </a:lnTo>
                  <a:lnTo>
                    <a:pt x="4451731" y="0"/>
                  </a:lnTo>
                  <a:close/>
                </a:path>
              </a:pathLst>
            </a:custGeom>
            <a:solidFill>
              <a:srgbClr val="5B9BD4"/>
            </a:solidFill>
          </p:spPr>
          <p:txBody>
            <a:bodyPr wrap="square" lIns="0" tIns="0" rIns="0" bIns="0" rtlCol="0"/>
            <a:lstStyle/>
            <a:p>
              <a:endParaRPr/>
            </a:p>
          </p:txBody>
        </p:sp>
      </p:grpSp>
      <p:sp>
        <p:nvSpPr>
          <p:cNvPr id="11" name="object 11"/>
          <p:cNvSpPr txBox="1"/>
          <p:nvPr/>
        </p:nvSpPr>
        <p:spPr>
          <a:xfrm>
            <a:off x="5857113" y="4954015"/>
            <a:ext cx="441325" cy="269240"/>
          </a:xfrm>
          <a:prstGeom prst="rect">
            <a:avLst/>
          </a:prstGeom>
        </p:spPr>
        <p:txBody>
          <a:bodyPr vert="horz" wrap="square" lIns="0" tIns="12065" rIns="0" bIns="0" rtlCol="0">
            <a:spAutoFit/>
          </a:bodyPr>
          <a:lstStyle/>
          <a:p>
            <a:pPr marL="12700">
              <a:lnSpc>
                <a:spcPct val="100000"/>
              </a:lnSpc>
              <a:spcBef>
                <a:spcPts val="95"/>
              </a:spcBef>
            </a:pPr>
            <a:r>
              <a:rPr sz="1600" b="1" spc="-25" dirty="0">
                <a:latin typeface="Arial"/>
                <a:cs typeface="Arial"/>
              </a:rPr>
              <a:t>GST</a:t>
            </a:r>
            <a:endParaRPr sz="1600">
              <a:latin typeface="Arial"/>
              <a:cs typeface="Arial"/>
            </a:endParaRPr>
          </a:p>
        </p:txBody>
      </p:sp>
      <p:sp>
        <p:nvSpPr>
          <p:cNvPr id="12" name="object 12"/>
          <p:cNvSpPr txBox="1"/>
          <p:nvPr/>
        </p:nvSpPr>
        <p:spPr>
          <a:xfrm>
            <a:off x="391464" y="6563664"/>
            <a:ext cx="102870" cy="208279"/>
          </a:xfrm>
          <a:prstGeom prst="rect">
            <a:avLst/>
          </a:prstGeom>
        </p:spPr>
        <p:txBody>
          <a:bodyPr vert="horz" wrap="square" lIns="0" tIns="12700" rIns="0" bIns="0" rtlCol="0">
            <a:spAutoFit/>
          </a:bodyPr>
          <a:lstStyle/>
          <a:p>
            <a:pPr marL="12700">
              <a:lnSpc>
                <a:spcPct val="100000"/>
              </a:lnSpc>
              <a:spcBef>
                <a:spcPts val="100"/>
              </a:spcBef>
            </a:pPr>
            <a:r>
              <a:rPr sz="1200" spc="-50" dirty="0">
                <a:solidFill>
                  <a:srgbClr val="888888"/>
                </a:solidFill>
                <a:latin typeface="Calibri"/>
                <a:cs typeface="Calibri"/>
              </a:rPr>
              <a:t>6</a:t>
            </a:r>
            <a:endParaRPr sz="1200">
              <a:latin typeface="Calibri"/>
              <a:cs typeface="Calibri"/>
            </a:endParaRPr>
          </a:p>
        </p:txBody>
      </p:sp>
    </p:spTree>
    <p:extLst>
      <p:ext uri="{BB962C8B-B14F-4D97-AF65-F5344CB8AC3E}">
        <p14:creationId xmlns:p14="http://schemas.microsoft.com/office/powerpoint/2010/main" val="422560548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8328025" y="401700"/>
            <a:ext cx="3790950" cy="6118225"/>
            <a:chOff x="8328025" y="401700"/>
            <a:chExt cx="3790950" cy="6118225"/>
          </a:xfrm>
        </p:grpSpPr>
        <p:sp>
          <p:nvSpPr>
            <p:cNvPr id="3" name="object 3"/>
            <p:cNvSpPr/>
            <p:nvPr/>
          </p:nvSpPr>
          <p:spPr>
            <a:xfrm>
              <a:off x="8334375" y="408050"/>
              <a:ext cx="3778250" cy="6105525"/>
            </a:xfrm>
            <a:custGeom>
              <a:avLst/>
              <a:gdLst/>
              <a:ahLst/>
              <a:cxnLst/>
              <a:rect l="l" t="t" r="r" b="b"/>
              <a:pathLst>
                <a:path w="3778250" h="6105525">
                  <a:moveTo>
                    <a:pt x="3148583" y="0"/>
                  </a:moveTo>
                  <a:lnTo>
                    <a:pt x="629666" y="0"/>
                  </a:lnTo>
                  <a:lnTo>
                    <a:pt x="582676" y="1726"/>
                  </a:lnTo>
                  <a:lnTo>
                    <a:pt x="536625" y="6824"/>
                  </a:lnTo>
                  <a:lnTo>
                    <a:pt x="491632" y="15173"/>
                  </a:lnTo>
                  <a:lnTo>
                    <a:pt x="447820" y="26651"/>
                  </a:lnTo>
                  <a:lnTo>
                    <a:pt x="405311" y="41136"/>
                  </a:lnTo>
                  <a:lnTo>
                    <a:pt x="364227" y="58506"/>
                  </a:lnTo>
                  <a:lnTo>
                    <a:pt x="324689" y="78641"/>
                  </a:lnTo>
                  <a:lnTo>
                    <a:pt x="286819" y="101418"/>
                  </a:lnTo>
                  <a:lnTo>
                    <a:pt x="250738" y="126716"/>
                  </a:lnTo>
                  <a:lnTo>
                    <a:pt x="216570" y="154413"/>
                  </a:lnTo>
                  <a:lnTo>
                    <a:pt x="184435" y="184388"/>
                  </a:lnTo>
                  <a:lnTo>
                    <a:pt x="154456" y="216519"/>
                  </a:lnTo>
                  <a:lnTo>
                    <a:pt x="126753" y="250684"/>
                  </a:lnTo>
                  <a:lnTo>
                    <a:pt x="101450" y="286762"/>
                  </a:lnTo>
                  <a:lnTo>
                    <a:pt x="78667" y="324632"/>
                  </a:lnTo>
                  <a:lnTo>
                    <a:pt x="58527" y="364172"/>
                  </a:lnTo>
                  <a:lnTo>
                    <a:pt x="41151" y="405259"/>
                  </a:lnTo>
                  <a:lnTo>
                    <a:pt x="26661" y="447774"/>
                  </a:lnTo>
                  <a:lnTo>
                    <a:pt x="15179" y="491593"/>
                  </a:lnTo>
                  <a:lnTo>
                    <a:pt x="6827" y="536596"/>
                  </a:lnTo>
                  <a:lnTo>
                    <a:pt x="1727" y="582661"/>
                  </a:lnTo>
                  <a:lnTo>
                    <a:pt x="0" y="629665"/>
                  </a:lnTo>
                  <a:lnTo>
                    <a:pt x="0" y="5475566"/>
                  </a:lnTo>
                  <a:lnTo>
                    <a:pt x="1727" y="5522564"/>
                  </a:lnTo>
                  <a:lnTo>
                    <a:pt x="6827" y="5568623"/>
                  </a:lnTo>
                  <a:lnTo>
                    <a:pt x="15179" y="5613623"/>
                  </a:lnTo>
                  <a:lnTo>
                    <a:pt x="26661" y="5657440"/>
                  </a:lnTo>
                  <a:lnTo>
                    <a:pt x="41151" y="5699955"/>
                  </a:lnTo>
                  <a:lnTo>
                    <a:pt x="58527" y="5741044"/>
                  </a:lnTo>
                  <a:lnTo>
                    <a:pt x="78667" y="5780587"/>
                  </a:lnTo>
                  <a:lnTo>
                    <a:pt x="101450" y="5818460"/>
                  </a:lnTo>
                  <a:lnTo>
                    <a:pt x="126753" y="5854544"/>
                  </a:lnTo>
                  <a:lnTo>
                    <a:pt x="154456" y="5888715"/>
                  </a:lnTo>
                  <a:lnTo>
                    <a:pt x="184435" y="5920852"/>
                  </a:lnTo>
                  <a:lnTo>
                    <a:pt x="216570" y="5950834"/>
                  </a:lnTo>
                  <a:lnTo>
                    <a:pt x="250738" y="5978538"/>
                  </a:lnTo>
                  <a:lnTo>
                    <a:pt x="286819" y="6003842"/>
                  </a:lnTo>
                  <a:lnTo>
                    <a:pt x="324689" y="6026626"/>
                  </a:lnTo>
                  <a:lnTo>
                    <a:pt x="364227" y="6046767"/>
                  </a:lnTo>
                  <a:lnTo>
                    <a:pt x="405311" y="6064144"/>
                  </a:lnTo>
                  <a:lnTo>
                    <a:pt x="447820" y="6078634"/>
                  </a:lnTo>
                  <a:lnTo>
                    <a:pt x="491632" y="6090116"/>
                  </a:lnTo>
                  <a:lnTo>
                    <a:pt x="536625" y="6098468"/>
                  </a:lnTo>
                  <a:lnTo>
                    <a:pt x="582676" y="6103569"/>
                  </a:lnTo>
                  <a:lnTo>
                    <a:pt x="629666" y="6105296"/>
                  </a:lnTo>
                  <a:lnTo>
                    <a:pt x="3148583" y="6105296"/>
                  </a:lnTo>
                  <a:lnTo>
                    <a:pt x="3195573" y="6103569"/>
                  </a:lnTo>
                  <a:lnTo>
                    <a:pt x="3241624" y="6098468"/>
                  </a:lnTo>
                  <a:lnTo>
                    <a:pt x="3286617" y="6090116"/>
                  </a:lnTo>
                  <a:lnTo>
                    <a:pt x="3330429" y="6078634"/>
                  </a:lnTo>
                  <a:lnTo>
                    <a:pt x="3372938" y="6064144"/>
                  </a:lnTo>
                  <a:lnTo>
                    <a:pt x="3414022" y="6046767"/>
                  </a:lnTo>
                  <a:lnTo>
                    <a:pt x="3453560" y="6026626"/>
                  </a:lnTo>
                  <a:lnTo>
                    <a:pt x="3491430" y="6003842"/>
                  </a:lnTo>
                  <a:lnTo>
                    <a:pt x="3527511" y="5978538"/>
                  </a:lnTo>
                  <a:lnTo>
                    <a:pt x="3561679" y="5950834"/>
                  </a:lnTo>
                  <a:lnTo>
                    <a:pt x="3593814" y="5920852"/>
                  </a:lnTo>
                  <a:lnTo>
                    <a:pt x="3623793" y="5888715"/>
                  </a:lnTo>
                  <a:lnTo>
                    <a:pt x="3651496" y="5854544"/>
                  </a:lnTo>
                  <a:lnTo>
                    <a:pt x="3676799" y="5818460"/>
                  </a:lnTo>
                  <a:lnTo>
                    <a:pt x="3699582" y="5780587"/>
                  </a:lnTo>
                  <a:lnTo>
                    <a:pt x="3719722" y="5741044"/>
                  </a:lnTo>
                  <a:lnTo>
                    <a:pt x="3737098" y="5699955"/>
                  </a:lnTo>
                  <a:lnTo>
                    <a:pt x="3751588" y="5657440"/>
                  </a:lnTo>
                  <a:lnTo>
                    <a:pt x="3763070" y="5613623"/>
                  </a:lnTo>
                  <a:lnTo>
                    <a:pt x="3771422" y="5568623"/>
                  </a:lnTo>
                  <a:lnTo>
                    <a:pt x="3776522" y="5522564"/>
                  </a:lnTo>
                  <a:lnTo>
                    <a:pt x="3778250" y="5475566"/>
                  </a:lnTo>
                  <a:lnTo>
                    <a:pt x="3778250" y="629665"/>
                  </a:lnTo>
                  <a:lnTo>
                    <a:pt x="3776522" y="582661"/>
                  </a:lnTo>
                  <a:lnTo>
                    <a:pt x="3771422" y="536596"/>
                  </a:lnTo>
                  <a:lnTo>
                    <a:pt x="3763070" y="491593"/>
                  </a:lnTo>
                  <a:lnTo>
                    <a:pt x="3751588" y="447774"/>
                  </a:lnTo>
                  <a:lnTo>
                    <a:pt x="3737098" y="405259"/>
                  </a:lnTo>
                  <a:lnTo>
                    <a:pt x="3719722" y="364172"/>
                  </a:lnTo>
                  <a:lnTo>
                    <a:pt x="3699582" y="324632"/>
                  </a:lnTo>
                  <a:lnTo>
                    <a:pt x="3676799" y="286762"/>
                  </a:lnTo>
                  <a:lnTo>
                    <a:pt x="3651496" y="250684"/>
                  </a:lnTo>
                  <a:lnTo>
                    <a:pt x="3623793" y="216519"/>
                  </a:lnTo>
                  <a:lnTo>
                    <a:pt x="3593814" y="184388"/>
                  </a:lnTo>
                  <a:lnTo>
                    <a:pt x="3561679" y="154413"/>
                  </a:lnTo>
                  <a:lnTo>
                    <a:pt x="3527511" y="126716"/>
                  </a:lnTo>
                  <a:lnTo>
                    <a:pt x="3491430" y="101418"/>
                  </a:lnTo>
                  <a:lnTo>
                    <a:pt x="3453560" y="78641"/>
                  </a:lnTo>
                  <a:lnTo>
                    <a:pt x="3414022" y="58506"/>
                  </a:lnTo>
                  <a:lnTo>
                    <a:pt x="3372938" y="41136"/>
                  </a:lnTo>
                  <a:lnTo>
                    <a:pt x="3330429" y="26651"/>
                  </a:lnTo>
                  <a:lnTo>
                    <a:pt x="3286617" y="15173"/>
                  </a:lnTo>
                  <a:lnTo>
                    <a:pt x="3241624" y="6824"/>
                  </a:lnTo>
                  <a:lnTo>
                    <a:pt x="3195573" y="1726"/>
                  </a:lnTo>
                  <a:lnTo>
                    <a:pt x="3148583" y="0"/>
                  </a:lnTo>
                  <a:close/>
                </a:path>
              </a:pathLst>
            </a:custGeom>
            <a:solidFill>
              <a:srgbClr val="E1EFD9"/>
            </a:solidFill>
          </p:spPr>
          <p:txBody>
            <a:bodyPr wrap="square" lIns="0" tIns="0" rIns="0" bIns="0" rtlCol="0"/>
            <a:lstStyle/>
            <a:p>
              <a:endParaRPr/>
            </a:p>
          </p:txBody>
        </p:sp>
        <p:sp>
          <p:nvSpPr>
            <p:cNvPr id="4" name="object 4"/>
            <p:cNvSpPr/>
            <p:nvPr/>
          </p:nvSpPr>
          <p:spPr>
            <a:xfrm>
              <a:off x="8334375" y="408050"/>
              <a:ext cx="3778250" cy="6105525"/>
            </a:xfrm>
            <a:custGeom>
              <a:avLst/>
              <a:gdLst/>
              <a:ahLst/>
              <a:cxnLst/>
              <a:rect l="l" t="t" r="r" b="b"/>
              <a:pathLst>
                <a:path w="3778250" h="6105525">
                  <a:moveTo>
                    <a:pt x="0" y="629665"/>
                  </a:moveTo>
                  <a:lnTo>
                    <a:pt x="1727" y="582661"/>
                  </a:lnTo>
                  <a:lnTo>
                    <a:pt x="6827" y="536596"/>
                  </a:lnTo>
                  <a:lnTo>
                    <a:pt x="15179" y="491593"/>
                  </a:lnTo>
                  <a:lnTo>
                    <a:pt x="26661" y="447774"/>
                  </a:lnTo>
                  <a:lnTo>
                    <a:pt x="41151" y="405259"/>
                  </a:lnTo>
                  <a:lnTo>
                    <a:pt x="58527" y="364172"/>
                  </a:lnTo>
                  <a:lnTo>
                    <a:pt x="78667" y="324632"/>
                  </a:lnTo>
                  <a:lnTo>
                    <a:pt x="101450" y="286762"/>
                  </a:lnTo>
                  <a:lnTo>
                    <a:pt x="126753" y="250684"/>
                  </a:lnTo>
                  <a:lnTo>
                    <a:pt x="154456" y="216519"/>
                  </a:lnTo>
                  <a:lnTo>
                    <a:pt x="184435" y="184388"/>
                  </a:lnTo>
                  <a:lnTo>
                    <a:pt x="216570" y="154413"/>
                  </a:lnTo>
                  <a:lnTo>
                    <a:pt x="250738" y="126716"/>
                  </a:lnTo>
                  <a:lnTo>
                    <a:pt x="286819" y="101418"/>
                  </a:lnTo>
                  <a:lnTo>
                    <a:pt x="324689" y="78641"/>
                  </a:lnTo>
                  <a:lnTo>
                    <a:pt x="364227" y="58506"/>
                  </a:lnTo>
                  <a:lnTo>
                    <a:pt x="405311" y="41136"/>
                  </a:lnTo>
                  <a:lnTo>
                    <a:pt x="447820" y="26651"/>
                  </a:lnTo>
                  <a:lnTo>
                    <a:pt x="491632" y="15173"/>
                  </a:lnTo>
                  <a:lnTo>
                    <a:pt x="536625" y="6824"/>
                  </a:lnTo>
                  <a:lnTo>
                    <a:pt x="582676" y="1726"/>
                  </a:lnTo>
                  <a:lnTo>
                    <a:pt x="629666" y="0"/>
                  </a:lnTo>
                  <a:lnTo>
                    <a:pt x="3148583" y="0"/>
                  </a:lnTo>
                  <a:lnTo>
                    <a:pt x="3195573" y="1726"/>
                  </a:lnTo>
                  <a:lnTo>
                    <a:pt x="3241624" y="6824"/>
                  </a:lnTo>
                  <a:lnTo>
                    <a:pt x="3286617" y="15173"/>
                  </a:lnTo>
                  <a:lnTo>
                    <a:pt x="3330429" y="26651"/>
                  </a:lnTo>
                  <a:lnTo>
                    <a:pt x="3372938" y="41136"/>
                  </a:lnTo>
                  <a:lnTo>
                    <a:pt x="3414022" y="58506"/>
                  </a:lnTo>
                  <a:lnTo>
                    <a:pt x="3453560" y="78641"/>
                  </a:lnTo>
                  <a:lnTo>
                    <a:pt x="3491430" y="101418"/>
                  </a:lnTo>
                  <a:lnTo>
                    <a:pt x="3527511" y="126716"/>
                  </a:lnTo>
                  <a:lnTo>
                    <a:pt x="3561679" y="154413"/>
                  </a:lnTo>
                  <a:lnTo>
                    <a:pt x="3593814" y="184388"/>
                  </a:lnTo>
                  <a:lnTo>
                    <a:pt x="3623793" y="216519"/>
                  </a:lnTo>
                  <a:lnTo>
                    <a:pt x="3651496" y="250684"/>
                  </a:lnTo>
                  <a:lnTo>
                    <a:pt x="3676799" y="286762"/>
                  </a:lnTo>
                  <a:lnTo>
                    <a:pt x="3699582" y="324632"/>
                  </a:lnTo>
                  <a:lnTo>
                    <a:pt x="3719722" y="364172"/>
                  </a:lnTo>
                  <a:lnTo>
                    <a:pt x="3737098" y="405259"/>
                  </a:lnTo>
                  <a:lnTo>
                    <a:pt x="3751588" y="447774"/>
                  </a:lnTo>
                  <a:lnTo>
                    <a:pt x="3763070" y="491593"/>
                  </a:lnTo>
                  <a:lnTo>
                    <a:pt x="3771422" y="536596"/>
                  </a:lnTo>
                  <a:lnTo>
                    <a:pt x="3776522" y="582661"/>
                  </a:lnTo>
                  <a:lnTo>
                    <a:pt x="3778250" y="629665"/>
                  </a:lnTo>
                  <a:lnTo>
                    <a:pt x="3778250" y="5475566"/>
                  </a:lnTo>
                  <a:lnTo>
                    <a:pt x="3776522" y="5522564"/>
                  </a:lnTo>
                  <a:lnTo>
                    <a:pt x="3771422" y="5568623"/>
                  </a:lnTo>
                  <a:lnTo>
                    <a:pt x="3763070" y="5613623"/>
                  </a:lnTo>
                  <a:lnTo>
                    <a:pt x="3751588" y="5657440"/>
                  </a:lnTo>
                  <a:lnTo>
                    <a:pt x="3737098" y="5699955"/>
                  </a:lnTo>
                  <a:lnTo>
                    <a:pt x="3719722" y="5741044"/>
                  </a:lnTo>
                  <a:lnTo>
                    <a:pt x="3699582" y="5780587"/>
                  </a:lnTo>
                  <a:lnTo>
                    <a:pt x="3676799" y="5818460"/>
                  </a:lnTo>
                  <a:lnTo>
                    <a:pt x="3651496" y="5854544"/>
                  </a:lnTo>
                  <a:lnTo>
                    <a:pt x="3623793" y="5888715"/>
                  </a:lnTo>
                  <a:lnTo>
                    <a:pt x="3593814" y="5920852"/>
                  </a:lnTo>
                  <a:lnTo>
                    <a:pt x="3561679" y="5950834"/>
                  </a:lnTo>
                  <a:lnTo>
                    <a:pt x="3527511" y="5978538"/>
                  </a:lnTo>
                  <a:lnTo>
                    <a:pt x="3491430" y="6003842"/>
                  </a:lnTo>
                  <a:lnTo>
                    <a:pt x="3453560" y="6026626"/>
                  </a:lnTo>
                  <a:lnTo>
                    <a:pt x="3414022" y="6046767"/>
                  </a:lnTo>
                  <a:lnTo>
                    <a:pt x="3372938" y="6064144"/>
                  </a:lnTo>
                  <a:lnTo>
                    <a:pt x="3330429" y="6078634"/>
                  </a:lnTo>
                  <a:lnTo>
                    <a:pt x="3286617" y="6090116"/>
                  </a:lnTo>
                  <a:lnTo>
                    <a:pt x="3241624" y="6098468"/>
                  </a:lnTo>
                  <a:lnTo>
                    <a:pt x="3195573" y="6103569"/>
                  </a:lnTo>
                  <a:lnTo>
                    <a:pt x="3148583" y="6105296"/>
                  </a:lnTo>
                  <a:lnTo>
                    <a:pt x="629666" y="6105296"/>
                  </a:lnTo>
                  <a:lnTo>
                    <a:pt x="582676" y="6103569"/>
                  </a:lnTo>
                  <a:lnTo>
                    <a:pt x="536625" y="6098468"/>
                  </a:lnTo>
                  <a:lnTo>
                    <a:pt x="491632" y="6090116"/>
                  </a:lnTo>
                  <a:lnTo>
                    <a:pt x="447820" y="6078634"/>
                  </a:lnTo>
                  <a:lnTo>
                    <a:pt x="405311" y="6064144"/>
                  </a:lnTo>
                  <a:lnTo>
                    <a:pt x="364227" y="6046767"/>
                  </a:lnTo>
                  <a:lnTo>
                    <a:pt x="324689" y="6026626"/>
                  </a:lnTo>
                  <a:lnTo>
                    <a:pt x="286819" y="6003842"/>
                  </a:lnTo>
                  <a:lnTo>
                    <a:pt x="250738" y="5978538"/>
                  </a:lnTo>
                  <a:lnTo>
                    <a:pt x="216570" y="5950834"/>
                  </a:lnTo>
                  <a:lnTo>
                    <a:pt x="184435" y="5920852"/>
                  </a:lnTo>
                  <a:lnTo>
                    <a:pt x="154456" y="5888715"/>
                  </a:lnTo>
                  <a:lnTo>
                    <a:pt x="126753" y="5854544"/>
                  </a:lnTo>
                  <a:lnTo>
                    <a:pt x="101450" y="5818460"/>
                  </a:lnTo>
                  <a:lnTo>
                    <a:pt x="78667" y="5780587"/>
                  </a:lnTo>
                  <a:lnTo>
                    <a:pt x="58527" y="5741044"/>
                  </a:lnTo>
                  <a:lnTo>
                    <a:pt x="41151" y="5699955"/>
                  </a:lnTo>
                  <a:lnTo>
                    <a:pt x="26661" y="5657440"/>
                  </a:lnTo>
                  <a:lnTo>
                    <a:pt x="15179" y="5613623"/>
                  </a:lnTo>
                  <a:lnTo>
                    <a:pt x="6827" y="5568623"/>
                  </a:lnTo>
                  <a:lnTo>
                    <a:pt x="1727" y="5522564"/>
                  </a:lnTo>
                  <a:lnTo>
                    <a:pt x="0" y="5475566"/>
                  </a:lnTo>
                  <a:lnTo>
                    <a:pt x="0" y="629665"/>
                  </a:lnTo>
                  <a:close/>
                </a:path>
              </a:pathLst>
            </a:custGeom>
            <a:ln w="12700">
              <a:solidFill>
                <a:srgbClr val="41709C"/>
              </a:solidFill>
            </a:ln>
          </p:spPr>
          <p:txBody>
            <a:bodyPr wrap="square" lIns="0" tIns="0" rIns="0" bIns="0" rtlCol="0"/>
            <a:lstStyle/>
            <a:p>
              <a:endParaRPr/>
            </a:p>
          </p:txBody>
        </p:sp>
        <p:sp>
          <p:nvSpPr>
            <p:cNvPr id="5" name="object 5"/>
            <p:cNvSpPr/>
            <p:nvPr/>
          </p:nvSpPr>
          <p:spPr>
            <a:xfrm>
              <a:off x="8969120" y="4608448"/>
              <a:ext cx="2509520" cy="217804"/>
            </a:xfrm>
            <a:custGeom>
              <a:avLst/>
              <a:gdLst/>
              <a:ahLst/>
              <a:cxnLst/>
              <a:rect l="l" t="t" r="r" b="b"/>
              <a:pathLst>
                <a:path w="2509520" h="217804">
                  <a:moveTo>
                    <a:pt x="1254759" y="0"/>
                  </a:moveTo>
                  <a:lnTo>
                    <a:pt x="1254759" y="108838"/>
                  </a:lnTo>
                  <a:lnTo>
                    <a:pt x="2509393" y="108838"/>
                  </a:lnTo>
                  <a:lnTo>
                    <a:pt x="2509393" y="217805"/>
                  </a:lnTo>
                </a:path>
                <a:path w="2509520" h="217804">
                  <a:moveTo>
                    <a:pt x="1254759" y="0"/>
                  </a:moveTo>
                  <a:lnTo>
                    <a:pt x="1254759" y="217805"/>
                  </a:lnTo>
                </a:path>
                <a:path w="2509520" h="217804">
                  <a:moveTo>
                    <a:pt x="1254759" y="0"/>
                  </a:moveTo>
                  <a:lnTo>
                    <a:pt x="1254759" y="108838"/>
                  </a:lnTo>
                  <a:lnTo>
                    <a:pt x="0" y="108838"/>
                  </a:lnTo>
                  <a:lnTo>
                    <a:pt x="0" y="217805"/>
                  </a:lnTo>
                </a:path>
              </a:pathLst>
            </a:custGeom>
            <a:ln w="12700">
              <a:solidFill>
                <a:srgbClr val="6FAC46"/>
              </a:solidFill>
            </a:ln>
          </p:spPr>
          <p:txBody>
            <a:bodyPr wrap="square" lIns="0" tIns="0" rIns="0" bIns="0" rtlCol="0"/>
            <a:lstStyle/>
            <a:p>
              <a:endParaRPr/>
            </a:p>
          </p:txBody>
        </p:sp>
        <p:sp>
          <p:nvSpPr>
            <p:cNvPr id="6" name="object 6"/>
            <p:cNvSpPr/>
            <p:nvPr/>
          </p:nvSpPr>
          <p:spPr>
            <a:xfrm>
              <a:off x="9705339" y="4089984"/>
              <a:ext cx="1036955" cy="518795"/>
            </a:xfrm>
            <a:custGeom>
              <a:avLst/>
              <a:gdLst/>
              <a:ahLst/>
              <a:cxnLst/>
              <a:rect l="l" t="t" r="r" b="b"/>
              <a:pathLst>
                <a:path w="1036954" h="518795">
                  <a:moveTo>
                    <a:pt x="1036929" y="0"/>
                  </a:moveTo>
                  <a:lnTo>
                    <a:pt x="0" y="0"/>
                  </a:lnTo>
                  <a:lnTo>
                    <a:pt x="0" y="518464"/>
                  </a:lnTo>
                  <a:lnTo>
                    <a:pt x="1036929" y="518464"/>
                  </a:lnTo>
                  <a:lnTo>
                    <a:pt x="1036929" y="0"/>
                  </a:lnTo>
                  <a:close/>
                </a:path>
              </a:pathLst>
            </a:custGeom>
            <a:solidFill>
              <a:srgbClr val="6FAC46"/>
            </a:solidFill>
          </p:spPr>
          <p:txBody>
            <a:bodyPr wrap="square" lIns="0" tIns="0" rIns="0" bIns="0" rtlCol="0"/>
            <a:lstStyle/>
            <a:p>
              <a:endParaRPr/>
            </a:p>
          </p:txBody>
        </p:sp>
        <p:sp>
          <p:nvSpPr>
            <p:cNvPr id="7" name="object 7"/>
            <p:cNvSpPr/>
            <p:nvPr/>
          </p:nvSpPr>
          <p:spPr>
            <a:xfrm>
              <a:off x="9705339" y="4089984"/>
              <a:ext cx="1036955" cy="518795"/>
            </a:xfrm>
            <a:custGeom>
              <a:avLst/>
              <a:gdLst/>
              <a:ahLst/>
              <a:cxnLst/>
              <a:rect l="l" t="t" r="r" b="b"/>
              <a:pathLst>
                <a:path w="1036954" h="518795">
                  <a:moveTo>
                    <a:pt x="0" y="518464"/>
                  </a:moveTo>
                  <a:lnTo>
                    <a:pt x="1036929" y="518464"/>
                  </a:lnTo>
                  <a:lnTo>
                    <a:pt x="1036929" y="0"/>
                  </a:lnTo>
                  <a:lnTo>
                    <a:pt x="0" y="0"/>
                  </a:lnTo>
                  <a:lnTo>
                    <a:pt x="0" y="518464"/>
                  </a:lnTo>
                  <a:close/>
                </a:path>
              </a:pathLst>
            </a:custGeom>
            <a:ln w="12700">
              <a:solidFill>
                <a:srgbClr val="FFFFFF"/>
              </a:solidFill>
            </a:ln>
          </p:spPr>
          <p:txBody>
            <a:bodyPr wrap="square" lIns="0" tIns="0" rIns="0" bIns="0" rtlCol="0"/>
            <a:lstStyle/>
            <a:p>
              <a:endParaRPr/>
            </a:p>
          </p:txBody>
        </p:sp>
      </p:grpSp>
      <p:sp>
        <p:nvSpPr>
          <p:cNvPr id="8" name="object 8"/>
          <p:cNvSpPr txBox="1"/>
          <p:nvPr/>
        </p:nvSpPr>
        <p:spPr>
          <a:xfrm>
            <a:off x="10072751" y="4261230"/>
            <a:ext cx="304800" cy="190500"/>
          </a:xfrm>
          <a:prstGeom prst="rect">
            <a:avLst/>
          </a:prstGeom>
        </p:spPr>
        <p:txBody>
          <a:bodyPr vert="horz" wrap="square" lIns="0" tIns="0" rIns="0" bIns="0" rtlCol="0">
            <a:spAutoFit/>
          </a:bodyPr>
          <a:lstStyle/>
          <a:p>
            <a:pPr>
              <a:lnSpc>
                <a:spcPts val="1425"/>
              </a:lnSpc>
            </a:pPr>
            <a:r>
              <a:rPr sz="1500" b="1" spc="-25" dirty="0">
                <a:latin typeface="Calibri"/>
                <a:cs typeface="Calibri"/>
              </a:rPr>
              <a:t>GST</a:t>
            </a:r>
            <a:endParaRPr sz="1500">
              <a:latin typeface="Calibri"/>
              <a:cs typeface="Calibri"/>
            </a:endParaRPr>
          </a:p>
        </p:txBody>
      </p:sp>
      <p:grpSp>
        <p:nvGrpSpPr>
          <p:cNvPr id="9" name="object 9"/>
          <p:cNvGrpSpPr/>
          <p:nvPr/>
        </p:nvGrpSpPr>
        <p:grpSpPr>
          <a:xfrm>
            <a:off x="8444356" y="4819853"/>
            <a:ext cx="1049655" cy="531495"/>
            <a:chOff x="8444356" y="4819853"/>
            <a:chExt cx="1049655" cy="531495"/>
          </a:xfrm>
        </p:grpSpPr>
        <p:sp>
          <p:nvSpPr>
            <p:cNvPr id="10" name="object 10"/>
            <p:cNvSpPr/>
            <p:nvPr/>
          </p:nvSpPr>
          <p:spPr>
            <a:xfrm>
              <a:off x="8450706" y="4826203"/>
              <a:ext cx="1036955" cy="518795"/>
            </a:xfrm>
            <a:custGeom>
              <a:avLst/>
              <a:gdLst/>
              <a:ahLst/>
              <a:cxnLst/>
              <a:rect l="l" t="t" r="r" b="b"/>
              <a:pathLst>
                <a:path w="1036954" h="518795">
                  <a:moveTo>
                    <a:pt x="1036929" y="0"/>
                  </a:moveTo>
                  <a:lnTo>
                    <a:pt x="0" y="0"/>
                  </a:lnTo>
                  <a:lnTo>
                    <a:pt x="0" y="518464"/>
                  </a:lnTo>
                  <a:lnTo>
                    <a:pt x="1036929" y="518464"/>
                  </a:lnTo>
                  <a:lnTo>
                    <a:pt x="1036929" y="0"/>
                  </a:lnTo>
                  <a:close/>
                </a:path>
              </a:pathLst>
            </a:custGeom>
            <a:solidFill>
              <a:srgbClr val="FFC000"/>
            </a:solidFill>
          </p:spPr>
          <p:txBody>
            <a:bodyPr wrap="square" lIns="0" tIns="0" rIns="0" bIns="0" rtlCol="0"/>
            <a:lstStyle/>
            <a:p>
              <a:endParaRPr/>
            </a:p>
          </p:txBody>
        </p:sp>
        <p:sp>
          <p:nvSpPr>
            <p:cNvPr id="11" name="object 11"/>
            <p:cNvSpPr/>
            <p:nvPr/>
          </p:nvSpPr>
          <p:spPr>
            <a:xfrm>
              <a:off x="8450706" y="4826203"/>
              <a:ext cx="1036955" cy="518795"/>
            </a:xfrm>
            <a:custGeom>
              <a:avLst/>
              <a:gdLst/>
              <a:ahLst/>
              <a:cxnLst/>
              <a:rect l="l" t="t" r="r" b="b"/>
              <a:pathLst>
                <a:path w="1036954" h="518795">
                  <a:moveTo>
                    <a:pt x="0" y="518464"/>
                  </a:moveTo>
                  <a:lnTo>
                    <a:pt x="1036929" y="518464"/>
                  </a:lnTo>
                  <a:lnTo>
                    <a:pt x="1036929" y="0"/>
                  </a:lnTo>
                  <a:lnTo>
                    <a:pt x="0" y="0"/>
                  </a:lnTo>
                  <a:lnTo>
                    <a:pt x="0" y="518464"/>
                  </a:lnTo>
                  <a:close/>
                </a:path>
              </a:pathLst>
            </a:custGeom>
            <a:ln w="12700">
              <a:solidFill>
                <a:srgbClr val="FFFFFF"/>
              </a:solidFill>
            </a:ln>
          </p:spPr>
          <p:txBody>
            <a:bodyPr wrap="square" lIns="0" tIns="0" rIns="0" bIns="0" rtlCol="0"/>
            <a:lstStyle/>
            <a:p>
              <a:endParaRPr/>
            </a:p>
          </p:txBody>
        </p:sp>
      </p:grpSp>
      <p:sp>
        <p:nvSpPr>
          <p:cNvPr id="12" name="object 12"/>
          <p:cNvSpPr txBox="1"/>
          <p:nvPr/>
        </p:nvSpPr>
        <p:spPr>
          <a:xfrm>
            <a:off x="8767571" y="4997577"/>
            <a:ext cx="403860" cy="190500"/>
          </a:xfrm>
          <a:prstGeom prst="rect">
            <a:avLst/>
          </a:prstGeom>
        </p:spPr>
        <p:txBody>
          <a:bodyPr vert="horz" wrap="square" lIns="0" tIns="0" rIns="0" bIns="0" rtlCol="0">
            <a:spAutoFit/>
          </a:bodyPr>
          <a:lstStyle/>
          <a:p>
            <a:pPr>
              <a:lnSpc>
                <a:spcPts val="1425"/>
              </a:lnSpc>
            </a:pPr>
            <a:r>
              <a:rPr sz="1500" b="1" spc="-25" dirty="0">
                <a:latin typeface="Calibri"/>
                <a:cs typeface="Calibri"/>
              </a:rPr>
              <a:t>CGST</a:t>
            </a:r>
            <a:endParaRPr sz="1500">
              <a:latin typeface="Calibri"/>
              <a:cs typeface="Calibri"/>
            </a:endParaRPr>
          </a:p>
        </p:txBody>
      </p:sp>
      <p:grpSp>
        <p:nvGrpSpPr>
          <p:cNvPr id="13" name="object 13"/>
          <p:cNvGrpSpPr/>
          <p:nvPr/>
        </p:nvGrpSpPr>
        <p:grpSpPr>
          <a:xfrm>
            <a:off x="9698990" y="4819853"/>
            <a:ext cx="1049655" cy="531495"/>
            <a:chOff x="9698990" y="4819853"/>
            <a:chExt cx="1049655" cy="531495"/>
          </a:xfrm>
        </p:grpSpPr>
        <p:sp>
          <p:nvSpPr>
            <p:cNvPr id="14" name="object 14"/>
            <p:cNvSpPr/>
            <p:nvPr/>
          </p:nvSpPr>
          <p:spPr>
            <a:xfrm>
              <a:off x="9705340" y="4826203"/>
              <a:ext cx="1036955" cy="518795"/>
            </a:xfrm>
            <a:custGeom>
              <a:avLst/>
              <a:gdLst/>
              <a:ahLst/>
              <a:cxnLst/>
              <a:rect l="l" t="t" r="r" b="b"/>
              <a:pathLst>
                <a:path w="1036954" h="518795">
                  <a:moveTo>
                    <a:pt x="1036929" y="0"/>
                  </a:moveTo>
                  <a:lnTo>
                    <a:pt x="0" y="0"/>
                  </a:lnTo>
                  <a:lnTo>
                    <a:pt x="0" y="518464"/>
                  </a:lnTo>
                  <a:lnTo>
                    <a:pt x="1036929" y="518464"/>
                  </a:lnTo>
                  <a:lnTo>
                    <a:pt x="1036929" y="0"/>
                  </a:lnTo>
                  <a:close/>
                </a:path>
              </a:pathLst>
            </a:custGeom>
            <a:solidFill>
              <a:srgbClr val="EC7C30"/>
            </a:solidFill>
          </p:spPr>
          <p:txBody>
            <a:bodyPr wrap="square" lIns="0" tIns="0" rIns="0" bIns="0" rtlCol="0"/>
            <a:lstStyle/>
            <a:p>
              <a:endParaRPr/>
            </a:p>
          </p:txBody>
        </p:sp>
        <p:sp>
          <p:nvSpPr>
            <p:cNvPr id="15" name="object 15"/>
            <p:cNvSpPr/>
            <p:nvPr/>
          </p:nvSpPr>
          <p:spPr>
            <a:xfrm>
              <a:off x="9705340" y="4826203"/>
              <a:ext cx="1036955" cy="518795"/>
            </a:xfrm>
            <a:custGeom>
              <a:avLst/>
              <a:gdLst/>
              <a:ahLst/>
              <a:cxnLst/>
              <a:rect l="l" t="t" r="r" b="b"/>
              <a:pathLst>
                <a:path w="1036954" h="518795">
                  <a:moveTo>
                    <a:pt x="0" y="518464"/>
                  </a:moveTo>
                  <a:lnTo>
                    <a:pt x="1036929" y="518464"/>
                  </a:lnTo>
                  <a:lnTo>
                    <a:pt x="1036929" y="0"/>
                  </a:lnTo>
                  <a:lnTo>
                    <a:pt x="0" y="0"/>
                  </a:lnTo>
                  <a:lnTo>
                    <a:pt x="0" y="518464"/>
                  </a:lnTo>
                  <a:close/>
                </a:path>
              </a:pathLst>
            </a:custGeom>
            <a:ln w="12700">
              <a:solidFill>
                <a:srgbClr val="FFFFFF"/>
              </a:solidFill>
            </a:ln>
          </p:spPr>
          <p:txBody>
            <a:bodyPr wrap="square" lIns="0" tIns="0" rIns="0" bIns="0" rtlCol="0"/>
            <a:lstStyle/>
            <a:p>
              <a:endParaRPr/>
            </a:p>
          </p:txBody>
        </p:sp>
      </p:grpSp>
      <p:sp>
        <p:nvSpPr>
          <p:cNvPr id="16" name="object 16"/>
          <p:cNvSpPr txBox="1"/>
          <p:nvPr/>
        </p:nvSpPr>
        <p:spPr>
          <a:xfrm>
            <a:off x="9731375" y="4997577"/>
            <a:ext cx="986155" cy="190500"/>
          </a:xfrm>
          <a:prstGeom prst="rect">
            <a:avLst/>
          </a:prstGeom>
        </p:spPr>
        <p:txBody>
          <a:bodyPr vert="horz" wrap="square" lIns="0" tIns="0" rIns="0" bIns="0" rtlCol="0">
            <a:spAutoFit/>
          </a:bodyPr>
          <a:lstStyle/>
          <a:p>
            <a:pPr>
              <a:lnSpc>
                <a:spcPts val="1425"/>
              </a:lnSpc>
            </a:pPr>
            <a:r>
              <a:rPr sz="1500" b="1" spc="-25" dirty="0">
                <a:latin typeface="Calibri"/>
                <a:cs typeface="Calibri"/>
              </a:rPr>
              <a:t>SGST/UTGST</a:t>
            </a:r>
            <a:endParaRPr sz="1500">
              <a:latin typeface="Calibri"/>
              <a:cs typeface="Calibri"/>
            </a:endParaRPr>
          </a:p>
        </p:txBody>
      </p:sp>
      <p:grpSp>
        <p:nvGrpSpPr>
          <p:cNvPr id="17" name="object 17"/>
          <p:cNvGrpSpPr/>
          <p:nvPr/>
        </p:nvGrpSpPr>
        <p:grpSpPr>
          <a:xfrm>
            <a:off x="10953750" y="4819853"/>
            <a:ext cx="1049655" cy="531495"/>
            <a:chOff x="10953750" y="4819853"/>
            <a:chExt cx="1049655" cy="531495"/>
          </a:xfrm>
        </p:grpSpPr>
        <p:sp>
          <p:nvSpPr>
            <p:cNvPr id="18" name="object 18"/>
            <p:cNvSpPr/>
            <p:nvPr/>
          </p:nvSpPr>
          <p:spPr>
            <a:xfrm>
              <a:off x="10960100" y="4826203"/>
              <a:ext cx="1036955" cy="518795"/>
            </a:xfrm>
            <a:custGeom>
              <a:avLst/>
              <a:gdLst/>
              <a:ahLst/>
              <a:cxnLst/>
              <a:rect l="l" t="t" r="r" b="b"/>
              <a:pathLst>
                <a:path w="1036954" h="518795">
                  <a:moveTo>
                    <a:pt x="1036929" y="0"/>
                  </a:moveTo>
                  <a:lnTo>
                    <a:pt x="0" y="0"/>
                  </a:lnTo>
                  <a:lnTo>
                    <a:pt x="0" y="518464"/>
                  </a:lnTo>
                  <a:lnTo>
                    <a:pt x="1036929" y="518464"/>
                  </a:lnTo>
                  <a:lnTo>
                    <a:pt x="1036929" y="0"/>
                  </a:lnTo>
                  <a:close/>
                </a:path>
              </a:pathLst>
            </a:custGeom>
            <a:solidFill>
              <a:srgbClr val="4471C4"/>
            </a:solidFill>
          </p:spPr>
          <p:txBody>
            <a:bodyPr wrap="square" lIns="0" tIns="0" rIns="0" bIns="0" rtlCol="0"/>
            <a:lstStyle/>
            <a:p>
              <a:endParaRPr/>
            </a:p>
          </p:txBody>
        </p:sp>
        <p:sp>
          <p:nvSpPr>
            <p:cNvPr id="19" name="object 19"/>
            <p:cNvSpPr/>
            <p:nvPr/>
          </p:nvSpPr>
          <p:spPr>
            <a:xfrm>
              <a:off x="10960100" y="4826203"/>
              <a:ext cx="1036955" cy="518795"/>
            </a:xfrm>
            <a:custGeom>
              <a:avLst/>
              <a:gdLst/>
              <a:ahLst/>
              <a:cxnLst/>
              <a:rect l="l" t="t" r="r" b="b"/>
              <a:pathLst>
                <a:path w="1036954" h="518795">
                  <a:moveTo>
                    <a:pt x="0" y="518464"/>
                  </a:moveTo>
                  <a:lnTo>
                    <a:pt x="1036929" y="518464"/>
                  </a:lnTo>
                  <a:lnTo>
                    <a:pt x="1036929" y="0"/>
                  </a:lnTo>
                  <a:lnTo>
                    <a:pt x="0" y="0"/>
                  </a:lnTo>
                  <a:lnTo>
                    <a:pt x="0" y="518464"/>
                  </a:lnTo>
                  <a:close/>
                </a:path>
              </a:pathLst>
            </a:custGeom>
            <a:ln w="12700">
              <a:solidFill>
                <a:srgbClr val="FFFFFF"/>
              </a:solidFill>
            </a:ln>
          </p:spPr>
          <p:txBody>
            <a:bodyPr wrap="square" lIns="0" tIns="0" rIns="0" bIns="0" rtlCol="0"/>
            <a:lstStyle/>
            <a:p>
              <a:endParaRPr/>
            </a:p>
          </p:txBody>
        </p:sp>
      </p:grpSp>
      <p:sp>
        <p:nvSpPr>
          <p:cNvPr id="20" name="object 20"/>
          <p:cNvSpPr txBox="1"/>
          <p:nvPr/>
        </p:nvSpPr>
        <p:spPr>
          <a:xfrm>
            <a:off x="11301730" y="4997577"/>
            <a:ext cx="355600" cy="190500"/>
          </a:xfrm>
          <a:prstGeom prst="rect">
            <a:avLst/>
          </a:prstGeom>
        </p:spPr>
        <p:txBody>
          <a:bodyPr vert="horz" wrap="square" lIns="0" tIns="0" rIns="0" bIns="0" rtlCol="0">
            <a:spAutoFit/>
          </a:bodyPr>
          <a:lstStyle/>
          <a:p>
            <a:pPr>
              <a:lnSpc>
                <a:spcPts val="1425"/>
              </a:lnSpc>
            </a:pPr>
            <a:r>
              <a:rPr sz="1500" b="1" spc="-20" dirty="0">
                <a:latin typeface="Calibri"/>
                <a:cs typeface="Calibri"/>
              </a:rPr>
              <a:t>IGST</a:t>
            </a:r>
            <a:endParaRPr sz="1500">
              <a:latin typeface="Calibri"/>
              <a:cs typeface="Calibri"/>
            </a:endParaRPr>
          </a:p>
        </p:txBody>
      </p:sp>
      <p:grpSp>
        <p:nvGrpSpPr>
          <p:cNvPr id="21" name="object 21"/>
          <p:cNvGrpSpPr/>
          <p:nvPr/>
        </p:nvGrpSpPr>
        <p:grpSpPr>
          <a:xfrm>
            <a:off x="8704960" y="538226"/>
            <a:ext cx="2966720" cy="3008630"/>
            <a:chOff x="8704960" y="538226"/>
            <a:chExt cx="2966720" cy="3008630"/>
          </a:xfrm>
        </p:grpSpPr>
        <p:sp>
          <p:nvSpPr>
            <p:cNvPr id="22" name="object 22"/>
            <p:cNvSpPr/>
            <p:nvPr/>
          </p:nvSpPr>
          <p:spPr>
            <a:xfrm>
              <a:off x="8711310" y="544576"/>
              <a:ext cx="2954020" cy="2995930"/>
            </a:xfrm>
            <a:custGeom>
              <a:avLst/>
              <a:gdLst/>
              <a:ahLst/>
              <a:cxnLst/>
              <a:rect l="l" t="t" r="r" b="b"/>
              <a:pathLst>
                <a:path w="2954020" h="2995929">
                  <a:moveTo>
                    <a:pt x="1476756" y="0"/>
                  </a:moveTo>
                  <a:lnTo>
                    <a:pt x="1428961" y="769"/>
                  </a:lnTo>
                  <a:lnTo>
                    <a:pt x="1381546" y="3062"/>
                  </a:lnTo>
                  <a:lnTo>
                    <a:pt x="1334533" y="6856"/>
                  </a:lnTo>
                  <a:lnTo>
                    <a:pt x="1287945" y="12126"/>
                  </a:lnTo>
                  <a:lnTo>
                    <a:pt x="1241805" y="18851"/>
                  </a:lnTo>
                  <a:lnTo>
                    <a:pt x="1196136" y="27006"/>
                  </a:lnTo>
                  <a:lnTo>
                    <a:pt x="1150961" y="36568"/>
                  </a:lnTo>
                  <a:lnTo>
                    <a:pt x="1106302" y="47515"/>
                  </a:lnTo>
                  <a:lnTo>
                    <a:pt x="1062183" y="59822"/>
                  </a:lnTo>
                  <a:lnTo>
                    <a:pt x="1018627" y="73467"/>
                  </a:lnTo>
                  <a:lnTo>
                    <a:pt x="975655" y="88427"/>
                  </a:lnTo>
                  <a:lnTo>
                    <a:pt x="933293" y="104677"/>
                  </a:lnTo>
                  <a:lnTo>
                    <a:pt x="891561" y="122196"/>
                  </a:lnTo>
                  <a:lnTo>
                    <a:pt x="850484" y="140959"/>
                  </a:lnTo>
                  <a:lnTo>
                    <a:pt x="810084" y="160944"/>
                  </a:lnTo>
                  <a:lnTo>
                    <a:pt x="770384" y="182126"/>
                  </a:lnTo>
                  <a:lnTo>
                    <a:pt x="731407" y="204484"/>
                  </a:lnTo>
                  <a:lnTo>
                    <a:pt x="693175" y="227993"/>
                  </a:lnTo>
                  <a:lnTo>
                    <a:pt x="655713" y="252630"/>
                  </a:lnTo>
                  <a:lnTo>
                    <a:pt x="619042" y="278373"/>
                  </a:lnTo>
                  <a:lnTo>
                    <a:pt x="583186" y="305198"/>
                  </a:lnTo>
                  <a:lnTo>
                    <a:pt x="548168" y="333081"/>
                  </a:lnTo>
                  <a:lnTo>
                    <a:pt x="514010" y="361999"/>
                  </a:lnTo>
                  <a:lnTo>
                    <a:pt x="480735" y="391930"/>
                  </a:lnTo>
                  <a:lnTo>
                    <a:pt x="448367" y="422850"/>
                  </a:lnTo>
                  <a:lnTo>
                    <a:pt x="416928" y="454735"/>
                  </a:lnTo>
                  <a:lnTo>
                    <a:pt x="386441" y="487563"/>
                  </a:lnTo>
                  <a:lnTo>
                    <a:pt x="356929" y="521310"/>
                  </a:lnTo>
                  <a:lnTo>
                    <a:pt x="328415" y="555953"/>
                  </a:lnTo>
                  <a:lnTo>
                    <a:pt x="300923" y="591468"/>
                  </a:lnTo>
                  <a:lnTo>
                    <a:pt x="274474" y="627833"/>
                  </a:lnTo>
                  <a:lnTo>
                    <a:pt x="249091" y="665025"/>
                  </a:lnTo>
                  <a:lnTo>
                    <a:pt x="224799" y="703019"/>
                  </a:lnTo>
                  <a:lnTo>
                    <a:pt x="201619" y="741792"/>
                  </a:lnTo>
                  <a:lnTo>
                    <a:pt x="179575" y="781323"/>
                  </a:lnTo>
                  <a:lnTo>
                    <a:pt x="158689" y="821586"/>
                  </a:lnTo>
                  <a:lnTo>
                    <a:pt x="138984" y="862559"/>
                  </a:lnTo>
                  <a:lnTo>
                    <a:pt x="120484" y="904219"/>
                  </a:lnTo>
                  <a:lnTo>
                    <a:pt x="103211" y="946543"/>
                  </a:lnTo>
                  <a:lnTo>
                    <a:pt x="87188" y="989506"/>
                  </a:lnTo>
                  <a:lnTo>
                    <a:pt x="72438" y="1033087"/>
                  </a:lnTo>
                  <a:lnTo>
                    <a:pt x="58984" y="1077261"/>
                  </a:lnTo>
                  <a:lnTo>
                    <a:pt x="46849" y="1122006"/>
                  </a:lnTo>
                  <a:lnTo>
                    <a:pt x="36056" y="1167298"/>
                  </a:lnTo>
                  <a:lnTo>
                    <a:pt x="26627" y="1213114"/>
                  </a:lnTo>
                  <a:lnTo>
                    <a:pt x="18587" y="1259430"/>
                  </a:lnTo>
                  <a:lnTo>
                    <a:pt x="11956" y="1306225"/>
                  </a:lnTo>
                  <a:lnTo>
                    <a:pt x="6760" y="1353473"/>
                  </a:lnTo>
                  <a:lnTo>
                    <a:pt x="3019" y="1401152"/>
                  </a:lnTo>
                  <a:lnTo>
                    <a:pt x="758" y="1449239"/>
                  </a:lnTo>
                  <a:lnTo>
                    <a:pt x="0" y="1497711"/>
                  </a:lnTo>
                  <a:lnTo>
                    <a:pt x="758" y="1546189"/>
                  </a:lnTo>
                  <a:lnTo>
                    <a:pt x="3019" y="1594283"/>
                  </a:lnTo>
                  <a:lnTo>
                    <a:pt x="6760" y="1641969"/>
                  </a:lnTo>
                  <a:lnTo>
                    <a:pt x="11956" y="1689224"/>
                  </a:lnTo>
                  <a:lnTo>
                    <a:pt x="18587" y="1736024"/>
                  </a:lnTo>
                  <a:lnTo>
                    <a:pt x="26627" y="1782347"/>
                  </a:lnTo>
                  <a:lnTo>
                    <a:pt x="36056" y="1828169"/>
                  </a:lnTo>
                  <a:lnTo>
                    <a:pt x="46849" y="1873466"/>
                  </a:lnTo>
                  <a:lnTo>
                    <a:pt x="58984" y="1918216"/>
                  </a:lnTo>
                  <a:lnTo>
                    <a:pt x="72438" y="1962395"/>
                  </a:lnTo>
                  <a:lnTo>
                    <a:pt x="87188" y="2005980"/>
                  </a:lnTo>
                  <a:lnTo>
                    <a:pt x="103211" y="2048949"/>
                  </a:lnTo>
                  <a:lnTo>
                    <a:pt x="120484" y="2091276"/>
                  </a:lnTo>
                  <a:lnTo>
                    <a:pt x="138984" y="2132940"/>
                  </a:lnTo>
                  <a:lnTo>
                    <a:pt x="158689" y="2173917"/>
                  </a:lnTo>
                  <a:lnTo>
                    <a:pt x="179575" y="2214184"/>
                  </a:lnTo>
                  <a:lnTo>
                    <a:pt x="201619" y="2253718"/>
                  </a:lnTo>
                  <a:lnTo>
                    <a:pt x="224799" y="2292495"/>
                  </a:lnTo>
                  <a:lnTo>
                    <a:pt x="249091" y="2330492"/>
                  </a:lnTo>
                  <a:lnTo>
                    <a:pt x="274474" y="2367686"/>
                  </a:lnTo>
                  <a:lnTo>
                    <a:pt x="300923" y="2404054"/>
                  </a:lnTo>
                  <a:lnTo>
                    <a:pt x="328415" y="2439572"/>
                  </a:lnTo>
                  <a:lnTo>
                    <a:pt x="356929" y="2474217"/>
                  </a:lnTo>
                  <a:lnTo>
                    <a:pt x="386441" y="2507966"/>
                  </a:lnTo>
                  <a:lnTo>
                    <a:pt x="416928" y="2540796"/>
                  </a:lnTo>
                  <a:lnTo>
                    <a:pt x="448367" y="2572683"/>
                  </a:lnTo>
                  <a:lnTo>
                    <a:pt x="480735" y="2603605"/>
                  </a:lnTo>
                  <a:lnTo>
                    <a:pt x="514010" y="2633537"/>
                  </a:lnTo>
                  <a:lnTo>
                    <a:pt x="548168" y="2662457"/>
                  </a:lnTo>
                  <a:lnTo>
                    <a:pt x="583186" y="2690342"/>
                  </a:lnTo>
                  <a:lnTo>
                    <a:pt x="619042" y="2717167"/>
                  </a:lnTo>
                  <a:lnTo>
                    <a:pt x="655713" y="2742911"/>
                  </a:lnTo>
                  <a:lnTo>
                    <a:pt x="693175" y="2767550"/>
                  </a:lnTo>
                  <a:lnTo>
                    <a:pt x="731407" y="2791060"/>
                  </a:lnTo>
                  <a:lnTo>
                    <a:pt x="770384" y="2813418"/>
                  </a:lnTo>
                  <a:lnTo>
                    <a:pt x="810084" y="2834601"/>
                  </a:lnTo>
                  <a:lnTo>
                    <a:pt x="850484" y="2854586"/>
                  </a:lnTo>
                  <a:lnTo>
                    <a:pt x="891561" y="2873350"/>
                  </a:lnTo>
                  <a:lnTo>
                    <a:pt x="933293" y="2890869"/>
                  </a:lnTo>
                  <a:lnTo>
                    <a:pt x="975655" y="2907120"/>
                  </a:lnTo>
                  <a:lnTo>
                    <a:pt x="1018627" y="2922080"/>
                  </a:lnTo>
                  <a:lnTo>
                    <a:pt x="1062183" y="2935725"/>
                  </a:lnTo>
                  <a:lnTo>
                    <a:pt x="1106302" y="2948033"/>
                  </a:lnTo>
                  <a:lnTo>
                    <a:pt x="1150961" y="2958979"/>
                  </a:lnTo>
                  <a:lnTo>
                    <a:pt x="1196136" y="2968542"/>
                  </a:lnTo>
                  <a:lnTo>
                    <a:pt x="1241805" y="2976697"/>
                  </a:lnTo>
                  <a:lnTo>
                    <a:pt x="1287945" y="2983422"/>
                  </a:lnTo>
                  <a:lnTo>
                    <a:pt x="1334533" y="2988692"/>
                  </a:lnTo>
                  <a:lnTo>
                    <a:pt x="1381546" y="2992486"/>
                  </a:lnTo>
                  <a:lnTo>
                    <a:pt x="1428961" y="2994779"/>
                  </a:lnTo>
                  <a:lnTo>
                    <a:pt x="1476756" y="2995549"/>
                  </a:lnTo>
                  <a:lnTo>
                    <a:pt x="1524557" y="2994779"/>
                  </a:lnTo>
                  <a:lnTo>
                    <a:pt x="1571979" y="2992486"/>
                  </a:lnTo>
                  <a:lnTo>
                    <a:pt x="1618999" y="2988692"/>
                  </a:lnTo>
                  <a:lnTo>
                    <a:pt x="1665593" y="2983422"/>
                  </a:lnTo>
                  <a:lnTo>
                    <a:pt x="1711739" y="2976697"/>
                  </a:lnTo>
                  <a:lnTo>
                    <a:pt x="1757414" y="2968542"/>
                  </a:lnTo>
                  <a:lnTo>
                    <a:pt x="1802596" y="2958979"/>
                  </a:lnTo>
                  <a:lnTo>
                    <a:pt x="1847260" y="2948033"/>
                  </a:lnTo>
                  <a:lnTo>
                    <a:pt x="1891384" y="2935725"/>
                  </a:lnTo>
                  <a:lnTo>
                    <a:pt x="1934945" y="2922080"/>
                  </a:lnTo>
                  <a:lnTo>
                    <a:pt x="1977921" y="2907120"/>
                  </a:lnTo>
                  <a:lnTo>
                    <a:pt x="2020289" y="2890869"/>
                  </a:lnTo>
                  <a:lnTo>
                    <a:pt x="2062024" y="2873350"/>
                  </a:lnTo>
                  <a:lnTo>
                    <a:pt x="2103106" y="2854586"/>
                  </a:lnTo>
                  <a:lnTo>
                    <a:pt x="2143510" y="2834601"/>
                  </a:lnTo>
                  <a:lnTo>
                    <a:pt x="2183213" y="2813418"/>
                  </a:lnTo>
                  <a:lnTo>
                    <a:pt x="2222194" y="2791060"/>
                  </a:lnTo>
                  <a:lnTo>
                    <a:pt x="2260428" y="2767550"/>
                  </a:lnTo>
                  <a:lnTo>
                    <a:pt x="2297894" y="2742911"/>
                  </a:lnTo>
                  <a:lnTo>
                    <a:pt x="2334567" y="2717167"/>
                  </a:lnTo>
                  <a:lnTo>
                    <a:pt x="2370426" y="2690342"/>
                  </a:lnTo>
                  <a:lnTo>
                    <a:pt x="2405447" y="2662457"/>
                  </a:lnTo>
                  <a:lnTo>
                    <a:pt x="2439607" y="2633537"/>
                  </a:lnTo>
                  <a:lnTo>
                    <a:pt x="2472884" y="2603605"/>
                  </a:lnTo>
                  <a:lnTo>
                    <a:pt x="2505254" y="2572683"/>
                  </a:lnTo>
                  <a:lnTo>
                    <a:pt x="2536695" y="2540796"/>
                  </a:lnTo>
                  <a:lnTo>
                    <a:pt x="2567184" y="2507966"/>
                  </a:lnTo>
                  <a:lnTo>
                    <a:pt x="2596697" y="2474217"/>
                  </a:lnTo>
                  <a:lnTo>
                    <a:pt x="2625212" y="2439572"/>
                  </a:lnTo>
                  <a:lnTo>
                    <a:pt x="2652706" y="2404054"/>
                  </a:lnTo>
                  <a:lnTo>
                    <a:pt x="2679157" y="2367686"/>
                  </a:lnTo>
                  <a:lnTo>
                    <a:pt x="2704540" y="2330492"/>
                  </a:lnTo>
                  <a:lnTo>
                    <a:pt x="2728833" y="2292495"/>
                  </a:lnTo>
                  <a:lnTo>
                    <a:pt x="2752014" y="2253718"/>
                  </a:lnTo>
                  <a:lnTo>
                    <a:pt x="2774059" y="2214184"/>
                  </a:lnTo>
                  <a:lnTo>
                    <a:pt x="2794946" y="2173917"/>
                  </a:lnTo>
                  <a:lnTo>
                    <a:pt x="2814651" y="2132940"/>
                  </a:lnTo>
                  <a:lnTo>
                    <a:pt x="2833152" y="2091276"/>
                  </a:lnTo>
                  <a:lnTo>
                    <a:pt x="2850425" y="2048949"/>
                  </a:lnTo>
                  <a:lnTo>
                    <a:pt x="2866449" y="2005980"/>
                  </a:lnTo>
                  <a:lnTo>
                    <a:pt x="2881199" y="1962395"/>
                  </a:lnTo>
                  <a:lnTo>
                    <a:pt x="2894653" y="1918216"/>
                  </a:lnTo>
                  <a:lnTo>
                    <a:pt x="2906788" y="1873466"/>
                  </a:lnTo>
                  <a:lnTo>
                    <a:pt x="2917582" y="1828169"/>
                  </a:lnTo>
                  <a:lnTo>
                    <a:pt x="2927010" y="1782347"/>
                  </a:lnTo>
                  <a:lnTo>
                    <a:pt x="2935051" y="1736024"/>
                  </a:lnTo>
                  <a:lnTo>
                    <a:pt x="2941682" y="1689224"/>
                  </a:lnTo>
                  <a:lnTo>
                    <a:pt x="2946878" y="1641969"/>
                  </a:lnTo>
                  <a:lnTo>
                    <a:pt x="2950619" y="1594283"/>
                  </a:lnTo>
                  <a:lnTo>
                    <a:pt x="2952880" y="1546189"/>
                  </a:lnTo>
                  <a:lnTo>
                    <a:pt x="2953639" y="1497711"/>
                  </a:lnTo>
                  <a:lnTo>
                    <a:pt x="2952880" y="1449239"/>
                  </a:lnTo>
                  <a:lnTo>
                    <a:pt x="2950619" y="1401152"/>
                  </a:lnTo>
                  <a:lnTo>
                    <a:pt x="2946878" y="1353473"/>
                  </a:lnTo>
                  <a:lnTo>
                    <a:pt x="2941682" y="1306225"/>
                  </a:lnTo>
                  <a:lnTo>
                    <a:pt x="2935051" y="1259430"/>
                  </a:lnTo>
                  <a:lnTo>
                    <a:pt x="2927010" y="1213114"/>
                  </a:lnTo>
                  <a:lnTo>
                    <a:pt x="2917582" y="1167298"/>
                  </a:lnTo>
                  <a:lnTo>
                    <a:pt x="2906788" y="1122006"/>
                  </a:lnTo>
                  <a:lnTo>
                    <a:pt x="2894653" y="1077261"/>
                  </a:lnTo>
                  <a:lnTo>
                    <a:pt x="2881199" y="1033087"/>
                  </a:lnTo>
                  <a:lnTo>
                    <a:pt x="2866449" y="989506"/>
                  </a:lnTo>
                  <a:lnTo>
                    <a:pt x="2850425" y="946543"/>
                  </a:lnTo>
                  <a:lnTo>
                    <a:pt x="2833152" y="904219"/>
                  </a:lnTo>
                  <a:lnTo>
                    <a:pt x="2814651" y="862559"/>
                  </a:lnTo>
                  <a:lnTo>
                    <a:pt x="2794946" y="821586"/>
                  </a:lnTo>
                  <a:lnTo>
                    <a:pt x="2774059" y="781323"/>
                  </a:lnTo>
                  <a:lnTo>
                    <a:pt x="2752014" y="741792"/>
                  </a:lnTo>
                  <a:lnTo>
                    <a:pt x="2728833" y="703019"/>
                  </a:lnTo>
                  <a:lnTo>
                    <a:pt x="2704540" y="665025"/>
                  </a:lnTo>
                  <a:lnTo>
                    <a:pt x="2679157" y="627833"/>
                  </a:lnTo>
                  <a:lnTo>
                    <a:pt x="2652706" y="591468"/>
                  </a:lnTo>
                  <a:lnTo>
                    <a:pt x="2625212" y="555953"/>
                  </a:lnTo>
                  <a:lnTo>
                    <a:pt x="2596697" y="521310"/>
                  </a:lnTo>
                  <a:lnTo>
                    <a:pt x="2567184" y="487563"/>
                  </a:lnTo>
                  <a:lnTo>
                    <a:pt x="2536695" y="454735"/>
                  </a:lnTo>
                  <a:lnTo>
                    <a:pt x="2505254" y="422850"/>
                  </a:lnTo>
                  <a:lnTo>
                    <a:pt x="2472884" y="391930"/>
                  </a:lnTo>
                  <a:lnTo>
                    <a:pt x="2439607" y="361999"/>
                  </a:lnTo>
                  <a:lnTo>
                    <a:pt x="2405447" y="333081"/>
                  </a:lnTo>
                  <a:lnTo>
                    <a:pt x="2370426" y="305198"/>
                  </a:lnTo>
                  <a:lnTo>
                    <a:pt x="2334567" y="278373"/>
                  </a:lnTo>
                  <a:lnTo>
                    <a:pt x="2297894" y="252630"/>
                  </a:lnTo>
                  <a:lnTo>
                    <a:pt x="2260428" y="227993"/>
                  </a:lnTo>
                  <a:lnTo>
                    <a:pt x="2222194" y="204484"/>
                  </a:lnTo>
                  <a:lnTo>
                    <a:pt x="2183213" y="182126"/>
                  </a:lnTo>
                  <a:lnTo>
                    <a:pt x="2143510" y="160944"/>
                  </a:lnTo>
                  <a:lnTo>
                    <a:pt x="2103106" y="140959"/>
                  </a:lnTo>
                  <a:lnTo>
                    <a:pt x="2062024" y="122196"/>
                  </a:lnTo>
                  <a:lnTo>
                    <a:pt x="2020289" y="104677"/>
                  </a:lnTo>
                  <a:lnTo>
                    <a:pt x="1977921" y="88427"/>
                  </a:lnTo>
                  <a:lnTo>
                    <a:pt x="1934945" y="73467"/>
                  </a:lnTo>
                  <a:lnTo>
                    <a:pt x="1891384" y="59822"/>
                  </a:lnTo>
                  <a:lnTo>
                    <a:pt x="1847260" y="47515"/>
                  </a:lnTo>
                  <a:lnTo>
                    <a:pt x="1802596" y="36568"/>
                  </a:lnTo>
                  <a:lnTo>
                    <a:pt x="1757414" y="27006"/>
                  </a:lnTo>
                  <a:lnTo>
                    <a:pt x="1711739" y="18851"/>
                  </a:lnTo>
                  <a:lnTo>
                    <a:pt x="1665593" y="12126"/>
                  </a:lnTo>
                  <a:lnTo>
                    <a:pt x="1618999" y="6856"/>
                  </a:lnTo>
                  <a:lnTo>
                    <a:pt x="1571979" y="3062"/>
                  </a:lnTo>
                  <a:lnTo>
                    <a:pt x="1524557" y="769"/>
                  </a:lnTo>
                  <a:lnTo>
                    <a:pt x="1476756" y="0"/>
                  </a:lnTo>
                  <a:close/>
                </a:path>
              </a:pathLst>
            </a:custGeom>
            <a:solidFill>
              <a:srgbClr val="E012C7">
                <a:alpha val="47058"/>
              </a:srgbClr>
            </a:solidFill>
          </p:spPr>
          <p:txBody>
            <a:bodyPr wrap="square" lIns="0" tIns="0" rIns="0" bIns="0" rtlCol="0"/>
            <a:lstStyle/>
            <a:p>
              <a:endParaRPr/>
            </a:p>
          </p:txBody>
        </p:sp>
        <p:sp>
          <p:nvSpPr>
            <p:cNvPr id="23" name="object 23"/>
            <p:cNvSpPr/>
            <p:nvPr/>
          </p:nvSpPr>
          <p:spPr>
            <a:xfrm>
              <a:off x="8711310" y="544576"/>
              <a:ext cx="2954020" cy="2995930"/>
            </a:xfrm>
            <a:custGeom>
              <a:avLst/>
              <a:gdLst/>
              <a:ahLst/>
              <a:cxnLst/>
              <a:rect l="l" t="t" r="r" b="b"/>
              <a:pathLst>
                <a:path w="2954020" h="2995929">
                  <a:moveTo>
                    <a:pt x="0" y="1497711"/>
                  </a:moveTo>
                  <a:lnTo>
                    <a:pt x="758" y="1449239"/>
                  </a:lnTo>
                  <a:lnTo>
                    <a:pt x="3019" y="1401152"/>
                  </a:lnTo>
                  <a:lnTo>
                    <a:pt x="6760" y="1353473"/>
                  </a:lnTo>
                  <a:lnTo>
                    <a:pt x="11956" y="1306225"/>
                  </a:lnTo>
                  <a:lnTo>
                    <a:pt x="18587" y="1259430"/>
                  </a:lnTo>
                  <a:lnTo>
                    <a:pt x="26627" y="1213114"/>
                  </a:lnTo>
                  <a:lnTo>
                    <a:pt x="36056" y="1167298"/>
                  </a:lnTo>
                  <a:lnTo>
                    <a:pt x="46849" y="1122006"/>
                  </a:lnTo>
                  <a:lnTo>
                    <a:pt x="58984" y="1077261"/>
                  </a:lnTo>
                  <a:lnTo>
                    <a:pt x="72438" y="1033087"/>
                  </a:lnTo>
                  <a:lnTo>
                    <a:pt x="87188" y="989506"/>
                  </a:lnTo>
                  <a:lnTo>
                    <a:pt x="103211" y="946543"/>
                  </a:lnTo>
                  <a:lnTo>
                    <a:pt x="120484" y="904219"/>
                  </a:lnTo>
                  <a:lnTo>
                    <a:pt x="138984" y="862559"/>
                  </a:lnTo>
                  <a:lnTo>
                    <a:pt x="158689" y="821586"/>
                  </a:lnTo>
                  <a:lnTo>
                    <a:pt x="179575" y="781323"/>
                  </a:lnTo>
                  <a:lnTo>
                    <a:pt x="201619" y="741792"/>
                  </a:lnTo>
                  <a:lnTo>
                    <a:pt x="224799" y="703019"/>
                  </a:lnTo>
                  <a:lnTo>
                    <a:pt x="249091" y="665025"/>
                  </a:lnTo>
                  <a:lnTo>
                    <a:pt x="274474" y="627833"/>
                  </a:lnTo>
                  <a:lnTo>
                    <a:pt x="300923" y="591468"/>
                  </a:lnTo>
                  <a:lnTo>
                    <a:pt x="328415" y="555953"/>
                  </a:lnTo>
                  <a:lnTo>
                    <a:pt x="356929" y="521310"/>
                  </a:lnTo>
                  <a:lnTo>
                    <a:pt x="386441" y="487563"/>
                  </a:lnTo>
                  <a:lnTo>
                    <a:pt x="416928" y="454735"/>
                  </a:lnTo>
                  <a:lnTo>
                    <a:pt x="448367" y="422850"/>
                  </a:lnTo>
                  <a:lnTo>
                    <a:pt x="480735" y="391930"/>
                  </a:lnTo>
                  <a:lnTo>
                    <a:pt x="514010" y="361999"/>
                  </a:lnTo>
                  <a:lnTo>
                    <a:pt x="548168" y="333081"/>
                  </a:lnTo>
                  <a:lnTo>
                    <a:pt x="583186" y="305198"/>
                  </a:lnTo>
                  <a:lnTo>
                    <a:pt x="619042" y="278373"/>
                  </a:lnTo>
                  <a:lnTo>
                    <a:pt x="655713" y="252630"/>
                  </a:lnTo>
                  <a:lnTo>
                    <a:pt x="693175" y="227993"/>
                  </a:lnTo>
                  <a:lnTo>
                    <a:pt x="731407" y="204484"/>
                  </a:lnTo>
                  <a:lnTo>
                    <a:pt x="770384" y="182126"/>
                  </a:lnTo>
                  <a:lnTo>
                    <a:pt x="810084" y="160944"/>
                  </a:lnTo>
                  <a:lnTo>
                    <a:pt x="850484" y="140959"/>
                  </a:lnTo>
                  <a:lnTo>
                    <a:pt x="891561" y="122196"/>
                  </a:lnTo>
                  <a:lnTo>
                    <a:pt x="933293" y="104677"/>
                  </a:lnTo>
                  <a:lnTo>
                    <a:pt x="975655" y="88427"/>
                  </a:lnTo>
                  <a:lnTo>
                    <a:pt x="1018627" y="73467"/>
                  </a:lnTo>
                  <a:lnTo>
                    <a:pt x="1062183" y="59822"/>
                  </a:lnTo>
                  <a:lnTo>
                    <a:pt x="1106302" y="47515"/>
                  </a:lnTo>
                  <a:lnTo>
                    <a:pt x="1150961" y="36568"/>
                  </a:lnTo>
                  <a:lnTo>
                    <a:pt x="1196136" y="27006"/>
                  </a:lnTo>
                  <a:lnTo>
                    <a:pt x="1241805" y="18851"/>
                  </a:lnTo>
                  <a:lnTo>
                    <a:pt x="1287945" y="12126"/>
                  </a:lnTo>
                  <a:lnTo>
                    <a:pt x="1334533" y="6856"/>
                  </a:lnTo>
                  <a:lnTo>
                    <a:pt x="1381546" y="3062"/>
                  </a:lnTo>
                  <a:lnTo>
                    <a:pt x="1428961" y="769"/>
                  </a:lnTo>
                  <a:lnTo>
                    <a:pt x="1476756" y="0"/>
                  </a:lnTo>
                  <a:lnTo>
                    <a:pt x="1524557" y="769"/>
                  </a:lnTo>
                  <a:lnTo>
                    <a:pt x="1571979" y="3062"/>
                  </a:lnTo>
                  <a:lnTo>
                    <a:pt x="1618999" y="6856"/>
                  </a:lnTo>
                  <a:lnTo>
                    <a:pt x="1665593" y="12126"/>
                  </a:lnTo>
                  <a:lnTo>
                    <a:pt x="1711739" y="18851"/>
                  </a:lnTo>
                  <a:lnTo>
                    <a:pt x="1757414" y="27006"/>
                  </a:lnTo>
                  <a:lnTo>
                    <a:pt x="1802596" y="36568"/>
                  </a:lnTo>
                  <a:lnTo>
                    <a:pt x="1847260" y="47515"/>
                  </a:lnTo>
                  <a:lnTo>
                    <a:pt x="1891384" y="59822"/>
                  </a:lnTo>
                  <a:lnTo>
                    <a:pt x="1934945" y="73467"/>
                  </a:lnTo>
                  <a:lnTo>
                    <a:pt x="1977921" y="88427"/>
                  </a:lnTo>
                  <a:lnTo>
                    <a:pt x="2020289" y="104677"/>
                  </a:lnTo>
                  <a:lnTo>
                    <a:pt x="2062024" y="122196"/>
                  </a:lnTo>
                  <a:lnTo>
                    <a:pt x="2103106" y="140959"/>
                  </a:lnTo>
                  <a:lnTo>
                    <a:pt x="2143510" y="160944"/>
                  </a:lnTo>
                  <a:lnTo>
                    <a:pt x="2183213" y="182126"/>
                  </a:lnTo>
                  <a:lnTo>
                    <a:pt x="2222194" y="204484"/>
                  </a:lnTo>
                  <a:lnTo>
                    <a:pt x="2260428" y="227993"/>
                  </a:lnTo>
                  <a:lnTo>
                    <a:pt x="2297894" y="252630"/>
                  </a:lnTo>
                  <a:lnTo>
                    <a:pt x="2334567" y="278373"/>
                  </a:lnTo>
                  <a:lnTo>
                    <a:pt x="2370426" y="305198"/>
                  </a:lnTo>
                  <a:lnTo>
                    <a:pt x="2405447" y="333081"/>
                  </a:lnTo>
                  <a:lnTo>
                    <a:pt x="2439607" y="361999"/>
                  </a:lnTo>
                  <a:lnTo>
                    <a:pt x="2472884" y="391930"/>
                  </a:lnTo>
                  <a:lnTo>
                    <a:pt x="2505254" y="422850"/>
                  </a:lnTo>
                  <a:lnTo>
                    <a:pt x="2536695" y="454735"/>
                  </a:lnTo>
                  <a:lnTo>
                    <a:pt x="2567184" y="487563"/>
                  </a:lnTo>
                  <a:lnTo>
                    <a:pt x="2596697" y="521310"/>
                  </a:lnTo>
                  <a:lnTo>
                    <a:pt x="2625212" y="555953"/>
                  </a:lnTo>
                  <a:lnTo>
                    <a:pt x="2652706" y="591468"/>
                  </a:lnTo>
                  <a:lnTo>
                    <a:pt x="2679157" y="627833"/>
                  </a:lnTo>
                  <a:lnTo>
                    <a:pt x="2704540" y="665025"/>
                  </a:lnTo>
                  <a:lnTo>
                    <a:pt x="2728833" y="703019"/>
                  </a:lnTo>
                  <a:lnTo>
                    <a:pt x="2752014" y="741792"/>
                  </a:lnTo>
                  <a:lnTo>
                    <a:pt x="2774059" y="781323"/>
                  </a:lnTo>
                  <a:lnTo>
                    <a:pt x="2794946" y="821586"/>
                  </a:lnTo>
                  <a:lnTo>
                    <a:pt x="2814651" y="862559"/>
                  </a:lnTo>
                  <a:lnTo>
                    <a:pt x="2833152" y="904219"/>
                  </a:lnTo>
                  <a:lnTo>
                    <a:pt x="2850425" y="946543"/>
                  </a:lnTo>
                  <a:lnTo>
                    <a:pt x="2866449" y="989506"/>
                  </a:lnTo>
                  <a:lnTo>
                    <a:pt x="2881199" y="1033087"/>
                  </a:lnTo>
                  <a:lnTo>
                    <a:pt x="2894653" y="1077261"/>
                  </a:lnTo>
                  <a:lnTo>
                    <a:pt x="2906788" y="1122006"/>
                  </a:lnTo>
                  <a:lnTo>
                    <a:pt x="2917582" y="1167298"/>
                  </a:lnTo>
                  <a:lnTo>
                    <a:pt x="2927010" y="1213114"/>
                  </a:lnTo>
                  <a:lnTo>
                    <a:pt x="2935051" y="1259430"/>
                  </a:lnTo>
                  <a:lnTo>
                    <a:pt x="2941682" y="1306225"/>
                  </a:lnTo>
                  <a:lnTo>
                    <a:pt x="2946878" y="1353473"/>
                  </a:lnTo>
                  <a:lnTo>
                    <a:pt x="2950619" y="1401152"/>
                  </a:lnTo>
                  <a:lnTo>
                    <a:pt x="2952880" y="1449239"/>
                  </a:lnTo>
                  <a:lnTo>
                    <a:pt x="2953639" y="1497711"/>
                  </a:lnTo>
                  <a:lnTo>
                    <a:pt x="2952880" y="1546189"/>
                  </a:lnTo>
                  <a:lnTo>
                    <a:pt x="2950619" y="1594283"/>
                  </a:lnTo>
                  <a:lnTo>
                    <a:pt x="2946878" y="1641969"/>
                  </a:lnTo>
                  <a:lnTo>
                    <a:pt x="2941682" y="1689224"/>
                  </a:lnTo>
                  <a:lnTo>
                    <a:pt x="2935051" y="1736024"/>
                  </a:lnTo>
                  <a:lnTo>
                    <a:pt x="2927010" y="1782347"/>
                  </a:lnTo>
                  <a:lnTo>
                    <a:pt x="2917582" y="1828169"/>
                  </a:lnTo>
                  <a:lnTo>
                    <a:pt x="2906788" y="1873466"/>
                  </a:lnTo>
                  <a:lnTo>
                    <a:pt x="2894653" y="1918216"/>
                  </a:lnTo>
                  <a:lnTo>
                    <a:pt x="2881199" y="1962395"/>
                  </a:lnTo>
                  <a:lnTo>
                    <a:pt x="2866449" y="2005980"/>
                  </a:lnTo>
                  <a:lnTo>
                    <a:pt x="2850425" y="2048949"/>
                  </a:lnTo>
                  <a:lnTo>
                    <a:pt x="2833152" y="2091276"/>
                  </a:lnTo>
                  <a:lnTo>
                    <a:pt x="2814651" y="2132940"/>
                  </a:lnTo>
                  <a:lnTo>
                    <a:pt x="2794946" y="2173917"/>
                  </a:lnTo>
                  <a:lnTo>
                    <a:pt x="2774059" y="2214184"/>
                  </a:lnTo>
                  <a:lnTo>
                    <a:pt x="2752014" y="2253718"/>
                  </a:lnTo>
                  <a:lnTo>
                    <a:pt x="2728833" y="2292495"/>
                  </a:lnTo>
                  <a:lnTo>
                    <a:pt x="2704540" y="2330492"/>
                  </a:lnTo>
                  <a:lnTo>
                    <a:pt x="2679157" y="2367686"/>
                  </a:lnTo>
                  <a:lnTo>
                    <a:pt x="2652706" y="2404054"/>
                  </a:lnTo>
                  <a:lnTo>
                    <a:pt x="2625212" y="2439572"/>
                  </a:lnTo>
                  <a:lnTo>
                    <a:pt x="2596697" y="2474217"/>
                  </a:lnTo>
                  <a:lnTo>
                    <a:pt x="2567184" y="2507966"/>
                  </a:lnTo>
                  <a:lnTo>
                    <a:pt x="2536695" y="2540796"/>
                  </a:lnTo>
                  <a:lnTo>
                    <a:pt x="2505254" y="2572683"/>
                  </a:lnTo>
                  <a:lnTo>
                    <a:pt x="2472884" y="2603605"/>
                  </a:lnTo>
                  <a:lnTo>
                    <a:pt x="2439607" y="2633537"/>
                  </a:lnTo>
                  <a:lnTo>
                    <a:pt x="2405447" y="2662457"/>
                  </a:lnTo>
                  <a:lnTo>
                    <a:pt x="2370426" y="2690342"/>
                  </a:lnTo>
                  <a:lnTo>
                    <a:pt x="2334567" y="2717167"/>
                  </a:lnTo>
                  <a:lnTo>
                    <a:pt x="2297894" y="2742911"/>
                  </a:lnTo>
                  <a:lnTo>
                    <a:pt x="2260428" y="2767550"/>
                  </a:lnTo>
                  <a:lnTo>
                    <a:pt x="2222194" y="2791060"/>
                  </a:lnTo>
                  <a:lnTo>
                    <a:pt x="2183213" y="2813418"/>
                  </a:lnTo>
                  <a:lnTo>
                    <a:pt x="2143510" y="2834601"/>
                  </a:lnTo>
                  <a:lnTo>
                    <a:pt x="2103106" y="2854586"/>
                  </a:lnTo>
                  <a:lnTo>
                    <a:pt x="2062024" y="2873350"/>
                  </a:lnTo>
                  <a:lnTo>
                    <a:pt x="2020289" y="2890869"/>
                  </a:lnTo>
                  <a:lnTo>
                    <a:pt x="1977921" y="2907120"/>
                  </a:lnTo>
                  <a:lnTo>
                    <a:pt x="1934945" y="2922080"/>
                  </a:lnTo>
                  <a:lnTo>
                    <a:pt x="1891384" y="2935725"/>
                  </a:lnTo>
                  <a:lnTo>
                    <a:pt x="1847260" y="2948033"/>
                  </a:lnTo>
                  <a:lnTo>
                    <a:pt x="1802596" y="2958979"/>
                  </a:lnTo>
                  <a:lnTo>
                    <a:pt x="1757414" y="2968542"/>
                  </a:lnTo>
                  <a:lnTo>
                    <a:pt x="1711739" y="2976697"/>
                  </a:lnTo>
                  <a:lnTo>
                    <a:pt x="1665593" y="2983422"/>
                  </a:lnTo>
                  <a:lnTo>
                    <a:pt x="1618999" y="2988692"/>
                  </a:lnTo>
                  <a:lnTo>
                    <a:pt x="1571979" y="2992486"/>
                  </a:lnTo>
                  <a:lnTo>
                    <a:pt x="1524557" y="2994779"/>
                  </a:lnTo>
                  <a:lnTo>
                    <a:pt x="1476756" y="2995549"/>
                  </a:lnTo>
                  <a:lnTo>
                    <a:pt x="1428961" y="2994779"/>
                  </a:lnTo>
                  <a:lnTo>
                    <a:pt x="1381546" y="2992486"/>
                  </a:lnTo>
                  <a:lnTo>
                    <a:pt x="1334533" y="2988692"/>
                  </a:lnTo>
                  <a:lnTo>
                    <a:pt x="1287945" y="2983422"/>
                  </a:lnTo>
                  <a:lnTo>
                    <a:pt x="1241805" y="2976697"/>
                  </a:lnTo>
                  <a:lnTo>
                    <a:pt x="1196136" y="2968542"/>
                  </a:lnTo>
                  <a:lnTo>
                    <a:pt x="1150961" y="2958979"/>
                  </a:lnTo>
                  <a:lnTo>
                    <a:pt x="1106302" y="2948033"/>
                  </a:lnTo>
                  <a:lnTo>
                    <a:pt x="1062183" y="2935725"/>
                  </a:lnTo>
                  <a:lnTo>
                    <a:pt x="1018627" y="2922080"/>
                  </a:lnTo>
                  <a:lnTo>
                    <a:pt x="975655" y="2907120"/>
                  </a:lnTo>
                  <a:lnTo>
                    <a:pt x="933293" y="2890869"/>
                  </a:lnTo>
                  <a:lnTo>
                    <a:pt x="891561" y="2873350"/>
                  </a:lnTo>
                  <a:lnTo>
                    <a:pt x="850484" y="2854586"/>
                  </a:lnTo>
                  <a:lnTo>
                    <a:pt x="810084" y="2834601"/>
                  </a:lnTo>
                  <a:lnTo>
                    <a:pt x="770384" y="2813418"/>
                  </a:lnTo>
                  <a:lnTo>
                    <a:pt x="731407" y="2791060"/>
                  </a:lnTo>
                  <a:lnTo>
                    <a:pt x="693175" y="2767550"/>
                  </a:lnTo>
                  <a:lnTo>
                    <a:pt x="655713" y="2742911"/>
                  </a:lnTo>
                  <a:lnTo>
                    <a:pt x="619042" y="2717167"/>
                  </a:lnTo>
                  <a:lnTo>
                    <a:pt x="583186" y="2690342"/>
                  </a:lnTo>
                  <a:lnTo>
                    <a:pt x="548168" y="2662457"/>
                  </a:lnTo>
                  <a:lnTo>
                    <a:pt x="514010" y="2633537"/>
                  </a:lnTo>
                  <a:lnTo>
                    <a:pt x="480735" y="2603605"/>
                  </a:lnTo>
                  <a:lnTo>
                    <a:pt x="448367" y="2572683"/>
                  </a:lnTo>
                  <a:lnTo>
                    <a:pt x="416928" y="2540796"/>
                  </a:lnTo>
                  <a:lnTo>
                    <a:pt x="386441" y="2507966"/>
                  </a:lnTo>
                  <a:lnTo>
                    <a:pt x="356929" y="2474217"/>
                  </a:lnTo>
                  <a:lnTo>
                    <a:pt x="328415" y="2439572"/>
                  </a:lnTo>
                  <a:lnTo>
                    <a:pt x="300923" y="2404054"/>
                  </a:lnTo>
                  <a:lnTo>
                    <a:pt x="274474" y="2367686"/>
                  </a:lnTo>
                  <a:lnTo>
                    <a:pt x="249091" y="2330492"/>
                  </a:lnTo>
                  <a:lnTo>
                    <a:pt x="224799" y="2292495"/>
                  </a:lnTo>
                  <a:lnTo>
                    <a:pt x="201619" y="2253718"/>
                  </a:lnTo>
                  <a:lnTo>
                    <a:pt x="179575" y="2214184"/>
                  </a:lnTo>
                  <a:lnTo>
                    <a:pt x="158689" y="2173917"/>
                  </a:lnTo>
                  <a:lnTo>
                    <a:pt x="138984" y="2132940"/>
                  </a:lnTo>
                  <a:lnTo>
                    <a:pt x="120484" y="2091276"/>
                  </a:lnTo>
                  <a:lnTo>
                    <a:pt x="103211" y="2048949"/>
                  </a:lnTo>
                  <a:lnTo>
                    <a:pt x="87188" y="2005980"/>
                  </a:lnTo>
                  <a:lnTo>
                    <a:pt x="72438" y="1962395"/>
                  </a:lnTo>
                  <a:lnTo>
                    <a:pt x="58984" y="1918216"/>
                  </a:lnTo>
                  <a:lnTo>
                    <a:pt x="46849" y="1873466"/>
                  </a:lnTo>
                  <a:lnTo>
                    <a:pt x="36056" y="1828169"/>
                  </a:lnTo>
                  <a:lnTo>
                    <a:pt x="26627" y="1782347"/>
                  </a:lnTo>
                  <a:lnTo>
                    <a:pt x="18587" y="1736024"/>
                  </a:lnTo>
                  <a:lnTo>
                    <a:pt x="11956" y="1689224"/>
                  </a:lnTo>
                  <a:lnTo>
                    <a:pt x="6760" y="1641969"/>
                  </a:lnTo>
                  <a:lnTo>
                    <a:pt x="3019" y="1594283"/>
                  </a:lnTo>
                  <a:lnTo>
                    <a:pt x="758" y="1546189"/>
                  </a:lnTo>
                  <a:lnTo>
                    <a:pt x="0" y="1497711"/>
                  </a:lnTo>
                  <a:close/>
                </a:path>
              </a:pathLst>
            </a:custGeom>
            <a:ln w="12700">
              <a:solidFill>
                <a:srgbClr val="41709C"/>
              </a:solidFill>
            </a:ln>
          </p:spPr>
          <p:txBody>
            <a:bodyPr wrap="square" lIns="0" tIns="0" rIns="0" bIns="0" rtlCol="0"/>
            <a:lstStyle/>
            <a:p>
              <a:endParaRPr/>
            </a:p>
          </p:txBody>
        </p:sp>
      </p:grpSp>
      <p:pic>
        <p:nvPicPr>
          <p:cNvPr id="24" name="object 24"/>
          <p:cNvPicPr/>
          <p:nvPr/>
        </p:nvPicPr>
        <p:blipFill>
          <a:blip r:embed="rId2" cstate="print"/>
          <a:stretch>
            <a:fillRect/>
          </a:stretch>
        </p:blipFill>
        <p:spPr>
          <a:xfrm>
            <a:off x="152933" y="354075"/>
            <a:ext cx="7035266" cy="6117996"/>
          </a:xfrm>
          <a:prstGeom prst="rect">
            <a:avLst/>
          </a:prstGeom>
        </p:spPr>
      </p:pic>
      <p:sp>
        <p:nvSpPr>
          <p:cNvPr id="25" name="object 25"/>
          <p:cNvSpPr txBox="1"/>
          <p:nvPr/>
        </p:nvSpPr>
        <p:spPr>
          <a:xfrm>
            <a:off x="506679" y="3150184"/>
            <a:ext cx="6428105" cy="452120"/>
          </a:xfrm>
          <a:prstGeom prst="rect">
            <a:avLst/>
          </a:prstGeom>
        </p:spPr>
        <p:txBody>
          <a:bodyPr vert="horz" wrap="square" lIns="0" tIns="12065" rIns="0" bIns="0" rtlCol="0">
            <a:spAutoFit/>
          </a:bodyPr>
          <a:lstStyle/>
          <a:p>
            <a:pPr marL="12700">
              <a:lnSpc>
                <a:spcPct val="100000"/>
              </a:lnSpc>
              <a:spcBef>
                <a:spcPts val="95"/>
              </a:spcBef>
            </a:pPr>
            <a:r>
              <a:rPr sz="2800" b="1" spc="-20" dirty="0">
                <a:solidFill>
                  <a:srgbClr val="FF0000"/>
                </a:solidFill>
                <a:latin typeface="Arial"/>
                <a:cs typeface="Arial"/>
              </a:rPr>
              <a:t>Pre-</a:t>
            </a:r>
            <a:r>
              <a:rPr sz="2800" b="1" dirty="0">
                <a:solidFill>
                  <a:srgbClr val="FF0000"/>
                </a:solidFill>
                <a:latin typeface="Arial"/>
                <a:cs typeface="Arial"/>
              </a:rPr>
              <a:t>GST</a:t>
            </a:r>
            <a:r>
              <a:rPr sz="2800" b="1" spc="-60" dirty="0">
                <a:solidFill>
                  <a:srgbClr val="FF0000"/>
                </a:solidFill>
                <a:latin typeface="Arial"/>
                <a:cs typeface="Arial"/>
              </a:rPr>
              <a:t> </a:t>
            </a:r>
            <a:r>
              <a:rPr sz="2800" b="1" dirty="0">
                <a:solidFill>
                  <a:srgbClr val="FF0000"/>
                </a:solidFill>
                <a:latin typeface="Arial"/>
                <a:cs typeface="Arial"/>
              </a:rPr>
              <a:t>Indirect</a:t>
            </a:r>
            <a:r>
              <a:rPr sz="2800" b="1" spc="-50" dirty="0">
                <a:solidFill>
                  <a:srgbClr val="FF0000"/>
                </a:solidFill>
                <a:latin typeface="Arial"/>
                <a:cs typeface="Arial"/>
              </a:rPr>
              <a:t> </a:t>
            </a:r>
            <a:r>
              <a:rPr sz="2800" b="1" dirty="0">
                <a:solidFill>
                  <a:srgbClr val="FF0000"/>
                </a:solidFill>
                <a:latin typeface="Arial"/>
                <a:cs typeface="Arial"/>
              </a:rPr>
              <a:t>tax</a:t>
            </a:r>
            <a:r>
              <a:rPr sz="2800" b="1" spc="-55" dirty="0">
                <a:solidFill>
                  <a:srgbClr val="FF0000"/>
                </a:solidFill>
                <a:latin typeface="Arial"/>
                <a:cs typeface="Arial"/>
              </a:rPr>
              <a:t> </a:t>
            </a:r>
            <a:r>
              <a:rPr sz="2800" b="1" dirty="0">
                <a:solidFill>
                  <a:srgbClr val="FF0000"/>
                </a:solidFill>
                <a:latin typeface="Arial"/>
                <a:cs typeface="Arial"/>
              </a:rPr>
              <a:t>structure</a:t>
            </a:r>
            <a:r>
              <a:rPr sz="2800" b="1" spc="-30" dirty="0">
                <a:solidFill>
                  <a:srgbClr val="FF0000"/>
                </a:solidFill>
                <a:latin typeface="Arial"/>
                <a:cs typeface="Arial"/>
              </a:rPr>
              <a:t> </a:t>
            </a:r>
            <a:r>
              <a:rPr sz="2800" b="1" dirty="0">
                <a:solidFill>
                  <a:srgbClr val="FF0000"/>
                </a:solidFill>
                <a:latin typeface="Arial"/>
                <a:cs typeface="Arial"/>
              </a:rPr>
              <a:t>in</a:t>
            </a:r>
            <a:r>
              <a:rPr sz="2800" b="1" spc="-70" dirty="0">
                <a:solidFill>
                  <a:srgbClr val="FF0000"/>
                </a:solidFill>
                <a:latin typeface="Arial"/>
                <a:cs typeface="Arial"/>
              </a:rPr>
              <a:t> </a:t>
            </a:r>
            <a:r>
              <a:rPr sz="2800" b="1" spc="-10" dirty="0">
                <a:solidFill>
                  <a:srgbClr val="FF0000"/>
                </a:solidFill>
                <a:latin typeface="Arial"/>
                <a:cs typeface="Arial"/>
              </a:rPr>
              <a:t>India</a:t>
            </a:r>
            <a:endParaRPr sz="2800">
              <a:latin typeface="Arial"/>
              <a:cs typeface="Arial"/>
            </a:endParaRPr>
          </a:p>
        </p:txBody>
      </p:sp>
      <p:sp>
        <p:nvSpPr>
          <p:cNvPr id="26" name="object 26"/>
          <p:cNvSpPr txBox="1"/>
          <p:nvPr/>
        </p:nvSpPr>
        <p:spPr>
          <a:xfrm>
            <a:off x="1222959" y="596265"/>
            <a:ext cx="127000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Calibri"/>
                <a:cs typeface="Calibri"/>
              </a:rPr>
              <a:t>Central</a:t>
            </a:r>
            <a:r>
              <a:rPr sz="1800" b="1" spc="-90" dirty="0">
                <a:latin typeface="Calibri"/>
                <a:cs typeface="Calibri"/>
              </a:rPr>
              <a:t> </a:t>
            </a:r>
            <a:r>
              <a:rPr sz="1800" b="1" spc="-25" dirty="0">
                <a:latin typeface="Calibri"/>
                <a:cs typeface="Calibri"/>
              </a:rPr>
              <a:t>Taxes</a:t>
            </a:r>
            <a:endParaRPr sz="1800">
              <a:latin typeface="Calibri"/>
              <a:cs typeface="Calibri"/>
            </a:endParaRPr>
          </a:p>
        </p:txBody>
      </p:sp>
      <p:sp>
        <p:nvSpPr>
          <p:cNvPr id="27" name="object 27"/>
          <p:cNvSpPr txBox="1"/>
          <p:nvPr/>
        </p:nvSpPr>
        <p:spPr>
          <a:xfrm>
            <a:off x="1091895" y="1176985"/>
            <a:ext cx="1533525" cy="542925"/>
          </a:xfrm>
          <a:prstGeom prst="rect">
            <a:avLst/>
          </a:prstGeom>
        </p:spPr>
        <p:txBody>
          <a:bodyPr vert="horz" wrap="square" lIns="0" tIns="12700" rIns="0" bIns="0" rtlCol="0">
            <a:spAutoFit/>
          </a:bodyPr>
          <a:lstStyle/>
          <a:p>
            <a:pPr algn="ctr">
              <a:lnSpc>
                <a:spcPts val="2035"/>
              </a:lnSpc>
              <a:spcBef>
                <a:spcPts val="100"/>
              </a:spcBef>
            </a:pPr>
            <a:r>
              <a:rPr sz="1800" b="1" spc="-25" dirty="0">
                <a:latin typeface="Calibri"/>
                <a:cs typeface="Calibri"/>
              </a:rPr>
              <a:t>Tax</a:t>
            </a:r>
            <a:endParaRPr sz="1800">
              <a:latin typeface="Calibri"/>
              <a:cs typeface="Calibri"/>
            </a:endParaRPr>
          </a:p>
          <a:p>
            <a:pPr algn="ctr">
              <a:lnSpc>
                <a:spcPts val="2035"/>
              </a:lnSpc>
            </a:pPr>
            <a:r>
              <a:rPr sz="1800" b="1" spc="-10" dirty="0">
                <a:latin typeface="Calibri"/>
                <a:cs typeface="Calibri"/>
              </a:rPr>
              <a:t>Administrations</a:t>
            </a:r>
            <a:endParaRPr sz="1800">
              <a:latin typeface="Calibri"/>
              <a:cs typeface="Calibri"/>
            </a:endParaRPr>
          </a:p>
        </p:txBody>
      </p:sp>
      <p:sp>
        <p:nvSpPr>
          <p:cNvPr id="28" name="object 28"/>
          <p:cNvSpPr txBox="1"/>
          <p:nvPr/>
        </p:nvSpPr>
        <p:spPr>
          <a:xfrm>
            <a:off x="947115" y="1968246"/>
            <a:ext cx="1823085"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Calibri"/>
                <a:cs typeface="Calibri"/>
              </a:rPr>
              <a:t>CEx/ST</a:t>
            </a:r>
            <a:r>
              <a:rPr sz="1800" b="1" spc="-20" dirty="0">
                <a:latin typeface="Calibri"/>
                <a:cs typeface="Calibri"/>
              </a:rPr>
              <a:t> </a:t>
            </a:r>
            <a:r>
              <a:rPr sz="1800" b="1" dirty="0">
                <a:latin typeface="Calibri"/>
                <a:cs typeface="Calibri"/>
              </a:rPr>
              <a:t>Act</a:t>
            </a:r>
            <a:r>
              <a:rPr sz="1800" b="1" spc="-15" dirty="0">
                <a:latin typeface="Calibri"/>
                <a:cs typeface="Calibri"/>
              </a:rPr>
              <a:t> </a:t>
            </a:r>
            <a:r>
              <a:rPr sz="1800" b="1" dirty="0">
                <a:latin typeface="Calibri"/>
                <a:cs typeface="Calibri"/>
              </a:rPr>
              <a:t>&amp;</a:t>
            </a:r>
            <a:r>
              <a:rPr sz="1800" b="1" spc="-15" dirty="0">
                <a:latin typeface="Calibri"/>
                <a:cs typeface="Calibri"/>
              </a:rPr>
              <a:t> </a:t>
            </a:r>
            <a:r>
              <a:rPr sz="1800" b="1" spc="-10" dirty="0">
                <a:latin typeface="Calibri"/>
                <a:cs typeface="Calibri"/>
              </a:rPr>
              <a:t>Rules</a:t>
            </a:r>
            <a:endParaRPr sz="1800">
              <a:latin typeface="Calibri"/>
              <a:cs typeface="Calibri"/>
            </a:endParaRPr>
          </a:p>
        </p:txBody>
      </p:sp>
      <p:sp>
        <p:nvSpPr>
          <p:cNvPr id="29" name="object 29"/>
          <p:cNvSpPr txBox="1"/>
          <p:nvPr/>
        </p:nvSpPr>
        <p:spPr>
          <a:xfrm>
            <a:off x="1314450" y="2516835"/>
            <a:ext cx="1090295" cy="300355"/>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Calibri"/>
                <a:cs typeface="Calibri"/>
              </a:rPr>
              <a:t>Procedures</a:t>
            </a:r>
            <a:endParaRPr sz="1800">
              <a:latin typeface="Calibri"/>
              <a:cs typeface="Calibri"/>
            </a:endParaRPr>
          </a:p>
        </p:txBody>
      </p:sp>
      <p:grpSp>
        <p:nvGrpSpPr>
          <p:cNvPr id="30" name="object 30"/>
          <p:cNvGrpSpPr/>
          <p:nvPr/>
        </p:nvGrpSpPr>
        <p:grpSpPr>
          <a:xfrm>
            <a:off x="162458" y="401700"/>
            <a:ext cx="11957050" cy="6118225"/>
            <a:chOff x="162458" y="401700"/>
            <a:chExt cx="11957050" cy="6118225"/>
          </a:xfrm>
        </p:grpSpPr>
        <p:pic>
          <p:nvPicPr>
            <p:cNvPr id="31" name="object 31"/>
            <p:cNvPicPr/>
            <p:nvPr/>
          </p:nvPicPr>
          <p:blipFill>
            <a:blip r:embed="rId3" cstate="print"/>
            <a:stretch>
              <a:fillRect/>
            </a:stretch>
          </p:blipFill>
          <p:spPr>
            <a:xfrm>
              <a:off x="3560699" y="3561994"/>
              <a:ext cx="2917571" cy="2741041"/>
            </a:xfrm>
            <a:prstGeom prst="rect">
              <a:avLst/>
            </a:prstGeom>
          </p:spPr>
        </p:pic>
        <p:sp>
          <p:nvSpPr>
            <p:cNvPr id="32" name="object 32"/>
            <p:cNvSpPr/>
            <p:nvPr/>
          </p:nvSpPr>
          <p:spPr>
            <a:xfrm>
              <a:off x="168808" y="408050"/>
              <a:ext cx="7023100" cy="6105525"/>
            </a:xfrm>
            <a:custGeom>
              <a:avLst/>
              <a:gdLst/>
              <a:ahLst/>
              <a:cxnLst/>
              <a:rect l="l" t="t" r="r" b="b"/>
              <a:pathLst>
                <a:path w="7023100" h="6105525">
                  <a:moveTo>
                    <a:pt x="0" y="1017524"/>
                  </a:moveTo>
                  <a:lnTo>
                    <a:pt x="1107" y="969623"/>
                  </a:lnTo>
                  <a:lnTo>
                    <a:pt x="4397" y="922293"/>
                  </a:lnTo>
                  <a:lnTo>
                    <a:pt x="9821" y="875581"/>
                  </a:lnTo>
                  <a:lnTo>
                    <a:pt x="17330" y="829538"/>
                  </a:lnTo>
                  <a:lnTo>
                    <a:pt x="26875" y="784211"/>
                  </a:lnTo>
                  <a:lnTo>
                    <a:pt x="38406" y="739649"/>
                  </a:lnTo>
                  <a:lnTo>
                    <a:pt x="51877" y="695903"/>
                  </a:lnTo>
                  <a:lnTo>
                    <a:pt x="67236" y="653019"/>
                  </a:lnTo>
                  <a:lnTo>
                    <a:pt x="84436" y="611047"/>
                  </a:lnTo>
                  <a:lnTo>
                    <a:pt x="103428" y="570037"/>
                  </a:lnTo>
                  <a:lnTo>
                    <a:pt x="124162" y="530036"/>
                  </a:lnTo>
                  <a:lnTo>
                    <a:pt x="146591" y="491094"/>
                  </a:lnTo>
                  <a:lnTo>
                    <a:pt x="170664" y="453260"/>
                  </a:lnTo>
                  <a:lnTo>
                    <a:pt x="196334" y="416582"/>
                  </a:lnTo>
                  <a:lnTo>
                    <a:pt x="223551" y="381109"/>
                  </a:lnTo>
                  <a:lnTo>
                    <a:pt x="252267" y="346890"/>
                  </a:lnTo>
                  <a:lnTo>
                    <a:pt x="282432" y="313975"/>
                  </a:lnTo>
                  <a:lnTo>
                    <a:pt x="313998" y="282411"/>
                  </a:lnTo>
                  <a:lnTo>
                    <a:pt x="346916" y="252248"/>
                  </a:lnTo>
                  <a:lnTo>
                    <a:pt x="381137" y="223534"/>
                  </a:lnTo>
                  <a:lnTo>
                    <a:pt x="416612" y="196319"/>
                  </a:lnTo>
                  <a:lnTo>
                    <a:pt x="453292" y="170651"/>
                  </a:lnTo>
                  <a:lnTo>
                    <a:pt x="491129" y="146579"/>
                  </a:lnTo>
                  <a:lnTo>
                    <a:pt x="530074" y="124153"/>
                  </a:lnTo>
                  <a:lnTo>
                    <a:pt x="570077" y="103420"/>
                  </a:lnTo>
                  <a:lnTo>
                    <a:pt x="611090" y="84429"/>
                  </a:lnTo>
                  <a:lnTo>
                    <a:pt x="653064" y="67231"/>
                  </a:lnTo>
                  <a:lnTo>
                    <a:pt x="695950" y="51872"/>
                  </a:lnTo>
                  <a:lnTo>
                    <a:pt x="739699" y="38403"/>
                  </a:lnTo>
                  <a:lnTo>
                    <a:pt x="784263" y="26872"/>
                  </a:lnTo>
                  <a:lnTo>
                    <a:pt x="829592" y="17328"/>
                  </a:lnTo>
                  <a:lnTo>
                    <a:pt x="875638" y="9820"/>
                  </a:lnTo>
                  <a:lnTo>
                    <a:pt x="922352" y="4397"/>
                  </a:lnTo>
                  <a:lnTo>
                    <a:pt x="969684" y="1107"/>
                  </a:lnTo>
                  <a:lnTo>
                    <a:pt x="1017587" y="0"/>
                  </a:lnTo>
                  <a:lnTo>
                    <a:pt x="6005042" y="0"/>
                  </a:lnTo>
                  <a:lnTo>
                    <a:pt x="6052943" y="1107"/>
                  </a:lnTo>
                  <a:lnTo>
                    <a:pt x="6100273" y="4397"/>
                  </a:lnTo>
                  <a:lnTo>
                    <a:pt x="6146984" y="9820"/>
                  </a:lnTo>
                  <a:lnTo>
                    <a:pt x="6193028" y="17328"/>
                  </a:lnTo>
                  <a:lnTo>
                    <a:pt x="6238355" y="26872"/>
                  </a:lnTo>
                  <a:lnTo>
                    <a:pt x="6282916" y="38403"/>
                  </a:lnTo>
                  <a:lnTo>
                    <a:pt x="6326663" y="51872"/>
                  </a:lnTo>
                  <a:lnTo>
                    <a:pt x="6369547" y="67231"/>
                  </a:lnTo>
                  <a:lnTo>
                    <a:pt x="6411518" y="84429"/>
                  </a:lnTo>
                  <a:lnTo>
                    <a:pt x="6452529" y="103420"/>
                  </a:lnTo>
                  <a:lnTo>
                    <a:pt x="6492529" y="124153"/>
                  </a:lnTo>
                  <a:lnTo>
                    <a:pt x="6531471" y="146579"/>
                  </a:lnTo>
                  <a:lnTo>
                    <a:pt x="6569306" y="170651"/>
                  </a:lnTo>
                  <a:lnTo>
                    <a:pt x="6605984" y="196319"/>
                  </a:lnTo>
                  <a:lnTo>
                    <a:pt x="6641457" y="223534"/>
                  </a:lnTo>
                  <a:lnTo>
                    <a:pt x="6675675" y="252248"/>
                  </a:lnTo>
                  <a:lnTo>
                    <a:pt x="6708591" y="282411"/>
                  </a:lnTo>
                  <a:lnTo>
                    <a:pt x="6740155" y="313975"/>
                  </a:lnTo>
                  <a:lnTo>
                    <a:pt x="6770318" y="346890"/>
                  </a:lnTo>
                  <a:lnTo>
                    <a:pt x="6799031" y="381109"/>
                  </a:lnTo>
                  <a:lnTo>
                    <a:pt x="6826246" y="416582"/>
                  </a:lnTo>
                  <a:lnTo>
                    <a:pt x="6851914" y="453260"/>
                  </a:lnTo>
                  <a:lnTo>
                    <a:pt x="6875986" y="491094"/>
                  </a:lnTo>
                  <a:lnTo>
                    <a:pt x="6898413" y="530036"/>
                  </a:lnTo>
                  <a:lnTo>
                    <a:pt x="6919146" y="570037"/>
                  </a:lnTo>
                  <a:lnTo>
                    <a:pt x="6938136" y="611047"/>
                  </a:lnTo>
                  <a:lnTo>
                    <a:pt x="6955335" y="653019"/>
                  </a:lnTo>
                  <a:lnTo>
                    <a:pt x="6970693" y="695903"/>
                  </a:lnTo>
                  <a:lnTo>
                    <a:pt x="6984162" y="739649"/>
                  </a:lnTo>
                  <a:lnTo>
                    <a:pt x="6995693" y="784211"/>
                  </a:lnTo>
                  <a:lnTo>
                    <a:pt x="7005237" y="829538"/>
                  </a:lnTo>
                  <a:lnTo>
                    <a:pt x="7012745" y="875581"/>
                  </a:lnTo>
                  <a:lnTo>
                    <a:pt x="7018169" y="922293"/>
                  </a:lnTo>
                  <a:lnTo>
                    <a:pt x="7021459" y="969623"/>
                  </a:lnTo>
                  <a:lnTo>
                    <a:pt x="7022566" y="1017524"/>
                  </a:lnTo>
                  <a:lnTo>
                    <a:pt x="7022566" y="5087747"/>
                  </a:lnTo>
                  <a:lnTo>
                    <a:pt x="7021459" y="5135646"/>
                  </a:lnTo>
                  <a:lnTo>
                    <a:pt x="7018169" y="5182976"/>
                  </a:lnTo>
                  <a:lnTo>
                    <a:pt x="7012745" y="5229687"/>
                  </a:lnTo>
                  <a:lnTo>
                    <a:pt x="7005237" y="5275730"/>
                  </a:lnTo>
                  <a:lnTo>
                    <a:pt x="6995693" y="5321057"/>
                  </a:lnTo>
                  <a:lnTo>
                    <a:pt x="6984162" y="5365618"/>
                  </a:lnTo>
                  <a:lnTo>
                    <a:pt x="6970693" y="5409365"/>
                  </a:lnTo>
                  <a:lnTo>
                    <a:pt x="6955335" y="5452249"/>
                  </a:lnTo>
                  <a:lnTo>
                    <a:pt x="6938136" y="5494221"/>
                  </a:lnTo>
                  <a:lnTo>
                    <a:pt x="6919146" y="5535233"/>
                  </a:lnTo>
                  <a:lnTo>
                    <a:pt x="6898413" y="5575234"/>
                  </a:lnTo>
                  <a:lnTo>
                    <a:pt x="6875986" y="5614177"/>
                  </a:lnTo>
                  <a:lnTo>
                    <a:pt x="6851914" y="5652012"/>
                  </a:lnTo>
                  <a:lnTo>
                    <a:pt x="6826246" y="5688692"/>
                  </a:lnTo>
                  <a:lnTo>
                    <a:pt x="6799031" y="5724166"/>
                  </a:lnTo>
                  <a:lnTo>
                    <a:pt x="6770318" y="5758385"/>
                  </a:lnTo>
                  <a:lnTo>
                    <a:pt x="6740155" y="5791302"/>
                  </a:lnTo>
                  <a:lnTo>
                    <a:pt x="6708591" y="5822868"/>
                  </a:lnTo>
                  <a:lnTo>
                    <a:pt x="6675675" y="5853032"/>
                  </a:lnTo>
                  <a:lnTo>
                    <a:pt x="6641457" y="5881747"/>
                  </a:lnTo>
                  <a:lnTo>
                    <a:pt x="6605984" y="5908964"/>
                  </a:lnTo>
                  <a:lnTo>
                    <a:pt x="6569306" y="5934633"/>
                  </a:lnTo>
                  <a:lnTo>
                    <a:pt x="6531471" y="5958706"/>
                  </a:lnTo>
                  <a:lnTo>
                    <a:pt x="6492529" y="5981134"/>
                  </a:lnTo>
                  <a:lnTo>
                    <a:pt x="6452529" y="6001868"/>
                  </a:lnTo>
                  <a:lnTo>
                    <a:pt x="6411518" y="6020860"/>
                  </a:lnTo>
                  <a:lnTo>
                    <a:pt x="6369547" y="6038060"/>
                  </a:lnTo>
                  <a:lnTo>
                    <a:pt x="6326663" y="6053419"/>
                  </a:lnTo>
                  <a:lnTo>
                    <a:pt x="6282916" y="6066889"/>
                  </a:lnTo>
                  <a:lnTo>
                    <a:pt x="6238355" y="6078421"/>
                  </a:lnTo>
                  <a:lnTo>
                    <a:pt x="6193028" y="6087966"/>
                  </a:lnTo>
                  <a:lnTo>
                    <a:pt x="6146984" y="6095474"/>
                  </a:lnTo>
                  <a:lnTo>
                    <a:pt x="6100273" y="6100898"/>
                  </a:lnTo>
                  <a:lnTo>
                    <a:pt x="6052943" y="6104188"/>
                  </a:lnTo>
                  <a:lnTo>
                    <a:pt x="6005042" y="6105296"/>
                  </a:lnTo>
                  <a:lnTo>
                    <a:pt x="1017587" y="6105296"/>
                  </a:lnTo>
                  <a:lnTo>
                    <a:pt x="969684" y="6104188"/>
                  </a:lnTo>
                  <a:lnTo>
                    <a:pt x="922352" y="6100898"/>
                  </a:lnTo>
                  <a:lnTo>
                    <a:pt x="875638" y="6095474"/>
                  </a:lnTo>
                  <a:lnTo>
                    <a:pt x="829592" y="6087966"/>
                  </a:lnTo>
                  <a:lnTo>
                    <a:pt x="784263" y="6078421"/>
                  </a:lnTo>
                  <a:lnTo>
                    <a:pt x="739699" y="6066889"/>
                  </a:lnTo>
                  <a:lnTo>
                    <a:pt x="695950" y="6053419"/>
                  </a:lnTo>
                  <a:lnTo>
                    <a:pt x="653064" y="6038060"/>
                  </a:lnTo>
                  <a:lnTo>
                    <a:pt x="611090" y="6020860"/>
                  </a:lnTo>
                  <a:lnTo>
                    <a:pt x="570077" y="6001868"/>
                  </a:lnTo>
                  <a:lnTo>
                    <a:pt x="530074" y="5981134"/>
                  </a:lnTo>
                  <a:lnTo>
                    <a:pt x="491129" y="5958706"/>
                  </a:lnTo>
                  <a:lnTo>
                    <a:pt x="453292" y="5934633"/>
                  </a:lnTo>
                  <a:lnTo>
                    <a:pt x="416612" y="5908964"/>
                  </a:lnTo>
                  <a:lnTo>
                    <a:pt x="381137" y="5881747"/>
                  </a:lnTo>
                  <a:lnTo>
                    <a:pt x="346916" y="5853032"/>
                  </a:lnTo>
                  <a:lnTo>
                    <a:pt x="313998" y="5822868"/>
                  </a:lnTo>
                  <a:lnTo>
                    <a:pt x="282432" y="5791302"/>
                  </a:lnTo>
                  <a:lnTo>
                    <a:pt x="252267" y="5758385"/>
                  </a:lnTo>
                  <a:lnTo>
                    <a:pt x="223551" y="5724166"/>
                  </a:lnTo>
                  <a:lnTo>
                    <a:pt x="196334" y="5688692"/>
                  </a:lnTo>
                  <a:lnTo>
                    <a:pt x="170664" y="5652012"/>
                  </a:lnTo>
                  <a:lnTo>
                    <a:pt x="146591" y="5614177"/>
                  </a:lnTo>
                  <a:lnTo>
                    <a:pt x="124162" y="5575234"/>
                  </a:lnTo>
                  <a:lnTo>
                    <a:pt x="103428" y="5535233"/>
                  </a:lnTo>
                  <a:lnTo>
                    <a:pt x="84436" y="5494221"/>
                  </a:lnTo>
                  <a:lnTo>
                    <a:pt x="67236" y="5452249"/>
                  </a:lnTo>
                  <a:lnTo>
                    <a:pt x="51877" y="5409365"/>
                  </a:lnTo>
                  <a:lnTo>
                    <a:pt x="38406" y="5365618"/>
                  </a:lnTo>
                  <a:lnTo>
                    <a:pt x="26875" y="5321057"/>
                  </a:lnTo>
                  <a:lnTo>
                    <a:pt x="17330" y="5275730"/>
                  </a:lnTo>
                  <a:lnTo>
                    <a:pt x="9821" y="5229687"/>
                  </a:lnTo>
                  <a:lnTo>
                    <a:pt x="4397" y="5182976"/>
                  </a:lnTo>
                  <a:lnTo>
                    <a:pt x="1107" y="5135646"/>
                  </a:lnTo>
                  <a:lnTo>
                    <a:pt x="0" y="5087747"/>
                  </a:lnTo>
                  <a:lnTo>
                    <a:pt x="0" y="1017524"/>
                  </a:lnTo>
                  <a:close/>
                </a:path>
              </a:pathLst>
            </a:custGeom>
            <a:ln w="12700">
              <a:solidFill>
                <a:srgbClr val="41709C"/>
              </a:solidFill>
            </a:ln>
          </p:spPr>
          <p:txBody>
            <a:bodyPr wrap="square" lIns="0" tIns="0" rIns="0" bIns="0" rtlCol="0"/>
            <a:lstStyle/>
            <a:p>
              <a:endParaRPr/>
            </a:p>
          </p:txBody>
        </p:sp>
        <p:sp>
          <p:nvSpPr>
            <p:cNvPr id="33" name="object 33"/>
            <p:cNvSpPr/>
            <p:nvPr/>
          </p:nvSpPr>
          <p:spPr>
            <a:xfrm>
              <a:off x="8334375" y="408050"/>
              <a:ext cx="3778250" cy="6105525"/>
            </a:xfrm>
            <a:custGeom>
              <a:avLst/>
              <a:gdLst/>
              <a:ahLst/>
              <a:cxnLst/>
              <a:rect l="l" t="t" r="r" b="b"/>
              <a:pathLst>
                <a:path w="3778250" h="6105525">
                  <a:moveTo>
                    <a:pt x="3148583" y="0"/>
                  </a:moveTo>
                  <a:lnTo>
                    <a:pt x="629666" y="0"/>
                  </a:lnTo>
                  <a:lnTo>
                    <a:pt x="582676" y="1726"/>
                  </a:lnTo>
                  <a:lnTo>
                    <a:pt x="536625" y="6824"/>
                  </a:lnTo>
                  <a:lnTo>
                    <a:pt x="491632" y="15173"/>
                  </a:lnTo>
                  <a:lnTo>
                    <a:pt x="447820" y="26651"/>
                  </a:lnTo>
                  <a:lnTo>
                    <a:pt x="405311" y="41136"/>
                  </a:lnTo>
                  <a:lnTo>
                    <a:pt x="364227" y="58506"/>
                  </a:lnTo>
                  <a:lnTo>
                    <a:pt x="324689" y="78641"/>
                  </a:lnTo>
                  <a:lnTo>
                    <a:pt x="286819" y="101418"/>
                  </a:lnTo>
                  <a:lnTo>
                    <a:pt x="250738" y="126716"/>
                  </a:lnTo>
                  <a:lnTo>
                    <a:pt x="216570" y="154413"/>
                  </a:lnTo>
                  <a:lnTo>
                    <a:pt x="184435" y="184388"/>
                  </a:lnTo>
                  <a:lnTo>
                    <a:pt x="154456" y="216519"/>
                  </a:lnTo>
                  <a:lnTo>
                    <a:pt x="126753" y="250684"/>
                  </a:lnTo>
                  <a:lnTo>
                    <a:pt x="101450" y="286762"/>
                  </a:lnTo>
                  <a:lnTo>
                    <a:pt x="78667" y="324632"/>
                  </a:lnTo>
                  <a:lnTo>
                    <a:pt x="58527" y="364172"/>
                  </a:lnTo>
                  <a:lnTo>
                    <a:pt x="41151" y="405259"/>
                  </a:lnTo>
                  <a:lnTo>
                    <a:pt x="26661" y="447774"/>
                  </a:lnTo>
                  <a:lnTo>
                    <a:pt x="15179" y="491593"/>
                  </a:lnTo>
                  <a:lnTo>
                    <a:pt x="6827" y="536596"/>
                  </a:lnTo>
                  <a:lnTo>
                    <a:pt x="1727" y="582661"/>
                  </a:lnTo>
                  <a:lnTo>
                    <a:pt x="0" y="629665"/>
                  </a:lnTo>
                  <a:lnTo>
                    <a:pt x="0" y="5475566"/>
                  </a:lnTo>
                  <a:lnTo>
                    <a:pt x="1727" y="5522564"/>
                  </a:lnTo>
                  <a:lnTo>
                    <a:pt x="6827" y="5568623"/>
                  </a:lnTo>
                  <a:lnTo>
                    <a:pt x="15179" y="5613623"/>
                  </a:lnTo>
                  <a:lnTo>
                    <a:pt x="26661" y="5657440"/>
                  </a:lnTo>
                  <a:lnTo>
                    <a:pt x="41151" y="5699955"/>
                  </a:lnTo>
                  <a:lnTo>
                    <a:pt x="58527" y="5741044"/>
                  </a:lnTo>
                  <a:lnTo>
                    <a:pt x="78667" y="5780587"/>
                  </a:lnTo>
                  <a:lnTo>
                    <a:pt x="101450" y="5818460"/>
                  </a:lnTo>
                  <a:lnTo>
                    <a:pt x="126753" y="5854544"/>
                  </a:lnTo>
                  <a:lnTo>
                    <a:pt x="154456" y="5888715"/>
                  </a:lnTo>
                  <a:lnTo>
                    <a:pt x="184435" y="5920852"/>
                  </a:lnTo>
                  <a:lnTo>
                    <a:pt x="216570" y="5950834"/>
                  </a:lnTo>
                  <a:lnTo>
                    <a:pt x="250738" y="5978538"/>
                  </a:lnTo>
                  <a:lnTo>
                    <a:pt x="286819" y="6003842"/>
                  </a:lnTo>
                  <a:lnTo>
                    <a:pt x="324689" y="6026626"/>
                  </a:lnTo>
                  <a:lnTo>
                    <a:pt x="364227" y="6046767"/>
                  </a:lnTo>
                  <a:lnTo>
                    <a:pt x="405311" y="6064144"/>
                  </a:lnTo>
                  <a:lnTo>
                    <a:pt x="447820" y="6078634"/>
                  </a:lnTo>
                  <a:lnTo>
                    <a:pt x="491632" y="6090116"/>
                  </a:lnTo>
                  <a:lnTo>
                    <a:pt x="536625" y="6098468"/>
                  </a:lnTo>
                  <a:lnTo>
                    <a:pt x="582676" y="6103569"/>
                  </a:lnTo>
                  <a:lnTo>
                    <a:pt x="629666" y="6105296"/>
                  </a:lnTo>
                  <a:lnTo>
                    <a:pt x="3148583" y="6105296"/>
                  </a:lnTo>
                  <a:lnTo>
                    <a:pt x="3195573" y="6103569"/>
                  </a:lnTo>
                  <a:lnTo>
                    <a:pt x="3241624" y="6098468"/>
                  </a:lnTo>
                  <a:lnTo>
                    <a:pt x="3286617" y="6090116"/>
                  </a:lnTo>
                  <a:lnTo>
                    <a:pt x="3330429" y="6078634"/>
                  </a:lnTo>
                  <a:lnTo>
                    <a:pt x="3372938" y="6064144"/>
                  </a:lnTo>
                  <a:lnTo>
                    <a:pt x="3414022" y="6046767"/>
                  </a:lnTo>
                  <a:lnTo>
                    <a:pt x="3453560" y="6026626"/>
                  </a:lnTo>
                  <a:lnTo>
                    <a:pt x="3491430" y="6003842"/>
                  </a:lnTo>
                  <a:lnTo>
                    <a:pt x="3527511" y="5978538"/>
                  </a:lnTo>
                  <a:lnTo>
                    <a:pt x="3561679" y="5950834"/>
                  </a:lnTo>
                  <a:lnTo>
                    <a:pt x="3593814" y="5920852"/>
                  </a:lnTo>
                  <a:lnTo>
                    <a:pt x="3623793" y="5888715"/>
                  </a:lnTo>
                  <a:lnTo>
                    <a:pt x="3651496" y="5854544"/>
                  </a:lnTo>
                  <a:lnTo>
                    <a:pt x="3676799" y="5818460"/>
                  </a:lnTo>
                  <a:lnTo>
                    <a:pt x="3699582" y="5780587"/>
                  </a:lnTo>
                  <a:lnTo>
                    <a:pt x="3719722" y="5741044"/>
                  </a:lnTo>
                  <a:lnTo>
                    <a:pt x="3737098" y="5699955"/>
                  </a:lnTo>
                  <a:lnTo>
                    <a:pt x="3751588" y="5657440"/>
                  </a:lnTo>
                  <a:lnTo>
                    <a:pt x="3763070" y="5613623"/>
                  </a:lnTo>
                  <a:lnTo>
                    <a:pt x="3771422" y="5568623"/>
                  </a:lnTo>
                  <a:lnTo>
                    <a:pt x="3776522" y="5522564"/>
                  </a:lnTo>
                  <a:lnTo>
                    <a:pt x="3778250" y="5475566"/>
                  </a:lnTo>
                  <a:lnTo>
                    <a:pt x="3778250" y="629665"/>
                  </a:lnTo>
                  <a:lnTo>
                    <a:pt x="3776522" y="582661"/>
                  </a:lnTo>
                  <a:lnTo>
                    <a:pt x="3771422" y="536596"/>
                  </a:lnTo>
                  <a:lnTo>
                    <a:pt x="3763070" y="491593"/>
                  </a:lnTo>
                  <a:lnTo>
                    <a:pt x="3751588" y="447774"/>
                  </a:lnTo>
                  <a:lnTo>
                    <a:pt x="3737098" y="405259"/>
                  </a:lnTo>
                  <a:lnTo>
                    <a:pt x="3719722" y="364172"/>
                  </a:lnTo>
                  <a:lnTo>
                    <a:pt x="3699582" y="324632"/>
                  </a:lnTo>
                  <a:lnTo>
                    <a:pt x="3676799" y="286762"/>
                  </a:lnTo>
                  <a:lnTo>
                    <a:pt x="3651496" y="250684"/>
                  </a:lnTo>
                  <a:lnTo>
                    <a:pt x="3623793" y="216519"/>
                  </a:lnTo>
                  <a:lnTo>
                    <a:pt x="3593814" y="184388"/>
                  </a:lnTo>
                  <a:lnTo>
                    <a:pt x="3561679" y="154413"/>
                  </a:lnTo>
                  <a:lnTo>
                    <a:pt x="3527511" y="126716"/>
                  </a:lnTo>
                  <a:lnTo>
                    <a:pt x="3491430" y="101418"/>
                  </a:lnTo>
                  <a:lnTo>
                    <a:pt x="3453560" y="78641"/>
                  </a:lnTo>
                  <a:lnTo>
                    <a:pt x="3414022" y="58506"/>
                  </a:lnTo>
                  <a:lnTo>
                    <a:pt x="3372938" y="41136"/>
                  </a:lnTo>
                  <a:lnTo>
                    <a:pt x="3330429" y="26651"/>
                  </a:lnTo>
                  <a:lnTo>
                    <a:pt x="3286617" y="15173"/>
                  </a:lnTo>
                  <a:lnTo>
                    <a:pt x="3241624" y="6824"/>
                  </a:lnTo>
                  <a:lnTo>
                    <a:pt x="3195573" y="1726"/>
                  </a:lnTo>
                  <a:lnTo>
                    <a:pt x="3148583" y="0"/>
                  </a:lnTo>
                  <a:close/>
                </a:path>
              </a:pathLst>
            </a:custGeom>
            <a:solidFill>
              <a:srgbClr val="E1EFD9"/>
            </a:solidFill>
          </p:spPr>
          <p:txBody>
            <a:bodyPr wrap="square" lIns="0" tIns="0" rIns="0" bIns="0" rtlCol="0"/>
            <a:lstStyle/>
            <a:p>
              <a:endParaRPr/>
            </a:p>
          </p:txBody>
        </p:sp>
        <p:sp>
          <p:nvSpPr>
            <p:cNvPr id="34" name="object 34"/>
            <p:cNvSpPr/>
            <p:nvPr/>
          </p:nvSpPr>
          <p:spPr>
            <a:xfrm>
              <a:off x="8334375" y="408050"/>
              <a:ext cx="3778250" cy="6105525"/>
            </a:xfrm>
            <a:custGeom>
              <a:avLst/>
              <a:gdLst/>
              <a:ahLst/>
              <a:cxnLst/>
              <a:rect l="l" t="t" r="r" b="b"/>
              <a:pathLst>
                <a:path w="3778250" h="6105525">
                  <a:moveTo>
                    <a:pt x="0" y="629665"/>
                  </a:moveTo>
                  <a:lnTo>
                    <a:pt x="1727" y="582661"/>
                  </a:lnTo>
                  <a:lnTo>
                    <a:pt x="6827" y="536596"/>
                  </a:lnTo>
                  <a:lnTo>
                    <a:pt x="15179" y="491593"/>
                  </a:lnTo>
                  <a:lnTo>
                    <a:pt x="26661" y="447774"/>
                  </a:lnTo>
                  <a:lnTo>
                    <a:pt x="41151" y="405259"/>
                  </a:lnTo>
                  <a:lnTo>
                    <a:pt x="58527" y="364172"/>
                  </a:lnTo>
                  <a:lnTo>
                    <a:pt x="78667" y="324632"/>
                  </a:lnTo>
                  <a:lnTo>
                    <a:pt x="101450" y="286762"/>
                  </a:lnTo>
                  <a:lnTo>
                    <a:pt x="126753" y="250684"/>
                  </a:lnTo>
                  <a:lnTo>
                    <a:pt x="154456" y="216519"/>
                  </a:lnTo>
                  <a:lnTo>
                    <a:pt x="184435" y="184388"/>
                  </a:lnTo>
                  <a:lnTo>
                    <a:pt x="216570" y="154413"/>
                  </a:lnTo>
                  <a:lnTo>
                    <a:pt x="250738" y="126716"/>
                  </a:lnTo>
                  <a:lnTo>
                    <a:pt x="286819" y="101418"/>
                  </a:lnTo>
                  <a:lnTo>
                    <a:pt x="324689" y="78641"/>
                  </a:lnTo>
                  <a:lnTo>
                    <a:pt x="364227" y="58506"/>
                  </a:lnTo>
                  <a:lnTo>
                    <a:pt x="405311" y="41136"/>
                  </a:lnTo>
                  <a:lnTo>
                    <a:pt x="447820" y="26651"/>
                  </a:lnTo>
                  <a:lnTo>
                    <a:pt x="491632" y="15173"/>
                  </a:lnTo>
                  <a:lnTo>
                    <a:pt x="536625" y="6824"/>
                  </a:lnTo>
                  <a:lnTo>
                    <a:pt x="582676" y="1726"/>
                  </a:lnTo>
                  <a:lnTo>
                    <a:pt x="629666" y="0"/>
                  </a:lnTo>
                  <a:lnTo>
                    <a:pt x="3148583" y="0"/>
                  </a:lnTo>
                  <a:lnTo>
                    <a:pt x="3195573" y="1726"/>
                  </a:lnTo>
                  <a:lnTo>
                    <a:pt x="3241624" y="6824"/>
                  </a:lnTo>
                  <a:lnTo>
                    <a:pt x="3286617" y="15173"/>
                  </a:lnTo>
                  <a:lnTo>
                    <a:pt x="3330429" y="26651"/>
                  </a:lnTo>
                  <a:lnTo>
                    <a:pt x="3372938" y="41136"/>
                  </a:lnTo>
                  <a:lnTo>
                    <a:pt x="3414022" y="58506"/>
                  </a:lnTo>
                  <a:lnTo>
                    <a:pt x="3453560" y="78641"/>
                  </a:lnTo>
                  <a:lnTo>
                    <a:pt x="3491430" y="101418"/>
                  </a:lnTo>
                  <a:lnTo>
                    <a:pt x="3527511" y="126716"/>
                  </a:lnTo>
                  <a:lnTo>
                    <a:pt x="3561679" y="154413"/>
                  </a:lnTo>
                  <a:lnTo>
                    <a:pt x="3593814" y="184388"/>
                  </a:lnTo>
                  <a:lnTo>
                    <a:pt x="3623793" y="216519"/>
                  </a:lnTo>
                  <a:lnTo>
                    <a:pt x="3651496" y="250684"/>
                  </a:lnTo>
                  <a:lnTo>
                    <a:pt x="3676799" y="286762"/>
                  </a:lnTo>
                  <a:lnTo>
                    <a:pt x="3699582" y="324632"/>
                  </a:lnTo>
                  <a:lnTo>
                    <a:pt x="3719722" y="364172"/>
                  </a:lnTo>
                  <a:lnTo>
                    <a:pt x="3737098" y="405259"/>
                  </a:lnTo>
                  <a:lnTo>
                    <a:pt x="3751588" y="447774"/>
                  </a:lnTo>
                  <a:lnTo>
                    <a:pt x="3763070" y="491593"/>
                  </a:lnTo>
                  <a:lnTo>
                    <a:pt x="3771422" y="536596"/>
                  </a:lnTo>
                  <a:lnTo>
                    <a:pt x="3776522" y="582661"/>
                  </a:lnTo>
                  <a:lnTo>
                    <a:pt x="3778250" y="629665"/>
                  </a:lnTo>
                  <a:lnTo>
                    <a:pt x="3778250" y="5475566"/>
                  </a:lnTo>
                  <a:lnTo>
                    <a:pt x="3776522" y="5522564"/>
                  </a:lnTo>
                  <a:lnTo>
                    <a:pt x="3771422" y="5568623"/>
                  </a:lnTo>
                  <a:lnTo>
                    <a:pt x="3763070" y="5613623"/>
                  </a:lnTo>
                  <a:lnTo>
                    <a:pt x="3751588" y="5657440"/>
                  </a:lnTo>
                  <a:lnTo>
                    <a:pt x="3737098" y="5699955"/>
                  </a:lnTo>
                  <a:lnTo>
                    <a:pt x="3719722" y="5741044"/>
                  </a:lnTo>
                  <a:lnTo>
                    <a:pt x="3699582" y="5780587"/>
                  </a:lnTo>
                  <a:lnTo>
                    <a:pt x="3676799" y="5818460"/>
                  </a:lnTo>
                  <a:lnTo>
                    <a:pt x="3651496" y="5854544"/>
                  </a:lnTo>
                  <a:lnTo>
                    <a:pt x="3623793" y="5888715"/>
                  </a:lnTo>
                  <a:lnTo>
                    <a:pt x="3593814" y="5920852"/>
                  </a:lnTo>
                  <a:lnTo>
                    <a:pt x="3561679" y="5950834"/>
                  </a:lnTo>
                  <a:lnTo>
                    <a:pt x="3527511" y="5978538"/>
                  </a:lnTo>
                  <a:lnTo>
                    <a:pt x="3491430" y="6003842"/>
                  </a:lnTo>
                  <a:lnTo>
                    <a:pt x="3453560" y="6026626"/>
                  </a:lnTo>
                  <a:lnTo>
                    <a:pt x="3414022" y="6046767"/>
                  </a:lnTo>
                  <a:lnTo>
                    <a:pt x="3372938" y="6064144"/>
                  </a:lnTo>
                  <a:lnTo>
                    <a:pt x="3330429" y="6078634"/>
                  </a:lnTo>
                  <a:lnTo>
                    <a:pt x="3286617" y="6090116"/>
                  </a:lnTo>
                  <a:lnTo>
                    <a:pt x="3241624" y="6098468"/>
                  </a:lnTo>
                  <a:lnTo>
                    <a:pt x="3195573" y="6103569"/>
                  </a:lnTo>
                  <a:lnTo>
                    <a:pt x="3148583" y="6105296"/>
                  </a:lnTo>
                  <a:lnTo>
                    <a:pt x="629666" y="6105296"/>
                  </a:lnTo>
                  <a:lnTo>
                    <a:pt x="582676" y="6103569"/>
                  </a:lnTo>
                  <a:lnTo>
                    <a:pt x="536625" y="6098468"/>
                  </a:lnTo>
                  <a:lnTo>
                    <a:pt x="491632" y="6090116"/>
                  </a:lnTo>
                  <a:lnTo>
                    <a:pt x="447820" y="6078634"/>
                  </a:lnTo>
                  <a:lnTo>
                    <a:pt x="405311" y="6064144"/>
                  </a:lnTo>
                  <a:lnTo>
                    <a:pt x="364227" y="6046767"/>
                  </a:lnTo>
                  <a:lnTo>
                    <a:pt x="324689" y="6026626"/>
                  </a:lnTo>
                  <a:lnTo>
                    <a:pt x="286819" y="6003842"/>
                  </a:lnTo>
                  <a:lnTo>
                    <a:pt x="250738" y="5978538"/>
                  </a:lnTo>
                  <a:lnTo>
                    <a:pt x="216570" y="5950834"/>
                  </a:lnTo>
                  <a:lnTo>
                    <a:pt x="184435" y="5920852"/>
                  </a:lnTo>
                  <a:lnTo>
                    <a:pt x="154456" y="5888715"/>
                  </a:lnTo>
                  <a:lnTo>
                    <a:pt x="126753" y="5854544"/>
                  </a:lnTo>
                  <a:lnTo>
                    <a:pt x="101450" y="5818460"/>
                  </a:lnTo>
                  <a:lnTo>
                    <a:pt x="78667" y="5780587"/>
                  </a:lnTo>
                  <a:lnTo>
                    <a:pt x="58527" y="5741044"/>
                  </a:lnTo>
                  <a:lnTo>
                    <a:pt x="41151" y="5699955"/>
                  </a:lnTo>
                  <a:lnTo>
                    <a:pt x="26661" y="5657440"/>
                  </a:lnTo>
                  <a:lnTo>
                    <a:pt x="15179" y="5613623"/>
                  </a:lnTo>
                  <a:lnTo>
                    <a:pt x="6827" y="5568623"/>
                  </a:lnTo>
                  <a:lnTo>
                    <a:pt x="1727" y="5522564"/>
                  </a:lnTo>
                  <a:lnTo>
                    <a:pt x="0" y="5475566"/>
                  </a:lnTo>
                  <a:lnTo>
                    <a:pt x="0" y="629665"/>
                  </a:lnTo>
                  <a:close/>
                </a:path>
              </a:pathLst>
            </a:custGeom>
            <a:ln w="12700">
              <a:solidFill>
                <a:srgbClr val="41709C"/>
              </a:solidFill>
            </a:ln>
          </p:spPr>
          <p:txBody>
            <a:bodyPr wrap="square" lIns="0" tIns="0" rIns="0" bIns="0" rtlCol="0"/>
            <a:lstStyle/>
            <a:p>
              <a:endParaRPr/>
            </a:p>
          </p:txBody>
        </p:sp>
        <p:sp>
          <p:nvSpPr>
            <p:cNvPr id="35" name="object 35"/>
            <p:cNvSpPr/>
            <p:nvPr/>
          </p:nvSpPr>
          <p:spPr>
            <a:xfrm>
              <a:off x="8969120" y="4608448"/>
              <a:ext cx="2509520" cy="217804"/>
            </a:xfrm>
            <a:custGeom>
              <a:avLst/>
              <a:gdLst/>
              <a:ahLst/>
              <a:cxnLst/>
              <a:rect l="l" t="t" r="r" b="b"/>
              <a:pathLst>
                <a:path w="2509520" h="217804">
                  <a:moveTo>
                    <a:pt x="1254759" y="0"/>
                  </a:moveTo>
                  <a:lnTo>
                    <a:pt x="1254759" y="108838"/>
                  </a:lnTo>
                  <a:lnTo>
                    <a:pt x="2509393" y="108838"/>
                  </a:lnTo>
                  <a:lnTo>
                    <a:pt x="2509393" y="217805"/>
                  </a:lnTo>
                </a:path>
                <a:path w="2509520" h="217804">
                  <a:moveTo>
                    <a:pt x="1254759" y="0"/>
                  </a:moveTo>
                  <a:lnTo>
                    <a:pt x="1254759" y="217805"/>
                  </a:lnTo>
                </a:path>
                <a:path w="2509520" h="217804">
                  <a:moveTo>
                    <a:pt x="1254759" y="0"/>
                  </a:moveTo>
                  <a:lnTo>
                    <a:pt x="1254759" y="108838"/>
                  </a:lnTo>
                  <a:lnTo>
                    <a:pt x="0" y="108838"/>
                  </a:lnTo>
                  <a:lnTo>
                    <a:pt x="0" y="217805"/>
                  </a:lnTo>
                </a:path>
              </a:pathLst>
            </a:custGeom>
            <a:ln w="12700">
              <a:solidFill>
                <a:srgbClr val="6FAC46"/>
              </a:solidFill>
            </a:ln>
          </p:spPr>
          <p:txBody>
            <a:bodyPr wrap="square" lIns="0" tIns="0" rIns="0" bIns="0" rtlCol="0"/>
            <a:lstStyle/>
            <a:p>
              <a:endParaRPr/>
            </a:p>
          </p:txBody>
        </p:sp>
        <p:sp>
          <p:nvSpPr>
            <p:cNvPr id="36" name="object 36"/>
            <p:cNvSpPr/>
            <p:nvPr/>
          </p:nvSpPr>
          <p:spPr>
            <a:xfrm>
              <a:off x="9705340" y="4089984"/>
              <a:ext cx="1036955" cy="518795"/>
            </a:xfrm>
            <a:custGeom>
              <a:avLst/>
              <a:gdLst/>
              <a:ahLst/>
              <a:cxnLst/>
              <a:rect l="l" t="t" r="r" b="b"/>
              <a:pathLst>
                <a:path w="1036954" h="518795">
                  <a:moveTo>
                    <a:pt x="1036929" y="0"/>
                  </a:moveTo>
                  <a:lnTo>
                    <a:pt x="0" y="0"/>
                  </a:lnTo>
                  <a:lnTo>
                    <a:pt x="0" y="518464"/>
                  </a:lnTo>
                  <a:lnTo>
                    <a:pt x="1036929" y="518464"/>
                  </a:lnTo>
                  <a:lnTo>
                    <a:pt x="1036929" y="0"/>
                  </a:lnTo>
                  <a:close/>
                </a:path>
              </a:pathLst>
            </a:custGeom>
            <a:solidFill>
              <a:srgbClr val="6FAC46"/>
            </a:solidFill>
          </p:spPr>
          <p:txBody>
            <a:bodyPr wrap="square" lIns="0" tIns="0" rIns="0" bIns="0" rtlCol="0"/>
            <a:lstStyle/>
            <a:p>
              <a:endParaRPr/>
            </a:p>
          </p:txBody>
        </p:sp>
      </p:grpSp>
      <p:sp>
        <p:nvSpPr>
          <p:cNvPr id="37" name="object 37"/>
          <p:cNvSpPr txBox="1"/>
          <p:nvPr/>
        </p:nvSpPr>
        <p:spPr>
          <a:xfrm>
            <a:off x="9705340" y="4089984"/>
            <a:ext cx="1036955" cy="518795"/>
          </a:xfrm>
          <a:prstGeom prst="rect">
            <a:avLst/>
          </a:prstGeom>
          <a:ln w="12700">
            <a:solidFill>
              <a:srgbClr val="FFFFFF"/>
            </a:solidFill>
          </a:ln>
        </p:spPr>
        <p:txBody>
          <a:bodyPr vert="horz" wrap="square" lIns="0" tIns="123189" rIns="0" bIns="0" rtlCol="0">
            <a:spAutoFit/>
          </a:bodyPr>
          <a:lstStyle/>
          <a:p>
            <a:pPr marL="1905" algn="ctr">
              <a:lnSpc>
                <a:spcPct val="100000"/>
              </a:lnSpc>
              <a:spcBef>
                <a:spcPts val="969"/>
              </a:spcBef>
            </a:pPr>
            <a:r>
              <a:rPr sz="1500" b="1" spc="-25" dirty="0">
                <a:latin typeface="Calibri"/>
                <a:cs typeface="Calibri"/>
              </a:rPr>
              <a:t>GST</a:t>
            </a:r>
            <a:endParaRPr sz="1500">
              <a:latin typeface="Calibri"/>
              <a:cs typeface="Calibri"/>
            </a:endParaRPr>
          </a:p>
        </p:txBody>
      </p:sp>
      <p:sp>
        <p:nvSpPr>
          <p:cNvPr id="38" name="object 38"/>
          <p:cNvSpPr/>
          <p:nvPr/>
        </p:nvSpPr>
        <p:spPr>
          <a:xfrm>
            <a:off x="8450706" y="4826203"/>
            <a:ext cx="1036955" cy="518795"/>
          </a:xfrm>
          <a:custGeom>
            <a:avLst/>
            <a:gdLst/>
            <a:ahLst/>
            <a:cxnLst/>
            <a:rect l="l" t="t" r="r" b="b"/>
            <a:pathLst>
              <a:path w="1036954" h="518795">
                <a:moveTo>
                  <a:pt x="1036929" y="0"/>
                </a:moveTo>
                <a:lnTo>
                  <a:pt x="0" y="0"/>
                </a:lnTo>
                <a:lnTo>
                  <a:pt x="0" y="518464"/>
                </a:lnTo>
                <a:lnTo>
                  <a:pt x="1036929" y="518464"/>
                </a:lnTo>
                <a:lnTo>
                  <a:pt x="1036929" y="0"/>
                </a:lnTo>
                <a:close/>
              </a:path>
            </a:pathLst>
          </a:custGeom>
          <a:solidFill>
            <a:srgbClr val="FFC000"/>
          </a:solidFill>
        </p:spPr>
        <p:txBody>
          <a:bodyPr wrap="square" lIns="0" tIns="0" rIns="0" bIns="0" rtlCol="0"/>
          <a:lstStyle/>
          <a:p>
            <a:endParaRPr/>
          </a:p>
        </p:txBody>
      </p:sp>
      <p:sp>
        <p:nvSpPr>
          <p:cNvPr id="39" name="object 39"/>
          <p:cNvSpPr txBox="1"/>
          <p:nvPr/>
        </p:nvSpPr>
        <p:spPr>
          <a:xfrm>
            <a:off x="8450706" y="4826203"/>
            <a:ext cx="1036955" cy="518795"/>
          </a:xfrm>
          <a:prstGeom prst="rect">
            <a:avLst/>
          </a:prstGeom>
          <a:ln w="12700">
            <a:solidFill>
              <a:srgbClr val="FFFFFF"/>
            </a:solidFill>
          </a:ln>
        </p:spPr>
        <p:txBody>
          <a:bodyPr vert="horz" wrap="square" lIns="0" tIns="123825" rIns="0" bIns="0" rtlCol="0">
            <a:spAutoFit/>
          </a:bodyPr>
          <a:lstStyle/>
          <a:p>
            <a:pPr marL="316865">
              <a:lnSpc>
                <a:spcPct val="100000"/>
              </a:lnSpc>
              <a:spcBef>
                <a:spcPts val="975"/>
              </a:spcBef>
            </a:pPr>
            <a:r>
              <a:rPr sz="1500" b="1" spc="-20" dirty="0">
                <a:latin typeface="Calibri"/>
                <a:cs typeface="Calibri"/>
              </a:rPr>
              <a:t>CGST</a:t>
            </a:r>
            <a:endParaRPr sz="1500">
              <a:latin typeface="Calibri"/>
              <a:cs typeface="Calibri"/>
            </a:endParaRPr>
          </a:p>
        </p:txBody>
      </p:sp>
      <p:sp>
        <p:nvSpPr>
          <p:cNvPr id="40" name="object 40"/>
          <p:cNvSpPr/>
          <p:nvPr/>
        </p:nvSpPr>
        <p:spPr>
          <a:xfrm>
            <a:off x="9705340" y="4826203"/>
            <a:ext cx="1036955" cy="518795"/>
          </a:xfrm>
          <a:custGeom>
            <a:avLst/>
            <a:gdLst/>
            <a:ahLst/>
            <a:cxnLst/>
            <a:rect l="l" t="t" r="r" b="b"/>
            <a:pathLst>
              <a:path w="1036954" h="518795">
                <a:moveTo>
                  <a:pt x="1036929" y="0"/>
                </a:moveTo>
                <a:lnTo>
                  <a:pt x="0" y="0"/>
                </a:lnTo>
                <a:lnTo>
                  <a:pt x="0" y="518464"/>
                </a:lnTo>
                <a:lnTo>
                  <a:pt x="1036929" y="518464"/>
                </a:lnTo>
                <a:lnTo>
                  <a:pt x="1036929" y="0"/>
                </a:lnTo>
                <a:close/>
              </a:path>
            </a:pathLst>
          </a:custGeom>
          <a:solidFill>
            <a:srgbClr val="EC7C30"/>
          </a:solidFill>
        </p:spPr>
        <p:txBody>
          <a:bodyPr wrap="square" lIns="0" tIns="0" rIns="0" bIns="0" rtlCol="0"/>
          <a:lstStyle/>
          <a:p>
            <a:endParaRPr/>
          </a:p>
        </p:txBody>
      </p:sp>
      <p:sp>
        <p:nvSpPr>
          <p:cNvPr id="41" name="object 41"/>
          <p:cNvSpPr txBox="1"/>
          <p:nvPr/>
        </p:nvSpPr>
        <p:spPr>
          <a:xfrm>
            <a:off x="9705340" y="4826203"/>
            <a:ext cx="1036955" cy="518795"/>
          </a:xfrm>
          <a:prstGeom prst="rect">
            <a:avLst/>
          </a:prstGeom>
          <a:ln w="12700">
            <a:solidFill>
              <a:srgbClr val="FFFFFF"/>
            </a:solidFill>
          </a:ln>
        </p:spPr>
        <p:txBody>
          <a:bodyPr vert="horz" wrap="square" lIns="0" tIns="123825" rIns="0" bIns="0" rtlCol="0">
            <a:spAutoFit/>
          </a:bodyPr>
          <a:lstStyle/>
          <a:p>
            <a:pPr marL="25400">
              <a:lnSpc>
                <a:spcPct val="100000"/>
              </a:lnSpc>
              <a:spcBef>
                <a:spcPts val="975"/>
              </a:spcBef>
            </a:pPr>
            <a:r>
              <a:rPr sz="1500" b="1" spc="-10" dirty="0">
                <a:latin typeface="Calibri"/>
                <a:cs typeface="Calibri"/>
              </a:rPr>
              <a:t>SGST/UTGST</a:t>
            </a:r>
            <a:endParaRPr sz="1500">
              <a:latin typeface="Calibri"/>
              <a:cs typeface="Calibri"/>
            </a:endParaRPr>
          </a:p>
        </p:txBody>
      </p:sp>
      <p:sp>
        <p:nvSpPr>
          <p:cNvPr id="42" name="object 42"/>
          <p:cNvSpPr/>
          <p:nvPr/>
        </p:nvSpPr>
        <p:spPr>
          <a:xfrm>
            <a:off x="10960100" y="4826203"/>
            <a:ext cx="1036955" cy="518795"/>
          </a:xfrm>
          <a:custGeom>
            <a:avLst/>
            <a:gdLst/>
            <a:ahLst/>
            <a:cxnLst/>
            <a:rect l="l" t="t" r="r" b="b"/>
            <a:pathLst>
              <a:path w="1036954" h="518795">
                <a:moveTo>
                  <a:pt x="1036929" y="0"/>
                </a:moveTo>
                <a:lnTo>
                  <a:pt x="0" y="0"/>
                </a:lnTo>
                <a:lnTo>
                  <a:pt x="0" y="518464"/>
                </a:lnTo>
                <a:lnTo>
                  <a:pt x="1036929" y="518464"/>
                </a:lnTo>
                <a:lnTo>
                  <a:pt x="1036929" y="0"/>
                </a:lnTo>
                <a:close/>
              </a:path>
            </a:pathLst>
          </a:custGeom>
          <a:solidFill>
            <a:srgbClr val="4471C4"/>
          </a:solidFill>
        </p:spPr>
        <p:txBody>
          <a:bodyPr wrap="square" lIns="0" tIns="0" rIns="0" bIns="0" rtlCol="0"/>
          <a:lstStyle/>
          <a:p>
            <a:endParaRPr/>
          </a:p>
        </p:txBody>
      </p:sp>
      <p:sp>
        <p:nvSpPr>
          <p:cNvPr id="43" name="object 43"/>
          <p:cNvSpPr txBox="1"/>
          <p:nvPr/>
        </p:nvSpPr>
        <p:spPr>
          <a:xfrm>
            <a:off x="10960100" y="4826203"/>
            <a:ext cx="1036955" cy="518795"/>
          </a:xfrm>
          <a:prstGeom prst="rect">
            <a:avLst/>
          </a:prstGeom>
          <a:ln w="12700">
            <a:solidFill>
              <a:srgbClr val="FFFFFF"/>
            </a:solidFill>
          </a:ln>
        </p:spPr>
        <p:txBody>
          <a:bodyPr vert="horz" wrap="square" lIns="0" tIns="123825" rIns="0" bIns="0" rtlCol="0">
            <a:spAutoFit/>
          </a:bodyPr>
          <a:lstStyle/>
          <a:p>
            <a:pPr marL="340995">
              <a:lnSpc>
                <a:spcPct val="100000"/>
              </a:lnSpc>
              <a:spcBef>
                <a:spcPts val="975"/>
              </a:spcBef>
            </a:pPr>
            <a:r>
              <a:rPr sz="1500" b="1" spc="-20" dirty="0">
                <a:latin typeface="Calibri"/>
                <a:cs typeface="Calibri"/>
              </a:rPr>
              <a:t>IGST</a:t>
            </a:r>
            <a:endParaRPr sz="1500">
              <a:latin typeface="Calibri"/>
              <a:cs typeface="Calibri"/>
            </a:endParaRPr>
          </a:p>
        </p:txBody>
      </p:sp>
      <p:grpSp>
        <p:nvGrpSpPr>
          <p:cNvPr id="44" name="object 44"/>
          <p:cNvGrpSpPr/>
          <p:nvPr/>
        </p:nvGrpSpPr>
        <p:grpSpPr>
          <a:xfrm>
            <a:off x="8704960" y="538226"/>
            <a:ext cx="2966720" cy="3008630"/>
            <a:chOff x="8704960" y="538226"/>
            <a:chExt cx="2966720" cy="3008630"/>
          </a:xfrm>
        </p:grpSpPr>
        <p:sp>
          <p:nvSpPr>
            <p:cNvPr id="45" name="object 45"/>
            <p:cNvSpPr/>
            <p:nvPr/>
          </p:nvSpPr>
          <p:spPr>
            <a:xfrm>
              <a:off x="8711310" y="544576"/>
              <a:ext cx="2954020" cy="2995930"/>
            </a:xfrm>
            <a:custGeom>
              <a:avLst/>
              <a:gdLst/>
              <a:ahLst/>
              <a:cxnLst/>
              <a:rect l="l" t="t" r="r" b="b"/>
              <a:pathLst>
                <a:path w="2954020" h="2995929">
                  <a:moveTo>
                    <a:pt x="1476756" y="0"/>
                  </a:moveTo>
                  <a:lnTo>
                    <a:pt x="1428961" y="769"/>
                  </a:lnTo>
                  <a:lnTo>
                    <a:pt x="1381546" y="3062"/>
                  </a:lnTo>
                  <a:lnTo>
                    <a:pt x="1334533" y="6856"/>
                  </a:lnTo>
                  <a:lnTo>
                    <a:pt x="1287945" y="12126"/>
                  </a:lnTo>
                  <a:lnTo>
                    <a:pt x="1241805" y="18851"/>
                  </a:lnTo>
                  <a:lnTo>
                    <a:pt x="1196136" y="27006"/>
                  </a:lnTo>
                  <a:lnTo>
                    <a:pt x="1150961" y="36568"/>
                  </a:lnTo>
                  <a:lnTo>
                    <a:pt x="1106302" y="47515"/>
                  </a:lnTo>
                  <a:lnTo>
                    <a:pt x="1062183" y="59822"/>
                  </a:lnTo>
                  <a:lnTo>
                    <a:pt x="1018627" y="73467"/>
                  </a:lnTo>
                  <a:lnTo>
                    <a:pt x="975655" y="88427"/>
                  </a:lnTo>
                  <a:lnTo>
                    <a:pt x="933293" y="104677"/>
                  </a:lnTo>
                  <a:lnTo>
                    <a:pt x="891561" y="122196"/>
                  </a:lnTo>
                  <a:lnTo>
                    <a:pt x="850484" y="140959"/>
                  </a:lnTo>
                  <a:lnTo>
                    <a:pt x="810084" y="160944"/>
                  </a:lnTo>
                  <a:lnTo>
                    <a:pt x="770384" y="182126"/>
                  </a:lnTo>
                  <a:lnTo>
                    <a:pt x="731407" y="204484"/>
                  </a:lnTo>
                  <a:lnTo>
                    <a:pt x="693175" y="227993"/>
                  </a:lnTo>
                  <a:lnTo>
                    <a:pt x="655713" y="252630"/>
                  </a:lnTo>
                  <a:lnTo>
                    <a:pt x="619042" y="278373"/>
                  </a:lnTo>
                  <a:lnTo>
                    <a:pt x="583186" y="305198"/>
                  </a:lnTo>
                  <a:lnTo>
                    <a:pt x="548168" y="333081"/>
                  </a:lnTo>
                  <a:lnTo>
                    <a:pt x="514010" y="361999"/>
                  </a:lnTo>
                  <a:lnTo>
                    <a:pt x="480735" y="391930"/>
                  </a:lnTo>
                  <a:lnTo>
                    <a:pt x="448367" y="422850"/>
                  </a:lnTo>
                  <a:lnTo>
                    <a:pt x="416928" y="454735"/>
                  </a:lnTo>
                  <a:lnTo>
                    <a:pt x="386441" y="487563"/>
                  </a:lnTo>
                  <a:lnTo>
                    <a:pt x="356929" y="521310"/>
                  </a:lnTo>
                  <a:lnTo>
                    <a:pt x="328415" y="555953"/>
                  </a:lnTo>
                  <a:lnTo>
                    <a:pt x="300923" y="591468"/>
                  </a:lnTo>
                  <a:lnTo>
                    <a:pt x="274474" y="627833"/>
                  </a:lnTo>
                  <a:lnTo>
                    <a:pt x="249091" y="665025"/>
                  </a:lnTo>
                  <a:lnTo>
                    <a:pt x="224799" y="703019"/>
                  </a:lnTo>
                  <a:lnTo>
                    <a:pt x="201619" y="741792"/>
                  </a:lnTo>
                  <a:lnTo>
                    <a:pt x="179575" y="781323"/>
                  </a:lnTo>
                  <a:lnTo>
                    <a:pt x="158689" y="821586"/>
                  </a:lnTo>
                  <a:lnTo>
                    <a:pt x="138984" y="862559"/>
                  </a:lnTo>
                  <a:lnTo>
                    <a:pt x="120484" y="904219"/>
                  </a:lnTo>
                  <a:lnTo>
                    <a:pt x="103211" y="946543"/>
                  </a:lnTo>
                  <a:lnTo>
                    <a:pt x="87188" y="989506"/>
                  </a:lnTo>
                  <a:lnTo>
                    <a:pt x="72438" y="1033087"/>
                  </a:lnTo>
                  <a:lnTo>
                    <a:pt x="58984" y="1077261"/>
                  </a:lnTo>
                  <a:lnTo>
                    <a:pt x="46849" y="1122006"/>
                  </a:lnTo>
                  <a:lnTo>
                    <a:pt x="36056" y="1167298"/>
                  </a:lnTo>
                  <a:lnTo>
                    <a:pt x="26627" y="1213114"/>
                  </a:lnTo>
                  <a:lnTo>
                    <a:pt x="18587" y="1259430"/>
                  </a:lnTo>
                  <a:lnTo>
                    <a:pt x="11956" y="1306225"/>
                  </a:lnTo>
                  <a:lnTo>
                    <a:pt x="6760" y="1353473"/>
                  </a:lnTo>
                  <a:lnTo>
                    <a:pt x="3019" y="1401152"/>
                  </a:lnTo>
                  <a:lnTo>
                    <a:pt x="758" y="1449239"/>
                  </a:lnTo>
                  <a:lnTo>
                    <a:pt x="0" y="1497711"/>
                  </a:lnTo>
                  <a:lnTo>
                    <a:pt x="758" y="1546189"/>
                  </a:lnTo>
                  <a:lnTo>
                    <a:pt x="3019" y="1594283"/>
                  </a:lnTo>
                  <a:lnTo>
                    <a:pt x="6760" y="1641969"/>
                  </a:lnTo>
                  <a:lnTo>
                    <a:pt x="11956" y="1689224"/>
                  </a:lnTo>
                  <a:lnTo>
                    <a:pt x="18587" y="1736024"/>
                  </a:lnTo>
                  <a:lnTo>
                    <a:pt x="26627" y="1782347"/>
                  </a:lnTo>
                  <a:lnTo>
                    <a:pt x="36056" y="1828169"/>
                  </a:lnTo>
                  <a:lnTo>
                    <a:pt x="46849" y="1873466"/>
                  </a:lnTo>
                  <a:lnTo>
                    <a:pt x="58984" y="1918216"/>
                  </a:lnTo>
                  <a:lnTo>
                    <a:pt x="72438" y="1962395"/>
                  </a:lnTo>
                  <a:lnTo>
                    <a:pt x="87188" y="2005980"/>
                  </a:lnTo>
                  <a:lnTo>
                    <a:pt x="103211" y="2048949"/>
                  </a:lnTo>
                  <a:lnTo>
                    <a:pt x="120484" y="2091276"/>
                  </a:lnTo>
                  <a:lnTo>
                    <a:pt x="138984" y="2132940"/>
                  </a:lnTo>
                  <a:lnTo>
                    <a:pt x="158689" y="2173917"/>
                  </a:lnTo>
                  <a:lnTo>
                    <a:pt x="179575" y="2214184"/>
                  </a:lnTo>
                  <a:lnTo>
                    <a:pt x="201619" y="2253718"/>
                  </a:lnTo>
                  <a:lnTo>
                    <a:pt x="224799" y="2292495"/>
                  </a:lnTo>
                  <a:lnTo>
                    <a:pt x="249091" y="2330492"/>
                  </a:lnTo>
                  <a:lnTo>
                    <a:pt x="274474" y="2367686"/>
                  </a:lnTo>
                  <a:lnTo>
                    <a:pt x="300923" y="2404054"/>
                  </a:lnTo>
                  <a:lnTo>
                    <a:pt x="328415" y="2439572"/>
                  </a:lnTo>
                  <a:lnTo>
                    <a:pt x="356929" y="2474217"/>
                  </a:lnTo>
                  <a:lnTo>
                    <a:pt x="386441" y="2507966"/>
                  </a:lnTo>
                  <a:lnTo>
                    <a:pt x="416928" y="2540796"/>
                  </a:lnTo>
                  <a:lnTo>
                    <a:pt x="448367" y="2572683"/>
                  </a:lnTo>
                  <a:lnTo>
                    <a:pt x="480735" y="2603605"/>
                  </a:lnTo>
                  <a:lnTo>
                    <a:pt x="514010" y="2633537"/>
                  </a:lnTo>
                  <a:lnTo>
                    <a:pt x="548168" y="2662457"/>
                  </a:lnTo>
                  <a:lnTo>
                    <a:pt x="583186" y="2690342"/>
                  </a:lnTo>
                  <a:lnTo>
                    <a:pt x="619042" y="2717167"/>
                  </a:lnTo>
                  <a:lnTo>
                    <a:pt x="655713" y="2742911"/>
                  </a:lnTo>
                  <a:lnTo>
                    <a:pt x="693175" y="2767550"/>
                  </a:lnTo>
                  <a:lnTo>
                    <a:pt x="731407" y="2791060"/>
                  </a:lnTo>
                  <a:lnTo>
                    <a:pt x="770384" y="2813418"/>
                  </a:lnTo>
                  <a:lnTo>
                    <a:pt x="810084" y="2834601"/>
                  </a:lnTo>
                  <a:lnTo>
                    <a:pt x="850484" y="2854586"/>
                  </a:lnTo>
                  <a:lnTo>
                    <a:pt x="891561" y="2873350"/>
                  </a:lnTo>
                  <a:lnTo>
                    <a:pt x="933293" y="2890869"/>
                  </a:lnTo>
                  <a:lnTo>
                    <a:pt x="975655" y="2907120"/>
                  </a:lnTo>
                  <a:lnTo>
                    <a:pt x="1018627" y="2922080"/>
                  </a:lnTo>
                  <a:lnTo>
                    <a:pt x="1062183" y="2935725"/>
                  </a:lnTo>
                  <a:lnTo>
                    <a:pt x="1106302" y="2948033"/>
                  </a:lnTo>
                  <a:lnTo>
                    <a:pt x="1150961" y="2958979"/>
                  </a:lnTo>
                  <a:lnTo>
                    <a:pt x="1196136" y="2968542"/>
                  </a:lnTo>
                  <a:lnTo>
                    <a:pt x="1241805" y="2976697"/>
                  </a:lnTo>
                  <a:lnTo>
                    <a:pt x="1287945" y="2983422"/>
                  </a:lnTo>
                  <a:lnTo>
                    <a:pt x="1334533" y="2988692"/>
                  </a:lnTo>
                  <a:lnTo>
                    <a:pt x="1381546" y="2992486"/>
                  </a:lnTo>
                  <a:lnTo>
                    <a:pt x="1428961" y="2994779"/>
                  </a:lnTo>
                  <a:lnTo>
                    <a:pt x="1476756" y="2995549"/>
                  </a:lnTo>
                  <a:lnTo>
                    <a:pt x="1524557" y="2994779"/>
                  </a:lnTo>
                  <a:lnTo>
                    <a:pt x="1571979" y="2992486"/>
                  </a:lnTo>
                  <a:lnTo>
                    <a:pt x="1618999" y="2988692"/>
                  </a:lnTo>
                  <a:lnTo>
                    <a:pt x="1665593" y="2983422"/>
                  </a:lnTo>
                  <a:lnTo>
                    <a:pt x="1711739" y="2976697"/>
                  </a:lnTo>
                  <a:lnTo>
                    <a:pt x="1757414" y="2968542"/>
                  </a:lnTo>
                  <a:lnTo>
                    <a:pt x="1802596" y="2958979"/>
                  </a:lnTo>
                  <a:lnTo>
                    <a:pt x="1847260" y="2948033"/>
                  </a:lnTo>
                  <a:lnTo>
                    <a:pt x="1891384" y="2935725"/>
                  </a:lnTo>
                  <a:lnTo>
                    <a:pt x="1934945" y="2922080"/>
                  </a:lnTo>
                  <a:lnTo>
                    <a:pt x="1977921" y="2907120"/>
                  </a:lnTo>
                  <a:lnTo>
                    <a:pt x="2020289" y="2890869"/>
                  </a:lnTo>
                  <a:lnTo>
                    <a:pt x="2062024" y="2873350"/>
                  </a:lnTo>
                  <a:lnTo>
                    <a:pt x="2103106" y="2854586"/>
                  </a:lnTo>
                  <a:lnTo>
                    <a:pt x="2143510" y="2834601"/>
                  </a:lnTo>
                  <a:lnTo>
                    <a:pt x="2183213" y="2813418"/>
                  </a:lnTo>
                  <a:lnTo>
                    <a:pt x="2222194" y="2791060"/>
                  </a:lnTo>
                  <a:lnTo>
                    <a:pt x="2260428" y="2767550"/>
                  </a:lnTo>
                  <a:lnTo>
                    <a:pt x="2297894" y="2742911"/>
                  </a:lnTo>
                  <a:lnTo>
                    <a:pt x="2334567" y="2717167"/>
                  </a:lnTo>
                  <a:lnTo>
                    <a:pt x="2370426" y="2690342"/>
                  </a:lnTo>
                  <a:lnTo>
                    <a:pt x="2405447" y="2662457"/>
                  </a:lnTo>
                  <a:lnTo>
                    <a:pt x="2439607" y="2633537"/>
                  </a:lnTo>
                  <a:lnTo>
                    <a:pt x="2472884" y="2603605"/>
                  </a:lnTo>
                  <a:lnTo>
                    <a:pt x="2505254" y="2572683"/>
                  </a:lnTo>
                  <a:lnTo>
                    <a:pt x="2536695" y="2540796"/>
                  </a:lnTo>
                  <a:lnTo>
                    <a:pt x="2567184" y="2507966"/>
                  </a:lnTo>
                  <a:lnTo>
                    <a:pt x="2596697" y="2474217"/>
                  </a:lnTo>
                  <a:lnTo>
                    <a:pt x="2625212" y="2439572"/>
                  </a:lnTo>
                  <a:lnTo>
                    <a:pt x="2652706" y="2404054"/>
                  </a:lnTo>
                  <a:lnTo>
                    <a:pt x="2679157" y="2367686"/>
                  </a:lnTo>
                  <a:lnTo>
                    <a:pt x="2704540" y="2330492"/>
                  </a:lnTo>
                  <a:lnTo>
                    <a:pt x="2728833" y="2292495"/>
                  </a:lnTo>
                  <a:lnTo>
                    <a:pt x="2752014" y="2253718"/>
                  </a:lnTo>
                  <a:lnTo>
                    <a:pt x="2774059" y="2214184"/>
                  </a:lnTo>
                  <a:lnTo>
                    <a:pt x="2794946" y="2173917"/>
                  </a:lnTo>
                  <a:lnTo>
                    <a:pt x="2814651" y="2132940"/>
                  </a:lnTo>
                  <a:lnTo>
                    <a:pt x="2833152" y="2091276"/>
                  </a:lnTo>
                  <a:lnTo>
                    <a:pt x="2850425" y="2048949"/>
                  </a:lnTo>
                  <a:lnTo>
                    <a:pt x="2866449" y="2005980"/>
                  </a:lnTo>
                  <a:lnTo>
                    <a:pt x="2881199" y="1962395"/>
                  </a:lnTo>
                  <a:lnTo>
                    <a:pt x="2894653" y="1918216"/>
                  </a:lnTo>
                  <a:lnTo>
                    <a:pt x="2906788" y="1873466"/>
                  </a:lnTo>
                  <a:lnTo>
                    <a:pt x="2917582" y="1828169"/>
                  </a:lnTo>
                  <a:lnTo>
                    <a:pt x="2927010" y="1782347"/>
                  </a:lnTo>
                  <a:lnTo>
                    <a:pt x="2935051" y="1736024"/>
                  </a:lnTo>
                  <a:lnTo>
                    <a:pt x="2941682" y="1689224"/>
                  </a:lnTo>
                  <a:lnTo>
                    <a:pt x="2946878" y="1641969"/>
                  </a:lnTo>
                  <a:lnTo>
                    <a:pt x="2950619" y="1594283"/>
                  </a:lnTo>
                  <a:lnTo>
                    <a:pt x="2952880" y="1546189"/>
                  </a:lnTo>
                  <a:lnTo>
                    <a:pt x="2953639" y="1497711"/>
                  </a:lnTo>
                  <a:lnTo>
                    <a:pt x="2952880" y="1449239"/>
                  </a:lnTo>
                  <a:lnTo>
                    <a:pt x="2950619" y="1401152"/>
                  </a:lnTo>
                  <a:lnTo>
                    <a:pt x="2946878" y="1353473"/>
                  </a:lnTo>
                  <a:lnTo>
                    <a:pt x="2941682" y="1306225"/>
                  </a:lnTo>
                  <a:lnTo>
                    <a:pt x="2935051" y="1259430"/>
                  </a:lnTo>
                  <a:lnTo>
                    <a:pt x="2927010" y="1213114"/>
                  </a:lnTo>
                  <a:lnTo>
                    <a:pt x="2917582" y="1167298"/>
                  </a:lnTo>
                  <a:lnTo>
                    <a:pt x="2906788" y="1122006"/>
                  </a:lnTo>
                  <a:lnTo>
                    <a:pt x="2894653" y="1077261"/>
                  </a:lnTo>
                  <a:lnTo>
                    <a:pt x="2881199" y="1033087"/>
                  </a:lnTo>
                  <a:lnTo>
                    <a:pt x="2866449" y="989506"/>
                  </a:lnTo>
                  <a:lnTo>
                    <a:pt x="2850425" y="946543"/>
                  </a:lnTo>
                  <a:lnTo>
                    <a:pt x="2833152" y="904219"/>
                  </a:lnTo>
                  <a:lnTo>
                    <a:pt x="2814651" y="862559"/>
                  </a:lnTo>
                  <a:lnTo>
                    <a:pt x="2794946" y="821586"/>
                  </a:lnTo>
                  <a:lnTo>
                    <a:pt x="2774059" y="781323"/>
                  </a:lnTo>
                  <a:lnTo>
                    <a:pt x="2752014" y="741792"/>
                  </a:lnTo>
                  <a:lnTo>
                    <a:pt x="2728833" y="703019"/>
                  </a:lnTo>
                  <a:lnTo>
                    <a:pt x="2704540" y="665025"/>
                  </a:lnTo>
                  <a:lnTo>
                    <a:pt x="2679157" y="627833"/>
                  </a:lnTo>
                  <a:lnTo>
                    <a:pt x="2652706" y="591468"/>
                  </a:lnTo>
                  <a:lnTo>
                    <a:pt x="2625212" y="555953"/>
                  </a:lnTo>
                  <a:lnTo>
                    <a:pt x="2596697" y="521310"/>
                  </a:lnTo>
                  <a:lnTo>
                    <a:pt x="2567184" y="487563"/>
                  </a:lnTo>
                  <a:lnTo>
                    <a:pt x="2536695" y="454735"/>
                  </a:lnTo>
                  <a:lnTo>
                    <a:pt x="2505254" y="422850"/>
                  </a:lnTo>
                  <a:lnTo>
                    <a:pt x="2472884" y="391930"/>
                  </a:lnTo>
                  <a:lnTo>
                    <a:pt x="2439607" y="361999"/>
                  </a:lnTo>
                  <a:lnTo>
                    <a:pt x="2405447" y="333081"/>
                  </a:lnTo>
                  <a:lnTo>
                    <a:pt x="2370426" y="305198"/>
                  </a:lnTo>
                  <a:lnTo>
                    <a:pt x="2334567" y="278373"/>
                  </a:lnTo>
                  <a:lnTo>
                    <a:pt x="2297894" y="252630"/>
                  </a:lnTo>
                  <a:lnTo>
                    <a:pt x="2260428" y="227993"/>
                  </a:lnTo>
                  <a:lnTo>
                    <a:pt x="2222194" y="204484"/>
                  </a:lnTo>
                  <a:lnTo>
                    <a:pt x="2183213" y="182126"/>
                  </a:lnTo>
                  <a:lnTo>
                    <a:pt x="2143510" y="160944"/>
                  </a:lnTo>
                  <a:lnTo>
                    <a:pt x="2103106" y="140959"/>
                  </a:lnTo>
                  <a:lnTo>
                    <a:pt x="2062024" y="122196"/>
                  </a:lnTo>
                  <a:lnTo>
                    <a:pt x="2020289" y="104677"/>
                  </a:lnTo>
                  <a:lnTo>
                    <a:pt x="1977921" y="88427"/>
                  </a:lnTo>
                  <a:lnTo>
                    <a:pt x="1934945" y="73467"/>
                  </a:lnTo>
                  <a:lnTo>
                    <a:pt x="1891384" y="59822"/>
                  </a:lnTo>
                  <a:lnTo>
                    <a:pt x="1847260" y="47515"/>
                  </a:lnTo>
                  <a:lnTo>
                    <a:pt x="1802596" y="36568"/>
                  </a:lnTo>
                  <a:lnTo>
                    <a:pt x="1757414" y="27006"/>
                  </a:lnTo>
                  <a:lnTo>
                    <a:pt x="1711739" y="18851"/>
                  </a:lnTo>
                  <a:lnTo>
                    <a:pt x="1665593" y="12126"/>
                  </a:lnTo>
                  <a:lnTo>
                    <a:pt x="1618999" y="6856"/>
                  </a:lnTo>
                  <a:lnTo>
                    <a:pt x="1571979" y="3062"/>
                  </a:lnTo>
                  <a:lnTo>
                    <a:pt x="1524557" y="769"/>
                  </a:lnTo>
                  <a:lnTo>
                    <a:pt x="1476756" y="0"/>
                  </a:lnTo>
                  <a:close/>
                </a:path>
              </a:pathLst>
            </a:custGeom>
            <a:solidFill>
              <a:srgbClr val="E012C7">
                <a:alpha val="47058"/>
              </a:srgbClr>
            </a:solidFill>
          </p:spPr>
          <p:txBody>
            <a:bodyPr wrap="square" lIns="0" tIns="0" rIns="0" bIns="0" rtlCol="0"/>
            <a:lstStyle/>
            <a:p>
              <a:endParaRPr/>
            </a:p>
          </p:txBody>
        </p:sp>
        <p:sp>
          <p:nvSpPr>
            <p:cNvPr id="46" name="object 46"/>
            <p:cNvSpPr/>
            <p:nvPr/>
          </p:nvSpPr>
          <p:spPr>
            <a:xfrm>
              <a:off x="8711310" y="544576"/>
              <a:ext cx="2954020" cy="2995930"/>
            </a:xfrm>
            <a:custGeom>
              <a:avLst/>
              <a:gdLst/>
              <a:ahLst/>
              <a:cxnLst/>
              <a:rect l="l" t="t" r="r" b="b"/>
              <a:pathLst>
                <a:path w="2954020" h="2995929">
                  <a:moveTo>
                    <a:pt x="0" y="1497711"/>
                  </a:moveTo>
                  <a:lnTo>
                    <a:pt x="758" y="1449239"/>
                  </a:lnTo>
                  <a:lnTo>
                    <a:pt x="3019" y="1401152"/>
                  </a:lnTo>
                  <a:lnTo>
                    <a:pt x="6760" y="1353473"/>
                  </a:lnTo>
                  <a:lnTo>
                    <a:pt x="11956" y="1306225"/>
                  </a:lnTo>
                  <a:lnTo>
                    <a:pt x="18587" y="1259430"/>
                  </a:lnTo>
                  <a:lnTo>
                    <a:pt x="26627" y="1213114"/>
                  </a:lnTo>
                  <a:lnTo>
                    <a:pt x="36056" y="1167298"/>
                  </a:lnTo>
                  <a:lnTo>
                    <a:pt x="46849" y="1122006"/>
                  </a:lnTo>
                  <a:lnTo>
                    <a:pt x="58984" y="1077261"/>
                  </a:lnTo>
                  <a:lnTo>
                    <a:pt x="72438" y="1033087"/>
                  </a:lnTo>
                  <a:lnTo>
                    <a:pt x="87188" y="989506"/>
                  </a:lnTo>
                  <a:lnTo>
                    <a:pt x="103211" y="946543"/>
                  </a:lnTo>
                  <a:lnTo>
                    <a:pt x="120484" y="904219"/>
                  </a:lnTo>
                  <a:lnTo>
                    <a:pt x="138984" y="862559"/>
                  </a:lnTo>
                  <a:lnTo>
                    <a:pt x="158689" y="821586"/>
                  </a:lnTo>
                  <a:lnTo>
                    <a:pt x="179575" y="781323"/>
                  </a:lnTo>
                  <a:lnTo>
                    <a:pt x="201619" y="741792"/>
                  </a:lnTo>
                  <a:lnTo>
                    <a:pt x="224799" y="703019"/>
                  </a:lnTo>
                  <a:lnTo>
                    <a:pt x="249091" y="665025"/>
                  </a:lnTo>
                  <a:lnTo>
                    <a:pt x="274474" y="627833"/>
                  </a:lnTo>
                  <a:lnTo>
                    <a:pt x="300923" y="591468"/>
                  </a:lnTo>
                  <a:lnTo>
                    <a:pt x="328415" y="555953"/>
                  </a:lnTo>
                  <a:lnTo>
                    <a:pt x="356929" y="521310"/>
                  </a:lnTo>
                  <a:lnTo>
                    <a:pt x="386441" y="487563"/>
                  </a:lnTo>
                  <a:lnTo>
                    <a:pt x="416928" y="454735"/>
                  </a:lnTo>
                  <a:lnTo>
                    <a:pt x="448367" y="422850"/>
                  </a:lnTo>
                  <a:lnTo>
                    <a:pt x="480735" y="391930"/>
                  </a:lnTo>
                  <a:lnTo>
                    <a:pt x="514010" y="361999"/>
                  </a:lnTo>
                  <a:lnTo>
                    <a:pt x="548168" y="333081"/>
                  </a:lnTo>
                  <a:lnTo>
                    <a:pt x="583186" y="305198"/>
                  </a:lnTo>
                  <a:lnTo>
                    <a:pt x="619042" y="278373"/>
                  </a:lnTo>
                  <a:lnTo>
                    <a:pt x="655713" y="252630"/>
                  </a:lnTo>
                  <a:lnTo>
                    <a:pt x="693175" y="227993"/>
                  </a:lnTo>
                  <a:lnTo>
                    <a:pt x="731407" y="204484"/>
                  </a:lnTo>
                  <a:lnTo>
                    <a:pt x="770384" y="182126"/>
                  </a:lnTo>
                  <a:lnTo>
                    <a:pt x="810084" y="160944"/>
                  </a:lnTo>
                  <a:lnTo>
                    <a:pt x="850484" y="140959"/>
                  </a:lnTo>
                  <a:lnTo>
                    <a:pt x="891561" y="122196"/>
                  </a:lnTo>
                  <a:lnTo>
                    <a:pt x="933293" y="104677"/>
                  </a:lnTo>
                  <a:lnTo>
                    <a:pt x="975655" y="88427"/>
                  </a:lnTo>
                  <a:lnTo>
                    <a:pt x="1018627" y="73467"/>
                  </a:lnTo>
                  <a:lnTo>
                    <a:pt x="1062183" y="59822"/>
                  </a:lnTo>
                  <a:lnTo>
                    <a:pt x="1106302" y="47515"/>
                  </a:lnTo>
                  <a:lnTo>
                    <a:pt x="1150961" y="36568"/>
                  </a:lnTo>
                  <a:lnTo>
                    <a:pt x="1196136" y="27006"/>
                  </a:lnTo>
                  <a:lnTo>
                    <a:pt x="1241805" y="18851"/>
                  </a:lnTo>
                  <a:lnTo>
                    <a:pt x="1287945" y="12126"/>
                  </a:lnTo>
                  <a:lnTo>
                    <a:pt x="1334533" y="6856"/>
                  </a:lnTo>
                  <a:lnTo>
                    <a:pt x="1381546" y="3062"/>
                  </a:lnTo>
                  <a:lnTo>
                    <a:pt x="1428961" y="769"/>
                  </a:lnTo>
                  <a:lnTo>
                    <a:pt x="1476756" y="0"/>
                  </a:lnTo>
                  <a:lnTo>
                    <a:pt x="1524557" y="769"/>
                  </a:lnTo>
                  <a:lnTo>
                    <a:pt x="1571979" y="3062"/>
                  </a:lnTo>
                  <a:lnTo>
                    <a:pt x="1618999" y="6856"/>
                  </a:lnTo>
                  <a:lnTo>
                    <a:pt x="1665593" y="12126"/>
                  </a:lnTo>
                  <a:lnTo>
                    <a:pt x="1711739" y="18851"/>
                  </a:lnTo>
                  <a:lnTo>
                    <a:pt x="1757414" y="27006"/>
                  </a:lnTo>
                  <a:lnTo>
                    <a:pt x="1802596" y="36568"/>
                  </a:lnTo>
                  <a:lnTo>
                    <a:pt x="1847260" y="47515"/>
                  </a:lnTo>
                  <a:lnTo>
                    <a:pt x="1891384" y="59822"/>
                  </a:lnTo>
                  <a:lnTo>
                    <a:pt x="1934945" y="73467"/>
                  </a:lnTo>
                  <a:lnTo>
                    <a:pt x="1977921" y="88427"/>
                  </a:lnTo>
                  <a:lnTo>
                    <a:pt x="2020289" y="104677"/>
                  </a:lnTo>
                  <a:lnTo>
                    <a:pt x="2062024" y="122196"/>
                  </a:lnTo>
                  <a:lnTo>
                    <a:pt x="2103106" y="140959"/>
                  </a:lnTo>
                  <a:lnTo>
                    <a:pt x="2143510" y="160944"/>
                  </a:lnTo>
                  <a:lnTo>
                    <a:pt x="2183213" y="182126"/>
                  </a:lnTo>
                  <a:lnTo>
                    <a:pt x="2222194" y="204484"/>
                  </a:lnTo>
                  <a:lnTo>
                    <a:pt x="2260428" y="227993"/>
                  </a:lnTo>
                  <a:lnTo>
                    <a:pt x="2297894" y="252630"/>
                  </a:lnTo>
                  <a:lnTo>
                    <a:pt x="2334567" y="278373"/>
                  </a:lnTo>
                  <a:lnTo>
                    <a:pt x="2370426" y="305198"/>
                  </a:lnTo>
                  <a:lnTo>
                    <a:pt x="2405447" y="333081"/>
                  </a:lnTo>
                  <a:lnTo>
                    <a:pt x="2439607" y="361999"/>
                  </a:lnTo>
                  <a:lnTo>
                    <a:pt x="2472884" y="391930"/>
                  </a:lnTo>
                  <a:lnTo>
                    <a:pt x="2505254" y="422850"/>
                  </a:lnTo>
                  <a:lnTo>
                    <a:pt x="2536695" y="454735"/>
                  </a:lnTo>
                  <a:lnTo>
                    <a:pt x="2567184" y="487563"/>
                  </a:lnTo>
                  <a:lnTo>
                    <a:pt x="2596697" y="521310"/>
                  </a:lnTo>
                  <a:lnTo>
                    <a:pt x="2625212" y="555953"/>
                  </a:lnTo>
                  <a:lnTo>
                    <a:pt x="2652706" y="591468"/>
                  </a:lnTo>
                  <a:lnTo>
                    <a:pt x="2679157" y="627833"/>
                  </a:lnTo>
                  <a:lnTo>
                    <a:pt x="2704540" y="665025"/>
                  </a:lnTo>
                  <a:lnTo>
                    <a:pt x="2728833" y="703019"/>
                  </a:lnTo>
                  <a:lnTo>
                    <a:pt x="2752014" y="741792"/>
                  </a:lnTo>
                  <a:lnTo>
                    <a:pt x="2774059" y="781323"/>
                  </a:lnTo>
                  <a:lnTo>
                    <a:pt x="2794946" y="821586"/>
                  </a:lnTo>
                  <a:lnTo>
                    <a:pt x="2814651" y="862559"/>
                  </a:lnTo>
                  <a:lnTo>
                    <a:pt x="2833152" y="904219"/>
                  </a:lnTo>
                  <a:lnTo>
                    <a:pt x="2850425" y="946543"/>
                  </a:lnTo>
                  <a:lnTo>
                    <a:pt x="2866449" y="989506"/>
                  </a:lnTo>
                  <a:lnTo>
                    <a:pt x="2881199" y="1033087"/>
                  </a:lnTo>
                  <a:lnTo>
                    <a:pt x="2894653" y="1077261"/>
                  </a:lnTo>
                  <a:lnTo>
                    <a:pt x="2906788" y="1122006"/>
                  </a:lnTo>
                  <a:lnTo>
                    <a:pt x="2917582" y="1167298"/>
                  </a:lnTo>
                  <a:lnTo>
                    <a:pt x="2927010" y="1213114"/>
                  </a:lnTo>
                  <a:lnTo>
                    <a:pt x="2935051" y="1259430"/>
                  </a:lnTo>
                  <a:lnTo>
                    <a:pt x="2941682" y="1306225"/>
                  </a:lnTo>
                  <a:lnTo>
                    <a:pt x="2946878" y="1353473"/>
                  </a:lnTo>
                  <a:lnTo>
                    <a:pt x="2950619" y="1401152"/>
                  </a:lnTo>
                  <a:lnTo>
                    <a:pt x="2952880" y="1449239"/>
                  </a:lnTo>
                  <a:lnTo>
                    <a:pt x="2953639" y="1497711"/>
                  </a:lnTo>
                  <a:lnTo>
                    <a:pt x="2952880" y="1546189"/>
                  </a:lnTo>
                  <a:lnTo>
                    <a:pt x="2950619" y="1594283"/>
                  </a:lnTo>
                  <a:lnTo>
                    <a:pt x="2946878" y="1641969"/>
                  </a:lnTo>
                  <a:lnTo>
                    <a:pt x="2941682" y="1689224"/>
                  </a:lnTo>
                  <a:lnTo>
                    <a:pt x="2935051" y="1736024"/>
                  </a:lnTo>
                  <a:lnTo>
                    <a:pt x="2927010" y="1782347"/>
                  </a:lnTo>
                  <a:lnTo>
                    <a:pt x="2917582" y="1828169"/>
                  </a:lnTo>
                  <a:lnTo>
                    <a:pt x="2906788" y="1873466"/>
                  </a:lnTo>
                  <a:lnTo>
                    <a:pt x="2894653" y="1918216"/>
                  </a:lnTo>
                  <a:lnTo>
                    <a:pt x="2881199" y="1962395"/>
                  </a:lnTo>
                  <a:lnTo>
                    <a:pt x="2866449" y="2005980"/>
                  </a:lnTo>
                  <a:lnTo>
                    <a:pt x="2850425" y="2048949"/>
                  </a:lnTo>
                  <a:lnTo>
                    <a:pt x="2833152" y="2091276"/>
                  </a:lnTo>
                  <a:lnTo>
                    <a:pt x="2814651" y="2132940"/>
                  </a:lnTo>
                  <a:lnTo>
                    <a:pt x="2794946" y="2173917"/>
                  </a:lnTo>
                  <a:lnTo>
                    <a:pt x="2774059" y="2214184"/>
                  </a:lnTo>
                  <a:lnTo>
                    <a:pt x="2752014" y="2253718"/>
                  </a:lnTo>
                  <a:lnTo>
                    <a:pt x="2728833" y="2292495"/>
                  </a:lnTo>
                  <a:lnTo>
                    <a:pt x="2704540" y="2330492"/>
                  </a:lnTo>
                  <a:lnTo>
                    <a:pt x="2679157" y="2367686"/>
                  </a:lnTo>
                  <a:lnTo>
                    <a:pt x="2652706" y="2404054"/>
                  </a:lnTo>
                  <a:lnTo>
                    <a:pt x="2625212" y="2439572"/>
                  </a:lnTo>
                  <a:lnTo>
                    <a:pt x="2596697" y="2474217"/>
                  </a:lnTo>
                  <a:lnTo>
                    <a:pt x="2567184" y="2507966"/>
                  </a:lnTo>
                  <a:lnTo>
                    <a:pt x="2536695" y="2540796"/>
                  </a:lnTo>
                  <a:lnTo>
                    <a:pt x="2505254" y="2572683"/>
                  </a:lnTo>
                  <a:lnTo>
                    <a:pt x="2472884" y="2603605"/>
                  </a:lnTo>
                  <a:lnTo>
                    <a:pt x="2439607" y="2633537"/>
                  </a:lnTo>
                  <a:lnTo>
                    <a:pt x="2405447" y="2662457"/>
                  </a:lnTo>
                  <a:lnTo>
                    <a:pt x="2370426" y="2690342"/>
                  </a:lnTo>
                  <a:lnTo>
                    <a:pt x="2334567" y="2717167"/>
                  </a:lnTo>
                  <a:lnTo>
                    <a:pt x="2297894" y="2742911"/>
                  </a:lnTo>
                  <a:lnTo>
                    <a:pt x="2260428" y="2767550"/>
                  </a:lnTo>
                  <a:lnTo>
                    <a:pt x="2222194" y="2791060"/>
                  </a:lnTo>
                  <a:lnTo>
                    <a:pt x="2183213" y="2813418"/>
                  </a:lnTo>
                  <a:lnTo>
                    <a:pt x="2143510" y="2834601"/>
                  </a:lnTo>
                  <a:lnTo>
                    <a:pt x="2103106" y="2854586"/>
                  </a:lnTo>
                  <a:lnTo>
                    <a:pt x="2062024" y="2873350"/>
                  </a:lnTo>
                  <a:lnTo>
                    <a:pt x="2020289" y="2890869"/>
                  </a:lnTo>
                  <a:lnTo>
                    <a:pt x="1977921" y="2907120"/>
                  </a:lnTo>
                  <a:lnTo>
                    <a:pt x="1934945" y="2922080"/>
                  </a:lnTo>
                  <a:lnTo>
                    <a:pt x="1891384" y="2935725"/>
                  </a:lnTo>
                  <a:lnTo>
                    <a:pt x="1847260" y="2948033"/>
                  </a:lnTo>
                  <a:lnTo>
                    <a:pt x="1802596" y="2958979"/>
                  </a:lnTo>
                  <a:lnTo>
                    <a:pt x="1757414" y="2968542"/>
                  </a:lnTo>
                  <a:lnTo>
                    <a:pt x="1711739" y="2976697"/>
                  </a:lnTo>
                  <a:lnTo>
                    <a:pt x="1665593" y="2983422"/>
                  </a:lnTo>
                  <a:lnTo>
                    <a:pt x="1618999" y="2988692"/>
                  </a:lnTo>
                  <a:lnTo>
                    <a:pt x="1571979" y="2992486"/>
                  </a:lnTo>
                  <a:lnTo>
                    <a:pt x="1524557" y="2994779"/>
                  </a:lnTo>
                  <a:lnTo>
                    <a:pt x="1476756" y="2995549"/>
                  </a:lnTo>
                  <a:lnTo>
                    <a:pt x="1428961" y="2994779"/>
                  </a:lnTo>
                  <a:lnTo>
                    <a:pt x="1381546" y="2992486"/>
                  </a:lnTo>
                  <a:lnTo>
                    <a:pt x="1334533" y="2988692"/>
                  </a:lnTo>
                  <a:lnTo>
                    <a:pt x="1287945" y="2983422"/>
                  </a:lnTo>
                  <a:lnTo>
                    <a:pt x="1241805" y="2976697"/>
                  </a:lnTo>
                  <a:lnTo>
                    <a:pt x="1196136" y="2968542"/>
                  </a:lnTo>
                  <a:lnTo>
                    <a:pt x="1150961" y="2958979"/>
                  </a:lnTo>
                  <a:lnTo>
                    <a:pt x="1106302" y="2948033"/>
                  </a:lnTo>
                  <a:lnTo>
                    <a:pt x="1062183" y="2935725"/>
                  </a:lnTo>
                  <a:lnTo>
                    <a:pt x="1018627" y="2922080"/>
                  </a:lnTo>
                  <a:lnTo>
                    <a:pt x="975655" y="2907120"/>
                  </a:lnTo>
                  <a:lnTo>
                    <a:pt x="933293" y="2890869"/>
                  </a:lnTo>
                  <a:lnTo>
                    <a:pt x="891561" y="2873350"/>
                  </a:lnTo>
                  <a:lnTo>
                    <a:pt x="850484" y="2854586"/>
                  </a:lnTo>
                  <a:lnTo>
                    <a:pt x="810084" y="2834601"/>
                  </a:lnTo>
                  <a:lnTo>
                    <a:pt x="770384" y="2813418"/>
                  </a:lnTo>
                  <a:lnTo>
                    <a:pt x="731407" y="2791060"/>
                  </a:lnTo>
                  <a:lnTo>
                    <a:pt x="693175" y="2767550"/>
                  </a:lnTo>
                  <a:lnTo>
                    <a:pt x="655713" y="2742911"/>
                  </a:lnTo>
                  <a:lnTo>
                    <a:pt x="619042" y="2717167"/>
                  </a:lnTo>
                  <a:lnTo>
                    <a:pt x="583186" y="2690342"/>
                  </a:lnTo>
                  <a:lnTo>
                    <a:pt x="548168" y="2662457"/>
                  </a:lnTo>
                  <a:lnTo>
                    <a:pt x="514010" y="2633537"/>
                  </a:lnTo>
                  <a:lnTo>
                    <a:pt x="480735" y="2603605"/>
                  </a:lnTo>
                  <a:lnTo>
                    <a:pt x="448367" y="2572683"/>
                  </a:lnTo>
                  <a:lnTo>
                    <a:pt x="416928" y="2540796"/>
                  </a:lnTo>
                  <a:lnTo>
                    <a:pt x="386441" y="2507966"/>
                  </a:lnTo>
                  <a:lnTo>
                    <a:pt x="356929" y="2474217"/>
                  </a:lnTo>
                  <a:lnTo>
                    <a:pt x="328415" y="2439572"/>
                  </a:lnTo>
                  <a:lnTo>
                    <a:pt x="300923" y="2404054"/>
                  </a:lnTo>
                  <a:lnTo>
                    <a:pt x="274474" y="2367686"/>
                  </a:lnTo>
                  <a:lnTo>
                    <a:pt x="249091" y="2330492"/>
                  </a:lnTo>
                  <a:lnTo>
                    <a:pt x="224799" y="2292495"/>
                  </a:lnTo>
                  <a:lnTo>
                    <a:pt x="201619" y="2253718"/>
                  </a:lnTo>
                  <a:lnTo>
                    <a:pt x="179575" y="2214184"/>
                  </a:lnTo>
                  <a:lnTo>
                    <a:pt x="158689" y="2173917"/>
                  </a:lnTo>
                  <a:lnTo>
                    <a:pt x="138984" y="2132940"/>
                  </a:lnTo>
                  <a:lnTo>
                    <a:pt x="120484" y="2091276"/>
                  </a:lnTo>
                  <a:lnTo>
                    <a:pt x="103211" y="2048949"/>
                  </a:lnTo>
                  <a:lnTo>
                    <a:pt x="87188" y="2005980"/>
                  </a:lnTo>
                  <a:lnTo>
                    <a:pt x="72438" y="1962395"/>
                  </a:lnTo>
                  <a:lnTo>
                    <a:pt x="58984" y="1918216"/>
                  </a:lnTo>
                  <a:lnTo>
                    <a:pt x="46849" y="1873466"/>
                  </a:lnTo>
                  <a:lnTo>
                    <a:pt x="36056" y="1828169"/>
                  </a:lnTo>
                  <a:lnTo>
                    <a:pt x="26627" y="1782347"/>
                  </a:lnTo>
                  <a:lnTo>
                    <a:pt x="18587" y="1736024"/>
                  </a:lnTo>
                  <a:lnTo>
                    <a:pt x="11956" y="1689224"/>
                  </a:lnTo>
                  <a:lnTo>
                    <a:pt x="6760" y="1641969"/>
                  </a:lnTo>
                  <a:lnTo>
                    <a:pt x="3019" y="1594283"/>
                  </a:lnTo>
                  <a:lnTo>
                    <a:pt x="758" y="1546189"/>
                  </a:lnTo>
                  <a:lnTo>
                    <a:pt x="0" y="1497711"/>
                  </a:lnTo>
                  <a:close/>
                </a:path>
              </a:pathLst>
            </a:custGeom>
            <a:ln w="12700">
              <a:solidFill>
                <a:srgbClr val="41709C"/>
              </a:solidFill>
            </a:ln>
          </p:spPr>
          <p:txBody>
            <a:bodyPr wrap="square" lIns="0" tIns="0" rIns="0" bIns="0" rtlCol="0"/>
            <a:lstStyle/>
            <a:p>
              <a:endParaRPr/>
            </a:p>
          </p:txBody>
        </p:sp>
      </p:grpSp>
      <p:sp>
        <p:nvSpPr>
          <p:cNvPr id="47" name="object 47"/>
          <p:cNvSpPr txBox="1"/>
          <p:nvPr/>
        </p:nvSpPr>
        <p:spPr>
          <a:xfrm>
            <a:off x="9493757" y="748029"/>
            <a:ext cx="1390015"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Calibri"/>
                <a:cs typeface="Calibri"/>
              </a:rPr>
              <a:t>Single</a:t>
            </a:r>
            <a:r>
              <a:rPr sz="1800" b="1" spc="-5" dirty="0">
                <a:latin typeface="Calibri"/>
                <a:cs typeface="Calibri"/>
              </a:rPr>
              <a:t> </a:t>
            </a:r>
            <a:r>
              <a:rPr sz="1800" b="1" spc="-45" dirty="0">
                <a:latin typeface="Calibri"/>
                <a:cs typeface="Calibri"/>
              </a:rPr>
              <a:t>Tax-</a:t>
            </a:r>
            <a:r>
              <a:rPr sz="1800" b="1" spc="-25" dirty="0">
                <a:latin typeface="Calibri"/>
                <a:cs typeface="Calibri"/>
              </a:rPr>
              <a:t>GST</a:t>
            </a:r>
            <a:endParaRPr sz="1800">
              <a:latin typeface="Calibri"/>
              <a:cs typeface="Calibri"/>
            </a:endParaRPr>
          </a:p>
        </p:txBody>
      </p:sp>
      <p:sp>
        <p:nvSpPr>
          <p:cNvPr id="48" name="object 48"/>
          <p:cNvSpPr txBox="1"/>
          <p:nvPr/>
        </p:nvSpPr>
        <p:spPr>
          <a:xfrm>
            <a:off x="9467850" y="1329054"/>
            <a:ext cx="1443355" cy="542290"/>
          </a:xfrm>
          <a:prstGeom prst="rect">
            <a:avLst/>
          </a:prstGeom>
        </p:spPr>
        <p:txBody>
          <a:bodyPr vert="horz" wrap="square" lIns="0" tIns="46990" rIns="0" bIns="0" rtlCol="0">
            <a:spAutoFit/>
          </a:bodyPr>
          <a:lstStyle/>
          <a:p>
            <a:pPr marL="12700" marR="5080" indent="243840">
              <a:lnSpc>
                <a:spcPts val="1910"/>
              </a:lnSpc>
              <a:spcBef>
                <a:spcPts val="370"/>
              </a:spcBef>
            </a:pPr>
            <a:r>
              <a:rPr sz="1800" b="1" dirty="0">
                <a:latin typeface="Calibri"/>
                <a:cs typeface="Calibri"/>
              </a:rPr>
              <a:t>Single</a:t>
            </a:r>
            <a:r>
              <a:rPr sz="1800" b="1" spc="-45" dirty="0">
                <a:latin typeface="Calibri"/>
                <a:cs typeface="Calibri"/>
              </a:rPr>
              <a:t> </a:t>
            </a:r>
            <a:r>
              <a:rPr sz="1800" b="1" spc="-25" dirty="0">
                <a:latin typeface="Calibri"/>
                <a:cs typeface="Calibri"/>
              </a:rPr>
              <a:t>Tax </a:t>
            </a:r>
            <a:r>
              <a:rPr sz="1800" b="1" spc="-10" dirty="0">
                <a:latin typeface="Calibri"/>
                <a:cs typeface="Calibri"/>
              </a:rPr>
              <a:t>Administration</a:t>
            </a:r>
            <a:endParaRPr sz="1800">
              <a:latin typeface="Calibri"/>
              <a:cs typeface="Calibri"/>
            </a:endParaRPr>
          </a:p>
        </p:txBody>
      </p:sp>
      <p:sp>
        <p:nvSpPr>
          <p:cNvPr id="49" name="object 49"/>
          <p:cNvSpPr txBox="1"/>
          <p:nvPr/>
        </p:nvSpPr>
        <p:spPr>
          <a:xfrm>
            <a:off x="9588245" y="2120010"/>
            <a:ext cx="120142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Calibri"/>
                <a:cs typeface="Calibri"/>
              </a:rPr>
              <a:t>Uniform</a:t>
            </a:r>
            <a:r>
              <a:rPr sz="1800" b="1" spc="-70" dirty="0">
                <a:latin typeface="Calibri"/>
                <a:cs typeface="Calibri"/>
              </a:rPr>
              <a:t> </a:t>
            </a:r>
            <a:r>
              <a:rPr sz="1800" b="1" spc="-25" dirty="0">
                <a:latin typeface="Calibri"/>
                <a:cs typeface="Calibri"/>
              </a:rPr>
              <a:t>law</a:t>
            </a:r>
            <a:endParaRPr sz="1800">
              <a:latin typeface="Calibri"/>
              <a:cs typeface="Calibri"/>
            </a:endParaRPr>
          </a:p>
        </p:txBody>
      </p:sp>
      <p:sp>
        <p:nvSpPr>
          <p:cNvPr id="50" name="object 50"/>
          <p:cNvSpPr txBox="1"/>
          <p:nvPr/>
        </p:nvSpPr>
        <p:spPr>
          <a:xfrm>
            <a:off x="9237726" y="2700604"/>
            <a:ext cx="1899920" cy="542925"/>
          </a:xfrm>
          <a:prstGeom prst="rect">
            <a:avLst/>
          </a:prstGeom>
        </p:spPr>
        <p:txBody>
          <a:bodyPr vert="horz" wrap="square" lIns="0" tIns="12700" rIns="0" bIns="0" rtlCol="0">
            <a:spAutoFit/>
          </a:bodyPr>
          <a:lstStyle/>
          <a:p>
            <a:pPr marL="3175" algn="ctr">
              <a:lnSpc>
                <a:spcPts val="2035"/>
              </a:lnSpc>
              <a:spcBef>
                <a:spcPts val="100"/>
              </a:spcBef>
            </a:pPr>
            <a:r>
              <a:rPr sz="1800" b="1" spc="-10" dirty="0">
                <a:latin typeface="Calibri"/>
                <a:cs typeface="Calibri"/>
              </a:rPr>
              <a:t>Computerized</a:t>
            </a:r>
            <a:endParaRPr sz="1800">
              <a:latin typeface="Calibri"/>
              <a:cs typeface="Calibri"/>
            </a:endParaRPr>
          </a:p>
          <a:p>
            <a:pPr algn="ctr">
              <a:lnSpc>
                <a:spcPts val="2035"/>
              </a:lnSpc>
            </a:pPr>
            <a:r>
              <a:rPr sz="1800" b="1" dirty="0">
                <a:latin typeface="Calibri"/>
                <a:cs typeface="Calibri"/>
              </a:rPr>
              <a:t>uniform</a:t>
            </a:r>
            <a:r>
              <a:rPr sz="1800" b="1" spc="-85" dirty="0">
                <a:latin typeface="Calibri"/>
                <a:cs typeface="Calibri"/>
              </a:rPr>
              <a:t> </a:t>
            </a:r>
            <a:r>
              <a:rPr sz="1800" b="1" spc="-10" dirty="0">
                <a:latin typeface="Calibri"/>
                <a:cs typeface="Calibri"/>
              </a:rPr>
              <a:t>procedures</a:t>
            </a:r>
            <a:endParaRPr sz="1800">
              <a:latin typeface="Calibri"/>
              <a:cs typeface="Calibri"/>
            </a:endParaRPr>
          </a:p>
        </p:txBody>
      </p:sp>
      <p:grpSp>
        <p:nvGrpSpPr>
          <p:cNvPr id="51" name="object 51"/>
          <p:cNvGrpSpPr/>
          <p:nvPr/>
        </p:nvGrpSpPr>
        <p:grpSpPr>
          <a:xfrm>
            <a:off x="526249" y="3049523"/>
            <a:ext cx="7814945" cy="2987675"/>
            <a:chOff x="526249" y="3049523"/>
            <a:chExt cx="7814945" cy="2987675"/>
          </a:xfrm>
        </p:grpSpPr>
        <p:sp>
          <p:nvSpPr>
            <p:cNvPr id="52" name="object 52"/>
            <p:cNvSpPr/>
            <p:nvPr/>
          </p:nvSpPr>
          <p:spPr>
            <a:xfrm>
              <a:off x="7191374" y="3055873"/>
              <a:ext cx="1143000" cy="484505"/>
            </a:xfrm>
            <a:custGeom>
              <a:avLst/>
              <a:gdLst/>
              <a:ahLst/>
              <a:cxnLst/>
              <a:rect l="l" t="t" r="r" b="b"/>
              <a:pathLst>
                <a:path w="1143000" h="484504">
                  <a:moveTo>
                    <a:pt x="900938" y="0"/>
                  </a:moveTo>
                  <a:lnTo>
                    <a:pt x="900938" y="121158"/>
                  </a:lnTo>
                  <a:lnTo>
                    <a:pt x="0" y="121158"/>
                  </a:lnTo>
                  <a:lnTo>
                    <a:pt x="0" y="363220"/>
                  </a:lnTo>
                  <a:lnTo>
                    <a:pt x="900938" y="363220"/>
                  </a:lnTo>
                  <a:lnTo>
                    <a:pt x="900938" y="484250"/>
                  </a:lnTo>
                  <a:lnTo>
                    <a:pt x="1143000" y="242188"/>
                  </a:lnTo>
                  <a:lnTo>
                    <a:pt x="900938" y="0"/>
                  </a:lnTo>
                  <a:close/>
                </a:path>
              </a:pathLst>
            </a:custGeom>
            <a:solidFill>
              <a:srgbClr val="DF5050"/>
            </a:solidFill>
          </p:spPr>
          <p:txBody>
            <a:bodyPr wrap="square" lIns="0" tIns="0" rIns="0" bIns="0" rtlCol="0"/>
            <a:lstStyle/>
            <a:p>
              <a:endParaRPr/>
            </a:p>
          </p:txBody>
        </p:sp>
        <p:sp>
          <p:nvSpPr>
            <p:cNvPr id="53" name="object 53"/>
            <p:cNvSpPr/>
            <p:nvPr/>
          </p:nvSpPr>
          <p:spPr>
            <a:xfrm>
              <a:off x="7191374" y="3055873"/>
              <a:ext cx="1143000" cy="484505"/>
            </a:xfrm>
            <a:custGeom>
              <a:avLst/>
              <a:gdLst/>
              <a:ahLst/>
              <a:cxnLst/>
              <a:rect l="l" t="t" r="r" b="b"/>
              <a:pathLst>
                <a:path w="1143000" h="484504">
                  <a:moveTo>
                    <a:pt x="0" y="121158"/>
                  </a:moveTo>
                  <a:lnTo>
                    <a:pt x="900938" y="121158"/>
                  </a:lnTo>
                  <a:lnTo>
                    <a:pt x="900938" y="0"/>
                  </a:lnTo>
                  <a:lnTo>
                    <a:pt x="1143000" y="242188"/>
                  </a:lnTo>
                  <a:lnTo>
                    <a:pt x="900938" y="484250"/>
                  </a:lnTo>
                  <a:lnTo>
                    <a:pt x="900938" y="363220"/>
                  </a:lnTo>
                  <a:lnTo>
                    <a:pt x="0" y="363220"/>
                  </a:lnTo>
                  <a:lnTo>
                    <a:pt x="0" y="121158"/>
                  </a:lnTo>
                  <a:close/>
                </a:path>
              </a:pathLst>
            </a:custGeom>
            <a:ln w="12700">
              <a:solidFill>
                <a:srgbClr val="41709C"/>
              </a:solidFill>
            </a:ln>
          </p:spPr>
          <p:txBody>
            <a:bodyPr wrap="square" lIns="0" tIns="0" rIns="0" bIns="0" rtlCol="0"/>
            <a:lstStyle/>
            <a:p>
              <a:endParaRPr/>
            </a:p>
          </p:txBody>
        </p:sp>
        <p:pic>
          <p:nvPicPr>
            <p:cNvPr id="54" name="object 54"/>
            <p:cNvPicPr/>
            <p:nvPr/>
          </p:nvPicPr>
          <p:blipFill>
            <a:blip r:embed="rId4" cstate="print"/>
            <a:stretch>
              <a:fillRect/>
            </a:stretch>
          </p:blipFill>
          <p:spPr>
            <a:xfrm>
              <a:off x="526249" y="3696411"/>
              <a:ext cx="2782062" cy="2340737"/>
            </a:xfrm>
            <a:prstGeom prst="rect">
              <a:avLst/>
            </a:prstGeom>
          </p:spPr>
        </p:pic>
      </p:grpSp>
      <p:sp>
        <p:nvSpPr>
          <p:cNvPr id="55" name="object 55"/>
          <p:cNvSpPr txBox="1"/>
          <p:nvPr/>
        </p:nvSpPr>
        <p:spPr>
          <a:xfrm>
            <a:off x="8959722" y="5508447"/>
            <a:ext cx="2703830" cy="330835"/>
          </a:xfrm>
          <a:prstGeom prst="rect">
            <a:avLst/>
          </a:prstGeom>
        </p:spPr>
        <p:txBody>
          <a:bodyPr vert="horz" wrap="square" lIns="0" tIns="12700" rIns="0" bIns="0" rtlCol="0">
            <a:spAutoFit/>
          </a:bodyPr>
          <a:lstStyle/>
          <a:p>
            <a:pPr marL="12700">
              <a:lnSpc>
                <a:spcPct val="100000"/>
              </a:lnSpc>
              <a:spcBef>
                <a:spcPts val="100"/>
              </a:spcBef>
            </a:pPr>
            <a:r>
              <a:rPr sz="2000" b="1" dirty="0">
                <a:solidFill>
                  <a:srgbClr val="FF0000"/>
                </a:solidFill>
                <a:latin typeface="Arial"/>
                <a:cs typeface="Arial"/>
              </a:rPr>
              <a:t>GST</a:t>
            </a:r>
            <a:r>
              <a:rPr sz="2000" b="1" spc="-10" dirty="0">
                <a:solidFill>
                  <a:srgbClr val="FF0000"/>
                </a:solidFill>
                <a:latin typeface="Arial"/>
                <a:cs typeface="Arial"/>
              </a:rPr>
              <a:t> </a:t>
            </a:r>
            <a:r>
              <a:rPr sz="2000" b="1" dirty="0">
                <a:solidFill>
                  <a:srgbClr val="FF0000"/>
                </a:solidFill>
                <a:latin typeface="Arial"/>
                <a:cs typeface="Arial"/>
              </a:rPr>
              <a:t>Structure</a:t>
            </a:r>
            <a:r>
              <a:rPr sz="2000" b="1" spc="-40" dirty="0">
                <a:solidFill>
                  <a:srgbClr val="FF0000"/>
                </a:solidFill>
                <a:latin typeface="Arial"/>
                <a:cs typeface="Arial"/>
              </a:rPr>
              <a:t> </a:t>
            </a:r>
            <a:r>
              <a:rPr sz="2000" b="1" dirty="0">
                <a:solidFill>
                  <a:srgbClr val="FF0000"/>
                </a:solidFill>
                <a:latin typeface="Arial"/>
                <a:cs typeface="Arial"/>
              </a:rPr>
              <a:t>in</a:t>
            </a:r>
            <a:r>
              <a:rPr sz="2000" b="1" spc="-10" dirty="0">
                <a:solidFill>
                  <a:srgbClr val="FF0000"/>
                </a:solidFill>
                <a:latin typeface="Arial"/>
                <a:cs typeface="Arial"/>
              </a:rPr>
              <a:t> India</a:t>
            </a:r>
            <a:endParaRPr sz="2000">
              <a:latin typeface="Arial"/>
              <a:cs typeface="Arial"/>
            </a:endParaRPr>
          </a:p>
        </p:txBody>
      </p:sp>
      <p:sp>
        <p:nvSpPr>
          <p:cNvPr id="56" name="object 56"/>
          <p:cNvSpPr txBox="1"/>
          <p:nvPr/>
        </p:nvSpPr>
        <p:spPr>
          <a:xfrm>
            <a:off x="4340478" y="803859"/>
            <a:ext cx="1965960" cy="269240"/>
          </a:xfrm>
          <a:prstGeom prst="rect">
            <a:avLst/>
          </a:prstGeom>
        </p:spPr>
        <p:txBody>
          <a:bodyPr vert="horz" wrap="square" lIns="0" tIns="12065" rIns="0" bIns="0" rtlCol="0">
            <a:spAutoFit/>
          </a:bodyPr>
          <a:lstStyle/>
          <a:p>
            <a:pPr marL="12700">
              <a:lnSpc>
                <a:spcPct val="100000"/>
              </a:lnSpc>
              <a:spcBef>
                <a:spcPts val="95"/>
              </a:spcBef>
            </a:pPr>
            <a:r>
              <a:rPr sz="1600" b="1" dirty="0">
                <a:latin typeface="Arial"/>
                <a:cs typeface="Arial"/>
              </a:rPr>
              <a:t>Multiple</a:t>
            </a:r>
            <a:r>
              <a:rPr sz="1600" b="1" spc="-20" dirty="0">
                <a:latin typeface="Arial"/>
                <a:cs typeface="Arial"/>
              </a:rPr>
              <a:t> </a:t>
            </a:r>
            <a:r>
              <a:rPr sz="1600" b="1" dirty="0">
                <a:latin typeface="Arial"/>
                <a:cs typeface="Arial"/>
              </a:rPr>
              <a:t>State</a:t>
            </a:r>
            <a:r>
              <a:rPr sz="1600" b="1" spc="-45" dirty="0">
                <a:latin typeface="Arial"/>
                <a:cs typeface="Arial"/>
              </a:rPr>
              <a:t> </a:t>
            </a:r>
            <a:r>
              <a:rPr sz="1600" b="1" spc="-10" dirty="0">
                <a:latin typeface="Arial"/>
                <a:cs typeface="Arial"/>
              </a:rPr>
              <a:t>Taxes</a:t>
            </a:r>
            <a:endParaRPr sz="1600">
              <a:latin typeface="Arial"/>
              <a:cs typeface="Arial"/>
            </a:endParaRPr>
          </a:p>
        </p:txBody>
      </p:sp>
      <p:sp>
        <p:nvSpPr>
          <p:cNvPr id="57" name="object 57"/>
          <p:cNvSpPr txBox="1"/>
          <p:nvPr/>
        </p:nvSpPr>
        <p:spPr>
          <a:xfrm>
            <a:off x="4453254" y="1291843"/>
            <a:ext cx="1739900" cy="513080"/>
          </a:xfrm>
          <a:prstGeom prst="rect">
            <a:avLst/>
          </a:prstGeom>
        </p:spPr>
        <p:txBody>
          <a:bodyPr vert="horz" wrap="square" lIns="0" tIns="12065" rIns="0" bIns="0" rtlCol="0">
            <a:spAutoFit/>
          </a:bodyPr>
          <a:lstStyle/>
          <a:p>
            <a:pPr marL="99060" marR="5080" indent="-86995">
              <a:lnSpc>
                <a:spcPct val="100000"/>
              </a:lnSpc>
              <a:spcBef>
                <a:spcPts val="95"/>
              </a:spcBef>
            </a:pPr>
            <a:r>
              <a:rPr sz="1600" b="1" dirty="0">
                <a:latin typeface="Arial"/>
                <a:cs typeface="Arial"/>
              </a:rPr>
              <a:t>Multiple</a:t>
            </a:r>
            <a:r>
              <a:rPr sz="1600" b="1" spc="-15" dirty="0">
                <a:latin typeface="Arial"/>
                <a:cs typeface="Arial"/>
              </a:rPr>
              <a:t> </a:t>
            </a:r>
            <a:r>
              <a:rPr sz="1600" b="1" dirty="0">
                <a:latin typeface="Arial"/>
                <a:cs typeface="Arial"/>
              </a:rPr>
              <a:t>State</a:t>
            </a:r>
            <a:r>
              <a:rPr sz="1600" b="1" spc="-45" dirty="0">
                <a:latin typeface="Arial"/>
                <a:cs typeface="Arial"/>
              </a:rPr>
              <a:t> </a:t>
            </a:r>
            <a:r>
              <a:rPr sz="1600" b="1" spc="-40" dirty="0">
                <a:latin typeface="Arial"/>
                <a:cs typeface="Arial"/>
              </a:rPr>
              <a:t>Tax </a:t>
            </a:r>
            <a:r>
              <a:rPr sz="1600" b="1" spc="-10" dirty="0">
                <a:latin typeface="Arial"/>
                <a:cs typeface="Arial"/>
              </a:rPr>
              <a:t>Administrations</a:t>
            </a:r>
            <a:endParaRPr sz="1600">
              <a:latin typeface="Arial"/>
              <a:cs typeface="Arial"/>
            </a:endParaRPr>
          </a:p>
        </p:txBody>
      </p:sp>
      <p:sp>
        <p:nvSpPr>
          <p:cNvPr id="58" name="object 58"/>
          <p:cNvSpPr txBox="1"/>
          <p:nvPr/>
        </p:nvSpPr>
        <p:spPr>
          <a:xfrm>
            <a:off x="4274946" y="2023363"/>
            <a:ext cx="2096770" cy="269240"/>
          </a:xfrm>
          <a:prstGeom prst="rect">
            <a:avLst/>
          </a:prstGeom>
        </p:spPr>
        <p:txBody>
          <a:bodyPr vert="horz" wrap="square" lIns="0" tIns="12065" rIns="0" bIns="0" rtlCol="0">
            <a:spAutoFit/>
          </a:bodyPr>
          <a:lstStyle/>
          <a:p>
            <a:pPr marL="12700">
              <a:lnSpc>
                <a:spcPct val="100000"/>
              </a:lnSpc>
              <a:spcBef>
                <a:spcPts val="95"/>
              </a:spcBef>
            </a:pPr>
            <a:r>
              <a:rPr sz="1600" b="1" dirty="0">
                <a:latin typeface="Arial"/>
                <a:cs typeface="Arial"/>
              </a:rPr>
              <a:t>Multiple</a:t>
            </a:r>
            <a:r>
              <a:rPr sz="1600" b="1" spc="-65" dirty="0">
                <a:latin typeface="Arial"/>
                <a:cs typeface="Arial"/>
              </a:rPr>
              <a:t> </a:t>
            </a:r>
            <a:r>
              <a:rPr sz="1600" b="1" dirty="0">
                <a:latin typeface="Arial"/>
                <a:cs typeface="Arial"/>
              </a:rPr>
              <a:t>Acts</a:t>
            </a:r>
            <a:r>
              <a:rPr sz="1600" b="1" spc="5" dirty="0">
                <a:latin typeface="Arial"/>
                <a:cs typeface="Arial"/>
              </a:rPr>
              <a:t> </a:t>
            </a:r>
            <a:r>
              <a:rPr sz="1600" b="1" dirty="0">
                <a:latin typeface="Arial"/>
                <a:cs typeface="Arial"/>
              </a:rPr>
              <a:t>&amp;</a:t>
            </a:r>
            <a:r>
              <a:rPr sz="1600" b="1" spc="-50" dirty="0">
                <a:latin typeface="Arial"/>
                <a:cs typeface="Arial"/>
              </a:rPr>
              <a:t> </a:t>
            </a:r>
            <a:r>
              <a:rPr sz="1600" b="1" spc="-10" dirty="0">
                <a:latin typeface="Arial"/>
                <a:cs typeface="Arial"/>
              </a:rPr>
              <a:t>Rules</a:t>
            </a:r>
            <a:endParaRPr sz="1600">
              <a:latin typeface="Arial"/>
              <a:cs typeface="Arial"/>
            </a:endParaRPr>
          </a:p>
        </p:txBody>
      </p:sp>
      <p:sp>
        <p:nvSpPr>
          <p:cNvPr id="59" name="object 59"/>
          <p:cNvSpPr txBox="1"/>
          <p:nvPr/>
        </p:nvSpPr>
        <p:spPr>
          <a:xfrm>
            <a:off x="4345051" y="2511298"/>
            <a:ext cx="1956435" cy="269240"/>
          </a:xfrm>
          <a:prstGeom prst="rect">
            <a:avLst/>
          </a:prstGeom>
        </p:spPr>
        <p:txBody>
          <a:bodyPr vert="horz" wrap="square" lIns="0" tIns="12065" rIns="0" bIns="0" rtlCol="0">
            <a:spAutoFit/>
          </a:bodyPr>
          <a:lstStyle/>
          <a:p>
            <a:pPr marL="12700">
              <a:lnSpc>
                <a:spcPct val="100000"/>
              </a:lnSpc>
              <a:spcBef>
                <a:spcPts val="95"/>
              </a:spcBef>
            </a:pPr>
            <a:r>
              <a:rPr sz="1600" b="1" dirty="0">
                <a:latin typeface="Arial"/>
                <a:cs typeface="Arial"/>
              </a:rPr>
              <a:t>Multiple</a:t>
            </a:r>
            <a:r>
              <a:rPr sz="1600" b="1" spc="-30" dirty="0">
                <a:latin typeface="Arial"/>
                <a:cs typeface="Arial"/>
              </a:rPr>
              <a:t> </a:t>
            </a:r>
            <a:r>
              <a:rPr sz="1600" b="1" spc="-10" dirty="0">
                <a:latin typeface="Arial"/>
                <a:cs typeface="Arial"/>
              </a:rPr>
              <a:t>procedures</a:t>
            </a:r>
            <a:endParaRPr sz="1600">
              <a:latin typeface="Arial"/>
              <a:cs typeface="Arial"/>
            </a:endParaRPr>
          </a:p>
        </p:txBody>
      </p:sp>
    </p:spTree>
    <p:extLst>
      <p:ext uri="{BB962C8B-B14F-4D97-AF65-F5344CB8AC3E}">
        <p14:creationId xmlns:p14="http://schemas.microsoft.com/office/powerpoint/2010/main" val="402130410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882901" y="1233855"/>
            <a:ext cx="659345" cy="899998"/>
          </a:xfrm>
          <a:prstGeom prst="rect">
            <a:avLst/>
          </a:prstGeom>
        </p:spPr>
      </p:pic>
      <p:sp>
        <p:nvSpPr>
          <p:cNvPr id="3" name="object 3"/>
          <p:cNvSpPr txBox="1"/>
          <p:nvPr/>
        </p:nvSpPr>
        <p:spPr>
          <a:xfrm>
            <a:off x="3343783" y="1303146"/>
            <a:ext cx="2268855" cy="636270"/>
          </a:xfrm>
          <a:prstGeom prst="rect">
            <a:avLst/>
          </a:prstGeom>
        </p:spPr>
        <p:txBody>
          <a:bodyPr vert="horz" wrap="square" lIns="0" tIns="13335" rIns="0" bIns="0" rtlCol="0">
            <a:spAutoFit/>
          </a:bodyPr>
          <a:lstStyle/>
          <a:p>
            <a:pPr marL="335280" marR="5080" indent="-323215">
              <a:lnSpc>
                <a:spcPct val="100000"/>
              </a:lnSpc>
              <a:spcBef>
                <a:spcPts val="105"/>
              </a:spcBef>
            </a:pPr>
            <a:r>
              <a:rPr sz="2000" b="1" dirty="0">
                <a:latin typeface="Arial"/>
                <a:cs typeface="Arial"/>
              </a:rPr>
              <a:t>Alcohol</a:t>
            </a:r>
            <a:r>
              <a:rPr sz="2000" b="1" spc="-25" dirty="0">
                <a:latin typeface="Arial"/>
                <a:cs typeface="Arial"/>
              </a:rPr>
              <a:t> </a:t>
            </a:r>
            <a:r>
              <a:rPr sz="2000" b="1" dirty="0">
                <a:latin typeface="Arial"/>
                <a:cs typeface="Arial"/>
              </a:rPr>
              <a:t>for</a:t>
            </a:r>
            <a:r>
              <a:rPr sz="2000" b="1" spc="-15" dirty="0">
                <a:latin typeface="Arial"/>
                <a:cs typeface="Arial"/>
              </a:rPr>
              <a:t> </a:t>
            </a:r>
            <a:r>
              <a:rPr sz="2000" b="1" spc="-20" dirty="0">
                <a:latin typeface="Arial"/>
                <a:cs typeface="Arial"/>
              </a:rPr>
              <a:t>human </a:t>
            </a:r>
            <a:r>
              <a:rPr sz="2000" b="1" spc="-10" dirty="0">
                <a:latin typeface="Arial"/>
                <a:cs typeface="Arial"/>
              </a:rPr>
              <a:t>consumption</a:t>
            </a:r>
            <a:endParaRPr sz="2000">
              <a:latin typeface="Arial"/>
              <a:cs typeface="Arial"/>
            </a:endParaRPr>
          </a:p>
        </p:txBody>
      </p:sp>
      <p:sp>
        <p:nvSpPr>
          <p:cNvPr id="4" name="object 4"/>
          <p:cNvSpPr txBox="1"/>
          <p:nvPr/>
        </p:nvSpPr>
        <p:spPr>
          <a:xfrm>
            <a:off x="6335014" y="1285747"/>
            <a:ext cx="3603625" cy="635635"/>
          </a:xfrm>
          <a:prstGeom prst="rect">
            <a:avLst/>
          </a:prstGeom>
        </p:spPr>
        <p:txBody>
          <a:bodyPr vert="horz" wrap="square" lIns="0" tIns="13335" rIns="0" bIns="0" rtlCol="0">
            <a:spAutoFit/>
          </a:bodyPr>
          <a:lstStyle/>
          <a:p>
            <a:pPr marL="12700" marR="5080">
              <a:lnSpc>
                <a:spcPct val="100000"/>
              </a:lnSpc>
              <a:spcBef>
                <a:spcPts val="105"/>
              </a:spcBef>
            </a:pPr>
            <a:r>
              <a:rPr sz="2000" b="1" dirty="0">
                <a:latin typeface="Arial"/>
                <a:cs typeface="Arial"/>
              </a:rPr>
              <a:t>Power</a:t>
            </a:r>
            <a:r>
              <a:rPr sz="2000" b="1" spc="-45" dirty="0">
                <a:latin typeface="Arial"/>
                <a:cs typeface="Arial"/>
              </a:rPr>
              <a:t> </a:t>
            </a:r>
            <a:r>
              <a:rPr sz="2000" b="1" dirty="0">
                <a:latin typeface="Arial"/>
                <a:cs typeface="Arial"/>
              </a:rPr>
              <a:t>to</a:t>
            </a:r>
            <a:r>
              <a:rPr sz="2000" b="1" spc="-20" dirty="0">
                <a:latin typeface="Arial"/>
                <a:cs typeface="Arial"/>
              </a:rPr>
              <a:t> </a:t>
            </a:r>
            <a:r>
              <a:rPr sz="2000" b="1" dirty="0">
                <a:latin typeface="Arial"/>
                <a:cs typeface="Arial"/>
              </a:rPr>
              <a:t>tax</a:t>
            </a:r>
            <a:r>
              <a:rPr sz="2000" b="1" spc="-35" dirty="0">
                <a:latin typeface="Arial"/>
                <a:cs typeface="Arial"/>
              </a:rPr>
              <a:t> </a:t>
            </a:r>
            <a:r>
              <a:rPr sz="2000" b="1" dirty="0">
                <a:latin typeface="Arial"/>
                <a:cs typeface="Arial"/>
              </a:rPr>
              <a:t>remains</a:t>
            </a:r>
            <a:r>
              <a:rPr sz="2000" b="1" spc="-30" dirty="0">
                <a:latin typeface="Arial"/>
                <a:cs typeface="Arial"/>
              </a:rPr>
              <a:t> </a:t>
            </a:r>
            <a:r>
              <a:rPr sz="2000" b="1" dirty="0">
                <a:latin typeface="Arial"/>
                <a:cs typeface="Arial"/>
              </a:rPr>
              <a:t>with</a:t>
            </a:r>
            <a:r>
              <a:rPr sz="2000" b="1" spc="-50" dirty="0">
                <a:latin typeface="Arial"/>
                <a:cs typeface="Arial"/>
              </a:rPr>
              <a:t> </a:t>
            </a:r>
            <a:r>
              <a:rPr sz="2000" b="1" spc="-25" dirty="0">
                <a:latin typeface="Arial"/>
                <a:cs typeface="Arial"/>
              </a:rPr>
              <a:t>the </a:t>
            </a:r>
            <a:r>
              <a:rPr sz="2000" b="1" spc="-10" dirty="0">
                <a:latin typeface="Arial"/>
                <a:cs typeface="Arial"/>
              </a:rPr>
              <a:t>State</a:t>
            </a:r>
            <a:endParaRPr sz="2000">
              <a:latin typeface="Arial"/>
              <a:cs typeface="Arial"/>
            </a:endParaRPr>
          </a:p>
        </p:txBody>
      </p:sp>
      <p:sp>
        <p:nvSpPr>
          <p:cNvPr id="5" name="object 5"/>
          <p:cNvSpPr txBox="1"/>
          <p:nvPr/>
        </p:nvSpPr>
        <p:spPr>
          <a:xfrm>
            <a:off x="3252342" y="2484882"/>
            <a:ext cx="2453005" cy="1245870"/>
          </a:xfrm>
          <a:prstGeom prst="rect">
            <a:avLst/>
          </a:prstGeom>
        </p:spPr>
        <p:txBody>
          <a:bodyPr vert="horz" wrap="square" lIns="0" tIns="13335" rIns="0" bIns="0" rtlCol="0">
            <a:spAutoFit/>
          </a:bodyPr>
          <a:lstStyle/>
          <a:p>
            <a:pPr marL="12700" marR="5080" indent="309245">
              <a:lnSpc>
                <a:spcPct val="100000"/>
              </a:lnSpc>
              <a:spcBef>
                <a:spcPts val="105"/>
              </a:spcBef>
            </a:pPr>
            <a:r>
              <a:rPr sz="2000" b="1" dirty="0">
                <a:latin typeface="Arial"/>
                <a:cs typeface="Arial"/>
              </a:rPr>
              <a:t>Five</a:t>
            </a:r>
            <a:r>
              <a:rPr sz="2000" b="1" spc="-25" dirty="0">
                <a:latin typeface="Arial"/>
                <a:cs typeface="Arial"/>
              </a:rPr>
              <a:t> </a:t>
            </a:r>
            <a:r>
              <a:rPr sz="2000" b="1" spc="-10" dirty="0">
                <a:latin typeface="Arial"/>
                <a:cs typeface="Arial"/>
              </a:rPr>
              <a:t>petroleum </a:t>
            </a:r>
            <a:r>
              <a:rPr sz="2000" b="1" dirty="0">
                <a:latin typeface="Arial"/>
                <a:cs typeface="Arial"/>
              </a:rPr>
              <a:t>products</a:t>
            </a:r>
            <a:r>
              <a:rPr sz="2000" b="1" spc="-25" dirty="0">
                <a:latin typeface="Arial"/>
                <a:cs typeface="Arial"/>
              </a:rPr>
              <a:t> </a:t>
            </a:r>
            <a:r>
              <a:rPr sz="2000" b="1" dirty="0">
                <a:latin typeface="Arial"/>
                <a:cs typeface="Arial"/>
              </a:rPr>
              <a:t>–</a:t>
            </a:r>
            <a:r>
              <a:rPr sz="2000" b="1" spc="-5" dirty="0">
                <a:latin typeface="Arial"/>
                <a:cs typeface="Arial"/>
              </a:rPr>
              <a:t> </a:t>
            </a:r>
            <a:r>
              <a:rPr sz="2000" b="1" dirty="0">
                <a:latin typeface="Arial"/>
                <a:cs typeface="Arial"/>
              </a:rPr>
              <a:t>crude</a:t>
            </a:r>
            <a:r>
              <a:rPr sz="2000" b="1" spc="-15" dirty="0">
                <a:latin typeface="Arial"/>
                <a:cs typeface="Arial"/>
              </a:rPr>
              <a:t> </a:t>
            </a:r>
            <a:r>
              <a:rPr sz="2000" b="1" spc="-25" dirty="0">
                <a:latin typeface="Arial"/>
                <a:cs typeface="Arial"/>
              </a:rPr>
              <a:t>oil</a:t>
            </a:r>
            <a:endParaRPr sz="2000">
              <a:latin typeface="Arial"/>
              <a:cs typeface="Arial"/>
            </a:endParaRPr>
          </a:p>
          <a:p>
            <a:pPr marL="18415" marR="12065" indent="318135">
              <a:lnSpc>
                <a:spcPct val="100000"/>
              </a:lnSpc>
            </a:pPr>
            <a:r>
              <a:rPr sz="2000" b="1" dirty="0">
                <a:latin typeface="Arial"/>
                <a:cs typeface="Arial"/>
              </a:rPr>
              <a:t>,</a:t>
            </a:r>
            <a:r>
              <a:rPr sz="2000" b="1" spc="-10" dirty="0">
                <a:latin typeface="Arial"/>
                <a:cs typeface="Arial"/>
              </a:rPr>
              <a:t> </a:t>
            </a:r>
            <a:r>
              <a:rPr sz="2000" b="1" dirty="0">
                <a:latin typeface="Arial"/>
                <a:cs typeface="Arial"/>
              </a:rPr>
              <a:t>diesel,</a:t>
            </a:r>
            <a:r>
              <a:rPr sz="2000" b="1" spc="-35" dirty="0">
                <a:latin typeface="Arial"/>
                <a:cs typeface="Arial"/>
              </a:rPr>
              <a:t> </a:t>
            </a:r>
            <a:r>
              <a:rPr sz="2000" b="1" spc="-10" dirty="0">
                <a:latin typeface="Arial"/>
                <a:cs typeface="Arial"/>
              </a:rPr>
              <a:t>petrol, </a:t>
            </a:r>
            <a:r>
              <a:rPr sz="2000" b="1" dirty="0">
                <a:latin typeface="Arial"/>
                <a:cs typeface="Arial"/>
              </a:rPr>
              <a:t>natural</a:t>
            </a:r>
            <a:r>
              <a:rPr sz="2000" b="1" spc="-35" dirty="0">
                <a:latin typeface="Arial"/>
                <a:cs typeface="Arial"/>
              </a:rPr>
              <a:t> </a:t>
            </a:r>
            <a:r>
              <a:rPr sz="2000" b="1" dirty="0">
                <a:latin typeface="Arial"/>
                <a:cs typeface="Arial"/>
              </a:rPr>
              <a:t>gas</a:t>
            </a:r>
            <a:r>
              <a:rPr sz="2000" b="1" spc="-10" dirty="0">
                <a:latin typeface="Arial"/>
                <a:cs typeface="Arial"/>
              </a:rPr>
              <a:t> </a:t>
            </a:r>
            <a:r>
              <a:rPr sz="2000" b="1" dirty="0">
                <a:latin typeface="Arial"/>
                <a:cs typeface="Arial"/>
              </a:rPr>
              <a:t>and</a:t>
            </a:r>
            <a:r>
              <a:rPr sz="2000" b="1" spc="-70" dirty="0">
                <a:latin typeface="Arial"/>
                <a:cs typeface="Arial"/>
              </a:rPr>
              <a:t> </a:t>
            </a:r>
            <a:r>
              <a:rPr sz="2000" b="1" spc="-55" dirty="0">
                <a:latin typeface="Arial"/>
                <a:cs typeface="Arial"/>
              </a:rPr>
              <a:t>ATF</a:t>
            </a:r>
            <a:endParaRPr sz="2000">
              <a:latin typeface="Arial"/>
              <a:cs typeface="Arial"/>
            </a:endParaRPr>
          </a:p>
        </p:txBody>
      </p:sp>
      <p:sp>
        <p:nvSpPr>
          <p:cNvPr id="6" name="object 6"/>
          <p:cNvSpPr txBox="1"/>
          <p:nvPr/>
        </p:nvSpPr>
        <p:spPr>
          <a:xfrm>
            <a:off x="6335014" y="2647264"/>
            <a:ext cx="3778250" cy="941069"/>
          </a:xfrm>
          <a:prstGeom prst="rect">
            <a:avLst/>
          </a:prstGeom>
        </p:spPr>
        <p:txBody>
          <a:bodyPr vert="horz" wrap="square" lIns="0" tIns="13335" rIns="0" bIns="0" rtlCol="0">
            <a:spAutoFit/>
          </a:bodyPr>
          <a:lstStyle/>
          <a:p>
            <a:pPr marL="12700" marR="5080">
              <a:lnSpc>
                <a:spcPct val="100000"/>
              </a:lnSpc>
              <a:spcBef>
                <a:spcPts val="105"/>
              </a:spcBef>
            </a:pPr>
            <a:r>
              <a:rPr sz="2000" b="1" dirty="0">
                <a:latin typeface="Arial"/>
                <a:cs typeface="Arial"/>
              </a:rPr>
              <a:t>GST</a:t>
            </a:r>
            <a:r>
              <a:rPr sz="2000" b="1" spc="-15" dirty="0">
                <a:latin typeface="Arial"/>
                <a:cs typeface="Arial"/>
              </a:rPr>
              <a:t> </a:t>
            </a:r>
            <a:r>
              <a:rPr sz="2000" b="1" dirty="0">
                <a:latin typeface="Arial"/>
                <a:cs typeface="Arial"/>
              </a:rPr>
              <a:t>Council</a:t>
            </a:r>
            <a:r>
              <a:rPr sz="2000" b="1" spc="-30" dirty="0">
                <a:latin typeface="Arial"/>
                <a:cs typeface="Arial"/>
              </a:rPr>
              <a:t> </a:t>
            </a:r>
            <a:r>
              <a:rPr sz="2000" b="1" dirty="0">
                <a:latin typeface="Arial"/>
                <a:cs typeface="Arial"/>
              </a:rPr>
              <a:t>to</a:t>
            </a:r>
            <a:r>
              <a:rPr sz="2000" b="1" spc="-20" dirty="0">
                <a:latin typeface="Arial"/>
                <a:cs typeface="Arial"/>
              </a:rPr>
              <a:t> </a:t>
            </a:r>
            <a:r>
              <a:rPr sz="2000" b="1" dirty="0">
                <a:latin typeface="Arial"/>
                <a:cs typeface="Arial"/>
              </a:rPr>
              <a:t>decide</a:t>
            </a:r>
            <a:r>
              <a:rPr sz="2000" b="1" spc="-25" dirty="0">
                <a:latin typeface="Arial"/>
                <a:cs typeface="Arial"/>
              </a:rPr>
              <a:t> </a:t>
            </a:r>
            <a:r>
              <a:rPr sz="2000" b="1" dirty="0">
                <a:latin typeface="Arial"/>
                <a:cs typeface="Arial"/>
              </a:rPr>
              <a:t>the</a:t>
            </a:r>
            <a:r>
              <a:rPr sz="2000" b="1" spc="-20" dirty="0">
                <a:latin typeface="Arial"/>
                <a:cs typeface="Arial"/>
              </a:rPr>
              <a:t> date </a:t>
            </a:r>
            <a:r>
              <a:rPr sz="2000" b="1" dirty="0">
                <a:latin typeface="Arial"/>
                <a:cs typeface="Arial"/>
              </a:rPr>
              <a:t>from</a:t>
            </a:r>
            <a:r>
              <a:rPr sz="2000" b="1" spc="-25" dirty="0">
                <a:latin typeface="Arial"/>
                <a:cs typeface="Arial"/>
              </a:rPr>
              <a:t> </a:t>
            </a:r>
            <a:r>
              <a:rPr sz="2000" b="1" dirty="0">
                <a:latin typeface="Arial"/>
                <a:cs typeface="Arial"/>
              </a:rPr>
              <a:t>which</a:t>
            </a:r>
            <a:r>
              <a:rPr sz="2000" b="1" spc="-35" dirty="0">
                <a:latin typeface="Arial"/>
                <a:cs typeface="Arial"/>
              </a:rPr>
              <a:t> </a:t>
            </a:r>
            <a:r>
              <a:rPr sz="2000" b="1" dirty="0">
                <a:latin typeface="Arial"/>
                <a:cs typeface="Arial"/>
              </a:rPr>
              <a:t>GST</a:t>
            </a:r>
            <a:r>
              <a:rPr sz="2000" b="1" spc="-15" dirty="0">
                <a:latin typeface="Arial"/>
                <a:cs typeface="Arial"/>
              </a:rPr>
              <a:t> </a:t>
            </a:r>
            <a:r>
              <a:rPr sz="2000" b="1" dirty="0">
                <a:latin typeface="Arial"/>
                <a:cs typeface="Arial"/>
              </a:rPr>
              <a:t>will</a:t>
            </a:r>
            <a:r>
              <a:rPr sz="2000" b="1" spc="-55" dirty="0">
                <a:latin typeface="Arial"/>
                <a:cs typeface="Arial"/>
              </a:rPr>
              <a:t> </a:t>
            </a:r>
            <a:r>
              <a:rPr sz="2000" b="1" spc="-25" dirty="0">
                <a:latin typeface="Arial"/>
                <a:cs typeface="Arial"/>
              </a:rPr>
              <a:t>be </a:t>
            </a:r>
            <a:r>
              <a:rPr sz="2000" b="1" spc="-10" dirty="0">
                <a:latin typeface="Arial"/>
                <a:cs typeface="Arial"/>
              </a:rPr>
              <a:t>applicable</a:t>
            </a:r>
            <a:endParaRPr sz="2000">
              <a:latin typeface="Arial"/>
              <a:cs typeface="Arial"/>
            </a:endParaRPr>
          </a:p>
        </p:txBody>
      </p:sp>
      <p:pic>
        <p:nvPicPr>
          <p:cNvPr id="7" name="object 7"/>
          <p:cNvPicPr/>
          <p:nvPr/>
        </p:nvPicPr>
        <p:blipFill>
          <a:blip r:embed="rId3" cstate="print"/>
          <a:stretch>
            <a:fillRect/>
          </a:stretch>
        </p:blipFill>
        <p:spPr>
          <a:xfrm>
            <a:off x="1841754" y="2679242"/>
            <a:ext cx="841247" cy="899998"/>
          </a:xfrm>
          <a:prstGeom prst="rect">
            <a:avLst/>
          </a:prstGeom>
        </p:spPr>
      </p:pic>
      <p:sp>
        <p:nvSpPr>
          <p:cNvPr id="8" name="object 8"/>
          <p:cNvSpPr txBox="1"/>
          <p:nvPr/>
        </p:nvSpPr>
        <p:spPr>
          <a:xfrm>
            <a:off x="3950334" y="4260341"/>
            <a:ext cx="1054100" cy="330835"/>
          </a:xfrm>
          <a:prstGeom prst="rect">
            <a:avLst/>
          </a:prstGeom>
        </p:spPr>
        <p:txBody>
          <a:bodyPr vert="horz" wrap="square" lIns="0" tIns="12700" rIns="0" bIns="0" rtlCol="0">
            <a:spAutoFit/>
          </a:bodyPr>
          <a:lstStyle/>
          <a:p>
            <a:pPr marL="12700">
              <a:lnSpc>
                <a:spcPct val="100000"/>
              </a:lnSpc>
              <a:spcBef>
                <a:spcPts val="100"/>
              </a:spcBef>
            </a:pPr>
            <a:r>
              <a:rPr sz="2000" b="1" spc="-20" dirty="0">
                <a:latin typeface="Arial"/>
                <a:cs typeface="Arial"/>
              </a:rPr>
              <a:t>Tobacco</a:t>
            </a:r>
            <a:endParaRPr sz="2000">
              <a:latin typeface="Arial"/>
              <a:cs typeface="Arial"/>
            </a:endParaRPr>
          </a:p>
        </p:txBody>
      </p:sp>
      <p:sp>
        <p:nvSpPr>
          <p:cNvPr id="9" name="object 9"/>
          <p:cNvSpPr txBox="1"/>
          <p:nvPr/>
        </p:nvSpPr>
        <p:spPr>
          <a:xfrm>
            <a:off x="6335014" y="3952494"/>
            <a:ext cx="3574415" cy="940435"/>
          </a:xfrm>
          <a:prstGeom prst="rect">
            <a:avLst/>
          </a:prstGeom>
        </p:spPr>
        <p:txBody>
          <a:bodyPr vert="horz" wrap="square" lIns="0" tIns="12700" rIns="0" bIns="0" rtlCol="0">
            <a:spAutoFit/>
          </a:bodyPr>
          <a:lstStyle/>
          <a:p>
            <a:pPr marL="12700" marR="5080">
              <a:lnSpc>
                <a:spcPct val="100000"/>
              </a:lnSpc>
              <a:spcBef>
                <a:spcPts val="100"/>
              </a:spcBef>
            </a:pPr>
            <a:r>
              <a:rPr sz="2000" b="1" dirty="0">
                <a:latin typeface="Arial"/>
                <a:cs typeface="Arial"/>
              </a:rPr>
              <a:t>Part</a:t>
            </a:r>
            <a:r>
              <a:rPr sz="2000" b="1" spc="-20" dirty="0">
                <a:latin typeface="Arial"/>
                <a:cs typeface="Arial"/>
              </a:rPr>
              <a:t> </a:t>
            </a:r>
            <a:r>
              <a:rPr sz="2000" b="1" dirty="0">
                <a:latin typeface="Arial"/>
                <a:cs typeface="Arial"/>
              </a:rPr>
              <a:t>of</a:t>
            </a:r>
            <a:r>
              <a:rPr sz="2000" b="1" spc="-15" dirty="0">
                <a:latin typeface="Arial"/>
                <a:cs typeface="Arial"/>
              </a:rPr>
              <a:t> </a:t>
            </a:r>
            <a:r>
              <a:rPr sz="2000" b="1" dirty="0">
                <a:latin typeface="Arial"/>
                <a:cs typeface="Arial"/>
              </a:rPr>
              <a:t>GST</a:t>
            </a:r>
            <a:r>
              <a:rPr sz="2000" b="1" spc="-25" dirty="0">
                <a:latin typeface="Arial"/>
                <a:cs typeface="Arial"/>
              </a:rPr>
              <a:t> </a:t>
            </a:r>
            <a:r>
              <a:rPr sz="2000" b="1" dirty="0">
                <a:latin typeface="Arial"/>
                <a:cs typeface="Arial"/>
              </a:rPr>
              <a:t>but</a:t>
            </a:r>
            <a:r>
              <a:rPr sz="2000" b="1" spc="-5" dirty="0">
                <a:latin typeface="Arial"/>
                <a:cs typeface="Arial"/>
              </a:rPr>
              <a:t> </a:t>
            </a:r>
            <a:r>
              <a:rPr sz="2000" b="1" dirty="0">
                <a:latin typeface="Arial"/>
                <a:cs typeface="Arial"/>
              </a:rPr>
              <a:t>power</a:t>
            </a:r>
            <a:r>
              <a:rPr sz="2000" b="1" spc="-55" dirty="0">
                <a:latin typeface="Arial"/>
                <a:cs typeface="Arial"/>
              </a:rPr>
              <a:t> </a:t>
            </a:r>
            <a:r>
              <a:rPr sz="2000" b="1" dirty="0">
                <a:latin typeface="Arial"/>
                <a:cs typeface="Arial"/>
              </a:rPr>
              <a:t>to</a:t>
            </a:r>
            <a:r>
              <a:rPr sz="2000" b="1" spc="-15" dirty="0">
                <a:latin typeface="Arial"/>
                <a:cs typeface="Arial"/>
              </a:rPr>
              <a:t> </a:t>
            </a:r>
            <a:r>
              <a:rPr sz="2000" b="1" spc="-20" dirty="0">
                <a:latin typeface="Arial"/>
                <a:cs typeface="Arial"/>
              </a:rPr>
              <a:t>levy </a:t>
            </a:r>
            <a:r>
              <a:rPr sz="2000" b="1" dirty="0">
                <a:latin typeface="Arial"/>
                <a:cs typeface="Arial"/>
              </a:rPr>
              <a:t>additional</a:t>
            </a:r>
            <a:r>
              <a:rPr sz="2000" b="1" spc="-40" dirty="0">
                <a:latin typeface="Arial"/>
                <a:cs typeface="Arial"/>
              </a:rPr>
              <a:t> </a:t>
            </a:r>
            <a:r>
              <a:rPr sz="2000" b="1" dirty="0">
                <a:latin typeface="Arial"/>
                <a:cs typeface="Arial"/>
              </a:rPr>
              <a:t>excise</a:t>
            </a:r>
            <a:r>
              <a:rPr sz="2000" b="1" spc="-15" dirty="0">
                <a:latin typeface="Arial"/>
                <a:cs typeface="Arial"/>
              </a:rPr>
              <a:t> </a:t>
            </a:r>
            <a:r>
              <a:rPr sz="2000" b="1" dirty="0">
                <a:latin typeface="Arial"/>
                <a:cs typeface="Arial"/>
              </a:rPr>
              <a:t>duty</a:t>
            </a:r>
            <a:r>
              <a:rPr sz="2000" b="1" spc="-30" dirty="0">
                <a:latin typeface="Arial"/>
                <a:cs typeface="Arial"/>
              </a:rPr>
              <a:t> </a:t>
            </a:r>
            <a:r>
              <a:rPr sz="2000" b="1" spc="-20" dirty="0">
                <a:latin typeface="Arial"/>
                <a:cs typeface="Arial"/>
              </a:rPr>
              <a:t>with </a:t>
            </a:r>
            <a:r>
              <a:rPr sz="2000" b="1" dirty="0">
                <a:latin typeface="Arial"/>
                <a:cs typeface="Arial"/>
              </a:rPr>
              <a:t>Central</a:t>
            </a:r>
            <a:r>
              <a:rPr sz="2000" b="1" spc="-60" dirty="0">
                <a:latin typeface="Arial"/>
                <a:cs typeface="Arial"/>
              </a:rPr>
              <a:t> </a:t>
            </a:r>
            <a:r>
              <a:rPr sz="2000" b="1" spc="-10" dirty="0">
                <a:latin typeface="Arial"/>
                <a:cs typeface="Arial"/>
              </a:rPr>
              <a:t>Government</a:t>
            </a:r>
            <a:endParaRPr sz="2000">
              <a:latin typeface="Arial"/>
              <a:cs typeface="Arial"/>
            </a:endParaRPr>
          </a:p>
        </p:txBody>
      </p:sp>
      <p:pic>
        <p:nvPicPr>
          <p:cNvPr id="10" name="object 10"/>
          <p:cNvPicPr/>
          <p:nvPr/>
        </p:nvPicPr>
        <p:blipFill>
          <a:blip r:embed="rId4" cstate="print"/>
          <a:stretch>
            <a:fillRect/>
          </a:stretch>
        </p:blipFill>
        <p:spPr>
          <a:xfrm>
            <a:off x="1749551" y="4122603"/>
            <a:ext cx="1031978" cy="476964"/>
          </a:xfrm>
          <a:prstGeom prst="rect">
            <a:avLst/>
          </a:prstGeom>
        </p:spPr>
      </p:pic>
      <p:sp>
        <p:nvSpPr>
          <p:cNvPr id="11" name="object 11"/>
          <p:cNvSpPr txBox="1"/>
          <p:nvPr/>
        </p:nvSpPr>
        <p:spPr>
          <a:xfrm>
            <a:off x="3257803" y="5357876"/>
            <a:ext cx="2649220" cy="636270"/>
          </a:xfrm>
          <a:prstGeom prst="rect">
            <a:avLst/>
          </a:prstGeom>
        </p:spPr>
        <p:txBody>
          <a:bodyPr vert="horz" wrap="square" lIns="0" tIns="13335" rIns="0" bIns="0" rtlCol="0">
            <a:spAutoFit/>
          </a:bodyPr>
          <a:lstStyle/>
          <a:p>
            <a:pPr marL="2540" algn="ctr">
              <a:lnSpc>
                <a:spcPct val="100000"/>
              </a:lnSpc>
              <a:spcBef>
                <a:spcPts val="105"/>
              </a:spcBef>
            </a:pPr>
            <a:r>
              <a:rPr sz="2000" b="1" dirty="0">
                <a:latin typeface="Arial"/>
                <a:cs typeface="Arial"/>
              </a:rPr>
              <a:t>Entertainment</a:t>
            </a:r>
            <a:r>
              <a:rPr sz="2000" b="1" spc="-40" dirty="0">
                <a:latin typeface="Arial"/>
                <a:cs typeface="Arial"/>
              </a:rPr>
              <a:t> </a:t>
            </a:r>
            <a:r>
              <a:rPr sz="2000" b="1" spc="-25" dirty="0">
                <a:latin typeface="Arial"/>
                <a:cs typeface="Arial"/>
              </a:rPr>
              <a:t>tax</a:t>
            </a:r>
            <a:endParaRPr sz="2000">
              <a:latin typeface="Arial"/>
              <a:cs typeface="Arial"/>
            </a:endParaRPr>
          </a:p>
          <a:p>
            <a:pPr algn="ctr">
              <a:lnSpc>
                <a:spcPct val="100000"/>
              </a:lnSpc>
            </a:pPr>
            <a:r>
              <a:rPr sz="2000" b="1" dirty="0">
                <a:latin typeface="Arial"/>
                <a:cs typeface="Arial"/>
              </a:rPr>
              <a:t>levied</a:t>
            </a:r>
            <a:r>
              <a:rPr sz="2000" b="1" spc="-15" dirty="0">
                <a:latin typeface="Arial"/>
                <a:cs typeface="Arial"/>
              </a:rPr>
              <a:t> </a:t>
            </a:r>
            <a:r>
              <a:rPr sz="2000" b="1" dirty="0">
                <a:latin typeface="Arial"/>
                <a:cs typeface="Arial"/>
              </a:rPr>
              <a:t>by</a:t>
            </a:r>
            <a:r>
              <a:rPr sz="2000" b="1" spc="-35" dirty="0">
                <a:latin typeface="Arial"/>
                <a:cs typeface="Arial"/>
              </a:rPr>
              <a:t> </a:t>
            </a:r>
            <a:r>
              <a:rPr sz="2000" b="1" dirty="0">
                <a:latin typeface="Arial"/>
                <a:cs typeface="Arial"/>
              </a:rPr>
              <a:t>local</a:t>
            </a:r>
            <a:r>
              <a:rPr sz="2000" b="1" spc="-35" dirty="0">
                <a:latin typeface="Arial"/>
                <a:cs typeface="Arial"/>
              </a:rPr>
              <a:t> </a:t>
            </a:r>
            <a:r>
              <a:rPr sz="2000" b="1" spc="-10" dirty="0">
                <a:latin typeface="Arial"/>
                <a:cs typeface="Arial"/>
              </a:rPr>
              <a:t>bodies</a:t>
            </a:r>
            <a:endParaRPr sz="2000">
              <a:latin typeface="Arial"/>
              <a:cs typeface="Arial"/>
            </a:endParaRPr>
          </a:p>
        </p:txBody>
      </p:sp>
      <p:grpSp>
        <p:nvGrpSpPr>
          <p:cNvPr id="12" name="object 12"/>
          <p:cNvGrpSpPr/>
          <p:nvPr/>
        </p:nvGrpSpPr>
        <p:grpSpPr>
          <a:xfrm>
            <a:off x="2002980" y="5222176"/>
            <a:ext cx="752475" cy="810260"/>
            <a:chOff x="2002980" y="5222176"/>
            <a:chExt cx="752475" cy="810260"/>
          </a:xfrm>
        </p:grpSpPr>
        <p:sp>
          <p:nvSpPr>
            <p:cNvPr id="13" name="object 13"/>
            <p:cNvSpPr/>
            <p:nvPr/>
          </p:nvSpPr>
          <p:spPr>
            <a:xfrm>
              <a:off x="2007743" y="5413121"/>
              <a:ext cx="277495" cy="544830"/>
            </a:xfrm>
            <a:custGeom>
              <a:avLst/>
              <a:gdLst/>
              <a:ahLst/>
              <a:cxnLst/>
              <a:rect l="l" t="t" r="r" b="b"/>
              <a:pathLst>
                <a:path w="277494" h="544829">
                  <a:moveTo>
                    <a:pt x="277456" y="0"/>
                  </a:moveTo>
                  <a:lnTo>
                    <a:pt x="238760" y="0"/>
                  </a:lnTo>
                  <a:lnTo>
                    <a:pt x="0" y="0"/>
                  </a:lnTo>
                  <a:lnTo>
                    <a:pt x="0" y="544550"/>
                  </a:lnTo>
                  <a:lnTo>
                    <a:pt x="238760" y="544550"/>
                  </a:lnTo>
                  <a:lnTo>
                    <a:pt x="277368" y="544550"/>
                  </a:lnTo>
                  <a:lnTo>
                    <a:pt x="277456" y="0"/>
                  </a:lnTo>
                  <a:close/>
                </a:path>
              </a:pathLst>
            </a:custGeom>
            <a:solidFill>
              <a:srgbClr val="CCCCFF"/>
            </a:solidFill>
          </p:spPr>
          <p:txBody>
            <a:bodyPr wrap="square" lIns="0" tIns="0" rIns="0" bIns="0" rtlCol="0"/>
            <a:lstStyle/>
            <a:p>
              <a:endParaRPr/>
            </a:p>
          </p:txBody>
        </p:sp>
        <p:pic>
          <p:nvPicPr>
            <p:cNvPr id="14" name="object 14"/>
            <p:cNvPicPr/>
            <p:nvPr/>
          </p:nvPicPr>
          <p:blipFill>
            <a:blip r:embed="rId5" cstate="print"/>
            <a:stretch>
              <a:fillRect/>
            </a:stretch>
          </p:blipFill>
          <p:spPr>
            <a:xfrm>
              <a:off x="2059431" y="5427853"/>
              <a:ext cx="174117" cy="151003"/>
            </a:xfrm>
            <a:prstGeom prst="rect">
              <a:avLst/>
            </a:prstGeom>
          </p:spPr>
        </p:pic>
        <p:pic>
          <p:nvPicPr>
            <p:cNvPr id="15" name="object 15"/>
            <p:cNvPicPr/>
            <p:nvPr/>
          </p:nvPicPr>
          <p:blipFill>
            <a:blip r:embed="rId6" cstate="print"/>
            <a:stretch>
              <a:fillRect/>
            </a:stretch>
          </p:blipFill>
          <p:spPr>
            <a:xfrm>
              <a:off x="2059431" y="5608447"/>
              <a:ext cx="174117" cy="147955"/>
            </a:xfrm>
            <a:prstGeom prst="rect">
              <a:avLst/>
            </a:prstGeom>
          </p:spPr>
        </p:pic>
        <p:pic>
          <p:nvPicPr>
            <p:cNvPr id="16" name="object 16"/>
            <p:cNvPicPr/>
            <p:nvPr/>
          </p:nvPicPr>
          <p:blipFill>
            <a:blip r:embed="rId7" cstate="print"/>
            <a:stretch>
              <a:fillRect/>
            </a:stretch>
          </p:blipFill>
          <p:spPr>
            <a:xfrm>
              <a:off x="2059431" y="5788977"/>
              <a:ext cx="174117" cy="147967"/>
            </a:xfrm>
            <a:prstGeom prst="rect">
              <a:avLst/>
            </a:prstGeom>
          </p:spPr>
        </p:pic>
        <p:sp>
          <p:nvSpPr>
            <p:cNvPr id="17" name="object 17"/>
            <p:cNvSpPr/>
            <p:nvPr/>
          </p:nvSpPr>
          <p:spPr>
            <a:xfrm>
              <a:off x="2017522" y="5419013"/>
              <a:ext cx="255270" cy="523875"/>
            </a:xfrm>
            <a:custGeom>
              <a:avLst/>
              <a:gdLst/>
              <a:ahLst/>
              <a:cxnLst/>
              <a:rect l="l" t="t" r="r" b="b"/>
              <a:pathLst>
                <a:path w="255269" h="523875">
                  <a:moveTo>
                    <a:pt x="19342" y="497243"/>
                  </a:moveTo>
                  <a:lnTo>
                    <a:pt x="0" y="497243"/>
                  </a:lnTo>
                  <a:lnTo>
                    <a:pt x="0" y="523862"/>
                  </a:lnTo>
                  <a:lnTo>
                    <a:pt x="19342" y="523862"/>
                  </a:lnTo>
                  <a:lnTo>
                    <a:pt x="19342" y="497243"/>
                  </a:lnTo>
                  <a:close/>
                </a:path>
                <a:path w="255269" h="523875">
                  <a:moveTo>
                    <a:pt x="19342" y="461721"/>
                  </a:moveTo>
                  <a:lnTo>
                    <a:pt x="0" y="461721"/>
                  </a:lnTo>
                  <a:lnTo>
                    <a:pt x="0" y="488340"/>
                  </a:lnTo>
                  <a:lnTo>
                    <a:pt x="19342" y="488340"/>
                  </a:lnTo>
                  <a:lnTo>
                    <a:pt x="19342" y="461721"/>
                  </a:lnTo>
                  <a:close/>
                </a:path>
                <a:path w="255269" h="523875">
                  <a:moveTo>
                    <a:pt x="19342" y="426199"/>
                  </a:moveTo>
                  <a:lnTo>
                    <a:pt x="0" y="426199"/>
                  </a:lnTo>
                  <a:lnTo>
                    <a:pt x="0" y="452843"/>
                  </a:lnTo>
                  <a:lnTo>
                    <a:pt x="19342" y="452843"/>
                  </a:lnTo>
                  <a:lnTo>
                    <a:pt x="19342" y="426199"/>
                  </a:lnTo>
                  <a:close/>
                </a:path>
                <a:path w="255269" h="523875">
                  <a:moveTo>
                    <a:pt x="19342" y="390664"/>
                  </a:moveTo>
                  <a:lnTo>
                    <a:pt x="0" y="390664"/>
                  </a:lnTo>
                  <a:lnTo>
                    <a:pt x="0" y="417309"/>
                  </a:lnTo>
                  <a:lnTo>
                    <a:pt x="19342" y="417309"/>
                  </a:lnTo>
                  <a:lnTo>
                    <a:pt x="19342" y="390664"/>
                  </a:lnTo>
                  <a:close/>
                </a:path>
                <a:path w="255269" h="523875">
                  <a:moveTo>
                    <a:pt x="19342" y="355168"/>
                  </a:moveTo>
                  <a:lnTo>
                    <a:pt x="0" y="355168"/>
                  </a:lnTo>
                  <a:lnTo>
                    <a:pt x="0" y="381787"/>
                  </a:lnTo>
                  <a:lnTo>
                    <a:pt x="19342" y="381787"/>
                  </a:lnTo>
                  <a:lnTo>
                    <a:pt x="19342" y="355168"/>
                  </a:lnTo>
                  <a:close/>
                </a:path>
                <a:path w="255269" h="523875">
                  <a:moveTo>
                    <a:pt x="19342" y="319646"/>
                  </a:moveTo>
                  <a:lnTo>
                    <a:pt x="0" y="319646"/>
                  </a:lnTo>
                  <a:lnTo>
                    <a:pt x="0" y="346290"/>
                  </a:lnTo>
                  <a:lnTo>
                    <a:pt x="19342" y="346290"/>
                  </a:lnTo>
                  <a:lnTo>
                    <a:pt x="19342" y="319646"/>
                  </a:lnTo>
                  <a:close/>
                </a:path>
                <a:path w="255269" h="523875">
                  <a:moveTo>
                    <a:pt x="19342" y="284124"/>
                  </a:moveTo>
                  <a:lnTo>
                    <a:pt x="0" y="284124"/>
                  </a:lnTo>
                  <a:lnTo>
                    <a:pt x="0" y="310769"/>
                  </a:lnTo>
                  <a:lnTo>
                    <a:pt x="19342" y="310769"/>
                  </a:lnTo>
                  <a:lnTo>
                    <a:pt x="19342" y="284124"/>
                  </a:lnTo>
                  <a:close/>
                </a:path>
                <a:path w="255269" h="523875">
                  <a:moveTo>
                    <a:pt x="19342" y="248627"/>
                  </a:moveTo>
                  <a:lnTo>
                    <a:pt x="0" y="248627"/>
                  </a:lnTo>
                  <a:lnTo>
                    <a:pt x="0" y="275247"/>
                  </a:lnTo>
                  <a:lnTo>
                    <a:pt x="19342" y="275247"/>
                  </a:lnTo>
                  <a:lnTo>
                    <a:pt x="19342" y="248627"/>
                  </a:lnTo>
                  <a:close/>
                </a:path>
                <a:path w="255269" h="523875">
                  <a:moveTo>
                    <a:pt x="19342" y="213106"/>
                  </a:moveTo>
                  <a:lnTo>
                    <a:pt x="0" y="213106"/>
                  </a:lnTo>
                  <a:lnTo>
                    <a:pt x="0" y="239725"/>
                  </a:lnTo>
                  <a:lnTo>
                    <a:pt x="19342" y="239725"/>
                  </a:lnTo>
                  <a:lnTo>
                    <a:pt x="19342" y="213106"/>
                  </a:lnTo>
                  <a:close/>
                </a:path>
                <a:path w="255269" h="523875">
                  <a:moveTo>
                    <a:pt x="19342" y="177584"/>
                  </a:moveTo>
                  <a:lnTo>
                    <a:pt x="0" y="177584"/>
                  </a:lnTo>
                  <a:lnTo>
                    <a:pt x="0" y="204228"/>
                  </a:lnTo>
                  <a:lnTo>
                    <a:pt x="19342" y="204228"/>
                  </a:lnTo>
                  <a:lnTo>
                    <a:pt x="19342" y="177584"/>
                  </a:lnTo>
                  <a:close/>
                </a:path>
                <a:path w="255269" h="523875">
                  <a:moveTo>
                    <a:pt x="19342" y="142113"/>
                  </a:moveTo>
                  <a:lnTo>
                    <a:pt x="0" y="142113"/>
                  </a:lnTo>
                  <a:lnTo>
                    <a:pt x="0" y="168732"/>
                  </a:lnTo>
                  <a:lnTo>
                    <a:pt x="19342" y="168732"/>
                  </a:lnTo>
                  <a:lnTo>
                    <a:pt x="19342" y="142113"/>
                  </a:lnTo>
                  <a:close/>
                </a:path>
                <a:path w="255269" h="523875">
                  <a:moveTo>
                    <a:pt x="19342" y="106553"/>
                  </a:moveTo>
                  <a:lnTo>
                    <a:pt x="0" y="106553"/>
                  </a:lnTo>
                  <a:lnTo>
                    <a:pt x="0" y="133172"/>
                  </a:lnTo>
                  <a:lnTo>
                    <a:pt x="19342" y="133172"/>
                  </a:lnTo>
                  <a:lnTo>
                    <a:pt x="19342" y="106553"/>
                  </a:lnTo>
                  <a:close/>
                </a:path>
                <a:path w="255269" h="523875">
                  <a:moveTo>
                    <a:pt x="19342" y="71094"/>
                  </a:moveTo>
                  <a:lnTo>
                    <a:pt x="0" y="71094"/>
                  </a:lnTo>
                  <a:lnTo>
                    <a:pt x="0" y="97739"/>
                  </a:lnTo>
                  <a:lnTo>
                    <a:pt x="19342" y="97739"/>
                  </a:lnTo>
                  <a:lnTo>
                    <a:pt x="19342" y="71094"/>
                  </a:lnTo>
                  <a:close/>
                </a:path>
                <a:path w="255269" h="523875">
                  <a:moveTo>
                    <a:pt x="19342" y="35534"/>
                  </a:moveTo>
                  <a:lnTo>
                    <a:pt x="0" y="35534"/>
                  </a:lnTo>
                  <a:lnTo>
                    <a:pt x="0" y="62179"/>
                  </a:lnTo>
                  <a:lnTo>
                    <a:pt x="19342" y="62179"/>
                  </a:lnTo>
                  <a:lnTo>
                    <a:pt x="19342" y="35534"/>
                  </a:lnTo>
                  <a:close/>
                </a:path>
                <a:path w="255269" h="523875">
                  <a:moveTo>
                    <a:pt x="19342" y="0"/>
                  </a:moveTo>
                  <a:lnTo>
                    <a:pt x="0" y="0"/>
                  </a:lnTo>
                  <a:lnTo>
                    <a:pt x="0" y="26619"/>
                  </a:lnTo>
                  <a:lnTo>
                    <a:pt x="19342" y="26619"/>
                  </a:lnTo>
                  <a:lnTo>
                    <a:pt x="19342" y="0"/>
                  </a:lnTo>
                  <a:close/>
                </a:path>
                <a:path w="255269" h="523875">
                  <a:moveTo>
                    <a:pt x="254749" y="497243"/>
                  </a:moveTo>
                  <a:lnTo>
                    <a:pt x="238633" y="497243"/>
                  </a:lnTo>
                  <a:lnTo>
                    <a:pt x="238633" y="523862"/>
                  </a:lnTo>
                  <a:lnTo>
                    <a:pt x="254749" y="523862"/>
                  </a:lnTo>
                  <a:lnTo>
                    <a:pt x="254749" y="497243"/>
                  </a:lnTo>
                  <a:close/>
                </a:path>
                <a:path w="255269" h="523875">
                  <a:moveTo>
                    <a:pt x="254749" y="461721"/>
                  </a:moveTo>
                  <a:lnTo>
                    <a:pt x="238633" y="461721"/>
                  </a:lnTo>
                  <a:lnTo>
                    <a:pt x="238633" y="488340"/>
                  </a:lnTo>
                  <a:lnTo>
                    <a:pt x="254749" y="488340"/>
                  </a:lnTo>
                  <a:lnTo>
                    <a:pt x="254749" y="461721"/>
                  </a:lnTo>
                  <a:close/>
                </a:path>
                <a:path w="255269" h="523875">
                  <a:moveTo>
                    <a:pt x="254749" y="426199"/>
                  </a:moveTo>
                  <a:lnTo>
                    <a:pt x="238633" y="426199"/>
                  </a:lnTo>
                  <a:lnTo>
                    <a:pt x="238633" y="452843"/>
                  </a:lnTo>
                  <a:lnTo>
                    <a:pt x="254749" y="452843"/>
                  </a:lnTo>
                  <a:lnTo>
                    <a:pt x="254749" y="426199"/>
                  </a:lnTo>
                  <a:close/>
                </a:path>
                <a:path w="255269" h="523875">
                  <a:moveTo>
                    <a:pt x="254749" y="390664"/>
                  </a:moveTo>
                  <a:lnTo>
                    <a:pt x="238633" y="390664"/>
                  </a:lnTo>
                  <a:lnTo>
                    <a:pt x="238633" y="417309"/>
                  </a:lnTo>
                  <a:lnTo>
                    <a:pt x="254749" y="417309"/>
                  </a:lnTo>
                  <a:lnTo>
                    <a:pt x="254749" y="390664"/>
                  </a:lnTo>
                  <a:close/>
                </a:path>
                <a:path w="255269" h="523875">
                  <a:moveTo>
                    <a:pt x="254749" y="355168"/>
                  </a:moveTo>
                  <a:lnTo>
                    <a:pt x="238633" y="355168"/>
                  </a:lnTo>
                  <a:lnTo>
                    <a:pt x="238633" y="381787"/>
                  </a:lnTo>
                  <a:lnTo>
                    <a:pt x="254749" y="381787"/>
                  </a:lnTo>
                  <a:lnTo>
                    <a:pt x="254749" y="355168"/>
                  </a:lnTo>
                  <a:close/>
                </a:path>
                <a:path w="255269" h="523875">
                  <a:moveTo>
                    <a:pt x="254749" y="319646"/>
                  </a:moveTo>
                  <a:lnTo>
                    <a:pt x="238633" y="319646"/>
                  </a:lnTo>
                  <a:lnTo>
                    <a:pt x="238633" y="346290"/>
                  </a:lnTo>
                  <a:lnTo>
                    <a:pt x="254749" y="346290"/>
                  </a:lnTo>
                  <a:lnTo>
                    <a:pt x="254749" y="319646"/>
                  </a:lnTo>
                  <a:close/>
                </a:path>
                <a:path w="255269" h="523875">
                  <a:moveTo>
                    <a:pt x="254749" y="284124"/>
                  </a:moveTo>
                  <a:lnTo>
                    <a:pt x="238633" y="284124"/>
                  </a:lnTo>
                  <a:lnTo>
                    <a:pt x="238633" y="310769"/>
                  </a:lnTo>
                  <a:lnTo>
                    <a:pt x="254749" y="310769"/>
                  </a:lnTo>
                  <a:lnTo>
                    <a:pt x="254749" y="284124"/>
                  </a:lnTo>
                  <a:close/>
                </a:path>
                <a:path w="255269" h="523875">
                  <a:moveTo>
                    <a:pt x="254749" y="248627"/>
                  </a:moveTo>
                  <a:lnTo>
                    <a:pt x="238633" y="248627"/>
                  </a:lnTo>
                  <a:lnTo>
                    <a:pt x="238633" y="275247"/>
                  </a:lnTo>
                  <a:lnTo>
                    <a:pt x="254749" y="275247"/>
                  </a:lnTo>
                  <a:lnTo>
                    <a:pt x="254749" y="248627"/>
                  </a:lnTo>
                  <a:close/>
                </a:path>
                <a:path w="255269" h="523875">
                  <a:moveTo>
                    <a:pt x="254749" y="213106"/>
                  </a:moveTo>
                  <a:lnTo>
                    <a:pt x="238633" y="213106"/>
                  </a:lnTo>
                  <a:lnTo>
                    <a:pt x="238633" y="239725"/>
                  </a:lnTo>
                  <a:lnTo>
                    <a:pt x="254749" y="239725"/>
                  </a:lnTo>
                  <a:lnTo>
                    <a:pt x="254749" y="213106"/>
                  </a:lnTo>
                  <a:close/>
                </a:path>
                <a:path w="255269" h="523875">
                  <a:moveTo>
                    <a:pt x="254749" y="177584"/>
                  </a:moveTo>
                  <a:lnTo>
                    <a:pt x="238633" y="177584"/>
                  </a:lnTo>
                  <a:lnTo>
                    <a:pt x="238633" y="204228"/>
                  </a:lnTo>
                  <a:lnTo>
                    <a:pt x="254749" y="204228"/>
                  </a:lnTo>
                  <a:lnTo>
                    <a:pt x="254749" y="177584"/>
                  </a:lnTo>
                  <a:close/>
                </a:path>
                <a:path w="255269" h="523875">
                  <a:moveTo>
                    <a:pt x="254749" y="142113"/>
                  </a:moveTo>
                  <a:lnTo>
                    <a:pt x="238633" y="142113"/>
                  </a:lnTo>
                  <a:lnTo>
                    <a:pt x="238633" y="168732"/>
                  </a:lnTo>
                  <a:lnTo>
                    <a:pt x="254749" y="168732"/>
                  </a:lnTo>
                  <a:lnTo>
                    <a:pt x="254749" y="142113"/>
                  </a:lnTo>
                  <a:close/>
                </a:path>
                <a:path w="255269" h="523875">
                  <a:moveTo>
                    <a:pt x="254749" y="106553"/>
                  </a:moveTo>
                  <a:lnTo>
                    <a:pt x="238633" y="106553"/>
                  </a:lnTo>
                  <a:lnTo>
                    <a:pt x="238633" y="133172"/>
                  </a:lnTo>
                  <a:lnTo>
                    <a:pt x="254749" y="133172"/>
                  </a:lnTo>
                  <a:lnTo>
                    <a:pt x="254749" y="106553"/>
                  </a:lnTo>
                  <a:close/>
                </a:path>
                <a:path w="255269" h="523875">
                  <a:moveTo>
                    <a:pt x="254749" y="71094"/>
                  </a:moveTo>
                  <a:lnTo>
                    <a:pt x="238633" y="71094"/>
                  </a:lnTo>
                  <a:lnTo>
                    <a:pt x="238633" y="97739"/>
                  </a:lnTo>
                  <a:lnTo>
                    <a:pt x="254749" y="97739"/>
                  </a:lnTo>
                  <a:lnTo>
                    <a:pt x="254749" y="71094"/>
                  </a:lnTo>
                  <a:close/>
                </a:path>
                <a:path w="255269" h="523875">
                  <a:moveTo>
                    <a:pt x="254749" y="35534"/>
                  </a:moveTo>
                  <a:lnTo>
                    <a:pt x="238633" y="35534"/>
                  </a:lnTo>
                  <a:lnTo>
                    <a:pt x="238633" y="62179"/>
                  </a:lnTo>
                  <a:lnTo>
                    <a:pt x="254749" y="62179"/>
                  </a:lnTo>
                  <a:lnTo>
                    <a:pt x="254749" y="35534"/>
                  </a:lnTo>
                  <a:close/>
                </a:path>
                <a:path w="255269" h="523875">
                  <a:moveTo>
                    <a:pt x="254749" y="3022"/>
                  </a:moveTo>
                  <a:lnTo>
                    <a:pt x="238633" y="3022"/>
                  </a:lnTo>
                  <a:lnTo>
                    <a:pt x="238633" y="29667"/>
                  </a:lnTo>
                  <a:lnTo>
                    <a:pt x="254749" y="29667"/>
                  </a:lnTo>
                  <a:lnTo>
                    <a:pt x="254749" y="3022"/>
                  </a:lnTo>
                  <a:close/>
                </a:path>
              </a:pathLst>
            </a:custGeom>
            <a:solidFill>
              <a:srgbClr val="CCCCFF"/>
            </a:solidFill>
          </p:spPr>
          <p:txBody>
            <a:bodyPr wrap="square" lIns="0" tIns="0" rIns="0" bIns="0" rtlCol="0"/>
            <a:lstStyle/>
            <a:p>
              <a:endParaRPr/>
            </a:p>
          </p:txBody>
        </p:sp>
        <p:sp>
          <p:nvSpPr>
            <p:cNvPr id="18" name="object 18"/>
            <p:cNvSpPr/>
            <p:nvPr/>
          </p:nvSpPr>
          <p:spPr>
            <a:xfrm>
              <a:off x="2007742" y="5413108"/>
              <a:ext cx="277495" cy="544830"/>
            </a:xfrm>
            <a:custGeom>
              <a:avLst/>
              <a:gdLst/>
              <a:ahLst/>
              <a:cxnLst/>
              <a:rect l="l" t="t" r="r" b="b"/>
              <a:pathLst>
                <a:path w="277494" h="544829">
                  <a:moveTo>
                    <a:pt x="0" y="544563"/>
                  </a:moveTo>
                  <a:lnTo>
                    <a:pt x="277368" y="544563"/>
                  </a:lnTo>
                  <a:lnTo>
                    <a:pt x="277368" y="0"/>
                  </a:lnTo>
                  <a:lnTo>
                    <a:pt x="0" y="0"/>
                  </a:lnTo>
                  <a:lnTo>
                    <a:pt x="0" y="544563"/>
                  </a:lnTo>
                  <a:close/>
                </a:path>
                <a:path w="277494" h="544829">
                  <a:moveTo>
                    <a:pt x="0" y="544563"/>
                  </a:moveTo>
                  <a:lnTo>
                    <a:pt x="38703" y="544563"/>
                  </a:lnTo>
                  <a:lnTo>
                    <a:pt x="38703" y="0"/>
                  </a:lnTo>
                  <a:lnTo>
                    <a:pt x="0" y="0"/>
                  </a:lnTo>
                  <a:lnTo>
                    <a:pt x="0" y="544563"/>
                  </a:lnTo>
                  <a:close/>
                </a:path>
                <a:path w="277494" h="544829">
                  <a:moveTo>
                    <a:pt x="238759" y="544563"/>
                  </a:moveTo>
                  <a:lnTo>
                    <a:pt x="277463" y="544563"/>
                  </a:lnTo>
                  <a:lnTo>
                    <a:pt x="277463" y="0"/>
                  </a:lnTo>
                  <a:lnTo>
                    <a:pt x="238759" y="0"/>
                  </a:lnTo>
                  <a:lnTo>
                    <a:pt x="238759" y="544563"/>
                  </a:lnTo>
                  <a:close/>
                </a:path>
              </a:pathLst>
            </a:custGeom>
            <a:ln w="9525">
              <a:solidFill>
                <a:srgbClr val="000000"/>
              </a:solidFill>
            </a:ln>
          </p:spPr>
          <p:txBody>
            <a:bodyPr wrap="square" lIns="0" tIns="0" rIns="0" bIns="0" rtlCol="0"/>
            <a:lstStyle/>
            <a:p>
              <a:endParaRPr/>
            </a:p>
          </p:txBody>
        </p:sp>
        <p:pic>
          <p:nvPicPr>
            <p:cNvPr id="19" name="object 19"/>
            <p:cNvPicPr/>
            <p:nvPr/>
          </p:nvPicPr>
          <p:blipFill>
            <a:blip r:embed="rId8" cstate="print"/>
            <a:stretch>
              <a:fillRect/>
            </a:stretch>
          </p:blipFill>
          <p:spPr>
            <a:xfrm>
              <a:off x="2054669" y="5423090"/>
              <a:ext cx="183642" cy="160528"/>
            </a:xfrm>
            <a:prstGeom prst="rect">
              <a:avLst/>
            </a:prstGeom>
          </p:spPr>
        </p:pic>
        <p:pic>
          <p:nvPicPr>
            <p:cNvPr id="20" name="object 20"/>
            <p:cNvPicPr/>
            <p:nvPr/>
          </p:nvPicPr>
          <p:blipFill>
            <a:blip r:embed="rId9" cstate="print"/>
            <a:stretch>
              <a:fillRect/>
            </a:stretch>
          </p:blipFill>
          <p:spPr>
            <a:xfrm>
              <a:off x="2054669" y="5603684"/>
              <a:ext cx="183642" cy="157480"/>
            </a:xfrm>
            <a:prstGeom prst="rect">
              <a:avLst/>
            </a:prstGeom>
          </p:spPr>
        </p:pic>
        <p:pic>
          <p:nvPicPr>
            <p:cNvPr id="21" name="object 21"/>
            <p:cNvPicPr/>
            <p:nvPr/>
          </p:nvPicPr>
          <p:blipFill>
            <a:blip r:embed="rId10" cstate="print"/>
            <a:stretch>
              <a:fillRect/>
            </a:stretch>
          </p:blipFill>
          <p:spPr>
            <a:xfrm>
              <a:off x="2054669" y="5784215"/>
              <a:ext cx="183642" cy="157492"/>
            </a:xfrm>
            <a:prstGeom prst="rect">
              <a:avLst/>
            </a:prstGeom>
          </p:spPr>
        </p:pic>
        <p:sp>
          <p:nvSpPr>
            <p:cNvPr id="22" name="object 22"/>
            <p:cNvSpPr/>
            <p:nvPr/>
          </p:nvSpPr>
          <p:spPr>
            <a:xfrm>
              <a:off x="2017521" y="5419010"/>
              <a:ext cx="255270" cy="523875"/>
            </a:xfrm>
            <a:custGeom>
              <a:avLst/>
              <a:gdLst/>
              <a:ahLst/>
              <a:cxnLst/>
              <a:rect l="l" t="t" r="r" b="b"/>
              <a:pathLst>
                <a:path w="255269" h="523875">
                  <a:moveTo>
                    <a:pt x="0" y="26623"/>
                  </a:moveTo>
                  <a:lnTo>
                    <a:pt x="19352" y="26623"/>
                  </a:lnTo>
                  <a:lnTo>
                    <a:pt x="19352" y="0"/>
                  </a:lnTo>
                  <a:lnTo>
                    <a:pt x="0" y="0"/>
                  </a:lnTo>
                  <a:lnTo>
                    <a:pt x="0" y="26623"/>
                  </a:lnTo>
                  <a:close/>
                </a:path>
                <a:path w="255269" h="523875">
                  <a:moveTo>
                    <a:pt x="0" y="62183"/>
                  </a:moveTo>
                  <a:lnTo>
                    <a:pt x="19352" y="62183"/>
                  </a:lnTo>
                  <a:lnTo>
                    <a:pt x="19352" y="35534"/>
                  </a:lnTo>
                  <a:lnTo>
                    <a:pt x="0" y="35534"/>
                  </a:lnTo>
                  <a:lnTo>
                    <a:pt x="0" y="62183"/>
                  </a:lnTo>
                  <a:close/>
                </a:path>
                <a:path w="255269" h="523875">
                  <a:moveTo>
                    <a:pt x="0" y="97743"/>
                  </a:moveTo>
                  <a:lnTo>
                    <a:pt x="19352" y="97743"/>
                  </a:lnTo>
                  <a:lnTo>
                    <a:pt x="19352" y="71094"/>
                  </a:lnTo>
                  <a:lnTo>
                    <a:pt x="0" y="71094"/>
                  </a:lnTo>
                  <a:lnTo>
                    <a:pt x="0" y="97743"/>
                  </a:lnTo>
                  <a:close/>
                </a:path>
                <a:path w="255269" h="523875">
                  <a:moveTo>
                    <a:pt x="0" y="133176"/>
                  </a:moveTo>
                  <a:lnTo>
                    <a:pt x="19352" y="133176"/>
                  </a:lnTo>
                  <a:lnTo>
                    <a:pt x="19352" y="106552"/>
                  </a:lnTo>
                  <a:lnTo>
                    <a:pt x="0" y="106552"/>
                  </a:lnTo>
                  <a:lnTo>
                    <a:pt x="0" y="133176"/>
                  </a:lnTo>
                  <a:close/>
                </a:path>
                <a:path w="255269" h="523875">
                  <a:moveTo>
                    <a:pt x="0" y="168736"/>
                  </a:moveTo>
                  <a:lnTo>
                    <a:pt x="19352" y="168736"/>
                  </a:lnTo>
                  <a:lnTo>
                    <a:pt x="19352" y="142112"/>
                  </a:lnTo>
                  <a:lnTo>
                    <a:pt x="0" y="142112"/>
                  </a:lnTo>
                  <a:lnTo>
                    <a:pt x="0" y="168736"/>
                  </a:lnTo>
                  <a:close/>
                </a:path>
                <a:path w="255269" h="523875">
                  <a:moveTo>
                    <a:pt x="0" y="204232"/>
                  </a:moveTo>
                  <a:lnTo>
                    <a:pt x="19352" y="204232"/>
                  </a:lnTo>
                  <a:lnTo>
                    <a:pt x="19352" y="177584"/>
                  </a:lnTo>
                  <a:lnTo>
                    <a:pt x="0" y="177584"/>
                  </a:lnTo>
                  <a:lnTo>
                    <a:pt x="0" y="204232"/>
                  </a:lnTo>
                  <a:close/>
                </a:path>
                <a:path w="255269" h="523875">
                  <a:moveTo>
                    <a:pt x="0" y="239729"/>
                  </a:moveTo>
                  <a:lnTo>
                    <a:pt x="19352" y="239729"/>
                  </a:lnTo>
                  <a:lnTo>
                    <a:pt x="19352" y="213105"/>
                  </a:lnTo>
                  <a:lnTo>
                    <a:pt x="0" y="213105"/>
                  </a:lnTo>
                  <a:lnTo>
                    <a:pt x="0" y="239729"/>
                  </a:lnTo>
                  <a:close/>
                </a:path>
                <a:path w="255269" h="523875">
                  <a:moveTo>
                    <a:pt x="0" y="275250"/>
                  </a:moveTo>
                  <a:lnTo>
                    <a:pt x="19352" y="275250"/>
                  </a:lnTo>
                  <a:lnTo>
                    <a:pt x="19352" y="248627"/>
                  </a:lnTo>
                  <a:lnTo>
                    <a:pt x="0" y="248627"/>
                  </a:lnTo>
                  <a:lnTo>
                    <a:pt x="0" y="275250"/>
                  </a:lnTo>
                  <a:close/>
                </a:path>
                <a:path w="255269" h="523875">
                  <a:moveTo>
                    <a:pt x="0" y="310772"/>
                  </a:moveTo>
                  <a:lnTo>
                    <a:pt x="19352" y="310772"/>
                  </a:lnTo>
                  <a:lnTo>
                    <a:pt x="19352" y="284124"/>
                  </a:lnTo>
                  <a:lnTo>
                    <a:pt x="0" y="284124"/>
                  </a:lnTo>
                  <a:lnTo>
                    <a:pt x="0" y="310772"/>
                  </a:lnTo>
                  <a:close/>
                </a:path>
                <a:path w="255269" h="523875">
                  <a:moveTo>
                    <a:pt x="0" y="346294"/>
                  </a:moveTo>
                  <a:lnTo>
                    <a:pt x="19352" y="346294"/>
                  </a:lnTo>
                  <a:lnTo>
                    <a:pt x="19352" y="319646"/>
                  </a:lnTo>
                  <a:lnTo>
                    <a:pt x="0" y="319646"/>
                  </a:lnTo>
                  <a:lnTo>
                    <a:pt x="0" y="346294"/>
                  </a:lnTo>
                  <a:close/>
                </a:path>
                <a:path w="255269" h="523875">
                  <a:moveTo>
                    <a:pt x="0" y="381791"/>
                  </a:moveTo>
                  <a:lnTo>
                    <a:pt x="19352" y="381791"/>
                  </a:lnTo>
                  <a:lnTo>
                    <a:pt x="19352" y="355168"/>
                  </a:lnTo>
                  <a:lnTo>
                    <a:pt x="0" y="355168"/>
                  </a:lnTo>
                  <a:lnTo>
                    <a:pt x="0" y="381791"/>
                  </a:lnTo>
                  <a:close/>
                </a:path>
                <a:path w="255269" h="523875">
                  <a:moveTo>
                    <a:pt x="0" y="417313"/>
                  </a:moveTo>
                  <a:lnTo>
                    <a:pt x="19352" y="417313"/>
                  </a:lnTo>
                  <a:lnTo>
                    <a:pt x="19352" y="390664"/>
                  </a:lnTo>
                  <a:lnTo>
                    <a:pt x="0" y="390664"/>
                  </a:lnTo>
                  <a:lnTo>
                    <a:pt x="0" y="417313"/>
                  </a:lnTo>
                  <a:close/>
                </a:path>
                <a:path w="255269" h="523875">
                  <a:moveTo>
                    <a:pt x="0" y="452847"/>
                  </a:moveTo>
                  <a:lnTo>
                    <a:pt x="19352" y="452847"/>
                  </a:lnTo>
                  <a:lnTo>
                    <a:pt x="19352" y="426199"/>
                  </a:lnTo>
                  <a:lnTo>
                    <a:pt x="0" y="426199"/>
                  </a:lnTo>
                  <a:lnTo>
                    <a:pt x="0" y="452847"/>
                  </a:lnTo>
                  <a:close/>
                </a:path>
                <a:path w="255269" h="523875">
                  <a:moveTo>
                    <a:pt x="0" y="488344"/>
                  </a:moveTo>
                  <a:lnTo>
                    <a:pt x="19352" y="488344"/>
                  </a:lnTo>
                  <a:lnTo>
                    <a:pt x="19352" y="461721"/>
                  </a:lnTo>
                  <a:lnTo>
                    <a:pt x="0" y="461721"/>
                  </a:lnTo>
                  <a:lnTo>
                    <a:pt x="0" y="488344"/>
                  </a:lnTo>
                  <a:close/>
                </a:path>
                <a:path w="255269" h="523875">
                  <a:moveTo>
                    <a:pt x="0" y="523866"/>
                  </a:moveTo>
                  <a:lnTo>
                    <a:pt x="19352" y="523866"/>
                  </a:lnTo>
                  <a:lnTo>
                    <a:pt x="19352" y="497243"/>
                  </a:lnTo>
                  <a:lnTo>
                    <a:pt x="0" y="497243"/>
                  </a:lnTo>
                  <a:lnTo>
                    <a:pt x="0" y="523866"/>
                  </a:lnTo>
                  <a:close/>
                </a:path>
                <a:path w="255269" h="523875">
                  <a:moveTo>
                    <a:pt x="238632" y="29671"/>
                  </a:moveTo>
                  <a:lnTo>
                    <a:pt x="254749" y="29671"/>
                  </a:lnTo>
                  <a:lnTo>
                    <a:pt x="254749" y="3022"/>
                  </a:lnTo>
                  <a:lnTo>
                    <a:pt x="238632" y="3022"/>
                  </a:lnTo>
                  <a:lnTo>
                    <a:pt x="238632" y="29671"/>
                  </a:lnTo>
                  <a:close/>
                </a:path>
                <a:path w="255269" h="523875">
                  <a:moveTo>
                    <a:pt x="238632" y="62183"/>
                  </a:moveTo>
                  <a:lnTo>
                    <a:pt x="254749" y="62183"/>
                  </a:lnTo>
                  <a:lnTo>
                    <a:pt x="254749" y="35534"/>
                  </a:lnTo>
                  <a:lnTo>
                    <a:pt x="238632" y="35534"/>
                  </a:lnTo>
                  <a:lnTo>
                    <a:pt x="238632" y="62183"/>
                  </a:lnTo>
                  <a:close/>
                </a:path>
                <a:path w="255269" h="523875">
                  <a:moveTo>
                    <a:pt x="238632" y="97743"/>
                  </a:moveTo>
                  <a:lnTo>
                    <a:pt x="254749" y="97743"/>
                  </a:lnTo>
                  <a:lnTo>
                    <a:pt x="254749" y="71094"/>
                  </a:lnTo>
                  <a:lnTo>
                    <a:pt x="238632" y="71094"/>
                  </a:lnTo>
                  <a:lnTo>
                    <a:pt x="238632" y="97743"/>
                  </a:lnTo>
                  <a:close/>
                </a:path>
                <a:path w="255269" h="523875">
                  <a:moveTo>
                    <a:pt x="238632" y="133176"/>
                  </a:moveTo>
                  <a:lnTo>
                    <a:pt x="254749" y="133176"/>
                  </a:lnTo>
                  <a:lnTo>
                    <a:pt x="254749" y="106552"/>
                  </a:lnTo>
                  <a:lnTo>
                    <a:pt x="238632" y="106552"/>
                  </a:lnTo>
                  <a:lnTo>
                    <a:pt x="238632" y="133176"/>
                  </a:lnTo>
                  <a:close/>
                </a:path>
                <a:path w="255269" h="523875">
                  <a:moveTo>
                    <a:pt x="238632" y="168736"/>
                  </a:moveTo>
                  <a:lnTo>
                    <a:pt x="254749" y="168736"/>
                  </a:lnTo>
                  <a:lnTo>
                    <a:pt x="254749" y="142112"/>
                  </a:lnTo>
                  <a:lnTo>
                    <a:pt x="238632" y="142112"/>
                  </a:lnTo>
                  <a:lnTo>
                    <a:pt x="238632" y="168736"/>
                  </a:lnTo>
                  <a:close/>
                </a:path>
                <a:path w="255269" h="523875">
                  <a:moveTo>
                    <a:pt x="238632" y="204232"/>
                  </a:moveTo>
                  <a:lnTo>
                    <a:pt x="254749" y="204232"/>
                  </a:lnTo>
                  <a:lnTo>
                    <a:pt x="254749" y="177584"/>
                  </a:lnTo>
                  <a:lnTo>
                    <a:pt x="238632" y="177584"/>
                  </a:lnTo>
                  <a:lnTo>
                    <a:pt x="238632" y="204232"/>
                  </a:lnTo>
                  <a:close/>
                </a:path>
                <a:path w="255269" h="523875">
                  <a:moveTo>
                    <a:pt x="238632" y="239729"/>
                  </a:moveTo>
                  <a:lnTo>
                    <a:pt x="254749" y="239729"/>
                  </a:lnTo>
                  <a:lnTo>
                    <a:pt x="254749" y="213105"/>
                  </a:lnTo>
                  <a:lnTo>
                    <a:pt x="238632" y="213105"/>
                  </a:lnTo>
                  <a:lnTo>
                    <a:pt x="238632" y="239729"/>
                  </a:lnTo>
                  <a:close/>
                </a:path>
                <a:path w="255269" h="523875">
                  <a:moveTo>
                    <a:pt x="238632" y="275250"/>
                  </a:moveTo>
                  <a:lnTo>
                    <a:pt x="254749" y="275250"/>
                  </a:lnTo>
                  <a:lnTo>
                    <a:pt x="254749" y="248627"/>
                  </a:lnTo>
                  <a:lnTo>
                    <a:pt x="238632" y="248627"/>
                  </a:lnTo>
                  <a:lnTo>
                    <a:pt x="238632" y="275250"/>
                  </a:lnTo>
                  <a:close/>
                </a:path>
                <a:path w="255269" h="523875">
                  <a:moveTo>
                    <a:pt x="238632" y="310772"/>
                  </a:moveTo>
                  <a:lnTo>
                    <a:pt x="254749" y="310772"/>
                  </a:lnTo>
                  <a:lnTo>
                    <a:pt x="254749" y="284124"/>
                  </a:lnTo>
                  <a:lnTo>
                    <a:pt x="238632" y="284124"/>
                  </a:lnTo>
                  <a:lnTo>
                    <a:pt x="238632" y="310772"/>
                  </a:lnTo>
                  <a:close/>
                </a:path>
                <a:path w="255269" h="523875">
                  <a:moveTo>
                    <a:pt x="238632" y="346294"/>
                  </a:moveTo>
                  <a:lnTo>
                    <a:pt x="254749" y="346294"/>
                  </a:lnTo>
                  <a:lnTo>
                    <a:pt x="254749" y="319646"/>
                  </a:lnTo>
                  <a:lnTo>
                    <a:pt x="238632" y="319646"/>
                  </a:lnTo>
                  <a:lnTo>
                    <a:pt x="238632" y="346294"/>
                  </a:lnTo>
                  <a:close/>
                </a:path>
                <a:path w="255269" h="523875">
                  <a:moveTo>
                    <a:pt x="238632" y="381791"/>
                  </a:moveTo>
                  <a:lnTo>
                    <a:pt x="254749" y="381791"/>
                  </a:lnTo>
                  <a:lnTo>
                    <a:pt x="254749" y="355168"/>
                  </a:lnTo>
                  <a:lnTo>
                    <a:pt x="238632" y="355168"/>
                  </a:lnTo>
                  <a:lnTo>
                    <a:pt x="238632" y="381791"/>
                  </a:lnTo>
                  <a:close/>
                </a:path>
                <a:path w="255269" h="523875">
                  <a:moveTo>
                    <a:pt x="238632" y="417313"/>
                  </a:moveTo>
                  <a:lnTo>
                    <a:pt x="254749" y="417313"/>
                  </a:lnTo>
                  <a:lnTo>
                    <a:pt x="254749" y="390664"/>
                  </a:lnTo>
                  <a:lnTo>
                    <a:pt x="238632" y="390664"/>
                  </a:lnTo>
                  <a:lnTo>
                    <a:pt x="238632" y="417313"/>
                  </a:lnTo>
                  <a:close/>
                </a:path>
                <a:path w="255269" h="523875">
                  <a:moveTo>
                    <a:pt x="238632" y="452847"/>
                  </a:moveTo>
                  <a:lnTo>
                    <a:pt x="254749" y="452847"/>
                  </a:lnTo>
                  <a:lnTo>
                    <a:pt x="254749" y="426199"/>
                  </a:lnTo>
                  <a:lnTo>
                    <a:pt x="238632" y="426199"/>
                  </a:lnTo>
                  <a:lnTo>
                    <a:pt x="238632" y="452847"/>
                  </a:lnTo>
                  <a:close/>
                </a:path>
                <a:path w="255269" h="523875">
                  <a:moveTo>
                    <a:pt x="238632" y="488344"/>
                  </a:moveTo>
                  <a:lnTo>
                    <a:pt x="254749" y="488344"/>
                  </a:lnTo>
                  <a:lnTo>
                    <a:pt x="254749" y="461721"/>
                  </a:lnTo>
                  <a:lnTo>
                    <a:pt x="238632" y="461721"/>
                  </a:lnTo>
                  <a:lnTo>
                    <a:pt x="238632" y="488344"/>
                  </a:lnTo>
                  <a:close/>
                </a:path>
                <a:path w="255269" h="523875">
                  <a:moveTo>
                    <a:pt x="238632" y="523866"/>
                  </a:moveTo>
                  <a:lnTo>
                    <a:pt x="254749" y="523866"/>
                  </a:lnTo>
                  <a:lnTo>
                    <a:pt x="254749" y="497243"/>
                  </a:lnTo>
                  <a:lnTo>
                    <a:pt x="238632" y="497243"/>
                  </a:lnTo>
                  <a:lnTo>
                    <a:pt x="238632" y="523866"/>
                  </a:lnTo>
                  <a:close/>
                </a:path>
              </a:pathLst>
            </a:custGeom>
            <a:ln w="9525">
              <a:solidFill>
                <a:srgbClr val="000000"/>
              </a:solidFill>
            </a:ln>
          </p:spPr>
          <p:txBody>
            <a:bodyPr wrap="square" lIns="0" tIns="0" rIns="0" bIns="0" rtlCol="0"/>
            <a:lstStyle/>
            <a:p>
              <a:endParaRPr/>
            </a:p>
          </p:txBody>
        </p:sp>
        <p:pic>
          <p:nvPicPr>
            <p:cNvPr id="23" name="object 23"/>
            <p:cNvPicPr/>
            <p:nvPr/>
          </p:nvPicPr>
          <p:blipFill>
            <a:blip r:embed="rId11" cstate="print"/>
            <a:stretch>
              <a:fillRect/>
            </a:stretch>
          </p:blipFill>
          <p:spPr>
            <a:xfrm>
              <a:off x="2238755" y="5288280"/>
              <a:ext cx="397763" cy="387096"/>
            </a:xfrm>
            <a:prstGeom prst="rect">
              <a:avLst/>
            </a:prstGeom>
          </p:spPr>
        </p:pic>
        <p:sp>
          <p:nvSpPr>
            <p:cNvPr id="24" name="object 24"/>
            <p:cNvSpPr/>
            <p:nvPr/>
          </p:nvSpPr>
          <p:spPr>
            <a:xfrm>
              <a:off x="2168271" y="5226939"/>
              <a:ext cx="386080" cy="362585"/>
            </a:xfrm>
            <a:custGeom>
              <a:avLst/>
              <a:gdLst/>
              <a:ahLst/>
              <a:cxnLst/>
              <a:rect l="l" t="t" r="r" b="b"/>
              <a:pathLst>
                <a:path w="386080" h="362585">
                  <a:moveTo>
                    <a:pt x="199009" y="0"/>
                  </a:moveTo>
                  <a:lnTo>
                    <a:pt x="103759" y="121539"/>
                  </a:lnTo>
                  <a:lnTo>
                    <a:pt x="0" y="121539"/>
                  </a:lnTo>
                  <a:lnTo>
                    <a:pt x="0" y="232156"/>
                  </a:lnTo>
                  <a:lnTo>
                    <a:pt x="103759" y="232156"/>
                  </a:lnTo>
                  <a:lnTo>
                    <a:pt x="199009" y="353695"/>
                  </a:lnTo>
                  <a:lnTo>
                    <a:pt x="199009" y="0"/>
                  </a:lnTo>
                  <a:close/>
                </a:path>
                <a:path w="386080" h="362585">
                  <a:moveTo>
                    <a:pt x="253111" y="175895"/>
                  </a:moveTo>
                  <a:lnTo>
                    <a:pt x="252349" y="156591"/>
                  </a:lnTo>
                  <a:lnTo>
                    <a:pt x="250952" y="141859"/>
                  </a:lnTo>
                  <a:lnTo>
                    <a:pt x="246634" y="126111"/>
                  </a:lnTo>
                  <a:lnTo>
                    <a:pt x="242316" y="112395"/>
                  </a:lnTo>
                  <a:lnTo>
                    <a:pt x="232156" y="121539"/>
                  </a:lnTo>
                  <a:lnTo>
                    <a:pt x="236474" y="132588"/>
                  </a:lnTo>
                  <a:lnTo>
                    <a:pt x="238633" y="143637"/>
                  </a:lnTo>
                  <a:lnTo>
                    <a:pt x="240157" y="156591"/>
                  </a:lnTo>
                  <a:lnTo>
                    <a:pt x="242316" y="169418"/>
                  </a:lnTo>
                  <a:lnTo>
                    <a:pt x="241554" y="182372"/>
                  </a:lnTo>
                  <a:lnTo>
                    <a:pt x="240157" y="197104"/>
                  </a:lnTo>
                  <a:lnTo>
                    <a:pt x="237236" y="215519"/>
                  </a:lnTo>
                  <a:lnTo>
                    <a:pt x="232918" y="232156"/>
                  </a:lnTo>
                  <a:lnTo>
                    <a:pt x="242316" y="243205"/>
                  </a:lnTo>
                  <a:lnTo>
                    <a:pt x="244475" y="235839"/>
                  </a:lnTo>
                  <a:lnTo>
                    <a:pt x="246634" y="224790"/>
                  </a:lnTo>
                  <a:lnTo>
                    <a:pt x="249555" y="212725"/>
                  </a:lnTo>
                  <a:lnTo>
                    <a:pt x="251714" y="200787"/>
                  </a:lnTo>
                  <a:lnTo>
                    <a:pt x="253111" y="190627"/>
                  </a:lnTo>
                  <a:lnTo>
                    <a:pt x="253111" y="175895"/>
                  </a:lnTo>
                  <a:close/>
                </a:path>
                <a:path w="386080" h="362585">
                  <a:moveTo>
                    <a:pt x="314452" y="200787"/>
                  </a:moveTo>
                  <a:lnTo>
                    <a:pt x="311531" y="144526"/>
                  </a:lnTo>
                  <a:lnTo>
                    <a:pt x="299212" y="86487"/>
                  </a:lnTo>
                  <a:lnTo>
                    <a:pt x="292100" y="66294"/>
                  </a:lnTo>
                  <a:lnTo>
                    <a:pt x="282702" y="75438"/>
                  </a:lnTo>
                  <a:lnTo>
                    <a:pt x="289179" y="94869"/>
                  </a:lnTo>
                  <a:lnTo>
                    <a:pt x="297815" y="133477"/>
                  </a:lnTo>
                  <a:lnTo>
                    <a:pt x="300736" y="161163"/>
                  </a:lnTo>
                  <a:lnTo>
                    <a:pt x="300736" y="200787"/>
                  </a:lnTo>
                  <a:lnTo>
                    <a:pt x="299212" y="220091"/>
                  </a:lnTo>
                  <a:lnTo>
                    <a:pt x="294259" y="244094"/>
                  </a:lnTo>
                  <a:lnTo>
                    <a:pt x="281940" y="285496"/>
                  </a:lnTo>
                  <a:lnTo>
                    <a:pt x="291338" y="295656"/>
                  </a:lnTo>
                  <a:lnTo>
                    <a:pt x="305689" y="254254"/>
                  </a:lnTo>
                  <a:lnTo>
                    <a:pt x="310134" y="228473"/>
                  </a:lnTo>
                  <a:lnTo>
                    <a:pt x="314452" y="200787"/>
                  </a:lnTo>
                  <a:close/>
                </a:path>
                <a:path w="386080" h="362585">
                  <a:moveTo>
                    <a:pt x="385953" y="157988"/>
                  </a:moveTo>
                  <a:lnTo>
                    <a:pt x="380746" y="120396"/>
                  </a:lnTo>
                  <a:lnTo>
                    <a:pt x="371348" y="78232"/>
                  </a:lnTo>
                  <a:lnTo>
                    <a:pt x="360045" y="43053"/>
                  </a:lnTo>
                  <a:lnTo>
                    <a:pt x="346075" y="13716"/>
                  </a:lnTo>
                  <a:lnTo>
                    <a:pt x="336804" y="22987"/>
                  </a:lnTo>
                  <a:lnTo>
                    <a:pt x="357632" y="77343"/>
                  </a:lnTo>
                  <a:lnTo>
                    <a:pt x="367792" y="123825"/>
                  </a:lnTo>
                  <a:lnTo>
                    <a:pt x="372110" y="159258"/>
                  </a:lnTo>
                  <a:lnTo>
                    <a:pt x="370713" y="206248"/>
                  </a:lnTo>
                  <a:lnTo>
                    <a:pt x="364871" y="260604"/>
                  </a:lnTo>
                  <a:lnTo>
                    <a:pt x="354838" y="307721"/>
                  </a:lnTo>
                  <a:lnTo>
                    <a:pt x="336804" y="353695"/>
                  </a:lnTo>
                  <a:lnTo>
                    <a:pt x="346075" y="362026"/>
                  </a:lnTo>
                  <a:lnTo>
                    <a:pt x="367792" y="306705"/>
                  </a:lnTo>
                  <a:lnTo>
                    <a:pt x="378206" y="266446"/>
                  </a:lnTo>
                  <a:lnTo>
                    <a:pt x="385064" y="205613"/>
                  </a:lnTo>
                  <a:lnTo>
                    <a:pt x="385953" y="157988"/>
                  </a:lnTo>
                  <a:close/>
                </a:path>
              </a:pathLst>
            </a:custGeom>
            <a:solidFill>
              <a:srgbClr val="CCCCFF"/>
            </a:solidFill>
          </p:spPr>
          <p:txBody>
            <a:bodyPr wrap="square" lIns="0" tIns="0" rIns="0" bIns="0" rtlCol="0"/>
            <a:lstStyle/>
            <a:p>
              <a:endParaRPr/>
            </a:p>
          </p:txBody>
        </p:sp>
        <p:sp>
          <p:nvSpPr>
            <p:cNvPr id="25" name="object 25"/>
            <p:cNvSpPr/>
            <p:nvPr/>
          </p:nvSpPr>
          <p:spPr>
            <a:xfrm>
              <a:off x="2168270" y="5226939"/>
              <a:ext cx="386080" cy="362585"/>
            </a:xfrm>
            <a:custGeom>
              <a:avLst/>
              <a:gdLst/>
              <a:ahLst/>
              <a:cxnLst/>
              <a:rect l="l" t="t" r="r" b="b"/>
              <a:pathLst>
                <a:path w="386080" h="362585">
                  <a:moveTo>
                    <a:pt x="0" y="121539"/>
                  </a:moveTo>
                  <a:lnTo>
                    <a:pt x="103759" y="121539"/>
                  </a:lnTo>
                  <a:lnTo>
                    <a:pt x="199009" y="0"/>
                  </a:lnTo>
                  <a:lnTo>
                    <a:pt x="199009" y="353695"/>
                  </a:lnTo>
                  <a:lnTo>
                    <a:pt x="103759" y="232156"/>
                  </a:lnTo>
                  <a:lnTo>
                    <a:pt x="0" y="232156"/>
                  </a:lnTo>
                  <a:lnTo>
                    <a:pt x="0" y="121539"/>
                  </a:lnTo>
                  <a:close/>
                </a:path>
                <a:path w="386080" h="362585">
                  <a:moveTo>
                    <a:pt x="232156" y="121539"/>
                  </a:moveTo>
                  <a:lnTo>
                    <a:pt x="252349" y="156591"/>
                  </a:lnTo>
                  <a:lnTo>
                    <a:pt x="253111" y="175895"/>
                  </a:lnTo>
                  <a:lnTo>
                    <a:pt x="253111" y="190627"/>
                  </a:lnTo>
                  <a:lnTo>
                    <a:pt x="251714" y="200787"/>
                  </a:lnTo>
                  <a:lnTo>
                    <a:pt x="249555" y="212725"/>
                  </a:lnTo>
                  <a:lnTo>
                    <a:pt x="246634" y="224790"/>
                  </a:lnTo>
                  <a:lnTo>
                    <a:pt x="244475" y="235839"/>
                  </a:lnTo>
                  <a:lnTo>
                    <a:pt x="242316" y="243205"/>
                  </a:lnTo>
                  <a:lnTo>
                    <a:pt x="232918" y="232156"/>
                  </a:lnTo>
                  <a:lnTo>
                    <a:pt x="237236" y="215519"/>
                  </a:lnTo>
                  <a:lnTo>
                    <a:pt x="240156" y="197104"/>
                  </a:lnTo>
                  <a:lnTo>
                    <a:pt x="241554" y="182372"/>
                  </a:lnTo>
                  <a:lnTo>
                    <a:pt x="242316" y="169418"/>
                  </a:lnTo>
                  <a:lnTo>
                    <a:pt x="240156" y="156591"/>
                  </a:lnTo>
                  <a:lnTo>
                    <a:pt x="238633" y="143637"/>
                  </a:lnTo>
                  <a:lnTo>
                    <a:pt x="236474" y="132588"/>
                  </a:lnTo>
                  <a:lnTo>
                    <a:pt x="232156" y="121539"/>
                  </a:lnTo>
                  <a:close/>
                </a:path>
                <a:path w="386080" h="362585">
                  <a:moveTo>
                    <a:pt x="292100" y="66294"/>
                  </a:moveTo>
                  <a:lnTo>
                    <a:pt x="305689" y="110490"/>
                  </a:lnTo>
                  <a:lnTo>
                    <a:pt x="313690" y="163068"/>
                  </a:lnTo>
                  <a:lnTo>
                    <a:pt x="314452" y="200787"/>
                  </a:lnTo>
                  <a:lnTo>
                    <a:pt x="310134" y="228473"/>
                  </a:lnTo>
                  <a:lnTo>
                    <a:pt x="305689" y="254254"/>
                  </a:lnTo>
                  <a:lnTo>
                    <a:pt x="299212" y="272669"/>
                  </a:lnTo>
                  <a:lnTo>
                    <a:pt x="291338" y="295656"/>
                  </a:lnTo>
                  <a:lnTo>
                    <a:pt x="281940" y="285496"/>
                  </a:lnTo>
                  <a:lnTo>
                    <a:pt x="294259" y="244094"/>
                  </a:lnTo>
                  <a:lnTo>
                    <a:pt x="299212" y="220091"/>
                  </a:lnTo>
                  <a:lnTo>
                    <a:pt x="300736" y="200787"/>
                  </a:lnTo>
                  <a:lnTo>
                    <a:pt x="300736" y="161163"/>
                  </a:lnTo>
                  <a:lnTo>
                    <a:pt x="297815" y="133477"/>
                  </a:lnTo>
                  <a:lnTo>
                    <a:pt x="292735" y="110490"/>
                  </a:lnTo>
                  <a:lnTo>
                    <a:pt x="289179" y="94869"/>
                  </a:lnTo>
                  <a:lnTo>
                    <a:pt x="282702" y="75438"/>
                  </a:lnTo>
                  <a:lnTo>
                    <a:pt x="292100" y="66294"/>
                  </a:lnTo>
                  <a:close/>
                </a:path>
                <a:path w="386080" h="362585">
                  <a:moveTo>
                    <a:pt x="336804" y="22987"/>
                  </a:moveTo>
                  <a:lnTo>
                    <a:pt x="371348" y="78232"/>
                  </a:lnTo>
                  <a:lnTo>
                    <a:pt x="380746" y="120396"/>
                  </a:lnTo>
                  <a:lnTo>
                    <a:pt x="385953" y="157988"/>
                  </a:lnTo>
                  <a:lnTo>
                    <a:pt x="385064" y="205613"/>
                  </a:lnTo>
                  <a:lnTo>
                    <a:pt x="378206" y="266446"/>
                  </a:lnTo>
                  <a:lnTo>
                    <a:pt x="367792" y="306705"/>
                  </a:lnTo>
                  <a:lnTo>
                    <a:pt x="346075" y="362026"/>
                  </a:lnTo>
                  <a:lnTo>
                    <a:pt x="336804" y="353695"/>
                  </a:lnTo>
                  <a:lnTo>
                    <a:pt x="354838" y="307721"/>
                  </a:lnTo>
                  <a:lnTo>
                    <a:pt x="364871" y="260604"/>
                  </a:lnTo>
                  <a:lnTo>
                    <a:pt x="370713" y="206248"/>
                  </a:lnTo>
                  <a:lnTo>
                    <a:pt x="372110" y="159258"/>
                  </a:lnTo>
                  <a:lnTo>
                    <a:pt x="367792" y="123825"/>
                  </a:lnTo>
                  <a:lnTo>
                    <a:pt x="357631" y="77343"/>
                  </a:lnTo>
                  <a:lnTo>
                    <a:pt x="346075" y="46863"/>
                  </a:lnTo>
                  <a:lnTo>
                    <a:pt x="336804" y="22987"/>
                  </a:lnTo>
                  <a:close/>
                </a:path>
              </a:pathLst>
            </a:custGeom>
            <a:ln w="9525">
              <a:solidFill>
                <a:srgbClr val="000000"/>
              </a:solidFill>
            </a:ln>
          </p:spPr>
          <p:txBody>
            <a:bodyPr wrap="square" lIns="0" tIns="0" rIns="0" bIns="0" rtlCol="0"/>
            <a:lstStyle/>
            <a:p>
              <a:endParaRPr/>
            </a:p>
          </p:txBody>
        </p:sp>
        <p:pic>
          <p:nvPicPr>
            <p:cNvPr id="26" name="object 26"/>
            <p:cNvPicPr/>
            <p:nvPr/>
          </p:nvPicPr>
          <p:blipFill>
            <a:blip r:embed="rId12" cstate="print"/>
            <a:stretch>
              <a:fillRect/>
            </a:stretch>
          </p:blipFill>
          <p:spPr>
            <a:xfrm>
              <a:off x="2385059" y="5510784"/>
              <a:ext cx="370331" cy="339852"/>
            </a:xfrm>
            <a:prstGeom prst="rect">
              <a:avLst/>
            </a:prstGeom>
          </p:spPr>
        </p:pic>
        <p:sp>
          <p:nvSpPr>
            <p:cNvPr id="27" name="object 27"/>
            <p:cNvSpPr/>
            <p:nvPr/>
          </p:nvSpPr>
          <p:spPr>
            <a:xfrm>
              <a:off x="2314956" y="5441315"/>
              <a:ext cx="358140" cy="327660"/>
            </a:xfrm>
            <a:custGeom>
              <a:avLst/>
              <a:gdLst/>
              <a:ahLst/>
              <a:cxnLst/>
              <a:rect l="l" t="t" r="r" b="b"/>
              <a:pathLst>
                <a:path w="358139" h="327660">
                  <a:moveTo>
                    <a:pt x="357632" y="46736"/>
                  </a:moveTo>
                  <a:lnTo>
                    <a:pt x="268224" y="46736"/>
                  </a:lnTo>
                  <a:lnTo>
                    <a:pt x="242697" y="0"/>
                  </a:lnTo>
                  <a:lnTo>
                    <a:pt x="114935" y="0"/>
                  </a:lnTo>
                  <a:lnTo>
                    <a:pt x="89408" y="46736"/>
                  </a:lnTo>
                  <a:lnTo>
                    <a:pt x="63881" y="46736"/>
                  </a:lnTo>
                  <a:lnTo>
                    <a:pt x="63881" y="15621"/>
                  </a:lnTo>
                  <a:lnTo>
                    <a:pt x="25527" y="15621"/>
                  </a:lnTo>
                  <a:lnTo>
                    <a:pt x="25527" y="46736"/>
                  </a:lnTo>
                  <a:lnTo>
                    <a:pt x="0" y="46736"/>
                  </a:lnTo>
                  <a:lnTo>
                    <a:pt x="0" y="327304"/>
                  </a:lnTo>
                  <a:lnTo>
                    <a:pt x="357606" y="327304"/>
                  </a:lnTo>
                  <a:lnTo>
                    <a:pt x="357632" y="46736"/>
                  </a:lnTo>
                  <a:close/>
                </a:path>
              </a:pathLst>
            </a:custGeom>
            <a:solidFill>
              <a:srgbClr val="CCCCFF"/>
            </a:solidFill>
          </p:spPr>
          <p:txBody>
            <a:bodyPr wrap="square" lIns="0" tIns="0" rIns="0" bIns="0" rtlCol="0"/>
            <a:lstStyle/>
            <a:p>
              <a:endParaRPr/>
            </a:p>
          </p:txBody>
        </p:sp>
        <p:pic>
          <p:nvPicPr>
            <p:cNvPr id="28" name="object 28"/>
            <p:cNvPicPr/>
            <p:nvPr/>
          </p:nvPicPr>
          <p:blipFill>
            <a:blip r:embed="rId13" cstate="print"/>
            <a:stretch>
              <a:fillRect/>
            </a:stretch>
          </p:blipFill>
          <p:spPr>
            <a:xfrm>
              <a:off x="2398013" y="5514086"/>
              <a:ext cx="191516" cy="233095"/>
            </a:xfrm>
            <a:prstGeom prst="rect">
              <a:avLst/>
            </a:prstGeom>
          </p:spPr>
        </p:pic>
        <p:sp>
          <p:nvSpPr>
            <p:cNvPr id="29" name="object 29"/>
            <p:cNvSpPr/>
            <p:nvPr/>
          </p:nvSpPr>
          <p:spPr>
            <a:xfrm>
              <a:off x="2314955" y="5441315"/>
              <a:ext cx="358140" cy="327660"/>
            </a:xfrm>
            <a:custGeom>
              <a:avLst/>
              <a:gdLst/>
              <a:ahLst/>
              <a:cxnLst/>
              <a:rect l="l" t="t" r="r" b="b"/>
              <a:pathLst>
                <a:path w="358139" h="327660">
                  <a:moveTo>
                    <a:pt x="0" y="327304"/>
                  </a:moveTo>
                  <a:lnTo>
                    <a:pt x="0" y="46736"/>
                  </a:lnTo>
                  <a:lnTo>
                    <a:pt x="25526" y="46736"/>
                  </a:lnTo>
                  <a:lnTo>
                    <a:pt x="25526" y="15621"/>
                  </a:lnTo>
                  <a:lnTo>
                    <a:pt x="63881" y="15621"/>
                  </a:lnTo>
                  <a:lnTo>
                    <a:pt x="63881" y="46736"/>
                  </a:lnTo>
                  <a:lnTo>
                    <a:pt x="89407" y="46736"/>
                  </a:lnTo>
                  <a:lnTo>
                    <a:pt x="114935" y="0"/>
                  </a:lnTo>
                  <a:lnTo>
                    <a:pt x="242696" y="0"/>
                  </a:lnTo>
                  <a:lnTo>
                    <a:pt x="268224" y="46736"/>
                  </a:lnTo>
                  <a:lnTo>
                    <a:pt x="357631" y="46736"/>
                  </a:lnTo>
                  <a:lnTo>
                    <a:pt x="357631" y="327304"/>
                  </a:lnTo>
                  <a:lnTo>
                    <a:pt x="0" y="327304"/>
                  </a:lnTo>
                  <a:close/>
                </a:path>
                <a:path w="358139" h="327660">
                  <a:moveTo>
                    <a:pt x="0" y="327304"/>
                  </a:moveTo>
                  <a:lnTo>
                    <a:pt x="357606" y="327304"/>
                  </a:lnTo>
                  <a:lnTo>
                    <a:pt x="357606" y="46748"/>
                  </a:lnTo>
                  <a:lnTo>
                    <a:pt x="0" y="46748"/>
                  </a:lnTo>
                  <a:lnTo>
                    <a:pt x="0" y="327304"/>
                  </a:lnTo>
                  <a:close/>
                </a:path>
              </a:pathLst>
            </a:custGeom>
            <a:ln w="9525">
              <a:solidFill>
                <a:srgbClr val="000000"/>
              </a:solidFill>
            </a:ln>
          </p:spPr>
          <p:txBody>
            <a:bodyPr wrap="square" lIns="0" tIns="0" rIns="0" bIns="0" rtlCol="0"/>
            <a:lstStyle/>
            <a:p>
              <a:endParaRPr/>
            </a:p>
          </p:txBody>
        </p:sp>
        <p:pic>
          <p:nvPicPr>
            <p:cNvPr id="30" name="object 30"/>
            <p:cNvPicPr/>
            <p:nvPr/>
          </p:nvPicPr>
          <p:blipFill>
            <a:blip r:embed="rId14" cstate="print"/>
            <a:stretch>
              <a:fillRect/>
            </a:stretch>
          </p:blipFill>
          <p:spPr>
            <a:xfrm>
              <a:off x="2393251" y="5509323"/>
              <a:ext cx="201041" cy="242620"/>
            </a:xfrm>
            <a:prstGeom prst="rect">
              <a:avLst/>
            </a:prstGeom>
          </p:spPr>
        </p:pic>
        <p:pic>
          <p:nvPicPr>
            <p:cNvPr id="31" name="object 31"/>
            <p:cNvPicPr/>
            <p:nvPr/>
          </p:nvPicPr>
          <p:blipFill>
            <a:blip r:embed="rId15" cstate="print"/>
            <a:stretch>
              <a:fillRect/>
            </a:stretch>
          </p:blipFill>
          <p:spPr>
            <a:xfrm>
              <a:off x="2426207" y="5704332"/>
              <a:ext cx="306324" cy="327659"/>
            </a:xfrm>
            <a:prstGeom prst="rect">
              <a:avLst/>
            </a:prstGeom>
          </p:spPr>
        </p:pic>
        <p:sp>
          <p:nvSpPr>
            <p:cNvPr id="32" name="object 32"/>
            <p:cNvSpPr/>
            <p:nvPr/>
          </p:nvSpPr>
          <p:spPr>
            <a:xfrm>
              <a:off x="2356230" y="5633859"/>
              <a:ext cx="294640" cy="316230"/>
            </a:xfrm>
            <a:custGeom>
              <a:avLst/>
              <a:gdLst/>
              <a:ahLst/>
              <a:cxnLst/>
              <a:rect l="l" t="t" r="r" b="b"/>
              <a:pathLst>
                <a:path w="294639" h="316229">
                  <a:moveTo>
                    <a:pt x="294513" y="0"/>
                  </a:moveTo>
                  <a:lnTo>
                    <a:pt x="99821" y="0"/>
                  </a:lnTo>
                  <a:lnTo>
                    <a:pt x="100202" y="144170"/>
                  </a:lnTo>
                  <a:lnTo>
                    <a:pt x="99821" y="234988"/>
                  </a:lnTo>
                  <a:lnTo>
                    <a:pt x="96519" y="232968"/>
                  </a:lnTo>
                  <a:lnTo>
                    <a:pt x="91439" y="228904"/>
                  </a:lnTo>
                  <a:lnTo>
                    <a:pt x="76200" y="222821"/>
                  </a:lnTo>
                  <a:lnTo>
                    <a:pt x="69342" y="220802"/>
                  </a:lnTo>
                  <a:lnTo>
                    <a:pt x="45719" y="220802"/>
                  </a:lnTo>
                  <a:lnTo>
                    <a:pt x="35560" y="222821"/>
                  </a:lnTo>
                  <a:lnTo>
                    <a:pt x="25400" y="228904"/>
                  </a:lnTo>
                  <a:lnTo>
                    <a:pt x="16891" y="232968"/>
                  </a:lnTo>
                  <a:lnTo>
                    <a:pt x="10160" y="241071"/>
                  </a:lnTo>
                  <a:lnTo>
                    <a:pt x="5080" y="249161"/>
                  </a:lnTo>
                  <a:lnTo>
                    <a:pt x="1650" y="257263"/>
                  </a:lnTo>
                  <a:lnTo>
                    <a:pt x="0" y="267398"/>
                  </a:lnTo>
                  <a:lnTo>
                    <a:pt x="1650" y="277533"/>
                  </a:lnTo>
                  <a:lnTo>
                    <a:pt x="25400" y="307911"/>
                  </a:lnTo>
                  <a:lnTo>
                    <a:pt x="57531" y="316026"/>
                  </a:lnTo>
                  <a:lnTo>
                    <a:pt x="69342" y="313982"/>
                  </a:lnTo>
                  <a:lnTo>
                    <a:pt x="104901" y="293738"/>
                  </a:lnTo>
                  <a:lnTo>
                    <a:pt x="115062" y="267398"/>
                  </a:lnTo>
                  <a:lnTo>
                    <a:pt x="115062" y="91147"/>
                  </a:lnTo>
                  <a:lnTo>
                    <a:pt x="279273" y="91147"/>
                  </a:lnTo>
                  <a:lnTo>
                    <a:pt x="279273" y="234988"/>
                  </a:lnTo>
                  <a:lnTo>
                    <a:pt x="274193" y="230924"/>
                  </a:lnTo>
                  <a:lnTo>
                    <a:pt x="270891" y="228904"/>
                  </a:lnTo>
                  <a:lnTo>
                    <a:pt x="260731" y="224853"/>
                  </a:lnTo>
                  <a:lnTo>
                    <a:pt x="253873" y="222821"/>
                  </a:lnTo>
                  <a:lnTo>
                    <a:pt x="248793" y="220802"/>
                  </a:lnTo>
                  <a:lnTo>
                    <a:pt x="225170" y="220802"/>
                  </a:lnTo>
                  <a:lnTo>
                    <a:pt x="215011" y="222821"/>
                  </a:lnTo>
                  <a:lnTo>
                    <a:pt x="204850" y="228904"/>
                  </a:lnTo>
                  <a:lnTo>
                    <a:pt x="196342" y="232968"/>
                  </a:lnTo>
                  <a:lnTo>
                    <a:pt x="189611" y="241071"/>
                  </a:lnTo>
                  <a:lnTo>
                    <a:pt x="184531" y="249161"/>
                  </a:lnTo>
                  <a:lnTo>
                    <a:pt x="181101" y="257263"/>
                  </a:lnTo>
                  <a:lnTo>
                    <a:pt x="179450" y="267398"/>
                  </a:lnTo>
                  <a:lnTo>
                    <a:pt x="181101" y="277533"/>
                  </a:lnTo>
                  <a:lnTo>
                    <a:pt x="204850" y="307911"/>
                  </a:lnTo>
                  <a:lnTo>
                    <a:pt x="236981" y="316026"/>
                  </a:lnTo>
                  <a:lnTo>
                    <a:pt x="248793" y="313982"/>
                  </a:lnTo>
                  <a:lnTo>
                    <a:pt x="284352" y="293738"/>
                  </a:lnTo>
                  <a:lnTo>
                    <a:pt x="294513" y="267398"/>
                  </a:lnTo>
                  <a:lnTo>
                    <a:pt x="294513" y="0"/>
                  </a:lnTo>
                  <a:close/>
                </a:path>
              </a:pathLst>
            </a:custGeom>
            <a:solidFill>
              <a:srgbClr val="CCCCFF"/>
            </a:solidFill>
          </p:spPr>
          <p:txBody>
            <a:bodyPr wrap="square" lIns="0" tIns="0" rIns="0" bIns="0" rtlCol="0"/>
            <a:lstStyle/>
            <a:p>
              <a:endParaRPr/>
            </a:p>
          </p:txBody>
        </p:sp>
        <p:sp>
          <p:nvSpPr>
            <p:cNvPr id="33" name="object 33"/>
            <p:cNvSpPr/>
            <p:nvPr/>
          </p:nvSpPr>
          <p:spPr>
            <a:xfrm>
              <a:off x="2356230" y="5633859"/>
              <a:ext cx="294640" cy="316230"/>
            </a:xfrm>
            <a:custGeom>
              <a:avLst/>
              <a:gdLst/>
              <a:ahLst/>
              <a:cxnLst/>
              <a:rect l="l" t="t" r="r" b="b"/>
              <a:pathLst>
                <a:path w="294639" h="316229">
                  <a:moveTo>
                    <a:pt x="99821" y="0"/>
                  </a:moveTo>
                  <a:lnTo>
                    <a:pt x="100202" y="144170"/>
                  </a:lnTo>
                  <a:lnTo>
                    <a:pt x="99821" y="234988"/>
                  </a:lnTo>
                  <a:lnTo>
                    <a:pt x="96519" y="232968"/>
                  </a:lnTo>
                  <a:lnTo>
                    <a:pt x="91439" y="228904"/>
                  </a:lnTo>
                  <a:lnTo>
                    <a:pt x="86360" y="226872"/>
                  </a:lnTo>
                  <a:lnTo>
                    <a:pt x="81280" y="224853"/>
                  </a:lnTo>
                  <a:lnTo>
                    <a:pt x="76200" y="222821"/>
                  </a:lnTo>
                  <a:lnTo>
                    <a:pt x="69342" y="220802"/>
                  </a:lnTo>
                  <a:lnTo>
                    <a:pt x="64262" y="220802"/>
                  </a:lnTo>
                  <a:lnTo>
                    <a:pt x="57531" y="220802"/>
                  </a:lnTo>
                  <a:lnTo>
                    <a:pt x="45719" y="220802"/>
                  </a:lnTo>
                  <a:lnTo>
                    <a:pt x="35560" y="222821"/>
                  </a:lnTo>
                  <a:lnTo>
                    <a:pt x="25400" y="228904"/>
                  </a:lnTo>
                  <a:lnTo>
                    <a:pt x="16891" y="232968"/>
                  </a:lnTo>
                  <a:lnTo>
                    <a:pt x="10160" y="241071"/>
                  </a:lnTo>
                  <a:lnTo>
                    <a:pt x="5080" y="249161"/>
                  </a:lnTo>
                  <a:lnTo>
                    <a:pt x="1650" y="257263"/>
                  </a:lnTo>
                  <a:lnTo>
                    <a:pt x="0" y="267398"/>
                  </a:lnTo>
                  <a:lnTo>
                    <a:pt x="1650" y="277533"/>
                  </a:lnTo>
                  <a:lnTo>
                    <a:pt x="25400" y="307911"/>
                  </a:lnTo>
                  <a:lnTo>
                    <a:pt x="57531" y="316026"/>
                  </a:lnTo>
                  <a:lnTo>
                    <a:pt x="69342" y="313982"/>
                  </a:lnTo>
                  <a:lnTo>
                    <a:pt x="104901" y="293738"/>
                  </a:lnTo>
                  <a:lnTo>
                    <a:pt x="115062" y="267398"/>
                  </a:lnTo>
                  <a:lnTo>
                    <a:pt x="115062" y="91147"/>
                  </a:lnTo>
                  <a:lnTo>
                    <a:pt x="279273" y="91147"/>
                  </a:lnTo>
                  <a:lnTo>
                    <a:pt x="279273" y="234988"/>
                  </a:lnTo>
                  <a:lnTo>
                    <a:pt x="274193" y="230924"/>
                  </a:lnTo>
                  <a:lnTo>
                    <a:pt x="270891" y="228904"/>
                  </a:lnTo>
                  <a:lnTo>
                    <a:pt x="265811" y="226872"/>
                  </a:lnTo>
                  <a:lnTo>
                    <a:pt x="260731" y="224853"/>
                  </a:lnTo>
                  <a:lnTo>
                    <a:pt x="253873" y="222821"/>
                  </a:lnTo>
                  <a:lnTo>
                    <a:pt x="248793" y="220802"/>
                  </a:lnTo>
                  <a:lnTo>
                    <a:pt x="243712" y="220802"/>
                  </a:lnTo>
                  <a:lnTo>
                    <a:pt x="236981" y="220802"/>
                  </a:lnTo>
                  <a:lnTo>
                    <a:pt x="225170" y="220802"/>
                  </a:lnTo>
                  <a:lnTo>
                    <a:pt x="215011" y="222821"/>
                  </a:lnTo>
                  <a:lnTo>
                    <a:pt x="204850" y="228904"/>
                  </a:lnTo>
                  <a:lnTo>
                    <a:pt x="196342" y="232968"/>
                  </a:lnTo>
                  <a:lnTo>
                    <a:pt x="189611" y="241071"/>
                  </a:lnTo>
                  <a:lnTo>
                    <a:pt x="184531" y="249161"/>
                  </a:lnTo>
                  <a:lnTo>
                    <a:pt x="181101" y="257263"/>
                  </a:lnTo>
                  <a:lnTo>
                    <a:pt x="179450" y="267398"/>
                  </a:lnTo>
                  <a:lnTo>
                    <a:pt x="181101" y="277533"/>
                  </a:lnTo>
                  <a:lnTo>
                    <a:pt x="204850" y="307911"/>
                  </a:lnTo>
                  <a:lnTo>
                    <a:pt x="236981" y="316026"/>
                  </a:lnTo>
                  <a:lnTo>
                    <a:pt x="248793" y="313982"/>
                  </a:lnTo>
                  <a:lnTo>
                    <a:pt x="284352" y="293738"/>
                  </a:lnTo>
                  <a:lnTo>
                    <a:pt x="294513" y="267398"/>
                  </a:lnTo>
                  <a:lnTo>
                    <a:pt x="294513" y="146532"/>
                  </a:lnTo>
                  <a:lnTo>
                    <a:pt x="294513" y="0"/>
                  </a:lnTo>
                  <a:lnTo>
                    <a:pt x="99821" y="0"/>
                  </a:lnTo>
                  <a:close/>
                </a:path>
              </a:pathLst>
            </a:custGeom>
            <a:ln w="9525">
              <a:solidFill>
                <a:srgbClr val="000000"/>
              </a:solidFill>
            </a:ln>
          </p:spPr>
          <p:txBody>
            <a:bodyPr wrap="square" lIns="0" tIns="0" rIns="0" bIns="0" rtlCol="0"/>
            <a:lstStyle/>
            <a:p>
              <a:endParaRPr/>
            </a:p>
          </p:txBody>
        </p:sp>
      </p:grpSp>
      <p:sp>
        <p:nvSpPr>
          <p:cNvPr id="34" name="object 34"/>
          <p:cNvSpPr txBox="1"/>
          <p:nvPr/>
        </p:nvSpPr>
        <p:spPr>
          <a:xfrm>
            <a:off x="6362191" y="5305805"/>
            <a:ext cx="3802379" cy="635635"/>
          </a:xfrm>
          <a:prstGeom prst="rect">
            <a:avLst/>
          </a:prstGeom>
        </p:spPr>
        <p:txBody>
          <a:bodyPr vert="horz" wrap="square" lIns="0" tIns="12700" rIns="0" bIns="0" rtlCol="0">
            <a:spAutoFit/>
          </a:bodyPr>
          <a:lstStyle/>
          <a:p>
            <a:pPr marL="12700" marR="5080">
              <a:lnSpc>
                <a:spcPct val="100000"/>
              </a:lnSpc>
              <a:spcBef>
                <a:spcPts val="100"/>
              </a:spcBef>
            </a:pPr>
            <a:r>
              <a:rPr sz="2000" b="1" dirty="0">
                <a:latin typeface="Arial"/>
                <a:cs typeface="Arial"/>
              </a:rPr>
              <a:t>Power</a:t>
            </a:r>
            <a:r>
              <a:rPr sz="2000" b="1" spc="-45" dirty="0">
                <a:latin typeface="Arial"/>
                <a:cs typeface="Arial"/>
              </a:rPr>
              <a:t> </a:t>
            </a:r>
            <a:r>
              <a:rPr sz="2000" b="1" dirty="0">
                <a:latin typeface="Arial"/>
                <a:cs typeface="Arial"/>
              </a:rPr>
              <a:t>to</a:t>
            </a:r>
            <a:r>
              <a:rPr sz="2000" b="1" spc="-20" dirty="0">
                <a:latin typeface="Arial"/>
                <a:cs typeface="Arial"/>
              </a:rPr>
              <a:t> </a:t>
            </a:r>
            <a:r>
              <a:rPr sz="2000" b="1" dirty="0">
                <a:latin typeface="Arial"/>
                <a:cs typeface="Arial"/>
              </a:rPr>
              <a:t>tax</a:t>
            </a:r>
            <a:r>
              <a:rPr sz="2000" b="1" spc="-35" dirty="0">
                <a:latin typeface="Arial"/>
                <a:cs typeface="Arial"/>
              </a:rPr>
              <a:t> </a:t>
            </a:r>
            <a:r>
              <a:rPr sz="2000" b="1" dirty="0">
                <a:latin typeface="Arial"/>
                <a:cs typeface="Arial"/>
              </a:rPr>
              <a:t>remains</a:t>
            </a:r>
            <a:r>
              <a:rPr sz="2000" b="1" spc="-30" dirty="0">
                <a:latin typeface="Arial"/>
                <a:cs typeface="Arial"/>
              </a:rPr>
              <a:t> </a:t>
            </a:r>
            <a:r>
              <a:rPr sz="2000" b="1" dirty="0">
                <a:latin typeface="Arial"/>
                <a:cs typeface="Arial"/>
              </a:rPr>
              <a:t>with</a:t>
            </a:r>
            <a:r>
              <a:rPr sz="2000" b="1" spc="-50" dirty="0">
                <a:latin typeface="Arial"/>
                <a:cs typeface="Arial"/>
              </a:rPr>
              <a:t> </a:t>
            </a:r>
            <a:r>
              <a:rPr sz="2000" b="1" spc="-10" dirty="0">
                <a:latin typeface="Arial"/>
                <a:cs typeface="Arial"/>
              </a:rPr>
              <a:t>local bodies</a:t>
            </a:r>
            <a:endParaRPr sz="2000">
              <a:latin typeface="Arial"/>
              <a:cs typeface="Arial"/>
            </a:endParaRPr>
          </a:p>
        </p:txBody>
      </p:sp>
      <p:sp>
        <p:nvSpPr>
          <p:cNvPr id="35" name="object 35"/>
          <p:cNvSpPr txBox="1"/>
          <p:nvPr/>
        </p:nvSpPr>
        <p:spPr>
          <a:xfrm>
            <a:off x="391464" y="6563664"/>
            <a:ext cx="102870" cy="208279"/>
          </a:xfrm>
          <a:prstGeom prst="rect">
            <a:avLst/>
          </a:prstGeom>
        </p:spPr>
        <p:txBody>
          <a:bodyPr vert="horz" wrap="square" lIns="0" tIns="12700" rIns="0" bIns="0" rtlCol="0">
            <a:spAutoFit/>
          </a:bodyPr>
          <a:lstStyle/>
          <a:p>
            <a:pPr marL="12700">
              <a:lnSpc>
                <a:spcPct val="100000"/>
              </a:lnSpc>
              <a:spcBef>
                <a:spcPts val="100"/>
              </a:spcBef>
            </a:pPr>
            <a:r>
              <a:rPr sz="1200" spc="-50" dirty="0">
                <a:solidFill>
                  <a:srgbClr val="888888"/>
                </a:solidFill>
                <a:latin typeface="Calibri"/>
                <a:cs typeface="Calibri"/>
              </a:rPr>
              <a:t>8</a:t>
            </a:r>
            <a:endParaRPr sz="1200">
              <a:latin typeface="Calibri"/>
              <a:cs typeface="Calibri"/>
            </a:endParaRPr>
          </a:p>
        </p:txBody>
      </p:sp>
      <p:sp>
        <p:nvSpPr>
          <p:cNvPr id="36" name="object 36"/>
          <p:cNvSpPr txBox="1">
            <a:spLocks noGrp="1"/>
          </p:cNvSpPr>
          <p:nvPr>
            <p:ph type="title"/>
          </p:nvPr>
        </p:nvSpPr>
        <p:spPr>
          <a:xfrm>
            <a:off x="838200" y="224703"/>
            <a:ext cx="10515600" cy="738612"/>
          </a:xfrm>
          <a:prstGeom prst="rect">
            <a:avLst/>
          </a:prstGeom>
        </p:spPr>
        <p:txBody>
          <a:bodyPr vert="horz" wrap="square" lIns="0" tIns="60909" rIns="0" bIns="0" rtlCol="0">
            <a:spAutoFit/>
          </a:bodyPr>
          <a:lstStyle/>
          <a:p>
            <a:pPr marL="106680">
              <a:lnSpc>
                <a:spcPct val="100000"/>
              </a:lnSpc>
              <a:spcBef>
                <a:spcPts val="105"/>
              </a:spcBef>
            </a:pPr>
            <a:r>
              <a:rPr b="1" dirty="0">
                <a:solidFill>
                  <a:srgbClr val="FF0000"/>
                </a:solidFill>
              </a:rPr>
              <a:t>Outside</a:t>
            </a:r>
            <a:r>
              <a:rPr b="1" spc="-60" dirty="0">
                <a:solidFill>
                  <a:srgbClr val="FF0000"/>
                </a:solidFill>
              </a:rPr>
              <a:t> </a:t>
            </a:r>
            <a:r>
              <a:rPr b="1" dirty="0">
                <a:solidFill>
                  <a:srgbClr val="FF0000"/>
                </a:solidFill>
              </a:rPr>
              <a:t>GST</a:t>
            </a:r>
            <a:r>
              <a:rPr b="1" spc="-35" dirty="0">
                <a:solidFill>
                  <a:srgbClr val="FF0000"/>
                </a:solidFill>
              </a:rPr>
              <a:t> </a:t>
            </a:r>
            <a:r>
              <a:rPr b="1" spc="-50" dirty="0">
                <a:solidFill>
                  <a:srgbClr val="FF0000"/>
                </a:solidFill>
              </a:rPr>
              <a:t>!</a:t>
            </a:r>
          </a:p>
        </p:txBody>
      </p:sp>
    </p:spTree>
    <p:extLst>
      <p:ext uri="{BB962C8B-B14F-4D97-AF65-F5344CB8AC3E}">
        <p14:creationId xmlns:p14="http://schemas.microsoft.com/office/powerpoint/2010/main" val="143725499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31984" y="384500"/>
            <a:ext cx="10515600" cy="556563"/>
          </a:xfrm>
          <a:prstGeom prst="rect">
            <a:avLst/>
          </a:prstGeom>
        </p:spPr>
        <p:txBody>
          <a:bodyPr vert="horz" wrap="square" lIns="0" tIns="63500" rIns="0" bIns="0" rtlCol="0">
            <a:spAutoFit/>
          </a:bodyPr>
          <a:lstStyle/>
          <a:p>
            <a:pPr marL="40005">
              <a:lnSpc>
                <a:spcPct val="100000"/>
              </a:lnSpc>
              <a:spcBef>
                <a:spcPts val="95"/>
              </a:spcBef>
            </a:pPr>
            <a:r>
              <a:rPr sz="3200" b="1" dirty="0">
                <a:solidFill>
                  <a:srgbClr val="FF0000"/>
                </a:solidFill>
              </a:rPr>
              <a:t>GST</a:t>
            </a:r>
            <a:r>
              <a:rPr sz="3200" b="1" spc="-80" dirty="0">
                <a:solidFill>
                  <a:srgbClr val="FF0000"/>
                </a:solidFill>
              </a:rPr>
              <a:t> </a:t>
            </a:r>
            <a:r>
              <a:rPr sz="3200" b="1" dirty="0">
                <a:solidFill>
                  <a:srgbClr val="FF0000"/>
                </a:solidFill>
              </a:rPr>
              <a:t>Council</a:t>
            </a:r>
            <a:r>
              <a:rPr sz="3200" b="1" spc="-40" dirty="0">
                <a:solidFill>
                  <a:srgbClr val="FF0000"/>
                </a:solidFill>
              </a:rPr>
              <a:t> </a:t>
            </a:r>
            <a:r>
              <a:rPr sz="3200" b="1" dirty="0">
                <a:solidFill>
                  <a:srgbClr val="FF0000"/>
                </a:solidFill>
              </a:rPr>
              <a:t>–</a:t>
            </a:r>
            <a:r>
              <a:rPr sz="3200" b="1" spc="-75" dirty="0">
                <a:solidFill>
                  <a:srgbClr val="FF0000"/>
                </a:solidFill>
              </a:rPr>
              <a:t> </a:t>
            </a:r>
            <a:r>
              <a:rPr sz="3200" b="1" dirty="0">
                <a:solidFill>
                  <a:srgbClr val="FF0000"/>
                </a:solidFill>
              </a:rPr>
              <a:t>Constitution</a:t>
            </a:r>
            <a:r>
              <a:rPr sz="3200" b="1" spc="-40" dirty="0">
                <a:solidFill>
                  <a:srgbClr val="FF0000"/>
                </a:solidFill>
              </a:rPr>
              <a:t> </a:t>
            </a:r>
            <a:r>
              <a:rPr sz="3200" b="1" dirty="0">
                <a:solidFill>
                  <a:srgbClr val="FF0000"/>
                </a:solidFill>
              </a:rPr>
              <a:t>(Article</a:t>
            </a:r>
            <a:r>
              <a:rPr sz="3200" b="1" spc="-75" dirty="0">
                <a:solidFill>
                  <a:srgbClr val="FF0000"/>
                </a:solidFill>
              </a:rPr>
              <a:t> </a:t>
            </a:r>
            <a:r>
              <a:rPr sz="3200" b="1" dirty="0">
                <a:solidFill>
                  <a:srgbClr val="FF0000"/>
                </a:solidFill>
              </a:rPr>
              <a:t>279A</a:t>
            </a:r>
            <a:r>
              <a:rPr sz="3200" b="1" spc="-165" dirty="0">
                <a:solidFill>
                  <a:srgbClr val="FF0000"/>
                </a:solidFill>
              </a:rPr>
              <a:t> </a:t>
            </a:r>
            <a:r>
              <a:rPr sz="3200" b="1" dirty="0">
                <a:solidFill>
                  <a:srgbClr val="FF0000"/>
                </a:solidFill>
              </a:rPr>
              <a:t>of</a:t>
            </a:r>
            <a:r>
              <a:rPr sz="3200" b="1" spc="-65" dirty="0">
                <a:solidFill>
                  <a:srgbClr val="FF0000"/>
                </a:solidFill>
              </a:rPr>
              <a:t> </a:t>
            </a:r>
            <a:r>
              <a:rPr sz="3200" b="1" dirty="0">
                <a:solidFill>
                  <a:srgbClr val="FF0000"/>
                </a:solidFill>
              </a:rPr>
              <a:t>the</a:t>
            </a:r>
            <a:r>
              <a:rPr sz="3200" b="1" spc="-65" dirty="0">
                <a:solidFill>
                  <a:srgbClr val="FF0000"/>
                </a:solidFill>
              </a:rPr>
              <a:t> </a:t>
            </a:r>
            <a:r>
              <a:rPr sz="3200" b="1" spc="-10" dirty="0">
                <a:solidFill>
                  <a:srgbClr val="FF0000"/>
                </a:solidFill>
              </a:rPr>
              <a:t>Constitution)</a:t>
            </a:r>
            <a:endParaRPr sz="3200" b="1" dirty="0">
              <a:solidFill>
                <a:srgbClr val="FF0000"/>
              </a:solidFill>
            </a:endParaRPr>
          </a:p>
        </p:txBody>
      </p:sp>
      <p:sp>
        <p:nvSpPr>
          <p:cNvPr id="3" name="object 3"/>
          <p:cNvSpPr txBox="1"/>
          <p:nvPr/>
        </p:nvSpPr>
        <p:spPr>
          <a:xfrm>
            <a:off x="338137" y="1027906"/>
            <a:ext cx="11515725" cy="5589905"/>
          </a:xfrm>
          <a:prstGeom prst="rect">
            <a:avLst/>
          </a:prstGeom>
        </p:spPr>
        <p:txBody>
          <a:bodyPr vert="horz" wrap="square" lIns="0" tIns="134620" rIns="0" bIns="0" rtlCol="0">
            <a:spAutoFit/>
          </a:bodyPr>
          <a:lstStyle/>
          <a:p>
            <a:pPr marL="374015" indent="-361315">
              <a:lnSpc>
                <a:spcPct val="100000"/>
              </a:lnSpc>
              <a:spcBef>
                <a:spcPts val="1060"/>
              </a:spcBef>
              <a:buSzPct val="75000"/>
              <a:buFont typeface="Wingdings"/>
              <a:buChar char=""/>
              <a:tabLst>
                <a:tab pos="374015" algn="l"/>
              </a:tabLst>
            </a:pPr>
            <a:r>
              <a:rPr sz="3000" dirty="0">
                <a:latin typeface="Microsoft Sans Serif"/>
                <a:cs typeface="Microsoft Sans Serif"/>
              </a:rPr>
              <a:t>Chairperson</a:t>
            </a:r>
            <a:r>
              <a:rPr sz="3000" spc="-40" dirty="0">
                <a:latin typeface="Microsoft Sans Serif"/>
                <a:cs typeface="Microsoft Sans Serif"/>
              </a:rPr>
              <a:t> </a:t>
            </a:r>
            <a:r>
              <a:rPr sz="3000" spc="785" dirty="0">
                <a:latin typeface="Microsoft Sans Serif"/>
                <a:cs typeface="Microsoft Sans Serif"/>
              </a:rPr>
              <a:t>–</a:t>
            </a:r>
            <a:r>
              <a:rPr sz="3000" spc="-45" dirty="0">
                <a:latin typeface="Microsoft Sans Serif"/>
                <a:cs typeface="Microsoft Sans Serif"/>
              </a:rPr>
              <a:t> </a:t>
            </a:r>
            <a:r>
              <a:rPr sz="3000" dirty="0">
                <a:latin typeface="Microsoft Sans Serif"/>
                <a:cs typeface="Microsoft Sans Serif"/>
              </a:rPr>
              <a:t>Union</a:t>
            </a:r>
            <a:r>
              <a:rPr sz="3000" spc="-40" dirty="0">
                <a:latin typeface="Microsoft Sans Serif"/>
                <a:cs typeface="Microsoft Sans Serif"/>
              </a:rPr>
              <a:t> </a:t>
            </a:r>
            <a:r>
              <a:rPr sz="3000" spc="-25" dirty="0">
                <a:latin typeface="Microsoft Sans Serif"/>
                <a:cs typeface="Microsoft Sans Serif"/>
              </a:rPr>
              <a:t>FM</a:t>
            </a:r>
            <a:endParaRPr sz="3000" dirty="0">
              <a:latin typeface="Microsoft Sans Serif"/>
              <a:cs typeface="Microsoft Sans Serif"/>
            </a:endParaRPr>
          </a:p>
          <a:p>
            <a:pPr marL="374015" marR="10795" indent="-361950">
              <a:lnSpc>
                <a:spcPct val="110000"/>
              </a:lnSpc>
              <a:spcBef>
                <a:spcPts val="605"/>
              </a:spcBef>
              <a:buSzPct val="75000"/>
              <a:buFont typeface="Wingdings"/>
              <a:buChar char=""/>
              <a:tabLst>
                <a:tab pos="374015" algn="l"/>
                <a:tab pos="3757295" algn="l"/>
                <a:tab pos="10607040" algn="l"/>
              </a:tabLst>
            </a:pPr>
            <a:r>
              <a:rPr sz="3000" dirty="0">
                <a:latin typeface="Microsoft Sans Serif"/>
                <a:cs typeface="Microsoft Sans Serif"/>
              </a:rPr>
              <a:t>Vice</a:t>
            </a:r>
            <a:r>
              <a:rPr sz="3000" spc="290" dirty="0">
                <a:latin typeface="Microsoft Sans Serif"/>
                <a:cs typeface="Microsoft Sans Serif"/>
              </a:rPr>
              <a:t> </a:t>
            </a:r>
            <a:r>
              <a:rPr sz="3000" dirty="0">
                <a:latin typeface="Microsoft Sans Serif"/>
                <a:cs typeface="Microsoft Sans Serif"/>
              </a:rPr>
              <a:t>Chairperson</a:t>
            </a:r>
            <a:r>
              <a:rPr sz="3000" spc="285" dirty="0">
                <a:latin typeface="Microsoft Sans Serif"/>
                <a:cs typeface="Microsoft Sans Serif"/>
              </a:rPr>
              <a:t> </a:t>
            </a:r>
            <a:r>
              <a:rPr sz="3000" spc="-50" dirty="0">
                <a:latin typeface="Microsoft Sans Serif"/>
                <a:cs typeface="Microsoft Sans Serif"/>
              </a:rPr>
              <a:t>-</a:t>
            </a:r>
            <a:r>
              <a:rPr sz="3000" dirty="0">
                <a:latin typeface="Microsoft Sans Serif"/>
                <a:cs typeface="Microsoft Sans Serif"/>
              </a:rPr>
              <a:t>	to</a:t>
            </a:r>
            <a:r>
              <a:rPr sz="3000" spc="345" dirty="0">
                <a:latin typeface="Microsoft Sans Serif"/>
                <a:cs typeface="Microsoft Sans Serif"/>
              </a:rPr>
              <a:t> </a:t>
            </a:r>
            <a:r>
              <a:rPr sz="3000" dirty="0">
                <a:latin typeface="Microsoft Sans Serif"/>
                <a:cs typeface="Microsoft Sans Serif"/>
              </a:rPr>
              <a:t>be</a:t>
            </a:r>
            <a:r>
              <a:rPr sz="3000" spc="360" dirty="0">
                <a:latin typeface="Microsoft Sans Serif"/>
                <a:cs typeface="Microsoft Sans Serif"/>
              </a:rPr>
              <a:t> </a:t>
            </a:r>
            <a:r>
              <a:rPr sz="3000" dirty="0">
                <a:latin typeface="Microsoft Sans Serif"/>
                <a:cs typeface="Microsoft Sans Serif"/>
              </a:rPr>
              <a:t>chosen</a:t>
            </a:r>
            <a:r>
              <a:rPr sz="3000" spc="350" dirty="0">
                <a:latin typeface="Microsoft Sans Serif"/>
                <a:cs typeface="Microsoft Sans Serif"/>
              </a:rPr>
              <a:t> </a:t>
            </a:r>
            <a:r>
              <a:rPr sz="3000" dirty="0">
                <a:latin typeface="Microsoft Sans Serif"/>
                <a:cs typeface="Microsoft Sans Serif"/>
              </a:rPr>
              <a:t>amongst</a:t>
            </a:r>
            <a:r>
              <a:rPr sz="3000" spc="355" dirty="0">
                <a:latin typeface="Microsoft Sans Serif"/>
                <a:cs typeface="Microsoft Sans Serif"/>
              </a:rPr>
              <a:t> </a:t>
            </a:r>
            <a:r>
              <a:rPr sz="3000" dirty="0">
                <a:latin typeface="Microsoft Sans Serif"/>
                <a:cs typeface="Microsoft Sans Serif"/>
              </a:rPr>
              <a:t>the</a:t>
            </a:r>
            <a:r>
              <a:rPr sz="3000" spc="345" dirty="0">
                <a:latin typeface="Microsoft Sans Serif"/>
                <a:cs typeface="Microsoft Sans Serif"/>
              </a:rPr>
              <a:t> </a:t>
            </a:r>
            <a:r>
              <a:rPr sz="3000" dirty="0">
                <a:latin typeface="Microsoft Sans Serif"/>
                <a:cs typeface="Microsoft Sans Serif"/>
              </a:rPr>
              <a:t>Ministers</a:t>
            </a:r>
            <a:r>
              <a:rPr sz="3000" spc="350" dirty="0">
                <a:latin typeface="Microsoft Sans Serif"/>
                <a:cs typeface="Microsoft Sans Serif"/>
              </a:rPr>
              <a:t> </a:t>
            </a:r>
            <a:r>
              <a:rPr sz="3000" spc="-25" dirty="0">
                <a:latin typeface="Microsoft Sans Serif"/>
                <a:cs typeface="Microsoft Sans Serif"/>
              </a:rPr>
              <a:t>of</a:t>
            </a:r>
            <a:r>
              <a:rPr sz="3000" dirty="0">
                <a:latin typeface="Microsoft Sans Serif"/>
                <a:cs typeface="Microsoft Sans Serif"/>
              </a:rPr>
              <a:t>	</a:t>
            </a:r>
            <a:r>
              <a:rPr sz="3000" spc="-10" dirty="0">
                <a:latin typeface="Microsoft Sans Serif"/>
                <a:cs typeface="Microsoft Sans Serif"/>
              </a:rPr>
              <a:t>State Government</a:t>
            </a:r>
            <a:endParaRPr sz="3000" dirty="0">
              <a:latin typeface="Microsoft Sans Serif"/>
              <a:cs typeface="Microsoft Sans Serif"/>
            </a:endParaRPr>
          </a:p>
          <a:p>
            <a:pPr marL="374015" marR="8890" indent="-361950">
              <a:lnSpc>
                <a:spcPct val="110000"/>
              </a:lnSpc>
              <a:spcBef>
                <a:spcPts val="600"/>
              </a:spcBef>
              <a:buSzPct val="75000"/>
              <a:buFont typeface="Wingdings"/>
              <a:buChar char=""/>
              <a:tabLst>
                <a:tab pos="374015" algn="l"/>
              </a:tabLst>
            </a:pPr>
            <a:r>
              <a:rPr sz="3000" dirty="0">
                <a:latin typeface="Microsoft Sans Serif"/>
                <a:cs typeface="Microsoft Sans Serif"/>
              </a:rPr>
              <a:t>Members</a:t>
            </a:r>
            <a:r>
              <a:rPr sz="3000" spc="85" dirty="0">
                <a:latin typeface="Microsoft Sans Serif"/>
                <a:cs typeface="Microsoft Sans Serif"/>
              </a:rPr>
              <a:t> </a:t>
            </a:r>
            <a:r>
              <a:rPr sz="3000" dirty="0">
                <a:latin typeface="Microsoft Sans Serif"/>
                <a:cs typeface="Microsoft Sans Serif"/>
              </a:rPr>
              <a:t>-</a:t>
            </a:r>
            <a:r>
              <a:rPr sz="3000" spc="114" dirty="0">
                <a:latin typeface="Microsoft Sans Serif"/>
                <a:cs typeface="Microsoft Sans Serif"/>
              </a:rPr>
              <a:t> </a:t>
            </a:r>
            <a:r>
              <a:rPr sz="3000" dirty="0">
                <a:latin typeface="Microsoft Sans Serif"/>
                <a:cs typeface="Microsoft Sans Serif"/>
              </a:rPr>
              <a:t>MOS</a:t>
            </a:r>
            <a:r>
              <a:rPr sz="3000" spc="105" dirty="0">
                <a:latin typeface="Microsoft Sans Serif"/>
                <a:cs typeface="Microsoft Sans Serif"/>
              </a:rPr>
              <a:t> </a:t>
            </a:r>
            <a:r>
              <a:rPr sz="3000" dirty="0">
                <a:latin typeface="Microsoft Sans Serif"/>
                <a:cs typeface="Microsoft Sans Serif"/>
              </a:rPr>
              <a:t>(Finance)</a:t>
            </a:r>
            <a:r>
              <a:rPr sz="3000" spc="95" dirty="0">
                <a:latin typeface="Microsoft Sans Serif"/>
                <a:cs typeface="Microsoft Sans Serif"/>
              </a:rPr>
              <a:t> </a:t>
            </a:r>
            <a:r>
              <a:rPr sz="3000" dirty="0">
                <a:latin typeface="Microsoft Sans Serif"/>
                <a:cs typeface="Microsoft Sans Serif"/>
              </a:rPr>
              <a:t>and</a:t>
            </a:r>
            <a:r>
              <a:rPr sz="3000" spc="100" dirty="0">
                <a:latin typeface="Microsoft Sans Serif"/>
                <a:cs typeface="Microsoft Sans Serif"/>
              </a:rPr>
              <a:t> </a:t>
            </a:r>
            <a:r>
              <a:rPr sz="3000" dirty="0">
                <a:latin typeface="Microsoft Sans Serif"/>
                <a:cs typeface="Microsoft Sans Serif"/>
              </a:rPr>
              <a:t>all</a:t>
            </a:r>
            <a:r>
              <a:rPr sz="3000" spc="100" dirty="0">
                <a:latin typeface="Microsoft Sans Serif"/>
                <a:cs typeface="Microsoft Sans Serif"/>
              </a:rPr>
              <a:t> </a:t>
            </a:r>
            <a:r>
              <a:rPr sz="3000" dirty="0">
                <a:latin typeface="Microsoft Sans Serif"/>
                <a:cs typeface="Microsoft Sans Serif"/>
              </a:rPr>
              <a:t>Ministers</a:t>
            </a:r>
            <a:r>
              <a:rPr sz="3000" spc="90" dirty="0">
                <a:latin typeface="Microsoft Sans Serif"/>
                <a:cs typeface="Microsoft Sans Serif"/>
              </a:rPr>
              <a:t> </a:t>
            </a:r>
            <a:r>
              <a:rPr sz="3000" dirty="0">
                <a:latin typeface="Microsoft Sans Serif"/>
                <a:cs typeface="Microsoft Sans Serif"/>
              </a:rPr>
              <a:t>of</a:t>
            </a:r>
            <a:r>
              <a:rPr sz="3000" spc="114" dirty="0">
                <a:latin typeface="Microsoft Sans Serif"/>
                <a:cs typeface="Microsoft Sans Serif"/>
              </a:rPr>
              <a:t> </a:t>
            </a:r>
            <a:r>
              <a:rPr sz="3000" dirty="0">
                <a:latin typeface="Microsoft Sans Serif"/>
                <a:cs typeface="Microsoft Sans Serif"/>
              </a:rPr>
              <a:t>Finance</a:t>
            </a:r>
            <a:r>
              <a:rPr sz="3000" spc="85" dirty="0">
                <a:latin typeface="Microsoft Sans Serif"/>
                <a:cs typeface="Microsoft Sans Serif"/>
              </a:rPr>
              <a:t> </a:t>
            </a:r>
            <a:r>
              <a:rPr sz="3000" dirty="0">
                <a:latin typeface="Microsoft Sans Serif"/>
                <a:cs typeface="Microsoft Sans Serif"/>
              </a:rPr>
              <a:t>/</a:t>
            </a:r>
            <a:r>
              <a:rPr sz="3000" spc="114" dirty="0">
                <a:latin typeface="Microsoft Sans Serif"/>
                <a:cs typeface="Microsoft Sans Serif"/>
              </a:rPr>
              <a:t> </a:t>
            </a:r>
            <a:r>
              <a:rPr sz="3000" spc="-10" dirty="0">
                <a:latin typeface="Microsoft Sans Serif"/>
                <a:cs typeface="Microsoft Sans Serif"/>
              </a:rPr>
              <a:t>Taxation </a:t>
            </a:r>
            <a:r>
              <a:rPr sz="3000" dirty="0">
                <a:latin typeface="Microsoft Sans Serif"/>
                <a:cs typeface="Microsoft Sans Serif"/>
              </a:rPr>
              <a:t>of</a:t>
            </a:r>
            <a:r>
              <a:rPr sz="3000" spc="25" dirty="0">
                <a:latin typeface="Microsoft Sans Serif"/>
                <a:cs typeface="Microsoft Sans Serif"/>
              </a:rPr>
              <a:t> </a:t>
            </a:r>
            <a:r>
              <a:rPr sz="3000" dirty="0">
                <a:latin typeface="Microsoft Sans Serif"/>
                <a:cs typeface="Microsoft Sans Serif"/>
              </a:rPr>
              <a:t>each</a:t>
            </a:r>
            <a:r>
              <a:rPr sz="3000" spc="25" dirty="0">
                <a:latin typeface="Microsoft Sans Serif"/>
                <a:cs typeface="Microsoft Sans Serif"/>
              </a:rPr>
              <a:t> </a:t>
            </a:r>
            <a:r>
              <a:rPr sz="3000" spc="-10" dirty="0">
                <a:latin typeface="Microsoft Sans Serif"/>
                <a:cs typeface="Microsoft Sans Serif"/>
              </a:rPr>
              <a:t>State</a:t>
            </a:r>
            <a:endParaRPr sz="3000" dirty="0">
              <a:latin typeface="Microsoft Sans Serif"/>
              <a:cs typeface="Microsoft Sans Serif"/>
            </a:endParaRPr>
          </a:p>
          <a:p>
            <a:pPr marL="374015" indent="-361315">
              <a:lnSpc>
                <a:spcPct val="100000"/>
              </a:lnSpc>
              <a:spcBef>
                <a:spcPts val="960"/>
              </a:spcBef>
              <a:buSzPct val="75000"/>
              <a:buFont typeface="Wingdings"/>
              <a:buChar char=""/>
              <a:tabLst>
                <a:tab pos="374015" algn="l"/>
              </a:tabLst>
            </a:pPr>
            <a:r>
              <a:rPr sz="3000" dirty="0">
                <a:latin typeface="Microsoft Sans Serif"/>
                <a:cs typeface="Microsoft Sans Serif"/>
              </a:rPr>
              <a:t>Quorum</a:t>
            </a:r>
            <a:r>
              <a:rPr sz="3000" spc="10" dirty="0">
                <a:latin typeface="Microsoft Sans Serif"/>
                <a:cs typeface="Microsoft Sans Serif"/>
              </a:rPr>
              <a:t> </a:t>
            </a:r>
            <a:r>
              <a:rPr sz="3000" dirty="0">
                <a:latin typeface="Microsoft Sans Serif"/>
                <a:cs typeface="Microsoft Sans Serif"/>
              </a:rPr>
              <a:t>is</a:t>
            </a:r>
            <a:r>
              <a:rPr sz="3000" spc="10" dirty="0">
                <a:latin typeface="Microsoft Sans Serif"/>
                <a:cs typeface="Microsoft Sans Serif"/>
              </a:rPr>
              <a:t> </a:t>
            </a:r>
            <a:r>
              <a:rPr sz="3000" dirty="0">
                <a:latin typeface="Microsoft Sans Serif"/>
                <a:cs typeface="Microsoft Sans Serif"/>
              </a:rPr>
              <a:t>50%</a:t>
            </a:r>
            <a:r>
              <a:rPr sz="3000" spc="10" dirty="0">
                <a:latin typeface="Microsoft Sans Serif"/>
                <a:cs typeface="Microsoft Sans Serif"/>
              </a:rPr>
              <a:t> </a:t>
            </a:r>
            <a:r>
              <a:rPr sz="3000" dirty="0">
                <a:latin typeface="Microsoft Sans Serif"/>
                <a:cs typeface="Microsoft Sans Serif"/>
              </a:rPr>
              <a:t>of</a:t>
            </a:r>
            <a:r>
              <a:rPr sz="3000" spc="15" dirty="0">
                <a:latin typeface="Microsoft Sans Serif"/>
                <a:cs typeface="Microsoft Sans Serif"/>
              </a:rPr>
              <a:t> </a:t>
            </a:r>
            <a:r>
              <a:rPr sz="3000" dirty="0">
                <a:latin typeface="Microsoft Sans Serif"/>
                <a:cs typeface="Microsoft Sans Serif"/>
              </a:rPr>
              <a:t>total</a:t>
            </a:r>
            <a:r>
              <a:rPr sz="3000" spc="15" dirty="0">
                <a:latin typeface="Microsoft Sans Serif"/>
                <a:cs typeface="Microsoft Sans Serif"/>
              </a:rPr>
              <a:t> </a:t>
            </a:r>
            <a:r>
              <a:rPr sz="3000" spc="-10" dirty="0">
                <a:latin typeface="Microsoft Sans Serif"/>
                <a:cs typeface="Microsoft Sans Serif"/>
              </a:rPr>
              <a:t>members</a:t>
            </a:r>
            <a:endParaRPr sz="3000" dirty="0">
              <a:latin typeface="Microsoft Sans Serif"/>
              <a:cs typeface="Microsoft Sans Serif"/>
            </a:endParaRPr>
          </a:p>
          <a:p>
            <a:pPr marL="374015" indent="-361315">
              <a:lnSpc>
                <a:spcPct val="100000"/>
              </a:lnSpc>
              <a:spcBef>
                <a:spcPts val="965"/>
              </a:spcBef>
              <a:buSzPct val="75000"/>
              <a:buFont typeface="Wingdings"/>
              <a:buChar char=""/>
              <a:tabLst>
                <a:tab pos="374015" algn="l"/>
              </a:tabLst>
            </a:pPr>
            <a:r>
              <a:rPr sz="3000" dirty="0">
                <a:latin typeface="Microsoft Sans Serif"/>
                <a:cs typeface="Microsoft Sans Serif"/>
              </a:rPr>
              <a:t>States</a:t>
            </a:r>
            <a:r>
              <a:rPr sz="3000" spc="20" dirty="0">
                <a:latin typeface="Microsoft Sans Serif"/>
                <a:cs typeface="Microsoft Sans Serif"/>
              </a:rPr>
              <a:t> </a:t>
            </a:r>
            <a:r>
              <a:rPr sz="3000" dirty="0">
                <a:latin typeface="Microsoft Sans Serif"/>
                <a:cs typeface="Microsoft Sans Serif"/>
              </a:rPr>
              <a:t>-</a:t>
            </a:r>
            <a:r>
              <a:rPr sz="3000" spc="15" dirty="0">
                <a:latin typeface="Microsoft Sans Serif"/>
                <a:cs typeface="Microsoft Sans Serif"/>
              </a:rPr>
              <a:t> </a:t>
            </a:r>
            <a:r>
              <a:rPr sz="3000" dirty="0">
                <a:latin typeface="Microsoft Sans Serif"/>
                <a:cs typeface="Microsoft Sans Serif"/>
              </a:rPr>
              <a:t>2/3</a:t>
            </a:r>
            <a:r>
              <a:rPr sz="3000" spc="15" dirty="0">
                <a:latin typeface="Microsoft Sans Serif"/>
                <a:cs typeface="Microsoft Sans Serif"/>
              </a:rPr>
              <a:t> </a:t>
            </a:r>
            <a:r>
              <a:rPr sz="3000" dirty="0">
                <a:latin typeface="Microsoft Sans Serif"/>
                <a:cs typeface="Microsoft Sans Serif"/>
              </a:rPr>
              <a:t>weightage</a:t>
            </a:r>
            <a:r>
              <a:rPr sz="3000" spc="-10" dirty="0">
                <a:latin typeface="Microsoft Sans Serif"/>
                <a:cs typeface="Microsoft Sans Serif"/>
              </a:rPr>
              <a:t> </a:t>
            </a:r>
            <a:r>
              <a:rPr sz="3000" dirty="0">
                <a:latin typeface="Microsoft Sans Serif"/>
                <a:cs typeface="Microsoft Sans Serif"/>
              </a:rPr>
              <a:t>and</a:t>
            </a:r>
            <a:r>
              <a:rPr sz="3000" spc="-20" dirty="0">
                <a:latin typeface="Microsoft Sans Serif"/>
                <a:cs typeface="Microsoft Sans Serif"/>
              </a:rPr>
              <a:t> </a:t>
            </a:r>
            <a:r>
              <a:rPr sz="3000" dirty="0">
                <a:latin typeface="Microsoft Sans Serif"/>
                <a:cs typeface="Microsoft Sans Serif"/>
              </a:rPr>
              <a:t>Centre</a:t>
            </a:r>
            <a:r>
              <a:rPr sz="3000" spc="-5" dirty="0">
                <a:latin typeface="Microsoft Sans Serif"/>
                <a:cs typeface="Microsoft Sans Serif"/>
              </a:rPr>
              <a:t> </a:t>
            </a:r>
            <a:r>
              <a:rPr sz="3000" dirty="0">
                <a:latin typeface="Microsoft Sans Serif"/>
                <a:cs typeface="Microsoft Sans Serif"/>
              </a:rPr>
              <a:t>-</a:t>
            </a:r>
            <a:r>
              <a:rPr sz="3000" spc="15" dirty="0">
                <a:latin typeface="Microsoft Sans Serif"/>
                <a:cs typeface="Microsoft Sans Serif"/>
              </a:rPr>
              <a:t> </a:t>
            </a:r>
            <a:r>
              <a:rPr sz="3000" dirty="0">
                <a:latin typeface="Microsoft Sans Serif"/>
                <a:cs typeface="Microsoft Sans Serif"/>
              </a:rPr>
              <a:t>1/3</a:t>
            </a:r>
            <a:r>
              <a:rPr sz="3000" spc="15" dirty="0">
                <a:latin typeface="Microsoft Sans Serif"/>
                <a:cs typeface="Microsoft Sans Serif"/>
              </a:rPr>
              <a:t> </a:t>
            </a:r>
            <a:r>
              <a:rPr sz="3000" spc="-10" dirty="0">
                <a:latin typeface="Microsoft Sans Serif"/>
                <a:cs typeface="Microsoft Sans Serif"/>
              </a:rPr>
              <a:t>weightage</a:t>
            </a:r>
            <a:endParaRPr sz="3000" dirty="0">
              <a:latin typeface="Microsoft Sans Serif"/>
              <a:cs typeface="Microsoft Sans Serif"/>
            </a:endParaRPr>
          </a:p>
          <a:p>
            <a:pPr marL="374015" indent="-361315">
              <a:lnSpc>
                <a:spcPct val="100000"/>
              </a:lnSpc>
              <a:spcBef>
                <a:spcPts val="960"/>
              </a:spcBef>
              <a:buSzPct val="75000"/>
              <a:buFont typeface="Wingdings"/>
              <a:buChar char=""/>
              <a:tabLst>
                <a:tab pos="374015" algn="l"/>
              </a:tabLst>
            </a:pPr>
            <a:r>
              <a:rPr sz="3000" dirty="0">
                <a:latin typeface="Microsoft Sans Serif"/>
                <a:cs typeface="Microsoft Sans Serif"/>
              </a:rPr>
              <a:t>Decision</a:t>
            </a:r>
            <a:r>
              <a:rPr sz="3000" spc="-25" dirty="0">
                <a:latin typeface="Microsoft Sans Serif"/>
                <a:cs typeface="Microsoft Sans Serif"/>
              </a:rPr>
              <a:t> </a:t>
            </a:r>
            <a:r>
              <a:rPr sz="3000" dirty="0">
                <a:latin typeface="Microsoft Sans Serif"/>
                <a:cs typeface="Microsoft Sans Serif"/>
              </a:rPr>
              <a:t>by</a:t>
            </a:r>
            <a:r>
              <a:rPr sz="3000" spc="-40" dirty="0">
                <a:latin typeface="Microsoft Sans Serif"/>
                <a:cs typeface="Microsoft Sans Serif"/>
              </a:rPr>
              <a:t> </a:t>
            </a:r>
            <a:r>
              <a:rPr sz="3000" dirty="0">
                <a:latin typeface="Microsoft Sans Serif"/>
                <a:cs typeface="Microsoft Sans Serif"/>
              </a:rPr>
              <a:t>75%</a:t>
            </a:r>
            <a:r>
              <a:rPr sz="3000" spc="-25" dirty="0">
                <a:latin typeface="Microsoft Sans Serif"/>
                <a:cs typeface="Microsoft Sans Serif"/>
              </a:rPr>
              <a:t> </a:t>
            </a:r>
            <a:r>
              <a:rPr sz="3000" spc="-10" dirty="0">
                <a:latin typeface="Microsoft Sans Serif"/>
                <a:cs typeface="Microsoft Sans Serif"/>
              </a:rPr>
              <a:t>majority</a:t>
            </a:r>
            <a:endParaRPr sz="3000" dirty="0">
              <a:latin typeface="Microsoft Sans Serif"/>
              <a:cs typeface="Microsoft Sans Serif"/>
            </a:endParaRPr>
          </a:p>
          <a:p>
            <a:pPr marL="374015" marR="5080" indent="-361950">
              <a:lnSpc>
                <a:spcPct val="110000"/>
              </a:lnSpc>
              <a:spcBef>
                <a:spcPts val="600"/>
              </a:spcBef>
              <a:buSzPct val="75000"/>
              <a:buFont typeface="Wingdings"/>
              <a:buChar char=""/>
              <a:tabLst>
                <a:tab pos="374015" algn="l"/>
              </a:tabLst>
            </a:pPr>
            <a:r>
              <a:rPr sz="3000" dirty="0">
                <a:latin typeface="Microsoft Sans Serif"/>
                <a:cs typeface="Microsoft Sans Serif"/>
              </a:rPr>
              <a:t>Council</a:t>
            </a:r>
            <a:r>
              <a:rPr sz="3000" spc="270" dirty="0">
                <a:latin typeface="Microsoft Sans Serif"/>
                <a:cs typeface="Microsoft Sans Serif"/>
              </a:rPr>
              <a:t> </a:t>
            </a:r>
            <a:r>
              <a:rPr sz="3000" dirty="0">
                <a:latin typeface="Microsoft Sans Serif"/>
                <a:cs typeface="Microsoft Sans Serif"/>
              </a:rPr>
              <a:t>to</a:t>
            </a:r>
            <a:r>
              <a:rPr sz="3000" spc="275" dirty="0">
                <a:latin typeface="Microsoft Sans Serif"/>
                <a:cs typeface="Microsoft Sans Serif"/>
              </a:rPr>
              <a:t> </a:t>
            </a:r>
            <a:r>
              <a:rPr sz="3000" dirty="0">
                <a:latin typeface="Microsoft Sans Serif"/>
                <a:cs typeface="Microsoft Sans Serif"/>
              </a:rPr>
              <a:t>make</a:t>
            </a:r>
            <a:r>
              <a:rPr sz="3000" spc="265" dirty="0">
                <a:latin typeface="Microsoft Sans Serif"/>
                <a:cs typeface="Microsoft Sans Serif"/>
              </a:rPr>
              <a:t> </a:t>
            </a:r>
            <a:r>
              <a:rPr sz="3000" dirty="0">
                <a:latin typeface="Microsoft Sans Serif"/>
                <a:cs typeface="Microsoft Sans Serif"/>
              </a:rPr>
              <a:t>recommendations</a:t>
            </a:r>
            <a:r>
              <a:rPr sz="3000" spc="260" dirty="0">
                <a:latin typeface="Microsoft Sans Serif"/>
                <a:cs typeface="Microsoft Sans Serif"/>
              </a:rPr>
              <a:t> </a:t>
            </a:r>
            <a:r>
              <a:rPr sz="3000" dirty="0">
                <a:latin typeface="Microsoft Sans Serif"/>
                <a:cs typeface="Microsoft Sans Serif"/>
              </a:rPr>
              <a:t>on</a:t>
            </a:r>
            <a:r>
              <a:rPr sz="3000" spc="270" dirty="0">
                <a:latin typeface="Microsoft Sans Serif"/>
                <a:cs typeface="Microsoft Sans Serif"/>
              </a:rPr>
              <a:t> </a:t>
            </a:r>
            <a:r>
              <a:rPr sz="3000" dirty="0">
                <a:latin typeface="Microsoft Sans Serif"/>
                <a:cs typeface="Microsoft Sans Serif"/>
              </a:rPr>
              <a:t>everything</a:t>
            </a:r>
            <a:r>
              <a:rPr sz="3000" spc="280" dirty="0">
                <a:latin typeface="Microsoft Sans Serif"/>
                <a:cs typeface="Microsoft Sans Serif"/>
              </a:rPr>
              <a:t> </a:t>
            </a:r>
            <a:r>
              <a:rPr sz="3000" dirty="0">
                <a:latin typeface="Microsoft Sans Serif"/>
                <a:cs typeface="Microsoft Sans Serif"/>
              </a:rPr>
              <a:t>related</a:t>
            </a:r>
            <a:r>
              <a:rPr sz="3000" spc="270" dirty="0">
                <a:latin typeface="Microsoft Sans Serif"/>
                <a:cs typeface="Microsoft Sans Serif"/>
              </a:rPr>
              <a:t> </a:t>
            </a:r>
            <a:r>
              <a:rPr sz="3000" dirty="0">
                <a:latin typeface="Microsoft Sans Serif"/>
                <a:cs typeface="Microsoft Sans Serif"/>
              </a:rPr>
              <a:t>to</a:t>
            </a:r>
            <a:r>
              <a:rPr sz="3000" spc="275" dirty="0">
                <a:latin typeface="Microsoft Sans Serif"/>
                <a:cs typeface="Microsoft Sans Serif"/>
              </a:rPr>
              <a:t> </a:t>
            </a:r>
            <a:r>
              <a:rPr sz="3000" spc="-25" dirty="0">
                <a:latin typeface="Microsoft Sans Serif"/>
                <a:cs typeface="Microsoft Sans Serif"/>
              </a:rPr>
              <a:t>GST </a:t>
            </a:r>
            <a:r>
              <a:rPr sz="3000" dirty="0">
                <a:latin typeface="Microsoft Sans Serif"/>
                <a:cs typeface="Microsoft Sans Serif"/>
              </a:rPr>
              <a:t>including</a:t>
            </a:r>
            <a:r>
              <a:rPr sz="3000" spc="-35" dirty="0">
                <a:latin typeface="Microsoft Sans Serif"/>
                <a:cs typeface="Microsoft Sans Serif"/>
              </a:rPr>
              <a:t> </a:t>
            </a:r>
            <a:r>
              <a:rPr sz="3000" dirty="0">
                <a:latin typeface="Microsoft Sans Serif"/>
                <a:cs typeface="Microsoft Sans Serif"/>
              </a:rPr>
              <a:t>laws,</a:t>
            </a:r>
            <a:r>
              <a:rPr sz="3000" spc="-35" dirty="0">
                <a:latin typeface="Microsoft Sans Serif"/>
                <a:cs typeface="Microsoft Sans Serif"/>
              </a:rPr>
              <a:t> </a:t>
            </a:r>
            <a:r>
              <a:rPr sz="3000" dirty="0">
                <a:latin typeface="Microsoft Sans Serif"/>
                <a:cs typeface="Microsoft Sans Serif"/>
              </a:rPr>
              <a:t>rules</a:t>
            </a:r>
            <a:r>
              <a:rPr sz="3000" spc="-25" dirty="0">
                <a:latin typeface="Microsoft Sans Serif"/>
                <a:cs typeface="Microsoft Sans Serif"/>
              </a:rPr>
              <a:t> </a:t>
            </a:r>
            <a:r>
              <a:rPr sz="3000" dirty="0">
                <a:latin typeface="Microsoft Sans Serif"/>
                <a:cs typeface="Microsoft Sans Serif"/>
              </a:rPr>
              <a:t>and</a:t>
            </a:r>
            <a:r>
              <a:rPr sz="3000" spc="-15" dirty="0">
                <a:latin typeface="Microsoft Sans Serif"/>
                <a:cs typeface="Microsoft Sans Serif"/>
              </a:rPr>
              <a:t> </a:t>
            </a:r>
            <a:r>
              <a:rPr sz="3000" dirty="0">
                <a:latin typeface="Microsoft Sans Serif"/>
                <a:cs typeface="Microsoft Sans Serif"/>
              </a:rPr>
              <a:t>rates</a:t>
            </a:r>
            <a:r>
              <a:rPr sz="3000" spc="-5" dirty="0">
                <a:latin typeface="Microsoft Sans Serif"/>
                <a:cs typeface="Microsoft Sans Serif"/>
              </a:rPr>
              <a:t> </a:t>
            </a:r>
            <a:r>
              <a:rPr sz="3000" spc="-20" dirty="0">
                <a:latin typeface="Microsoft Sans Serif"/>
                <a:cs typeface="Microsoft Sans Serif"/>
              </a:rPr>
              <a:t>etc.</a:t>
            </a:r>
            <a:endParaRPr sz="3000" dirty="0">
              <a:latin typeface="Microsoft Sans Serif"/>
              <a:cs typeface="Microsoft Sans Serif"/>
            </a:endParaRPr>
          </a:p>
        </p:txBody>
      </p:sp>
    </p:spTree>
    <p:extLst>
      <p:ext uri="{BB962C8B-B14F-4D97-AF65-F5344CB8AC3E}">
        <p14:creationId xmlns:p14="http://schemas.microsoft.com/office/powerpoint/2010/main" val="88396786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896644" y="461639"/>
            <a:ext cx="9942990" cy="5586145"/>
          </a:xfrm>
          <a:prstGeom prst="rect">
            <a:avLst/>
          </a:prstGeom>
        </p:spPr>
        <p:txBody>
          <a:bodyPr wrap="square">
            <a:spAutoFit/>
          </a:bodyPr>
          <a:lstStyle/>
          <a:p>
            <a:pPr algn="just">
              <a:lnSpc>
                <a:spcPct val="150000"/>
              </a:lnSpc>
            </a:pPr>
            <a:r>
              <a:rPr lang="en-US" sz="2000" dirty="0"/>
              <a:t>Now, let’s look at how the weighted voting system works.</a:t>
            </a:r>
          </a:p>
          <a:p>
            <a:pPr algn="just">
              <a:lnSpc>
                <a:spcPct val="150000"/>
              </a:lnSpc>
            </a:pPr>
            <a:r>
              <a:rPr lang="en-US" sz="2000" dirty="0"/>
              <a:t>In terms of Clause 9 of the Article 279A, the “</a:t>
            </a:r>
            <a:r>
              <a:rPr lang="en-US" sz="2000" dirty="0" smtClean="0"/>
              <a:t>weighted votes </a:t>
            </a:r>
            <a:r>
              <a:rPr lang="en-US" sz="2000" dirty="0"/>
              <a:t>of the members present and voting” in favour of </a:t>
            </a:r>
            <a:r>
              <a:rPr lang="en-US" sz="2000" dirty="0" smtClean="0"/>
              <a:t>a proposal </a:t>
            </a:r>
            <a:r>
              <a:rPr lang="en-US" sz="2000" dirty="0"/>
              <a:t>in the GST Council shall be determined as </a:t>
            </a:r>
            <a:r>
              <a:rPr lang="en-US" sz="2000" dirty="0" smtClean="0"/>
              <a:t>under:</a:t>
            </a:r>
          </a:p>
          <a:p>
            <a:pPr algn="just">
              <a:lnSpc>
                <a:spcPct val="150000"/>
              </a:lnSpc>
            </a:pPr>
            <a:r>
              <a:rPr lang="en-US" sz="2000" dirty="0" smtClean="0"/>
              <a:t>T </a:t>
            </a:r>
            <a:r>
              <a:rPr lang="en-US" sz="2000" dirty="0"/>
              <a:t>= C + S</a:t>
            </a:r>
          </a:p>
          <a:p>
            <a:pPr algn="just">
              <a:lnSpc>
                <a:spcPct val="150000"/>
              </a:lnSpc>
            </a:pPr>
            <a:r>
              <a:rPr lang="en-US" sz="2000" dirty="0"/>
              <a:t>Where,</a:t>
            </a:r>
          </a:p>
          <a:p>
            <a:pPr algn="just">
              <a:lnSpc>
                <a:spcPct val="150000"/>
              </a:lnSpc>
            </a:pPr>
            <a:r>
              <a:rPr lang="en-US" sz="2000" dirty="0"/>
              <a:t>T = Total weighted votes of all members in favour of </a:t>
            </a:r>
            <a:r>
              <a:rPr lang="en-US" sz="2000" dirty="0" smtClean="0"/>
              <a:t>a proposal</a:t>
            </a:r>
            <a:r>
              <a:rPr lang="en-US" sz="2000" dirty="0"/>
              <a:t>.</a:t>
            </a:r>
          </a:p>
          <a:p>
            <a:pPr algn="just">
              <a:lnSpc>
                <a:spcPct val="150000"/>
              </a:lnSpc>
            </a:pPr>
            <a:r>
              <a:rPr lang="en-US" sz="2000" dirty="0"/>
              <a:t>C = Weighted vote of the Centre = 1/3 i.e., 33.33%</a:t>
            </a:r>
          </a:p>
          <a:p>
            <a:pPr algn="just">
              <a:lnSpc>
                <a:spcPct val="150000"/>
              </a:lnSpc>
            </a:pPr>
            <a:r>
              <a:rPr lang="en-US" sz="2000" dirty="0"/>
              <a:t>S = Weighted votes of the States in favour of a proposal.</a:t>
            </a:r>
          </a:p>
          <a:p>
            <a:pPr algn="just">
              <a:lnSpc>
                <a:spcPct val="150000"/>
              </a:lnSpc>
            </a:pPr>
            <a:r>
              <a:rPr lang="en-US" sz="2000" dirty="0"/>
              <a:t>Calculation of Weighted Vote of the Centre, C</a:t>
            </a:r>
          </a:p>
          <a:p>
            <a:pPr algn="just">
              <a:lnSpc>
                <a:spcPct val="150000"/>
              </a:lnSpc>
            </a:pPr>
            <a:r>
              <a:rPr lang="en-US" sz="2000" dirty="0"/>
              <a:t>This calculation is very easy. Where Centre is in </a:t>
            </a:r>
            <a:r>
              <a:rPr lang="en-US" sz="2000" dirty="0" smtClean="0"/>
              <a:t>favour of </a:t>
            </a:r>
            <a:r>
              <a:rPr lang="en-US" sz="2000" dirty="0"/>
              <a:t>proposal, it will be 1 x 1/3 = 1/3 or say 33.33%. However</a:t>
            </a:r>
            <a:r>
              <a:rPr lang="en-US" sz="2000" dirty="0" smtClean="0"/>
              <a:t>, if </a:t>
            </a:r>
            <a:r>
              <a:rPr lang="en-US" sz="2000" dirty="0"/>
              <a:t>Centre is not favour in proposal, the weighted vote of</a:t>
            </a:r>
          </a:p>
          <a:p>
            <a:pPr algn="just">
              <a:lnSpc>
                <a:spcPct val="150000"/>
              </a:lnSpc>
            </a:pPr>
            <a:r>
              <a:rPr lang="en-US" sz="2000" dirty="0"/>
              <a:t>Centre will be 0 x 1/3 = 0</a:t>
            </a:r>
            <a:r>
              <a:rPr lang="en-US" sz="2000" dirty="0" smtClean="0"/>
              <a:t>.</a:t>
            </a:r>
            <a:endParaRPr lang="en-US" sz="2000" dirty="0"/>
          </a:p>
        </p:txBody>
      </p:sp>
    </p:spTree>
    <p:extLst>
      <p:ext uri="{BB962C8B-B14F-4D97-AF65-F5344CB8AC3E}">
        <p14:creationId xmlns:p14="http://schemas.microsoft.com/office/powerpoint/2010/main" val="24560193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92459" y="710914"/>
            <a:ext cx="10493406" cy="4708981"/>
          </a:xfrm>
          <a:prstGeom prst="rect">
            <a:avLst/>
          </a:prstGeom>
        </p:spPr>
        <p:txBody>
          <a:bodyPr wrap="square">
            <a:spAutoFit/>
          </a:bodyPr>
          <a:lstStyle/>
          <a:p>
            <a:r>
              <a:rPr lang="en-US" sz="2000" dirty="0"/>
              <a:t>Calculation of Weighted Vote of the States, S</a:t>
            </a:r>
          </a:p>
          <a:p>
            <a:r>
              <a:rPr lang="en-US" sz="2000" dirty="0"/>
              <a:t>S = W x F/P</a:t>
            </a:r>
          </a:p>
          <a:p>
            <a:r>
              <a:rPr lang="en-US" sz="2000" dirty="0"/>
              <a:t>Where,</a:t>
            </a:r>
            <a:endParaRPr lang="en-IN" sz="2000" dirty="0"/>
          </a:p>
          <a:p>
            <a:pPr algn="just">
              <a:lnSpc>
                <a:spcPct val="150000"/>
              </a:lnSpc>
            </a:pPr>
            <a:r>
              <a:rPr lang="en-US" sz="2000" dirty="0" smtClean="0"/>
              <a:t>W </a:t>
            </a:r>
            <a:r>
              <a:rPr lang="en-US" sz="2000" dirty="0"/>
              <a:t>= Weighted allocated to all States present and voting i.e., i.e., 2/3 or 66.67% </a:t>
            </a:r>
            <a:endParaRPr lang="en-US" sz="2000" dirty="0" smtClean="0"/>
          </a:p>
          <a:p>
            <a:pPr algn="just">
              <a:lnSpc>
                <a:spcPct val="150000"/>
              </a:lnSpc>
            </a:pPr>
            <a:r>
              <a:rPr lang="en-US" sz="2000" dirty="0" smtClean="0"/>
              <a:t>F </a:t>
            </a:r>
            <a:r>
              <a:rPr lang="en-US" sz="2000" dirty="0"/>
              <a:t>= Number of States voting in favour of a proposal. </a:t>
            </a:r>
            <a:endParaRPr lang="en-US" sz="2000" dirty="0" smtClean="0"/>
          </a:p>
          <a:p>
            <a:pPr algn="just">
              <a:lnSpc>
                <a:spcPct val="150000"/>
              </a:lnSpc>
            </a:pPr>
            <a:r>
              <a:rPr lang="en-US" sz="2000" dirty="0" smtClean="0"/>
              <a:t>P </a:t>
            </a:r>
            <a:r>
              <a:rPr lang="en-US" sz="2000" dirty="0"/>
              <a:t>= Number of States present and voting. </a:t>
            </a:r>
            <a:endParaRPr lang="en-US" sz="2000" dirty="0" smtClean="0"/>
          </a:p>
          <a:p>
            <a:pPr algn="just">
              <a:lnSpc>
                <a:spcPct val="150000"/>
              </a:lnSpc>
            </a:pPr>
            <a:r>
              <a:rPr lang="en-US" sz="2000" dirty="0" smtClean="0"/>
              <a:t>For </a:t>
            </a:r>
            <a:r>
              <a:rPr lang="en-US" sz="2000" dirty="0"/>
              <a:t>example, if 24 states are present (P) and 18 states are in favour (F) of a proposal. </a:t>
            </a:r>
            <a:endParaRPr lang="en-US" sz="2000" dirty="0" smtClean="0"/>
          </a:p>
          <a:p>
            <a:pPr algn="just">
              <a:lnSpc>
                <a:spcPct val="150000"/>
              </a:lnSpc>
            </a:pPr>
            <a:r>
              <a:rPr lang="en-US" sz="2000" dirty="0" smtClean="0"/>
              <a:t>The </a:t>
            </a:r>
            <a:r>
              <a:rPr lang="en-US" sz="2000" dirty="0"/>
              <a:t>Weight of State (W) would be 2/3 x 18/24 = ½ = 50%. So, on a proposal, </a:t>
            </a:r>
            <a:endParaRPr lang="en-US" sz="2000" dirty="0" smtClean="0"/>
          </a:p>
          <a:p>
            <a:pPr algn="just">
              <a:lnSpc>
                <a:spcPct val="150000"/>
              </a:lnSpc>
            </a:pPr>
            <a:r>
              <a:rPr lang="en-US" sz="2000" dirty="0" smtClean="0"/>
              <a:t>if </a:t>
            </a:r>
            <a:r>
              <a:rPr lang="en-US" sz="2000" dirty="0"/>
              <a:t>Centre is also in favour, in the above example, </a:t>
            </a:r>
            <a:endParaRPr lang="en-US" sz="2000" dirty="0" smtClean="0"/>
          </a:p>
          <a:p>
            <a:pPr algn="just">
              <a:lnSpc>
                <a:spcPct val="150000"/>
              </a:lnSpc>
            </a:pPr>
            <a:r>
              <a:rPr lang="en-US" sz="2000" dirty="0" smtClean="0"/>
              <a:t>Total </a:t>
            </a:r>
            <a:r>
              <a:rPr lang="en-US" sz="2000" dirty="0"/>
              <a:t>Weighted Votes of all members (T) shall be 83.33% (33.33% + 50%) and </a:t>
            </a:r>
            <a:endParaRPr lang="en-US" sz="2000" dirty="0" smtClean="0"/>
          </a:p>
          <a:p>
            <a:pPr algn="just">
              <a:lnSpc>
                <a:spcPct val="150000"/>
              </a:lnSpc>
            </a:pPr>
            <a:r>
              <a:rPr lang="en-US" sz="2000" dirty="0" smtClean="0"/>
              <a:t>the </a:t>
            </a:r>
            <a:r>
              <a:rPr lang="en-US" sz="2000" dirty="0"/>
              <a:t>proposal shall be passed.</a:t>
            </a:r>
            <a:endParaRPr lang="en-IN" dirty="0"/>
          </a:p>
        </p:txBody>
      </p:sp>
    </p:spTree>
    <p:extLst>
      <p:ext uri="{BB962C8B-B14F-4D97-AF65-F5344CB8AC3E}">
        <p14:creationId xmlns:p14="http://schemas.microsoft.com/office/powerpoint/2010/main" val="306388281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88885" y="394525"/>
            <a:ext cx="9647069" cy="3785652"/>
          </a:xfrm>
          <a:prstGeom prst="rect">
            <a:avLst/>
          </a:prstGeom>
        </p:spPr>
        <p:txBody>
          <a:bodyPr wrap="square">
            <a:spAutoFit/>
          </a:bodyPr>
          <a:lstStyle/>
          <a:p>
            <a:pPr algn="just">
              <a:lnSpc>
                <a:spcPct val="150000"/>
              </a:lnSpc>
            </a:pPr>
            <a:r>
              <a:rPr lang="en-US" sz="2000" dirty="0"/>
              <a:t>What will be the situation in case Centre is against </a:t>
            </a:r>
            <a:r>
              <a:rPr lang="en-US" sz="2000" dirty="0" smtClean="0"/>
              <a:t>the Proposal</a:t>
            </a:r>
            <a:r>
              <a:rPr lang="en-US" sz="2000" dirty="0"/>
              <a:t>?</a:t>
            </a:r>
          </a:p>
          <a:p>
            <a:pPr algn="just">
              <a:lnSpc>
                <a:spcPct val="150000"/>
              </a:lnSpc>
            </a:pPr>
            <a:r>
              <a:rPr lang="en-US" sz="2000" dirty="0"/>
              <a:t>Every decision of the GST Council will be taken by </a:t>
            </a:r>
            <a:r>
              <a:rPr lang="en-US" sz="2000" dirty="0" smtClean="0"/>
              <a:t>a majority </a:t>
            </a:r>
            <a:r>
              <a:rPr lang="en-US" sz="2000" dirty="0"/>
              <a:t>of not less than three-fourths of weighted </a:t>
            </a:r>
            <a:r>
              <a:rPr lang="en-US" sz="2000" dirty="0" smtClean="0"/>
              <a:t>votes (</a:t>
            </a:r>
            <a:r>
              <a:rPr lang="en-US" sz="2000" dirty="0"/>
              <a:t>75%) of the members present and voting. </a:t>
            </a:r>
            <a:endParaRPr lang="en-US" sz="2000" dirty="0" smtClean="0"/>
          </a:p>
          <a:p>
            <a:pPr algn="just">
              <a:lnSpc>
                <a:spcPct val="150000"/>
              </a:lnSpc>
            </a:pPr>
            <a:r>
              <a:rPr lang="en-US" sz="2000" dirty="0" smtClean="0"/>
              <a:t>The Centre’s share </a:t>
            </a:r>
            <a:r>
              <a:rPr lang="en-US" sz="2000" dirty="0"/>
              <a:t>of weight is either 33.33% (if it is in favour) or </a:t>
            </a:r>
            <a:endParaRPr lang="en-US" sz="2000" dirty="0" smtClean="0"/>
          </a:p>
          <a:p>
            <a:pPr algn="just">
              <a:lnSpc>
                <a:spcPct val="150000"/>
              </a:lnSpc>
            </a:pPr>
            <a:r>
              <a:rPr lang="en-US" sz="2000" dirty="0" smtClean="0"/>
              <a:t>0% (</a:t>
            </a:r>
            <a:r>
              <a:rPr lang="en-US" sz="2000" dirty="0"/>
              <a:t>if Centre is not in favour). </a:t>
            </a:r>
            <a:endParaRPr lang="en-US" sz="2000" dirty="0" smtClean="0"/>
          </a:p>
          <a:p>
            <a:pPr algn="just">
              <a:lnSpc>
                <a:spcPct val="150000"/>
              </a:lnSpc>
            </a:pPr>
            <a:r>
              <a:rPr lang="en-US" sz="2000" dirty="0" smtClean="0"/>
              <a:t>he </a:t>
            </a:r>
            <a:r>
              <a:rPr lang="en-US" sz="2000" dirty="0"/>
              <a:t>minimum requirement </a:t>
            </a:r>
            <a:r>
              <a:rPr lang="en-US" sz="2000" dirty="0" smtClean="0"/>
              <a:t>is that </a:t>
            </a:r>
            <a:r>
              <a:rPr lang="en-US" sz="2000" dirty="0"/>
              <a:t>three-fourth of weighted votes must be in favour of</a:t>
            </a:r>
          </a:p>
          <a:p>
            <a:pPr algn="just">
              <a:lnSpc>
                <a:spcPct val="150000"/>
              </a:lnSpc>
            </a:pPr>
            <a:r>
              <a:rPr lang="en-US" sz="2000" dirty="0"/>
              <a:t>proposal. Thus, if Centre is against the proposal, then </a:t>
            </a:r>
            <a:r>
              <a:rPr lang="en-US" sz="2000" dirty="0" smtClean="0"/>
              <a:t>the weighted </a:t>
            </a:r>
            <a:r>
              <a:rPr lang="en-US" sz="2000" dirty="0"/>
              <a:t>vote cannot reach 75%. Even if all the </a:t>
            </a:r>
            <a:r>
              <a:rPr lang="en-US" sz="2000" dirty="0" smtClean="0"/>
              <a:t>states agree </a:t>
            </a:r>
            <a:r>
              <a:rPr lang="en-US" sz="2000" dirty="0"/>
              <a:t>to any proposal their total weight will be only 66.67%.</a:t>
            </a:r>
            <a:endParaRPr lang="en-IN" sz="2000" dirty="0"/>
          </a:p>
        </p:txBody>
      </p:sp>
    </p:spTree>
    <p:extLst>
      <p:ext uri="{BB962C8B-B14F-4D97-AF65-F5344CB8AC3E}">
        <p14:creationId xmlns:p14="http://schemas.microsoft.com/office/powerpoint/2010/main" val="32574878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531862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523" y="765048"/>
            <a:ext cx="11138535" cy="119380"/>
          </a:xfrm>
          <a:custGeom>
            <a:avLst/>
            <a:gdLst/>
            <a:ahLst/>
            <a:cxnLst/>
            <a:rect l="l" t="t" r="r" b="b"/>
            <a:pathLst>
              <a:path w="11138535" h="119380">
                <a:moveTo>
                  <a:pt x="11079099" y="0"/>
                </a:moveTo>
                <a:lnTo>
                  <a:pt x="11055988" y="4679"/>
                </a:lnTo>
                <a:lnTo>
                  <a:pt x="11037093" y="17430"/>
                </a:lnTo>
                <a:lnTo>
                  <a:pt x="11024342" y="36325"/>
                </a:lnTo>
                <a:lnTo>
                  <a:pt x="11019663" y="59436"/>
                </a:lnTo>
                <a:lnTo>
                  <a:pt x="11024342" y="82546"/>
                </a:lnTo>
                <a:lnTo>
                  <a:pt x="11037093" y="101441"/>
                </a:lnTo>
                <a:lnTo>
                  <a:pt x="11055988" y="114192"/>
                </a:lnTo>
                <a:lnTo>
                  <a:pt x="11079099" y="118872"/>
                </a:lnTo>
                <a:lnTo>
                  <a:pt x="11102262" y="114192"/>
                </a:lnTo>
                <a:lnTo>
                  <a:pt x="11121151" y="101441"/>
                </a:lnTo>
                <a:lnTo>
                  <a:pt x="11133873" y="82546"/>
                </a:lnTo>
                <a:lnTo>
                  <a:pt x="11134538" y="79248"/>
                </a:lnTo>
                <a:lnTo>
                  <a:pt x="11079099" y="79248"/>
                </a:lnTo>
                <a:lnTo>
                  <a:pt x="11079099" y="39624"/>
                </a:lnTo>
                <a:lnTo>
                  <a:pt x="11134538" y="39624"/>
                </a:lnTo>
                <a:lnTo>
                  <a:pt x="11133873" y="36325"/>
                </a:lnTo>
                <a:lnTo>
                  <a:pt x="11121151" y="17430"/>
                </a:lnTo>
                <a:lnTo>
                  <a:pt x="11102262" y="4679"/>
                </a:lnTo>
                <a:lnTo>
                  <a:pt x="11079099" y="0"/>
                </a:lnTo>
                <a:close/>
              </a:path>
              <a:path w="11138535" h="119380">
                <a:moveTo>
                  <a:pt x="11023674" y="39624"/>
                </a:moveTo>
                <a:lnTo>
                  <a:pt x="0" y="39624"/>
                </a:lnTo>
                <a:lnTo>
                  <a:pt x="0" y="79248"/>
                </a:lnTo>
                <a:lnTo>
                  <a:pt x="11023674" y="79248"/>
                </a:lnTo>
                <a:lnTo>
                  <a:pt x="11019663" y="59436"/>
                </a:lnTo>
                <a:lnTo>
                  <a:pt x="11023674" y="39624"/>
                </a:lnTo>
                <a:close/>
              </a:path>
              <a:path w="11138535" h="119380">
                <a:moveTo>
                  <a:pt x="11134538" y="39624"/>
                </a:moveTo>
                <a:lnTo>
                  <a:pt x="11079099" y="39624"/>
                </a:lnTo>
                <a:lnTo>
                  <a:pt x="11079099" y="79248"/>
                </a:lnTo>
                <a:lnTo>
                  <a:pt x="11134538" y="79248"/>
                </a:lnTo>
                <a:lnTo>
                  <a:pt x="11138535" y="59436"/>
                </a:lnTo>
                <a:lnTo>
                  <a:pt x="11134538" y="39624"/>
                </a:lnTo>
                <a:close/>
              </a:path>
            </a:pathLst>
          </a:custGeom>
          <a:solidFill>
            <a:srgbClr val="001F5F"/>
          </a:solidFill>
        </p:spPr>
        <p:txBody>
          <a:bodyPr wrap="square" lIns="0" tIns="0" rIns="0" bIns="0" rtlCol="0"/>
          <a:lstStyle/>
          <a:p>
            <a:endParaRPr/>
          </a:p>
        </p:txBody>
      </p:sp>
      <p:pic>
        <p:nvPicPr>
          <p:cNvPr id="3" name="object 3"/>
          <p:cNvPicPr/>
          <p:nvPr/>
        </p:nvPicPr>
        <p:blipFill>
          <a:blip r:embed="rId2" cstate="print"/>
          <a:stretch>
            <a:fillRect/>
          </a:stretch>
        </p:blipFill>
        <p:spPr>
          <a:xfrm>
            <a:off x="10509504" y="67056"/>
            <a:ext cx="1600200" cy="474412"/>
          </a:xfrm>
          <a:prstGeom prst="rect">
            <a:avLst/>
          </a:prstGeom>
        </p:spPr>
      </p:pic>
      <p:sp>
        <p:nvSpPr>
          <p:cNvPr id="4" name="object 4"/>
          <p:cNvSpPr txBox="1">
            <a:spLocks noGrp="1"/>
          </p:cNvSpPr>
          <p:nvPr>
            <p:ph type="title"/>
          </p:nvPr>
        </p:nvSpPr>
        <p:spPr>
          <a:xfrm>
            <a:off x="862075" y="153746"/>
            <a:ext cx="5099685" cy="512445"/>
          </a:xfrm>
          <a:prstGeom prst="rect">
            <a:avLst/>
          </a:prstGeom>
        </p:spPr>
        <p:txBody>
          <a:bodyPr vert="horz" wrap="square" lIns="0" tIns="12065" rIns="0" bIns="0" rtlCol="0">
            <a:spAutoFit/>
          </a:bodyPr>
          <a:lstStyle/>
          <a:p>
            <a:pPr marL="12700">
              <a:lnSpc>
                <a:spcPct val="100000"/>
              </a:lnSpc>
              <a:spcBef>
                <a:spcPts val="95"/>
              </a:spcBef>
            </a:pPr>
            <a:r>
              <a:rPr sz="3200" b="1" spc="-5" dirty="0">
                <a:latin typeface="Times New Roman"/>
                <a:cs typeface="Times New Roman"/>
              </a:rPr>
              <a:t>Dual</a:t>
            </a:r>
            <a:r>
              <a:rPr sz="3200" b="1" spc="-25" dirty="0">
                <a:latin typeface="Times New Roman"/>
                <a:cs typeface="Times New Roman"/>
              </a:rPr>
              <a:t> </a:t>
            </a:r>
            <a:r>
              <a:rPr sz="3200" b="1" spc="-10" dirty="0">
                <a:latin typeface="Times New Roman"/>
                <a:cs typeface="Times New Roman"/>
              </a:rPr>
              <a:t>Concurrent</a:t>
            </a:r>
            <a:r>
              <a:rPr sz="3200" b="1" spc="5" dirty="0">
                <a:latin typeface="Times New Roman"/>
                <a:cs typeface="Times New Roman"/>
              </a:rPr>
              <a:t> </a:t>
            </a:r>
            <a:r>
              <a:rPr sz="3200" b="1" spc="-10" dirty="0">
                <a:latin typeface="Times New Roman"/>
                <a:cs typeface="Times New Roman"/>
              </a:rPr>
              <a:t>GST</a:t>
            </a:r>
            <a:r>
              <a:rPr sz="3200" b="1" spc="-60" dirty="0">
                <a:latin typeface="Times New Roman"/>
                <a:cs typeface="Times New Roman"/>
              </a:rPr>
              <a:t> </a:t>
            </a:r>
            <a:r>
              <a:rPr sz="3200" b="1" spc="-5" dirty="0">
                <a:latin typeface="Times New Roman"/>
                <a:cs typeface="Times New Roman"/>
              </a:rPr>
              <a:t>Model</a:t>
            </a:r>
            <a:endParaRPr sz="3200">
              <a:latin typeface="Times New Roman"/>
              <a:cs typeface="Times New Roman"/>
            </a:endParaRPr>
          </a:p>
        </p:txBody>
      </p:sp>
      <p:pic>
        <p:nvPicPr>
          <p:cNvPr id="5" name="object 5"/>
          <p:cNvPicPr/>
          <p:nvPr/>
        </p:nvPicPr>
        <p:blipFill>
          <a:blip r:embed="rId3" cstate="print"/>
          <a:stretch>
            <a:fillRect/>
          </a:stretch>
        </p:blipFill>
        <p:spPr>
          <a:xfrm>
            <a:off x="85343" y="0"/>
            <a:ext cx="582168" cy="690879"/>
          </a:xfrm>
          <a:prstGeom prst="rect">
            <a:avLst/>
          </a:prstGeom>
        </p:spPr>
      </p:pic>
      <p:grpSp>
        <p:nvGrpSpPr>
          <p:cNvPr id="6" name="object 6"/>
          <p:cNvGrpSpPr/>
          <p:nvPr/>
        </p:nvGrpSpPr>
        <p:grpSpPr>
          <a:xfrm>
            <a:off x="2462529" y="1270761"/>
            <a:ext cx="4441825" cy="3368675"/>
            <a:chOff x="2462529" y="1270761"/>
            <a:chExt cx="4441825" cy="3368675"/>
          </a:xfrm>
        </p:grpSpPr>
        <p:sp>
          <p:nvSpPr>
            <p:cNvPr id="7" name="object 7"/>
            <p:cNvSpPr/>
            <p:nvPr/>
          </p:nvSpPr>
          <p:spPr>
            <a:xfrm>
              <a:off x="6897623" y="4105655"/>
              <a:ext cx="0" cy="527050"/>
            </a:xfrm>
            <a:custGeom>
              <a:avLst/>
              <a:gdLst/>
              <a:ahLst/>
              <a:cxnLst/>
              <a:rect l="l" t="t" r="r" b="b"/>
              <a:pathLst>
                <a:path h="527050">
                  <a:moveTo>
                    <a:pt x="0" y="0"/>
                  </a:moveTo>
                  <a:lnTo>
                    <a:pt x="0" y="527050"/>
                  </a:lnTo>
                </a:path>
              </a:pathLst>
            </a:custGeom>
            <a:ln w="12192">
              <a:solidFill>
                <a:srgbClr val="A4A4A4"/>
              </a:solidFill>
            </a:ln>
          </p:spPr>
          <p:txBody>
            <a:bodyPr wrap="square" lIns="0" tIns="0" rIns="0" bIns="0" rtlCol="0"/>
            <a:lstStyle/>
            <a:p>
              <a:endParaRPr/>
            </a:p>
          </p:txBody>
        </p:sp>
        <p:sp>
          <p:nvSpPr>
            <p:cNvPr id="8" name="object 8"/>
            <p:cNvSpPr/>
            <p:nvPr/>
          </p:nvSpPr>
          <p:spPr>
            <a:xfrm>
              <a:off x="3575303" y="2426208"/>
              <a:ext cx="3322320" cy="527050"/>
            </a:xfrm>
            <a:custGeom>
              <a:avLst/>
              <a:gdLst/>
              <a:ahLst/>
              <a:cxnLst/>
              <a:rect l="l" t="t" r="r" b="b"/>
              <a:pathLst>
                <a:path w="3322320" h="527050">
                  <a:moveTo>
                    <a:pt x="1661160" y="0"/>
                  </a:moveTo>
                  <a:lnTo>
                    <a:pt x="1661160" y="359155"/>
                  </a:lnTo>
                  <a:lnTo>
                    <a:pt x="3322320" y="359155"/>
                  </a:lnTo>
                  <a:lnTo>
                    <a:pt x="3322320" y="527050"/>
                  </a:lnTo>
                </a:path>
                <a:path w="3322320" h="527050">
                  <a:moveTo>
                    <a:pt x="1661160" y="0"/>
                  </a:moveTo>
                  <a:lnTo>
                    <a:pt x="1661160" y="359155"/>
                  </a:lnTo>
                  <a:lnTo>
                    <a:pt x="0" y="359155"/>
                  </a:lnTo>
                  <a:lnTo>
                    <a:pt x="0" y="527050"/>
                  </a:lnTo>
                </a:path>
              </a:pathLst>
            </a:custGeom>
            <a:ln w="12192">
              <a:solidFill>
                <a:srgbClr val="EC7C30"/>
              </a:solidFill>
            </a:ln>
          </p:spPr>
          <p:txBody>
            <a:bodyPr wrap="square" lIns="0" tIns="0" rIns="0" bIns="0" rtlCol="0"/>
            <a:lstStyle/>
            <a:p>
              <a:endParaRPr/>
            </a:p>
          </p:txBody>
        </p:sp>
        <p:sp>
          <p:nvSpPr>
            <p:cNvPr id="9" name="object 9"/>
            <p:cNvSpPr/>
            <p:nvPr/>
          </p:nvSpPr>
          <p:spPr>
            <a:xfrm>
              <a:off x="4331207" y="1277111"/>
              <a:ext cx="1811020" cy="1149350"/>
            </a:xfrm>
            <a:custGeom>
              <a:avLst/>
              <a:gdLst/>
              <a:ahLst/>
              <a:cxnLst/>
              <a:rect l="l" t="t" r="r" b="b"/>
              <a:pathLst>
                <a:path w="1811020" h="1149350">
                  <a:moveTo>
                    <a:pt x="1695577" y="0"/>
                  </a:moveTo>
                  <a:lnTo>
                    <a:pt x="114934" y="0"/>
                  </a:lnTo>
                  <a:lnTo>
                    <a:pt x="70187" y="9028"/>
                  </a:lnTo>
                  <a:lnTo>
                    <a:pt x="33654" y="33655"/>
                  </a:lnTo>
                  <a:lnTo>
                    <a:pt x="9028" y="70187"/>
                  </a:lnTo>
                  <a:lnTo>
                    <a:pt x="0" y="114935"/>
                  </a:lnTo>
                  <a:lnTo>
                    <a:pt x="0" y="1034161"/>
                  </a:lnTo>
                  <a:lnTo>
                    <a:pt x="9028" y="1078908"/>
                  </a:lnTo>
                  <a:lnTo>
                    <a:pt x="33654" y="1115441"/>
                  </a:lnTo>
                  <a:lnTo>
                    <a:pt x="70187" y="1140067"/>
                  </a:lnTo>
                  <a:lnTo>
                    <a:pt x="114934" y="1149096"/>
                  </a:lnTo>
                  <a:lnTo>
                    <a:pt x="1695577" y="1149096"/>
                  </a:lnTo>
                  <a:lnTo>
                    <a:pt x="1740324" y="1140067"/>
                  </a:lnTo>
                  <a:lnTo>
                    <a:pt x="1776857" y="1115440"/>
                  </a:lnTo>
                  <a:lnTo>
                    <a:pt x="1801483" y="1078908"/>
                  </a:lnTo>
                  <a:lnTo>
                    <a:pt x="1810512" y="1034161"/>
                  </a:lnTo>
                  <a:lnTo>
                    <a:pt x="1810512" y="114935"/>
                  </a:lnTo>
                  <a:lnTo>
                    <a:pt x="1801483" y="70187"/>
                  </a:lnTo>
                  <a:lnTo>
                    <a:pt x="1776856" y="33654"/>
                  </a:lnTo>
                  <a:lnTo>
                    <a:pt x="1740324" y="9028"/>
                  </a:lnTo>
                  <a:lnTo>
                    <a:pt x="1695577" y="0"/>
                  </a:lnTo>
                  <a:close/>
                </a:path>
              </a:pathLst>
            </a:custGeom>
            <a:solidFill>
              <a:srgbClr val="4471C4"/>
            </a:solidFill>
          </p:spPr>
          <p:txBody>
            <a:bodyPr wrap="square" lIns="0" tIns="0" rIns="0" bIns="0" rtlCol="0"/>
            <a:lstStyle/>
            <a:p>
              <a:endParaRPr/>
            </a:p>
          </p:txBody>
        </p:sp>
        <p:sp>
          <p:nvSpPr>
            <p:cNvPr id="10" name="object 10"/>
            <p:cNvSpPr/>
            <p:nvPr/>
          </p:nvSpPr>
          <p:spPr>
            <a:xfrm>
              <a:off x="4331207" y="1277111"/>
              <a:ext cx="1811020" cy="1149350"/>
            </a:xfrm>
            <a:custGeom>
              <a:avLst/>
              <a:gdLst/>
              <a:ahLst/>
              <a:cxnLst/>
              <a:rect l="l" t="t" r="r" b="b"/>
              <a:pathLst>
                <a:path w="1811020" h="1149350">
                  <a:moveTo>
                    <a:pt x="0" y="114935"/>
                  </a:moveTo>
                  <a:lnTo>
                    <a:pt x="9028" y="70187"/>
                  </a:lnTo>
                  <a:lnTo>
                    <a:pt x="33654" y="33655"/>
                  </a:lnTo>
                  <a:lnTo>
                    <a:pt x="70187" y="9028"/>
                  </a:lnTo>
                  <a:lnTo>
                    <a:pt x="114934" y="0"/>
                  </a:lnTo>
                  <a:lnTo>
                    <a:pt x="1695577" y="0"/>
                  </a:lnTo>
                  <a:lnTo>
                    <a:pt x="1740324" y="9028"/>
                  </a:lnTo>
                  <a:lnTo>
                    <a:pt x="1776856" y="33654"/>
                  </a:lnTo>
                  <a:lnTo>
                    <a:pt x="1801483" y="70187"/>
                  </a:lnTo>
                  <a:lnTo>
                    <a:pt x="1810512" y="114935"/>
                  </a:lnTo>
                  <a:lnTo>
                    <a:pt x="1810512" y="1034161"/>
                  </a:lnTo>
                  <a:lnTo>
                    <a:pt x="1801483" y="1078908"/>
                  </a:lnTo>
                  <a:lnTo>
                    <a:pt x="1776857" y="1115440"/>
                  </a:lnTo>
                  <a:lnTo>
                    <a:pt x="1740324" y="1140067"/>
                  </a:lnTo>
                  <a:lnTo>
                    <a:pt x="1695577" y="1149096"/>
                  </a:lnTo>
                  <a:lnTo>
                    <a:pt x="114934" y="1149096"/>
                  </a:lnTo>
                  <a:lnTo>
                    <a:pt x="70187" y="1140067"/>
                  </a:lnTo>
                  <a:lnTo>
                    <a:pt x="33654" y="1115441"/>
                  </a:lnTo>
                  <a:lnTo>
                    <a:pt x="9028" y="1078908"/>
                  </a:lnTo>
                  <a:lnTo>
                    <a:pt x="0" y="1034161"/>
                  </a:lnTo>
                  <a:lnTo>
                    <a:pt x="0" y="114935"/>
                  </a:lnTo>
                  <a:close/>
                </a:path>
              </a:pathLst>
            </a:custGeom>
            <a:ln w="12192">
              <a:solidFill>
                <a:srgbClr val="FFFFFF"/>
              </a:solidFill>
            </a:ln>
          </p:spPr>
          <p:txBody>
            <a:bodyPr wrap="square" lIns="0" tIns="0" rIns="0" bIns="0" rtlCol="0"/>
            <a:lstStyle/>
            <a:p>
              <a:endParaRPr/>
            </a:p>
          </p:txBody>
        </p:sp>
        <p:sp>
          <p:nvSpPr>
            <p:cNvPr id="11" name="object 11"/>
            <p:cNvSpPr/>
            <p:nvPr/>
          </p:nvSpPr>
          <p:spPr>
            <a:xfrm>
              <a:off x="4532375" y="1469135"/>
              <a:ext cx="1811020" cy="1149350"/>
            </a:xfrm>
            <a:custGeom>
              <a:avLst/>
              <a:gdLst/>
              <a:ahLst/>
              <a:cxnLst/>
              <a:rect l="l" t="t" r="r" b="b"/>
              <a:pathLst>
                <a:path w="1811020" h="1149350">
                  <a:moveTo>
                    <a:pt x="1695577" y="0"/>
                  </a:moveTo>
                  <a:lnTo>
                    <a:pt x="114935" y="0"/>
                  </a:lnTo>
                  <a:lnTo>
                    <a:pt x="70187" y="9028"/>
                  </a:lnTo>
                  <a:lnTo>
                    <a:pt x="33654" y="33655"/>
                  </a:lnTo>
                  <a:lnTo>
                    <a:pt x="9028" y="70187"/>
                  </a:lnTo>
                  <a:lnTo>
                    <a:pt x="0" y="114935"/>
                  </a:lnTo>
                  <a:lnTo>
                    <a:pt x="0" y="1034161"/>
                  </a:lnTo>
                  <a:lnTo>
                    <a:pt x="9028" y="1078908"/>
                  </a:lnTo>
                  <a:lnTo>
                    <a:pt x="33655" y="1115441"/>
                  </a:lnTo>
                  <a:lnTo>
                    <a:pt x="70187" y="1140067"/>
                  </a:lnTo>
                  <a:lnTo>
                    <a:pt x="114935" y="1149096"/>
                  </a:lnTo>
                  <a:lnTo>
                    <a:pt x="1695577" y="1149096"/>
                  </a:lnTo>
                  <a:lnTo>
                    <a:pt x="1740324" y="1140067"/>
                  </a:lnTo>
                  <a:lnTo>
                    <a:pt x="1776857" y="1115440"/>
                  </a:lnTo>
                  <a:lnTo>
                    <a:pt x="1801483" y="1078908"/>
                  </a:lnTo>
                  <a:lnTo>
                    <a:pt x="1810512" y="1034161"/>
                  </a:lnTo>
                  <a:lnTo>
                    <a:pt x="1810512" y="114935"/>
                  </a:lnTo>
                  <a:lnTo>
                    <a:pt x="1801483" y="70187"/>
                  </a:lnTo>
                  <a:lnTo>
                    <a:pt x="1776856" y="33654"/>
                  </a:lnTo>
                  <a:lnTo>
                    <a:pt x="1740324" y="9028"/>
                  </a:lnTo>
                  <a:lnTo>
                    <a:pt x="1695577" y="0"/>
                  </a:lnTo>
                  <a:close/>
                </a:path>
              </a:pathLst>
            </a:custGeom>
            <a:solidFill>
              <a:srgbClr val="FFFFFF">
                <a:alpha val="90194"/>
              </a:srgbClr>
            </a:solidFill>
          </p:spPr>
          <p:txBody>
            <a:bodyPr wrap="square" lIns="0" tIns="0" rIns="0" bIns="0" rtlCol="0"/>
            <a:lstStyle/>
            <a:p>
              <a:endParaRPr/>
            </a:p>
          </p:txBody>
        </p:sp>
        <p:sp>
          <p:nvSpPr>
            <p:cNvPr id="12" name="object 12"/>
            <p:cNvSpPr/>
            <p:nvPr/>
          </p:nvSpPr>
          <p:spPr>
            <a:xfrm>
              <a:off x="4532375" y="1469135"/>
              <a:ext cx="1811020" cy="1149350"/>
            </a:xfrm>
            <a:custGeom>
              <a:avLst/>
              <a:gdLst/>
              <a:ahLst/>
              <a:cxnLst/>
              <a:rect l="l" t="t" r="r" b="b"/>
              <a:pathLst>
                <a:path w="1811020" h="1149350">
                  <a:moveTo>
                    <a:pt x="0" y="114935"/>
                  </a:moveTo>
                  <a:lnTo>
                    <a:pt x="9028" y="70187"/>
                  </a:lnTo>
                  <a:lnTo>
                    <a:pt x="33654" y="33655"/>
                  </a:lnTo>
                  <a:lnTo>
                    <a:pt x="70187" y="9028"/>
                  </a:lnTo>
                  <a:lnTo>
                    <a:pt x="114935" y="0"/>
                  </a:lnTo>
                  <a:lnTo>
                    <a:pt x="1695577" y="0"/>
                  </a:lnTo>
                  <a:lnTo>
                    <a:pt x="1740324" y="9028"/>
                  </a:lnTo>
                  <a:lnTo>
                    <a:pt x="1776856" y="33654"/>
                  </a:lnTo>
                  <a:lnTo>
                    <a:pt x="1801483" y="70187"/>
                  </a:lnTo>
                  <a:lnTo>
                    <a:pt x="1810512" y="114935"/>
                  </a:lnTo>
                  <a:lnTo>
                    <a:pt x="1810512" y="1034161"/>
                  </a:lnTo>
                  <a:lnTo>
                    <a:pt x="1801483" y="1078908"/>
                  </a:lnTo>
                  <a:lnTo>
                    <a:pt x="1776857" y="1115440"/>
                  </a:lnTo>
                  <a:lnTo>
                    <a:pt x="1740324" y="1140067"/>
                  </a:lnTo>
                  <a:lnTo>
                    <a:pt x="1695577" y="1149096"/>
                  </a:lnTo>
                  <a:lnTo>
                    <a:pt x="114935" y="1149096"/>
                  </a:lnTo>
                  <a:lnTo>
                    <a:pt x="70187" y="1140067"/>
                  </a:lnTo>
                  <a:lnTo>
                    <a:pt x="33655" y="1115441"/>
                  </a:lnTo>
                  <a:lnTo>
                    <a:pt x="9028" y="1078908"/>
                  </a:lnTo>
                  <a:lnTo>
                    <a:pt x="0" y="1034161"/>
                  </a:lnTo>
                  <a:lnTo>
                    <a:pt x="0" y="114935"/>
                  </a:lnTo>
                  <a:close/>
                </a:path>
              </a:pathLst>
            </a:custGeom>
            <a:ln w="12192">
              <a:solidFill>
                <a:srgbClr val="4471C4"/>
              </a:solidFill>
            </a:ln>
          </p:spPr>
          <p:txBody>
            <a:bodyPr wrap="square" lIns="0" tIns="0" rIns="0" bIns="0" rtlCol="0"/>
            <a:lstStyle/>
            <a:p>
              <a:endParaRPr/>
            </a:p>
          </p:txBody>
        </p:sp>
        <p:sp>
          <p:nvSpPr>
            <p:cNvPr id="13" name="object 13"/>
            <p:cNvSpPr/>
            <p:nvPr/>
          </p:nvSpPr>
          <p:spPr>
            <a:xfrm>
              <a:off x="2468879" y="4105655"/>
              <a:ext cx="2214245" cy="527050"/>
            </a:xfrm>
            <a:custGeom>
              <a:avLst/>
              <a:gdLst/>
              <a:ahLst/>
              <a:cxnLst/>
              <a:rect l="l" t="t" r="r" b="b"/>
              <a:pathLst>
                <a:path w="2214245" h="527050">
                  <a:moveTo>
                    <a:pt x="1106423" y="0"/>
                  </a:moveTo>
                  <a:lnTo>
                    <a:pt x="1106423" y="359156"/>
                  </a:lnTo>
                  <a:lnTo>
                    <a:pt x="2213864" y="359156"/>
                  </a:lnTo>
                  <a:lnTo>
                    <a:pt x="2213864" y="527050"/>
                  </a:lnTo>
                </a:path>
                <a:path w="2214245" h="527050">
                  <a:moveTo>
                    <a:pt x="1107440" y="0"/>
                  </a:moveTo>
                  <a:lnTo>
                    <a:pt x="1107440" y="359156"/>
                  </a:lnTo>
                  <a:lnTo>
                    <a:pt x="0" y="359156"/>
                  </a:lnTo>
                  <a:lnTo>
                    <a:pt x="0" y="527050"/>
                  </a:lnTo>
                </a:path>
              </a:pathLst>
            </a:custGeom>
            <a:ln w="12192">
              <a:solidFill>
                <a:srgbClr val="A4A4A4"/>
              </a:solidFill>
            </a:ln>
          </p:spPr>
          <p:txBody>
            <a:bodyPr wrap="square" lIns="0" tIns="0" rIns="0" bIns="0" rtlCol="0"/>
            <a:lstStyle/>
            <a:p>
              <a:endParaRPr/>
            </a:p>
          </p:txBody>
        </p:sp>
      </p:grpSp>
      <p:sp>
        <p:nvSpPr>
          <p:cNvPr id="14" name="object 14"/>
          <p:cNvSpPr txBox="1"/>
          <p:nvPr/>
        </p:nvSpPr>
        <p:spPr>
          <a:xfrm>
            <a:off x="4996434" y="1818894"/>
            <a:ext cx="890269"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Times New Roman"/>
                <a:cs typeface="Times New Roman"/>
              </a:rPr>
              <a:t>Supply</a:t>
            </a:r>
            <a:endParaRPr sz="2400">
              <a:latin typeface="Times New Roman"/>
              <a:cs typeface="Times New Roman"/>
            </a:endParaRPr>
          </a:p>
        </p:txBody>
      </p:sp>
      <p:grpSp>
        <p:nvGrpSpPr>
          <p:cNvPr id="15" name="object 15"/>
          <p:cNvGrpSpPr/>
          <p:nvPr/>
        </p:nvGrpSpPr>
        <p:grpSpPr>
          <a:xfrm>
            <a:off x="2663698" y="2947161"/>
            <a:ext cx="2024380" cy="1353820"/>
            <a:chOff x="2663698" y="2947161"/>
            <a:chExt cx="2024380" cy="1353820"/>
          </a:xfrm>
        </p:grpSpPr>
        <p:sp>
          <p:nvSpPr>
            <p:cNvPr id="16" name="object 16"/>
            <p:cNvSpPr/>
            <p:nvPr/>
          </p:nvSpPr>
          <p:spPr>
            <a:xfrm>
              <a:off x="2670048" y="2953511"/>
              <a:ext cx="1811020" cy="1152525"/>
            </a:xfrm>
            <a:custGeom>
              <a:avLst/>
              <a:gdLst/>
              <a:ahLst/>
              <a:cxnLst/>
              <a:rect l="l" t="t" r="r" b="b"/>
              <a:pathLst>
                <a:path w="1811020" h="1152525">
                  <a:moveTo>
                    <a:pt x="1695323" y="0"/>
                  </a:moveTo>
                  <a:lnTo>
                    <a:pt x="115188" y="0"/>
                  </a:lnTo>
                  <a:lnTo>
                    <a:pt x="70348" y="9050"/>
                  </a:lnTo>
                  <a:lnTo>
                    <a:pt x="33734" y="33734"/>
                  </a:lnTo>
                  <a:lnTo>
                    <a:pt x="9050" y="70348"/>
                  </a:lnTo>
                  <a:lnTo>
                    <a:pt x="0" y="115188"/>
                  </a:lnTo>
                  <a:lnTo>
                    <a:pt x="0" y="1036955"/>
                  </a:lnTo>
                  <a:lnTo>
                    <a:pt x="9050" y="1081795"/>
                  </a:lnTo>
                  <a:lnTo>
                    <a:pt x="33734" y="1118409"/>
                  </a:lnTo>
                  <a:lnTo>
                    <a:pt x="70348" y="1143093"/>
                  </a:lnTo>
                  <a:lnTo>
                    <a:pt x="115188" y="1152144"/>
                  </a:lnTo>
                  <a:lnTo>
                    <a:pt x="1695323" y="1152144"/>
                  </a:lnTo>
                  <a:lnTo>
                    <a:pt x="1740163" y="1143093"/>
                  </a:lnTo>
                  <a:lnTo>
                    <a:pt x="1776777" y="1118409"/>
                  </a:lnTo>
                  <a:lnTo>
                    <a:pt x="1801461" y="1081795"/>
                  </a:lnTo>
                  <a:lnTo>
                    <a:pt x="1810512" y="1036955"/>
                  </a:lnTo>
                  <a:lnTo>
                    <a:pt x="1810512" y="115188"/>
                  </a:lnTo>
                  <a:lnTo>
                    <a:pt x="1801461" y="70348"/>
                  </a:lnTo>
                  <a:lnTo>
                    <a:pt x="1776777" y="33734"/>
                  </a:lnTo>
                  <a:lnTo>
                    <a:pt x="1740163" y="9050"/>
                  </a:lnTo>
                  <a:lnTo>
                    <a:pt x="1695323" y="0"/>
                  </a:lnTo>
                  <a:close/>
                </a:path>
              </a:pathLst>
            </a:custGeom>
            <a:solidFill>
              <a:srgbClr val="EC7C30"/>
            </a:solidFill>
          </p:spPr>
          <p:txBody>
            <a:bodyPr wrap="square" lIns="0" tIns="0" rIns="0" bIns="0" rtlCol="0"/>
            <a:lstStyle/>
            <a:p>
              <a:endParaRPr/>
            </a:p>
          </p:txBody>
        </p:sp>
        <p:sp>
          <p:nvSpPr>
            <p:cNvPr id="17" name="object 17"/>
            <p:cNvSpPr/>
            <p:nvPr/>
          </p:nvSpPr>
          <p:spPr>
            <a:xfrm>
              <a:off x="2670048" y="2953511"/>
              <a:ext cx="1811020" cy="1152525"/>
            </a:xfrm>
            <a:custGeom>
              <a:avLst/>
              <a:gdLst/>
              <a:ahLst/>
              <a:cxnLst/>
              <a:rect l="l" t="t" r="r" b="b"/>
              <a:pathLst>
                <a:path w="1811020" h="1152525">
                  <a:moveTo>
                    <a:pt x="0" y="115188"/>
                  </a:moveTo>
                  <a:lnTo>
                    <a:pt x="9050" y="70348"/>
                  </a:lnTo>
                  <a:lnTo>
                    <a:pt x="33734" y="33734"/>
                  </a:lnTo>
                  <a:lnTo>
                    <a:pt x="70348" y="9050"/>
                  </a:lnTo>
                  <a:lnTo>
                    <a:pt x="115188" y="0"/>
                  </a:lnTo>
                  <a:lnTo>
                    <a:pt x="1695323" y="0"/>
                  </a:lnTo>
                  <a:lnTo>
                    <a:pt x="1740163" y="9050"/>
                  </a:lnTo>
                  <a:lnTo>
                    <a:pt x="1776777" y="33734"/>
                  </a:lnTo>
                  <a:lnTo>
                    <a:pt x="1801461" y="70348"/>
                  </a:lnTo>
                  <a:lnTo>
                    <a:pt x="1810512" y="115188"/>
                  </a:lnTo>
                  <a:lnTo>
                    <a:pt x="1810512" y="1036955"/>
                  </a:lnTo>
                  <a:lnTo>
                    <a:pt x="1801461" y="1081795"/>
                  </a:lnTo>
                  <a:lnTo>
                    <a:pt x="1776777" y="1118409"/>
                  </a:lnTo>
                  <a:lnTo>
                    <a:pt x="1740163" y="1143093"/>
                  </a:lnTo>
                  <a:lnTo>
                    <a:pt x="1695323" y="1152144"/>
                  </a:lnTo>
                  <a:lnTo>
                    <a:pt x="115188" y="1152144"/>
                  </a:lnTo>
                  <a:lnTo>
                    <a:pt x="70348" y="1143093"/>
                  </a:lnTo>
                  <a:lnTo>
                    <a:pt x="33734" y="1118409"/>
                  </a:lnTo>
                  <a:lnTo>
                    <a:pt x="9050" y="1081795"/>
                  </a:lnTo>
                  <a:lnTo>
                    <a:pt x="0" y="1036955"/>
                  </a:lnTo>
                  <a:lnTo>
                    <a:pt x="0" y="115188"/>
                  </a:lnTo>
                  <a:close/>
                </a:path>
              </a:pathLst>
            </a:custGeom>
            <a:ln w="12192">
              <a:solidFill>
                <a:srgbClr val="FFFFFF"/>
              </a:solidFill>
            </a:ln>
          </p:spPr>
          <p:txBody>
            <a:bodyPr wrap="square" lIns="0" tIns="0" rIns="0" bIns="0" rtlCol="0"/>
            <a:lstStyle/>
            <a:p>
              <a:endParaRPr/>
            </a:p>
          </p:txBody>
        </p:sp>
        <p:sp>
          <p:nvSpPr>
            <p:cNvPr id="18" name="object 18"/>
            <p:cNvSpPr/>
            <p:nvPr/>
          </p:nvSpPr>
          <p:spPr>
            <a:xfrm>
              <a:off x="2871216" y="3145535"/>
              <a:ext cx="1811020" cy="1149350"/>
            </a:xfrm>
            <a:custGeom>
              <a:avLst/>
              <a:gdLst/>
              <a:ahLst/>
              <a:cxnLst/>
              <a:rect l="l" t="t" r="r" b="b"/>
              <a:pathLst>
                <a:path w="1811020" h="1149350">
                  <a:moveTo>
                    <a:pt x="1695576" y="0"/>
                  </a:moveTo>
                  <a:lnTo>
                    <a:pt x="114934" y="0"/>
                  </a:lnTo>
                  <a:lnTo>
                    <a:pt x="70187" y="9028"/>
                  </a:lnTo>
                  <a:lnTo>
                    <a:pt x="33655" y="33655"/>
                  </a:lnTo>
                  <a:lnTo>
                    <a:pt x="9028" y="70187"/>
                  </a:lnTo>
                  <a:lnTo>
                    <a:pt x="0" y="114935"/>
                  </a:lnTo>
                  <a:lnTo>
                    <a:pt x="0" y="1034161"/>
                  </a:lnTo>
                  <a:lnTo>
                    <a:pt x="9028" y="1078908"/>
                  </a:lnTo>
                  <a:lnTo>
                    <a:pt x="33654" y="1115440"/>
                  </a:lnTo>
                  <a:lnTo>
                    <a:pt x="70187" y="1140067"/>
                  </a:lnTo>
                  <a:lnTo>
                    <a:pt x="114934" y="1149095"/>
                  </a:lnTo>
                  <a:lnTo>
                    <a:pt x="1695576" y="1149095"/>
                  </a:lnTo>
                  <a:lnTo>
                    <a:pt x="1740324" y="1140067"/>
                  </a:lnTo>
                  <a:lnTo>
                    <a:pt x="1776857" y="1115441"/>
                  </a:lnTo>
                  <a:lnTo>
                    <a:pt x="1801483" y="1078908"/>
                  </a:lnTo>
                  <a:lnTo>
                    <a:pt x="1810511" y="1034161"/>
                  </a:lnTo>
                  <a:lnTo>
                    <a:pt x="1810511" y="114935"/>
                  </a:lnTo>
                  <a:lnTo>
                    <a:pt x="1801483" y="70187"/>
                  </a:lnTo>
                  <a:lnTo>
                    <a:pt x="1776856" y="33654"/>
                  </a:lnTo>
                  <a:lnTo>
                    <a:pt x="1740324" y="9028"/>
                  </a:lnTo>
                  <a:lnTo>
                    <a:pt x="1695576" y="0"/>
                  </a:lnTo>
                  <a:close/>
                </a:path>
              </a:pathLst>
            </a:custGeom>
            <a:solidFill>
              <a:srgbClr val="FFFFFF">
                <a:alpha val="90194"/>
              </a:srgbClr>
            </a:solidFill>
          </p:spPr>
          <p:txBody>
            <a:bodyPr wrap="square" lIns="0" tIns="0" rIns="0" bIns="0" rtlCol="0"/>
            <a:lstStyle/>
            <a:p>
              <a:endParaRPr/>
            </a:p>
          </p:txBody>
        </p:sp>
        <p:sp>
          <p:nvSpPr>
            <p:cNvPr id="19" name="object 19"/>
            <p:cNvSpPr/>
            <p:nvPr/>
          </p:nvSpPr>
          <p:spPr>
            <a:xfrm>
              <a:off x="2871216" y="3145535"/>
              <a:ext cx="1811020" cy="1149350"/>
            </a:xfrm>
            <a:custGeom>
              <a:avLst/>
              <a:gdLst/>
              <a:ahLst/>
              <a:cxnLst/>
              <a:rect l="l" t="t" r="r" b="b"/>
              <a:pathLst>
                <a:path w="1811020" h="1149350">
                  <a:moveTo>
                    <a:pt x="0" y="114935"/>
                  </a:moveTo>
                  <a:lnTo>
                    <a:pt x="9028" y="70187"/>
                  </a:lnTo>
                  <a:lnTo>
                    <a:pt x="33655" y="33655"/>
                  </a:lnTo>
                  <a:lnTo>
                    <a:pt x="70187" y="9028"/>
                  </a:lnTo>
                  <a:lnTo>
                    <a:pt x="114934" y="0"/>
                  </a:lnTo>
                  <a:lnTo>
                    <a:pt x="1695576" y="0"/>
                  </a:lnTo>
                  <a:lnTo>
                    <a:pt x="1740324" y="9028"/>
                  </a:lnTo>
                  <a:lnTo>
                    <a:pt x="1776856" y="33654"/>
                  </a:lnTo>
                  <a:lnTo>
                    <a:pt x="1801483" y="70187"/>
                  </a:lnTo>
                  <a:lnTo>
                    <a:pt x="1810511" y="114935"/>
                  </a:lnTo>
                  <a:lnTo>
                    <a:pt x="1810511" y="1034161"/>
                  </a:lnTo>
                  <a:lnTo>
                    <a:pt x="1801483" y="1078908"/>
                  </a:lnTo>
                  <a:lnTo>
                    <a:pt x="1776857" y="1115441"/>
                  </a:lnTo>
                  <a:lnTo>
                    <a:pt x="1740324" y="1140067"/>
                  </a:lnTo>
                  <a:lnTo>
                    <a:pt x="1695576" y="1149095"/>
                  </a:lnTo>
                  <a:lnTo>
                    <a:pt x="114934" y="1149095"/>
                  </a:lnTo>
                  <a:lnTo>
                    <a:pt x="70187" y="1140067"/>
                  </a:lnTo>
                  <a:lnTo>
                    <a:pt x="33654" y="1115440"/>
                  </a:lnTo>
                  <a:lnTo>
                    <a:pt x="9028" y="1078908"/>
                  </a:lnTo>
                  <a:lnTo>
                    <a:pt x="0" y="1034161"/>
                  </a:lnTo>
                  <a:lnTo>
                    <a:pt x="0" y="114935"/>
                  </a:lnTo>
                  <a:close/>
                </a:path>
              </a:pathLst>
            </a:custGeom>
            <a:ln w="12192">
              <a:solidFill>
                <a:srgbClr val="EC7C30"/>
              </a:solidFill>
            </a:ln>
          </p:spPr>
          <p:txBody>
            <a:bodyPr wrap="square" lIns="0" tIns="0" rIns="0" bIns="0" rtlCol="0"/>
            <a:lstStyle/>
            <a:p>
              <a:endParaRPr/>
            </a:p>
          </p:txBody>
        </p:sp>
      </p:grpSp>
      <p:sp>
        <p:nvSpPr>
          <p:cNvPr id="20" name="object 20"/>
          <p:cNvSpPr txBox="1"/>
          <p:nvPr/>
        </p:nvSpPr>
        <p:spPr>
          <a:xfrm>
            <a:off x="3133725" y="3496767"/>
            <a:ext cx="1288415" cy="391795"/>
          </a:xfrm>
          <a:prstGeom prst="rect">
            <a:avLst/>
          </a:prstGeom>
        </p:spPr>
        <p:txBody>
          <a:bodyPr vert="horz" wrap="square" lIns="0" tIns="12700" rIns="0" bIns="0" rtlCol="0">
            <a:spAutoFit/>
          </a:bodyPr>
          <a:lstStyle/>
          <a:p>
            <a:pPr marL="12700">
              <a:lnSpc>
                <a:spcPct val="100000"/>
              </a:lnSpc>
              <a:spcBef>
                <a:spcPts val="100"/>
              </a:spcBef>
            </a:pPr>
            <a:r>
              <a:rPr sz="2400" spc="-15" dirty="0">
                <a:latin typeface="Times New Roman"/>
                <a:cs typeface="Times New Roman"/>
              </a:rPr>
              <a:t>Intra </a:t>
            </a:r>
            <a:r>
              <a:rPr sz="2400" dirty="0">
                <a:latin typeface="Times New Roman"/>
                <a:cs typeface="Times New Roman"/>
              </a:rPr>
              <a:t>State</a:t>
            </a:r>
            <a:endParaRPr sz="2400">
              <a:latin typeface="Times New Roman"/>
              <a:cs typeface="Times New Roman"/>
            </a:endParaRPr>
          </a:p>
        </p:txBody>
      </p:sp>
      <p:grpSp>
        <p:nvGrpSpPr>
          <p:cNvPr id="21" name="object 21"/>
          <p:cNvGrpSpPr/>
          <p:nvPr/>
        </p:nvGrpSpPr>
        <p:grpSpPr>
          <a:xfrm>
            <a:off x="1557274" y="4626609"/>
            <a:ext cx="2024380" cy="1353820"/>
            <a:chOff x="1557274" y="4626609"/>
            <a:chExt cx="2024380" cy="1353820"/>
          </a:xfrm>
        </p:grpSpPr>
        <p:sp>
          <p:nvSpPr>
            <p:cNvPr id="22" name="object 22"/>
            <p:cNvSpPr/>
            <p:nvPr/>
          </p:nvSpPr>
          <p:spPr>
            <a:xfrm>
              <a:off x="1563624" y="4632959"/>
              <a:ext cx="1811020" cy="1149350"/>
            </a:xfrm>
            <a:custGeom>
              <a:avLst/>
              <a:gdLst/>
              <a:ahLst/>
              <a:cxnLst/>
              <a:rect l="l" t="t" r="r" b="b"/>
              <a:pathLst>
                <a:path w="1811020" h="1149350">
                  <a:moveTo>
                    <a:pt x="1695577" y="0"/>
                  </a:moveTo>
                  <a:lnTo>
                    <a:pt x="114934" y="0"/>
                  </a:lnTo>
                  <a:lnTo>
                    <a:pt x="70187" y="9028"/>
                  </a:lnTo>
                  <a:lnTo>
                    <a:pt x="33655" y="33654"/>
                  </a:lnTo>
                  <a:lnTo>
                    <a:pt x="9028" y="70187"/>
                  </a:lnTo>
                  <a:lnTo>
                    <a:pt x="0" y="114934"/>
                  </a:lnTo>
                  <a:lnTo>
                    <a:pt x="0" y="1034186"/>
                  </a:lnTo>
                  <a:lnTo>
                    <a:pt x="9028" y="1078914"/>
                  </a:lnTo>
                  <a:lnTo>
                    <a:pt x="33654" y="1115439"/>
                  </a:lnTo>
                  <a:lnTo>
                    <a:pt x="70187" y="1140065"/>
                  </a:lnTo>
                  <a:lnTo>
                    <a:pt x="114934" y="1149095"/>
                  </a:lnTo>
                  <a:lnTo>
                    <a:pt x="1695577" y="1149095"/>
                  </a:lnTo>
                  <a:lnTo>
                    <a:pt x="1740324" y="1140065"/>
                  </a:lnTo>
                  <a:lnTo>
                    <a:pt x="1776857" y="1115439"/>
                  </a:lnTo>
                  <a:lnTo>
                    <a:pt x="1801483" y="1078914"/>
                  </a:lnTo>
                  <a:lnTo>
                    <a:pt x="1810512" y="1034186"/>
                  </a:lnTo>
                  <a:lnTo>
                    <a:pt x="1810512" y="114934"/>
                  </a:lnTo>
                  <a:lnTo>
                    <a:pt x="1801483" y="70187"/>
                  </a:lnTo>
                  <a:lnTo>
                    <a:pt x="1776856" y="33655"/>
                  </a:lnTo>
                  <a:lnTo>
                    <a:pt x="1740324" y="9028"/>
                  </a:lnTo>
                  <a:lnTo>
                    <a:pt x="1695577" y="0"/>
                  </a:lnTo>
                  <a:close/>
                </a:path>
              </a:pathLst>
            </a:custGeom>
            <a:solidFill>
              <a:srgbClr val="A4A4A4"/>
            </a:solidFill>
          </p:spPr>
          <p:txBody>
            <a:bodyPr wrap="square" lIns="0" tIns="0" rIns="0" bIns="0" rtlCol="0"/>
            <a:lstStyle/>
            <a:p>
              <a:endParaRPr/>
            </a:p>
          </p:txBody>
        </p:sp>
        <p:sp>
          <p:nvSpPr>
            <p:cNvPr id="23" name="object 23"/>
            <p:cNvSpPr/>
            <p:nvPr/>
          </p:nvSpPr>
          <p:spPr>
            <a:xfrm>
              <a:off x="1563624" y="4632959"/>
              <a:ext cx="1811020" cy="1149350"/>
            </a:xfrm>
            <a:custGeom>
              <a:avLst/>
              <a:gdLst/>
              <a:ahLst/>
              <a:cxnLst/>
              <a:rect l="l" t="t" r="r" b="b"/>
              <a:pathLst>
                <a:path w="1811020" h="1149350">
                  <a:moveTo>
                    <a:pt x="0" y="114934"/>
                  </a:moveTo>
                  <a:lnTo>
                    <a:pt x="9028" y="70187"/>
                  </a:lnTo>
                  <a:lnTo>
                    <a:pt x="33655" y="33654"/>
                  </a:lnTo>
                  <a:lnTo>
                    <a:pt x="70187" y="9028"/>
                  </a:lnTo>
                  <a:lnTo>
                    <a:pt x="114934" y="0"/>
                  </a:lnTo>
                  <a:lnTo>
                    <a:pt x="1695577" y="0"/>
                  </a:lnTo>
                  <a:lnTo>
                    <a:pt x="1740324" y="9028"/>
                  </a:lnTo>
                  <a:lnTo>
                    <a:pt x="1776856" y="33655"/>
                  </a:lnTo>
                  <a:lnTo>
                    <a:pt x="1801483" y="70187"/>
                  </a:lnTo>
                  <a:lnTo>
                    <a:pt x="1810512" y="114934"/>
                  </a:lnTo>
                  <a:lnTo>
                    <a:pt x="1810512" y="1034186"/>
                  </a:lnTo>
                  <a:lnTo>
                    <a:pt x="1801483" y="1078914"/>
                  </a:lnTo>
                  <a:lnTo>
                    <a:pt x="1776857" y="1115439"/>
                  </a:lnTo>
                  <a:lnTo>
                    <a:pt x="1740324" y="1140065"/>
                  </a:lnTo>
                  <a:lnTo>
                    <a:pt x="1695577" y="1149095"/>
                  </a:lnTo>
                  <a:lnTo>
                    <a:pt x="114934" y="1149095"/>
                  </a:lnTo>
                  <a:lnTo>
                    <a:pt x="70187" y="1140065"/>
                  </a:lnTo>
                  <a:lnTo>
                    <a:pt x="33654" y="1115439"/>
                  </a:lnTo>
                  <a:lnTo>
                    <a:pt x="9028" y="1078914"/>
                  </a:lnTo>
                  <a:lnTo>
                    <a:pt x="0" y="1034186"/>
                  </a:lnTo>
                  <a:lnTo>
                    <a:pt x="0" y="114934"/>
                  </a:lnTo>
                  <a:close/>
                </a:path>
              </a:pathLst>
            </a:custGeom>
            <a:ln w="12192">
              <a:solidFill>
                <a:srgbClr val="FFFFFF"/>
              </a:solidFill>
            </a:ln>
          </p:spPr>
          <p:txBody>
            <a:bodyPr wrap="square" lIns="0" tIns="0" rIns="0" bIns="0" rtlCol="0"/>
            <a:lstStyle/>
            <a:p>
              <a:endParaRPr/>
            </a:p>
          </p:txBody>
        </p:sp>
        <p:sp>
          <p:nvSpPr>
            <p:cNvPr id="24" name="object 24"/>
            <p:cNvSpPr/>
            <p:nvPr/>
          </p:nvSpPr>
          <p:spPr>
            <a:xfrm>
              <a:off x="1764792" y="4821935"/>
              <a:ext cx="1811020" cy="1152525"/>
            </a:xfrm>
            <a:custGeom>
              <a:avLst/>
              <a:gdLst/>
              <a:ahLst/>
              <a:cxnLst/>
              <a:rect l="l" t="t" r="r" b="b"/>
              <a:pathLst>
                <a:path w="1811020" h="1152525">
                  <a:moveTo>
                    <a:pt x="1695322" y="0"/>
                  </a:moveTo>
                  <a:lnTo>
                    <a:pt x="115188" y="0"/>
                  </a:lnTo>
                  <a:lnTo>
                    <a:pt x="70348" y="9050"/>
                  </a:lnTo>
                  <a:lnTo>
                    <a:pt x="33734" y="33734"/>
                  </a:lnTo>
                  <a:lnTo>
                    <a:pt x="9050" y="70348"/>
                  </a:lnTo>
                  <a:lnTo>
                    <a:pt x="0" y="115188"/>
                  </a:lnTo>
                  <a:lnTo>
                    <a:pt x="0" y="1036929"/>
                  </a:lnTo>
                  <a:lnTo>
                    <a:pt x="9050" y="1081774"/>
                  </a:lnTo>
                  <a:lnTo>
                    <a:pt x="33734" y="1118396"/>
                  </a:lnTo>
                  <a:lnTo>
                    <a:pt x="70348" y="1143089"/>
                  </a:lnTo>
                  <a:lnTo>
                    <a:pt x="115188" y="1152144"/>
                  </a:lnTo>
                  <a:lnTo>
                    <a:pt x="1695322" y="1152144"/>
                  </a:lnTo>
                  <a:lnTo>
                    <a:pt x="1740163" y="1143089"/>
                  </a:lnTo>
                  <a:lnTo>
                    <a:pt x="1776777" y="1118396"/>
                  </a:lnTo>
                  <a:lnTo>
                    <a:pt x="1801461" y="1081774"/>
                  </a:lnTo>
                  <a:lnTo>
                    <a:pt x="1810511" y="1036929"/>
                  </a:lnTo>
                  <a:lnTo>
                    <a:pt x="1810511" y="115188"/>
                  </a:lnTo>
                  <a:lnTo>
                    <a:pt x="1801461" y="70348"/>
                  </a:lnTo>
                  <a:lnTo>
                    <a:pt x="1776777" y="33734"/>
                  </a:lnTo>
                  <a:lnTo>
                    <a:pt x="1740163" y="9050"/>
                  </a:lnTo>
                  <a:lnTo>
                    <a:pt x="1695322" y="0"/>
                  </a:lnTo>
                  <a:close/>
                </a:path>
              </a:pathLst>
            </a:custGeom>
            <a:solidFill>
              <a:srgbClr val="FFFFFF">
                <a:alpha val="90194"/>
              </a:srgbClr>
            </a:solidFill>
          </p:spPr>
          <p:txBody>
            <a:bodyPr wrap="square" lIns="0" tIns="0" rIns="0" bIns="0" rtlCol="0"/>
            <a:lstStyle/>
            <a:p>
              <a:endParaRPr/>
            </a:p>
          </p:txBody>
        </p:sp>
        <p:sp>
          <p:nvSpPr>
            <p:cNvPr id="25" name="object 25"/>
            <p:cNvSpPr/>
            <p:nvPr/>
          </p:nvSpPr>
          <p:spPr>
            <a:xfrm>
              <a:off x="1764792" y="4821935"/>
              <a:ext cx="1811020" cy="1152525"/>
            </a:xfrm>
            <a:custGeom>
              <a:avLst/>
              <a:gdLst/>
              <a:ahLst/>
              <a:cxnLst/>
              <a:rect l="l" t="t" r="r" b="b"/>
              <a:pathLst>
                <a:path w="1811020" h="1152525">
                  <a:moveTo>
                    <a:pt x="0" y="115188"/>
                  </a:moveTo>
                  <a:lnTo>
                    <a:pt x="9050" y="70348"/>
                  </a:lnTo>
                  <a:lnTo>
                    <a:pt x="33734" y="33734"/>
                  </a:lnTo>
                  <a:lnTo>
                    <a:pt x="70348" y="9050"/>
                  </a:lnTo>
                  <a:lnTo>
                    <a:pt x="115188" y="0"/>
                  </a:lnTo>
                  <a:lnTo>
                    <a:pt x="1695322" y="0"/>
                  </a:lnTo>
                  <a:lnTo>
                    <a:pt x="1740163" y="9050"/>
                  </a:lnTo>
                  <a:lnTo>
                    <a:pt x="1776777" y="33734"/>
                  </a:lnTo>
                  <a:lnTo>
                    <a:pt x="1801461" y="70348"/>
                  </a:lnTo>
                  <a:lnTo>
                    <a:pt x="1810511" y="115188"/>
                  </a:lnTo>
                  <a:lnTo>
                    <a:pt x="1810511" y="1036929"/>
                  </a:lnTo>
                  <a:lnTo>
                    <a:pt x="1801461" y="1081774"/>
                  </a:lnTo>
                  <a:lnTo>
                    <a:pt x="1776777" y="1118396"/>
                  </a:lnTo>
                  <a:lnTo>
                    <a:pt x="1740163" y="1143089"/>
                  </a:lnTo>
                  <a:lnTo>
                    <a:pt x="1695322" y="1152144"/>
                  </a:lnTo>
                  <a:lnTo>
                    <a:pt x="115188" y="1152144"/>
                  </a:lnTo>
                  <a:lnTo>
                    <a:pt x="70348" y="1143089"/>
                  </a:lnTo>
                  <a:lnTo>
                    <a:pt x="33734" y="1118396"/>
                  </a:lnTo>
                  <a:lnTo>
                    <a:pt x="9050" y="1081774"/>
                  </a:lnTo>
                  <a:lnTo>
                    <a:pt x="0" y="1036929"/>
                  </a:lnTo>
                  <a:lnTo>
                    <a:pt x="0" y="115188"/>
                  </a:lnTo>
                  <a:close/>
                </a:path>
              </a:pathLst>
            </a:custGeom>
            <a:ln w="12192">
              <a:solidFill>
                <a:srgbClr val="A4A4A4"/>
              </a:solidFill>
            </a:ln>
          </p:spPr>
          <p:txBody>
            <a:bodyPr wrap="square" lIns="0" tIns="0" rIns="0" bIns="0" rtlCol="0"/>
            <a:lstStyle/>
            <a:p>
              <a:endParaRPr/>
            </a:p>
          </p:txBody>
        </p:sp>
      </p:grpSp>
      <p:sp>
        <p:nvSpPr>
          <p:cNvPr id="26" name="object 26"/>
          <p:cNvSpPr txBox="1"/>
          <p:nvPr/>
        </p:nvSpPr>
        <p:spPr>
          <a:xfrm>
            <a:off x="2266950" y="5175326"/>
            <a:ext cx="805815" cy="391795"/>
          </a:xfrm>
          <a:prstGeom prst="rect">
            <a:avLst/>
          </a:prstGeom>
        </p:spPr>
        <p:txBody>
          <a:bodyPr vert="horz" wrap="square" lIns="0" tIns="12700" rIns="0" bIns="0" rtlCol="0">
            <a:spAutoFit/>
          </a:bodyPr>
          <a:lstStyle/>
          <a:p>
            <a:pPr marL="12700">
              <a:lnSpc>
                <a:spcPct val="100000"/>
              </a:lnSpc>
              <a:spcBef>
                <a:spcPts val="100"/>
              </a:spcBef>
            </a:pPr>
            <a:r>
              <a:rPr sz="2400" dirty="0">
                <a:latin typeface="Times New Roman"/>
                <a:cs typeface="Times New Roman"/>
              </a:rPr>
              <a:t>CGST</a:t>
            </a:r>
            <a:endParaRPr sz="2400">
              <a:latin typeface="Times New Roman"/>
              <a:cs typeface="Times New Roman"/>
            </a:endParaRPr>
          </a:p>
        </p:txBody>
      </p:sp>
      <p:grpSp>
        <p:nvGrpSpPr>
          <p:cNvPr id="27" name="object 27"/>
          <p:cNvGrpSpPr/>
          <p:nvPr/>
        </p:nvGrpSpPr>
        <p:grpSpPr>
          <a:xfrm>
            <a:off x="3770121" y="4626609"/>
            <a:ext cx="2027555" cy="1353820"/>
            <a:chOff x="3770121" y="4626609"/>
            <a:chExt cx="2027555" cy="1353820"/>
          </a:xfrm>
        </p:grpSpPr>
        <p:sp>
          <p:nvSpPr>
            <p:cNvPr id="28" name="object 28"/>
            <p:cNvSpPr/>
            <p:nvPr/>
          </p:nvSpPr>
          <p:spPr>
            <a:xfrm>
              <a:off x="3776471" y="4632959"/>
              <a:ext cx="1813560" cy="1149350"/>
            </a:xfrm>
            <a:custGeom>
              <a:avLst/>
              <a:gdLst/>
              <a:ahLst/>
              <a:cxnLst/>
              <a:rect l="l" t="t" r="r" b="b"/>
              <a:pathLst>
                <a:path w="1813560" h="1149350">
                  <a:moveTo>
                    <a:pt x="1698625" y="0"/>
                  </a:moveTo>
                  <a:lnTo>
                    <a:pt x="114935" y="0"/>
                  </a:lnTo>
                  <a:lnTo>
                    <a:pt x="70187" y="9028"/>
                  </a:lnTo>
                  <a:lnTo>
                    <a:pt x="33654" y="33654"/>
                  </a:lnTo>
                  <a:lnTo>
                    <a:pt x="9028" y="70187"/>
                  </a:lnTo>
                  <a:lnTo>
                    <a:pt x="0" y="114934"/>
                  </a:lnTo>
                  <a:lnTo>
                    <a:pt x="0" y="1034186"/>
                  </a:lnTo>
                  <a:lnTo>
                    <a:pt x="9028" y="1078914"/>
                  </a:lnTo>
                  <a:lnTo>
                    <a:pt x="33655" y="1115439"/>
                  </a:lnTo>
                  <a:lnTo>
                    <a:pt x="70187" y="1140065"/>
                  </a:lnTo>
                  <a:lnTo>
                    <a:pt x="114935" y="1149095"/>
                  </a:lnTo>
                  <a:lnTo>
                    <a:pt x="1698625" y="1149095"/>
                  </a:lnTo>
                  <a:lnTo>
                    <a:pt x="1743372" y="1140065"/>
                  </a:lnTo>
                  <a:lnTo>
                    <a:pt x="1779905" y="1115439"/>
                  </a:lnTo>
                  <a:lnTo>
                    <a:pt x="1804531" y="1078914"/>
                  </a:lnTo>
                  <a:lnTo>
                    <a:pt x="1813560" y="1034186"/>
                  </a:lnTo>
                  <a:lnTo>
                    <a:pt x="1813560" y="114934"/>
                  </a:lnTo>
                  <a:lnTo>
                    <a:pt x="1804531" y="70187"/>
                  </a:lnTo>
                  <a:lnTo>
                    <a:pt x="1779904" y="33655"/>
                  </a:lnTo>
                  <a:lnTo>
                    <a:pt x="1743372" y="9028"/>
                  </a:lnTo>
                  <a:lnTo>
                    <a:pt x="1698625" y="0"/>
                  </a:lnTo>
                  <a:close/>
                </a:path>
              </a:pathLst>
            </a:custGeom>
            <a:solidFill>
              <a:srgbClr val="A4A4A4"/>
            </a:solidFill>
          </p:spPr>
          <p:txBody>
            <a:bodyPr wrap="square" lIns="0" tIns="0" rIns="0" bIns="0" rtlCol="0"/>
            <a:lstStyle/>
            <a:p>
              <a:endParaRPr/>
            </a:p>
          </p:txBody>
        </p:sp>
        <p:sp>
          <p:nvSpPr>
            <p:cNvPr id="29" name="object 29"/>
            <p:cNvSpPr/>
            <p:nvPr/>
          </p:nvSpPr>
          <p:spPr>
            <a:xfrm>
              <a:off x="3776471" y="4632959"/>
              <a:ext cx="1813560" cy="1149350"/>
            </a:xfrm>
            <a:custGeom>
              <a:avLst/>
              <a:gdLst/>
              <a:ahLst/>
              <a:cxnLst/>
              <a:rect l="l" t="t" r="r" b="b"/>
              <a:pathLst>
                <a:path w="1813560" h="1149350">
                  <a:moveTo>
                    <a:pt x="0" y="114934"/>
                  </a:moveTo>
                  <a:lnTo>
                    <a:pt x="9028" y="70187"/>
                  </a:lnTo>
                  <a:lnTo>
                    <a:pt x="33654" y="33654"/>
                  </a:lnTo>
                  <a:lnTo>
                    <a:pt x="70187" y="9028"/>
                  </a:lnTo>
                  <a:lnTo>
                    <a:pt x="114935" y="0"/>
                  </a:lnTo>
                  <a:lnTo>
                    <a:pt x="1698625" y="0"/>
                  </a:lnTo>
                  <a:lnTo>
                    <a:pt x="1743372" y="9028"/>
                  </a:lnTo>
                  <a:lnTo>
                    <a:pt x="1779904" y="33655"/>
                  </a:lnTo>
                  <a:lnTo>
                    <a:pt x="1804531" y="70187"/>
                  </a:lnTo>
                  <a:lnTo>
                    <a:pt x="1813560" y="114934"/>
                  </a:lnTo>
                  <a:lnTo>
                    <a:pt x="1813560" y="1034186"/>
                  </a:lnTo>
                  <a:lnTo>
                    <a:pt x="1804531" y="1078914"/>
                  </a:lnTo>
                  <a:lnTo>
                    <a:pt x="1779905" y="1115439"/>
                  </a:lnTo>
                  <a:lnTo>
                    <a:pt x="1743372" y="1140065"/>
                  </a:lnTo>
                  <a:lnTo>
                    <a:pt x="1698625" y="1149095"/>
                  </a:lnTo>
                  <a:lnTo>
                    <a:pt x="114935" y="1149095"/>
                  </a:lnTo>
                  <a:lnTo>
                    <a:pt x="70187" y="1140065"/>
                  </a:lnTo>
                  <a:lnTo>
                    <a:pt x="33655" y="1115439"/>
                  </a:lnTo>
                  <a:lnTo>
                    <a:pt x="9028" y="1078914"/>
                  </a:lnTo>
                  <a:lnTo>
                    <a:pt x="0" y="1034186"/>
                  </a:lnTo>
                  <a:lnTo>
                    <a:pt x="0" y="114934"/>
                  </a:lnTo>
                  <a:close/>
                </a:path>
              </a:pathLst>
            </a:custGeom>
            <a:ln w="12192">
              <a:solidFill>
                <a:srgbClr val="FFFFFF"/>
              </a:solidFill>
            </a:ln>
          </p:spPr>
          <p:txBody>
            <a:bodyPr wrap="square" lIns="0" tIns="0" rIns="0" bIns="0" rtlCol="0"/>
            <a:lstStyle/>
            <a:p>
              <a:endParaRPr/>
            </a:p>
          </p:txBody>
        </p:sp>
        <p:sp>
          <p:nvSpPr>
            <p:cNvPr id="30" name="object 30"/>
            <p:cNvSpPr/>
            <p:nvPr/>
          </p:nvSpPr>
          <p:spPr>
            <a:xfrm>
              <a:off x="3977639" y="4821935"/>
              <a:ext cx="1813560" cy="1152525"/>
            </a:xfrm>
            <a:custGeom>
              <a:avLst/>
              <a:gdLst/>
              <a:ahLst/>
              <a:cxnLst/>
              <a:rect l="l" t="t" r="r" b="b"/>
              <a:pathLst>
                <a:path w="1813560" h="1152525">
                  <a:moveTo>
                    <a:pt x="1698371" y="0"/>
                  </a:moveTo>
                  <a:lnTo>
                    <a:pt x="115188" y="0"/>
                  </a:lnTo>
                  <a:lnTo>
                    <a:pt x="70348" y="9050"/>
                  </a:lnTo>
                  <a:lnTo>
                    <a:pt x="33734" y="33734"/>
                  </a:lnTo>
                  <a:lnTo>
                    <a:pt x="9050" y="70348"/>
                  </a:lnTo>
                  <a:lnTo>
                    <a:pt x="0" y="115188"/>
                  </a:lnTo>
                  <a:lnTo>
                    <a:pt x="0" y="1036929"/>
                  </a:lnTo>
                  <a:lnTo>
                    <a:pt x="9050" y="1081774"/>
                  </a:lnTo>
                  <a:lnTo>
                    <a:pt x="33734" y="1118396"/>
                  </a:lnTo>
                  <a:lnTo>
                    <a:pt x="70348" y="1143089"/>
                  </a:lnTo>
                  <a:lnTo>
                    <a:pt x="115188" y="1152144"/>
                  </a:lnTo>
                  <a:lnTo>
                    <a:pt x="1698371" y="1152144"/>
                  </a:lnTo>
                  <a:lnTo>
                    <a:pt x="1743211" y="1143089"/>
                  </a:lnTo>
                  <a:lnTo>
                    <a:pt x="1779825" y="1118396"/>
                  </a:lnTo>
                  <a:lnTo>
                    <a:pt x="1804509" y="1081774"/>
                  </a:lnTo>
                  <a:lnTo>
                    <a:pt x="1813560" y="1036929"/>
                  </a:lnTo>
                  <a:lnTo>
                    <a:pt x="1813560" y="115188"/>
                  </a:lnTo>
                  <a:lnTo>
                    <a:pt x="1804509" y="70348"/>
                  </a:lnTo>
                  <a:lnTo>
                    <a:pt x="1779825" y="33734"/>
                  </a:lnTo>
                  <a:lnTo>
                    <a:pt x="1743211" y="9050"/>
                  </a:lnTo>
                  <a:lnTo>
                    <a:pt x="1698371" y="0"/>
                  </a:lnTo>
                  <a:close/>
                </a:path>
              </a:pathLst>
            </a:custGeom>
            <a:solidFill>
              <a:srgbClr val="FFFFFF">
                <a:alpha val="90194"/>
              </a:srgbClr>
            </a:solidFill>
          </p:spPr>
          <p:txBody>
            <a:bodyPr wrap="square" lIns="0" tIns="0" rIns="0" bIns="0" rtlCol="0"/>
            <a:lstStyle/>
            <a:p>
              <a:endParaRPr/>
            </a:p>
          </p:txBody>
        </p:sp>
        <p:sp>
          <p:nvSpPr>
            <p:cNvPr id="31" name="object 31"/>
            <p:cNvSpPr/>
            <p:nvPr/>
          </p:nvSpPr>
          <p:spPr>
            <a:xfrm>
              <a:off x="3977639" y="4821935"/>
              <a:ext cx="1813560" cy="1152525"/>
            </a:xfrm>
            <a:custGeom>
              <a:avLst/>
              <a:gdLst/>
              <a:ahLst/>
              <a:cxnLst/>
              <a:rect l="l" t="t" r="r" b="b"/>
              <a:pathLst>
                <a:path w="1813560" h="1152525">
                  <a:moveTo>
                    <a:pt x="0" y="115188"/>
                  </a:moveTo>
                  <a:lnTo>
                    <a:pt x="9050" y="70348"/>
                  </a:lnTo>
                  <a:lnTo>
                    <a:pt x="33734" y="33734"/>
                  </a:lnTo>
                  <a:lnTo>
                    <a:pt x="70348" y="9050"/>
                  </a:lnTo>
                  <a:lnTo>
                    <a:pt x="115188" y="0"/>
                  </a:lnTo>
                  <a:lnTo>
                    <a:pt x="1698371" y="0"/>
                  </a:lnTo>
                  <a:lnTo>
                    <a:pt x="1743211" y="9050"/>
                  </a:lnTo>
                  <a:lnTo>
                    <a:pt x="1779825" y="33734"/>
                  </a:lnTo>
                  <a:lnTo>
                    <a:pt x="1804509" y="70348"/>
                  </a:lnTo>
                  <a:lnTo>
                    <a:pt x="1813560" y="115188"/>
                  </a:lnTo>
                  <a:lnTo>
                    <a:pt x="1813560" y="1036929"/>
                  </a:lnTo>
                  <a:lnTo>
                    <a:pt x="1804509" y="1081774"/>
                  </a:lnTo>
                  <a:lnTo>
                    <a:pt x="1779825" y="1118396"/>
                  </a:lnTo>
                  <a:lnTo>
                    <a:pt x="1743211" y="1143089"/>
                  </a:lnTo>
                  <a:lnTo>
                    <a:pt x="1698371" y="1152144"/>
                  </a:lnTo>
                  <a:lnTo>
                    <a:pt x="115188" y="1152144"/>
                  </a:lnTo>
                  <a:lnTo>
                    <a:pt x="70348" y="1143089"/>
                  </a:lnTo>
                  <a:lnTo>
                    <a:pt x="33734" y="1118396"/>
                  </a:lnTo>
                  <a:lnTo>
                    <a:pt x="9050" y="1081774"/>
                  </a:lnTo>
                  <a:lnTo>
                    <a:pt x="0" y="1036929"/>
                  </a:lnTo>
                  <a:lnTo>
                    <a:pt x="0" y="115188"/>
                  </a:lnTo>
                  <a:close/>
                </a:path>
              </a:pathLst>
            </a:custGeom>
            <a:ln w="12192">
              <a:solidFill>
                <a:srgbClr val="A4A4A4"/>
              </a:solidFill>
            </a:ln>
          </p:spPr>
          <p:txBody>
            <a:bodyPr wrap="square" lIns="0" tIns="0" rIns="0" bIns="0" rtlCol="0"/>
            <a:lstStyle/>
            <a:p>
              <a:endParaRPr/>
            </a:p>
          </p:txBody>
        </p:sp>
      </p:grpSp>
      <p:sp>
        <p:nvSpPr>
          <p:cNvPr id="32" name="object 32"/>
          <p:cNvSpPr txBox="1"/>
          <p:nvPr/>
        </p:nvSpPr>
        <p:spPr>
          <a:xfrm>
            <a:off x="4381627" y="5018023"/>
            <a:ext cx="1007744" cy="705485"/>
          </a:xfrm>
          <a:prstGeom prst="rect">
            <a:avLst/>
          </a:prstGeom>
        </p:spPr>
        <p:txBody>
          <a:bodyPr vert="horz" wrap="square" lIns="0" tIns="66675" rIns="0" bIns="0" rtlCol="0">
            <a:spAutoFit/>
          </a:bodyPr>
          <a:lstStyle/>
          <a:p>
            <a:pPr marL="12700" marR="5080" indent="73025">
              <a:lnSpc>
                <a:spcPts val="2470"/>
              </a:lnSpc>
              <a:spcBef>
                <a:spcPts val="525"/>
              </a:spcBef>
            </a:pPr>
            <a:r>
              <a:rPr sz="2400" dirty="0">
                <a:latin typeface="Times New Roman"/>
                <a:cs typeface="Times New Roman"/>
              </a:rPr>
              <a:t>SGST/ </a:t>
            </a:r>
            <a:r>
              <a:rPr sz="2400" spc="-585" dirty="0">
                <a:latin typeface="Times New Roman"/>
                <a:cs typeface="Times New Roman"/>
              </a:rPr>
              <a:t> </a:t>
            </a:r>
            <a:r>
              <a:rPr sz="2400" dirty="0">
                <a:latin typeface="Times New Roman"/>
                <a:cs typeface="Times New Roman"/>
              </a:rPr>
              <a:t>U</a:t>
            </a:r>
            <a:r>
              <a:rPr sz="2400" spc="-10" dirty="0">
                <a:latin typeface="Times New Roman"/>
                <a:cs typeface="Times New Roman"/>
              </a:rPr>
              <a:t>T</a:t>
            </a:r>
            <a:r>
              <a:rPr sz="2400" dirty="0">
                <a:latin typeface="Times New Roman"/>
                <a:cs typeface="Times New Roman"/>
              </a:rPr>
              <a:t>GST</a:t>
            </a:r>
            <a:endParaRPr sz="2400">
              <a:latin typeface="Times New Roman"/>
              <a:cs typeface="Times New Roman"/>
            </a:endParaRPr>
          </a:p>
        </p:txBody>
      </p:sp>
      <p:grpSp>
        <p:nvGrpSpPr>
          <p:cNvPr id="33" name="object 33"/>
          <p:cNvGrpSpPr/>
          <p:nvPr/>
        </p:nvGrpSpPr>
        <p:grpSpPr>
          <a:xfrm>
            <a:off x="5986017" y="2947161"/>
            <a:ext cx="2024380" cy="1353820"/>
            <a:chOff x="5986017" y="2947161"/>
            <a:chExt cx="2024380" cy="1353820"/>
          </a:xfrm>
        </p:grpSpPr>
        <p:sp>
          <p:nvSpPr>
            <p:cNvPr id="34" name="object 34"/>
            <p:cNvSpPr/>
            <p:nvPr/>
          </p:nvSpPr>
          <p:spPr>
            <a:xfrm>
              <a:off x="5992367" y="2953511"/>
              <a:ext cx="1811020" cy="1152525"/>
            </a:xfrm>
            <a:custGeom>
              <a:avLst/>
              <a:gdLst/>
              <a:ahLst/>
              <a:cxnLst/>
              <a:rect l="l" t="t" r="r" b="b"/>
              <a:pathLst>
                <a:path w="1811020" h="1152525">
                  <a:moveTo>
                    <a:pt x="1695323" y="0"/>
                  </a:moveTo>
                  <a:lnTo>
                    <a:pt x="115189" y="0"/>
                  </a:lnTo>
                  <a:lnTo>
                    <a:pt x="70348" y="9050"/>
                  </a:lnTo>
                  <a:lnTo>
                    <a:pt x="33734" y="33734"/>
                  </a:lnTo>
                  <a:lnTo>
                    <a:pt x="9050" y="70348"/>
                  </a:lnTo>
                  <a:lnTo>
                    <a:pt x="0" y="115188"/>
                  </a:lnTo>
                  <a:lnTo>
                    <a:pt x="0" y="1036955"/>
                  </a:lnTo>
                  <a:lnTo>
                    <a:pt x="9050" y="1081795"/>
                  </a:lnTo>
                  <a:lnTo>
                    <a:pt x="33734" y="1118409"/>
                  </a:lnTo>
                  <a:lnTo>
                    <a:pt x="70348" y="1143093"/>
                  </a:lnTo>
                  <a:lnTo>
                    <a:pt x="115189" y="1152144"/>
                  </a:lnTo>
                  <a:lnTo>
                    <a:pt x="1695323" y="1152144"/>
                  </a:lnTo>
                  <a:lnTo>
                    <a:pt x="1740163" y="1143093"/>
                  </a:lnTo>
                  <a:lnTo>
                    <a:pt x="1776777" y="1118409"/>
                  </a:lnTo>
                  <a:lnTo>
                    <a:pt x="1801461" y="1081795"/>
                  </a:lnTo>
                  <a:lnTo>
                    <a:pt x="1810512" y="1036955"/>
                  </a:lnTo>
                  <a:lnTo>
                    <a:pt x="1810512" y="115188"/>
                  </a:lnTo>
                  <a:lnTo>
                    <a:pt x="1801461" y="70348"/>
                  </a:lnTo>
                  <a:lnTo>
                    <a:pt x="1776777" y="33734"/>
                  </a:lnTo>
                  <a:lnTo>
                    <a:pt x="1740163" y="9050"/>
                  </a:lnTo>
                  <a:lnTo>
                    <a:pt x="1695323" y="0"/>
                  </a:lnTo>
                  <a:close/>
                </a:path>
              </a:pathLst>
            </a:custGeom>
            <a:solidFill>
              <a:srgbClr val="EC7C30"/>
            </a:solidFill>
          </p:spPr>
          <p:txBody>
            <a:bodyPr wrap="square" lIns="0" tIns="0" rIns="0" bIns="0" rtlCol="0"/>
            <a:lstStyle/>
            <a:p>
              <a:endParaRPr/>
            </a:p>
          </p:txBody>
        </p:sp>
        <p:sp>
          <p:nvSpPr>
            <p:cNvPr id="35" name="object 35"/>
            <p:cNvSpPr/>
            <p:nvPr/>
          </p:nvSpPr>
          <p:spPr>
            <a:xfrm>
              <a:off x="5992367" y="2953511"/>
              <a:ext cx="1811020" cy="1152525"/>
            </a:xfrm>
            <a:custGeom>
              <a:avLst/>
              <a:gdLst/>
              <a:ahLst/>
              <a:cxnLst/>
              <a:rect l="l" t="t" r="r" b="b"/>
              <a:pathLst>
                <a:path w="1811020" h="1152525">
                  <a:moveTo>
                    <a:pt x="0" y="115188"/>
                  </a:moveTo>
                  <a:lnTo>
                    <a:pt x="9050" y="70348"/>
                  </a:lnTo>
                  <a:lnTo>
                    <a:pt x="33734" y="33734"/>
                  </a:lnTo>
                  <a:lnTo>
                    <a:pt x="70348" y="9050"/>
                  </a:lnTo>
                  <a:lnTo>
                    <a:pt x="115189" y="0"/>
                  </a:lnTo>
                  <a:lnTo>
                    <a:pt x="1695323" y="0"/>
                  </a:lnTo>
                  <a:lnTo>
                    <a:pt x="1740163" y="9050"/>
                  </a:lnTo>
                  <a:lnTo>
                    <a:pt x="1776777" y="33734"/>
                  </a:lnTo>
                  <a:lnTo>
                    <a:pt x="1801461" y="70348"/>
                  </a:lnTo>
                  <a:lnTo>
                    <a:pt x="1810512" y="115188"/>
                  </a:lnTo>
                  <a:lnTo>
                    <a:pt x="1810512" y="1036955"/>
                  </a:lnTo>
                  <a:lnTo>
                    <a:pt x="1801461" y="1081795"/>
                  </a:lnTo>
                  <a:lnTo>
                    <a:pt x="1776777" y="1118409"/>
                  </a:lnTo>
                  <a:lnTo>
                    <a:pt x="1740163" y="1143093"/>
                  </a:lnTo>
                  <a:lnTo>
                    <a:pt x="1695323" y="1152144"/>
                  </a:lnTo>
                  <a:lnTo>
                    <a:pt x="115189" y="1152144"/>
                  </a:lnTo>
                  <a:lnTo>
                    <a:pt x="70348" y="1143093"/>
                  </a:lnTo>
                  <a:lnTo>
                    <a:pt x="33734" y="1118409"/>
                  </a:lnTo>
                  <a:lnTo>
                    <a:pt x="9050" y="1081795"/>
                  </a:lnTo>
                  <a:lnTo>
                    <a:pt x="0" y="1036955"/>
                  </a:lnTo>
                  <a:lnTo>
                    <a:pt x="0" y="115188"/>
                  </a:lnTo>
                  <a:close/>
                </a:path>
              </a:pathLst>
            </a:custGeom>
            <a:ln w="12192">
              <a:solidFill>
                <a:srgbClr val="FFFFFF"/>
              </a:solidFill>
            </a:ln>
          </p:spPr>
          <p:txBody>
            <a:bodyPr wrap="square" lIns="0" tIns="0" rIns="0" bIns="0" rtlCol="0"/>
            <a:lstStyle/>
            <a:p>
              <a:endParaRPr/>
            </a:p>
          </p:txBody>
        </p:sp>
        <p:sp>
          <p:nvSpPr>
            <p:cNvPr id="36" name="object 36"/>
            <p:cNvSpPr/>
            <p:nvPr/>
          </p:nvSpPr>
          <p:spPr>
            <a:xfrm>
              <a:off x="6193535" y="3145535"/>
              <a:ext cx="1811020" cy="1149350"/>
            </a:xfrm>
            <a:custGeom>
              <a:avLst/>
              <a:gdLst/>
              <a:ahLst/>
              <a:cxnLst/>
              <a:rect l="l" t="t" r="r" b="b"/>
              <a:pathLst>
                <a:path w="1811020" h="1149350">
                  <a:moveTo>
                    <a:pt x="1695577" y="0"/>
                  </a:moveTo>
                  <a:lnTo>
                    <a:pt x="114935" y="0"/>
                  </a:lnTo>
                  <a:lnTo>
                    <a:pt x="70187" y="9028"/>
                  </a:lnTo>
                  <a:lnTo>
                    <a:pt x="33654" y="33655"/>
                  </a:lnTo>
                  <a:lnTo>
                    <a:pt x="9028" y="70187"/>
                  </a:lnTo>
                  <a:lnTo>
                    <a:pt x="0" y="114935"/>
                  </a:lnTo>
                  <a:lnTo>
                    <a:pt x="0" y="1034161"/>
                  </a:lnTo>
                  <a:lnTo>
                    <a:pt x="9028" y="1078908"/>
                  </a:lnTo>
                  <a:lnTo>
                    <a:pt x="33655" y="1115440"/>
                  </a:lnTo>
                  <a:lnTo>
                    <a:pt x="70187" y="1140067"/>
                  </a:lnTo>
                  <a:lnTo>
                    <a:pt x="114935" y="1149095"/>
                  </a:lnTo>
                  <a:lnTo>
                    <a:pt x="1695577" y="1149095"/>
                  </a:lnTo>
                  <a:lnTo>
                    <a:pt x="1740324" y="1140067"/>
                  </a:lnTo>
                  <a:lnTo>
                    <a:pt x="1776857" y="1115441"/>
                  </a:lnTo>
                  <a:lnTo>
                    <a:pt x="1801483" y="1078908"/>
                  </a:lnTo>
                  <a:lnTo>
                    <a:pt x="1810512" y="1034161"/>
                  </a:lnTo>
                  <a:lnTo>
                    <a:pt x="1810512" y="114935"/>
                  </a:lnTo>
                  <a:lnTo>
                    <a:pt x="1801483" y="70187"/>
                  </a:lnTo>
                  <a:lnTo>
                    <a:pt x="1776857" y="33654"/>
                  </a:lnTo>
                  <a:lnTo>
                    <a:pt x="1740324" y="9028"/>
                  </a:lnTo>
                  <a:lnTo>
                    <a:pt x="1695577" y="0"/>
                  </a:lnTo>
                  <a:close/>
                </a:path>
              </a:pathLst>
            </a:custGeom>
            <a:solidFill>
              <a:srgbClr val="FFFFFF">
                <a:alpha val="90194"/>
              </a:srgbClr>
            </a:solidFill>
          </p:spPr>
          <p:txBody>
            <a:bodyPr wrap="square" lIns="0" tIns="0" rIns="0" bIns="0" rtlCol="0"/>
            <a:lstStyle/>
            <a:p>
              <a:endParaRPr/>
            </a:p>
          </p:txBody>
        </p:sp>
        <p:sp>
          <p:nvSpPr>
            <p:cNvPr id="37" name="object 37"/>
            <p:cNvSpPr/>
            <p:nvPr/>
          </p:nvSpPr>
          <p:spPr>
            <a:xfrm>
              <a:off x="6193535" y="3145535"/>
              <a:ext cx="1811020" cy="1149350"/>
            </a:xfrm>
            <a:custGeom>
              <a:avLst/>
              <a:gdLst/>
              <a:ahLst/>
              <a:cxnLst/>
              <a:rect l="l" t="t" r="r" b="b"/>
              <a:pathLst>
                <a:path w="1811020" h="1149350">
                  <a:moveTo>
                    <a:pt x="0" y="114935"/>
                  </a:moveTo>
                  <a:lnTo>
                    <a:pt x="9028" y="70187"/>
                  </a:lnTo>
                  <a:lnTo>
                    <a:pt x="33654" y="33655"/>
                  </a:lnTo>
                  <a:lnTo>
                    <a:pt x="70187" y="9028"/>
                  </a:lnTo>
                  <a:lnTo>
                    <a:pt x="114935" y="0"/>
                  </a:lnTo>
                  <a:lnTo>
                    <a:pt x="1695577" y="0"/>
                  </a:lnTo>
                  <a:lnTo>
                    <a:pt x="1740324" y="9028"/>
                  </a:lnTo>
                  <a:lnTo>
                    <a:pt x="1776857" y="33654"/>
                  </a:lnTo>
                  <a:lnTo>
                    <a:pt x="1801483" y="70187"/>
                  </a:lnTo>
                  <a:lnTo>
                    <a:pt x="1810512" y="114935"/>
                  </a:lnTo>
                  <a:lnTo>
                    <a:pt x="1810512" y="1034161"/>
                  </a:lnTo>
                  <a:lnTo>
                    <a:pt x="1801483" y="1078908"/>
                  </a:lnTo>
                  <a:lnTo>
                    <a:pt x="1776857" y="1115441"/>
                  </a:lnTo>
                  <a:lnTo>
                    <a:pt x="1740324" y="1140067"/>
                  </a:lnTo>
                  <a:lnTo>
                    <a:pt x="1695577" y="1149095"/>
                  </a:lnTo>
                  <a:lnTo>
                    <a:pt x="114935" y="1149095"/>
                  </a:lnTo>
                  <a:lnTo>
                    <a:pt x="70187" y="1140067"/>
                  </a:lnTo>
                  <a:lnTo>
                    <a:pt x="33655" y="1115440"/>
                  </a:lnTo>
                  <a:lnTo>
                    <a:pt x="9028" y="1078908"/>
                  </a:lnTo>
                  <a:lnTo>
                    <a:pt x="0" y="1034161"/>
                  </a:lnTo>
                  <a:lnTo>
                    <a:pt x="0" y="114935"/>
                  </a:lnTo>
                  <a:close/>
                </a:path>
              </a:pathLst>
            </a:custGeom>
            <a:ln w="12192">
              <a:solidFill>
                <a:srgbClr val="EC7C30"/>
              </a:solidFill>
            </a:ln>
          </p:spPr>
          <p:txBody>
            <a:bodyPr wrap="square" lIns="0" tIns="0" rIns="0" bIns="0" rtlCol="0"/>
            <a:lstStyle/>
            <a:p>
              <a:endParaRPr/>
            </a:p>
          </p:txBody>
        </p:sp>
      </p:grpSp>
      <p:sp>
        <p:nvSpPr>
          <p:cNvPr id="38" name="object 38"/>
          <p:cNvSpPr txBox="1"/>
          <p:nvPr/>
        </p:nvSpPr>
        <p:spPr>
          <a:xfrm>
            <a:off x="6456679" y="3496767"/>
            <a:ext cx="1288415" cy="391795"/>
          </a:xfrm>
          <a:prstGeom prst="rect">
            <a:avLst/>
          </a:prstGeom>
        </p:spPr>
        <p:txBody>
          <a:bodyPr vert="horz" wrap="square" lIns="0" tIns="12700" rIns="0" bIns="0" rtlCol="0">
            <a:spAutoFit/>
          </a:bodyPr>
          <a:lstStyle/>
          <a:p>
            <a:pPr marL="12700">
              <a:lnSpc>
                <a:spcPct val="100000"/>
              </a:lnSpc>
              <a:spcBef>
                <a:spcPts val="100"/>
              </a:spcBef>
            </a:pPr>
            <a:r>
              <a:rPr sz="2400" spc="-15" dirty="0">
                <a:latin typeface="Times New Roman"/>
                <a:cs typeface="Times New Roman"/>
              </a:rPr>
              <a:t>Inter </a:t>
            </a:r>
            <a:r>
              <a:rPr sz="2400" dirty="0">
                <a:latin typeface="Times New Roman"/>
                <a:cs typeface="Times New Roman"/>
              </a:rPr>
              <a:t>State</a:t>
            </a:r>
            <a:endParaRPr sz="2400">
              <a:latin typeface="Times New Roman"/>
              <a:cs typeface="Times New Roman"/>
            </a:endParaRPr>
          </a:p>
        </p:txBody>
      </p:sp>
      <p:grpSp>
        <p:nvGrpSpPr>
          <p:cNvPr id="39" name="object 39"/>
          <p:cNvGrpSpPr/>
          <p:nvPr/>
        </p:nvGrpSpPr>
        <p:grpSpPr>
          <a:xfrm>
            <a:off x="5986271" y="4626864"/>
            <a:ext cx="2024380" cy="1353820"/>
            <a:chOff x="5986271" y="4626864"/>
            <a:chExt cx="2024380" cy="1353820"/>
          </a:xfrm>
        </p:grpSpPr>
        <p:sp>
          <p:nvSpPr>
            <p:cNvPr id="40" name="object 40"/>
            <p:cNvSpPr/>
            <p:nvPr/>
          </p:nvSpPr>
          <p:spPr>
            <a:xfrm>
              <a:off x="5992367" y="4632960"/>
              <a:ext cx="1811020" cy="1149350"/>
            </a:xfrm>
            <a:custGeom>
              <a:avLst/>
              <a:gdLst/>
              <a:ahLst/>
              <a:cxnLst/>
              <a:rect l="l" t="t" r="r" b="b"/>
              <a:pathLst>
                <a:path w="1811020" h="1149350">
                  <a:moveTo>
                    <a:pt x="1695577" y="0"/>
                  </a:moveTo>
                  <a:lnTo>
                    <a:pt x="114935" y="0"/>
                  </a:lnTo>
                  <a:lnTo>
                    <a:pt x="70187" y="9028"/>
                  </a:lnTo>
                  <a:lnTo>
                    <a:pt x="33654" y="33654"/>
                  </a:lnTo>
                  <a:lnTo>
                    <a:pt x="9028" y="70187"/>
                  </a:lnTo>
                  <a:lnTo>
                    <a:pt x="0" y="114934"/>
                  </a:lnTo>
                  <a:lnTo>
                    <a:pt x="0" y="1034186"/>
                  </a:lnTo>
                  <a:lnTo>
                    <a:pt x="9028" y="1078914"/>
                  </a:lnTo>
                  <a:lnTo>
                    <a:pt x="33655" y="1115439"/>
                  </a:lnTo>
                  <a:lnTo>
                    <a:pt x="70187" y="1140065"/>
                  </a:lnTo>
                  <a:lnTo>
                    <a:pt x="114935" y="1149095"/>
                  </a:lnTo>
                  <a:lnTo>
                    <a:pt x="1695577" y="1149095"/>
                  </a:lnTo>
                  <a:lnTo>
                    <a:pt x="1740324" y="1140065"/>
                  </a:lnTo>
                  <a:lnTo>
                    <a:pt x="1776857" y="1115439"/>
                  </a:lnTo>
                  <a:lnTo>
                    <a:pt x="1801483" y="1078914"/>
                  </a:lnTo>
                  <a:lnTo>
                    <a:pt x="1810512" y="1034186"/>
                  </a:lnTo>
                  <a:lnTo>
                    <a:pt x="1810512" y="114934"/>
                  </a:lnTo>
                  <a:lnTo>
                    <a:pt x="1801483" y="70187"/>
                  </a:lnTo>
                  <a:lnTo>
                    <a:pt x="1776857" y="33655"/>
                  </a:lnTo>
                  <a:lnTo>
                    <a:pt x="1740324" y="9028"/>
                  </a:lnTo>
                  <a:lnTo>
                    <a:pt x="1695577" y="0"/>
                  </a:lnTo>
                  <a:close/>
                </a:path>
              </a:pathLst>
            </a:custGeom>
            <a:solidFill>
              <a:srgbClr val="A4A4A4"/>
            </a:solidFill>
          </p:spPr>
          <p:txBody>
            <a:bodyPr wrap="square" lIns="0" tIns="0" rIns="0" bIns="0" rtlCol="0"/>
            <a:lstStyle/>
            <a:p>
              <a:endParaRPr/>
            </a:p>
          </p:txBody>
        </p:sp>
        <p:sp>
          <p:nvSpPr>
            <p:cNvPr id="41" name="object 41"/>
            <p:cNvSpPr/>
            <p:nvPr/>
          </p:nvSpPr>
          <p:spPr>
            <a:xfrm>
              <a:off x="5992367" y="4632960"/>
              <a:ext cx="1811020" cy="1149350"/>
            </a:xfrm>
            <a:custGeom>
              <a:avLst/>
              <a:gdLst/>
              <a:ahLst/>
              <a:cxnLst/>
              <a:rect l="l" t="t" r="r" b="b"/>
              <a:pathLst>
                <a:path w="1811020" h="1149350">
                  <a:moveTo>
                    <a:pt x="0" y="114934"/>
                  </a:moveTo>
                  <a:lnTo>
                    <a:pt x="9028" y="70187"/>
                  </a:lnTo>
                  <a:lnTo>
                    <a:pt x="33654" y="33654"/>
                  </a:lnTo>
                  <a:lnTo>
                    <a:pt x="70187" y="9028"/>
                  </a:lnTo>
                  <a:lnTo>
                    <a:pt x="114935" y="0"/>
                  </a:lnTo>
                  <a:lnTo>
                    <a:pt x="1695577" y="0"/>
                  </a:lnTo>
                  <a:lnTo>
                    <a:pt x="1740324" y="9028"/>
                  </a:lnTo>
                  <a:lnTo>
                    <a:pt x="1776857" y="33655"/>
                  </a:lnTo>
                  <a:lnTo>
                    <a:pt x="1801483" y="70187"/>
                  </a:lnTo>
                  <a:lnTo>
                    <a:pt x="1810512" y="114934"/>
                  </a:lnTo>
                  <a:lnTo>
                    <a:pt x="1810512" y="1034186"/>
                  </a:lnTo>
                  <a:lnTo>
                    <a:pt x="1801483" y="1078914"/>
                  </a:lnTo>
                  <a:lnTo>
                    <a:pt x="1776857" y="1115439"/>
                  </a:lnTo>
                  <a:lnTo>
                    <a:pt x="1740324" y="1140065"/>
                  </a:lnTo>
                  <a:lnTo>
                    <a:pt x="1695577" y="1149095"/>
                  </a:lnTo>
                  <a:lnTo>
                    <a:pt x="114935" y="1149095"/>
                  </a:lnTo>
                  <a:lnTo>
                    <a:pt x="70187" y="1140065"/>
                  </a:lnTo>
                  <a:lnTo>
                    <a:pt x="33655" y="1115439"/>
                  </a:lnTo>
                  <a:lnTo>
                    <a:pt x="9028" y="1078914"/>
                  </a:lnTo>
                  <a:lnTo>
                    <a:pt x="0" y="1034186"/>
                  </a:lnTo>
                  <a:lnTo>
                    <a:pt x="0" y="114934"/>
                  </a:lnTo>
                  <a:close/>
                </a:path>
              </a:pathLst>
            </a:custGeom>
            <a:ln w="12192">
              <a:solidFill>
                <a:srgbClr val="FFFFFF"/>
              </a:solidFill>
            </a:ln>
          </p:spPr>
          <p:txBody>
            <a:bodyPr wrap="square" lIns="0" tIns="0" rIns="0" bIns="0" rtlCol="0"/>
            <a:lstStyle/>
            <a:p>
              <a:endParaRPr/>
            </a:p>
          </p:txBody>
        </p:sp>
        <p:sp>
          <p:nvSpPr>
            <p:cNvPr id="42" name="object 42"/>
            <p:cNvSpPr/>
            <p:nvPr/>
          </p:nvSpPr>
          <p:spPr>
            <a:xfrm>
              <a:off x="6193535" y="4821936"/>
              <a:ext cx="1811020" cy="1152525"/>
            </a:xfrm>
            <a:custGeom>
              <a:avLst/>
              <a:gdLst/>
              <a:ahLst/>
              <a:cxnLst/>
              <a:rect l="l" t="t" r="r" b="b"/>
              <a:pathLst>
                <a:path w="1811020" h="1152525">
                  <a:moveTo>
                    <a:pt x="1695322" y="0"/>
                  </a:moveTo>
                  <a:lnTo>
                    <a:pt x="115188" y="0"/>
                  </a:lnTo>
                  <a:lnTo>
                    <a:pt x="70348" y="9050"/>
                  </a:lnTo>
                  <a:lnTo>
                    <a:pt x="33734" y="33734"/>
                  </a:lnTo>
                  <a:lnTo>
                    <a:pt x="9050" y="70348"/>
                  </a:lnTo>
                  <a:lnTo>
                    <a:pt x="0" y="115188"/>
                  </a:lnTo>
                  <a:lnTo>
                    <a:pt x="0" y="1036929"/>
                  </a:lnTo>
                  <a:lnTo>
                    <a:pt x="9050" y="1081774"/>
                  </a:lnTo>
                  <a:lnTo>
                    <a:pt x="33734" y="1118396"/>
                  </a:lnTo>
                  <a:lnTo>
                    <a:pt x="70348" y="1143089"/>
                  </a:lnTo>
                  <a:lnTo>
                    <a:pt x="115188" y="1152144"/>
                  </a:lnTo>
                  <a:lnTo>
                    <a:pt x="1695322" y="1152144"/>
                  </a:lnTo>
                  <a:lnTo>
                    <a:pt x="1740163" y="1143089"/>
                  </a:lnTo>
                  <a:lnTo>
                    <a:pt x="1776777" y="1118396"/>
                  </a:lnTo>
                  <a:lnTo>
                    <a:pt x="1801461" y="1081774"/>
                  </a:lnTo>
                  <a:lnTo>
                    <a:pt x="1810512" y="1036929"/>
                  </a:lnTo>
                  <a:lnTo>
                    <a:pt x="1810512" y="115188"/>
                  </a:lnTo>
                  <a:lnTo>
                    <a:pt x="1801461" y="70348"/>
                  </a:lnTo>
                  <a:lnTo>
                    <a:pt x="1776777" y="33734"/>
                  </a:lnTo>
                  <a:lnTo>
                    <a:pt x="1740163" y="9050"/>
                  </a:lnTo>
                  <a:lnTo>
                    <a:pt x="1695322" y="0"/>
                  </a:lnTo>
                  <a:close/>
                </a:path>
              </a:pathLst>
            </a:custGeom>
            <a:solidFill>
              <a:srgbClr val="FFFFFF">
                <a:alpha val="90194"/>
              </a:srgbClr>
            </a:solidFill>
          </p:spPr>
          <p:txBody>
            <a:bodyPr wrap="square" lIns="0" tIns="0" rIns="0" bIns="0" rtlCol="0"/>
            <a:lstStyle/>
            <a:p>
              <a:endParaRPr/>
            </a:p>
          </p:txBody>
        </p:sp>
        <p:sp>
          <p:nvSpPr>
            <p:cNvPr id="43" name="object 43"/>
            <p:cNvSpPr/>
            <p:nvPr/>
          </p:nvSpPr>
          <p:spPr>
            <a:xfrm>
              <a:off x="6193535" y="4821936"/>
              <a:ext cx="1811020" cy="1152525"/>
            </a:xfrm>
            <a:custGeom>
              <a:avLst/>
              <a:gdLst/>
              <a:ahLst/>
              <a:cxnLst/>
              <a:rect l="l" t="t" r="r" b="b"/>
              <a:pathLst>
                <a:path w="1811020" h="1152525">
                  <a:moveTo>
                    <a:pt x="0" y="115188"/>
                  </a:moveTo>
                  <a:lnTo>
                    <a:pt x="9050" y="70348"/>
                  </a:lnTo>
                  <a:lnTo>
                    <a:pt x="33734" y="33734"/>
                  </a:lnTo>
                  <a:lnTo>
                    <a:pt x="70348" y="9050"/>
                  </a:lnTo>
                  <a:lnTo>
                    <a:pt x="115188" y="0"/>
                  </a:lnTo>
                  <a:lnTo>
                    <a:pt x="1695322" y="0"/>
                  </a:lnTo>
                  <a:lnTo>
                    <a:pt x="1740163" y="9050"/>
                  </a:lnTo>
                  <a:lnTo>
                    <a:pt x="1776777" y="33734"/>
                  </a:lnTo>
                  <a:lnTo>
                    <a:pt x="1801461" y="70348"/>
                  </a:lnTo>
                  <a:lnTo>
                    <a:pt x="1810512" y="115188"/>
                  </a:lnTo>
                  <a:lnTo>
                    <a:pt x="1810512" y="1036929"/>
                  </a:lnTo>
                  <a:lnTo>
                    <a:pt x="1801461" y="1081774"/>
                  </a:lnTo>
                  <a:lnTo>
                    <a:pt x="1776777" y="1118396"/>
                  </a:lnTo>
                  <a:lnTo>
                    <a:pt x="1740163" y="1143089"/>
                  </a:lnTo>
                  <a:lnTo>
                    <a:pt x="1695322" y="1152144"/>
                  </a:lnTo>
                  <a:lnTo>
                    <a:pt x="115188" y="1152144"/>
                  </a:lnTo>
                  <a:lnTo>
                    <a:pt x="70348" y="1143089"/>
                  </a:lnTo>
                  <a:lnTo>
                    <a:pt x="33734" y="1118396"/>
                  </a:lnTo>
                  <a:lnTo>
                    <a:pt x="9050" y="1081774"/>
                  </a:lnTo>
                  <a:lnTo>
                    <a:pt x="0" y="1036929"/>
                  </a:lnTo>
                  <a:lnTo>
                    <a:pt x="0" y="115188"/>
                  </a:lnTo>
                  <a:close/>
                </a:path>
              </a:pathLst>
            </a:custGeom>
            <a:ln w="12192">
              <a:solidFill>
                <a:srgbClr val="A4A4A4"/>
              </a:solidFill>
            </a:ln>
          </p:spPr>
          <p:txBody>
            <a:bodyPr wrap="square" lIns="0" tIns="0" rIns="0" bIns="0" rtlCol="0"/>
            <a:lstStyle/>
            <a:p>
              <a:endParaRPr/>
            </a:p>
          </p:txBody>
        </p:sp>
      </p:grpSp>
      <p:sp>
        <p:nvSpPr>
          <p:cNvPr id="44" name="object 44"/>
          <p:cNvSpPr txBox="1"/>
          <p:nvPr/>
        </p:nvSpPr>
        <p:spPr>
          <a:xfrm>
            <a:off x="6752335" y="5175326"/>
            <a:ext cx="696595" cy="391795"/>
          </a:xfrm>
          <a:prstGeom prst="rect">
            <a:avLst/>
          </a:prstGeom>
        </p:spPr>
        <p:txBody>
          <a:bodyPr vert="horz" wrap="square" lIns="0" tIns="12700" rIns="0" bIns="0" rtlCol="0">
            <a:spAutoFit/>
          </a:bodyPr>
          <a:lstStyle/>
          <a:p>
            <a:pPr marL="12700">
              <a:lnSpc>
                <a:spcPct val="100000"/>
              </a:lnSpc>
              <a:spcBef>
                <a:spcPts val="100"/>
              </a:spcBef>
            </a:pPr>
            <a:r>
              <a:rPr sz="2400" spc="-60" dirty="0">
                <a:latin typeface="Times New Roman"/>
                <a:cs typeface="Times New Roman"/>
              </a:rPr>
              <a:t>I</a:t>
            </a:r>
            <a:r>
              <a:rPr sz="2400" dirty="0">
                <a:latin typeface="Times New Roman"/>
                <a:cs typeface="Times New Roman"/>
              </a:rPr>
              <a:t>GST</a:t>
            </a:r>
            <a:endParaRPr sz="2400">
              <a:latin typeface="Times New Roman"/>
              <a:cs typeface="Times New Roman"/>
            </a:endParaRPr>
          </a:p>
        </p:txBody>
      </p:sp>
      <p:grpSp>
        <p:nvGrpSpPr>
          <p:cNvPr id="45" name="object 45"/>
          <p:cNvGrpSpPr/>
          <p:nvPr/>
        </p:nvGrpSpPr>
        <p:grpSpPr>
          <a:xfrm>
            <a:off x="9418066" y="1173225"/>
            <a:ext cx="2451100" cy="1600835"/>
            <a:chOff x="9418066" y="1173225"/>
            <a:chExt cx="2451100" cy="1600835"/>
          </a:xfrm>
        </p:grpSpPr>
        <p:sp>
          <p:nvSpPr>
            <p:cNvPr id="46" name="object 46"/>
            <p:cNvSpPr/>
            <p:nvPr/>
          </p:nvSpPr>
          <p:spPr>
            <a:xfrm>
              <a:off x="9424416" y="1179575"/>
              <a:ext cx="2438400" cy="1588135"/>
            </a:xfrm>
            <a:custGeom>
              <a:avLst/>
              <a:gdLst/>
              <a:ahLst/>
              <a:cxnLst/>
              <a:rect l="l" t="t" r="r" b="b"/>
              <a:pathLst>
                <a:path w="2438400" h="1588135">
                  <a:moveTo>
                    <a:pt x="1016000" y="1411224"/>
                  </a:moveTo>
                  <a:lnTo>
                    <a:pt x="406400" y="1411224"/>
                  </a:lnTo>
                  <a:lnTo>
                    <a:pt x="711200" y="1587627"/>
                  </a:lnTo>
                  <a:lnTo>
                    <a:pt x="1016000" y="1411224"/>
                  </a:lnTo>
                  <a:close/>
                </a:path>
                <a:path w="2438400" h="1588135">
                  <a:moveTo>
                    <a:pt x="2203195" y="0"/>
                  </a:moveTo>
                  <a:lnTo>
                    <a:pt x="235203" y="0"/>
                  </a:lnTo>
                  <a:lnTo>
                    <a:pt x="187796" y="4777"/>
                  </a:lnTo>
                  <a:lnTo>
                    <a:pt x="143642" y="18480"/>
                  </a:lnTo>
                  <a:lnTo>
                    <a:pt x="103689" y="40163"/>
                  </a:lnTo>
                  <a:lnTo>
                    <a:pt x="68881" y="68881"/>
                  </a:lnTo>
                  <a:lnTo>
                    <a:pt x="40163" y="103689"/>
                  </a:lnTo>
                  <a:lnTo>
                    <a:pt x="18480" y="143642"/>
                  </a:lnTo>
                  <a:lnTo>
                    <a:pt x="4777" y="187796"/>
                  </a:lnTo>
                  <a:lnTo>
                    <a:pt x="0" y="235203"/>
                  </a:lnTo>
                  <a:lnTo>
                    <a:pt x="0" y="1176020"/>
                  </a:lnTo>
                  <a:lnTo>
                    <a:pt x="4777" y="1223427"/>
                  </a:lnTo>
                  <a:lnTo>
                    <a:pt x="18480" y="1267581"/>
                  </a:lnTo>
                  <a:lnTo>
                    <a:pt x="40163" y="1307534"/>
                  </a:lnTo>
                  <a:lnTo>
                    <a:pt x="68881" y="1342342"/>
                  </a:lnTo>
                  <a:lnTo>
                    <a:pt x="103689" y="1371060"/>
                  </a:lnTo>
                  <a:lnTo>
                    <a:pt x="143642" y="1392743"/>
                  </a:lnTo>
                  <a:lnTo>
                    <a:pt x="187796" y="1406446"/>
                  </a:lnTo>
                  <a:lnTo>
                    <a:pt x="235203" y="1411224"/>
                  </a:lnTo>
                  <a:lnTo>
                    <a:pt x="2203195" y="1411224"/>
                  </a:lnTo>
                  <a:lnTo>
                    <a:pt x="2250603" y="1406446"/>
                  </a:lnTo>
                  <a:lnTo>
                    <a:pt x="2294757" y="1392743"/>
                  </a:lnTo>
                  <a:lnTo>
                    <a:pt x="2334710" y="1371060"/>
                  </a:lnTo>
                  <a:lnTo>
                    <a:pt x="2369518" y="1342342"/>
                  </a:lnTo>
                  <a:lnTo>
                    <a:pt x="2398236" y="1307534"/>
                  </a:lnTo>
                  <a:lnTo>
                    <a:pt x="2419919" y="1267581"/>
                  </a:lnTo>
                  <a:lnTo>
                    <a:pt x="2433622" y="1223427"/>
                  </a:lnTo>
                  <a:lnTo>
                    <a:pt x="2438400" y="1176020"/>
                  </a:lnTo>
                  <a:lnTo>
                    <a:pt x="2438400" y="235203"/>
                  </a:lnTo>
                  <a:lnTo>
                    <a:pt x="2433622" y="187796"/>
                  </a:lnTo>
                  <a:lnTo>
                    <a:pt x="2419919" y="143642"/>
                  </a:lnTo>
                  <a:lnTo>
                    <a:pt x="2398236" y="103689"/>
                  </a:lnTo>
                  <a:lnTo>
                    <a:pt x="2369518" y="68881"/>
                  </a:lnTo>
                  <a:lnTo>
                    <a:pt x="2334710" y="40163"/>
                  </a:lnTo>
                  <a:lnTo>
                    <a:pt x="2294757" y="18480"/>
                  </a:lnTo>
                  <a:lnTo>
                    <a:pt x="2250603" y="4777"/>
                  </a:lnTo>
                  <a:lnTo>
                    <a:pt x="2203195" y="0"/>
                  </a:lnTo>
                  <a:close/>
                </a:path>
              </a:pathLst>
            </a:custGeom>
            <a:solidFill>
              <a:srgbClr val="4471C4"/>
            </a:solidFill>
          </p:spPr>
          <p:txBody>
            <a:bodyPr wrap="square" lIns="0" tIns="0" rIns="0" bIns="0" rtlCol="0"/>
            <a:lstStyle/>
            <a:p>
              <a:endParaRPr/>
            </a:p>
          </p:txBody>
        </p:sp>
        <p:sp>
          <p:nvSpPr>
            <p:cNvPr id="47" name="object 47"/>
            <p:cNvSpPr/>
            <p:nvPr/>
          </p:nvSpPr>
          <p:spPr>
            <a:xfrm>
              <a:off x="9424416" y="1179575"/>
              <a:ext cx="2438400" cy="1588135"/>
            </a:xfrm>
            <a:custGeom>
              <a:avLst/>
              <a:gdLst/>
              <a:ahLst/>
              <a:cxnLst/>
              <a:rect l="l" t="t" r="r" b="b"/>
              <a:pathLst>
                <a:path w="2438400" h="1588135">
                  <a:moveTo>
                    <a:pt x="0" y="235203"/>
                  </a:moveTo>
                  <a:lnTo>
                    <a:pt x="4777" y="187796"/>
                  </a:lnTo>
                  <a:lnTo>
                    <a:pt x="18480" y="143642"/>
                  </a:lnTo>
                  <a:lnTo>
                    <a:pt x="40163" y="103689"/>
                  </a:lnTo>
                  <a:lnTo>
                    <a:pt x="68881" y="68881"/>
                  </a:lnTo>
                  <a:lnTo>
                    <a:pt x="103689" y="40163"/>
                  </a:lnTo>
                  <a:lnTo>
                    <a:pt x="143642" y="18480"/>
                  </a:lnTo>
                  <a:lnTo>
                    <a:pt x="187796" y="4777"/>
                  </a:lnTo>
                  <a:lnTo>
                    <a:pt x="235203" y="0"/>
                  </a:lnTo>
                  <a:lnTo>
                    <a:pt x="406400" y="0"/>
                  </a:lnTo>
                  <a:lnTo>
                    <a:pt x="1016000" y="0"/>
                  </a:lnTo>
                  <a:lnTo>
                    <a:pt x="2203195" y="0"/>
                  </a:lnTo>
                  <a:lnTo>
                    <a:pt x="2250603" y="4777"/>
                  </a:lnTo>
                  <a:lnTo>
                    <a:pt x="2294757" y="18480"/>
                  </a:lnTo>
                  <a:lnTo>
                    <a:pt x="2334710" y="40163"/>
                  </a:lnTo>
                  <a:lnTo>
                    <a:pt x="2369518" y="68881"/>
                  </a:lnTo>
                  <a:lnTo>
                    <a:pt x="2398236" y="103689"/>
                  </a:lnTo>
                  <a:lnTo>
                    <a:pt x="2419919" y="143642"/>
                  </a:lnTo>
                  <a:lnTo>
                    <a:pt x="2433622" y="187796"/>
                  </a:lnTo>
                  <a:lnTo>
                    <a:pt x="2438400" y="235203"/>
                  </a:lnTo>
                  <a:lnTo>
                    <a:pt x="2438400" y="823213"/>
                  </a:lnTo>
                  <a:lnTo>
                    <a:pt x="2438400" y="1176020"/>
                  </a:lnTo>
                  <a:lnTo>
                    <a:pt x="2433622" y="1223427"/>
                  </a:lnTo>
                  <a:lnTo>
                    <a:pt x="2419919" y="1267581"/>
                  </a:lnTo>
                  <a:lnTo>
                    <a:pt x="2398236" y="1307534"/>
                  </a:lnTo>
                  <a:lnTo>
                    <a:pt x="2369518" y="1342342"/>
                  </a:lnTo>
                  <a:lnTo>
                    <a:pt x="2334710" y="1371060"/>
                  </a:lnTo>
                  <a:lnTo>
                    <a:pt x="2294757" y="1392743"/>
                  </a:lnTo>
                  <a:lnTo>
                    <a:pt x="2250603" y="1406446"/>
                  </a:lnTo>
                  <a:lnTo>
                    <a:pt x="2203195" y="1411224"/>
                  </a:lnTo>
                  <a:lnTo>
                    <a:pt x="1016000" y="1411224"/>
                  </a:lnTo>
                  <a:lnTo>
                    <a:pt x="711200" y="1587627"/>
                  </a:lnTo>
                  <a:lnTo>
                    <a:pt x="406400" y="1411224"/>
                  </a:lnTo>
                  <a:lnTo>
                    <a:pt x="235203" y="1411224"/>
                  </a:lnTo>
                  <a:lnTo>
                    <a:pt x="187796" y="1406446"/>
                  </a:lnTo>
                  <a:lnTo>
                    <a:pt x="143642" y="1392743"/>
                  </a:lnTo>
                  <a:lnTo>
                    <a:pt x="103689" y="1371060"/>
                  </a:lnTo>
                  <a:lnTo>
                    <a:pt x="68881" y="1342342"/>
                  </a:lnTo>
                  <a:lnTo>
                    <a:pt x="40163" y="1307534"/>
                  </a:lnTo>
                  <a:lnTo>
                    <a:pt x="18480" y="1267581"/>
                  </a:lnTo>
                  <a:lnTo>
                    <a:pt x="4777" y="1223427"/>
                  </a:lnTo>
                  <a:lnTo>
                    <a:pt x="0" y="1176020"/>
                  </a:lnTo>
                  <a:lnTo>
                    <a:pt x="0" y="823213"/>
                  </a:lnTo>
                  <a:lnTo>
                    <a:pt x="0" y="235203"/>
                  </a:lnTo>
                  <a:close/>
                </a:path>
              </a:pathLst>
            </a:custGeom>
            <a:ln w="12192">
              <a:solidFill>
                <a:srgbClr val="2E528F"/>
              </a:solidFill>
            </a:ln>
          </p:spPr>
          <p:txBody>
            <a:bodyPr wrap="square" lIns="0" tIns="0" rIns="0" bIns="0" rtlCol="0"/>
            <a:lstStyle/>
            <a:p>
              <a:endParaRPr/>
            </a:p>
          </p:txBody>
        </p:sp>
      </p:grpSp>
      <p:sp>
        <p:nvSpPr>
          <p:cNvPr id="48" name="object 48"/>
          <p:cNvSpPr txBox="1"/>
          <p:nvPr/>
        </p:nvSpPr>
        <p:spPr>
          <a:xfrm>
            <a:off x="9649459" y="1589913"/>
            <a:ext cx="1988185" cy="574675"/>
          </a:xfrm>
          <a:prstGeom prst="rect">
            <a:avLst/>
          </a:prstGeom>
        </p:spPr>
        <p:txBody>
          <a:bodyPr vert="horz" wrap="square" lIns="0" tIns="12700" rIns="0" bIns="0" rtlCol="0">
            <a:spAutoFit/>
          </a:bodyPr>
          <a:lstStyle/>
          <a:p>
            <a:pPr algn="ctr">
              <a:lnSpc>
                <a:spcPct val="100000"/>
              </a:lnSpc>
              <a:spcBef>
                <a:spcPts val="100"/>
              </a:spcBef>
            </a:pPr>
            <a:r>
              <a:rPr sz="1800" spc="-5" dirty="0">
                <a:solidFill>
                  <a:srgbClr val="FFFFFF"/>
                </a:solidFill>
                <a:latin typeface="Times New Roman"/>
                <a:cs typeface="Times New Roman"/>
              </a:rPr>
              <a:t>When</a:t>
            </a:r>
            <a:r>
              <a:rPr sz="1800" spc="-15" dirty="0">
                <a:solidFill>
                  <a:srgbClr val="FFFFFF"/>
                </a:solidFill>
                <a:latin typeface="Times New Roman"/>
                <a:cs typeface="Times New Roman"/>
              </a:rPr>
              <a:t> UTGST</a:t>
            </a:r>
            <a:r>
              <a:rPr sz="1800" spc="-20" dirty="0">
                <a:solidFill>
                  <a:srgbClr val="FFFFFF"/>
                </a:solidFill>
                <a:latin typeface="Times New Roman"/>
                <a:cs typeface="Times New Roman"/>
              </a:rPr>
              <a:t> </a:t>
            </a:r>
            <a:r>
              <a:rPr sz="1800" spc="-5" dirty="0">
                <a:solidFill>
                  <a:srgbClr val="FFFFFF"/>
                </a:solidFill>
                <a:latin typeface="Times New Roman"/>
                <a:cs typeface="Times New Roman"/>
              </a:rPr>
              <a:t>would</a:t>
            </a:r>
            <a:endParaRPr sz="1800">
              <a:latin typeface="Times New Roman"/>
              <a:cs typeface="Times New Roman"/>
            </a:endParaRPr>
          </a:p>
          <a:p>
            <a:pPr marL="3175" algn="ctr">
              <a:lnSpc>
                <a:spcPct val="100000"/>
              </a:lnSpc>
            </a:pPr>
            <a:r>
              <a:rPr sz="1800" dirty="0">
                <a:solidFill>
                  <a:srgbClr val="FFFFFF"/>
                </a:solidFill>
                <a:latin typeface="Times New Roman"/>
                <a:cs typeface="Times New Roman"/>
              </a:rPr>
              <a:t>be</a:t>
            </a:r>
            <a:r>
              <a:rPr sz="1800" spc="-35" dirty="0">
                <a:solidFill>
                  <a:srgbClr val="FFFFFF"/>
                </a:solidFill>
                <a:latin typeface="Times New Roman"/>
                <a:cs typeface="Times New Roman"/>
              </a:rPr>
              <a:t> </a:t>
            </a:r>
            <a:r>
              <a:rPr sz="1800" spc="-10" dirty="0">
                <a:solidFill>
                  <a:srgbClr val="FFFFFF"/>
                </a:solidFill>
                <a:latin typeface="Times New Roman"/>
                <a:cs typeface="Times New Roman"/>
              </a:rPr>
              <a:t>charged?</a:t>
            </a:r>
            <a:endParaRPr sz="1800">
              <a:latin typeface="Times New Roman"/>
              <a:cs typeface="Times New Roman"/>
            </a:endParaRPr>
          </a:p>
        </p:txBody>
      </p:sp>
      <p:grpSp>
        <p:nvGrpSpPr>
          <p:cNvPr id="49" name="object 49"/>
          <p:cNvGrpSpPr/>
          <p:nvPr/>
        </p:nvGrpSpPr>
        <p:grpSpPr>
          <a:xfrm>
            <a:off x="9122664" y="2788919"/>
            <a:ext cx="2840990" cy="4075429"/>
            <a:chOff x="9122664" y="2788919"/>
            <a:chExt cx="2840990" cy="4075429"/>
          </a:xfrm>
        </p:grpSpPr>
        <p:sp>
          <p:nvSpPr>
            <p:cNvPr id="50" name="object 50"/>
            <p:cNvSpPr/>
            <p:nvPr/>
          </p:nvSpPr>
          <p:spPr>
            <a:xfrm>
              <a:off x="9128760" y="2795015"/>
              <a:ext cx="2828925" cy="4063365"/>
            </a:xfrm>
            <a:custGeom>
              <a:avLst/>
              <a:gdLst/>
              <a:ahLst/>
              <a:cxnLst/>
              <a:rect l="l" t="t" r="r" b="b"/>
              <a:pathLst>
                <a:path w="2828925" h="4063365">
                  <a:moveTo>
                    <a:pt x="2828544" y="0"/>
                  </a:moveTo>
                  <a:lnTo>
                    <a:pt x="0" y="0"/>
                  </a:lnTo>
                  <a:lnTo>
                    <a:pt x="0" y="4062984"/>
                  </a:lnTo>
                  <a:lnTo>
                    <a:pt x="2828544" y="4062984"/>
                  </a:lnTo>
                  <a:lnTo>
                    <a:pt x="2828544" y="0"/>
                  </a:lnTo>
                  <a:close/>
                </a:path>
              </a:pathLst>
            </a:custGeom>
            <a:solidFill>
              <a:srgbClr val="4471C4"/>
            </a:solidFill>
          </p:spPr>
          <p:txBody>
            <a:bodyPr wrap="square" lIns="0" tIns="0" rIns="0" bIns="0" rtlCol="0"/>
            <a:lstStyle/>
            <a:p>
              <a:endParaRPr/>
            </a:p>
          </p:txBody>
        </p:sp>
        <p:sp>
          <p:nvSpPr>
            <p:cNvPr id="51" name="object 51"/>
            <p:cNvSpPr/>
            <p:nvPr/>
          </p:nvSpPr>
          <p:spPr>
            <a:xfrm>
              <a:off x="9128760" y="2795015"/>
              <a:ext cx="2828925" cy="4063365"/>
            </a:xfrm>
            <a:custGeom>
              <a:avLst/>
              <a:gdLst/>
              <a:ahLst/>
              <a:cxnLst/>
              <a:rect l="l" t="t" r="r" b="b"/>
              <a:pathLst>
                <a:path w="2828925" h="4063365">
                  <a:moveTo>
                    <a:pt x="0" y="4062984"/>
                  </a:moveTo>
                  <a:lnTo>
                    <a:pt x="2828544" y="4062984"/>
                  </a:lnTo>
                  <a:lnTo>
                    <a:pt x="2828544" y="0"/>
                  </a:lnTo>
                  <a:lnTo>
                    <a:pt x="0" y="0"/>
                  </a:lnTo>
                  <a:lnTo>
                    <a:pt x="0" y="4062984"/>
                  </a:lnTo>
                  <a:close/>
                </a:path>
              </a:pathLst>
            </a:custGeom>
            <a:ln w="12192">
              <a:solidFill>
                <a:srgbClr val="2E528F"/>
              </a:solidFill>
            </a:ln>
          </p:spPr>
          <p:txBody>
            <a:bodyPr wrap="square" lIns="0" tIns="0" rIns="0" bIns="0" rtlCol="0"/>
            <a:lstStyle/>
            <a:p>
              <a:endParaRPr/>
            </a:p>
          </p:txBody>
        </p:sp>
      </p:grpSp>
      <p:sp>
        <p:nvSpPr>
          <p:cNvPr id="52" name="object 52"/>
          <p:cNvSpPr txBox="1"/>
          <p:nvPr/>
        </p:nvSpPr>
        <p:spPr>
          <a:xfrm>
            <a:off x="9134856" y="3023108"/>
            <a:ext cx="2816860" cy="3318510"/>
          </a:xfrm>
          <a:prstGeom prst="rect">
            <a:avLst/>
          </a:prstGeom>
        </p:spPr>
        <p:txBody>
          <a:bodyPr vert="horz" wrap="square" lIns="0" tIns="12700" rIns="0" bIns="0" rtlCol="0">
            <a:spAutoFit/>
          </a:bodyPr>
          <a:lstStyle/>
          <a:p>
            <a:pPr marL="821690">
              <a:lnSpc>
                <a:spcPct val="100000"/>
              </a:lnSpc>
              <a:spcBef>
                <a:spcPts val="100"/>
              </a:spcBef>
            </a:pPr>
            <a:r>
              <a:rPr sz="1800" b="1" spc="-5" dirty="0">
                <a:solidFill>
                  <a:srgbClr val="FFFFFF"/>
                </a:solidFill>
                <a:latin typeface="Times New Roman"/>
                <a:cs typeface="Times New Roman"/>
              </a:rPr>
              <a:t>List</a:t>
            </a:r>
            <a:r>
              <a:rPr sz="1800" b="1" spc="-20" dirty="0">
                <a:solidFill>
                  <a:srgbClr val="FFFFFF"/>
                </a:solidFill>
                <a:latin typeface="Times New Roman"/>
                <a:cs typeface="Times New Roman"/>
              </a:rPr>
              <a:t> </a:t>
            </a:r>
            <a:r>
              <a:rPr sz="1800" b="1" spc="-10" dirty="0">
                <a:solidFill>
                  <a:srgbClr val="FFFFFF"/>
                </a:solidFill>
                <a:latin typeface="Times New Roman"/>
                <a:cs typeface="Times New Roman"/>
              </a:rPr>
              <a:t>of </a:t>
            </a:r>
            <a:r>
              <a:rPr sz="1800" b="1" spc="-5" dirty="0">
                <a:solidFill>
                  <a:srgbClr val="FFFFFF"/>
                </a:solidFill>
                <a:latin typeface="Times New Roman"/>
                <a:cs typeface="Times New Roman"/>
              </a:rPr>
              <a:t>UT</a:t>
            </a:r>
            <a:r>
              <a:rPr sz="1800" b="1" spc="-35" dirty="0">
                <a:solidFill>
                  <a:srgbClr val="FFFFFF"/>
                </a:solidFill>
                <a:latin typeface="Times New Roman"/>
                <a:cs typeface="Times New Roman"/>
              </a:rPr>
              <a:t> </a:t>
            </a:r>
            <a:r>
              <a:rPr sz="1800" b="1" dirty="0">
                <a:solidFill>
                  <a:srgbClr val="FFFFFF"/>
                </a:solidFill>
                <a:latin typeface="Times New Roman"/>
                <a:cs typeface="Times New Roman"/>
              </a:rPr>
              <a:t>–</a:t>
            </a:r>
            <a:endParaRPr sz="1800">
              <a:latin typeface="Times New Roman"/>
              <a:cs typeface="Times New Roman"/>
            </a:endParaRPr>
          </a:p>
          <a:p>
            <a:pPr marL="431800" indent="-345440">
              <a:lnSpc>
                <a:spcPct val="100000"/>
              </a:lnSpc>
              <a:buAutoNum type="arabicPeriod"/>
              <a:tabLst>
                <a:tab pos="431800" algn="l"/>
                <a:tab pos="432434" algn="l"/>
              </a:tabLst>
            </a:pPr>
            <a:r>
              <a:rPr sz="1800" spc="-10" dirty="0">
                <a:solidFill>
                  <a:srgbClr val="FFFFFF"/>
                </a:solidFill>
                <a:latin typeface="Times New Roman"/>
                <a:cs typeface="Times New Roman"/>
              </a:rPr>
              <a:t>Andaman</a:t>
            </a:r>
            <a:r>
              <a:rPr sz="1800" spc="5" dirty="0">
                <a:solidFill>
                  <a:srgbClr val="FFFFFF"/>
                </a:solidFill>
                <a:latin typeface="Times New Roman"/>
                <a:cs typeface="Times New Roman"/>
              </a:rPr>
              <a:t> </a:t>
            </a:r>
            <a:r>
              <a:rPr sz="1800" dirty="0">
                <a:solidFill>
                  <a:srgbClr val="FFFFFF"/>
                </a:solidFill>
                <a:latin typeface="Times New Roman"/>
                <a:cs typeface="Times New Roman"/>
              </a:rPr>
              <a:t>and</a:t>
            </a:r>
            <a:r>
              <a:rPr sz="1800" spc="-20" dirty="0">
                <a:solidFill>
                  <a:srgbClr val="FFFFFF"/>
                </a:solidFill>
                <a:latin typeface="Times New Roman"/>
                <a:cs typeface="Times New Roman"/>
              </a:rPr>
              <a:t> </a:t>
            </a:r>
            <a:r>
              <a:rPr sz="1800" spc="-10" dirty="0">
                <a:solidFill>
                  <a:srgbClr val="FFFFFF"/>
                </a:solidFill>
                <a:latin typeface="Times New Roman"/>
                <a:cs typeface="Times New Roman"/>
              </a:rPr>
              <a:t>Nicobar,</a:t>
            </a:r>
            <a:endParaRPr sz="1800">
              <a:latin typeface="Times New Roman"/>
              <a:cs typeface="Times New Roman"/>
            </a:endParaRPr>
          </a:p>
          <a:p>
            <a:pPr marL="431800" indent="-345440">
              <a:lnSpc>
                <a:spcPct val="100000"/>
              </a:lnSpc>
              <a:buAutoNum type="arabicPeriod"/>
              <a:tabLst>
                <a:tab pos="431800" algn="l"/>
                <a:tab pos="432434" algn="l"/>
              </a:tabLst>
            </a:pPr>
            <a:r>
              <a:rPr sz="1800" spc="-5" dirty="0">
                <a:solidFill>
                  <a:srgbClr val="FFFFFF"/>
                </a:solidFill>
                <a:latin typeface="Times New Roman"/>
                <a:cs typeface="Times New Roman"/>
              </a:rPr>
              <a:t>Chandigarh,</a:t>
            </a:r>
            <a:endParaRPr sz="1800">
              <a:latin typeface="Times New Roman"/>
              <a:cs typeface="Times New Roman"/>
            </a:endParaRPr>
          </a:p>
          <a:p>
            <a:pPr marL="431800" indent="-345440">
              <a:lnSpc>
                <a:spcPct val="100000"/>
              </a:lnSpc>
              <a:buAutoNum type="arabicPeriod"/>
              <a:tabLst>
                <a:tab pos="431800" algn="l"/>
                <a:tab pos="432434" algn="l"/>
              </a:tabLst>
            </a:pPr>
            <a:r>
              <a:rPr sz="1800" spc="-5" dirty="0">
                <a:solidFill>
                  <a:srgbClr val="FFFFFF"/>
                </a:solidFill>
                <a:latin typeface="Times New Roman"/>
                <a:cs typeface="Times New Roman"/>
              </a:rPr>
              <a:t>Dadra</a:t>
            </a:r>
            <a:r>
              <a:rPr sz="1800" spc="-20" dirty="0">
                <a:solidFill>
                  <a:srgbClr val="FFFFFF"/>
                </a:solidFill>
                <a:latin typeface="Times New Roman"/>
                <a:cs typeface="Times New Roman"/>
              </a:rPr>
              <a:t> </a:t>
            </a:r>
            <a:r>
              <a:rPr sz="1800" dirty="0">
                <a:solidFill>
                  <a:srgbClr val="FFFFFF"/>
                </a:solidFill>
                <a:latin typeface="Times New Roman"/>
                <a:cs typeface="Times New Roman"/>
              </a:rPr>
              <a:t>and</a:t>
            </a:r>
            <a:r>
              <a:rPr sz="1800" spc="-20" dirty="0">
                <a:solidFill>
                  <a:srgbClr val="FFFFFF"/>
                </a:solidFill>
                <a:latin typeface="Times New Roman"/>
                <a:cs typeface="Times New Roman"/>
              </a:rPr>
              <a:t> </a:t>
            </a:r>
            <a:r>
              <a:rPr sz="1800" spc="-10" dirty="0">
                <a:solidFill>
                  <a:srgbClr val="FFFFFF"/>
                </a:solidFill>
                <a:latin typeface="Times New Roman"/>
                <a:cs typeface="Times New Roman"/>
              </a:rPr>
              <a:t>Nagar</a:t>
            </a:r>
            <a:r>
              <a:rPr sz="1800" spc="10" dirty="0">
                <a:solidFill>
                  <a:srgbClr val="FFFFFF"/>
                </a:solidFill>
                <a:latin typeface="Times New Roman"/>
                <a:cs typeface="Times New Roman"/>
              </a:rPr>
              <a:t> </a:t>
            </a:r>
            <a:r>
              <a:rPr sz="1800" spc="-10" dirty="0">
                <a:solidFill>
                  <a:srgbClr val="FFFFFF"/>
                </a:solidFill>
                <a:latin typeface="Times New Roman"/>
                <a:cs typeface="Times New Roman"/>
              </a:rPr>
              <a:t>Haveli</a:t>
            </a:r>
            <a:endParaRPr sz="1800">
              <a:latin typeface="Times New Roman"/>
              <a:cs typeface="Times New Roman"/>
            </a:endParaRPr>
          </a:p>
          <a:p>
            <a:pPr marL="431800">
              <a:lnSpc>
                <a:spcPct val="100000"/>
              </a:lnSpc>
            </a:pPr>
            <a:r>
              <a:rPr sz="1800" spc="-5" dirty="0">
                <a:solidFill>
                  <a:srgbClr val="FFFFFF"/>
                </a:solidFill>
                <a:latin typeface="Times New Roman"/>
                <a:cs typeface="Times New Roman"/>
              </a:rPr>
              <a:t>and</a:t>
            </a:r>
            <a:r>
              <a:rPr sz="1800" spc="-20" dirty="0">
                <a:solidFill>
                  <a:srgbClr val="FFFFFF"/>
                </a:solidFill>
                <a:latin typeface="Times New Roman"/>
                <a:cs typeface="Times New Roman"/>
              </a:rPr>
              <a:t> </a:t>
            </a:r>
            <a:r>
              <a:rPr sz="1800" spc="-15" dirty="0">
                <a:solidFill>
                  <a:srgbClr val="FFFFFF"/>
                </a:solidFill>
                <a:latin typeface="Times New Roman"/>
                <a:cs typeface="Times New Roman"/>
              </a:rPr>
              <a:t>Daman</a:t>
            </a:r>
            <a:r>
              <a:rPr sz="1800" spc="45" dirty="0">
                <a:solidFill>
                  <a:srgbClr val="FFFFFF"/>
                </a:solidFill>
                <a:latin typeface="Times New Roman"/>
                <a:cs typeface="Times New Roman"/>
              </a:rPr>
              <a:t> </a:t>
            </a:r>
            <a:r>
              <a:rPr sz="1800" spc="-5" dirty="0">
                <a:solidFill>
                  <a:srgbClr val="FFFFFF"/>
                </a:solidFill>
                <a:latin typeface="Times New Roman"/>
                <a:cs typeface="Times New Roman"/>
              </a:rPr>
              <a:t>and</a:t>
            </a:r>
            <a:r>
              <a:rPr sz="1800" spc="-15" dirty="0">
                <a:solidFill>
                  <a:srgbClr val="FFFFFF"/>
                </a:solidFill>
                <a:latin typeface="Times New Roman"/>
                <a:cs typeface="Times New Roman"/>
              </a:rPr>
              <a:t> </a:t>
            </a:r>
            <a:r>
              <a:rPr sz="1800" dirty="0">
                <a:solidFill>
                  <a:srgbClr val="FFFFFF"/>
                </a:solidFill>
                <a:latin typeface="Times New Roman"/>
                <a:cs typeface="Times New Roman"/>
              </a:rPr>
              <a:t>Diu,</a:t>
            </a:r>
            <a:endParaRPr sz="1800">
              <a:latin typeface="Times New Roman"/>
              <a:cs typeface="Times New Roman"/>
            </a:endParaRPr>
          </a:p>
          <a:p>
            <a:pPr marL="431800" indent="-345440">
              <a:lnSpc>
                <a:spcPct val="100000"/>
              </a:lnSpc>
              <a:spcBef>
                <a:spcPts val="5"/>
              </a:spcBef>
              <a:buAutoNum type="arabicPeriod" startAt="4"/>
              <a:tabLst>
                <a:tab pos="431800" algn="l"/>
                <a:tab pos="432434" algn="l"/>
              </a:tabLst>
            </a:pPr>
            <a:r>
              <a:rPr sz="1800" spc="-10" dirty="0">
                <a:solidFill>
                  <a:srgbClr val="FFFFFF"/>
                </a:solidFill>
                <a:latin typeface="Times New Roman"/>
                <a:cs typeface="Times New Roman"/>
              </a:rPr>
              <a:t>Lakshadweep,</a:t>
            </a:r>
            <a:endParaRPr sz="1800">
              <a:latin typeface="Times New Roman"/>
              <a:cs typeface="Times New Roman"/>
            </a:endParaRPr>
          </a:p>
          <a:p>
            <a:pPr marL="431800" indent="-345440">
              <a:lnSpc>
                <a:spcPct val="100000"/>
              </a:lnSpc>
              <a:buAutoNum type="arabicPeriod" startAt="4"/>
              <a:tabLst>
                <a:tab pos="431800" algn="l"/>
                <a:tab pos="432434" algn="l"/>
              </a:tabLst>
            </a:pPr>
            <a:r>
              <a:rPr sz="1800" spc="-10" dirty="0">
                <a:solidFill>
                  <a:srgbClr val="FFFFFF"/>
                </a:solidFill>
                <a:latin typeface="Times New Roman"/>
                <a:cs typeface="Times New Roman"/>
              </a:rPr>
              <a:t>Ladakh</a:t>
            </a:r>
            <a:r>
              <a:rPr sz="1800" spc="-5" dirty="0">
                <a:solidFill>
                  <a:srgbClr val="FFFFFF"/>
                </a:solidFill>
                <a:latin typeface="Times New Roman"/>
                <a:cs typeface="Times New Roman"/>
              </a:rPr>
              <a:t> </a:t>
            </a:r>
            <a:r>
              <a:rPr sz="1800" dirty="0">
                <a:solidFill>
                  <a:srgbClr val="FFFFFF"/>
                </a:solidFill>
                <a:latin typeface="Times New Roman"/>
                <a:cs typeface="Times New Roman"/>
              </a:rPr>
              <a:t>and</a:t>
            </a:r>
            <a:endParaRPr sz="1800">
              <a:latin typeface="Times New Roman"/>
              <a:cs typeface="Times New Roman"/>
            </a:endParaRPr>
          </a:p>
          <a:p>
            <a:pPr marL="86995">
              <a:lnSpc>
                <a:spcPct val="100000"/>
              </a:lnSpc>
            </a:pPr>
            <a:r>
              <a:rPr sz="1800" b="1" u="heavy" spc="-10" dirty="0">
                <a:solidFill>
                  <a:srgbClr val="FFFFFF"/>
                </a:solidFill>
                <a:uFill>
                  <a:solidFill>
                    <a:srgbClr val="FFFFFF"/>
                  </a:solidFill>
                </a:uFill>
                <a:latin typeface="Times New Roman"/>
                <a:cs typeface="Times New Roman"/>
              </a:rPr>
              <a:t>With</a:t>
            </a:r>
            <a:r>
              <a:rPr sz="1800" b="1" u="heavy" spc="-30" dirty="0">
                <a:solidFill>
                  <a:srgbClr val="FFFFFF"/>
                </a:solidFill>
                <a:uFill>
                  <a:solidFill>
                    <a:srgbClr val="FFFFFF"/>
                  </a:solidFill>
                </a:uFill>
                <a:latin typeface="Times New Roman"/>
                <a:cs typeface="Times New Roman"/>
              </a:rPr>
              <a:t> </a:t>
            </a:r>
            <a:r>
              <a:rPr sz="1800" b="1" u="heavy" spc="-5" dirty="0">
                <a:solidFill>
                  <a:srgbClr val="FFFFFF"/>
                </a:solidFill>
                <a:uFill>
                  <a:solidFill>
                    <a:srgbClr val="FFFFFF"/>
                  </a:solidFill>
                </a:uFill>
                <a:latin typeface="Times New Roman"/>
                <a:cs typeface="Times New Roman"/>
              </a:rPr>
              <a:t>Legislature</a:t>
            </a:r>
            <a:endParaRPr sz="1800">
              <a:latin typeface="Times New Roman"/>
              <a:cs typeface="Times New Roman"/>
            </a:endParaRPr>
          </a:p>
          <a:p>
            <a:pPr marL="431800" indent="-345440">
              <a:lnSpc>
                <a:spcPct val="100000"/>
              </a:lnSpc>
              <a:buAutoNum type="arabicPeriod"/>
              <a:tabLst>
                <a:tab pos="431800" algn="l"/>
                <a:tab pos="432434" algn="l"/>
              </a:tabLst>
            </a:pPr>
            <a:r>
              <a:rPr sz="1800" spc="-10" dirty="0">
                <a:solidFill>
                  <a:srgbClr val="FFFFFF"/>
                </a:solidFill>
                <a:latin typeface="Times New Roman"/>
                <a:cs typeface="Times New Roman"/>
              </a:rPr>
              <a:t>Puducherry.</a:t>
            </a:r>
            <a:endParaRPr sz="1800">
              <a:latin typeface="Times New Roman"/>
              <a:cs typeface="Times New Roman"/>
            </a:endParaRPr>
          </a:p>
          <a:p>
            <a:pPr marL="431800" indent="-345440">
              <a:lnSpc>
                <a:spcPct val="100000"/>
              </a:lnSpc>
              <a:buAutoNum type="arabicPeriod"/>
              <a:tabLst>
                <a:tab pos="431800" algn="l"/>
                <a:tab pos="432434" algn="l"/>
              </a:tabLst>
            </a:pPr>
            <a:r>
              <a:rPr sz="1800" spc="-5" dirty="0">
                <a:solidFill>
                  <a:srgbClr val="FFFFFF"/>
                </a:solidFill>
                <a:latin typeface="Times New Roman"/>
                <a:cs typeface="Times New Roman"/>
              </a:rPr>
              <a:t>National</a:t>
            </a:r>
            <a:r>
              <a:rPr sz="1800" spc="-40" dirty="0">
                <a:solidFill>
                  <a:srgbClr val="FFFFFF"/>
                </a:solidFill>
                <a:latin typeface="Times New Roman"/>
                <a:cs typeface="Times New Roman"/>
              </a:rPr>
              <a:t> </a:t>
            </a:r>
            <a:r>
              <a:rPr sz="1800" spc="-5" dirty="0">
                <a:solidFill>
                  <a:srgbClr val="FFFFFF"/>
                </a:solidFill>
                <a:latin typeface="Times New Roman"/>
                <a:cs typeface="Times New Roman"/>
              </a:rPr>
              <a:t>Capital</a:t>
            </a:r>
            <a:endParaRPr sz="1800">
              <a:latin typeface="Times New Roman"/>
              <a:cs typeface="Times New Roman"/>
            </a:endParaRPr>
          </a:p>
          <a:p>
            <a:pPr marL="431800">
              <a:lnSpc>
                <a:spcPct val="100000"/>
              </a:lnSpc>
              <a:spcBef>
                <a:spcPts val="5"/>
              </a:spcBef>
            </a:pPr>
            <a:r>
              <a:rPr sz="1800" spc="-20" dirty="0">
                <a:solidFill>
                  <a:srgbClr val="FFFFFF"/>
                </a:solidFill>
                <a:latin typeface="Times New Roman"/>
                <a:cs typeface="Times New Roman"/>
              </a:rPr>
              <a:t>Territory</a:t>
            </a:r>
            <a:r>
              <a:rPr sz="1800" spc="-25" dirty="0">
                <a:solidFill>
                  <a:srgbClr val="FFFFFF"/>
                </a:solidFill>
                <a:latin typeface="Times New Roman"/>
                <a:cs typeface="Times New Roman"/>
              </a:rPr>
              <a:t> </a:t>
            </a:r>
            <a:r>
              <a:rPr sz="1800" spc="5" dirty="0">
                <a:solidFill>
                  <a:srgbClr val="FFFFFF"/>
                </a:solidFill>
                <a:latin typeface="Times New Roman"/>
                <a:cs typeface="Times New Roman"/>
              </a:rPr>
              <a:t>of</a:t>
            </a:r>
            <a:r>
              <a:rPr sz="1800" spc="-5" dirty="0">
                <a:solidFill>
                  <a:srgbClr val="FFFFFF"/>
                </a:solidFill>
                <a:latin typeface="Times New Roman"/>
                <a:cs typeface="Times New Roman"/>
              </a:rPr>
              <a:t> Delhi,</a:t>
            </a:r>
            <a:endParaRPr sz="1800">
              <a:latin typeface="Times New Roman"/>
              <a:cs typeface="Times New Roman"/>
            </a:endParaRPr>
          </a:p>
          <a:p>
            <a:pPr marL="431800" indent="-345440">
              <a:lnSpc>
                <a:spcPct val="100000"/>
              </a:lnSpc>
              <a:buAutoNum type="arabicPeriod" startAt="3"/>
              <a:tabLst>
                <a:tab pos="431800" algn="l"/>
                <a:tab pos="432434" algn="l"/>
              </a:tabLst>
            </a:pPr>
            <a:r>
              <a:rPr sz="1800" spc="-20" dirty="0">
                <a:solidFill>
                  <a:srgbClr val="FFFFFF"/>
                </a:solidFill>
                <a:latin typeface="Times New Roman"/>
                <a:cs typeface="Times New Roman"/>
              </a:rPr>
              <a:t>Jammu</a:t>
            </a:r>
            <a:r>
              <a:rPr sz="1800" spc="30" dirty="0">
                <a:solidFill>
                  <a:srgbClr val="FFFFFF"/>
                </a:solidFill>
                <a:latin typeface="Times New Roman"/>
                <a:cs typeface="Times New Roman"/>
              </a:rPr>
              <a:t> </a:t>
            </a:r>
            <a:r>
              <a:rPr sz="1800" dirty="0">
                <a:solidFill>
                  <a:srgbClr val="FFFFFF"/>
                </a:solidFill>
                <a:latin typeface="Times New Roman"/>
                <a:cs typeface="Times New Roman"/>
              </a:rPr>
              <a:t>and</a:t>
            </a:r>
            <a:r>
              <a:rPr sz="1800" spc="-10" dirty="0">
                <a:solidFill>
                  <a:srgbClr val="FFFFFF"/>
                </a:solidFill>
                <a:latin typeface="Times New Roman"/>
                <a:cs typeface="Times New Roman"/>
              </a:rPr>
              <a:t> </a:t>
            </a:r>
            <a:r>
              <a:rPr sz="1800" spc="-15" dirty="0">
                <a:solidFill>
                  <a:srgbClr val="FFFFFF"/>
                </a:solidFill>
                <a:latin typeface="Times New Roman"/>
                <a:cs typeface="Times New Roman"/>
              </a:rPr>
              <a:t>Kashmir,</a:t>
            </a:r>
            <a:endParaRPr sz="1800">
              <a:latin typeface="Times New Roman"/>
              <a:cs typeface="Times New Roman"/>
            </a:endParaRPr>
          </a:p>
        </p:txBody>
      </p:sp>
    </p:spTree>
    <p:extLst>
      <p:ext uri="{BB962C8B-B14F-4D97-AF65-F5344CB8AC3E}">
        <p14:creationId xmlns:p14="http://schemas.microsoft.com/office/powerpoint/2010/main" val="424560871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92000" cy="4081779"/>
            <a:chOff x="0" y="0"/>
            <a:chExt cx="12192000" cy="4081779"/>
          </a:xfrm>
        </p:grpSpPr>
        <p:pic>
          <p:nvPicPr>
            <p:cNvPr id="3" name="object 3"/>
            <p:cNvPicPr/>
            <p:nvPr/>
          </p:nvPicPr>
          <p:blipFill>
            <a:blip r:embed="rId2" cstate="print"/>
            <a:stretch>
              <a:fillRect/>
            </a:stretch>
          </p:blipFill>
          <p:spPr>
            <a:xfrm>
              <a:off x="0" y="0"/>
              <a:ext cx="12167616" cy="3393948"/>
            </a:xfrm>
            <a:prstGeom prst="rect">
              <a:avLst/>
            </a:prstGeom>
          </p:spPr>
        </p:pic>
        <p:pic>
          <p:nvPicPr>
            <p:cNvPr id="4" name="object 4"/>
            <p:cNvPicPr/>
            <p:nvPr/>
          </p:nvPicPr>
          <p:blipFill>
            <a:blip r:embed="rId3" cstate="print"/>
            <a:stretch>
              <a:fillRect/>
            </a:stretch>
          </p:blipFill>
          <p:spPr>
            <a:xfrm>
              <a:off x="1523" y="1495044"/>
              <a:ext cx="4192524" cy="2581655"/>
            </a:xfrm>
            <a:prstGeom prst="rect">
              <a:avLst/>
            </a:prstGeom>
          </p:spPr>
        </p:pic>
        <p:pic>
          <p:nvPicPr>
            <p:cNvPr id="5" name="object 5"/>
            <p:cNvPicPr/>
            <p:nvPr/>
          </p:nvPicPr>
          <p:blipFill>
            <a:blip r:embed="rId4" cstate="print"/>
            <a:stretch>
              <a:fillRect/>
            </a:stretch>
          </p:blipFill>
          <p:spPr>
            <a:xfrm>
              <a:off x="7994904" y="0"/>
              <a:ext cx="3433572" cy="2621279"/>
            </a:xfrm>
            <a:prstGeom prst="rect">
              <a:avLst/>
            </a:prstGeom>
          </p:spPr>
        </p:pic>
        <p:pic>
          <p:nvPicPr>
            <p:cNvPr id="6" name="object 6"/>
            <p:cNvPicPr/>
            <p:nvPr/>
          </p:nvPicPr>
          <p:blipFill>
            <a:blip r:embed="rId5" cstate="print"/>
            <a:stretch>
              <a:fillRect/>
            </a:stretch>
          </p:blipFill>
          <p:spPr>
            <a:xfrm>
              <a:off x="8609076" y="3471671"/>
              <a:ext cx="990600" cy="609600"/>
            </a:xfrm>
            <a:prstGeom prst="rect">
              <a:avLst/>
            </a:prstGeom>
          </p:spPr>
        </p:pic>
        <p:sp>
          <p:nvSpPr>
            <p:cNvPr id="7" name="object 7"/>
            <p:cNvSpPr/>
            <p:nvPr/>
          </p:nvSpPr>
          <p:spPr>
            <a:xfrm>
              <a:off x="8507094" y="678815"/>
              <a:ext cx="3268979" cy="687070"/>
            </a:xfrm>
            <a:custGeom>
              <a:avLst/>
              <a:gdLst/>
              <a:ahLst/>
              <a:cxnLst/>
              <a:rect l="l" t="t" r="r" b="b"/>
              <a:pathLst>
                <a:path w="3268979" h="687069">
                  <a:moveTo>
                    <a:pt x="3235832" y="0"/>
                  </a:moveTo>
                  <a:lnTo>
                    <a:pt x="3129406" y="29083"/>
                  </a:lnTo>
                  <a:lnTo>
                    <a:pt x="3022854" y="57785"/>
                  </a:lnTo>
                  <a:lnTo>
                    <a:pt x="2916174" y="86106"/>
                  </a:lnTo>
                  <a:lnTo>
                    <a:pt x="2701925" y="140335"/>
                  </a:lnTo>
                  <a:lnTo>
                    <a:pt x="2594736" y="167005"/>
                  </a:lnTo>
                  <a:lnTo>
                    <a:pt x="2488564" y="192150"/>
                  </a:lnTo>
                  <a:lnTo>
                    <a:pt x="2380360" y="217297"/>
                  </a:lnTo>
                  <a:lnTo>
                    <a:pt x="2273173" y="241935"/>
                  </a:lnTo>
                  <a:lnTo>
                    <a:pt x="2060321" y="289051"/>
                  </a:lnTo>
                  <a:lnTo>
                    <a:pt x="1954783" y="311658"/>
                  </a:lnTo>
                  <a:lnTo>
                    <a:pt x="1743328" y="355092"/>
                  </a:lnTo>
                  <a:lnTo>
                    <a:pt x="1638807" y="376174"/>
                  </a:lnTo>
                  <a:lnTo>
                    <a:pt x="1535429" y="396239"/>
                  </a:lnTo>
                  <a:lnTo>
                    <a:pt x="1328547" y="435483"/>
                  </a:lnTo>
                  <a:lnTo>
                    <a:pt x="1125727" y="472313"/>
                  </a:lnTo>
                  <a:lnTo>
                    <a:pt x="1025271" y="490093"/>
                  </a:lnTo>
                  <a:lnTo>
                    <a:pt x="925829" y="506984"/>
                  </a:lnTo>
                  <a:lnTo>
                    <a:pt x="827531" y="524001"/>
                  </a:lnTo>
                  <a:lnTo>
                    <a:pt x="730250" y="540004"/>
                  </a:lnTo>
                  <a:lnTo>
                    <a:pt x="446785" y="585343"/>
                  </a:lnTo>
                  <a:lnTo>
                    <a:pt x="174244" y="626110"/>
                  </a:lnTo>
                  <a:lnTo>
                    <a:pt x="0" y="650748"/>
                  </a:lnTo>
                  <a:lnTo>
                    <a:pt x="34671" y="686815"/>
                  </a:lnTo>
                  <a:lnTo>
                    <a:pt x="89995" y="683966"/>
                  </a:lnTo>
                  <a:lnTo>
                    <a:pt x="152751" y="679817"/>
                  </a:lnTo>
                  <a:lnTo>
                    <a:pt x="222492" y="674434"/>
                  </a:lnTo>
                  <a:lnTo>
                    <a:pt x="298769" y="667880"/>
                  </a:lnTo>
                  <a:lnTo>
                    <a:pt x="381134" y="660220"/>
                  </a:lnTo>
                  <a:lnTo>
                    <a:pt x="515115" y="646796"/>
                  </a:lnTo>
                  <a:lnTo>
                    <a:pt x="660272" y="631245"/>
                  </a:lnTo>
                  <a:lnTo>
                    <a:pt x="815094" y="613784"/>
                  </a:lnTo>
                  <a:lnTo>
                    <a:pt x="1033943" y="587905"/>
                  </a:lnTo>
                  <a:lnTo>
                    <a:pt x="1263697" y="559530"/>
                  </a:lnTo>
                  <a:lnTo>
                    <a:pt x="1560766" y="521335"/>
                  </a:lnTo>
                  <a:lnTo>
                    <a:pt x="1862272" y="481046"/>
                  </a:lnTo>
                  <a:lnTo>
                    <a:pt x="2161212" y="439668"/>
                  </a:lnTo>
                  <a:lnTo>
                    <a:pt x="2450584" y="398207"/>
                  </a:lnTo>
                  <a:lnTo>
                    <a:pt x="2723385" y="357665"/>
                  </a:lnTo>
                  <a:lnTo>
                    <a:pt x="2924990" y="326569"/>
                  </a:lnTo>
                  <a:lnTo>
                    <a:pt x="3107923" y="297219"/>
                  </a:lnTo>
                  <a:lnTo>
                    <a:pt x="3230712" y="276661"/>
                  </a:lnTo>
                  <a:lnTo>
                    <a:pt x="3268599" y="270129"/>
                  </a:lnTo>
                  <a:lnTo>
                    <a:pt x="3258085" y="179986"/>
                  </a:lnTo>
                  <a:lnTo>
                    <a:pt x="3246346" y="90142"/>
                  </a:lnTo>
                  <a:lnTo>
                    <a:pt x="3235832" y="0"/>
                  </a:lnTo>
                  <a:close/>
                </a:path>
              </a:pathLst>
            </a:custGeom>
            <a:solidFill>
              <a:srgbClr val="FFFFFF">
                <a:alpha val="19999"/>
              </a:srgbClr>
            </a:solidFill>
          </p:spPr>
          <p:txBody>
            <a:bodyPr wrap="square" lIns="0" tIns="0" rIns="0" bIns="0" rtlCol="0"/>
            <a:lstStyle/>
            <a:p>
              <a:endParaRPr/>
            </a:p>
          </p:txBody>
        </p:sp>
        <p:sp>
          <p:nvSpPr>
            <p:cNvPr id="8" name="object 8"/>
            <p:cNvSpPr/>
            <p:nvPr/>
          </p:nvSpPr>
          <p:spPr>
            <a:xfrm>
              <a:off x="0" y="0"/>
              <a:ext cx="12192000" cy="4076700"/>
            </a:xfrm>
            <a:custGeom>
              <a:avLst/>
              <a:gdLst/>
              <a:ahLst/>
              <a:cxnLst/>
              <a:rect l="l" t="t" r="r" b="b"/>
              <a:pathLst>
                <a:path w="12192000" h="4076700">
                  <a:moveTo>
                    <a:pt x="12192000" y="0"/>
                  </a:moveTo>
                  <a:lnTo>
                    <a:pt x="11709273" y="0"/>
                  </a:lnTo>
                  <a:lnTo>
                    <a:pt x="11709273" y="142240"/>
                  </a:lnTo>
                  <a:lnTo>
                    <a:pt x="11709273" y="1005014"/>
                  </a:lnTo>
                  <a:lnTo>
                    <a:pt x="11482197" y="1026668"/>
                  </a:lnTo>
                  <a:lnTo>
                    <a:pt x="11226673" y="1050163"/>
                  </a:lnTo>
                  <a:lnTo>
                    <a:pt x="10971022" y="1072642"/>
                  </a:lnTo>
                  <a:lnTo>
                    <a:pt x="10458323" y="1111758"/>
                  </a:lnTo>
                  <a:lnTo>
                    <a:pt x="10201148" y="1130427"/>
                  </a:lnTo>
                  <a:lnTo>
                    <a:pt x="9947148" y="1146048"/>
                  </a:lnTo>
                  <a:lnTo>
                    <a:pt x="9689973" y="1160653"/>
                  </a:lnTo>
                  <a:lnTo>
                    <a:pt x="9434322" y="1174369"/>
                  </a:lnTo>
                  <a:lnTo>
                    <a:pt x="8927973" y="1197864"/>
                  </a:lnTo>
                  <a:lnTo>
                    <a:pt x="8675497" y="1207643"/>
                  </a:lnTo>
                  <a:lnTo>
                    <a:pt x="8173847" y="1223264"/>
                  </a:lnTo>
                  <a:lnTo>
                    <a:pt x="7926197" y="1230122"/>
                  </a:lnTo>
                  <a:lnTo>
                    <a:pt x="7680198" y="1235075"/>
                  </a:lnTo>
                  <a:lnTo>
                    <a:pt x="7191248" y="1242822"/>
                  </a:lnTo>
                  <a:lnTo>
                    <a:pt x="6710172" y="1246759"/>
                  </a:lnTo>
                  <a:lnTo>
                    <a:pt x="6473698" y="1247775"/>
                  </a:lnTo>
                  <a:lnTo>
                    <a:pt x="6238748" y="1246759"/>
                  </a:lnTo>
                  <a:lnTo>
                    <a:pt x="6006973" y="1246759"/>
                  </a:lnTo>
                  <a:lnTo>
                    <a:pt x="5776722" y="1244854"/>
                  </a:lnTo>
                  <a:lnTo>
                    <a:pt x="5327523" y="1239012"/>
                  </a:lnTo>
                  <a:lnTo>
                    <a:pt x="5108448" y="1235964"/>
                  </a:lnTo>
                  <a:lnTo>
                    <a:pt x="4467098" y="1221359"/>
                  </a:lnTo>
                  <a:lnTo>
                    <a:pt x="4057523" y="1208659"/>
                  </a:lnTo>
                  <a:lnTo>
                    <a:pt x="3665347" y="1194943"/>
                  </a:lnTo>
                  <a:lnTo>
                    <a:pt x="3289173" y="1180211"/>
                  </a:lnTo>
                  <a:lnTo>
                    <a:pt x="2931922" y="1164590"/>
                  </a:lnTo>
                  <a:lnTo>
                    <a:pt x="2592197" y="1147953"/>
                  </a:lnTo>
                  <a:lnTo>
                    <a:pt x="2276348" y="1130427"/>
                  </a:lnTo>
                  <a:lnTo>
                    <a:pt x="1979422" y="1112774"/>
                  </a:lnTo>
                  <a:lnTo>
                    <a:pt x="1706372" y="1095121"/>
                  </a:lnTo>
                  <a:lnTo>
                    <a:pt x="1455547" y="1078484"/>
                  </a:lnTo>
                  <a:lnTo>
                    <a:pt x="1233360" y="1062863"/>
                  </a:lnTo>
                  <a:lnTo>
                    <a:pt x="1033335" y="1048258"/>
                  </a:lnTo>
                  <a:lnTo>
                    <a:pt x="863473" y="1035558"/>
                  </a:lnTo>
                  <a:lnTo>
                    <a:pt x="722185" y="1023747"/>
                  </a:lnTo>
                  <a:lnTo>
                    <a:pt x="476377" y="1002652"/>
                  </a:lnTo>
                  <a:lnTo>
                    <a:pt x="476377" y="142240"/>
                  </a:lnTo>
                  <a:lnTo>
                    <a:pt x="11709273" y="142240"/>
                  </a:lnTo>
                  <a:lnTo>
                    <a:pt x="11709273" y="0"/>
                  </a:lnTo>
                  <a:lnTo>
                    <a:pt x="0" y="0"/>
                  </a:lnTo>
                  <a:lnTo>
                    <a:pt x="0" y="142240"/>
                  </a:lnTo>
                  <a:lnTo>
                    <a:pt x="0" y="3783330"/>
                  </a:lnTo>
                  <a:lnTo>
                    <a:pt x="0" y="4076700"/>
                  </a:lnTo>
                  <a:lnTo>
                    <a:pt x="3079242" y="4076700"/>
                  </a:lnTo>
                  <a:lnTo>
                    <a:pt x="3079242" y="3794760"/>
                  </a:lnTo>
                  <a:lnTo>
                    <a:pt x="11417046" y="3794760"/>
                  </a:lnTo>
                  <a:lnTo>
                    <a:pt x="11417046" y="4076700"/>
                  </a:lnTo>
                  <a:lnTo>
                    <a:pt x="12192000" y="4076700"/>
                  </a:lnTo>
                  <a:lnTo>
                    <a:pt x="12192000" y="3783330"/>
                  </a:lnTo>
                  <a:lnTo>
                    <a:pt x="11737848" y="3783330"/>
                  </a:lnTo>
                  <a:lnTo>
                    <a:pt x="11737848" y="3783203"/>
                  </a:lnTo>
                  <a:lnTo>
                    <a:pt x="12192000" y="3783203"/>
                  </a:lnTo>
                  <a:lnTo>
                    <a:pt x="12192000" y="142240"/>
                  </a:lnTo>
                  <a:lnTo>
                    <a:pt x="12192000" y="141732"/>
                  </a:lnTo>
                  <a:lnTo>
                    <a:pt x="12192000" y="0"/>
                  </a:lnTo>
                  <a:close/>
                </a:path>
              </a:pathLst>
            </a:custGeom>
            <a:solidFill>
              <a:srgbClr val="FFFFFF"/>
            </a:solidFill>
          </p:spPr>
          <p:txBody>
            <a:bodyPr wrap="square" lIns="0" tIns="0" rIns="0" bIns="0" rtlCol="0"/>
            <a:lstStyle/>
            <a:p>
              <a:endParaRPr/>
            </a:p>
          </p:txBody>
        </p:sp>
        <p:pic>
          <p:nvPicPr>
            <p:cNvPr id="9" name="object 9"/>
            <p:cNvPicPr/>
            <p:nvPr/>
          </p:nvPicPr>
          <p:blipFill>
            <a:blip r:embed="rId6" cstate="print"/>
            <a:stretch>
              <a:fillRect/>
            </a:stretch>
          </p:blipFill>
          <p:spPr>
            <a:xfrm>
              <a:off x="10398252" y="0"/>
              <a:ext cx="760488" cy="1203960"/>
            </a:xfrm>
            <a:prstGeom prst="rect">
              <a:avLst/>
            </a:prstGeom>
          </p:spPr>
        </p:pic>
        <p:pic>
          <p:nvPicPr>
            <p:cNvPr id="10" name="object 10"/>
            <p:cNvPicPr/>
            <p:nvPr/>
          </p:nvPicPr>
          <p:blipFill>
            <a:blip r:embed="rId7" cstate="print"/>
            <a:stretch>
              <a:fillRect/>
            </a:stretch>
          </p:blipFill>
          <p:spPr>
            <a:xfrm>
              <a:off x="458723" y="210311"/>
              <a:ext cx="761250" cy="723138"/>
            </a:xfrm>
            <a:prstGeom prst="rect">
              <a:avLst/>
            </a:prstGeom>
          </p:spPr>
        </p:pic>
        <p:pic>
          <p:nvPicPr>
            <p:cNvPr id="11" name="object 11"/>
            <p:cNvPicPr/>
            <p:nvPr/>
          </p:nvPicPr>
          <p:blipFill>
            <a:blip r:embed="rId8" cstate="print"/>
            <a:stretch>
              <a:fillRect/>
            </a:stretch>
          </p:blipFill>
          <p:spPr>
            <a:xfrm>
              <a:off x="3593591" y="327659"/>
              <a:ext cx="4203954" cy="924306"/>
            </a:xfrm>
            <a:prstGeom prst="rect">
              <a:avLst/>
            </a:prstGeom>
          </p:spPr>
        </p:pic>
      </p:grpSp>
      <p:sp>
        <p:nvSpPr>
          <p:cNvPr id="12" name="object 12"/>
          <p:cNvSpPr txBox="1">
            <a:spLocks noGrp="1"/>
          </p:cNvSpPr>
          <p:nvPr>
            <p:ph type="title"/>
          </p:nvPr>
        </p:nvSpPr>
        <p:spPr>
          <a:xfrm>
            <a:off x="1060939" y="326707"/>
            <a:ext cx="10515600" cy="817582"/>
          </a:xfrm>
          <a:prstGeom prst="rect">
            <a:avLst/>
          </a:prstGeom>
        </p:spPr>
        <p:txBody>
          <a:bodyPr vert="horz" wrap="square" lIns="0" tIns="276275" rIns="0" bIns="0" rtlCol="0">
            <a:spAutoFit/>
          </a:bodyPr>
          <a:lstStyle/>
          <a:p>
            <a:pPr marL="2517775">
              <a:lnSpc>
                <a:spcPct val="100000"/>
              </a:lnSpc>
              <a:spcBef>
                <a:spcPts val="105"/>
              </a:spcBef>
            </a:pPr>
            <a:r>
              <a:rPr sz="3500" b="1" spc="-10" dirty="0">
                <a:solidFill>
                  <a:schemeClr val="bg1"/>
                </a:solidFill>
              </a:rPr>
              <a:t>Components</a:t>
            </a:r>
            <a:r>
              <a:rPr sz="3500" b="1" spc="-60" dirty="0">
                <a:solidFill>
                  <a:schemeClr val="bg1"/>
                </a:solidFill>
              </a:rPr>
              <a:t> </a:t>
            </a:r>
            <a:r>
              <a:rPr sz="3500" b="1" dirty="0">
                <a:solidFill>
                  <a:schemeClr val="bg1"/>
                </a:solidFill>
              </a:rPr>
              <a:t>of</a:t>
            </a:r>
            <a:r>
              <a:rPr sz="3500" b="1" spc="-70" dirty="0">
                <a:solidFill>
                  <a:schemeClr val="bg1"/>
                </a:solidFill>
              </a:rPr>
              <a:t> </a:t>
            </a:r>
            <a:r>
              <a:rPr sz="3500" b="1" spc="-25" dirty="0">
                <a:solidFill>
                  <a:schemeClr val="bg1"/>
                </a:solidFill>
              </a:rPr>
              <a:t>GST</a:t>
            </a:r>
            <a:endParaRPr sz="3500" b="1" dirty="0">
              <a:solidFill>
                <a:schemeClr val="bg1"/>
              </a:solidFill>
            </a:endParaRPr>
          </a:p>
        </p:txBody>
      </p:sp>
      <p:grpSp>
        <p:nvGrpSpPr>
          <p:cNvPr id="13" name="object 13"/>
          <p:cNvGrpSpPr/>
          <p:nvPr/>
        </p:nvGrpSpPr>
        <p:grpSpPr>
          <a:xfrm>
            <a:off x="1175003" y="2022348"/>
            <a:ext cx="10252075" cy="4657095"/>
            <a:chOff x="1175003" y="2022348"/>
            <a:chExt cx="10252075" cy="3808729"/>
          </a:xfrm>
        </p:grpSpPr>
        <p:sp>
          <p:nvSpPr>
            <p:cNvPr id="14" name="object 14"/>
            <p:cNvSpPr/>
            <p:nvPr/>
          </p:nvSpPr>
          <p:spPr>
            <a:xfrm>
              <a:off x="1184909" y="2032254"/>
              <a:ext cx="1894839" cy="3789045"/>
            </a:xfrm>
            <a:custGeom>
              <a:avLst/>
              <a:gdLst/>
              <a:ahLst/>
              <a:cxnLst/>
              <a:rect l="l" t="t" r="r" b="b"/>
              <a:pathLst>
                <a:path w="1894839" h="3789045">
                  <a:moveTo>
                    <a:pt x="1894332" y="0"/>
                  </a:moveTo>
                  <a:lnTo>
                    <a:pt x="1846187" y="599"/>
                  </a:lnTo>
                  <a:lnTo>
                    <a:pt x="1798338" y="2389"/>
                  </a:lnTo>
                  <a:lnTo>
                    <a:pt x="1750799" y="5355"/>
                  </a:lnTo>
                  <a:lnTo>
                    <a:pt x="1703584" y="9483"/>
                  </a:lnTo>
                  <a:lnTo>
                    <a:pt x="1656708" y="14759"/>
                  </a:lnTo>
                  <a:lnTo>
                    <a:pt x="1610183" y="21168"/>
                  </a:lnTo>
                  <a:lnTo>
                    <a:pt x="1564025" y="28696"/>
                  </a:lnTo>
                  <a:lnTo>
                    <a:pt x="1518248" y="37329"/>
                  </a:lnTo>
                  <a:lnTo>
                    <a:pt x="1472866" y="47053"/>
                  </a:lnTo>
                  <a:lnTo>
                    <a:pt x="1427892" y="57853"/>
                  </a:lnTo>
                  <a:lnTo>
                    <a:pt x="1383343" y="69716"/>
                  </a:lnTo>
                  <a:lnTo>
                    <a:pt x="1339231" y="82627"/>
                  </a:lnTo>
                  <a:lnTo>
                    <a:pt x="1295570" y="96572"/>
                  </a:lnTo>
                  <a:lnTo>
                    <a:pt x="1252376" y="111537"/>
                  </a:lnTo>
                  <a:lnTo>
                    <a:pt x="1209661" y="127508"/>
                  </a:lnTo>
                  <a:lnTo>
                    <a:pt x="1167442" y="144470"/>
                  </a:lnTo>
                  <a:lnTo>
                    <a:pt x="1125730" y="162409"/>
                  </a:lnTo>
                  <a:lnTo>
                    <a:pt x="1084542" y="181311"/>
                  </a:lnTo>
                  <a:lnTo>
                    <a:pt x="1043890" y="201162"/>
                  </a:lnTo>
                  <a:lnTo>
                    <a:pt x="1003790" y="221947"/>
                  </a:lnTo>
                  <a:lnTo>
                    <a:pt x="964255" y="243653"/>
                  </a:lnTo>
                  <a:lnTo>
                    <a:pt x="925299" y="266265"/>
                  </a:lnTo>
                  <a:lnTo>
                    <a:pt x="886937" y="289769"/>
                  </a:lnTo>
                  <a:lnTo>
                    <a:pt x="849184" y="314151"/>
                  </a:lnTo>
                  <a:lnTo>
                    <a:pt x="812052" y="339396"/>
                  </a:lnTo>
                  <a:lnTo>
                    <a:pt x="775557" y="365491"/>
                  </a:lnTo>
                  <a:lnTo>
                    <a:pt x="739712" y="392421"/>
                  </a:lnTo>
                  <a:lnTo>
                    <a:pt x="704533" y="420172"/>
                  </a:lnTo>
                  <a:lnTo>
                    <a:pt x="670032" y="448730"/>
                  </a:lnTo>
                  <a:lnTo>
                    <a:pt x="636224" y="478080"/>
                  </a:lnTo>
                  <a:lnTo>
                    <a:pt x="603124" y="508209"/>
                  </a:lnTo>
                  <a:lnTo>
                    <a:pt x="570745" y="539102"/>
                  </a:lnTo>
                  <a:lnTo>
                    <a:pt x="539102" y="570745"/>
                  </a:lnTo>
                  <a:lnTo>
                    <a:pt x="508209" y="603124"/>
                  </a:lnTo>
                  <a:lnTo>
                    <a:pt x="478080" y="636224"/>
                  </a:lnTo>
                  <a:lnTo>
                    <a:pt x="448730" y="670032"/>
                  </a:lnTo>
                  <a:lnTo>
                    <a:pt x="420172" y="704533"/>
                  </a:lnTo>
                  <a:lnTo>
                    <a:pt x="392421" y="739712"/>
                  </a:lnTo>
                  <a:lnTo>
                    <a:pt x="365491" y="775557"/>
                  </a:lnTo>
                  <a:lnTo>
                    <a:pt x="339396" y="812052"/>
                  </a:lnTo>
                  <a:lnTo>
                    <a:pt x="314151" y="849184"/>
                  </a:lnTo>
                  <a:lnTo>
                    <a:pt x="289769" y="886937"/>
                  </a:lnTo>
                  <a:lnTo>
                    <a:pt x="266265" y="925299"/>
                  </a:lnTo>
                  <a:lnTo>
                    <a:pt x="243653" y="964255"/>
                  </a:lnTo>
                  <a:lnTo>
                    <a:pt x="221947" y="1003790"/>
                  </a:lnTo>
                  <a:lnTo>
                    <a:pt x="201162" y="1043890"/>
                  </a:lnTo>
                  <a:lnTo>
                    <a:pt x="181311" y="1084542"/>
                  </a:lnTo>
                  <a:lnTo>
                    <a:pt x="162409" y="1125730"/>
                  </a:lnTo>
                  <a:lnTo>
                    <a:pt x="144470" y="1167442"/>
                  </a:lnTo>
                  <a:lnTo>
                    <a:pt x="127508" y="1209661"/>
                  </a:lnTo>
                  <a:lnTo>
                    <a:pt x="111537" y="1252376"/>
                  </a:lnTo>
                  <a:lnTo>
                    <a:pt x="96572" y="1295570"/>
                  </a:lnTo>
                  <a:lnTo>
                    <a:pt x="82627" y="1339231"/>
                  </a:lnTo>
                  <a:lnTo>
                    <a:pt x="69716" y="1383343"/>
                  </a:lnTo>
                  <a:lnTo>
                    <a:pt x="57853" y="1427892"/>
                  </a:lnTo>
                  <a:lnTo>
                    <a:pt x="47053" y="1472866"/>
                  </a:lnTo>
                  <a:lnTo>
                    <a:pt x="37329" y="1518248"/>
                  </a:lnTo>
                  <a:lnTo>
                    <a:pt x="28696" y="1564025"/>
                  </a:lnTo>
                  <a:lnTo>
                    <a:pt x="21168" y="1610183"/>
                  </a:lnTo>
                  <a:lnTo>
                    <a:pt x="14759" y="1656708"/>
                  </a:lnTo>
                  <a:lnTo>
                    <a:pt x="9483" y="1703584"/>
                  </a:lnTo>
                  <a:lnTo>
                    <a:pt x="5355" y="1750799"/>
                  </a:lnTo>
                  <a:lnTo>
                    <a:pt x="2389" y="1798338"/>
                  </a:lnTo>
                  <a:lnTo>
                    <a:pt x="599" y="1846187"/>
                  </a:lnTo>
                  <a:lnTo>
                    <a:pt x="0" y="1894332"/>
                  </a:lnTo>
                  <a:lnTo>
                    <a:pt x="599" y="1942476"/>
                  </a:lnTo>
                  <a:lnTo>
                    <a:pt x="2389" y="1990325"/>
                  </a:lnTo>
                  <a:lnTo>
                    <a:pt x="5355" y="2037864"/>
                  </a:lnTo>
                  <a:lnTo>
                    <a:pt x="9483" y="2085079"/>
                  </a:lnTo>
                  <a:lnTo>
                    <a:pt x="14759" y="2131955"/>
                  </a:lnTo>
                  <a:lnTo>
                    <a:pt x="21168" y="2178480"/>
                  </a:lnTo>
                  <a:lnTo>
                    <a:pt x="28696" y="2224638"/>
                  </a:lnTo>
                  <a:lnTo>
                    <a:pt x="37329" y="2270415"/>
                  </a:lnTo>
                  <a:lnTo>
                    <a:pt x="47053" y="2315797"/>
                  </a:lnTo>
                  <a:lnTo>
                    <a:pt x="57853" y="2360771"/>
                  </a:lnTo>
                  <a:lnTo>
                    <a:pt x="69716" y="2405320"/>
                  </a:lnTo>
                  <a:lnTo>
                    <a:pt x="82627" y="2449432"/>
                  </a:lnTo>
                  <a:lnTo>
                    <a:pt x="96572" y="2493093"/>
                  </a:lnTo>
                  <a:lnTo>
                    <a:pt x="111537" y="2536287"/>
                  </a:lnTo>
                  <a:lnTo>
                    <a:pt x="127508" y="2579002"/>
                  </a:lnTo>
                  <a:lnTo>
                    <a:pt x="144470" y="2621221"/>
                  </a:lnTo>
                  <a:lnTo>
                    <a:pt x="162409" y="2662933"/>
                  </a:lnTo>
                  <a:lnTo>
                    <a:pt x="181311" y="2704121"/>
                  </a:lnTo>
                  <a:lnTo>
                    <a:pt x="201162" y="2744773"/>
                  </a:lnTo>
                  <a:lnTo>
                    <a:pt x="221947" y="2784873"/>
                  </a:lnTo>
                  <a:lnTo>
                    <a:pt x="243653" y="2824408"/>
                  </a:lnTo>
                  <a:lnTo>
                    <a:pt x="266265" y="2863364"/>
                  </a:lnTo>
                  <a:lnTo>
                    <a:pt x="289769" y="2901726"/>
                  </a:lnTo>
                  <a:lnTo>
                    <a:pt x="314151" y="2939479"/>
                  </a:lnTo>
                  <a:lnTo>
                    <a:pt x="339396" y="2976611"/>
                  </a:lnTo>
                  <a:lnTo>
                    <a:pt x="365491" y="3013106"/>
                  </a:lnTo>
                  <a:lnTo>
                    <a:pt x="392421" y="3048951"/>
                  </a:lnTo>
                  <a:lnTo>
                    <a:pt x="420172" y="3084130"/>
                  </a:lnTo>
                  <a:lnTo>
                    <a:pt x="448730" y="3118631"/>
                  </a:lnTo>
                  <a:lnTo>
                    <a:pt x="478080" y="3152439"/>
                  </a:lnTo>
                  <a:lnTo>
                    <a:pt x="508209" y="3185539"/>
                  </a:lnTo>
                  <a:lnTo>
                    <a:pt x="539102" y="3217918"/>
                  </a:lnTo>
                  <a:lnTo>
                    <a:pt x="570745" y="3249561"/>
                  </a:lnTo>
                  <a:lnTo>
                    <a:pt x="603124" y="3280454"/>
                  </a:lnTo>
                  <a:lnTo>
                    <a:pt x="636224" y="3310583"/>
                  </a:lnTo>
                  <a:lnTo>
                    <a:pt x="670032" y="3339933"/>
                  </a:lnTo>
                  <a:lnTo>
                    <a:pt x="704533" y="3368491"/>
                  </a:lnTo>
                  <a:lnTo>
                    <a:pt x="739712" y="3396242"/>
                  </a:lnTo>
                  <a:lnTo>
                    <a:pt x="775557" y="3423172"/>
                  </a:lnTo>
                  <a:lnTo>
                    <a:pt x="812052" y="3449267"/>
                  </a:lnTo>
                  <a:lnTo>
                    <a:pt x="849184" y="3474512"/>
                  </a:lnTo>
                  <a:lnTo>
                    <a:pt x="886937" y="3498894"/>
                  </a:lnTo>
                  <a:lnTo>
                    <a:pt x="925299" y="3522398"/>
                  </a:lnTo>
                  <a:lnTo>
                    <a:pt x="964255" y="3545010"/>
                  </a:lnTo>
                  <a:lnTo>
                    <a:pt x="1003790" y="3566716"/>
                  </a:lnTo>
                  <a:lnTo>
                    <a:pt x="1043890" y="3587501"/>
                  </a:lnTo>
                  <a:lnTo>
                    <a:pt x="1084542" y="3607352"/>
                  </a:lnTo>
                  <a:lnTo>
                    <a:pt x="1125730" y="3626254"/>
                  </a:lnTo>
                  <a:lnTo>
                    <a:pt x="1167442" y="3644193"/>
                  </a:lnTo>
                  <a:lnTo>
                    <a:pt x="1209661" y="3661155"/>
                  </a:lnTo>
                  <a:lnTo>
                    <a:pt x="1252376" y="3677126"/>
                  </a:lnTo>
                  <a:lnTo>
                    <a:pt x="1295570" y="3692091"/>
                  </a:lnTo>
                  <a:lnTo>
                    <a:pt x="1339231" y="3706036"/>
                  </a:lnTo>
                  <a:lnTo>
                    <a:pt x="1383343" y="3718947"/>
                  </a:lnTo>
                  <a:lnTo>
                    <a:pt x="1427892" y="3730810"/>
                  </a:lnTo>
                  <a:lnTo>
                    <a:pt x="1472866" y="3741610"/>
                  </a:lnTo>
                  <a:lnTo>
                    <a:pt x="1518248" y="3751334"/>
                  </a:lnTo>
                  <a:lnTo>
                    <a:pt x="1564025" y="3759967"/>
                  </a:lnTo>
                  <a:lnTo>
                    <a:pt x="1610183" y="3767495"/>
                  </a:lnTo>
                  <a:lnTo>
                    <a:pt x="1656708" y="3773904"/>
                  </a:lnTo>
                  <a:lnTo>
                    <a:pt x="1703584" y="3779180"/>
                  </a:lnTo>
                  <a:lnTo>
                    <a:pt x="1750799" y="3783308"/>
                  </a:lnTo>
                  <a:lnTo>
                    <a:pt x="1798338" y="3786274"/>
                  </a:lnTo>
                  <a:lnTo>
                    <a:pt x="1846187" y="3788064"/>
                  </a:lnTo>
                  <a:lnTo>
                    <a:pt x="1894332" y="3788664"/>
                  </a:lnTo>
                  <a:lnTo>
                    <a:pt x="1894332" y="0"/>
                  </a:lnTo>
                  <a:close/>
                </a:path>
              </a:pathLst>
            </a:custGeom>
            <a:solidFill>
              <a:srgbClr val="0D5480"/>
            </a:solidFill>
          </p:spPr>
          <p:txBody>
            <a:bodyPr wrap="square" lIns="0" tIns="0" rIns="0" bIns="0" rtlCol="0"/>
            <a:lstStyle/>
            <a:p>
              <a:endParaRPr/>
            </a:p>
          </p:txBody>
        </p:sp>
        <p:sp>
          <p:nvSpPr>
            <p:cNvPr id="15" name="object 15"/>
            <p:cNvSpPr/>
            <p:nvPr/>
          </p:nvSpPr>
          <p:spPr>
            <a:xfrm>
              <a:off x="1184909" y="2032254"/>
              <a:ext cx="1894839" cy="3789045"/>
            </a:xfrm>
            <a:custGeom>
              <a:avLst/>
              <a:gdLst/>
              <a:ahLst/>
              <a:cxnLst/>
              <a:rect l="l" t="t" r="r" b="b"/>
              <a:pathLst>
                <a:path w="1894839" h="3789045">
                  <a:moveTo>
                    <a:pt x="1894332" y="3788664"/>
                  </a:moveTo>
                  <a:lnTo>
                    <a:pt x="1846187" y="3788064"/>
                  </a:lnTo>
                  <a:lnTo>
                    <a:pt x="1798338" y="3786274"/>
                  </a:lnTo>
                  <a:lnTo>
                    <a:pt x="1750799" y="3783308"/>
                  </a:lnTo>
                  <a:lnTo>
                    <a:pt x="1703584" y="3779180"/>
                  </a:lnTo>
                  <a:lnTo>
                    <a:pt x="1656708" y="3773904"/>
                  </a:lnTo>
                  <a:lnTo>
                    <a:pt x="1610183" y="3767495"/>
                  </a:lnTo>
                  <a:lnTo>
                    <a:pt x="1564025" y="3759967"/>
                  </a:lnTo>
                  <a:lnTo>
                    <a:pt x="1518248" y="3751334"/>
                  </a:lnTo>
                  <a:lnTo>
                    <a:pt x="1472866" y="3741610"/>
                  </a:lnTo>
                  <a:lnTo>
                    <a:pt x="1427892" y="3730810"/>
                  </a:lnTo>
                  <a:lnTo>
                    <a:pt x="1383343" y="3718947"/>
                  </a:lnTo>
                  <a:lnTo>
                    <a:pt x="1339231" y="3706036"/>
                  </a:lnTo>
                  <a:lnTo>
                    <a:pt x="1295570" y="3692091"/>
                  </a:lnTo>
                  <a:lnTo>
                    <a:pt x="1252376" y="3677126"/>
                  </a:lnTo>
                  <a:lnTo>
                    <a:pt x="1209661" y="3661155"/>
                  </a:lnTo>
                  <a:lnTo>
                    <a:pt x="1167442" y="3644193"/>
                  </a:lnTo>
                  <a:lnTo>
                    <a:pt x="1125730" y="3626254"/>
                  </a:lnTo>
                  <a:lnTo>
                    <a:pt x="1084542" y="3607352"/>
                  </a:lnTo>
                  <a:lnTo>
                    <a:pt x="1043890" y="3587501"/>
                  </a:lnTo>
                  <a:lnTo>
                    <a:pt x="1003790" y="3566716"/>
                  </a:lnTo>
                  <a:lnTo>
                    <a:pt x="964255" y="3545010"/>
                  </a:lnTo>
                  <a:lnTo>
                    <a:pt x="925299" y="3522398"/>
                  </a:lnTo>
                  <a:lnTo>
                    <a:pt x="886937" y="3498894"/>
                  </a:lnTo>
                  <a:lnTo>
                    <a:pt x="849184" y="3474512"/>
                  </a:lnTo>
                  <a:lnTo>
                    <a:pt x="812052" y="3449267"/>
                  </a:lnTo>
                  <a:lnTo>
                    <a:pt x="775557" y="3423172"/>
                  </a:lnTo>
                  <a:lnTo>
                    <a:pt x="739712" y="3396242"/>
                  </a:lnTo>
                  <a:lnTo>
                    <a:pt x="704533" y="3368491"/>
                  </a:lnTo>
                  <a:lnTo>
                    <a:pt x="670032" y="3339933"/>
                  </a:lnTo>
                  <a:lnTo>
                    <a:pt x="636224" y="3310583"/>
                  </a:lnTo>
                  <a:lnTo>
                    <a:pt x="603124" y="3280454"/>
                  </a:lnTo>
                  <a:lnTo>
                    <a:pt x="570745" y="3249561"/>
                  </a:lnTo>
                  <a:lnTo>
                    <a:pt x="539102" y="3217918"/>
                  </a:lnTo>
                  <a:lnTo>
                    <a:pt x="508209" y="3185539"/>
                  </a:lnTo>
                  <a:lnTo>
                    <a:pt x="478080" y="3152439"/>
                  </a:lnTo>
                  <a:lnTo>
                    <a:pt x="448730" y="3118631"/>
                  </a:lnTo>
                  <a:lnTo>
                    <a:pt x="420172" y="3084130"/>
                  </a:lnTo>
                  <a:lnTo>
                    <a:pt x="392421" y="3048951"/>
                  </a:lnTo>
                  <a:lnTo>
                    <a:pt x="365491" y="3013106"/>
                  </a:lnTo>
                  <a:lnTo>
                    <a:pt x="339396" y="2976611"/>
                  </a:lnTo>
                  <a:lnTo>
                    <a:pt x="314151" y="2939479"/>
                  </a:lnTo>
                  <a:lnTo>
                    <a:pt x="289769" y="2901726"/>
                  </a:lnTo>
                  <a:lnTo>
                    <a:pt x="266265" y="2863364"/>
                  </a:lnTo>
                  <a:lnTo>
                    <a:pt x="243653" y="2824408"/>
                  </a:lnTo>
                  <a:lnTo>
                    <a:pt x="221947" y="2784873"/>
                  </a:lnTo>
                  <a:lnTo>
                    <a:pt x="201162" y="2744773"/>
                  </a:lnTo>
                  <a:lnTo>
                    <a:pt x="181311" y="2704121"/>
                  </a:lnTo>
                  <a:lnTo>
                    <a:pt x="162409" y="2662933"/>
                  </a:lnTo>
                  <a:lnTo>
                    <a:pt x="144470" y="2621221"/>
                  </a:lnTo>
                  <a:lnTo>
                    <a:pt x="127508" y="2579002"/>
                  </a:lnTo>
                  <a:lnTo>
                    <a:pt x="111537" y="2536287"/>
                  </a:lnTo>
                  <a:lnTo>
                    <a:pt x="96572" y="2493093"/>
                  </a:lnTo>
                  <a:lnTo>
                    <a:pt x="82627" y="2449432"/>
                  </a:lnTo>
                  <a:lnTo>
                    <a:pt x="69716" y="2405320"/>
                  </a:lnTo>
                  <a:lnTo>
                    <a:pt x="57853" y="2360771"/>
                  </a:lnTo>
                  <a:lnTo>
                    <a:pt x="47053" y="2315797"/>
                  </a:lnTo>
                  <a:lnTo>
                    <a:pt x="37329" y="2270415"/>
                  </a:lnTo>
                  <a:lnTo>
                    <a:pt x="28696" y="2224638"/>
                  </a:lnTo>
                  <a:lnTo>
                    <a:pt x="21168" y="2178480"/>
                  </a:lnTo>
                  <a:lnTo>
                    <a:pt x="14759" y="2131955"/>
                  </a:lnTo>
                  <a:lnTo>
                    <a:pt x="9483" y="2085079"/>
                  </a:lnTo>
                  <a:lnTo>
                    <a:pt x="5355" y="2037864"/>
                  </a:lnTo>
                  <a:lnTo>
                    <a:pt x="2389" y="1990325"/>
                  </a:lnTo>
                  <a:lnTo>
                    <a:pt x="599" y="1942476"/>
                  </a:lnTo>
                  <a:lnTo>
                    <a:pt x="0" y="1894332"/>
                  </a:lnTo>
                  <a:lnTo>
                    <a:pt x="599" y="1846187"/>
                  </a:lnTo>
                  <a:lnTo>
                    <a:pt x="2389" y="1798338"/>
                  </a:lnTo>
                  <a:lnTo>
                    <a:pt x="5355" y="1750799"/>
                  </a:lnTo>
                  <a:lnTo>
                    <a:pt x="9483" y="1703584"/>
                  </a:lnTo>
                  <a:lnTo>
                    <a:pt x="14759" y="1656708"/>
                  </a:lnTo>
                  <a:lnTo>
                    <a:pt x="21168" y="1610183"/>
                  </a:lnTo>
                  <a:lnTo>
                    <a:pt x="28696" y="1564025"/>
                  </a:lnTo>
                  <a:lnTo>
                    <a:pt x="37329" y="1518248"/>
                  </a:lnTo>
                  <a:lnTo>
                    <a:pt x="47053" y="1472866"/>
                  </a:lnTo>
                  <a:lnTo>
                    <a:pt x="57853" y="1427892"/>
                  </a:lnTo>
                  <a:lnTo>
                    <a:pt x="69716" y="1383343"/>
                  </a:lnTo>
                  <a:lnTo>
                    <a:pt x="82627" y="1339231"/>
                  </a:lnTo>
                  <a:lnTo>
                    <a:pt x="96572" y="1295570"/>
                  </a:lnTo>
                  <a:lnTo>
                    <a:pt x="111537" y="1252376"/>
                  </a:lnTo>
                  <a:lnTo>
                    <a:pt x="127508" y="1209661"/>
                  </a:lnTo>
                  <a:lnTo>
                    <a:pt x="144470" y="1167442"/>
                  </a:lnTo>
                  <a:lnTo>
                    <a:pt x="162409" y="1125730"/>
                  </a:lnTo>
                  <a:lnTo>
                    <a:pt x="181311" y="1084542"/>
                  </a:lnTo>
                  <a:lnTo>
                    <a:pt x="201162" y="1043890"/>
                  </a:lnTo>
                  <a:lnTo>
                    <a:pt x="221947" y="1003790"/>
                  </a:lnTo>
                  <a:lnTo>
                    <a:pt x="243653" y="964255"/>
                  </a:lnTo>
                  <a:lnTo>
                    <a:pt x="266265" y="925299"/>
                  </a:lnTo>
                  <a:lnTo>
                    <a:pt x="289769" y="886937"/>
                  </a:lnTo>
                  <a:lnTo>
                    <a:pt x="314151" y="849184"/>
                  </a:lnTo>
                  <a:lnTo>
                    <a:pt x="339396" y="812052"/>
                  </a:lnTo>
                  <a:lnTo>
                    <a:pt x="365491" y="775557"/>
                  </a:lnTo>
                  <a:lnTo>
                    <a:pt x="392421" y="739712"/>
                  </a:lnTo>
                  <a:lnTo>
                    <a:pt x="420172" y="704533"/>
                  </a:lnTo>
                  <a:lnTo>
                    <a:pt x="448730" y="670032"/>
                  </a:lnTo>
                  <a:lnTo>
                    <a:pt x="478080" y="636224"/>
                  </a:lnTo>
                  <a:lnTo>
                    <a:pt x="508209" y="603124"/>
                  </a:lnTo>
                  <a:lnTo>
                    <a:pt x="539102" y="570745"/>
                  </a:lnTo>
                  <a:lnTo>
                    <a:pt x="570745" y="539102"/>
                  </a:lnTo>
                  <a:lnTo>
                    <a:pt x="603124" y="508209"/>
                  </a:lnTo>
                  <a:lnTo>
                    <a:pt x="636224" y="478080"/>
                  </a:lnTo>
                  <a:lnTo>
                    <a:pt x="670032" y="448730"/>
                  </a:lnTo>
                  <a:lnTo>
                    <a:pt x="704533" y="420172"/>
                  </a:lnTo>
                  <a:lnTo>
                    <a:pt x="739712" y="392421"/>
                  </a:lnTo>
                  <a:lnTo>
                    <a:pt x="775557" y="365491"/>
                  </a:lnTo>
                  <a:lnTo>
                    <a:pt x="812052" y="339396"/>
                  </a:lnTo>
                  <a:lnTo>
                    <a:pt x="849184" y="314151"/>
                  </a:lnTo>
                  <a:lnTo>
                    <a:pt x="886937" y="289769"/>
                  </a:lnTo>
                  <a:lnTo>
                    <a:pt x="925299" y="266265"/>
                  </a:lnTo>
                  <a:lnTo>
                    <a:pt x="964255" y="243653"/>
                  </a:lnTo>
                  <a:lnTo>
                    <a:pt x="1003790" y="221947"/>
                  </a:lnTo>
                  <a:lnTo>
                    <a:pt x="1043890" y="201162"/>
                  </a:lnTo>
                  <a:lnTo>
                    <a:pt x="1084542" y="181311"/>
                  </a:lnTo>
                  <a:lnTo>
                    <a:pt x="1125730" y="162409"/>
                  </a:lnTo>
                  <a:lnTo>
                    <a:pt x="1167442" y="144470"/>
                  </a:lnTo>
                  <a:lnTo>
                    <a:pt x="1209661" y="127508"/>
                  </a:lnTo>
                  <a:lnTo>
                    <a:pt x="1252376" y="111537"/>
                  </a:lnTo>
                  <a:lnTo>
                    <a:pt x="1295570" y="96572"/>
                  </a:lnTo>
                  <a:lnTo>
                    <a:pt x="1339231" y="82627"/>
                  </a:lnTo>
                  <a:lnTo>
                    <a:pt x="1383343" y="69716"/>
                  </a:lnTo>
                  <a:lnTo>
                    <a:pt x="1427892" y="57853"/>
                  </a:lnTo>
                  <a:lnTo>
                    <a:pt x="1472866" y="47053"/>
                  </a:lnTo>
                  <a:lnTo>
                    <a:pt x="1518248" y="37329"/>
                  </a:lnTo>
                  <a:lnTo>
                    <a:pt x="1564025" y="28696"/>
                  </a:lnTo>
                  <a:lnTo>
                    <a:pt x="1610183" y="21168"/>
                  </a:lnTo>
                  <a:lnTo>
                    <a:pt x="1656708" y="14759"/>
                  </a:lnTo>
                  <a:lnTo>
                    <a:pt x="1703584" y="9483"/>
                  </a:lnTo>
                  <a:lnTo>
                    <a:pt x="1750799" y="5355"/>
                  </a:lnTo>
                  <a:lnTo>
                    <a:pt x="1798338" y="2389"/>
                  </a:lnTo>
                  <a:lnTo>
                    <a:pt x="1846187" y="599"/>
                  </a:lnTo>
                  <a:lnTo>
                    <a:pt x="1894332" y="0"/>
                  </a:lnTo>
                  <a:lnTo>
                    <a:pt x="1894332" y="1894332"/>
                  </a:lnTo>
                  <a:lnTo>
                    <a:pt x="1894332" y="3788664"/>
                  </a:lnTo>
                  <a:close/>
                </a:path>
              </a:pathLst>
            </a:custGeom>
            <a:ln w="19811">
              <a:solidFill>
                <a:srgbClr val="EBEBEB"/>
              </a:solidFill>
            </a:ln>
          </p:spPr>
          <p:txBody>
            <a:bodyPr wrap="square" lIns="0" tIns="0" rIns="0" bIns="0" rtlCol="0"/>
            <a:lstStyle/>
            <a:p>
              <a:endParaRPr/>
            </a:p>
          </p:txBody>
        </p:sp>
        <p:sp>
          <p:nvSpPr>
            <p:cNvPr id="16" name="object 16"/>
            <p:cNvSpPr/>
            <p:nvPr/>
          </p:nvSpPr>
          <p:spPr>
            <a:xfrm>
              <a:off x="3079241" y="2032254"/>
              <a:ext cx="8338184" cy="3789045"/>
            </a:xfrm>
            <a:custGeom>
              <a:avLst/>
              <a:gdLst/>
              <a:ahLst/>
              <a:cxnLst/>
              <a:rect l="l" t="t" r="r" b="b"/>
              <a:pathLst>
                <a:path w="8338184" h="3789045">
                  <a:moveTo>
                    <a:pt x="8337804" y="0"/>
                  </a:moveTo>
                  <a:lnTo>
                    <a:pt x="0" y="0"/>
                  </a:lnTo>
                  <a:lnTo>
                    <a:pt x="0" y="3788664"/>
                  </a:lnTo>
                  <a:lnTo>
                    <a:pt x="8337804" y="3788664"/>
                  </a:lnTo>
                  <a:lnTo>
                    <a:pt x="8337804" y="0"/>
                  </a:lnTo>
                  <a:close/>
                </a:path>
              </a:pathLst>
            </a:custGeom>
            <a:solidFill>
              <a:srgbClr val="EBEBEB">
                <a:alpha val="90194"/>
              </a:srgbClr>
            </a:solidFill>
          </p:spPr>
          <p:txBody>
            <a:bodyPr wrap="square" lIns="0" tIns="0" rIns="0" bIns="0" rtlCol="0"/>
            <a:lstStyle/>
            <a:p>
              <a:endParaRPr/>
            </a:p>
          </p:txBody>
        </p:sp>
        <p:sp>
          <p:nvSpPr>
            <p:cNvPr id="17" name="object 17"/>
            <p:cNvSpPr/>
            <p:nvPr/>
          </p:nvSpPr>
          <p:spPr>
            <a:xfrm>
              <a:off x="3079241" y="2032254"/>
              <a:ext cx="8338184" cy="3789045"/>
            </a:xfrm>
            <a:custGeom>
              <a:avLst/>
              <a:gdLst/>
              <a:ahLst/>
              <a:cxnLst/>
              <a:rect l="l" t="t" r="r" b="b"/>
              <a:pathLst>
                <a:path w="8338184" h="3789045">
                  <a:moveTo>
                    <a:pt x="0" y="3788664"/>
                  </a:moveTo>
                  <a:lnTo>
                    <a:pt x="8337804" y="3788664"/>
                  </a:lnTo>
                  <a:lnTo>
                    <a:pt x="8337804" y="0"/>
                  </a:lnTo>
                  <a:lnTo>
                    <a:pt x="0" y="0"/>
                  </a:lnTo>
                  <a:lnTo>
                    <a:pt x="0" y="3788664"/>
                  </a:lnTo>
                  <a:close/>
                </a:path>
              </a:pathLst>
            </a:custGeom>
            <a:ln w="19812">
              <a:solidFill>
                <a:srgbClr val="0D5480"/>
              </a:solidFill>
            </a:ln>
          </p:spPr>
          <p:txBody>
            <a:bodyPr wrap="square" lIns="0" tIns="0" rIns="0" bIns="0" rtlCol="0"/>
            <a:lstStyle/>
            <a:p>
              <a:endParaRPr/>
            </a:p>
          </p:txBody>
        </p:sp>
        <p:sp>
          <p:nvSpPr>
            <p:cNvPr id="18" name="object 18"/>
            <p:cNvSpPr/>
            <p:nvPr/>
          </p:nvSpPr>
          <p:spPr>
            <a:xfrm>
              <a:off x="1847849" y="3169158"/>
              <a:ext cx="1231900" cy="2461260"/>
            </a:xfrm>
            <a:custGeom>
              <a:avLst/>
              <a:gdLst/>
              <a:ahLst/>
              <a:cxnLst/>
              <a:rect l="l" t="t" r="r" b="b"/>
              <a:pathLst>
                <a:path w="1231900" h="2461260">
                  <a:moveTo>
                    <a:pt x="1231392" y="0"/>
                  </a:moveTo>
                  <a:lnTo>
                    <a:pt x="1183039" y="931"/>
                  </a:lnTo>
                  <a:lnTo>
                    <a:pt x="1135158" y="3702"/>
                  </a:lnTo>
                  <a:lnTo>
                    <a:pt x="1087784" y="8278"/>
                  </a:lnTo>
                  <a:lnTo>
                    <a:pt x="1040951" y="14626"/>
                  </a:lnTo>
                  <a:lnTo>
                    <a:pt x="994692" y="22711"/>
                  </a:lnTo>
                  <a:lnTo>
                    <a:pt x="949043" y="32499"/>
                  </a:lnTo>
                  <a:lnTo>
                    <a:pt x="904037" y="43956"/>
                  </a:lnTo>
                  <a:lnTo>
                    <a:pt x="859708" y="57047"/>
                  </a:lnTo>
                  <a:lnTo>
                    <a:pt x="816091" y="71739"/>
                  </a:lnTo>
                  <a:lnTo>
                    <a:pt x="773221" y="87996"/>
                  </a:lnTo>
                  <a:lnTo>
                    <a:pt x="731130" y="105786"/>
                  </a:lnTo>
                  <a:lnTo>
                    <a:pt x="689854" y="125074"/>
                  </a:lnTo>
                  <a:lnTo>
                    <a:pt x="649426" y="145826"/>
                  </a:lnTo>
                  <a:lnTo>
                    <a:pt x="609882" y="168006"/>
                  </a:lnTo>
                  <a:lnTo>
                    <a:pt x="571254" y="191583"/>
                  </a:lnTo>
                  <a:lnTo>
                    <a:pt x="533578" y="216520"/>
                  </a:lnTo>
                  <a:lnTo>
                    <a:pt x="496887" y="242784"/>
                  </a:lnTo>
                  <a:lnTo>
                    <a:pt x="461216" y="270341"/>
                  </a:lnTo>
                  <a:lnTo>
                    <a:pt x="426599" y="299156"/>
                  </a:lnTo>
                  <a:lnTo>
                    <a:pt x="393070" y="329196"/>
                  </a:lnTo>
                  <a:lnTo>
                    <a:pt x="360664" y="360425"/>
                  </a:lnTo>
                  <a:lnTo>
                    <a:pt x="329414" y="392811"/>
                  </a:lnTo>
                  <a:lnTo>
                    <a:pt x="299355" y="426319"/>
                  </a:lnTo>
                  <a:lnTo>
                    <a:pt x="270521" y="460914"/>
                  </a:lnTo>
                  <a:lnTo>
                    <a:pt x="242946" y="496563"/>
                  </a:lnTo>
                  <a:lnTo>
                    <a:pt x="216665" y="533230"/>
                  </a:lnTo>
                  <a:lnTo>
                    <a:pt x="191711" y="570883"/>
                  </a:lnTo>
                  <a:lnTo>
                    <a:pt x="168119" y="609487"/>
                  </a:lnTo>
                  <a:lnTo>
                    <a:pt x="145924" y="649007"/>
                  </a:lnTo>
                  <a:lnTo>
                    <a:pt x="125159" y="689410"/>
                  </a:lnTo>
                  <a:lnTo>
                    <a:pt x="105858" y="730661"/>
                  </a:lnTo>
                  <a:lnTo>
                    <a:pt x="88056" y="772726"/>
                  </a:lnTo>
                  <a:lnTo>
                    <a:pt x="71787" y="815571"/>
                  </a:lnTo>
                  <a:lnTo>
                    <a:pt x="57086" y="859161"/>
                  </a:lnTo>
                  <a:lnTo>
                    <a:pt x="43986" y="903463"/>
                  </a:lnTo>
                  <a:lnTo>
                    <a:pt x="32521" y="948443"/>
                  </a:lnTo>
                  <a:lnTo>
                    <a:pt x="22727" y="994066"/>
                  </a:lnTo>
                  <a:lnTo>
                    <a:pt x="14636" y="1040297"/>
                  </a:lnTo>
                  <a:lnTo>
                    <a:pt x="8284" y="1087104"/>
                  </a:lnTo>
                  <a:lnTo>
                    <a:pt x="3704" y="1134451"/>
                  </a:lnTo>
                  <a:lnTo>
                    <a:pt x="931" y="1182304"/>
                  </a:lnTo>
                  <a:lnTo>
                    <a:pt x="0" y="1230629"/>
                  </a:lnTo>
                  <a:lnTo>
                    <a:pt x="931" y="1278955"/>
                  </a:lnTo>
                  <a:lnTo>
                    <a:pt x="3704" y="1326808"/>
                  </a:lnTo>
                  <a:lnTo>
                    <a:pt x="8284" y="1374155"/>
                  </a:lnTo>
                  <a:lnTo>
                    <a:pt x="14636" y="1420962"/>
                  </a:lnTo>
                  <a:lnTo>
                    <a:pt x="22727" y="1467193"/>
                  </a:lnTo>
                  <a:lnTo>
                    <a:pt x="32521" y="1512816"/>
                  </a:lnTo>
                  <a:lnTo>
                    <a:pt x="43986" y="1557796"/>
                  </a:lnTo>
                  <a:lnTo>
                    <a:pt x="57086" y="1602098"/>
                  </a:lnTo>
                  <a:lnTo>
                    <a:pt x="71787" y="1645688"/>
                  </a:lnTo>
                  <a:lnTo>
                    <a:pt x="88056" y="1688533"/>
                  </a:lnTo>
                  <a:lnTo>
                    <a:pt x="105858" y="1730598"/>
                  </a:lnTo>
                  <a:lnTo>
                    <a:pt x="125159" y="1771849"/>
                  </a:lnTo>
                  <a:lnTo>
                    <a:pt x="145924" y="1812252"/>
                  </a:lnTo>
                  <a:lnTo>
                    <a:pt x="168119" y="1851772"/>
                  </a:lnTo>
                  <a:lnTo>
                    <a:pt x="191711" y="1890376"/>
                  </a:lnTo>
                  <a:lnTo>
                    <a:pt x="216665" y="1928029"/>
                  </a:lnTo>
                  <a:lnTo>
                    <a:pt x="242946" y="1964696"/>
                  </a:lnTo>
                  <a:lnTo>
                    <a:pt x="270521" y="2000345"/>
                  </a:lnTo>
                  <a:lnTo>
                    <a:pt x="299355" y="2034940"/>
                  </a:lnTo>
                  <a:lnTo>
                    <a:pt x="329414" y="2068448"/>
                  </a:lnTo>
                  <a:lnTo>
                    <a:pt x="360664" y="2100834"/>
                  </a:lnTo>
                  <a:lnTo>
                    <a:pt x="393070" y="2132063"/>
                  </a:lnTo>
                  <a:lnTo>
                    <a:pt x="426599" y="2162103"/>
                  </a:lnTo>
                  <a:lnTo>
                    <a:pt x="461216" y="2190918"/>
                  </a:lnTo>
                  <a:lnTo>
                    <a:pt x="496887" y="2218475"/>
                  </a:lnTo>
                  <a:lnTo>
                    <a:pt x="533578" y="2244739"/>
                  </a:lnTo>
                  <a:lnTo>
                    <a:pt x="571254" y="2269676"/>
                  </a:lnTo>
                  <a:lnTo>
                    <a:pt x="609882" y="2293253"/>
                  </a:lnTo>
                  <a:lnTo>
                    <a:pt x="649426" y="2315433"/>
                  </a:lnTo>
                  <a:lnTo>
                    <a:pt x="689854" y="2336185"/>
                  </a:lnTo>
                  <a:lnTo>
                    <a:pt x="731130" y="2355473"/>
                  </a:lnTo>
                  <a:lnTo>
                    <a:pt x="773221" y="2373263"/>
                  </a:lnTo>
                  <a:lnTo>
                    <a:pt x="816091" y="2389520"/>
                  </a:lnTo>
                  <a:lnTo>
                    <a:pt x="859708" y="2404212"/>
                  </a:lnTo>
                  <a:lnTo>
                    <a:pt x="904037" y="2417303"/>
                  </a:lnTo>
                  <a:lnTo>
                    <a:pt x="949043" y="2428760"/>
                  </a:lnTo>
                  <a:lnTo>
                    <a:pt x="994692" y="2438548"/>
                  </a:lnTo>
                  <a:lnTo>
                    <a:pt x="1040951" y="2446633"/>
                  </a:lnTo>
                  <a:lnTo>
                    <a:pt x="1087784" y="2452981"/>
                  </a:lnTo>
                  <a:lnTo>
                    <a:pt x="1135158" y="2457557"/>
                  </a:lnTo>
                  <a:lnTo>
                    <a:pt x="1183039" y="2460328"/>
                  </a:lnTo>
                  <a:lnTo>
                    <a:pt x="1231392" y="2461260"/>
                  </a:lnTo>
                  <a:lnTo>
                    <a:pt x="1231392" y="0"/>
                  </a:lnTo>
                  <a:close/>
                </a:path>
              </a:pathLst>
            </a:custGeom>
            <a:solidFill>
              <a:srgbClr val="0D5480"/>
            </a:solidFill>
          </p:spPr>
          <p:txBody>
            <a:bodyPr wrap="square" lIns="0" tIns="0" rIns="0" bIns="0" rtlCol="0"/>
            <a:lstStyle/>
            <a:p>
              <a:endParaRPr/>
            </a:p>
          </p:txBody>
        </p:sp>
        <p:sp>
          <p:nvSpPr>
            <p:cNvPr id="19" name="object 19"/>
            <p:cNvSpPr/>
            <p:nvPr/>
          </p:nvSpPr>
          <p:spPr>
            <a:xfrm>
              <a:off x="1847849" y="3169158"/>
              <a:ext cx="1231900" cy="2461260"/>
            </a:xfrm>
            <a:custGeom>
              <a:avLst/>
              <a:gdLst/>
              <a:ahLst/>
              <a:cxnLst/>
              <a:rect l="l" t="t" r="r" b="b"/>
              <a:pathLst>
                <a:path w="1231900" h="2461260">
                  <a:moveTo>
                    <a:pt x="1231392" y="2461260"/>
                  </a:moveTo>
                  <a:lnTo>
                    <a:pt x="1183039" y="2460328"/>
                  </a:lnTo>
                  <a:lnTo>
                    <a:pt x="1135158" y="2457557"/>
                  </a:lnTo>
                  <a:lnTo>
                    <a:pt x="1087784" y="2452981"/>
                  </a:lnTo>
                  <a:lnTo>
                    <a:pt x="1040951" y="2446633"/>
                  </a:lnTo>
                  <a:lnTo>
                    <a:pt x="994692" y="2438548"/>
                  </a:lnTo>
                  <a:lnTo>
                    <a:pt x="949043" y="2428760"/>
                  </a:lnTo>
                  <a:lnTo>
                    <a:pt x="904037" y="2417303"/>
                  </a:lnTo>
                  <a:lnTo>
                    <a:pt x="859708" y="2404212"/>
                  </a:lnTo>
                  <a:lnTo>
                    <a:pt x="816091" y="2389520"/>
                  </a:lnTo>
                  <a:lnTo>
                    <a:pt x="773221" y="2373263"/>
                  </a:lnTo>
                  <a:lnTo>
                    <a:pt x="731130" y="2355473"/>
                  </a:lnTo>
                  <a:lnTo>
                    <a:pt x="689854" y="2336185"/>
                  </a:lnTo>
                  <a:lnTo>
                    <a:pt x="649426" y="2315433"/>
                  </a:lnTo>
                  <a:lnTo>
                    <a:pt x="609882" y="2293253"/>
                  </a:lnTo>
                  <a:lnTo>
                    <a:pt x="571254" y="2269676"/>
                  </a:lnTo>
                  <a:lnTo>
                    <a:pt x="533578" y="2244739"/>
                  </a:lnTo>
                  <a:lnTo>
                    <a:pt x="496887" y="2218475"/>
                  </a:lnTo>
                  <a:lnTo>
                    <a:pt x="461216" y="2190918"/>
                  </a:lnTo>
                  <a:lnTo>
                    <a:pt x="426599" y="2162103"/>
                  </a:lnTo>
                  <a:lnTo>
                    <a:pt x="393070" y="2132063"/>
                  </a:lnTo>
                  <a:lnTo>
                    <a:pt x="360664" y="2100834"/>
                  </a:lnTo>
                  <a:lnTo>
                    <a:pt x="329414" y="2068448"/>
                  </a:lnTo>
                  <a:lnTo>
                    <a:pt x="299355" y="2034940"/>
                  </a:lnTo>
                  <a:lnTo>
                    <a:pt x="270521" y="2000345"/>
                  </a:lnTo>
                  <a:lnTo>
                    <a:pt x="242946" y="1964696"/>
                  </a:lnTo>
                  <a:lnTo>
                    <a:pt x="216665" y="1928029"/>
                  </a:lnTo>
                  <a:lnTo>
                    <a:pt x="191711" y="1890376"/>
                  </a:lnTo>
                  <a:lnTo>
                    <a:pt x="168119" y="1851772"/>
                  </a:lnTo>
                  <a:lnTo>
                    <a:pt x="145924" y="1812252"/>
                  </a:lnTo>
                  <a:lnTo>
                    <a:pt x="125159" y="1771849"/>
                  </a:lnTo>
                  <a:lnTo>
                    <a:pt x="105858" y="1730598"/>
                  </a:lnTo>
                  <a:lnTo>
                    <a:pt x="88056" y="1688533"/>
                  </a:lnTo>
                  <a:lnTo>
                    <a:pt x="71787" y="1645688"/>
                  </a:lnTo>
                  <a:lnTo>
                    <a:pt x="57086" y="1602098"/>
                  </a:lnTo>
                  <a:lnTo>
                    <a:pt x="43986" y="1557796"/>
                  </a:lnTo>
                  <a:lnTo>
                    <a:pt x="32521" y="1512816"/>
                  </a:lnTo>
                  <a:lnTo>
                    <a:pt x="22727" y="1467193"/>
                  </a:lnTo>
                  <a:lnTo>
                    <a:pt x="14636" y="1420962"/>
                  </a:lnTo>
                  <a:lnTo>
                    <a:pt x="8284" y="1374155"/>
                  </a:lnTo>
                  <a:lnTo>
                    <a:pt x="3704" y="1326808"/>
                  </a:lnTo>
                  <a:lnTo>
                    <a:pt x="931" y="1278955"/>
                  </a:lnTo>
                  <a:lnTo>
                    <a:pt x="0" y="1230629"/>
                  </a:lnTo>
                  <a:lnTo>
                    <a:pt x="931" y="1182304"/>
                  </a:lnTo>
                  <a:lnTo>
                    <a:pt x="3704" y="1134451"/>
                  </a:lnTo>
                  <a:lnTo>
                    <a:pt x="8284" y="1087104"/>
                  </a:lnTo>
                  <a:lnTo>
                    <a:pt x="14636" y="1040297"/>
                  </a:lnTo>
                  <a:lnTo>
                    <a:pt x="22727" y="994066"/>
                  </a:lnTo>
                  <a:lnTo>
                    <a:pt x="32521" y="948443"/>
                  </a:lnTo>
                  <a:lnTo>
                    <a:pt x="43986" y="903463"/>
                  </a:lnTo>
                  <a:lnTo>
                    <a:pt x="57086" y="859161"/>
                  </a:lnTo>
                  <a:lnTo>
                    <a:pt x="71787" y="815571"/>
                  </a:lnTo>
                  <a:lnTo>
                    <a:pt x="88056" y="772726"/>
                  </a:lnTo>
                  <a:lnTo>
                    <a:pt x="105858" y="730661"/>
                  </a:lnTo>
                  <a:lnTo>
                    <a:pt x="125159" y="689410"/>
                  </a:lnTo>
                  <a:lnTo>
                    <a:pt x="145924" y="649007"/>
                  </a:lnTo>
                  <a:lnTo>
                    <a:pt x="168119" y="609487"/>
                  </a:lnTo>
                  <a:lnTo>
                    <a:pt x="191711" y="570883"/>
                  </a:lnTo>
                  <a:lnTo>
                    <a:pt x="216665" y="533230"/>
                  </a:lnTo>
                  <a:lnTo>
                    <a:pt x="242946" y="496563"/>
                  </a:lnTo>
                  <a:lnTo>
                    <a:pt x="270521" y="460914"/>
                  </a:lnTo>
                  <a:lnTo>
                    <a:pt x="299355" y="426319"/>
                  </a:lnTo>
                  <a:lnTo>
                    <a:pt x="329414" y="392811"/>
                  </a:lnTo>
                  <a:lnTo>
                    <a:pt x="360664" y="360425"/>
                  </a:lnTo>
                  <a:lnTo>
                    <a:pt x="393070" y="329196"/>
                  </a:lnTo>
                  <a:lnTo>
                    <a:pt x="426599" y="299156"/>
                  </a:lnTo>
                  <a:lnTo>
                    <a:pt x="461216" y="270341"/>
                  </a:lnTo>
                  <a:lnTo>
                    <a:pt x="496887" y="242784"/>
                  </a:lnTo>
                  <a:lnTo>
                    <a:pt x="533578" y="216520"/>
                  </a:lnTo>
                  <a:lnTo>
                    <a:pt x="571254" y="191583"/>
                  </a:lnTo>
                  <a:lnTo>
                    <a:pt x="609882" y="168006"/>
                  </a:lnTo>
                  <a:lnTo>
                    <a:pt x="649426" y="145826"/>
                  </a:lnTo>
                  <a:lnTo>
                    <a:pt x="689854" y="125074"/>
                  </a:lnTo>
                  <a:lnTo>
                    <a:pt x="731130" y="105786"/>
                  </a:lnTo>
                  <a:lnTo>
                    <a:pt x="773221" y="87996"/>
                  </a:lnTo>
                  <a:lnTo>
                    <a:pt x="816091" y="71739"/>
                  </a:lnTo>
                  <a:lnTo>
                    <a:pt x="859708" y="57047"/>
                  </a:lnTo>
                  <a:lnTo>
                    <a:pt x="904037" y="43956"/>
                  </a:lnTo>
                  <a:lnTo>
                    <a:pt x="949043" y="32499"/>
                  </a:lnTo>
                  <a:lnTo>
                    <a:pt x="994692" y="22711"/>
                  </a:lnTo>
                  <a:lnTo>
                    <a:pt x="1040951" y="14626"/>
                  </a:lnTo>
                  <a:lnTo>
                    <a:pt x="1087784" y="8278"/>
                  </a:lnTo>
                  <a:lnTo>
                    <a:pt x="1135158" y="3702"/>
                  </a:lnTo>
                  <a:lnTo>
                    <a:pt x="1183039" y="931"/>
                  </a:lnTo>
                  <a:lnTo>
                    <a:pt x="1231392" y="0"/>
                  </a:lnTo>
                  <a:lnTo>
                    <a:pt x="1231392" y="1230629"/>
                  </a:lnTo>
                  <a:lnTo>
                    <a:pt x="1231392" y="2461260"/>
                  </a:lnTo>
                  <a:close/>
                </a:path>
              </a:pathLst>
            </a:custGeom>
            <a:ln w="19812">
              <a:solidFill>
                <a:srgbClr val="EBEBEB"/>
              </a:solidFill>
            </a:ln>
          </p:spPr>
          <p:txBody>
            <a:bodyPr wrap="square" lIns="0" tIns="0" rIns="0" bIns="0" rtlCol="0"/>
            <a:lstStyle/>
            <a:p>
              <a:endParaRPr/>
            </a:p>
          </p:txBody>
        </p:sp>
        <p:sp>
          <p:nvSpPr>
            <p:cNvPr id="20" name="object 20"/>
            <p:cNvSpPr/>
            <p:nvPr/>
          </p:nvSpPr>
          <p:spPr>
            <a:xfrm>
              <a:off x="3079241" y="3169158"/>
              <a:ext cx="8338184" cy="2461260"/>
            </a:xfrm>
            <a:custGeom>
              <a:avLst/>
              <a:gdLst/>
              <a:ahLst/>
              <a:cxnLst/>
              <a:rect l="l" t="t" r="r" b="b"/>
              <a:pathLst>
                <a:path w="8338184" h="2461260">
                  <a:moveTo>
                    <a:pt x="0" y="2461260"/>
                  </a:moveTo>
                  <a:lnTo>
                    <a:pt x="8337804" y="2461260"/>
                  </a:lnTo>
                  <a:lnTo>
                    <a:pt x="8337804" y="0"/>
                  </a:lnTo>
                  <a:lnTo>
                    <a:pt x="0" y="0"/>
                  </a:lnTo>
                  <a:lnTo>
                    <a:pt x="0" y="2461260"/>
                  </a:lnTo>
                  <a:close/>
                </a:path>
              </a:pathLst>
            </a:custGeom>
            <a:ln w="19812">
              <a:solidFill>
                <a:srgbClr val="0D5480"/>
              </a:solidFill>
            </a:ln>
          </p:spPr>
          <p:txBody>
            <a:bodyPr wrap="square" lIns="0" tIns="0" rIns="0" bIns="0" rtlCol="0"/>
            <a:lstStyle/>
            <a:p>
              <a:endParaRPr/>
            </a:p>
          </p:txBody>
        </p:sp>
        <p:sp>
          <p:nvSpPr>
            <p:cNvPr id="21" name="object 21"/>
            <p:cNvSpPr/>
            <p:nvPr/>
          </p:nvSpPr>
          <p:spPr>
            <a:xfrm>
              <a:off x="2510789" y="4306062"/>
              <a:ext cx="568960" cy="1135380"/>
            </a:xfrm>
            <a:custGeom>
              <a:avLst/>
              <a:gdLst/>
              <a:ahLst/>
              <a:cxnLst/>
              <a:rect l="l" t="t" r="r" b="b"/>
              <a:pathLst>
                <a:path w="568960" h="1135379">
                  <a:moveTo>
                    <a:pt x="568452" y="0"/>
                  </a:moveTo>
                  <a:lnTo>
                    <a:pt x="519404" y="2083"/>
                  </a:lnTo>
                  <a:lnTo>
                    <a:pt x="471515" y="8220"/>
                  </a:lnTo>
                  <a:lnTo>
                    <a:pt x="424954" y="18240"/>
                  </a:lnTo>
                  <a:lnTo>
                    <a:pt x="379894" y="31973"/>
                  </a:lnTo>
                  <a:lnTo>
                    <a:pt x="336504" y="49248"/>
                  </a:lnTo>
                  <a:lnTo>
                    <a:pt x="294955" y="69895"/>
                  </a:lnTo>
                  <a:lnTo>
                    <a:pt x="255418" y="93745"/>
                  </a:lnTo>
                  <a:lnTo>
                    <a:pt x="218063" y="120625"/>
                  </a:lnTo>
                  <a:lnTo>
                    <a:pt x="183062" y="150368"/>
                  </a:lnTo>
                  <a:lnTo>
                    <a:pt x="150584" y="182801"/>
                  </a:lnTo>
                  <a:lnTo>
                    <a:pt x="120800" y="217754"/>
                  </a:lnTo>
                  <a:lnTo>
                    <a:pt x="93881" y="255058"/>
                  </a:lnTo>
                  <a:lnTo>
                    <a:pt x="69997" y="294542"/>
                  </a:lnTo>
                  <a:lnTo>
                    <a:pt x="49320" y="336036"/>
                  </a:lnTo>
                  <a:lnTo>
                    <a:pt x="32020" y="379369"/>
                  </a:lnTo>
                  <a:lnTo>
                    <a:pt x="18267" y="424371"/>
                  </a:lnTo>
                  <a:lnTo>
                    <a:pt x="8232" y="470872"/>
                  </a:lnTo>
                  <a:lnTo>
                    <a:pt x="2086" y="518702"/>
                  </a:lnTo>
                  <a:lnTo>
                    <a:pt x="0" y="567689"/>
                  </a:lnTo>
                  <a:lnTo>
                    <a:pt x="2086" y="616677"/>
                  </a:lnTo>
                  <a:lnTo>
                    <a:pt x="8232" y="664507"/>
                  </a:lnTo>
                  <a:lnTo>
                    <a:pt x="18267" y="711008"/>
                  </a:lnTo>
                  <a:lnTo>
                    <a:pt x="32020" y="756010"/>
                  </a:lnTo>
                  <a:lnTo>
                    <a:pt x="49320" y="799343"/>
                  </a:lnTo>
                  <a:lnTo>
                    <a:pt x="69997" y="840837"/>
                  </a:lnTo>
                  <a:lnTo>
                    <a:pt x="93881" y="880321"/>
                  </a:lnTo>
                  <a:lnTo>
                    <a:pt x="120800" y="917625"/>
                  </a:lnTo>
                  <a:lnTo>
                    <a:pt x="150584" y="952578"/>
                  </a:lnTo>
                  <a:lnTo>
                    <a:pt x="183062" y="985011"/>
                  </a:lnTo>
                  <a:lnTo>
                    <a:pt x="218063" y="1014754"/>
                  </a:lnTo>
                  <a:lnTo>
                    <a:pt x="255418" y="1041634"/>
                  </a:lnTo>
                  <a:lnTo>
                    <a:pt x="294955" y="1065484"/>
                  </a:lnTo>
                  <a:lnTo>
                    <a:pt x="336504" y="1086131"/>
                  </a:lnTo>
                  <a:lnTo>
                    <a:pt x="379894" y="1103406"/>
                  </a:lnTo>
                  <a:lnTo>
                    <a:pt x="424954" y="1117139"/>
                  </a:lnTo>
                  <a:lnTo>
                    <a:pt x="471515" y="1127159"/>
                  </a:lnTo>
                  <a:lnTo>
                    <a:pt x="519404" y="1133296"/>
                  </a:lnTo>
                  <a:lnTo>
                    <a:pt x="568452" y="1135380"/>
                  </a:lnTo>
                  <a:lnTo>
                    <a:pt x="568452" y="0"/>
                  </a:lnTo>
                  <a:close/>
                </a:path>
              </a:pathLst>
            </a:custGeom>
            <a:solidFill>
              <a:srgbClr val="0D5480"/>
            </a:solidFill>
          </p:spPr>
          <p:txBody>
            <a:bodyPr wrap="square" lIns="0" tIns="0" rIns="0" bIns="0" rtlCol="0"/>
            <a:lstStyle/>
            <a:p>
              <a:endParaRPr/>
            </a:p>
          </p:txBody>
        </p:sp>
        <p:sp>
          <p:nvSpPr>
            <p:cNvPr id="22" name="object 22"/>
            <p:cNvSpPr/>
            <p:nvPr/>
          </p:nvSpPr>
          <p:spPr>
            <a:xfrm>
              <a:off x="2510789" y="4306062"/>
              <a:ext cx="568960" cy="1135380"/>
            </a:xfrm>
            <a:custGeom>
              <a:avLst/>
              <a:gdLst/>
              <a:ahLst/>
              <a:cxnLst/>
              <a:rect l="l" t="t" r="r" b="b"/>
              <a:pathLst>
                <a:path w="568960" h="1135379">
                  <a:moveTo>
                    <a:pt x="568452" y="1135380"/>
                  </a:moveTo>
                  <a:lnTo>
                    <a:pt x="519404" y="1133296"/>
                  </a:lnTo>
                  <a:lnTo>
                    <a:pt x="471515" y="1127159"/>
                  </a:lnTo>
                  <a:lnTo>
                    <a:pt x="424954" y="1117139"/>
                  </a:lnTo>
                  <a:lnTo>
                    <a:pt x="379894" y="1103406"/>
                  </a:lnTo>
                  <a:lnTo>
                    <a:pt x="336504" y="1086131"/>
                  </a:lnTo>
                  <a:lnTo>
                    <a:pt x="294955" y="1065484"/>
                  </a:lnTo>
                  <a:lnTo>
                    <a:pt x="255418" y="1041634"/>
                  </a:lnTo>
                  <a:lnTo>
                    <a:pt x="218063" y="1014754"/>
                  </a:lnTo>
                  <a:lnTo>
                    <a:pt x="183062" y="985011"/>
                  </a:lnTo>
                  <a:lnTo>
                    <a:pt x="150584" y="952578"/>
                  </a:lnTo>
                  <a:lnTo>
                    <a:pt x="120800" y="917625"/>
                  </a:lnTo>
                  <a:lnTo>
                    <a:pt x="93881" y="880321"/>
                  </a:lnTo>
                  <a:lnTo>
                    <a:pt x="69997" y="840837"/>
                  </a:lnTo>
                  <a:lnTo>
                    <a:pt x="49320" y="799343"/>
                  </a:lnTo>
                  <a:lnTo>
                    <a:pt x="32020" y="756010"/>
                  </a:lnTo>
                  <a:lnTo>
                    <a:pt x="18267" y="711008"/>
                  </a:lnTo>
                  <a:lnTo>
                    <a:pt x="8232" y="664507"/>
                  </a:lnTo>
                  <a:lnTo>
                    <a:pt x="2086" y="616677"/>
                  </a:lnTo>
                  <a:lnTo>
                    <a:pt x="0" y="567689"/>
                  </a:lnTo>
                  <a:lnTo>
                    <a:pt x="2086" y="518702"/>
                  </a:lnTo>
                  <a:lnTo>
                    <a:pt x="8232" y="470872"/>
                  </a:lnTo>
                  <a:lnTo>
                    <a:pt x="18267" y="424371"/>
                  </a:lnTo>
                  <a:lnTo>
                    <a:pt x="32020" y="379369"/>
                  </a:lnTo>
                  <a:lnTo>
                    <a:pt x="49320" y="336036"/>
                  </a:lnTo>
                  <a:lnTo>
                    <a:pt x="69997" y="294542"/>
                  </a:lnTo>
                  <a:lnTo>
                    <a:pt x="93881" y="255058"/>
                  </a:lnTo>
                  <a:lnTo>
                    <a:pt x="120800" y="217754"/>
                  </a:lnTo>
                  <a:lnTo>
                    <a:pt x="150584" y="182801"/>
                  </a:lnTo>
                  <a:lnTo>
                    <a:pt x="183062" y="150368"/>
                  </a:lnTo>
                  <a:lnTo>
                    <a:pt x="218063" y="120625"/>
                  </a:lnTo>
                  <a:lnTo>
                    <a:pt x="255418" y="93745"/>
                  </a:lnTo>
                  <a:lnTo>
                    <a:pt x="294955" y="69895"/>
                  </a:lnTo>
                  <a:lnTo>
                    <a:pt x="336504" y="49248"/>
                  </a:lnTo>
                  <a:lnTo>
                    <a:pt x="379894" y="31973"/>
                  </a:lnTo>
                  <a:lnTo>
                    <a:pt x="424954" y="18240"/>
                  </a:lnTo>
                  <a:lnTo>
                    <a:pt x="471515" y="8220"/>
                  </a:lnTo>
                  <a:lnTo>
                    <a:pt x="519404" y="2083"/>
                  </a:lnTo>
                  <a:lnTo>
                    <a:pt x="568452" y="0"/>
                  </a:lnTo>
                  <a:lnTo>
                    <a:pt x="568452" y="567689"/>
                  </a:lnTo>
                  <a:lnTo>
                    <a:pt x="568452" y="1135380"/>
                  </a:lnTo>
                  <a:close/>
                </a:path>
              </a:pathLst>
            </a:custGeom>
            <a:ln w="19812">
              <a:solidFill>
                <a:srgbClr val="EBEBEB"/>
              </a:solidFill>
            </a:ln>
          </p:spPr>
          <p:txBody>
            <a:bodyPr wrap="square" lIns="0" tIns="0" rIns="0" bIns="0" rtlCol="0"/>
            <a:lstStyle/>
            <a:p>
              <a:endParaRPr/>
            </a:p>
          </p:txBody>
        </p:sp>
        <p:sp>
          <p:nvSpPr>
            <p:cNvPr id="23" name="object 23"/>
            <p:cNvSpPr/>
            <p:nvPr/>
          </p:nvSpPr>
          <p:spPr>
            <a:xfrm>
              <a:off x="3079241" y="4333494"/>
              <a:ext cx="8338184" cy="1137285"/>
            </a:xfrm>
            <a:custGeom>
              <a:avLst/>
              <a:gdLst/>
              <a:ahLst/>
              <a:cxnLst/>
              <a:rect l="l" t="t" r="r" b="b"/>
              <a:pathLst>
                <a:path w="8338184" h="1137285">
                  <a:moveTo>
                    <a:pt x="0" y="1136903"/>
                  </a:moveTo>
                  <a:lnTo>
                    <a:pt x="8337804" y="1136903"/>
                  </a:lnTo>
                  <a:lnTo>
                    <a:pt x="8337804" y="0"/>
                  </a:lnTo>
                  <a:lnTo>
                    <a:pt x="0" y="0"/>
                  </a:lnTo>
                  <a:lnTo>
                    <a:pt x="0" y="1136903"/>
                  </a:lnTo>
                  <a:close/>
                </a:path>
              </a:pathLst>
            </a:custGeom>
            <a:ln w="19812">
              <a:solidFill>
                <a:srgbClr val="0D5480"/>
              </a:solidFill>
            </a:ln>
          </p:spPr>
          <p:txBody>
            <a:bodyPr wrap="square" lIns="0" tIns="0" rIns="0" bIns="0" rtlCol="0"/>
            <a:lstStyle/>
            <a:p>
              <a:endParaRPr/>
            </a:p>
          </p:txBody>
        </p:sp>
      </p:grpSp>
      <p:sp>
        <p:nvSpPr>
          <p:cNvPr id="24" name="object 24"/>
          <p:cNvSpPr txBox="1">
            <a:spLocks noGrp="1"/>
          </p:cNvSpPr>
          <p:nvPr>
            <p:ph type="body" idx="1"/>
          </p:nvPr>
        </p:nvSpPr>
        <p:spPr>
          <a:xfrm>
            <a:off x="1829042" y="1705884"/>
            <a:ext cx="9947031" cy="4622804"/>
          </a:xfrm>
          <a:prstGeom prst="rect">
            <a:avLst/>
          </a:prstGeom>
        </p:spPr>
        <p:txBody>
          <a:bodyPr vert="horz" wrap="square" lIns="0" tIns="641096" rIns="0" bIns="0" rtlCol="0">
            <a:spAutoFit/>
          </a:bodyPr>
          <a:lstStyle/>
          <a:p>
            <a:pPr marL="1874520" marR="247015">
              <a:lnSpc>
                <a:spcPts val="2480"/>
              </a:lnSpc>
              <a:spcBef>
                <a:spcPts val="515"/>
              </a:spcBef>
            </a:pPr>
            <a:r>
              <a:rPr b="1" dirty="0">
                <a:latin typeface="Times New Roman"/>
                <a:cs typeface="Times New Roman"/>
              </a:rPr>
              <a:t>Central</a:t>
            </a:r>
            <a:r>
              <a:rPr b="1" spc="-40" dirty="0">
                <a:latin typeface="Times New Roman"/>
                <a:cs typeface="Times New Roman"/>
              </a:rPr>
              <a:t> </a:t>
            </a:r>
            <a:r>
              <a:rPr b="1" dirty="0">
                <a:latin typeface="Times New Roman"/>
                <a:cs typeface="Times New Roman"/>
              </a:rPr>
              <a:t>GST</a:t>
            </a:r>
            <a:r>
              <a:rPr b="1" spc="-65" dirty="0">
                <a:latin typeface="Times New Roman"/>
                <a:cs typeface="Times New Roman"/>
              </a:rPr>
              <a:t> </a:t>
            </a:r>
            <a:r>
              <a:rPr b="1" dirty="0">
                <a:latin typeface="Times New Roman"/>
                <a:cs typeface="Times New Roman"/>
              </a:rPr>
              <a:t>(CGST)</a:t>
            </a:r>
            <a:r>
              <a:rPr b="1" spc="-15" dirty="0">
                <a:latin typeface="Times New Roman"/>
                <a:cs typeface="Times New Roman"/>
              </a:rPr>
              <a:t> </a:t>
            </a:r>
            <a:r>
              <a:rPr dirty="0"/>
              <a:t>-</a:t>
            </a:r>
            <a:r>
              <a:rPr spc="-35" dirty="0"/>
              <a:t> </a:t>
            </a:r>
            <a:r>
              <a:rPr dirty="0"/>
              <a:t>Levy</a:t>
            </a:r>
            <a:r>
              <a:rPr spc="-25" dirty="0"/>
              <a:t> </a:t>
            </a:r>
            <a:r>
              <a:rPr dirty="0"/>
              <a:t>on</a:t>
            </a:r>
            <a:r>
              <a:rPr spc="-20" dirty="0"/>
              <a:t> </a:t>
            </a:r>
            <a:r>
              <a:rPr b="1" dirty="0">
                <a:latin typeface="Times New Roman"/>
                <a:cs typeface="Times New Roman"/>
              </a:rPr>
              <a:t>supply</a:t>
            </a:r>
            <a:r>
              <a:rPr b="1" spc="-25" dirty="0">
                <a:latin typeface="Times New Roman"/>
                <a:cs typeface="Times New Roman"/>
              </a:rPr>
              <a:t> </a:t>
            </a:r>
            <a:r>
              <a:rPr b="1" dirty="0">
                <a:latin typeface="Times New Roman"/>
                <a:cs typeface="Times New Roman"/>
              </a:rPr>
              <a:t>of</a:t>
            </a:r>
            <a:r>
              <a:rPr b="1" spc="-150" dirty="0">
                <a:latin typeface="Times New Roman"/>
                <a:cs typeface="Times New Roman"/>
              </a:rPr>
              <a:t> </a:t>
            </a:r>
            <a:r>
              <a:rPr b="1" spc="-10" dirty="0">
                <a:latin typeface="Times New Roman"/>
                <a:cs typeface="Times New Roman"/>
              </a:rPr>
              <a:t>ALL</a:t>
            </a:r>
            <a:r>
              <a:rPr b="1" spc="-140" dirty="0">
                <a:latin typeface="Times New Roman"/>
                <a:cs typeface="Times New Roman"/>
              </a:rPr>
              <a:t> </a:t>
            </a:r>
            <a:r>
              <a:rPr dirty="0"/>
              <a:t>goods</a:t>
            </a:r>
            <a:r>
              <a:rPr spc="-20" dirty="0"/>
              <a:t> </a:t>
            </a:r>
            <a:r>
              <a:rPr dirty="0"/>
              <a:t>and/</a:t>
            </a:r>
            <a:r>
              <a:rPr spc="-30" dirty="0"/>
              <a:t> </a:t>
            </a:r>
            <a:r>
              <a:rPr spc="-25" dirty="0"/>
              <a:t>or </a:t>
            </a:r>
            <a:r>
              <a:rPr dirty="0"/>
              <a:t>services</a:t>
            </a:r>
            <a:r>
              <a:rPr spc="-30" dirty="0"/>
              <a:t> </a:t>
            </a:r>
            <a:r>
              <a:rPr dirty="0"/>
              <a:t>within</a:t>
            </a:r>
            <a:r>
              <a:rPr spc="-15" dirty="0"/>
              <a:t> </a:t>
            </a:r>
            <a:r>
              <a:rPr dirty="0"/>
              <a:t>a particular</a:t>
            </a:r>
            <a:r>
              <a:rPr spc="-35" dirty="0"/>
              <a:t> </a:t>
            </a:r>
            <a:r>
              <a:rPr dirty="0"/>
              <a:t>State,</a:t>
            </a:r>
            <a:r>
              <a:rPr spc="15" dirty="0"/>
              <a:t> </a:t>
            </a:r>
            <a:r>
              <a:rPr u="sng" dirty="0">
                <a:uFill>
                  <a:solidFill>
                    <a:srgbClr val="000000"/>
                  </a:solidFill>
                </a:uFill>
              </a:rPr>
              <a:t>by the</a:t>
            </a:r>
            <a:r>
              <a:rPr u="sng" spc="-10" dirty="0">
                <a:uFill>
                  <a:solidFill>
                    <a:srgbClr val="000000"/>
                  </a:solidFill>
                </a:uFill>
              </a:rPr>
              <a:t> </a:t>
            </a:r>
            <a:r>
              <a:rPr u="sng" dirty="0">
                <a:uFill>
                  <a:solidFill>
                    <a:srgbClr val="000000"/>
                  </a:solidFill>
                </a:uFill>
              </a:rPr>
              <a:t>Central</a:t>
            </a:r>
            <a:r>
              <a:rPr u="sng" spc="-15" dirty="0">
                <a:uFill>
                  <a:solidFill>
                    <a:srgbClr val="000000"/>
                  </a:solidFill>
                </a:uFill>
              </a:rPr>
              <a:t> </a:t>
            </a:r>
            <a:r>
              <a:rPr u="sng" spc="-10" dirty="0">
                <a:uFill>
                  <a:solidFill>
                    <a:srgbClr val="000000"/>
                  </a:solidFill>
                </a:uFill>
              </a:rPr>
              <a:t>Government</a:t>
            </a:r>
          </a:p>
          <a:p>
            <a:pPr marL="1874520" marR="635635">
              <a:lnSpc>
                <a:spcPts val="2480"/>
              </a:lnSpc>
              <a:spcBef>
                <a:spcPts val="2745"/>
              </a:spcBef>
            </a:pPr>
            <a:r>
              <a:rPr b="1" dirty="0">
                <a:latin typeface="Times New Roman"/>
                <a:cs typeface="Times New Roman"/>
              </a:rPr>
              <a:t>State</a:t>
            </a:r>
            <a:r>
              <a:rPr b="1" spc="-45" dirty="0">
                <a:latin typeface="Times New Roman"/>
                <a:cs typeface="Times New Roman"/>
              </a:rPr>
              <a:t> </a:t>
            </a:r>
            <a:r>
              <a:rPr b="1" dirty="0">
                <a:latin typeface="Times New Roman"/>
                <a:cs typeface="Times New Roman"/>
              </a:rPr>
              <a:t>GST</a:t>
            </a:r>
            <a:r>
              <a:rPr b="1" spc="-70" dirty="0">
                <a:latin typeface="Times New Roman"/>
                <a:cs typeface="Times New Roman"/>
              </a:rPr>
              <a:t> </a:t>
            </a:r>
            <a:r>
              <a:rPr b="1" dirty="0">
                <a:latin typeface="Times New Roman"/>
                <a:cs typeface="Times New Roman"/>
              </a:rPr>
              <a:t>(SGST)</a:t>
            </a:r>
            <a:r>
              <a:rPr b="1" spc="-35" dirty="0">
                <a:latin typeface="Times New Roman"/>
                <a:cs typeface="Times New Roman"/>
              </a:rPr>
              <a:t> </a:t>
            </a:r>
            <a:r>
              <a:rPr dirty="0"/>
              <a:t>-</a:t>
            </a:r>
            <a:r>
              <a:rPr spc="-20" dirty="0"/>
              <a:t> </a:t>
            </a:r>
            <a:r>
              <a:rPr dirty="0"/>
              <a:t>Levy</a:t>
            </a:r>
            <a:r>
              <a:rPr spc="-30" dirty="0"/>
              <a:t> </a:t>
            </a:r>
            <a:r>
              <a:rPr dirty="0"/>
              <a:t>on</a:t>
            </a:r>
            <a:r>
              <a:rPr spc="-25" dirty="0"/>
              <a:t> </a:t>
            </a:r>
            <a:r>
              <a:rPr b="1" dirty="0">
                <a:latin typeface="Times New Roman"/>
                <a:cs typeface="Times New Roman"/>
              </a:rPr>
              <a:t>supply</a:t>
            </a:r>
            <a:r>
              <a:rPr b="1" spc="-30" dirty="0">
                <a:latin typeface="Times New Roman"/>
                <a:cs typeface="Times New Roman"/>
              </a:rPr>
              <a:t> </a:t>
            </a:r>
            <a:r>
              <a:rPr b="1" dirty="0">
                <a:latin typeface="Times New Roman"/>
                <a:cs typeface="Times New Roman"/>
              </a:rPr>
              <a:t>of</a:t>
            </a:r>
            <a:r>
              <a:rPr b="1" spc="-150" dirty="0">
                <a:latin typeface="Times New Roman"/>
                <a:cs typeface="Times New Roman"/>
              </a:rPr>
              <a:t> </a:t>
            </a:r>
            <a:r>
              <a:rPr b="1" spc="-10" dirty="0">
                <a:latin typeface="Times New Roman"/>
                <a:cs typeface="Times New Roman"/>
              </a:rPr>
              <a:t>ALL</a:t>
            </a:r>
            <a:r>
              <a:rPr b="1" spc="-140" dirty="0">
                <a:latin typeface="Times New Roman"/>
                <a:cs typeface="Times New Roman"/>
              </a:rPr>
              <a:t> </a:t>
            </a:r>
            <a:r>
              <a:rPr dirty="0"/>
              <a:t>goods</a:t>
            </a:r>
            <a:r>
              <a:rPr spc="-25" dirty="0"/>
              <a:t> </a:t>
            </a:r>
            <a:r>
              <a:rPr dirty="0"/>
              <a:t>and/</a:t>
            </a:r>
            <a:r>
              <a:rPr spc="-35" dirty="0"/>
              <a:t> </a:t>
            </a:r>
            <a:r>
              <a:rPr spc="-25" dirty="0"/>
              <a:t>or </a:t>
            </a:r>
            <a:r>
              <a:rPr dirty="0"/>
              <a:t>services</a:t>
            </a:r>
            <a:r>
              <a:rPr spc="-35" dirty="0"/>
              <a:t> </a:t>
            </a:r>
            <a:r>
              <a:rPr dirty="0"/>
              <a:t>within</a:t>
            </a:r>
            <a:r>
              <a:rPr spc="-20" dirty="0"/>
              <a:t> </a:t>
            </a:r>
            <a:r>
              <a:rPr dirty="0"/>
              <a:t>a</a:t>
            </a:r>
            <a:r>
              <a:rPr spc="-10" dirty="0"/>
              <a:t> </a:t>
            </a:r>
            <a:r>
              <a:rPr dirty="0"/>
              <a:t>particular</a:t>
            </a:r>
            <a:r>
              <a:rPr spc="-40" dirty="0"/>
              <a:t> </a:t>
            </a:r>
            <a:r>
              <a:rPr dirty="0"/>
              <a:t>State,</a:t>
            </a:r>
            <a:r>
              <a:rPr spc="10" dirty="0"/>
              <a:t> </a:t>
            </a:r>
            <a:r>
              <a:rPr u="sng" dirty="0">
                <a:uFill>
                  <a:solidFill>
                    <a:srgbClr val="000000"/>
                  </a:solidFill>
                </a:uFill>
              </a:rPr>
              <a:t>by</a:t>
            </a:r>
            <a:r>
              <a:rPr u="sng" spc="-10" dirty="0">
                <a:uFill>
                  <a:solidFill>
                    <a:srgbClr val="000000"/>
                  </a:solidFill>
                </a:uFill>
              </a:rPr>
              <a:t> </a:t>
            </a:r>
            <a:r>
              <a:rPr u="sng" dirty="0">
                <a:uFill>
                  <a:solidFill>
                    <a:srgbClr val="000000"/>
                  </a:solidFill>
                </a:uFill>
              </a:rPr>
              <a:t>the</a:t>
            </a:r>
            <a:r>
              <a:rPr u="sng" spc="-10" dirty="0">
                <a:uFill>
                  <a:solidFill>
                    <a:srgbClr val="000000"/>
                  </a:solidFill>
                </a:uFill>
              </a:rPr>
              <a:t> </a:t>
            </a:r>
            <a:r>
              <a:rPr b="1" u="sng" dirty="0">
                <a:uFill>
                  <a:solidFill>
                    <a:srgbClr val="000000"/>
                  </a:solidFill>
                </a:uFill>
                <a:latin typeface="Times New Roman"/>
                <a:cs typeface="Times New Roman"/>
              </a:rPr>
              <a:t>respective</a:t>
            </a:r>
            <a:r>
              <a:rPr b="1" u="sng" spc="-15" dirty="0">
                <a:uFill>
                  <a:solidFill>
                    <a:srgbClr val="000000"/>
                  </a:solidFill>
                </a:uFill>
                <a:latin typeface="Times New Roman"/>
                <a:cs typeface="Times New Roman"/>
              </a:rPr>
              <a:t> </a:t>
            </a:r>
            <a:r>
              <a:rPr u="sng" spc="-10" dirty="0">
                <a:uFill>
                  <a:solidFill>
                    <a:srgbClr val="000000"/>
                  </a:solidFill>
                </a:uFill>
              </a:rPr>
              <a:t>State</a:t>
            </a:r>
            <a:r>
              <a:rPr spc="-10" dirty="0"/>
              <a:t> </a:t>
            </a:r>
            <a:r>
              <a:rPr u="sng" spc="-10" dirty="0">
                <a:uFill>
                  <a:solidFill>
                    <a:srgbClr val="000000"/>
                  </a:solidFill>
                </a:uFill>
              </a:rPr>
              <a:t>Government</a:t>
            </a:r>
          </a:p>
          <a:p>
            <a:pPr marL="2103120" indent="-457200">
              <a:lnSpc>
                <a:spcPts val="2680"/>
              </a:lnSpc>
              <a:spcBef>
                <a:spcPts val="2560"/>
              </a:spcBef>
            </a:pPr>
            <a:r>
              <a:rPr b="1" dirty="0" smtClean="0">
                <a:latin typeface="Times New Roman"/>
                <a:cs typeface="Times New Roman"/>
              </a:rPr>
              <a:t>Integrated</a:t>
            </a:r>
            <a:r>
              <a:rPr b="1" spc="-35" dirty="0" smtClean="0">
                <a:latin typeface="Times New Roman"/>
                <a:cs typeface="Times New Roman"/>
              </a:rPr>
              <a:t> </a:t>
            </a:r>
            <a:r>
              <a:rPr b="1" dirty="0">
                <a:latin typeface="Times New Roman"/>
                <a:cs typeface="Times New Roman"/>
              </a:rPr>
              <a:t>GST</a:t>
            </a:r>
            <a:r>
              <a:rPr b="1" spc="-65" dirty="0">
                <a:latin typeface="Times New Roman"/>
                <a:cs typeface="Times New Roman"/>
              </a:rPr>
              <a:t> </a:t>
            </a:r>
            <a:r>
              <a:rPr b="1" dirty="0">
                <a:latin typeface="Times New Roman"/>
                <a:cs typeface="Times New Roman"/>
              </a:rPr>
              <a:t>(IGST) </a:t>
            </a:r>
            <a:r>
              <a:rPr dirty="0"/>
              <a:t>–</a:t>
            </a:r>
            <a:r>
              <a:rPr spc="-10" dirty="0"/>
              <a:t> </a:t>
            </a:r>
            <a:r>
              <a:rPr dirty="0"/>
              <a:t>Levy</a:t>
            </a:r>
            <a:r>
              <a:rPr spc="-10" dirty="0"/>
              <a:t> </a:t>
            </a:r>
            <a:r>
              <a:rPr dirty="0"/>
              <a:t>on</a:t>
            </a:r>
            <a:r>
              <a:rPr spc="-10" dirty="0"/>
              <a:t> </a:t>
            </a:r>
            <a:r>
              <a:rPr b="1" spc="-20" dirty="0">
                <a:latin typeface="Times New Roman"/>
                <a:cs typeface="Times New Roman"/>
              </a:rPr>
              <a:t>ALL</a:t>
            </a:r>
            <a:r>
              <a:rPr b="1" spc="-130" dirty="0">
                <a:latin typeface="Times New Roman"/>
                <a:cs typeface="Times New Roman"/>
              </a:rPr>
              <a:t> </a:t>
            </a:r>
            <a:r>
              <a:rPr b="1" spc="-20" dirty="0">
                <a:latin typeface="Times New Roman"/>
                <a:cs typeface="Times New Roman"/>
              </a:rPr>
              <a:t>inter-</a:t>
            </a:r>
            <a:r>
              <a:rPr b="1" dirty="0">
                <a:latin typeface="Times New Roman"/>
                <a:cs typeface="Times New Roman"/>
              </a:rPr>
              <a:t>State</a:t>
            </a:r>
            <a:r>
              <a:rPr b="1" spc="-45" dirty="0">
                <a:latin typeface="Times New Roman"/>
                <a:cs typeface="Times New Roman"/>
              </a:rPr>
              <a:t> </a:t>
            </a:r>
            <a:r>
              <a:rPr b="1" dirty="0">
                <a:latin typeface="Times New Roman"/>
                <a:cs typeface="Times New Roman"/>
              </a:rPr>
              <a:t>supplies</a:t>
            </a:r>
            <a:r>
              <a:rPr b="1" spc="-20" dirty="0">
                <a:latin typeface="Times New Roman"/>
                <a:cs typeface="Times New Roman"/>
              </a:rPr>
              <a:t> </a:t>
            </a:r>
            <a:r>
              <a:rPr b="1" spc="-25" dirty="0" smtClean="0">
                <a:latin typeface="Times New Roman"/>
                <a:cs typeface="Times New Roman"/>
              </a:rPr>
              <a:t>of</a:t>
            </a:r>
            <a:endParaRPr lang="en-US" b="1" spc="-25" dirty="0">
              <a:latin typeface="Times New Roman"/>
              <a:cs typeface="Times New Roman"/>
            </a:endParaRPr>
          </a:p>
          <a:p>
            <a:pPr marL="1874520">
              <a:lnSpc>
                <a:spcPts val="2680"/>
              </a:lnSpc>
              <a:spcBef>
                <a:spcPts val="2560"/>
              </a:spcBef>
            </a:pPr>
            <a:r>
              <a:rPr dirty="0" smtClean="0"/>
              <a:t>goods</a:t>
            </a:r>
            <a:r>
              <a:rPr spc="-10" dirty="0" smtClean="0"/>
              <a:t> </a:t>
            </a:r>
            <a:r>
              <a:rPr dirty="0"/>
              <a:t>and/</a:t>
            </a:r>
            <a:r>
              <a:rPr spc="-15" dirty="0"/>
              <a:t> </a:t>
            </a:r>
            <a:r>
              <a:rPr dirty="0"/>
              <a:t>or services,</a:t>
            </a:r>
            <a:r>
              <a:rPr spc="-20" dirty="0"/>
              <a:t> </a:t>
            </a:r>
            <a:r>
              <a:rPr dirty="0"/>
              <a:t>by</a:t>
            </a:r>
            <a:r>
              <a:rPr spc="5" dirty="0"/>
              <a:t> </a:t>
            </a:r>
            <a:r>
              <a:rPr u="sng" dirty="0">
                <a:uFill>
                  <a:solidFill>
                    <a:srgbClr val="000000"/>
                  </a:solidFill>
                </a:uFill>
              </a:rPr>
              <a:t>the</a:t>
            </a:r>
            <a:r>
              <a:rPr u="sng" spc="-10" dirty="0">
                <a:uFill>
                  <a:solidFill>
                    <a:srgbClr val="000000"/>
                  </a:solidFill>
                </a:uFill>
              </a:rPr>
              <a:t> </a:t>
            </a:r>
            <a:r>
              <a:rPr u="sng" dirty="0">
                <a:uFill>
                  <a:solidFill>
                    <a:srgbClr val="000000"/>
                  </a:solidFill>
                </a:uFill>
              </a:rPr>
              <a:t>Central</a:t>
            </a:r>
            <a:r>
              <a:rPr u="sng" spc="-5" dirty="0">
                <a:uFill>
                  <a:solidFill>
                    <a:srgbClr val="000000"/>
                  </a:solidFill>
                </a:uFill>
              </a:rPr>
              <a:t> </a:t>
            </a:r>
            <a:r>
              <a:rPr u="sng" spc="-10" dirty="0">
                <a:uFill>
                  <a:solidFill>
                    <a:srgbClr val="000000"/>
                  </a:solidFill>
                </a:uFill>
              </a:rPr>
              <a:t>Government</a:t>
            </a:r>
          </a:p>
        </p:txBody>
      </p:sp>
      <p:sp>
        <p:nvSpPr>
          <p:cNvPr id="26" name="object 26"/>
          <p:cNvSpPr txBox="1">
            <a:spLocks noGrp="1"/>
          </p:cNvSpPr>
          <p:nvPr>
            <p:ph type="ftr" sz="quarter" idx="4294967295"/>
          </p:nvPr>
        </p:nvSpPr>
        <p:spPr>
          <a:xfrm>
            <a:off x="0" y="0"/>
            <a:ext cx="0" cy="176330"/>
          </a:xfrm>
          <a:prstGeom prst="rect">
            <a:avLst/>
          </a:prstGeom>
        </p:spPr>
        <p:txBody>
          <a:bodyPr vert="horz" wrap="square" lIns="0" tIns="0" rIns="0" bIns="0" rtlCol="0">
            <a:spAutoFit/>
          </a:bodyPr>
          <a:lstStyle/>
          <a:p>
            <a:pPr marL="541020">
              <a:lnSpc>
                <a:spcPts val="1190"/>
              </a:lnSpc>
            </a:pPr>
            <a:endParaRPr spc="-20" dirty="0"/>
          </a:p>
        </p:txBody>
      </p:sp>
    </p:spTree>
    <p:extLst>
      <p:ext uri="{BB962C8B-B14F-4D97-AF65-F5344CB8AC3E}">
        <p14:creationId xmlns:p14="http://schemas.microsoft.com/office/powerpoint/2010/main" val="341794318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52322" y="156794"/>
            <a:ext cx="7522845" cy="574675"/>
          </a:xfrm>
          <a:prstGeom prst="rect">
            <a:avLst/>
          </a:prstGeom>
        </p:spPr>
        <p:txBody>
          <a:bodyPr vert="horz" wrap="square" lIns="0" tIns="12700" rIns="0" bIns="0" rtlCol="0">
            <a:spAutoFit/>
          </a:bodyPr>
          <a:lstStyle/>
          <a:p>
            <a:pPr marL="12700">
              <a:lnSpc>
                <a:spcPct val="100000"/>
              </a:lnSpc>
              <a:spcBef>
                <a:spcPts val="100"/>
              </a:spcBef>
            </a:pPr>
            <a:r>
              <a:rPr sz="3600" b="1" dirty="0">
                <a:latin typeface="Times New Roman"/>
                <a:cs typeface="Times New Roman"/>
              </a:rPr>
              <a:t>Levy</a:t>
            </a:r>
            <a:r>
              <a:rPr sz="3600" b="1" spc="-75" dirty="0">
                <a:latin typeface="Times New Roman"/>
                <a:cs typeface="Times New Roman"/>
              </a:rPr>
              <a:t> </a:t>
            </a:r>
            <a:r>
              <a:rPr sz="3600" b="1" dirty="0">
                <a:latin typeface="Times New Roman"/>
                <a:cs typeface="Times New Roman"/>
              </a:rPr>
              <a:t>of</a:t>
            </a:r>
            <a:r>
              <a:rPr sz="3600" b="1" spc="-45" dirty="0">
                <a:latin typeface="Times New Roman"/>
                <a:cs typeface="Times New Roman"/>
              </a:rPr>
              <a:t> </a:t>
            </a:r>
            <a:r>
              <a:rPr sz="3600" b="1" spc="-114" dirty="0">
                <a:latin typeface="Times New Roman"/>
                <a:cs typeface="Times New Roman"/>
              </a:rPr>
              <a:t>CGST,</a:t>
            </a:r>
            <a:r>
              <a:rPr sz="3600" b="1" spc="-85" dirty="0">
                <a:latin typeface="Times New Roman"/>
                <a:cs typeface="Times New Roman"/>
              </a:rPr>
              <a:t> </a:t>
            </a:r>
            <a:r>
              <a:rPr sz="3600" b="1" spc="-114" dirty="0">
                <a:latin typeface="Times New Roman"/>
                <a:cs typeface="Times New Roman"/>
              </a:rPr>
              <a:t>SGST,</a:t>
            </a:r>
            <a:r>
              <a:rPr sz="3600" b="1" spc="-80" dirty="0">
                <a:latin typeface="Times New Roman"/>
                <a:cs typeface="Times New Roman"/>
              </a:rPr>
              <a:t> </a:t>
            </a:r>
            <a:r>
              <a:rPr sz="3600" b="1" spc="-25" dirty="0">
                <a:latin typeface="Times New Roman"/>
                <a:cs typeface="Times New Roman"/>
              </a:rPr>
              <a:t>UTGST</a:t>
            </a:r>
            <a:r>
              <a:rPr sz="3600" b="1" spc="-100" dirty="0">
                <a:latin typeface="Times New Roman"/>
                <a:cs typeface="Times New Roman"/>
              </a:rPr>
              <a:t> </a:t>
            </a:r>
            <a:r>
              <a:rPr sz="3600" b="1" dirty="0">
                <a:latin typeface="Times New Roman"/>
                <a:cs typeface="Times New Roman"/>
              </a:rPr>
              <a:t>&amp;</a:t>
            </a:r>
            <a:r>
              <a:rPr sz="3600" b="1" spc="-50" dirty="0">
                <a:latin typeface="Times New Roman"/>
                <a:cs typeface="Times New Roman"/>
              </a:rPr>
              <a:t> </a:t>
            </a:r>
            <a:r>
              <a:rPr sz="3600" b="1" spc="-5" dirty="0">
                <a:latin typeface="Times New Roman"/>
                <a:cs typeface="Times New Roman"/>
              </a:rPr>
              <a:t>IGST</a:t>
            </a:r>
            <a:endParaRPr sz="3600">
              <a:latin typeface="Times New Roman"/>
              <a:cs typeface="Times New Roman"/>
            </a:endParaRPr>
          </a:p>
        </p:txBody>
      </p:sp>
      <p:pic>
        <p:nvPicPr>
          <p:cNvPr id="3" name="object 3"/>
          <p:cNvPicPr/>
          <p:nvPr/>
        </p:nvPicPr>
        <p:blipFill>
          <a:blip r:embed="rId2" cstate="print"/>
          <a:stretch>
            <a:fillRect/>
          </a:stretch>
        </p:blipFill>
        <p:spPr>
          <a:xfrm>
            <a:off x="2493264" y="1328927"/>
            <a:ext cx="1243584" cy="1383791"/>
          </a:xfrm>
          <a:prstGeom prst="rect">
            <a:avLst/>
          </a:prstGeom>
        </p:spPr>
      </p:pic>
      <p:sp>
        <p:nvSpPr>
          <p:cNvPr id="4" name="object 4"/>
          <p:cNvSpPr txBox="1"/>
          <p:nvPr/>
        </p:nvSpPr>
        <p:spPr>
          <a:xfrm>
            <a:off x="2281173" y="2940507"/>
            <a:ext cx="1005840" cy="634365"/>
          </a:xfrm>
          <a:prstGeom prst="rect">
            <a:avLst/>
          </a:prstGeom>
        </p:spPr>
        <p:txBody>
          <a:bodyPr vert="horz" wrap="square" lIns="0" tIns="12065" rIns="0" bIns="0" rtlCol="0">
            <a:spAutoFit/>
          </a:bodyPr>
          <a:lstStyle/>
          <a:p>
            <a:pPr marL="12700">
              <a:lnSpc>
                <a:spcPct val="100000"/>
              </a:lnSpc>
              <a:spcBef>
                <a:spcPts val="95"/>
              </a:spcBef>
            </a:pPr>
            <a:r>
              <a:rPr sz="2000" b="1" spc="-10" dirty="0">
                <a:latin typeface="Times New Roman"/>
                <a:cs typeface="Times New Roman"/>
              </a:rPr>
              <a:t>Foreign</a:t>
            </a:r>
            <a:endParaRPr sz="2000">
              <a:latin typeface="Times New Roman"/>
              <a:cs typeface="Times New Roman"/>
            </a:endParaRPr>
          </a:p>
          <a:p>
            <a:pPr marL="12700">
              <a:lnSpc>
                <a:spcPct val="100000"/>
              </a:lnSpc>
            </a:pPr>
            <a:r>
              <a:rPr sz="2000" b="1" spc="-50" dirty="0">
                <a:latin typeface="Times New Roman"/>
                <a:cs typeface="Times New Roman"/>
              </a:rPr>
              <a:t>Territory</a:t>
            </a:r>
            <a:endParaRPr sz="2000">
              <a:latin typeface="Times New Roman"/>
              <a:cs typeface="Times New Roman"/>
            </a:endParaRPr>
          </a:p>
        </p:txBody>
      </p:sp>
      <p:grpSp>
        <p:nvGrpSpPr>
          <p:cNvPr id="5" name="object 5"/>
          <p:cNvGrpSpPr/>
          <p:nvPr/>
        </p:nvGrpSpPr>
        <p:grpSpPr>
          <a:xfrm>
            <a:off x="6961631" y="950975"/>
            <a:ext cx="1719580" cy="1545590"/>
            <a:chOff x="6961631" y="950975"/>
            <a:chExt cx="1719580" cy="1545590"/>
          </a:xfrm>
        </p:grpSpPr>
        <p:pic>
          <p:nvPicPr>
            <p:cNvPr id="6" name="object 6"/>
            <p:cNvPicPr/>
            <p:nvPr/>
          </p:nvPicPr>
          <p:blipFill>
            <a:blip r:embed="rId3" cstate="print"/>
            <a:stretch>
              <a:fillRect/>
            </a:stretch>
          </p:blipFill>
          <p:spPr>
            <a:xfrm>
              <a:off x="6961631" y="1673351"/>
              <a:ext cx="545592" cy="822960"/>
            </a:xfrm>
            <a:prstGeom prst="rect">
              <a:avLst/>
            </a:prstGeom>
          </p:spPr>
        </p:pic>
        <p:sp>
          <p:nvSpPr>
            <p:cNvPr id="7" name="object 7"/>
            <p:cNvSpPr/>
            <p:nvPr/>
          </p:nvSpPr>
          <p:spPr>
            <a:xfrm>
              <a:off x="7071359" y="950975"/>
              <a:ext cx="1359535" cy="1511935"/>
            </a:xfrm>
            <a:custGeom>
              <a:avLst/>
              <a:gdLst/>
              <a:ahLst/>
              <a:cxnLst/>
              <a:rect l="l" t="t" r="r" b="b"/>
              <a:pathLst>
                <a:path w="1359534" h="1511935">
                  <a:moveTo>
                    <a:pt x="843280" y="968502"/>
                  </a:moveTo>
                  <a:lnTo>
                    <a:pt x="840232" y="919988"/>
                  </a:lnTo>
                  <a:lnTo>
                    <a:pt x="833501" y="871347"/>
                  </a:lnTo>
                  <a:lnTo>
                    <a:pt x="822833" y="822960"/>
                  </a:lnTo>
                  <a:lnTo>
                    <a:pt x="808355" y="775081"/>
                  </a:lnTo>
                  <a:lnTo>
                    <a:pt x="790067" y="727837"/>
                  </a:lnTo>
                  <a:lnTo>
                    <a:pt x="769112" y="684276"/>
                  </a:lnTo>
                  <a:lnTo>
                    <a:pt x="745363" y="643001"/>
                  </a:lnTo>
                  <a:lnTo>
                    <a:pt x="719074" y="604012"/>
                  </a:lnTo>
                  <a:lnTo>
                    <a:pt x="690372" y="567563"/>
                  </a:lnTo>
                  <a:lnTo>
                    <a:pt x="659257" y="533654"/>
                  </a:lnTo>
                  <a:lnTo>
                    <a:pt x="626237" y="502412"/>
                  </a:lnTo>
                  <a:lnTo>
                    <a:pt x="591185" y="473837"/>
                  </a:lnTo>
                  <a:lnTo>
                    <a:pt x="554482" y="447929"/>
                  </a:lnTo>
                  <a:lnTo>
                    <a:pt x="516255" y="424942"/>
                  </a:lnTo>
                  <a:lnTo>
                    <a:pt x="476631" y="404876"/>
                  </a:lnTo>
                  <a:lnTo>
                    <a:pt x="435737" y="387858"/>
                  </a:lnTo>
                  <a:lnTo>
                    <a:pt x="393954" y="373761"/>
                  </a:lnTo>
                  <a:lnTo>
                    <a:pt x="351155" y="362839"/>
                  </a:lnTo>
                  <a:lnTo>
                    <a:pt x="307848" y="355219"/>
                  </a:lnTo>
                  <a:lnTo>
                    <a:pt x="263906" y="350774"/>
                  </a:lnTo>
                  <a:lnTo>
                    <a:pt x="219710" y="349758"/>
                  </a:lnTo>
                  <a:lnTo>
                    <a:pt x="175387" y="352044"/>
                  </a:lnTo>
                  <a:lnTo>
                    <a:pt x="131064" y="358013"/>
                  </a:lnTo>
                  <a:lnTo>
                    <a:pt x="86868" y="367411"/>
                  </a:lnTo>
                  <a:lnTo>
                    <a:pt x="43180" y="380492"/>
                  </a:lnTo>
                  <a:lnTo>
                    <a:pt x="0" y="397256"/>
                  </a:lnTo>
                  <a:lnTo>
                    <a:pt x="67564" y="552577"/>
                  </a:lnTo>
                  <a:lnTo>
                    <a:pt x="114173" y="535686"/>
                  </a:lnTo>
                  <a:lnTo>
                    <a:pt x="161925" y="524764"/>
                  </a:lnTo>
                  <a:lnTo>
                    <a:pt x="210312" y="519684"/>
                  </a:lnTo>
                  <a:lnTo>
                    <a:pt x="258953" y="520446"/>
                  </a:lnTo>
                  <a:lnTo>
                    <a:pt x="307213" y="526923"/>
                  </a:lnTo>
                  <a:lnTo>
                    <a:pt x="354838" y="538988"/>
                  </a:lnTo>
                  <a:lnTo>
                    <a:pt x="401066" y="556641"/>
                  </a:lnTo>
                  <a:lnTo>
                    <a:pt x="445643" y="579755"/>
                  </a:lnTo>
                  <a:lnTo>
                    <a:pt x="487934" y="608203"/>
                  </a:lnTo>
                  <a:lnTo>
                    <a:pt x="527558" y="641858"/>
                  </a:lnTo>
                  <a:lnTo>
                    <a:pt x="560959" y="677164"/>
                  </a:lnTo>
                  <a:lnTo>
                    <a:pt x="590169" y="715137"/>
                  </a:lnTo>
                  <a:lnTo>
                    <a:pt x="615061" y="755269"/>
                  </a:lnTo>
                  <a:lnTo>
                    <a:pt x="635635" y="797306"/>
                  </a:lnTo>
                  <a:lnTo>
                    <a:pt x="651891" y="840740"/>
                  </a:lnTo>
                  <a:lnTo>
                    <a:pt x="663702" y="885317"/>
                  </a:lnTo>
                  <a:lnTo>
                    <a:pt x="671068" y="930656"/>
                  </a:lnTo>
                  <a:lnTo>
                    <a:pt x="674116" y="976249"/>
                  </a:lnTo>
                  <a:lnTo>
                    <a:pt x="672719" y="1021715"/>
                  </a:lnTo>
                  <a:lnTo>
                    <a:pt x="666750" y="1066800"/>
                  </a:lnTo>
                  <a:lnTo>
                    <a:pt x="656336" y="1110996"/>
                  </a:lnTo>
                  <a:lnTo>
                    <a:pt x="641350" y="1153922"/>
                  </a:lnTo>
                  <a:lnTo>
                    <a:pt x="621919" y="1195324"/>
                  </a:lnTo>
                  <a:lnTo>
                    <a:pt x="597789" y="1234694"/>
                  </a:lnTo>
                  <a:lnTo>
                    <a:pt x="569087" y="1271778"/>
                  </a:lnTo>
                  <a:lnTo>
                    <a:pt x="538353" y="1200658"/>
                  </a:lnTo>
                  <a:lnTo>
                    <a:pt x="459867" y="1454785"/>
                  </a:lnTo>
                  <a:lnTo>
                    <a:pt x="673481" y="1511554"/>
                  </a:lnTo>
                  <a:lnTo>
                    <a:pt x="641604" y="1438402"/>
                  </a:lnTo>
                  <a:lnTo>
                    <a:pt x="676910" y="1404747"/>
                  </a:lnTo>
                  <a:lnTo>
                    <a:pt x="708914" y="1368552"/>
                  </a:lnTo>
                  <a:lnTo>
                    <a:pt x="737616" y="1330198"/>
                  </a:lnTo>
                  <a:lnTo>
                    <a:pt x="763016" y="1289685"/>
                  </a:lnTo>
                  <a:lnTo>
                    <a:pt x="785114" y="1247394"/>
                  </a:lnTo>
                  <a:lnTo>
                    <a:pt x="803656" y="1203579"/>
                  </a:lnTo>
                  <a:lnTo>
                    <a:pt x="818769" y="1158367"/>
                  </a:lnTo>
                  <a:lnTo>
                    <a:pt x="830326" y="1112012"/>
                  </a:lnTo>
                  <a:lnTo>
                    <a:pt x="838200" y="1064768"/>
                  </a:lnTo>
                  <a:lnTo>
                    <a:pt x="842645" y="1016889"/>
                  </a:lnTo>
                  <a:lnTo>
                    <a:pt x="843280" y="968502"/>
                  </a:lnTo>
                  <a:close/>
                </a:path>
                <a:path w="1359534" h="1511935">
                  <a:moveTo>
                    <a:pt x="945388" y="336804"/>
                  </a:moveTo>
                  <a:lnTo>
                    <a:pt x="942340" y="324104"/>
                  </a:lnTo>
                  <a:lnTo>
                    <a:pt x="939038" y="315214"/>
                  </a:lnTo>
                  <a:lnTo>
                    <a:pt x="935736" y="310134"/>
                  </a:lnTo>
                  <a:lnTo>
                    <a:pt x="930656" y="310134"/>
                  </a:lnTo>
                  <a:lnTo>
                    <a:pt x="929259" y="311404"/>
                  </a:lnTo>
                  <a:lnTo>
                    <a:pt x="925957" y="316484"/>
                  </a:lnTo>
                  <a:lnTo>
                    <a:pt x="923798" y="319024"/>
                  </a:lnTo>
                  <a:lnTo>
                    <a:pt x="921131" y="322834"/>
                  </a:lnTo>
                  <a:lnTo>
                    <a:pt x="918337" y="325374"/>
                  </a:lnTo>
                  <a:lnTo>
                    <a:pt x="914908" y="329184"/>
                  </a:lnTo>
                  <a:lnTo>
                    <a:pt x="910844" y="331724"/>
                  </a:lnTo>
                  <a:lnTo>
                    <a:pt x="906653" y="335534"/>
                  </a:lnTo>
                  <a:lnTo>
                    <a:pt x="901319" y="338074"/>
                  </a:lnTo>
                  <a:lnTo>
                    <a:pt x="887603" y="343154"/>
                  </a:lnTo>
                  <a:lnTo>
                    <a:pt x="880745" y="344424"/>
                  </a:lnTo>
                  <a:lnTo>
                    <a:pt x="867410" y="344424"/>
                  </a:lnTo>
                  <a:lnTo>
                    <a:pt x="835025" y="316484"/>
                  </a:lnTo>
                  <a:lnTo>
                    <a:pt x="831596" y="311404"/>
                  </a:lnTo>
                  <a:lnTo>
                    <a:pt x="818515" y="269494"/>
                  </a:lnTo>
                  <a:lnTo>
                    <a:pt x="817753" y="259334"/>
                  </a:lnTo>
                  <a:lnTo>
                    <a:pt x="818261" y="252984"/>
                  </a:lnTo>
                  <a:lnTo>
                    <a:pt x="840105" y="218567"/>
                  </a:lnTo>
                  <a:lnTo>
                    <a:pt x="847344" y="216027"/>
                  </a:lnTo>
                  <a:lnTo>
                    <a:pt x="853821" y="213487"/>
                  </a:lnTo>
                  <a:lnTo>
                    <a:pt x="859663" y="212217"/>
                  </a:lnTo>
                  <a:lnTo>
                    <a:pt x="875030" y="212217"/>
                  </a:lnTo>
                  <a:lnTo>
                    <a:pt x="883285" y="214757"/>
                  </a:lnTo>
                  <a:lnTo>
                    <a:pt x="886714" y="214757"/>
                  </a:lnTo>
                  <a:lnTo>
                    <a:pt x="892302" y="217297"/>
                  </a:lnTo>
                  <a:lnTo>
                    <a:pt x="894334" y="217297"/>
                  </a:lnTo>
                  <a:lnTo>
                    <a:pt x="895731" y="216027"/>
                  </a:lnTo>
                  <a:lnTo>
                    <a:pt x="896620" y="216027"/>
                  </a:lnTo>
                  <a:lnTo>
                    <a:pt x="897255" y="214757"/>
                  </a:lnTo>
                  <a:lnTo>
                    <a:pt x="897636" y="214757"/>
                  </a:lnTo>
                  <a:lnTo>
                    <a:pt x="898144" y="213487"/>
                  </a:lnTo>
                  <a:lnTo>
                    <a:pt x="898398" y="209677"/>
                  </a:lnTo>
                  <a:lnTo>
                    <a:pt x="896239" y="202057"/>
                  </a:lnTo>
                  <a:lnTo>
                    <a:pt x="895096" y="199517"/>
                  </a:lnTo>
                  <a:lnTo>
                    <a:pt x="892429" y="191897"/>
                  </a:lnTo>
                  <a:lnTo>
                    <a:pt x="888619" y="185547"/>
                  </a:lnTo>
                  <a:lnTo>
                    <a:pt x="887095" y="184277"/>
                  </a:lnTo>
                  <a:lnTo>
                    <a:pt x="885825" y="184277"/>
                  </a:lnTo>
                  <a:lnTo>
                    <a:pt x="884047" y="183007"/>
                  </a:lnTo>
                  <a:lnTo>
                    <a:pt x="882396" y="183007"/>
                  </a:lnTo>
                  <a:lnTo>
                    <a:pt x="879602" y="181737"/>
                  </a:lnTo>
                  <a:lnTo>
                    <a:pt x="875792" y="181737"/>
                  </a:lnTo>
                  <a:lnTo>
                    <a:pt x="871982" y="180467"/>
                  </a:lnTo>
                  <a:lnTo>
                    <a:pt x="858901" y="180467"/>
                  </a:lnTo>
                  <a:lnTo>
                    <a:pt x="854202" y="181737"/>
                  </a:lnTo>
                  <a:lnTo>
                    <a:pt x="844296" y="183007"/>
                  </a:lnTo>
                  <a:lnTo>
                    <a:pt x="834263" y="185547"/>
                  </a:lnTo>
                  <a:lnTo>
                    <a:pt x="825373" y="190627"/>
                  </a:lnTo>
                  <a:lnTo>
                    <a:pt x="817118" y="194437"/>
                  </a:lnTo>
                  <a:lnTo>
                    <a:pt x="786765" y="226187"/>
                  </a:lnTo>
                  <a:lnTo>
                    <a:pt x="777367" y="270764"/>
                  </a:lnTo>
                  <a:lnTo>
                    <a:pt x="778002" y="279654"/>
                  </a:lnTo>
                  <a:lnTo>
                    <a:pt x="790829" y="324104"/>
                  </a:lnTo>
                  <a:lnTo>
                    <a:pt x="812927" y="357124"/>
                  </a:lnTo>
                  <a:lnTo>
                    <a:pt x="848614" y="378714"/>
                  </a:lnTo>
                  <a:lnTo>
                    <a:pt x="856742" y="379984"/>
                  </a:lnTo>
                  <a:lnTo>
                    <a:pt x="873760" y="379984"/>
                  </a:lnTo>
                  <a:lnTo>
                    <a:pt x="912749" y="368554"/>
                  </a:lnTo>
                  <a:lnTo>
                    <a:pt x="927100" y="359664"/>
                  </a:lnTo>
                  <a:lnTo>
                    <a:pt x="930783" y="355854"/>
                  </a:lnTo>
                  <a:lnTo>
                    <a:pt x="934466" y="353314"/>
                  </a:lnTo>
                  <a:lnTo>
                    <a:pt x="937387" y="350774"/>
                  </a:lnTo>
                  <a:lnTo>
                    <a:pt x="939800" y="346964"/>
                  </a:lnTo>
                  <a:lnTo>
                    <a:pt x="943483" y="343154"/>
                  </a:lnTo>
                  <a:lnTo>
                    <a:pt x="944118" y="340614"/>
                  </a:lnTo>
                  <a:lnTo>
                    <a:pt x="945134" y="338074"/>
                  </a:lnTo>
                  <a:lnTo>
                    <a:pt x="945388" y="336804"/>
                  </a:lnTo>
                  <a:close/>
                </a:path>
                <a:path w="1359534" h="1511935">
                  <a:moveTo>
                    <a:pt x="1116203" y="274574"/>
                  </a:moveTo>
                  <a:lnTo>
                    <a:pt x="1115695" y="270764"/>
                  </a:lnTo>
                  <a:lnTo>
                    <a:pt x="1087882" y="196977"/>
                  </a:lnTo>
                  <a:lnTo>
                    <a:pt x="1087120" y="194437"/>
                  </a:lnTo>
                  <a:lnTo>
                    <a:pt x="1086358" y="193167"/>
                  </a:lnTo>
                  <a:lnTo>
                    <a:pt x="1083183" y="189357"/>
                  </a:lnTo>
                  <a:lnTo>
                    <a:pt x="1081913" y="189357"/>
                  </a:lnTo>
                  <a:lnTo>
                    <a:pt x="1080643" y="188087"/>
                  </a:lnTo>
                  <a:lnTo>
                    <a:pt x="1073785" y="188087"/>
                  </a:lnTo>
                  <a:lnTo>
                    <a:pt x="1012952" y="210947"/>
                  </a:lnTo>
                  <a:lnTo>
                    <a:pt x="1012063" y="212217"/>
                  </a:lnTo>
                  <a:lnTo>
                    <a:pt x="1011428" y="212217"/>
                  </a:lnTo>
                  <a:lnTo>
                    <a:pt x="1010920" y="213487"/>
                  </a:lnTo>
                  <a:lnTo>
                    <a:pt x="1010539" y="213487"/>
                  </a:lnTo>
                  <a:lnTo>
                    <a:pt x="1010285" y="214757"/>
                  </a:lnTo>
                  <a:lnTo>
                    <a:pt x="1010285" y="218567"/>
                  </a:lnTo>
                  <a:lnTo>
                    <a:pt x="1010666" y="221107"/>
                  </a:lnTo>
                  <a:lnTo>
                    <a:pt x="1018159" y="237617"/>
                  </a:lnTo>
                  <a:lnTo>
                    <a:pt x="1021461" y="240157"/>
                  </a:lnTo>
                  <a:lnTo>
                    <a:pt x="1023239" y="238887"/>
                  </a:lnTo>
                  <a:lnTo>
                    <a:pt x="1057275" y="226187"/>
                  </a:lnTo>
                  <a:lnTo>
                    <a:pt x="1073023" y="268224"/>
                  </a:lnTo>
                  <a:lnTo>
                    <a:pt x="1070229" y="272034"/>
                  </a:lnTo>
                  <a:lnTo>
                    <a:pt x="1067054" y="274574"/>
                  </a:lnTo>
                  <a:lnTo>
                    <a:pt x="1059688" y="279654"/>
                  </a:lnTo>
                  <a:lnTo>
                    <a:pt x="1055878" y="280924"/>
                  </a:lnTo>
                  <a:lnTo>
                    <a:pt x="1043432" y="286004"/>
                  </a:lnTo>
                  <a:lnTo>
                    <a:pt x="1035304" y="287274"/>
                  </a:lnTo>
                  <a:lnTo>
                    <a:pt x="1019429" y="287274"/>
                  </a:lnTo>
                  <a:lnTo>
                    <a:pt x="982218" y="260604"/>
                  </a:lnTo>
                  <a:lnTo>
                    <a:pt x="966851" y="219837"/>
                  </a:lnTo>
                  <a:lnTo>
                    <a:pt x="966216" y="204597"/>
                  </a:lnTo>
                  <a:lnTo>
                    <a:pt x="967613" y="196977"/>
                  </a:lnTo>
                  <a:lnTo>
                    <a:pt x="993775" y="161417"/>
                  </a:lnTo>
                  <a:lnTo>
                    <a:pt x="1005840" y="156337"/>
                  </a:lnTo>
                  <a:lnTo>
                    <a:pt x="1013968" y="152527"/>
                  </a:lnTo>
                  <a:lnTo>
                    <a:pt x="1021461" y="151257"/>
                  </a:lnTo>
                  <a:lnTo>
                    <a:pt x="1035050" y="149987"/>
                  </a:lnTo>
                  <a:lnTo>
                    <a:pt x="1051433" y="149987"/>
                  </a:lnTo>
                  <a:lnTo>
                    <a:pt x="1055751" y="151257"/>
                  </a:lnTo>
                  <a:lnTo>
                    <a:pt x="1062355" y="152527"/>
                  </a:lnTo>
                  <a:lnTo>
                    <a:pt x="1064641" y="152527"/>
                  </a:lnTo>
                  <a:lnTo>
                    <a:pt x="1065784" y="151257"/>
                  </a:lnTo>
                  <a:lnTo>
                    <a:pt x="1067308" y="151257"/>
                  </a:lnTo>
                  <a:lnTo>
                    <a:pt x="1067689" y="149987"/>
                  </a:lnTo>
                  <a:lnTo>
                    <a:pt x="1068197" y="149987"/>
                  </a:lnTo>
                  <a:lnTo>
                    <a:pt x="1068324" y="146177"/>
                  </a:lnTo>
                  <a:lnTo>
                    <a:pt x="1063498" y="130937"/>
                  </a:lnTo>
                  <a:lnTo>
                    <a:pt x="1061974" y="127127"/>
                  </a:lnTo>
                  <a:lnTo>
                    <a:pt x="1059053" y="122047"/>
                  </a:lnTo>
                  <a:lnTo>
                    <a:pt x="1057529" y="120777"/>
                  </a:lnTo>
                  <a:lnTo>
                    <a:pt x="1055751" y="120777"/>
                  </a:lnTo>
                  <a:lnTo>
                    <a:pt x="1053973" y="119507"/>
                  </a:lnTo>
                  <a:lnTo>
                    <a:pt x="1051179" y="118237"/>
                  </a:lnTo>
                  <a:lnTo>
                    <a:pt x="1043559" y="118237"/>
                  </a:lnTo>
                  <a:lnTo>
                    <a:pt x="1038987" y="116967"/>
                  </a:lnTo>
                  <a:lnTo>
                    <a:pt x="1028319" y="118237"/>
                  </a:lnTo>
                  <a:lnTo>
                    <a:pt x="1022223" y="118237"/>
                  </a:lnTo>
                  <a:lnTo>
                    <a:pt x="1015492" y="119507"/>
                  </a:lnTo>
                  <a:lnTo>
                    <a:pt x="1008634" y="122047"/>
                  </a:lnTo>
                  <a:lnTo>
                    <a:pt x="1001268" y="123317"/>
                  </a:lnTo>
                  <a:lnTo>
                    <a:pt x="993521" y="125857"/>
                  </a:lnTo>
                  <a:lnTo>
                    <a:pt x="957326" y="147447"/>
                  </a:lnTo>
                  <a:lnTo>
                    <a:pt x="931418" y="185547"/>
                  </a:lnTo>
                  <a:lnTo>
                    <a:pt x="927100" y="217297"/>
                  </a:lnTo>
                  <a:lnTo>
                    <a:pt x="927481" y="224917"/>
                  </a:lnTo>
                  <a:lnTo>
                    <a:pt x="939546" y="266954"/>
                  </a:lnTo>
                  <a:lnTo>
                    <a:pt x="993013" y="317754"/>
                  </a:lnTo>
                  <a:lnTo>
                    <a:pt x="1010793" y="321564"/>
                  </a:lnTo>
                  <a:lnTo>
                    <a:pt x="1030097" y="321564"/>
                  </a:lnTo>
                  <a:lnTo>
                    <a:pt x="1040257" y="320294"/>
                  </a:lnTo>
                  <a:lnTo>
                    <a:pt x="1050671" y="317754"/>
                  </a:lnTo>
                  <a:lnTo>
                    <a:pt x="1061212" y="313944"/>
                  </a:lnTo>
                  <a:lnTo>
                    <a:pt x="1066165" y="312674"/>
                  </a:lnTo>
                  <a:lnTo>
                    <a:pt x="1106043" y="288544"/>
                  </a:lnTo>
                  <a:lnTo>
                    <a:pt x="1109218" y="286004"/>
                  </a:lnTo>
                  <a:lnTo>
                    <a:pt x="1114425" y="280924"/>
                  </a:lnTo>
                  <a:lnTo>
                    <a:pt x="1115822" y="278384"/>
                  </a:lnTo>
                  <a:lnTo>
                    <a:pt x="1116203" y="274574"/>
                  </a:lnTo>
                  <a:close/>
                </a:path>
                <a:path w="1359534" h="1511935">
                  <a:moveTo>
                    <a:pt x="1249680" y="202057"/>
                  </a:moveTo>
                  <a:lnTo>
                    <a:pt x="1230884" y="157607"/>
                  </a:lnTo>
                  <a:lnTo>
                    <a:pt x="1221105" y="151257"/>
                  </a:lnTo>
                  <a:lnTo>
                    <a:pt x="1216025" y="148717"/>
                  </a:lnTo>
                  <a:lnTo>
                    <a:pt x="1193546" y="143637"/>
                  </a:lnTo>
                  <a:lnTo>
                    <a:pt x="1187831" y="143637"/>
                  </a:lnTo>
                  <a:lnTo>
                    <a:pt x="1176655" y="142367"/>
                  </a:lnTo>
                  <a:lnTo>
                    <a:pt x="1165860" y="142367"/>
                  </a:lnTo>
                  <a:lnTo>
                    <a:pt x="1160907" y="141097"/>
                  </a:lnTo>
                  <a:lnTo>
                    <a:pt x="1156462" y="141097"/>
                  </a:lnTo>
                  <a:lnTo>
                    <a:pt x="1147953" y="138557"/>
                  </a:lnTo>
                  <a:lnTo>
                    <a:pt x="1144778" y="136017"/>
                  </a:lnTo>
                  <a:lnTo>
                    <a:pt x="1141476" y="134747"/>
                  </a:lnTo>
                  <a:lnTo>
                    <a:pt x="1139063" y="130937"/>
                  </a:lnTo>
                  <a:lnTo>
                    <a:pt x="1136523" y="124587"/>
                  </a:lnTo>
                  <a:lnTo>
                    <a:pt x="1136142" y="122047"/>
                  </a:lnTo>
                  <a:lnTo>
                    <a:pt x="1136269" y="115697"/>
                  </a:lnTo>
                  <a:lnTo>
                    <a:pt x="1136904" y="113157"/>
                  </a:lnTo>
                  <a:lnTo>
                    <a:pt x="1139698" y="108077"/>
                  </a:lnTo>
                  <a:lnTo>
                    <a:pt x="1141603" y="106807"/>
                  </a:lnTo>
                  <a:lnTo>
                    <a:pt x="1146810" y="101727"/>
                  </a:lnTo>
                  <a:lnTo>
                    <a:pt x="1159256" y="96647"/>
                  </a:lnTo>
                  <a:lnTo>
                    <a:pt x="1164209" y="95377"/>
                  </a:lnTo>
                  <a:lnTo>
                    <a:pt x="1185672" y="95377"/>
                  </a:lnTo>
                  <a:lnTo>
                    <a:pt x="1188847" y="96647"/>
                  </a:lnTo>
                  <a:lnTo>
                    <a:pt x="1198245" y="96647"/>
                  </a:lnTo>
                  <a:lnTo>
                    <a:pt x="1199007" y="95377"/>
                  </a:lnTo>
                  <a:lnTo>
                    <a:pt x="1199388" y="95377"/>
                  </a:lnTo>
                  <a:lnTo>
                    <a:pt x="1199896" y="92837"/>
                  </a:lnTo>
                  <a:lnTo>
                    <a:pt x="1199642" y="90297"/>
                  </a:lnTo>
                  <a:lnTo>
                    <a:pt x="1198753" y="86487"/>
                  </a:lnTo>
                  <a:lnTo>
                    <a:pt x="1196340" y="80010"/>
                  </a:lnTo>
                  <a:lnTo>
                    <a:pt x="1194689" y="74930"/>
                  </a:lnTo>
                  <a:lnTo>
                    <a:pt x="1191387" y="68580"/>
                  </a:lnTo>
                  <a:lnTo>
                    <a:pt x="1190752" y="68580"/>
                  </a:lnTo>
                  <a:lnTo>
                    <a:pt x="1189609" y="67310"/>
                  </a:lnTo>
                  <a:lnTo>
                    <a:pt x="1188720" y="67310"/>
                  </a:lnTo>
                  <a:lnTo>
                    <a:pt x="1187450" y="66040"/>
                  </a:lnTo>
                  <a:lnTo>
                    <a:pt x="1186180" y="66040"/>
                  </a:lnTo>
                  <a:lnTo>
                    <a:pt x="1183767" y="64770"/>
                  </a:lnTo>
                  <a:lnTo>
                    <a:pt x="1164971" y="64770"/>
                  </a:lnTo>
                  <a:lnTo>
                    <a:pt x="1160653" y="66040"/>
                  </a:lnTo>
                  <a:lnTo>
                    <a:pt x="1156081" y="66040"/>
                  </a:lnTo>
                  <a:lnTo>
                    <a:pt x="1142873" y="69850"/>
                  </a:lnTo>
                  <a:lnTo>
                    <a:pt x="1108837" y="92837"/>
                  </a:lnTo>
                  <a:lnTo>
                    <a:pt x="1097407" y="128397"/>
                  </a:lnTo>
                  <a:lnTo>
                    <a:pt x="1098677" y="136017"/>
                  </a:lnTo>
                  <a:lnTo>
                    <a:pt x="1104646" y="152527"/>
                  </a:lnTo>
                  <a:lnTo>
                    <a:pt x="1108202" y="158877"/>
                  </a:lnTo>
                  <a:lnTo>
                    <a:pt x="1112393" y="162687"/>
                  </a:lnTo>
                  <a:lnTo>
                    <a:pt x="1116711" y="167767"/>
                  </a:lnTo>
                  <a:lnTo>
                    <a:pt x="1121283" y="171577"/>
                  </a:lnTo>
                  <a:lnTo>
                    <a:pt x="1131443" y="176657"/>
                  </a:lnTo>
                  <a:lnTo>
                    <a:pt x="1153668" y="181737"/>
                  </a:lnTo>
                  <a:lnTo>
                    <a:pt x="1164971" y="181737"/>
                  </a:lnTo>
                  <a:lnTo>
                    <a:pt x="1170432" y="183007"/>
                  </a:lnTo>
                  <a:lnTo>
                    <a:pt x="1181100" y="183007"/>
                  </a:lnTo>
                  <a:lnTo>
                    <a:pt x="1185926" y="184277"/>
                  </a:lnTo>
                  <a:lnTo>
                    <a:pt x="1190371" y="184277"/>
                  </a:lnTo>
                  <a:lnTo>
                    <a:pt x="1198626" y="186817"/>
                  </a:lnTo>
                  <a:lnTo>
                    <a:pt x="1205357" y="191897"/>
                  </a:lnTo>
                  <a:lnTo>
                    <a:pt x="1211072" y="207137"/>
                  </a:lnTo>
                  <a:lnTo>
                    <a:pt x="1210691" y="212217"/>
                  </a:lnTo>
                  <a:lnTo>
                    <a:pt x="1176274" y="236347"/>
                  </a:lnTo>
                  <a:lnTo>
                    <a:pt x="1164844" y="237617"/>
                  </a:lnTo>
                  <a:lnTo>
                    <a:pt x="1159764" y="237617"/>
                  </a:lnTo>
                  <a:lnTo>
                    <a:pt x="1150874" y="236347"/>
                  </a:lnTo>
                  <a:lnTo>
                    <a:pt x="1147191" y="235077"/>
                  </a:lnTo>
                  <a:lnTo>
                    <a:pt x="1141349" y="233807"/>
                  </a:lnTo>
                  <a:lnTo>
                    <a:pt x="1139190" y="233807"/>
                  </a:lnTo>
                  <a:lnTo>
                    <a:pt x="1137920" y="235077"/>
                  </a:lnTo>
                  <a:lnTo>
                    <a:pt x="1136269" y="235077"/>
                  </a:lnTo>
                  <a:lnTo>
                    <a:pt x="1135253" y="237617"/>
                  </a:lnTo>
                  <a:lnTo>
                    <a:pt x="1135126" y="241427"/>
                  </a:lnTo>
                  <a:lnTo>
                    <a:pt x="1135888" y="245237"/>
                  </a:lnTo>
                  <a:lnTo>
                    <a:pt x="1138301" y="251714"/>
                  </a:lnTo>
                  <a:lnTo>
                    <a:pt x="1139952" y="256794"/>
                  </a:lnTo>
                  <a:lnTo>
                    <a:pt x="1144143" y="264414"/>
                  </a:lnTo>
                  <a:lnTo>
                    <a:pt x="1145667" y="265684"/>
                  </a:lnTo>
                  <a:lnTo>
                    <a:pt x="1148969" y="266954"/>
                  </a:lnTo>
                  <a:lnTo>
                    <a:pt x="1151509" y="266954"/>
                  </a:lnTo>
                  <a:lnTo>
                    <a:pt x="1154811" y="268224"/>
                  </a:lnTo>
                  <a:lnTo>
                    <a:pt x="1176528" y="268224"/>
                  </a:lnTo>
                  <a:lnTo>
                    <a:pt x="1193927" y="264414"/>
                  </a:lnTo>
                  <a:lnTo>
                    <a:pt x="1206881" y="259334"/>
                  </a:lnTo>
                  <a:lnTo>
                    <a:pt x="1213231" y="255524"/>
                  </a:lnTo>
                  <a:lnTo>
                    <a:pt x="1219200" y="252984"/>
                  </a:lnTo>
                  <a:lnTo>
                    <a:pt x="1224788" y="249047"/>
                  </a:lnTo>
                  <a:lnTo>
                    <a:pt x="1229741" y="243967"/>
                  </a:lnTo>
                  <a:lnTo>
                    <a:pt x="1234313" y="240157"/>
                  </a:lnTo>
                  <a:lnTo>
                    <a:pt x="1236345" y="237617"/>
                  </a:lnTo>
                  <a:lnTo>
                    <a:pt x="1249426" y="207137"/>
                  </a:lnTo>
                  <a:lnTo>
                    <a:pt x="1249680" y="202057"/>
                  </a:lnTo>
                  <a:close/>
                </a:path>
                <a:path w="1359534" h="1511935">
                  <a:moveTo>
                    <a:pt x="1359408" y="194437"/>
                  </a:moveTo>
                  <a:lnTo>
                    <a:pt x="1304671" y="48260"/>
                  </a:lnTo>
                  <a:lnTo>
                    <a:pt x="1349883" y="30480"/>
                  </a:lnTo>
                  <a:lnTo>
                    <a:pt x="1350645" y="30480"/>
                  </a:lnTo>
                  <a:lnTo>
                    <a:pt x="1351280" y="29210"/>
                  </a:lnTo>
                  <a:lnTo>
                    <a:pt x="1351788" y="29210"/>
                  </a:lnTo>
                  <a:lnTo>
                    <a:pt x="1352550" y="26670"/>
                  </a:lnTo>
                  <a:lnTo>
                    <a:pt x="1352677" y="24130"/>
                  </a:lnTo>
                  <a:lnTo>
                    <a:pt x="1350772" y="16510"/>
                  </a:lnTo>
                  <a:lnTo>
                    <a:pt x="1346708" y="6350"/>
                  </a:lnTo>
                  <a:lnTo>
                    <a:pt x="1343025" y="1270"/>
                  </a:lnTo>
                  <a:lnTo>
                    <a:pt x="1342136" y="1270"/>
                  </a:lnTo>
                  <a:lnTo>
                    <a:pt x="1340358" y="0"/>
                  </a:lnTo>
                  <a:lnTo>
                    <a:pt x="1339469" y="0"/>
                  </a:lnTo>
                  <a:lnTo>
                    <a:pt x="1338580" y="1270"/>
                  </a:lnTo>
                  <a:lnTo>
                    <a:pt x="1211580" y="48260"/>
                  </a:lnTo>
                  <a:lnTo>
                    <a:pt x="1210691" y="48260"/>
                  </a:lnTo>
                  <a:lnTo>
                    <a:pt x="1210056" y="49530"/>
                  </a:lnTo>
                  <a:lnTo>
                    <a:pt x="1209040" y="50800"/>
                  </a:lnTo>
                  <a:lnTo>
                    <a:pt x="1208786" y="52070"/>
                  </a:lnTo>
                  <a:lnTo>
                    <a:pt x="1208786" y="54610"/>
                  </a:lnTo>
                  <a:lnTo>
                    <a:pt x="1210818" y="62230"/>
                  </a:lnTo>
                  <a:lnTo>
                    <a:pt x="1214755" y="72390"/>
                  </a:lnTo>
                  <a:lnTo>
                    <a:pt x="1218438" y="77470"/>
                  </a:lnTo>
                  <a:lnTo>
                    <a:pt x="1219327" y="77470"/>
                  </a:lnTo>
                  <a:lnTo>
                    <a:pt x="1220089" y="78740"/>
                  </a:lnTo>
                  <a:lnTo>
                    <a:pt x="1221867" y="78740"/>
                  </a:lnTo>
                  <a:lnTo>
                    <a:pt x="1267841" y="60960"/>
                  </a:lnTo>
                  <a:lnTo>
                    <a:pt x="1322197" y="207137"/>
                  </a:lnTo>
                  <a:lnTo>
                    <a:pt x="1322578" y="207137"/>
                  </a:lnTo>
                  <a:lnTo>
                    <a:pt x="1323213" y="208407"/>
                  </a:lnTo>
                  <a:lnTo>
                    <a:pt x="1324991" y="209677"/>
                  </a:lnTo>
                  <a:lnTo>
                    <a:pt x="1331341" y="209677"/>
                  </a:lnTo>
                  <a:lnTo>
                    <a:pt x="1333754" y="208407"/>
                  </a:lnTo>
                  <a:lnTo>
                    <a:pt x="1336294" y="208407"/>
                  </a:lnTo>
                  <a:lnTo>
                    <a:pt x="1349248" y="203327"/>
                  </a:lnTo>
                  <a:lnTo>
                    <a:pt x="1353820" y="200787"/>
                  </a:lnTo>
                  <a:lnTo>
                    <a:pt x="1356741" y="198247"/>
                  </a:lnTo>
                  <a:lnTo>
                    <a:pt x="1358011" y="198247"/>
                  </a:lnTo>
                  <a:lnTo>
                    <a:pt x="1358773" y="196977"/>
                  </a:lnTo>
                  <a:lnTo>
                    <a:pt x="1359408" y="194437"/>
                  </a:lnTo>
                  <a:close/>
                </a:path>
              </a:pathLst>
            </a:custGeom>
            <a:solidFill>
              <a:srgbClr val="FF0000"/>
            </a:solidFill>
          </p:spPr>
          <p:txBody>
            <a:bodyPr wrap="square" lIns="0" tIns="0" rIns="0" bIns="0" rtlCol="0"/>
            <a:lstStyle/>
            <a:p>
              <a:endParaRPr/>
            </a:p>
          </p:txBody>
        </p:sp>
        <p:sp>
          <p:nvSpPr>
            <p:cNvPr id="8" name="object 8"/>
            <p:cNvSpPr/>
            <p:nvPr/>
          </p:nvSpPr>
          <p:spPr>
            <a:xfrm>
              <a:off x="7071359" y="1301495"/>
              <a:ext cx="844550" cy="1160780"/>
            </a:xfrm>
            <a:custGeom>
              <a:avLst/>
              <a:gdLst/>
              <a:ahLst/>
              <a:cxnLst/>
              <a:rect l="l" t="t" r="r" b="b"/>
              <a:pathLst>
                <a:path w="844550" h="1160780">
                  <a:moveTo>
                    <a:pt x="0" y="47498"/>
                  </a:moveTo>
                  <a:lnTo>
                    <a:pt x="43180" y="30733"/>
                  </a:lnTo>
                  <a:lnTo>
                    <a:pt x="86995" y="17652"/>
                  </a:lnTo>
                  <a:lnTo>
                    <a:pt x="131191" y="8254"/>
                  </a:lnTo>
                  <a:lnTo>
                    <a:pt x="175514" y="2412"/>
                  </a:lnTo>
                  <a:lnTo>
                    <a:pt x="219964" y="0"/>
                  </a:lnTo>
                  <a:lnTo>
                    <a:pt x="264160" y="1015"/>
                  </a:lnTo>
                  <a:lnTo>
                    <a:pt x="308101" y="5461"/>
                  </a:lnTo>
                  <a:lnTo>
                    <a:pt x="351536" y="13207"/>
                  </a:lnTo>
                  <a:lnTo>
                    <a:pt x="394335" y="24002"/>
                  </a:lnTo>
                  <a:lnTo>
                    <a:pt x="436245" y="38100"/>
                  </a:lnTo>
                  <a:lnTo>
                    <a:pt x="477139" y="55117"/>
                  </a:lnTo>
                  <a:lnTo>
                    <a:pt x="516763" y="75183"/>
                  </a:lnTo>
                  <a:lnTo>
                    <a:pt x="555117" y="98170"/>
                  </a:lnTo>
                  <a:lnTo>
                    <a:pt x="591820" y="123951"/>
                  </a:lnTo>
                  <a:lnTo>
                    <a:pt x="626872" y="152526"/>
                  </a:lnTo>
                  <a:lnTo>
                    <a:pt x="660019" y="183768"/>
                  </a:lnTo>
                  <a:lnTo>
                    <a:pt x="691007" y="217677"/>
                  </a:lnTo>
                  <a:lnTo>
                    <a:pt x="719836" y="254126"/>
                  </a:lnTo>
                  <a:lnTo>
                    <a:pt x="746125" y="292988"/>
                  </a:lnTo>
                  <a:lnTo>
                    <a:pt x="769874" y="334263"/>
                  </a:lnTo>
                  <a:lnTo>
                    <a:pt x="790829" y="377825"/>
                  </a:lnTo>
                  <a:lnTo>
                    <a:pt x="809244" y="425068"/>
                  </a:lnTo>
                  <a:lnTo>
                    <a:pt x="823722" y="472820"/>
                  </a:lnTo>
                  <a:lnTo>
                    <a:pt x="834263" y="521207"/>
                  </a:lnTo>
                  <a:lnTo>
                    <a:pt x="841121" y="569721"/>
                  </a:lnTo>
                  <a:lnTo>
                    <a:pt x="844169" y="618236"/>
                  </a:lnTo>
                  <a:lnTo>
                    <a:pt x="843534" y="666623"/>
                  </a:lnTo>
                  <a:lnTo>
                    <a:pt x="839089" y="714501"/>
                  </a:lnTo>
                  <a:lnTo>
                    <a:pt x="831088" y="761618"/>
                  </a:lnTo>
                  <a:lnTo>
                    <a:pt x="819531" y="807974"/>
                  </a:lnTo>
                  <a:lnTo>
                    <a:pt x="804418" y="853186"/>
                  </a:lnTo>
                  <a:lnTo>
                    <a:pt x="785876" y="896874"/>
                  </a:lnTo>
                  <a:lnTo>
                    <a:pt x="763905" y="939164"/>
                  </a:lnTo>
                  <a:lnTo>
                    <a:pt x="738378" y="979551"/>
                  </a:lnTo>
                  <a:lnTo>
                    <a:pt x="709676" y="1017904"/>
                  </a:lnTo>
                  <a:lnTo>
                    <a:pt x="677545" y="1054100"/>
                  </a:lnTo>
                  <a:lnTo>
                    <a:pt x="642239" y="1087754"/>
                  </a:lnTo>
                  <a:lnTo>
                    <a:pt x="674116" y="1160779"/>
                  </a:lnTo>
                  <a:lnTo>
                    <a:pt x="460375" y="1104138"/>
                  </a:lnTo>
                  <a:lnTo>
                    <a:pt x="538861" y="850264"/>
                  </a:lnTo>
                  <a:lnTo>
                    <a:pt x="569722" y="921257"/>
                  </a:lnTo>
                  <a:lnTo>
                    <a:pt x="598424" y="884301"/>
                  </a:lnTo>
                  <a:lnTo>
                    <a:pt x="622554" y="844930"/>
                  </a:lnTo>
                  <a:lnTo>
                    <a:pt x="642112" y="803528"/>
                  </a:lnTo>
                  <a:lnTo>
                    <a:pt x="656971" y="760602"/>
                  </a:lnTo>
                  <a:lnTo>
                    <a:pt x="667512" y="716406"/>
                  </a:lnTo>
                  <a:lnTo>
                    <a:pt x="673354" y="671449"/>
                  </a:lnTo>
                  <a:lnTo>
                    <a:pt x="674878" y="625982"/>
                  </a:lnTo>
                  <a:lnTo>
                    <a:pt x="671830" y="580389"/>
                  </a:lnTo>
                  <a:lnTo>
                    <a:pt x="664337" y="535177"/>
                  </a:lnTo>
                  <a:lnTo>
                    <a:pt x="652526" y="490600"/>
                  </a:lnTo>
                  <a:lnTo>
                    <a:pt x="636270" y="447166"/>
                  </a:lnTo>
                  <a:lnTo>
                    <a:pt x="615696" y="405256"/>
                  </a:lnTo>
                  <a:lnTo>
                    <a:pt x="590804" y="365125"/>
                  </a:lnTo>
                  <a:lnTo>
                    <a:pt x="561594" y="327151"/>
                  </a:lnTo>
                  <a:lnTo>
                    <a:pt x="528066" y="291845"/>
                  </a:lnTo>
                  <a:lnTo>
                    <a:pt x="488442" y="258190"/>
                  </a:lnTo>
                  <a:lnTo>
                    <a:pt x="446024" y="229742"/>
                  </a:lnTo>
                  <a:lnTo>
                    <a:pt x="401447" y="206755"/>
                  </a:lnTo>
                  <a:lnTo>
                    <a:pt x="355219" y="189102"/>
                  </a:lnTo>
                  <a:lnTo>
                    <a:pt x="307594" y="177037"/>
                  </a:lnTo>
                  <a:lnTo>
                    <a:pt x="259207" y="170561"/>
                  </a:lnTo>
                  <a:lnTo>
                    <a:pt x="210566" y="169799"/>
                  </a:lnTo>
                  <a:lnTo>
                    <a:pt x="162051" y="174878"/>
                  </a:lnTo>
                  <a:lnTo>
                    <a:pt x="114300" y="185800"/>
                  </a:lnTo>
                  <a:lnTo>
                    <a:pt x="67564" y="202691"/>
                  </a:lnTo>
                  <a:lnTo>
                    <a:pt x="0" y="47498"/>
                  </a:lnTo>
                  <a:close/>
                </a:path>
              </a:pathLst>
            </a:custGeom>
            <a:ln w="12191">
              <a:solidFill>
                <a:srgbClr val="FF0000"/>
              </a:solidFill>
            </a:ln>
          </p:spPr>
          <p:txBody>
            <a:bodyPr wrap="square" lIns="0" tIns="0" rIns="0" bIns="0" rtlCol="0"/>
            <a:lstStyle/>
            <a:p>
              <a:endParaRPr/>
            </a:p>
          </p:txBody>
        </p:sp>
        <p:pic>
          <p:nvPicPr>
            <p:cNvPr id="9" name="object 9"/>
            <p:cNvPicPr/>
            <p:nvPr/>
          </p:nvPicPr>
          <p:blipFill>
            <a:blip r:embed="rId4" cstate="print"/>
            <a:stretch>
              <a:fillRect/>
            </a:stretch>
          </p:blipFill>
          <p:spPr>
            <a:xfrm>
              <a:off x="8214359" y="1435607"/>
              <a:ext cx="134111" cy="140208"/>
            </a:xfrm>
            <a:prstGeom prst="rect">
              <a:avLst/>
            </a:prstGeom>
          </p:spPr>
        </p:pic>
        <p:sp>
          <p:nvSpPr>
            <p:cNvPr id="10" name="object 10"/>
            <p:cNvSpPr/>
            <p:nvPr/>
          </p:nvSpPr>
          <p:spPr>
            <a:xfrm>
              <a:off x="8101584" y="1642871"/>
              <a:ext cx="579120" cy="384175"/>
            </a:xfrm>
            <a:custGeom>
              <a:avLst/>
              <a:gdLst/>
              <a:ahLst/>
              <a:cxnLst/>
              <a:rect l="l" t="t" r="r" b="b"/>
              <a:pathLst>
                <a:path w="579120" h="384175">
                  <a:moveTo>
                    <a:pt x="152400" y="319659"/>
                  </a:moveTo>
                  <a:lnTo>
                    <a:pt x="137795" y="279146"/>
                  </a:lnTo>
                  <a:lnTo>
                    <a:pt x="96139" y="260223"/>
                  </a:lnTo>
                  <a:lnTo>
                    <a:pt x="84836" y="260223"/>
                  </a:lnTo>
                  <a:lnTo>
                    <a:pt x="73914" y="258953"/>
                  </a:lnTo>
                  <a:lnTo>
                    <a:pt x="63627" y="258953"/>
                  </a:lnTo>
                  <a:lnTo>
                    <a:pt x="54483" y="256413"/>
                  </a:lnTo>
                  <a:lnTo>
                    <a:pt x="50673" y="255143"/>
                  </a:lnTo>
                  <a:lnTo>
                    <a:pt x="47371" y="252603"/>
                  </a:lnTo>
                  <a:lnTo>
                    <a:pt x="44069" y="251460"/>
                  </a:lnTo>
                  <a:lnTo>
                    <a:pt x="41656" y="247650"/>
                  </a:lnTo>
                  <a:lnTo>
                    <a:pt x="39243" y="241300"/>
                  </a:lnTo>
                  <a:lnTo>
                    <a:pt x="38735" y="238760"/>
                  </a:lnTo>
                  <a:lnTo>
                    <a:pt x="38862" y="232410"/>
                  </a:lnTo>
                  <a:lnTo>
                    <a:pt x="39624" y="229870"/>
                  </a:lnTo>
                  <a:lnTo>
                    <a:pt x="42291" y="224917"/>
                  </a:lnTo>
                  <a:lnTo>
                    <a:pt x="44323" y="223647"/>
                  </a:lnTo>
                  <a:lnTo>
                    <a:pt x="49530" y="218567"/>
                  </a:lnTo>
                  <a:lnTo>
                    <a:pt x="56769" y="216027"/>
                  </a:lnTo>
                  <a:lnTo>
                    <a:pt x="61849" y="213487"/>
                  </a:lnTo>
                  <a:lnTo>
                    <a:pt x="66802" y="212217"/>
                  </a:lnTo>
                  <a:lnTo>
                    <a:pt x="88265" y="212217"/>
                  </a:lnTo>
                  <a:lnTo>
                    <a:pt x="91567" y="213487"/>
                  </a:lnTo>
                  <a:lnTo>
                    <a:pt x="100838" y="213487"/>
                  </a:lnTo>
                  <a:lnTo>
                    <a:pt x="101600" y="212217"/>
                  </a:lnTo>
                  <a:lnTo>
                    <a:pt x="102362" y="210947"/>
                  </a:lnTo>
                  <a:lnTo>
                    <a:pt x="102235" y="207137"/>
                  </a:lnTo>
                  <a:lnTo>
                    <a:pt x="101346" y="203454"/>
                  </a:lnTo>
                  <a:lnTo>
                    <a:pt x="98171" y="194564"/>
                  </a:lnTo>
                  <a:lnTo>
                    <a:pt x="97282" y="193294"/>
                  </a:lnTo>
                  <a:lnTo>
                    <a:pt x="96647" y="190754"/>
                  </a:lnTo>
                  <a:lnTo>
                    <a:pt x="94615" y="186944"/>
                  </a:lnTo>
                  <a:lnTo>
                    <a:pt x="93980" y="186944"/>
                  </a:lnTo>
                  <a:lnTo>
                    <a:pt x="93345" y="185674"/>
                  </a:lnTo>
                  <a:lnTo>
                    <a:pt x="92202" y="184404"/>
                  </a:lnTo>
                  <a:lnTo>
                    <a:pt x="91313" y="184404"/>
                  </a:lnTo>
                  <a:lnTo>
                    <a:pt x="90043" y="183134"/>
                  </a:lnTo>
                  <a:lnTo>
                    <a:pt x="88773" y="183134"/>
                  </a:lnTo>
                  <a:lnTo>
                    <a:pt x="86487" y="181864"/>
                  </a:lnTo>
                  <a:lnTo>
                    <a:pt x="67564" y="181864"/>
                  </a:lnTo>
                  <a:lnTo>
                    <a:pt x="58801" y="184404"/>
                  </a:lnTo>
                  <a:lnTo>
                    <a:pt x="54229" y="184404"/>
                  </a:lnTo>
                  <a:lnTo>
                    <a:pt x="49784" y="185674"/>
                  </a:lnTo>
                  <a:lnTo>
                    <a:pt x="16637" y="204597"/>
                  </a:lnTo>
                  <a:lnTo>
                    <a:pt x="0" y="245110"/>
                  </a:lnTo>
                  <a:lnTo>
                    <a:pt x="1270" y="252603"/>
                  </a:lnTo>
                  <a:lnTo>
                    <a:pt x="7366" y="269113"/>
                  </a:lnTo>
                  <a:lnTo>
                    <a:pt x="10795" y="275463"/>
                  </a:lnTo>
                  <a:lnTo>
                    <a:pt x="15113" y="279146"/>
                  </a:lnTo>
                  <a:lnTo>
                    <a:pt x="19304" y="284226"/>
                  </a:lnTo>
                  <a:lnTo>
                    <a:pt x="24003" y="288036"/>
                  </a:lnTo>
                  <a:lnTo>
                    <a:pt x="34036" y="293116"/>
                  </a:lnTo>
                  <a:lnTo>
                    <a:pt x="56261" y="298196"/>
                  </a:lnTo>
                  <a:lnTo>
                    <a:pt x="61976" y="298196"/>
                  </a:lnTo>
                  <a:lnTo>
                    <a:pt x="67564" y="299466"/>
                  </a:lnTo>
                  <a:lnTo>
                    <a:pt x="83693" y="299466"/>
                  </a:lnTo>
                  <a:lnTo>
                    <a:pt x="88519" y="300609"/>
                  </a:lnTo>
                  <a:lnTo>
                    <a:pt x="92964" y="300609"/>
                  </a:lnTo>
                  <a:lnTo>
                    <a:pt x="97409" y="301879"/>
                  </a:lnTo>
                  <a:lnTo>
                    <a:pt x="101346" y="304419"/>
                  </a:lnTo>
                  <a:lnTo>
                    <a:pt x="104648" y="305689"/>
                  </a:lnTo>
                  <a:lnTo>
                    <a:pt x="113792" y="322199"/>
                  </a:lnTo>
                  <a:lnTo>
                    <a:pt x="113284" y="328422"/>
                  </a:lnTo>
                  <a:lnTo>
                    <a:pt x="91948" y="348615"/>
                  </a:lnTo>
                  <a:lnTo>
                    <a:pt x="85090" y="351155"/>
                  </a:lnTo>
                  <a:lnTo>
                    <a:pt x="78867" y="352425"/>
                  </a:lnTo>
                  <a:lnTo>
                    <a:pt x="67437" y="353695"/>
                  </a:lnTo>
                  <a:lnTo>
                    <a:pt x="62357" y="353695"/>
                  </a:lnTo>
                  <a:lnTo>
                    <a:pt x="57912" y="352425"/>
                  </a:lnTo>
                  <a:lnTo>
                    <a:pt x="53594" y="352425"/>
                  </a:lnTo>
                  <a:lnTo>
                    <a:pt x="49911" y="351155"/>
                  </a:lnTo>
                  <a:lnTo>
                    <a:pt x="43942" y="351155"/>
                  </a:lnTo>
                  <a:lnTo>
                    <a:pt x="41910" y="349885"/>
                  </a:lnTo>
                  <a:lnTo>
                    <a:pt x="40513" y="351155"/>
                  </a:lnTo>
                  <a:lnTo>
                    <a:pt x="38862" y="351155"/>
                  </a:lnTo>
                  <a:lnTo>
                    <a:pt x="37846" y="353695"/>
                  </a:lnTo>
                  <a:lnTo>
                    <a:pt x="37719" y="357505"/>
                  </a:lnTo>
                  <a:lnTo>
                    <a:pt x="38608" y="361315"/>
                  </a:lnTo>
                  <a:lnTo>
                    <a:pt x="39878" y="365125"/>
                  </a:lnTo>
                  <a:lnTo>
                    <a:pt x="41021" y="367665"/>
                  </a:lnTo>
                  <a:lnTo>
                    <a:pt x="42545" y="372618"/>
                  </a:lnTo>
                  <a:lnTo>
                    <a:pt x="45466" y="377698"/>
                  </a:lnTo>
                  <a:lnTo>
                    <a:pt x="46736" y="380238"/>
                  </a:lnTo>
                  <a:lnTo>
                    <a:pt x="48260" y="381508"/>
                  </a:lnTo>
                  <a:lnTo>
                    <a:pt x="51562" y="382778"/>
                  </a:lnTo>
                  <a:lnTo>
                    <a:pt x="54102" y="382778"/>
                  </a:lnTo>
                  <a:lnTo>
                    <a:pt x="57404" y="384048"/>
                  </a:lnTo>
                  <a:lnTo>
                    <a:pt x="79248" y="384048"/>
                  </a:lnTo>
                  <a:lnTo>
                    <a:pt x="96647" y="380238"/>
                  </a:lnTo>
                  <a:lnTo>
                    <a:pt x="115824" y="372618"/>
                  </a:lnTo>
                  <a:lnTo>
                    <a:pt x="121793" y="368935"/>
                  </a:lnTo>
                  <a:lnTo>
                    <a:pt x="127381" y="365125"/>
                  </a:lnTo>
                  <a:lnTo>
                    <a:pt x="132461" y="360045"/>
                  </a:lnTo>
                  <a:lnTo>
                    <a:pt x="137033" y="356235"/>
                  </a:lnTo>
                  <a:lnTo>
                    <a:pt x="139065" y="353695"/>
                  </a:lnTo>
                  <a:lnTo>
                    <a:pt x="152400" y="319659"/>
                  </a:lnTo>
                  <a:close/>
                </a:path>
                <a:path w="579120" h="384175">
                  <a:moveTo>
                    <a:pt x="335661" y="271653"/>
                  </a:moveTo>
                  <a:lnTo>
                    <a:pt x="335280" y="269113"/>
                  </a:lnTo>
                  <a:lnTo>
                    <a:pt x="318516" y="224917"/>
                  </a:lnTo>
                  <a:lnTo>
                    <a:pt x="307467" y="195834"/>
                  </a:lnTo>
                  <a:lnTo>
                    <a:pt x="306705" y="193294"/>
                  </a:lnTo>
                  <a:lnTo>
                    <a:pt x="303911" y="189484"/>
                  </a:lnTo>
                  <a:lnTo>
                    <a:pt x="302768" y="188214"/>
                  </a:lnTo>
                  <a:lnTo>
                    <a:pt x="300228" y="186944"/>
                  </a:lnTo>
                  <a:lnTo>
                    <a:pt x="293243" y="186944"/>
                  </a:lnTo>
                  <a:lnTo>
                    <a:pt x="232410" y="209677"/>
                  </a:lnTo>
                  <a:lnTo>
                    <a:pt x="231521" y="209677"/>
                  </a:lnTo>
                  <a:lnTo>
                    <a:pt x="230886" y="210947"/>
                  </a:lnTo>
                  <a:lnTo>
                    <a:pt x="230378" y="210947"/>
                  </a:lnTo>
                  <a:lnTo>
                    <a:pt x="229743" y="213487"/>
                  </a:lnTo>
                  <a:lnTo>
                    <a:pt x="229743" y="217297"/>
                  </a:lnTo>
                  <a:lnTo>
                    <a:pt x="231267" y="223647"/>
                  </a:lnTo>
                  <a:lnTo>
                    <a:pt x="234188" y="231140"/>
                  </a:lnTo>
                  <a:lnTo>
                    <a:pt x="237617" y="236220"/>
                  </a:lnTo>
                  <a:lnTo>
                    <a:pt x="239395" y="237490"/>
                  </a:lnTo>
                  <a:lnTo>
                    <a:pt x="242697" y="237490"/>
                  </a:lnTo>
                  <a:lnTo>
                    <a:pt x="276860" y="224917"/>
                  </a:lnTo>
                  <a:lnTo>
                    <a:pt x="292481" y="266573"/>
                  </a:lnTo>
                  <a:lnTo>
                    <a:pt x="289814" y="269113"/>
                  </a:lnTo>
                  <a:lnTo>
                    <a:pt x="286639" y="272923"/>
                  </a:lnTo>
                  <a:lnTo>
                    <a:pt x="279273" y="276606"/>
                  </a:lnTo>
                  <a:lnTo>
                    <a:pt x="275463" y="279146"/>
                  </a:lnTo>
                  <a:lnTo>
                    <a:pt x="271272" y="280416"/>
                  </a:lnTo>
                  <a:lnTo>
                    <a:pt x="263017" y="284226"/>
                  </a:lnTo>
                  <a:lnTo>
                    <a:pt x="254762" y="285496"/>
                  </a:lnTo>
                  <a:lnTo>
                    <a:pt x="238887" y="285496"/>
                  </a:lnTo>
                  <a:lnTo>
                    <a:pt x="231521" y="282956"/>
                  </a:lnTo>
                  <a:lnTo>
                    <a:pt x="224663" y="279146"/>
                  </a:lnTo>
                  <a:lnTo>
                    <a:pt x="217678" y="276606"/>
                  </a:lnTo>
                  <a:lnTo>
                    <a:pt x="186055" y="213487"/>
                  </a:lnTo>
                  <a:lnTo>
                    <a:pt x="185674" y="203454"/>
                  </a:lnTo>
                  <a:lnTo>
                    <a:pt x="187071" y="194564"/>
                  </a:lnTo>
                  <a:lnTo>
                    <a:pt x="189992" y="188214"/>
                  </a:lnTo>
                  <a:lnTo>
                    <a:pt x="192913" y="180594"/>
                  </a:lnTo>
                  <a:lnTo>
                    <a:pt x="225298" y="155448"/>
                  </a:lnTo>
                  <a:lnTo>
                    <a:pt x="233553" y="151638"/>
                  </a:lnTo>
                  <a:lnTo>
                    <a:pt x="241046" y="150368"/>
                  </a:lnTo>
                  <a:lnTo>
                    <a:pt x="254635" y="149098"/>
                  </a:lnTo>
                  <a:lnTo>
                    <a:pt x="275209" y="149098"/>
                  </a:lnTo>
                  <a:lnTo>
                    <a:pt x="278511" y="150368"/>
                  </a:lnTo>
                  <a:lnTo>
                    <a:pt x="286258" y="150368"/>
                  </a:lnTo>
                  <a:lnTo>
                    <a:pt x="286766" y="149098"/>
                  </a:lnTo>
                  <a:lnTo>
                    <a:pt x="287655" y="149098"/>
                  </a:lnTo>
                  <a:lnTo>
                    <a:pt x="287909" y="147828"/>
                  </a:lnTo>
                  <a:lnTo>
                    <a:pt x="284861" y="133858"/>
                  </a:lnTo>
                  <a:lnTo>
                    <a:pt x="283083" y="128905"/>
                  </a:lnTo>
                  <a:lnTo>
                    <a:pt x="278638" y="121285"/>
                  </a:lnTo>
                  <a:lnTo>
                    <a:pt x="275336" y="118745"/>
                  </a:lnTo>
                  <a:lnTo>
                    <a:pt x="273558" y="118745"/>
                  </a:lnTo>
                  <a:lnTo>
                    <a:pt x="270764" y="117475"/>
                  </a:lnTo>
                  <a:lnTo>
                    <a:pt x="266954" y="117475"/>
                  </a:lnTo>
                  <a:lnTo>
                    <a:pt x="263144" y="116205"/>
                  </a:lnTo>
                  <a:lnTo>
                    <a:pt x="258572" y="116205"/>
                  </a:lnTo>
                  <a:lnTo>
                    <a:pt x="247777" y="117475"/>
                  </a:lnTo>
                  <a:lnTo>
                    <a:pt x="241808" y="117475"/>
                  </a:lnTo>
                  <a:lnTo>
                    <a:pt x="228092" y="120015"/>
                  </a:lnTo>
                  <a:lnTo>
                    <a:pt x="212979" y="125095"/>
                  </a:lnTo>
                  <a:lnTo>
                    <a:pt x="176784" y="146558"/>
                  </a:lnTo>
                  <a:lnTo>
                    <a:pt x="150876" y="184404"/>
                  </a:lnTo>
                  <a:lnTo>
                    <a:pt x="146558" y="216027"/>
                  </a:lnTo>
                  <a:lnTo>
                    <a:pt x="146939" y="223647"/>
                  </a:lnTo>
                  <a:lnTo>
                    <a:pt x="159004" y="265303"/>
                  </a:lnTo>
                  <a:lnTo>
                    <a:pt x="181737" y="298196"/>
                  </a:lnTo>
                  <a:lnTo>
                    <a:pt x="221107" y="318389"/>
                  </a:lnTo>
                  <a:lnTo>
                    <a:pt x="230251" y="319659"/>
                  </a:lnTo>
                  <a:lnTo>
                    <a:pt x="249555" y="319659"/>
                  </a:lnTo>
                  <a:lnTo>
                    <a:pt x="259715" y="318389"/>
                  </a:lnTo>
                  <a:lnTo>
                    <a:pt x="270129" y="315849"/>
                  </a:lnTo>
                  <a:lnTo>
                    <a:pt x="280797" y="312039"/>
                  </a:lnTo>
                  <a:lnTo>
                    <a:pt x="285750" y="309499"/>
                  </a:lnTo>
                  <a:lnTo>
                    <a:pt x="290576" y="308229"/>
                  </a:lnTo>
                  <a:lnTo>
                    <a:pt x="325501" y="286766"/>
                  </a:lnTo>
                  <a:lnTo>
                    <a:pt x="327152" y="285496"/>
                  </a:lnTo>
                  <a:lnTo>
                    <a:pt x="328803" y="284226"/>
                  </a:lnTo>
                  <a:lnTo>
                    <a:pt x="334010" y="279146"/>
                  </a:lnTo>
                  <a:lnTo>
                    <a:pt x="335280" y="276606"/>
                  </a:lnTo>
                  <a:lnTo>
                    <a:pt x="335661" y="271653"/>
                  </a:lnTo>
                  <a:close/>
                </a:path>
                <a:path w="579120" h="384175">
                  <a:moveTo>
                    <a:pt x="469392" y="199644"/>
                  </a:moveTo>
                  <a:lnTo>
                    <a:pt x="469265" y="197104"/>
                  </a:lnTo>
                  <a:lnTo>
                    <a:pt x="450469" y="156591"/>
                  </a:lnTo>
                  <a:lnTo>
                    <a:pt x="430149" y="145288"/>
                  </a:lnTo>
                  <a:lnTo>
                    <a:pt x="424434" y="145288"/>
                  </a:lnTo>
                  <a:lnTo>
                    <a:pt x="413131" y="142748"/>
                  </a:lnTo>
                  <a:lnTo>
                    <a:pt x="407416" y="142748"/>
                  </a:lnTo>
                  <a:lnTo>
                    <a:pt x="401828" y="141478"/>
                  </a:lnTo>
                  <a:lnTo>
                    <a:pt x="385445" y="141478"/>
                  </a:lnTo>
                  <a:lnTo>
                    <a:pt x="380492" y="140208"/>
                  </a:lnTo>
                  <a:lnTo>
                    <a:pt x="371475" y="138938"/>
                  </a:lnTo>
                  <a:lnTo>
                    <a:pt x="367538" y="137668"/>
                  </a:lnTo>
                  <a:lnTo>
                    <a:pt x="360934" y="132588"/>
                  </a:lnTo>
                  <a:lnTo>
                    <a:pt x="358648" y="130175"/>
                  </a:lnTo>
                  <a:lnTo>
                    <a:pt x="356108" y="123825"/>
                  </a:lnTo>
                  <a:lnTo>
                    <a:pt x="355600" y="121285"/>
                  </a:lnTo>
                  <a:lnTo>
                    <a:pt x="355727" y="114935"/>
                  </a:lnTo>
                  <a:lnTo>
                    <a:pt x="356489" y="112395"/>
                  </a:lnTo>
                  <a:lnTo>
                    <a:pt x="359156" y="107442"/>
                  </a:lnTo>
                  <a:lnTo>
                    <a:pt x="361188" y="104902"/>
                  </a:lnTo>
                  <a:lnTo>
                    <a:pt x="363855" y="103632"/>
                  </a:lnTo>
                  <a:lnTo>
                    <a:pt x="366395" y="101092"/>
                  </a:lnTo>
                  <a:lnTo>
                    <a:pt x="378841" y="96012"/>
                  </a:lnTo>
                  <a:lnTo>
                    <a:pt x="383794" y="94742"/>
                  </a:lnTo>
                  <a:lnTo>
                    <a:pt x="408432" y="94742"/>
                  </a:lnTo>
                  <a:lnTo>
                    <a:pt x="411099" y="96012"/>
                  </a:lnTo>
                  <a:lnTo>
                    <a:pt x="417830" y="96012"/>
                  </a:lnTo>
                  <a:lnTo>
                    <a:pt x="418465" y="94742"/>
                  </a:lnTo>
                  <a:lnTo>
                    <a:pt x="418846" y="93472"/>
                  </a:lnTo>
                  <a:lnTo>
                    <a:pt x="419354" y="93472"/>
                  </a:lnTo>
                  <a:lnTo>
                    <a:pt x="419481" y="92202"/>
                  </a:lnTo>
                  <a:lnTo>
                    <a:pt x="419227" y="89662"/>
                  </a:lnTo>
                  <a:lnTo>
                    <a:pt x="418338" y="85852"/>
                  </a:lnTo>
                  <a:lnTo>
                    <a:pt x="415036" y="77089"/>
                  </a:lnTo>
                  <a:lnTo>
                    <a:pt x="414274" y="74549"/>
                  </a:lnTo>
                  <a:lnTo>
                    <a:pt x="410845" y="68199"/>
                  </a:lnTo>
                  <a:lnTo>
                    <a:pt x="410337" y="68199"/>
                  </a:lnTo>
                  <a:lnTo>
                    <a:pt x="409702" y="66929"/>
                  </a:lnTo>
                  <a:lnTo>
                    <a:pt x="409194" y="66929"/>
                  </a:lnTo>
                  <a:lnTo>
                    <a:pt x="408178" y="65659"/>
                  </a:lnTo>
                  <a:lnTo>
                    <a:pt x="406908" y="65659"/>
                  </a:lnTo>
                  <a:lnTo>
                    <a:pt x="405638" y="64389"/>
                  </a:lnTo>
                  <a:lnTo>
                    <a:pt x="380111" y="64389"/>
                  </a:lnTo>
                  <a:lnTo>
                    <a:pt x="362458" y="69469"/>
                  </a:lnTo>
                  <a:lnTo>
                    <a:pt x="354203" y="73279"/>
                  </a:lnTo>
                  <a:lnTo>
                    <a:pt x="346710" y="77089"/>
                  </a:lnTo>
                  <a:lnTo>
                    <a:pt x="340233" y="82169"/>
                  </a:lnTo>
                  <a:lnTo>
                    <a:pt x="333629" y="85852"/>
                  </a:lnTo>
                  <a:lnTo>
                    <a:pt x="328422" y="92202"/>
                  </a:lnTo>
                  <a:lnTo>
                    <a:pt x="320675" y="104902"/>
                  </a:lnTo>
                  <a:lnTo>
                    <a:pt x="318389" y="111125"/>
                  </a:lnTo>
                  <a:lnTo>
                    <a:pt x="316992" y="127635"/>
                  </a:lnTo>
                  <a:lnTo>
                    <a:pt x="318135" y="135128"/>
                  </a:lnTo>
                  <a:lnTo>
                    <a:pt x="324231" y="151638"/>
                  </a:lnTo>
                  <a:lnTo>
                    <a:pt x="327787" y="157861"/>
                  </a:lnTo>
                  <a:lnTo>
                    <a:pt x="331978" y="161671"/>
                  </a:lnTo>
                  <a:lnTo>
                    <a:pt x="336296" y="166751"/>
                  </a:lnTo>
                  <a:lnTo>
                    <a:pt x="340868" y="170561"/>
                  </a:lnTo>
                  <a:lnTo>
                    <a:pt x="351028" y="175641"/>
                  </a:lnTo>
                  <a:lnTo>
                    <a:pt x="373253" y="180594"/>
                  </a:lnTo>
                  <a:lnTo>
                    <a:pt x="378841" y="180594"/>
                  </a:lnTo>
                  <a:lnTo>
                    <a:pt x="390017" y="181864"/>
                  </a:lnTo>
                  <a:lnTo>
                    <a:pt x="405511" y="181864"/>
                  </a:lnTo>
                  <a:lnTo>
                    <a:pt x="414401" y="184404"/>
                  </a:lnTo>
                  <a:lnTo>
                    <a:pt x="430530" y="207137"/>
                  </a:lnTo>
                  <a:lnTo>
                    <a:pt x="430276" y="210947"/>
                  </a:lnTo>
                  <a:lnTo>
                    <a:pt x="413258" y="228600"/>
                  </a:lnTo>
                  <a:lnTo>
                    <a:pt x="408813" y="231140"/>
                  </a:lnTo>
                  <a:lnTo>
                    <a:pt x="402082" y="233680"/>
                  </a:lnTo>
                  <a:lnTo>
                    <a:pt x="395859" y="234950"/>
                  </a:lnTo>
                  <a:lnTo>
                    <a:pt x="370459" y="234950"/>
                  </a:lnTo>
                  <a:lnTo>
                    <a:pt x="366776" y="233680"/>
                  </a:lnTo>
                  <a:lnTo>
                    <a:pt x="360934" y="232410"/>
                  </a:lnTo>
                  <a:lnTo>
                    <a:pt x="357505" y="232410"/>
                  </a:lnTo>
                  <a:lnTo>
                    <a:pt x="356489" y="233680"/>
                  </a:lnTo>
                  <a:lnTo>
                    <a:pt x="355854" y="233680"/>
                  </a:lnTo>
                  <a:lnTo>
                    <a:pt x="354838" y="234950"/>
                  </a:lnTo>
                  <a:lnTo>
                    <a:pt x="354584" y="236220"/>
                  </a:lnTo>
                  <a:lnTo>
                    <a:pt x="354584" y="238760"/>
                  </a:lnTo>
                  <a:lnTo>
                    <a:pt x="368554" y="265303"/>
                  </a:lnTo>
                  <a:lnTo>
                    <a:pt x="370967" y="265303"/>
                  </a:lnTo>
                  <a:lnTo>
                    <a:pt x="377698" y="266573"/>
                  </a:lnTo>
                  <a:lnTo>
                    <a:pt x="396113" y="266573"/>
                  </a:lnTo>
                  <a:lnTo>
                    <a:pt x="413512" y="262763"/>
                  </a:lnTo>
                  <a:lnTo>
                    <a:pt x="426466" y="257683"/>
                  </a:lnTo>
                  <a:lnTo>
                    <a:pt x="432816" y="253873"/>
                  </a:lnTo>
                  <a:lnTo>
                    <a:pt x="438785" y="251460"/>
                  </a:lnTo>
                  <a:lnTo>
                    <a:pt x="444373" y="247650"/>
                  </a:lnTo>
                  <a:lnTo>
                    <a:pt x="451485" y="241300"/>
                  </a:lnTo>
                  <a:lnTo>
                    <a:pt x="457200" y="234950"/>
                  </a:lnTo>
                  <a:lnTo>
                    <a:pt x="469392" y="199644"/>
                  </a:lnTo>
                  <a:close/>
                </a:path>
                <a:path w="579120" h="384175">
                  <a:moveTo>
                    <a:pt x="579120" y="193294"/>
                  </a:moveTo>
                  <a:lnTo>
                    <a:pt x="529590" y="60579"/>
                  </a:lnTo>
                  <a:lnTo>
                    <a:pt x="524383" y="46736"/>
                  </a:lnTo>
                  <a:lnTo>
                    <a:pt x="569468" y="30353"/>
                  </a:lnTo>
                  <a:lnTo>
                    <a:pt x="570357" y="30353"/>
                  </a:lnTo>
                  <a:lnTo>
                    <a:pt x="570992" y="29083"/>
                  </a:lnTo>
                  <a:lnTo>
                    <a:pt x="571500" y="29083"/>
                  </a:lnTo>
                  <a:lnTo>
                    <a:pt x="572262" y="26543"/>
                  </a:lnTo>
                  <a:lnTo>
                    <a:pt x="572135" y="22733"/>
                  </a:lnTo>
                  <a:lnTo>
                    <a:pt x="571627" y="20193"/>
                  </a:lnTo>
                  <a:lnTo>
                    <a:pt x="569341" y="13843"/>
                  </a:lnTo>
                  <a:lnTo>
                    <a:pt x="568325" y="10160"/>
                  </a:lnTo>
                  <a:lnTo>
                    <a:pt x="567309" y="8890"/>
                  </a:lnTo>
                  <a:lnTo>
                    <a:pt x="566420" y="6350"/>
                  </a:lnTo>
                  <a:lnTo>
                    <a:pt x="562737" y="1270"/>
                  </a:lnTo>
                  <a:lnTo>
                    <a:pt x="561848" y="1270"/>
                  </a:lnTo>
                  <a:lnTo>
                    <a:pt x="560070" y="0"/>
                  </a:lnTo>
                  <a:lnTo>
                    <a:pt x="558292" y="0"/>
                  </a:lnTo>
                  <a:lnTo>
                    <a:pt x="431165" y="48006"/>
                  </a:lnTo>
                  <a:lnTo>
                    <a:pt x="430276" y="48006"/>
                  </a:lnTo>
                  <a:lnTo>
                    <a:pt x="429514" y="49276"/>
                  </a:lnTo>
                  <a:lnTo>
                    <a:pt x="429133" y="49276"/>
                  </a:lnTo>
                  <a:lnTo>
                    <a:pt x="428371" y="51816"/>
                  </a:lnTo>
                  <a:lnTo>
                    <a:pt x="428371" y="54356"/>
                  </a:lnTo>
                  <a:lnTo>
                    <a:pt x="429006" y="58166"/>
                  </a:lnTo>
                  <a:lnTo>
                    <a:pt x="430276" y="61849"/>
                  </a:lnTo>
                  <a:lnTo>
                    <a:pt x="434340" y="72009"/>
                  </a:lnTo>
                  <a:lnTo>
                    <a:pt x="438023" y="77089"/>
                  </a:lnTo>
                  <a:lnTo>
                    <a:pt x="439674" y="77089"/>
                  </a:lnTo>
                  <a:lnTo>
                    <a:pt x="440563" y="78359"/>
                  </a:lnTo>
                  <a:lnTo>
                    <a:pt x="441452" y="78359"/>
                  </a:lnTo>
                  <a:lnTo>
                    <a:pt x="442341" y="77089"/>
                  </a:lnTo>
                  <a:lnTo>
                    <a:pt x="487553" y="60579"/>
                  </a:lnTo>
                  <a:lnTo>
                    <a:pt x="542290" y="205867"/>
                  </a:lnTo>
                  <a:lnTo>
                    <a:pt x="542925" y="207137"/>
                  </a:lnTo>
                  <a:lnTo>
                    <a:pt x="543814" y="207137"/>
                  </a:lnTo>
                  <a:lnTo>
                    <a:pt x="544576" y="208407"/>
                  </a:lnTo>
                  <a:lnTo>
                    <a:pt x="551053" y="208407"/>
                  </a:lnTo>
                  <a:lnTo>
                    <a:pt x="553466" y="207137"/>
                  </a:lnTo>
                  <a:lnTo>
                    <a:pt x="556006" y="207137"/>
                  </a:lnTo>
                  <a:lnTo>
                    <a:pt x="558927" y="205867"/>
                  </a:lnTo>
                  <a:lnTo>
                    <a:pt x="566039" y="203454"/>
                  </a:lnTo>
                  <a:lnTo>
                    <a:pt x="576453" y="197104"/>
                  </a:lnTo>
                  <a:lnTo>
                    <a:pt x="577596" y="197104"/>
                  </a:lnTo>
                  <a:lnTo>
                    <a:pt x="578358" y="195834"/>
                  </a:lnTo>
                  <a:lnTo>
                    <a:pt x="579120" y="193294"/>
                  </a:lnTo>
                  <a:close/>
                </a:path>
              </a:pathLst>
            </a:custGeom>
            <a:solidFill>
              <a:srgbClr val="FF0000"/>
            </a:solidFill>
          </p:spPr>
          <p:txBody>
            <a:bodyPr wrap="square" lIns="0" tIns="0" rIns="0" bIns="0" rtlCol="0"/>
            <a:lstStyle/>
            <a:p>
              <a:endParaRPr/>
            </a:p>
          </p:txBody>
        </p:sp>
      </p:grpSp>
      <p:grpSp>
        <p:nvGrpSpPr>
          <p:cNvPr id="11" name="object 11"/>
          <p:cNvGrpSpPr/>
          <p:nvPr/>
        </p:nvGrpSpPr>
        <p:grpSpPr>
          <a:xfrm>
            <a:off x="3099816" y="3468623"/>
            <a:ext cx="1972310" cy="2338070"/>
            <a:chOff x="3099816" y="3468623"/>
            <a:chExt cx="1972310" cy="2338070"/>
          </a:xfrm>
        </p:grpSpPr>
        <p:pic>
          <p:nvPicPr>
            <p:cNvPr id="12" name="object 12"/>
            <p:cNvPicPr/>
            <p:nvPr/>
          </p:nvPicPr>
          <p:blipFill>
            <a:blip r:embed="rId5" cstate="print"/>
            <a:stretch>
              <a:fillRect/>
            </a:stretch>
          </p:blipFill>
          <p:spPr>
            <a:xfrm>
              <a:off x="4486655" y="4651247"/>
              <a:ext cx="585215" cy="963167"/>
            </a:xfrm>
            <a:prstGeom prst="rect">
              <a:avLst/>
            </a:prstGeom>
          </p:spPr>
        </p:pic>
        <p:pic>
          <p:nvPicPr>
            <p:cNvPr id="13" name="object 13"/>
            <p:cNvPicPr/>
            <p:nvPr/>
          </p:nvPicPr>
          <p:blipFill>
            <a:blip r:embed="rId6" cstate="print"/>
            <a:stretch>
              <a:fillRect/>
            </a:stretch>
          </p:blipFill>
          <p:spPr>
            <a:xfrm>
              <a:off x="4388230" y="4487544"/>
              <a:ext cx="73787" cy="84455"/>
            </a:xfrm>
            <a:prstGeom prst="rect">
              <a:avLst/>
            </a:prstGeom>
          </p:spPr>
        </p:pic>
        <p:sp>
          <p:nvSpPr>
            <p:cNvPr id="14" name="object 14"/>
            <p:cNvSpPr/>
            <p:nvPr/>
          </p:nvSpPr>
          <p:spPr>
            <a:xfrm>
              <a:off x="3721608" y="3468623"/>
              <a:ext cx="709295" cy="1047115"/>
            </a:xfrm>
            <a:custGeom>
              <a:avLst/>
              <a:gdLst/>
              <a:ahLst/>
              <a:cxnLst/>
              <a:rect l="l" t="t" r="r" b="b"/>
              <a:pathLst>
                <a:path w="709295" h="1047114">
                  <a:moveTo>
                    <a:pt x="21081" y="0"/>
                  </a:moveTo>
                  <a:lnTo>
                    <a:pt x="0" y="13970"/>
                  </a:lnTo>
                  <a:lnTo>
                    <a:pt x="687704" y="1046988"/>
                  </a:lnTo>
                  <a:lnTo>
                    <a:pt x="708787" y="1033018"/>
                  </a:lnTo>
                  <a:lnTo>
                    <a:pt x="21081" y="0"/>
                  </a:lnTo>
                  <a:close/>
                </a:path>
              </a:pathLst>
            </a:custGeom>
            <a:solidFill>
              <a:srgbClr val="1F4E79"/>
            </a:solidFill>
          </p:spPr>
          <p:txBody>
            <a:bodyPr wrap="square" lIns="0" tIns="0" rIns="0" bIns="0" rtlCol="0"/>
            <a:lstStyle/>
            <a:p>
              <a:endParaRPr/>
            </a:p>
          </p:txBody>
        </p:sp>
        <p:sp>
          <p:nvSpPr>
            <p:cNvPr id="15" name="object 15"/>
            <p:cNvSpPr/>
            <p:nvPr/>
          </p:nvSpPr>
          <p:spPr>
            <a:xfrm>
              <a:off x="3630168" y="3883151"/>
              <a:ext cx="457200" cy="509270"/>
            </a:xfrm>
            <a:custGeom>
              <a:avLst/>
              <a:gdLst/>
              <a:ahLst/>
              <a:cxnLst/>
              <a:rect l="l" t="t" r="r" b="b"/>
              <a:pathLst>
                <a:path w="457200" h="509270">
                  <a:moveTo>
                    <a:pt x="176784" y="30480"/>
                  </a:moveTo>
                  <a:lnTo>
                    <a:pt x="175895" y="25400"/>
                  </a:lnTo>
                  <a:lnTo>
                    <a:pt x="175133" y="24130"/>
                  </a:lnTo>
                  <a:lnTo>
                    <a:pt x="172847" y="19050"/>
                  </a:lnTo>
                  <a:lnTo>
                    <a:pt x="171196" y="16510"/>
                  </a:lnTo>
                  <a:lnTo>
                    <a:pt x="169037" y="13970"/>
                  </a:lnTo>
                  <a:lnTo>
                    <a:pt x="167005" y="10160"/>
                  </a:lnTo>
                  <a:lnTo>
                    <a:pt x="165100" y="7620"/>
                  </a:lnTo>
                  <a:lnTo>
                    <a:pt x="161798" y="3810"/>
                  </a:lnTo>
                  <a:lnTo>
                    <a:pt x="157861" y="0"/>
                  </a:lnTo>
                  <a:lnTo>
                    <a:pt x="152908" y="0"/>
                  </a:lnTo>
                  <a:lnTo>
                    <a:pt x="2032" y="101600"/>
                  </a:lnTo>
                  <a:lnTo>
                    <a:pt x="1143" y="101600"/>
                  </a:lnTo>
                  <a:lnTo>
                    <a:pt x="0" y="105410"/>
                  </a:lnTo>
                  <a:lnTo>
                    <a:pt x="0" y="106680"/>
                  </a:lnTo>
                  <a:lnTo>
                    <a:pt x="889" y="109220"/>
                  </a:lnTo>
                  <a:lnTo>
                    <a:pt x="1651" y="110490"/>
                  </a:lnTo>
                  <a:lnTo>
                    <a:pt x="3937" y="115570"/>
                  </a:lnTo>
                  <a:lnTo>
                    <a:pt x="7747" y="121920"/>
                  </a:lnTo>
                  <a:lnTo>
                    <a:pt x="14986" y="130683"/>
                  </a:lnTo>
                  <a:lnTo>
                    <a:pt x="18923" y="134493"/>
                  </a:lnTo>
                  <a:lnTo>
                    <a:pt x="23749" y="134493"/>
                  </a:lnTo>
                  <a:lnTo>
                    <a:pt x="174752" y="33020"/>
                  </a:lnTo>
                  <a:lnTo>
                    <a:pt x="175641" y="33020"/>
                  </a:lnTo>
                  <a:lnTo>
                    <a:pt x="176403" y="30480"/>
                  </a:lnTo>
                  <a:lnTo>
                    <a:pt x="176784" y="30480"/>
                  </a:lnTo>
                  <a:close/>
                </a:path>
                <a:path w="457200" h="509270">
                  <a:moveTo>
                    <a:pt x="275717" y="191643"/>
                  </a:moveTo>
                  <a:lnTo>
                    <a:pt x="275336" y="189103"/>
                  </a:lnTo>
                  <a:lnTo>
                    <a:pt x="275082" y="184023"/>
                  </a:lnTo>
                  <a:lnTo>
                    <a:pt x="274193" y="180213"/>
                  </a:lnTo>
                  <a:lnTo>
                    <a:pt x="248412" y="129413"/>
                  </a:lnTo>
                  <a:lnTo>
                    <a:pt x="209677" y="97790"/>
                  </a:lnTo>
                  <a:lnTo>
                    <a:pt x="182753" y="91440"/>
                  </a:lnTo>
                  <a:lnTo>
                    <a:pt x="163957" y="91440"/>
                  </a:lnTo>
                  <a:lnTo>
                    <a:pt x="144399" y="96520"/>
                  </a:lnTo>
                  <a:lnTo>
                    <a:pt x="134620" y="100330"/>
                  </a:lnTo>
                  <a:lnTo>
                    <a:pt x="114935" y="110490"/>
                  </a:lnTo>
                  <a:lnTo>
                    <a:pt x="105918" y="118110"/>
                  </a:lnTo>
                  <a:lnTo>
                    <a:pt x="97790" y="124460"/>
                  </a:lnTo>
                  <a:lnTo>
                    <a:pt x="72136" y="163703"/>
                  </a:lnTo>
                  <a:lnTo>
                    <a:pt x="68580" y="191643"/>
                  </a:lnTo>
                  <a:lnTo>
                    <a:pt x="69215" y="199263"/>
                  </a:lnTo>
                  <a:lnTo>
                    <a:pt x="82550" y="237363"/>
                  </a:lnTo>
                  <a:lnTo>
                    <a:pt x="88519" y="246253"/>
                  </a:lnTo>
                  <a:lnTo>
                    <a:pt x="91440" y="251333"/>
                  </a:lnTo>
                  <a:lnTo>
                    <a:pt x="101092" y="264033"/>
                  </a:lnTo>
                  <a:lnTo>
                    <a:pt x="104648" y="267843"/>
                  </a:lnTo>
                  <a:lnTo>
                    <a:pt x="108331" y="270383"/>
                  </a:lnTo>
                  <a:lnTo>
                    <a:pt x="115697" y="278003"/>
                  </a:lnTo>
                  <a:lnTo>
                    <a:pt x="126619" y="286893"/>
                  </a:lnTo>
                  <a:lnTo>
                    <a:pt x="129413" y="289433"/>
                  </a:lnTo>
                  <a:lnTo>
                    <a:pt x="135001" y="291973"/>
                  </a:lnTo>
                  <a:lnTo>
                    <a:pt x="137287" y="291973"/>
                  </a:lnTo>
                  <a:lnTo>
                    <a:pt x="139700" y="290703"/>
                  </a:lnTo>
                  <a:lnTo>
                    <a:pt x="142240" y="290703"/>
                  </a:lnTo>
                  <a:lnTo>
                    <a:pt x="144653" y="288163"/>
                  </a:lnTo>
                  <a:lnTo>
                    <a:pt x="206502" y="247523"/>
                  </a:lnTo>
                  <a:lnTo>
                    <a:pt x="208407" y="246253"/>
                  </a:lnTo>
                  <a:lnTo>
                    <a:pt x="214884" y="237363"/>
                  </a:lnTo>
                  <a:lnTo>
                    <a:pt x="214884" y="236093"/>
                  </a:lnTo>
                  <a:lnTo>
                    <a:pt x="214376" y="232283"/>
                  </a:lnTo>
                  <a:lnTo>
                    <a:pt x="213868" y="231013"/>
                  </a:lnTo>
                  <a:lnTo>
                    <a:pt x="176403" y="175133"/>
                  </a:lnTo>
                  <a:lnTo>
                    <a:pt x="174879" y="175133"/>
                  </a:lnTo>
                  <a:lnTo>
                    <a:pt x="173990" y="173863"/>
                  </a:lnTo>
                  <a:lnTo>
                    <a:pt x="172974" y="173863"/>
                  </a:lnTo>
                  <a:lnTo>
                    <a:pt x="171831" y="175133"/>
                  </a:lnTo>
                  <a:lnTo>
                    <a:pt x="169037" y="175133"/>
                  </a:lnTo>
                  <a:lnTo>
                    <a:pt x="167386" y="176403"/>
                  </a:lnTo>
                  <a:lnTo>
                    <a:pt x="165608" y="176403"/>
                  </a:lnTo>
                  <a:lnTo>
                    <a:pt x="163703" y="177673"/>
                  </a:lnTo>
                  <a:lnTo>
                    <a:pt x="161290" y="180213"/>
                  </a:lnTo>
                  <a:lnTo>
                    <a:pt x="156845" y="182753"/>
                  </a:lnTo>
                  <a:lnTo>
                    <a:pt x="154051" y="185293"/>
                  </a:lnTo>
                  <a:lnTo>
                    <a:pt x="152654" y="187833"/>
                  </a:lnTo>
                  <a:lnTo>
                    <a:pt x="151384" y="189103"/>
                  </a:lnTo>
                  <a:lnTo>
                    <a:pt x="151257" y="191643"/>
                  </a:lnTo>
                  <a:lnTo>
                    <a:pt x="172466" y="223393"/>
                  </a:lnTo>
                  <a:lnTo>
                    <a:pt x="135509" y="247523"/>
                  </a:lnTo>
                  <a:lnTo>
                    <a:pt x="131826" y="246253"/>
                  </a:lnTo>
                  <a:lnTo>
                    <a:pt x="128397" y="243713"/>
                  </a:lnTo>
                  <a:lnTo>
                    <a:pt x="121920" y="237363"/>
                  </a:lnTo>
                  <a:lnTo>
                    <a:pt x="119126" y="233553"/>
                  </a:lnTo>
                  <a:lnTo>
                    <a:pt x="116713" y="229743"/>
                  </a:lnTo>
                  <a:lnTo>
                    <a:pt x="111760" y="223393"/>
                  </a:lnTo>
                  <a:lnTo>
                    <a:pt x="108458" y="215773"/>
                  </a:lnTo>
                  <a:lnTo>
                    <a:pt x="106680" y="208153"/>
                  </a:lnTo>
                  <a:lnTo>
                    <a:pt x="105029" y="199263"/>
                  </a:lnTo>
                  <a:lnTo>
                    <a:pt x="105029" y="191643"/>
                  </a:lnTo>
                  <a:lnTo>
                    <a:pt x="121793" y="157353"/>
                  </a:lnTo>
                  <a:lnTo>
                    <a:pt x="157988" y="133223"/>
                  </a:lnTo>
                  <a:lnTo>
                    <a:pt x="164338" y="131953"/>
                  </a:lnTo>
                  <a:lnTo>
                    <a:pt x="172847" y="129413"/>
                  </a:lnTo>
                  <a:lnTo>
                    <a:pt x="233807" y="163703"/>
                  </a:lnTo>
                  <a:lnTo>
                    <a:pt x="245618" y="204343"/>
                  </a:lnTo>
                  <a:lnTo>
                    <a:pt x="245872" y="210693"/>
                  </a:lnTo>
                  <a:lnTo>
                    <a:pt x="246253" y="213233"/>
                  </a:lnTo>
                  <a:lnTo>
                    <a:pt x="247015" y="214503"/>
                  </a:lnTo>
                  <a:lnTo>
                    <a:pt x="247523" y="214503"/>
                  </a:lnTo>
                  <a:lnTo>
                    <a:pt x="248158" y="215773"/>
                  </a:lnTo>
                  <a:lnTo>
                    <a:pt x="253238" y="215773"/>
                  </a:lnTo>
                  <a:lnTo>
                    <a:pt x="254762" y="214503"/>
                  </a:lnTo>
                  <a:lnTo>
                    <a:pt x="256667" y="213233"/>
                  </a:lnTo>
                  <a:lnTo>
                    <a:pt x="258572" y="213233"/>
                  </a:lnTo>
                  <a:lnTo>
                    <a:pt x="260731" y="210693"/>
                  </a:lnTo>
                  <a:lnTo>
                    <a:pt x="263144" y="209423"/>
                  </a:lnTo>
                  <a:lnTo>
                    <a:pt x="275209" y="196723"/>
                  </a:lnTo>
                  <a:lnTo>
                    <a:pt x="275590" y="195453"/>
                  </a:lnTo>
                  <a:lnTo>
                    <a:pt x="275717" y="191643"/>
                  </a:lnTo>
                  <a:close/>
                </a:path>
                <a:path w="457200" h="509270">
                  <a:moveTo>
                    <a:pt x="358267" y="311023"/>
                  </a:moveTo>
                  <a:lnTo>
                    <a:pt x="358140" y="308483"/>
                  </a:lnTo>
                  <a:lnTo>
                    <a:pt x="357632" y="305943"/>
                  </a:lnTo>
                  <a:lnTo>
                    <a:pt x="357251" y="302133"/>
                  </a:lnTo>
                  <a:lnTo>
                    <a:pt x="356362" y="298323"/>
                  </a:lnTo>
                  <a:lnTo>
                    <a:pt x="355092" y="294513"/>
                  </a:lnTo>
                  <a:lnTo>
                    <a:pt x="353949" y="290703"/>
                  </a:lnTo>
                  <a:lnTo>
                    <a:pt x="352298" y="286893"/>
                  </a:lnTo>
                  <a:lnTo>
                    <a:pt x="350393" y="283083"/>
                  </a:lnTo>
                  <a:lnTo>
                    <a:pt x="348361" y="278003"/>
                  </a:lnTo>
                  <a:lnTo>
                    <a:pt x="346202" y="274193"/>
                  </a:lnTo>
                  <a:lnTo>
                    <a:pt x="343662" y="270383"/>
                  </a:lnTo>
                  <a:lnTo>
                    <a:pt x="314071" y="242443"/>
                  </a:lnTo>
                  <a:lnTo>
                    <a:pt x="299847" y="237363"/>
                  </a:lnTo>
                  <a:lnTo>
                    <a:pt x="292481" y="237363"/>
                  </a:lnTo>
                  <a:lnTo>
                    <a:pt x="277114" y="239903"/>
                  </a:lnTo>
                  <a:lnTo>
                    <a:pt x="243078" y="267843"/>
                  </a:lnTo>
                  <a:lnTo>
                    <a:pt x="237363" y="291973"/>
                  </a:lnTo>
                  <a:lnTo>
                    <a:pt x="237617" y="300863"/>
                  </a:lnTo>
                  <a:lnTo>
                    <a:pt x="238125" y="305943"/>
                  </a:lnTo>
                  <a:lnTo>
                    <a:pt x="243205" y="337693"/>
                  </a:lnTo>
                  <a:lnTo>
                    <a:pt x="227965" y="368173"/>
                  </a:lnTo>
                  <a:lnTo>
                    <a:pt x="224663" y="368173"/>
                  </a:lnTo>
                  <a:lnTo>
                    <a:pt x="221234" y="369443"/>
                  </a:lnTo>
                  <a:lnTo>
                    <a:pt x="218059" y="368173"/>
                  </a:lnTo>
                  <a:lnTo>
                    <a:pt x="214884" y="368173"/>
                  </a:lnTo>
                  <a:lnTo>
                    <a:pt x="211582" y="366903"/>
                  </a:lnTo>
                  <a:lnTo>
                    <a:pt x="205486" y="361823"/>
                  </a:lnTo>
                  <a:lnTo>
                    <a:pt x="202438" y="360553"/>
                  </a:lnTo>
                  <a:lnTo>
                    <a:pt x="185547" y="324993"/>
                  </a:lnTo>
                  <a:lnTo>
                    <a:pt x="184023" y="305943"/>
                  </a:lnTo>
                  <a:lnTo>
                    <a:pt x="183642" y="304673"/>
                  </a:lnTo>
                  <a:lnTo>
                    <a:pt x="182245" y="302133"/>
                  </a:lnTo>
                  <a:lnTo>
                    <a:pt x="180721" y="302133"/>
                  </a:lnTo>
                  <a:lnTo>
                    <a:pt x="179832" y="300863"/>
                  </a:lnTo>
                  <a:lnTo>
                    <a:pt x="178816" y="300863"/>
                  </a:lnTo>
                  <a:lnTo>
                    <a:pt x="177419" y="302133"/>
                  </a:lnTo>
                  <a:lnTo>
                    <a:pt x="174498" y="302133"/>
                  </a:lnTo>
                  <a:lnTo>
                    <a:pt x="170815" y="304673"/>
                  </a:lnTo>
                  <a:lnTo>
                    <a:pt x="166116" y="307213"/>
                  </a:lnTo>
                  <a:lnTo>
                    <a:pt x="162306" y="309753"/>
                  </a:lnTo>
                  <a:lnTo>
                    <a:pt x="157861" y="313563"/>
                  </a:lnTo>
                  <a:lnTo>
                    <a:pt x="155067" y="317373"/>
                  </a:lnTo>
                  <a:lnTo>
                    <a:pt x="154305" y="321183"/>
                  </a:lnTo>
                  <a:lnTo>
                    <a:pt x="154686" y="330073"/>
                  </a:lnTo>
                  <a:lnTo>
                    <a:pt x="155448" y="335153"/>
                  </a:lnTo>
                  <a:lnTo>
                    <a:pt x="156591" y="338963"/>
                  </a:lnTo>
                  <a:lnTo>
                    <a:pt x="157734" y="344043"/>
                  </a:lnTo>
                  <a:lnTo>
                    <a:pt x="159385" y="347853"/>
                  </a:lnTo>
                  <a:lnTo>
                    <a:pt x="161671" y="354203"/>
                  </a:lnTo>
                  <a:lnTo>
                    <a:pt x="163957" y="359283"/>
                  </a:lnTo>
                  <a:lnTo>
                    <a:pt x="166878" y="364363"/>
                  </a:lnTo>
                  <a:lnTo>
                    <a:pt x="170561" y="369443"/>
                  </a:lnTo>
                  <a:lnTo>
                    <a:pt x="174752" y="375793"/>
                  </a:lnTo>
                  <a:lnTo>
                    <a:pt x="203581" y="401066"/>
                  </a:lnTo>
                  <a:lnTo>
                    <a:pt x="219202" y="406146"/>
                  </a:lnTo>
                  <a:lnTo>
                    <a:pt x="227330" y="406146"/>
                  </a:lnTo>
                  <a:lnTo>
                    <a:pt x="267335" y="390906"/>
                  </a:lnTo>
                  <a:lnTo>
                    <a:pt x="284861" y="354203"/>
                  </a:lnTo>
                  <a:lnTo>
                    <a:pt x="284353" y="342773"/>
                  </a:lnTo>
                  <a:lnTo>
                    <a:pt x="283718" y="336423"/>
                  </a:lnTo>
                  <a:lnTo>
                    <a:pt x="282829" y="331343"/>
                  </a:lnTo>
                  <a:lnTo>
                    <a:pt x="282067" y="324993"/>
                  </a:lnTo>
                  <a:lnTo>
                    <a:pt x="279146" y="309753"/>
                  </a:lnTo>
                  <a:lnTo>
                    <a:pt x="278511" y="304673"/>
                  </a:lnTo>
                  <a:lnTo>
                    <a:pt x="278257" y="297053"/>
                  </a:lnTo>
                  <a:lnTo>
                    <a:pt x="278765" y="290703"/>
                  </a:lnTo>
                  <a:lnTo>
                    <a:pt x="281432" y="283083"/>
                  </a:lnTo>
                  <a:lnTo>
                    <a:pt x="297815" y="274193"/>
                  </a:lnTo>
                  <a:lnTo>
                    <a:pt x="300482" y="274193"/>
                  </a:lnTo>
                  <a:lnTo>
                    <a:pt x="303149" y="275463"/>
                  </a:lnTo>
                  <a:lnTo>
                    <a:pt x="305943" y="275463"/>
                  </a:lnTo>
                  <a:lnTo>
                    <a:pt x="308610" y="278003"/>
                  </a:lnTo>
                  <a:lnTo>
                    <a:pt x="311277" y="279273"/>
                  </a:lnTo>
                  <a:lnTo>
                    <a:pt x="316357" y="284353"/>
                  </a:lnTo>
                  <a:lnTo>
                    <a:pt x="318770" y="288163"/>
                  </a:lnTo>
                  <a:lnTo>
                    <a:pt x="321564" y="291973"/>
                  </a:lnTo>
                  <a:lnTo>
                    <a:pt x="329311" y="323723"/>
                  </a:lnTo>
                  <a:lnTo>
                    <a:pt x="329565" y="326263"/>
                  </a:lnTo>
                  <a:lnTo>
                    <a:pt x="329946" y="328803"/>
                  </a:lnTo>
                  <a:lnTo>
                    <a:pt x="330581" y="328803"/>
                  </a:lnTo>
                  <a:lnTo>
                    <a:pt x="331089" y="330073"/>
                  </a:lnTo>
                  <a:lnTo>
                    <a:pt x="331851" y="331343"/>
                  </a:lnTo>
                  <a:lnTo>
                    <a:pt x="334645" y="331343"/>
                  </a:lnTo>
                  <a:lnTo>
                    <a:pt x="335915" y="330073"/>
                  </a:lnTo>
                  <a:lnTo>
                    <a:pt x="338709" y="330073"/>
                  </a:lnTo>
                  <a:lnTo>
                    <a:pt x="342138" y="327533"/>
                  </a:lnTo>
                  <a:lnTo>
                    <a:pt x="344170" y="326263"/>
                  </a:lnTo>
                  <a:lnTo>
                    <a:pt x="346583" y="324993"/>
                  </a:lnTo>
                  <a:lnTo>
                    <a:pt x="348742" y="323723"/>
                  </a:lnTo>
                  <a:lnTo>
                    <a:pt x="353314" y="319913"/>
                  </a:lnTo>
                  <a:lnTo>
                    <a:pt x="354330" y="318643"/>
                  </a:lnTo>
                  <a:lnTo>
                    <a:pt x="355219" y="318643"/>
                  </a:lnTo>
                  <a:lnTo>
                    <a:pt x="357378" y="314833"/>
                  </a:lnTo>
                  <a:lnTo>
                    <a:pt x="357632" y="314833"/>
                  </a:lnTo>
                  <a:lnTo>
                    <a:pt x="358267" y="311023"/>
                  </a:lnTo>
                  <a:close/>
                </a:path>
                <a:path w="457200" h="509270">
                  <a:moveTo>
                    <a:pt x="456819" y="446786"/>
                  </a:moveTo>
                  <a:lnTo>
                    <a:pt x="456565" y="445516"/>
                  </a:lnTo>
                  <a:lnTo>
                    <a:pt x="441198" y="422656"/>
                  </a:lnTo>
                  <a:lnTo>
                    <a:pt x="380873" y="332613"/>
                  </a:lnTo>
                  <a:lnTo>
                    <a:pt x="380238" y="331343"/>
                  </a:lnTo>
                  <a:lnTo>
                    <a:pt x="379603" y="331343"/>
                  </a:lnTo>
                  <a:lnTo>
                    <a:pt x="378714" y="330073"/>
                  </a:lnTo>
                  <a:lnTo>
                    <a:pt x="376809" y="330073"/>
                  </a:lnTo>
                  <a:lnTo>
                    <a:pt x="374269" y="331343"/>
                  </a:lnTo>
                  <a:lnTo>
                    <a:pt x="372618" y="331343"/>
                  </a:lnTo>
                  <a:lnTo>
                    <a:pt x="368935" y="333883"/>
                  </a:lnTo>
                  <a:lnTo>
                    <a:pt x="361823" y="337693"/>
                  </a:lnTo>
                  <a:lnTo>
                    <a:pt x="358267" y="340233"/>
                  </a:lnTo>
                  <a:lnTo>
                    <a:pt x="356743" y="342773"/>
                  </a:lnTo>
                  <a:lnTo>
                    <a:pt x="355600" y="342773"/>
                  </a:lnTo>
                  <a:lnTo>
                    <a:pt x="354076" y="345313"/>
                  </a:lnTo>
                  <a:lnTo>
                    <a:pt x="353441" y="347853"/>
                  </a:lnTo>
                  <a:lnTo>
                    <a:pt x="353695" y="349123"/>
                  </a:lnTo>
                  <a:lnTo>
                    <a:pt x="381000" y="389636"/>
                  </a:lnTo>
                  <a:lnTo>
                    <a:pt x="252095" y="475996"/>
                  </a:lnTo>
                  <a:lnTo>
                    <a:pt x="251206" y="477266"/>
                  </a:lnTo>
                  <a:lnTo>
                    <a:pt x="250698" y="477266"/>
                  </a:lnTo>
                  <a:lnTo>
                    <a:pt x="250063" y="479806"/>
                  </a:lnTo>
                  <a:lnTo>
                    <a:pt x="265049" y="505206"/>
                  </a:lnTo>
                  <a:lnTo>
                    <a:pt x="266446" y="507746"/>
                  </a:lnTo>
                  <a:lnTo>
                    <a:pt x="267716" y="507746"/>
                  </a:lnTo>
                  <a:lnTo>
                    <a:pt x="268986" y="509016"/>
                  </a:lnTo>
                  <a:lnTo>
                    <a:pt x="273939" y="509016"/>
                  </a:lnTo>
                  <a:lnTo>
                    <a:pt x="402844" y="422656"/>
                  </a:lnTo>
                  <a:lnTo>
                    <a:pt x="430022" y="463296"/>
                  </a:lnTo>
                  <a:lnTo>
                    <a:pt x="430657" y="464566"/>
                  </a:lnTo>
                  <a:lnTo>
                    <a:pt x="436245" y="464566"/>
                  </a:lnTo>
                  <a:lnTo>
                    <a:pt x="437769" y="463296"/>
                  </a:lnTo>
                  <a:lnTo>
                    <a:pt x="439674" y="462026"/>
                  </a:lnTo>
                  <a:lnTo>
                    <a:pt x="441452" y="462026"/>
                  </a:lnTo>
                  <a:lnTo>
                    <a:pt x="443611" y="460756"/>
                  </a:lnTo>
                  <a:lnTo>
                    <a:pt x="446024" y="458216"/>
                  </a:lnTo>
                  <a:lnTo>
                    <a:pt x="448437" y="456946"/>
                  </a:lnTo>
                  <a:lnTo>
                    <a:pt x="456692" y="448056"/>
                  </a:lnTo>
                  <a:lnTo>
                    <a:pt x="456819" y="448056"/>
                  </a:lnTo>
                  <a:lnTo>
                    <a:pt x="456819" y="446786"/>
                  </a:lnTo>
                  <a:close/>
                </a:path>
              </a:pathLst>
            </a:custGeom>
            <a:solidFill>
              <a:srgbClr val="001F5F"/>
            </a:solidFill>
          </p:spPr>
          <p:txBody>
            <a:bodyPr wrap="square" lIns="0" tIns="0" rIns="0" bIns="0" rtlCol="0"/>
            <a:lstStyle/>
            <a:p>
              <a:endParaRPr/>
            </a:p>
          </p:txBody>
        </p:sp>
        <p:pic>
          <p:nvPicPr>
            <p:cNvPr id="16" name="object 16"/>
            <p:cNvPicPr/>
            <p:nvPr/>
          </p:nvPicPr>
          <p:blipFill>
            <a:blip r:embed="rId7" cstate="print"/>
            <a:stretch>
              <a:fillRect/>
            </a:stretch>
          </p:blipFill>
          <p:spPr>
            <a:xfrm>
              <a:off x="3099816" y="4584191"/>
              <a:ext cx="1527047" cy="1222248"/>
            </a:xfrm>
            <a:prstGeom prst="rect">
              <a:avLst/>
            </a:prstGeom>
          </p:spPr>
        </p:pic>
        <p:pic>
          <p:nvPicPr>
            <p:cNvPr id="17" name="object 17"/>
            <p:cNvPicPr/>
            <p:nvPr/>
          </p:nvPicPr>
          <p:blipFill>
            <a:blip r:embed="rId8" cstate="print"/>
            <a:stretch>
              <a:fillRect/>
            </a:stretch>
          </p:blipFill>
          <p:spPr>
            <a:xfrm>
              <a:off x="3130296" y="4831079"/>
              <a:ext cx="621792" cy="237744"/>
            </a:xfrm>
            <a:prstGeom prst="rect">
              <a:avLst/>
            </a:prstGeom>
          </p:spPr>
        </p:pic>
        <p:pic>
          <p:nvPicPr>
            <p:cNvPr id="18" name="object 18"/>
            <p:cNvPicPr/>
            <p:nvPr/>
          </p:nvPicPr>
          <p:blipFill>
            <a:blip r:embed="rId9" cstate="print"/>
            <a:stretch>
              <a:fillRect/>
            </a:stretch>
          </p:blipFill>
          <p:spPr>
            <a:xfrm>
              <a:off x="3401568" y="5254751"/>
              <a:ext cx="137160" cy="143256"/>
            </a:xfrm>
            <a:prstGeom prst="rect">
              <a:avLst/>
            </a:prstGeom>
          </p:spPr>
        </p:pic>
      </p:grpSp>
      <p:grpSp>
        <p:nvGrpSpPr>
          <p:cNvPr id="19" name="object 19"/>
          <p:cNvGrpSpPr/>
          <p:nvPr/>
        </p:nvGrpSpPr>
        <p:grpSpPr>
          <a:xfrm>
            <a:off x="5297423" y="2977895"/>
            <a:ext cx="4879975" cy="2326005"/>
            <a:chOff x="5297423" y="2977895"/>
            <a:chExt cx="4879975" cy="2326005"/>
          </a:xfrm>
        </p:grpSpPr>
        <p:pic>
          <p:nvPicPr>
            <p:cNvPr id="20" name="object 20"/>
            <p:cNvPicPr/>
            <p:nvPr/>
          </p:nvPicPr>
          <p:blipFill>
            <a:blip r:embed="rId10" cstate="print"/>
            <a:stretch>
              <a:fillRect/>
            </a:stretch>
          </p:blipFill>
          <p:spPr>
            <a:xfrm>
              <a:off x="8400288" y="4425695"/>
              <a:ext cx="548640" cy="877824"/>
            </a:xfrm>
            <a:prstGeom prst="rect">
              <a:avLst/>
            </a:prstGeom>
          </p:spPr>
        </p:pic>
        <p:pic>
          <p:nvPicPr>
            <p:cNvPr id="21" name="object 21"/>
            <p:cNvPicPr/>
            <p:nvPr/>
          </p:nvPicPr>
          <p:blipFill>
            <a:blip r:embed="rId11" cstate="print"/>
            <a:stretch>
              <a:fillRect/>
            </a:stretch>
          </p:blipFill>
          <p:spPr>
            <a:xfrm>
              <a:off x="8592311" y="3685031"/>
              <a:ext cx="1584959" cy="1478280"/>
            </a:xfrm>
            <a:prstGeom prst="rect">
              <a:avLst/>
            </a:prstGeom>
          </p:spPr>
        </p:pic>
        <p:pic>
          <p:nvPicPr>
            <p:cNvPr id="22" name="object 22"/>
            <p:cNvPicPr/>
            <p:nvPr/>
          </p:nvPicPr>
          <p:blipFill>
            <a:blip r:embed="rId12" cstate="print"/>
            <a:stretch>
              <a:fillRect/>
            </a:stretch>
          </p:blipFill>
          <p:spPr>
            <a:xfrm>
              <a:off x="8428227" y="4093844"/>
              <a:ext cx="72644" cy="84836"/>
            </a:xfrm>
            <a:prstGeom prst="rect">
              <a:avLst/>
            </a:prstGeom>
          </p:spPr>
        </p:pic>
        <p:sp>
          <p:nvSpPr>
            <p:cNvPr id="23" name="object 23"/>
            <p:cNvSpPr/>
            <p:nvPr/>
          </p:nvSpPr>
          <p:spPr>
            <a:xfrm>
              <a:off x="7741919" y="2977895"/>
              <a:ext cx="729615" cy="1143000"/>
            </a:xfrm>
            <a:custGeom>
              <a:avLst/>
              <a:gdLst/>
              <a:ahLst/>
              <a:cxnLst/>
              <a:rect l="l" t="t" r="r" b="b"/>
              <a:pathLst>
                <a:path w="729615" h="1143000">
                  <a:moveTo>
                    <a:pt x="21462" y="0"/>
                  </a:moveTo>
                  <a:lnTo>
                    <a:pt x="0" y="13588"/>
                  </a:lnTo>
                  <a:lnTo>
                    <a:pt x="707771" y="1142999"/>
                  </a:lnTo>
                  <a:lnTo>
                    <a:pt x="729233" y="1129410"/>
                  </a:lnTo>
                  <a:lnTo>
                    <a:pt x="21462" y="0"/>
                  </a:lnTo>
                  <a:close/>
                </a:path>
              </a:pathLst>
            </a:custGeom>
            <a:solidFill>
              <a:srgbClr val="1F4E79"/>
            </a:solidFill>
          </p:spPr>
          <p:txBody>
            <a:bodyPr wrap="square" lIns="0" tIns="0" rIns="0" bIns="0" rtlCol="0"/>
            <a:lstStyle/>
            <a:p>
              <a:endParaRPr/>
            </a:p>
          </p:txBody>
        </p:sp>
        <p:sp>
          <p:nvSpPr>
            <p:cNvPr id="24" name="object 24"/>
            <p:cNvSpPr/>
            <p:nvPr/>
          </p:nvSpPr>
          <p:spPr>
            <a:xfrm>
              <a:off x="8061960" y="3142487"/>
              <a:ext cx="450850" cy="512445"/>
            </a:xfrm>
            <a:custGeom>
              <a:avLst/>
              <a:gdLst/>
              <a:ahLst/>
              <a:cxnLst/>
              <a:rect l="l" t="t" r="r" b="b"/>
              <a:pathLst>
                <a:path w="450850" h="512445">
                  <a:moveTo>
                    <a:pt x="178308" y="30480"/>
                  </a:moveTo>
                  <a:lnTo>
                    <a:pt x="178181" y="29210"/>
                  </a:lnTo>
                  <a:lnTo>
                    <a:pt x="176657" y="24130"/>
                  </a:lnTo>
                  <a:lnTo>
                    <a:pt x="175641" y="22860"/>
                  </a:lnTo>
                  <a:lnTo>
                    <a:pt x="174498" y="20320"/>
                  </a:lnTo>
                  <a:lnTo>
                    <a:pt x="170815" y="13970"/>
                  </a:lnTo>
                  <a:lnTo>
                    <a:pt x="167005" y="8890"/>
                  </a:lnTo>
                  <a:lnTo>
                    <a:pt x="163830" y="3810"/>
                  </a:lnTo>
                  <a:lnTo>
                    <a:pt x="162433" y="2540"/>
                  </a:lnTo>
                  <a:lnTo>
                    <a:pt x="161163" y="2540"/>
                  </a:lnTo>
                  <a:lnTo>
                    <a:pt x="158750" y="0"/>
                  </a:lnTo>
                  <a:lnTo>
                    <a:pt x="155829" y="0"/>
                  </a:lnTo>
                  <a:lnTo>
                    <a:pt x="154940" y="1270"/>
                  </a:lnTo>
                  <a:lnTo>
                    <a:pt x="2032" y="99060"/>
                  </a:lnTo>
                  <a:lnTo>
                    <a:pt x="1270" y="99060"/>
                  </a:lnTo>
                  <a:lnTo>
                    <a:pt x="254" y="101600"/>
                  </a:lnTo>
                  <a:lnTo>
                    <a:pt x="0" y="104140"/>
                  </a:lnTo>
                  <a:lnTo>
                    <a:pt x="762" y="106680"/>
                  </a:lnTo>
                  <a:lnTo>
                    <a:pt x="1524" y="107950"/>
                  </a:lnTo>
                  <a:lnTo>
                    <a:pt x="3810" y="113030"/>
                  </a:lnTo>
                  <a:lnTo>
                    <a:pt x="7366" y="119380"/>
                  </a:lnTo>
                  <a:lnTo>
                    <a:pt x="9525" y="121920"/>
                  </a:lnTo>
                  <a:lnTo>
                    <a:pt x="12954" y="127000"/>
                  </a:lnTo>
                  <a:lnTo>
                    <a:pt x="15875" y="129540"/>
                  </a:lnTo>
                  <a:lnTo>
                    <a:pt x="19431" y="133477"/>
                  </a:lnTo>
                  <a:lnTo>
                    <a:pt x="22479" y="133477"/>
                  </a:lnTo>
                  <a:lnTo>
                    <a:pt x="23241" y="132207"/>
                  </a:lnTo>
                  <a:lnTo>
                    <a:pt x="176149" y="34290"/>
                  </a:lnTo>
                  <a:lnTo>
                    <a:pt x="177038" y="33020"/>
                  </a:lnTo>
                  <a:lnTo>
                    <a:pt x="177673" y="33020"/>
                  </a:lnTo>
                  <a:lnTo>
                    <a:pt x="178308" y="30480"/>
                  </a:lnTo>
                  <a:close/>
                </a:path>
                <a:path w="450850" h="512445">
                  <a:moveTo>
                    <a:pt x="274066" y="191897"/>
                  </a:moveTo>
                  <a:lnTo>
                    <a:pt x="262636" y="153797"/>
                  </a:lnTo>
                  <a:lnTo>
                    <a:pt x="209931" y="99060"/>
                  </a:lnTo>
                  <a:lnTo>
                    <a:pt x="183134" y="91440"/>
                  </a:lnTo>
                  <a:lnTo>
                    <a:pt x="173736" y="91440"/>
                  </a:lnTo>
                  <a:lnTo>
                    <a:pt x="114808" y="110490"/>
                  </a:lnTo>
                  <a:lnTo>
                    <a:pt x="83947" y="138557"/>
                  </a:lnTo>
                  <a:lnTo>
                    <a:pt x="67310" y="180467"/>
                  </a:lnTo>
                  <a:lnTo>
                    <a:pt x="66929" y="189357"/>
                  </a:lnTo>
                  <a:lnTo>
                    <a:pt x="67564" y="198247"/>
                  </a:lnTo>
                  <a:lnTo>
                    <a:pt x="80264" y="236347"/>
                  </a:lnTo>
                  <a:lnTo>
                    <a:pt x="94996" y="259207"/>
                  </a:lnTo>
                  <a:lnTo>
                    <a:pt x="123190" y="287147"/>
                  </a:lnTo>
                  <a:lnTo>
                    <a:pt x="126111" y="288417"/>
                  </a:lnTo>
                  <a:lnTo>
                    <a:pt x="128905" y="290957"/>
                  </a:lnTo>
                  <a:lnTo>
                    <a:pt x="131572" y="292227"/>
                  </a:lnTo>
                  <a:lnTo>
                    <a:pt x="133985" y="292227"/>
                  </a:lnTo>
                  <a:lnTo>
                    <a:pt x="141351" y="288417"/>
                  </a:lnTo>
                  <a:lnTo>
                    <a:pt x="205867" y="247777"/>
                  </a:lnTo>
                  <a:lnTo>
                    <a:pt x="212598" y="237617"/>
                  </a:lnTo>
                  <a:lnTo>
                    <a:pt x="211709" y="232537"/>
                  </a:lnTo>
                  <a:lnTo>
                    <a:pt x="175641" y="176657"/>
                  </a:lnTo>
                  <a:lnTo>
                    <a:pt x="175133" y="176657"/>
                  </a:lnTo>
                  <a:lnTo>
                    <a:pt x="174498" y="175387"/>
                  </a:lnTo>
                  <a:lnTo>
                    <a:pt x="169418" y="175387"/>
                  </a:lnTo>
                  <a:lnTo>
                    <a:pt x="167894" y="176657"/>
                  </a:lnTo>
                  <a:lnTo>
                    <a:pt x="166116" y="176657"/>
                  </a:lnTo>
                  <a:lnTo>
                    <a:pt x="164465" y="177927"/>
                  </a:lnTo>
                  <a:lnTo>
                    <a:pt x="162433" y="179197"/>
                  </a:lnTo>
                  <a:lnTo>
                    <a:pt x="155575" y="183007"/>
                  </a:lnTo>
                  <a:lnTo>
                    <a:pt x="152654" y="185547"/>
                  </a:lnTo>
                  <a:lnTo>
                    <a:pt x="151257" y="188087"/>
                  </a:lnTo>
                  <a:lnTo>
                    <a:pt x="149987" y="189357"/>
                  </a:lnTo>
                  <a:lnTo>
                    <a:pt x="149733" y="191897"/>
                  </a:lnTo>
                  <a:lnTo>
                    <a:pt x="150749" y="193167"/>
                  </a:lnTo>
                  <a:lnTo>
                    <a:pt x="170434" y="223647"/>
                  </a:lnTo>
                  <a:lnTo>
                    <a:pt x="132842" y="247777"/>
                  </a:lnTo>
                  <a:lnTo>
                    <a:pt x="129159" y="245237"/>
                  </a:lnTo>
                  <a:lnTo>
                    <a:pt x="104775" y="207137"/>
                  </a:lnTo>
                  <a:lnTo>
                    <a:pt x="103251" y="199517"/>
                  </a:lnTo>
                  <a:lnTo>
                    <a:pt x="103378" y="191897"/>
                  </a:lnTo>
                  <a:lnTo>
                    <a:pt x="131953" y="147447"/>
                  </a:lnTo>
                  <a:lnTo>
                    <a:pt x="163957" y="132207"/>
                  </a:lnTo>
                  <a:lnTo>
                    <a:pt x="172593" y="129540"/>
                  </a:lnTo>
                  <a:lnTo>
                    <a:pt x="180721" y="129540"/>
                  </a:lnTo>
                  <a:lnTo>
                    <a:pt x="196469" y="132207"/>
                  </a:lnTo>
                  <a:lnTo>
                    <a:pt x="228219" y="158877"/>
                  </a:lnTo>
                  <a:lnTo>
                    <a:pt x="243459" y="202057"/>
                  </a:lnTo>
                  <a:lnTo>
                    <a:pt x="243967" y="205867"/>
                  </a:lnTo>
                  <a:lnTo>
                    <a:pt x="243967" y="213487"/>
                  </a:lnTo>
                  <a:lnTo>
                    <a:pt x="244348" y="214757"/>
                  </a:lnTo>
                  <a:lnTo>
                    <a:pt x="245618" y="217297"/>
                  </a:lnTo>
                  <a:lnTo>
                    <a:pt x="246888" y="217297"/>
                  </a:lnTo>
                  <a:lnTo>
                    <a:pt x="247777" y="218567"/>
                  </a:lnTo>
                  <a:lnTo>
                    <a:pt x="248793" y="218567"/>
                  </a:lnTo>
                  <a:lnTo>
                    <a:pt x="251333" y="217297"/>
                  </a:lnTo>
                  <a:lnTo>
                    <a:pt x="252857" y="217297"/>
                  </a:lnTo>
                  <a:lnTo>
                    <a:pt x="258826" y="213487"/>
                  </a:lnTo>
                  <a:lnTo>
                    <a:pt x="261239" y="212217"/>
                  </a:lnTo>
                  <a:lnTo>
                    <a:pt x="265430" y="209677"/>
                  </a:lnTo>
                  <a:lnTo>
                    <a:pt x="268478" y="207137"/>
                  </a:lnTo>
                  <a:lnTo>
                    <a:pt x="270256" y="205867"/>
                  </a:lnTo>
                  <a:lnTo>
                    <a:pt x="272034" y="203327"/>
                  </a:lnTo>
                  <a:lnTo>
                    <a:pt x="273177" y="202057"/>
                  </a:lnTo>
                  <a:lnTo>
                    <a:pt x="273558" y="199517"/>
                  </a:lnTo>
                  <a:lnTo>
                    <a:pt x="274066" y="198247"/>
                  </a:lnTo>
                  <a:lnTo>
                    <a:pt x="274066" y="191897"/>
                  </a:lnTo>
                  <a:close/>
                </a:path>
                <a:path w="450850" h="512445">
                  <a:moveTo>
                    <a:pt x="354584" y="315087"/>
                  </a:moveTo>
                  <a:lnTo>
                    <a:pt x="354457" y="312547"/>
                  </a:lnTo>
                  <a:lnTo>
                    <a:pt x="343281" y="278257"/>
                  </a:lnTo>
                  <a:lnTo>
                    <a:pt x="342392" y="276987"/>
                  </a:lnTo>
                  <a:lnTo>
                    <a:pt x="340741" y="274447"/>
                  </a:lnTo>
                  <a:lnTo>
                    <a:pt x="311531" y="245237"/>
                  </a:lnTo>
                  <a:lnTo>
                    <a:pt x="304546" y="243967"/>
                  </a:lnTo>
                  <a:lnTo>
                    <a:pt x="297561" y="241427"/>
                  </a:lnTo>
                  <a:lnTo>
                    <a:pt x="290195" y="240157"/>
                  </a:lnTo>
                  <a:lnTo>
                    <a:pt x="274701" y="242697"/>
                  </a:lnTo>
                  <a:lnTo>
                    <a:pt x="266954" y="245237"/>
                  </a:lnTo>
                  <a:lnTo>
                    <a:pt x="259207" y="250317"/>
                  </a:lnTo>
                  <a:lnTo>
                    <a:pt x="252476" y="254127"/>
                  </a:lnTo>
                  <a:lnTo>
                    <a:pt x="234188" y="289687"/>
                  </a:lnTo>
                  <a:lnTo>
                    <a:pt x="234188" y="303657"/>
                  </a:lnTo>
                  <a:lnTo>
                    <a:pt x="234569" y="308737"/>
                  </a:lnTo>
                  <a:lnTo>
                    <a:pt x="236855" y="325247"/>
                  </a:lnTo>
                  <a:lnTo>
                    <a:pt x="238633" y="335407"/>
                  </a:lnTo>
                  <a:lnTo>
                    <a:pt x="239014" y="339217"/>
                  </a:lnTo>
                  <a:lnTo>
                    <a:pt x="239014" y="349377"/>
                  </a:lnTo>
                  <a:lnTo>
                    <a:pt x="238379" y="353187"/>
                  </a:lnTo>
                  <a:lnTo>
                    <a:pt x="235712" y="360807"/>
                  </a:lnTo>
                  <a:lnTo>
                    <a:pt x="233172" y="364617"/>
                  </a:lnTo>
                  <a:lnTo>
                    <a:pt x="229489" y="365887"/>
                  </a:lnTo>
                  <a:lnTo>
                    <a:pt x="226314" y="368427"/>
                  </a:lnTo>
                  <a:lnTo>
                    <a:pt x="223139" y="369697"/>
                  </a:lnTo>
                  <a:lnTo>
                    <a:pt x="216535" y="370967"/>
                  </a:lnTo>
                  <a:lnTo>
                    <a:pt x="213233" y="370967"/>
                  </a:lnTo>
                  <a:lnTo>
                    <a:pt x="184277" y="336677"/>
                  </a:lnTo>
                  <a:lnTo>
                    <a:pt x="180467" y="307467"/>
                  </a:lnTo>
                  <a:lnTo>
                    <a:pt x="180086" y="304927"/>
                  </a:lnTo>
                  <a:lnTo>
                    <a:pt x="179324" y="304927"/>
                  </a:lnTo>
                  <a:lnTo>
                    <a:pt x="178816" y="303657"/>
                  </a:lnTo>
                  <a:lnTo>
                    <a:pt x="178054" y="302387"/>
                  </a:lnTo>
                  <a:lnTo>
                    <a:pt x="172593" y="302387"/>
                  </a:lnTo>
                  <a:lnTo>
                    <a:pt x="171069" y="303657"/>
                  </a:lnTo>
                  <a:lnTo>
                    <a:pt x="169164" y="304927"/>
                  </a:lnTo>
                  <a:lnTo>
                    <a:pt x="167259" y="304927"/>
                  </a:lnTo>
                  <a:lnTo>
                    <a:pt x="165100" y="306197"/>
                  </a:lnTo>
                  <a:lnTo>
                    <a:pt x="162433" y="308737"/>
                  </a:lnTo>
                  <a:lnTo>
                    <a:pt x="158623" y="311277"/>
                  </a:lnTo>
                  <a:lnTo>
                    <a:pt x="150495" y="326517"/>
                  </a:lnTo>
                  <a:lnTo>
                    <a:pt x="150749" y="331597"/>
                  </a:lnTo>
                  <a:lnTo>
                    <a:pt x="151257" y="335407"/>
                  </a:lnTo>
                  <a:lnTo>
                    <a:pt x="152400" y="339217"/>
                  </a:lnTo>
                  <a:lnTo>
                    <a:pt x="153416" y="344297"/>
                  </a:lnTo>
                  <a:lnTo>
                    <a:pt x="155067" y="349377"/>
                  </a:lnTo>
                  <a:lnTo>
                    <a:pt x="162306" y="365887"/>
                  </a:lnTo>
                  <a:lnTo>
                    <a:pt x="165862" y="370967"/>
                  </a:lnTo>
                  <a:lnTo>
                    <a:pt x="169926" y="377317"/>
                  </a:lnTo>
                  <a:lnTo>
                    <a:pt x="200152" y="402856"/>
                  </a:lnTo>
                  <a:lnTo>
                    <a:pt x="221869" y="409206"/>
                  </a:lnTo>
                  <a:lnTo>
                    <a:pt x="230251" y="407924"/>
                  </a:lnTo>
                  <a:lnTo>
                    <a:pt x="277495" y="370967"/>
                  </a:lnTo>
                  <a:lnTo>
                    <a:pt x="280289" y="356997"/>
                  </a:lnTo>
                  <a:lnTo>
                    <a:pt x="280035" y="344297"/>
                  </a:lnTo>
                  <a:lnTo>
                    <a:pt x="279654" y="339217"/>
                  </a:lnTo>
                  <a:lnTo>
                    <a:pt x="278765" y="334137"/>
                  </a:lnTo>
                  <a:lnTo>
                    <a:pt x="277241" y="322707"/>
                  </a:lnTo>
                  <a:lnTo>
                    <a:pt x="275463" y="312547"/>
                  </a:lnTo>
                  <a:lnTo>
                    <a:pt x="274955" y="307467"/>
                  </a:lnTo>
                  <a:lnTo>
                    <a:pt x="274828" y="298577"/>
                  </a:lnTo>
                  <a:lnTo>
                    <a:pt x="275463" y="293497"/>
                  </a:lnTo>
                  <a:lnTo>
                    <a:pt x="294767" y="276987"/>
                  </a:lnTo>
                  <a:lnTo>
                    <a:pt x="297434" y="278257"/>
                  </a:lnTo>
                  <a:lnTo>
                    <a:pt x="300101" y="278257"/>
                  </a:lnTo>
                  <a:lnTo>
                    <a:pt x="305562" y="280797"/>
                  </a:lnTo>
                  <a:lnTo>
                    <a:pt x="308102" y="283337"/>
                  </a:lnTo>
                  <a:lnTo>
                    <a:pt x="310642" y="284607"/>
                  </a:lnTo>
                  <a:lnTo>
                    <a:pt x="318389" y="296037"/>
                  </a:lnTo>
                  <a:lnTo>
                    <a:pt x="320548" y="301117"/>
                  </a:lnTo>
                  <a:lnTo>
                    <a:pt x="326009" y="332867"/>
                  </a:lnTo>
                  <a:lnTo>
                    <a:pt x="326644" y="332867"/>
                  </a:lnTo>
                  <a:lnTo>
                    <a:pt x="327152" y="334137"/>
                  </a:lnTo>
                  <a:lnTo>
                    <a:pt x="328803" y="334137"/>
                  </a:lnTo>
                  <a:lnTo>
                    <a:pt x="329565" y="335407"/>
                  </a:lnTo>
                  <a:lnTo>
                    <a:pt x="330708" y="335407"/>
                  </a:lnTo>
                  <a:lnTo>
                    <a:pt x="333248" y="334137"/>
                  </a:lnTo>
                  <a:lnTo>
                    <a:pt x="334772" y="332867"/>
                  </a:lnTo>
                  <a:lnTo>
                    <a:pt x="336423" y="332867"/>
                  </a:lnTo>
                  <a:lnTo>
                    <a:pt x="338201" y="331597"/>
                  </a:lnTo>
                  <a:lnTo>
                    <a:pt x="340360" y="330327"/>
                  </a:lnTo>
                  <a:lnTo>
                    <a:pt x="342773" y="329057"/>
                  </a:lnTo>
                  <a:lnTo>
                    <a:pt x="344932" y="327787"/>
                  </a:lnTo>
                  <a:lnTo>
                    <a:pt x="349504" y="323977"/>
                  </a:lnTo>
                  <a:lnTo>
                    <a:pt x="350647" y="322707"/>
                  </a:lnTo>
                  <a:lnTo>
                    <a:pt x="351409" y="322707"/>
                  </a:lnTo>
                  <a:lnTo>
                    <a:pt x="352298" y="321437"/>
                  </a:lnTo>
                  <a:lnTo>
                    <a:pt x="352933" y="320167"/>
                  </a:lnTo>
                  <a:lnTo>
                    <a:pt x="353695" y="320167"/>
                  </a:lnTo>
                  <a:lnTo>
                    <a:pt x="354076" y="318897"/>
                  </a:lnTo>
                  <a:lnTo>
                    <a:pt x="354584" y="315087"/>
                  </a:lnTo>
                  <a:close/>
                </a:path>
                <a:path w="450850" h="512445">
                  <a:moveTo>
                    <a:pt x="450723" y="452374"/>
                  </a:moveTo>
                  <a:lnTo>
                    <a:pt x="450469" y="452374"/>
                  </a:lnTo>
                  <a:lnTo>
                    <a:pt x="449961" y="451104"/>
                  </a:lnTo>
                  <a:lnTo>
                    <a:pt x="435356" y="428256"/>
                  </a:lnTo>
                  <a:lnTo>
                    <a:pt x="376682" y="336677"/>
                  </a:lnTo>
                  <a:lnTo>
                    <a:pt x="376174" y="336677"/>
                  </a:lnTo>
                  <a:lnTo>
                    <a:pt x="375539" y="335407"/>
                  </a:lnTo>
                  <a:lnTo>
                    <a:pt x="370205" y="335407"/>
                  </a:lnTo>
                  <a:lnTo>
                    <a:pt x="368681" y="336677"/>
                  </a:lnTo>
                  <a:lnTo>
                    <a:pt x="366776" y="336677"/>
                  </a:lnTo>
                  <a:lnTo>
                    <a:pt x="364871" y="337947"/>
                  </a:lnTo>
                  <a:lnTo>
                    <a:pt x="360172" y="340487"/>
                  </a:lnTo>
                  <a:lnTo>
                    <a:pt x="352552" y="346837"/>
                  </a:lnTo>
                  <a:lnTo>
                    <a:pt x="351409" y="348107"/>
                  </a:lnTo>
                  <a:lnTo>
                    <a:pt x="350647" y="348107"/>
                  </a:lnTo>
                  <a:lnTo>
                    <a:pt x="349377" y="350647"/>
                  </a:lnTo>
                  <a:lnTo>
                    <a:pt x="349123" y="351917"/>
                  </a:lnTo>
                  <a:lnTo>
                    <a:pt x="349885" y="354457"/>
                  </a:lnTo>
                  <a:lnTo>
                    <a:pt x="375793" y="395224"/>
                  </a:lnTo>
                  <a:lnTo>
                    <a:pt x="245364" y="479044"/>
                  </a:lnTo>
                  <a:lnTo>
                    <a:pt x="244475" y="479044"/>
                  </a:lnTo>
                  <a:lnTo>
                    <a:pt x="243840" y="480314"/>
                  </a:lnTo>
                  <a:lnTo>
                    <a:pt x="243586" y="481584"/>
                  </a:lnTo>
                  <a:lnTo>
                    <a:pt x="243205" y="481584"/>
                  </a:lnTo>
                  <a:lnTo>
                    <a:pt x="243713" y="485394"/>
                  </a:lnTo>
                  <a:lnTo>
                    <a:pt x="244094" y="486664"/>
                  </a:lnTo>
                  <a:lnTo>
                    <a:pt x="244856" y="487934"/>
                  </a:lnTo>
                  <a:lnTo>
                    <a:pt x="247015" y="493014"/>
                  </a:lnTo>
                  <a:lnTo>
                    <a:pt x="256159" y="506984"/>
                  </a:lnTo>
                  <a:lnTo>
                    <a:pt x="259207" y="509524"/>
                  </a:lnTo>
                  <a:lnTo>
                    <a:pt x="261620" y="512064"/>
                  </a:lnTo>
                  <a:lnTo>
                    <a:pt x="266573" y="512064"/>
                  </a:lnTo>
                  <a:lnTo>
                    <a:pt x="397002" y="428256"/>
                  </a:lnTo>
                  <a:lnTo>
                    <a:pt x="423037" y="468884"/>
                  </a:lnTo>
                  <a:lnTo>
                    <a:pt x="423545" y="468884"/>
                  </a:lnTo>
                  <a:lnTo>
                    <a:pt x="424307" y="470154"/>
                  </a:lnTo>
                  <a:lnTo>
                    <a:pt x="429768" y="470154"/>
                  </a:lnTo>
                  <a:lnTo>
                    <a:pt x="431419" y="468884"/>
                  </a:lnTo>
                  <a:lnTo>
                    <a:pt x="433197" y="468884"/>
                  </a:lnTo>
                  <a:lnTo>
                    <a:pt x="435102" y="467614"/>
                  </a:lnTo>
                  <a:lnTo>
                    <a:pt x="437261" y="466344"/>
                  </a:lnTo>
                  <a:lnTo>
                    <a:pt x="442087" y="463804"/>
                  </a:lnTo>
                  <a:lnTo>
                    <a:pt x="444246" y="461264"/>
                  </a:lnTo>
                  <a:lnTo>
                    <a:pt x="447421" y="458724"/>
                  </a:lnTo>
                  <a:lnTo>
                    <a:pt x="448691" y="457454"/>
                  </a:lnTo>
                  <a:lnTo>
                    <a:pt x="449453" y="457454"/>
                  </a:lnTo>
                  <a:lnTo>
                    <a:pt x="450215" y="456184"/>
                  </a:lnTo>
                  <a:lnTo>
                    <a:pt x="450596" y="454914"/>
                  </a:lnTo>
                  <a:lnTo>
                    <a:pt x="450723" y="452374"/>
                  </a:lnTo>
                  <a:close/>
                </a:path>
              </a:pathLst>
            </a:custGeom>
            <a:solidFill>
              <a:srgbClr val="001F5F"/>
            </a:solidFill>
          </p:spPr>
          <p:txBody>
            <a:bodyPr wrap="square" lIns="0" tIns="0" rIns="0" bIns="0" rtlCol="0"/>
            <a:lstStyle/>
            <a:p>
              <a:endParaRPr/>
            </a:p>
          </p:txBody>
        </p:sp>
        <p:pic>
          <p:nvPicPr>
            <p:cNvPr id="25" name="object 25"/>
            <p:cNvPicPr/>
            <p:nvPr/>
          </p:nvPicPr>
          <p:blipFill>
            <a:blip r:embed="rId13" cstate="print"/>
            <a:stretch>
              <a:fillRect/>
            </a:stretch>
          </p:blipFill>
          <p:spPr>
            <a:xfrm>
              <a:off x="5297423" y="5144769"/>
              <a:ext cx="79628" cy="76073"/>
            </a:xfrm>
            <a:prstGeom prst="rect">
              <a:avLst/>
            </a:prstGeom>
          </p:spPr>
        </p:pic>
        <p:sp>
          <p:nvSpPr>
            <p:cNvPr id="26" name="object 26"/>
            <p:cNvSpPr/>
            <p:nvPr/>
          </p:nvSpPr>
          <p:spPr>
            <a:xfrm>
              <a:off x="5372099" y="4901183"/>
              <a:ext cx="2769235" cy="294640"/>
            </a:xfrm>
            <a:custGeom>
              <a:avLst/>
              <a:gdLst/>
              <a:ahLst/>
              <a:cxnLst/>
              <a:rect l="l" t="t" r="r" b="b"/>
              <a:pathLst>
                <a:path w="2769234" h="294639">
                  <a:moveTo>
                    <a:pt x="2766441" y="0"/>
                  </a:moveTo>
                  <a:lnTo>
                    <a:pt x="0" y="268859"/>
                  </a:lnTo>
                  <a:lnTo>
                    <a:pt x="2539" y="294386"/>
                  </a:lnTo>
                  <a:lnTo>
                    <a:pt x="2768980" y="25400"/>
                  </a:lnTo>
                  <a:lnTo>
                    <a:pt x="2766441" y="0"/>
                  </a:lnTo>
                  <a:close/>
                </a:path>
              </a:pathLst>
            </a:custGeom>
            <a:solidFill>
              <a:srgbClr val="1F4E79"/>
            </a:solidFill>
          </p:spPr>
          <p:txBody>
            <a:bodyPr wrap="square" lIns="0" tIns="0" rIns="0" bIns="0" rtlCol="0"/>
            <a:lstStyle/>
            <a:p>
              <a:endParaRPr/>
            </a:p>
          </p:txBody>
        </p:sp>
        <p:sp>
          <p:nvSpPr>
            <p:cNvPr id="27" name="object 27"/>
            <p:cNvSpPr/>
            <p:nvPr/>
          </p:nvSpPr>
          <p:spPr>
            <a:xfrm>
              <a:off x="6598919" y="4715763"/>
              <a:ext cx="60325" cy="194945"/>
            </a:xfrm>
            <a:custGeom>
              <a:avLst/>
              <a:gdLst/>
              <a:ahLst/>
              <a:cxnLst/>
              <a:rect l="l" t="t" r="r" b="b"/>
              <a:pathLst>
                <a:path w="60325" h="194945">
                  <a:moveTo>
                    <a:pt x="30860" y="0"/>
                  </a:moveTo>
                  <a:lnTo>
                    <a:pt x="25907" y="0"/>
                  </a:lnTo>
                  <a:lnTo>
                    <a:pt x="22732" y="254"/>
                  </a:lnTo>
                  <a:lnTo>
                    <a:pt x="0" y="8255"/>
                  </a:lnTo>
                  <a:lnTo>
                    <a:pt x="21208" y="191008"/>
                  </a:lnTo>
                  <a:lnTo>
                    <a:pt x="21589" y="191897"/>
                  </a:lnTo>
                  <a:lnTo>
                    <a:pt x="23113" y="193294"/>
                  </a:lnTo>
                  <a:lnTo>
                    <a:pt x="25780" y="194183"/>
                  </a:lnTo>
                  <a:lnTo>
                    <a:pt x="29336" y="194563"/>
                  </a:lnTo>
                  <a:lnTo>
                    <a:pt x="37591" y="194437"/>
                  </a:lnTo>
                  <a:lnTo>
                    <a:pt x="60071" y="187452"/>
                  </a:lnTo>
                  <a:lnTo>
                    <a:pt x="60071" y="185547"/>
                  </a:lnTo>
                  <a:lnTo>
                    <a:pt x="38988" y="4063"/>
                  </a:lnTo>
                  <a:lnTo>
                    <a:pt x="34416" y="508"/>
                  </a:lnTo>
                  <a:lnTo>
                    <a:pt x="32893" y="127"/>
                  </a:lnTo>
                  <a:lnTo>
                    <a:pt x="30860" y="0"/>
                  </a:lnTo>
                  <a:close/>
                </a:path>
              </a:pathLst>
            </a:custGeom>
            <a:solidFill>
              <a:srgbClr val="001F5F"/>
            </a:solidFill>
          </p:spPr>
          <p:txBody>
            <a:bodyPr wrap="square" lIns="0" tIns="0" rIns="0" bIns="0" rtlCol="0"/>
            <a:lstStyle/>
            <a:p>
              <a:endParaRPr/>
            </a:p>
          </p:txBody>
        </p:sp>
        <p:pic>
          <p:nvPicPr>
            <p:cNvPr id="28" name="object 28"/>
            <p:cNvPicPr/>
            <p:nvPr/>
          </p:nvPicPr>
          <p:blipFill>
            <a:blip r:embed="rId14" cstate="print"/>
            <a:stretch>
              <a:fillRect/>
            </a:stretch>
          </p:blipFill>
          <p:spPr>
            <a:xfrm>
              <a:off x="6679183" y="4657344"/>
              <a:ext cx="461645" cy="238379"/>
            </a:xfrm>
            <a:prstGeom prst="rect">
              <a:avLst/>
            </a:prstGeom>
          </p:spPr>
        </p:pic>
      </p:grpSp>
      <p:sp>
        <p:nvSpPr>
          <p:cNvPr id="29" name="object 29"/>
          <p:cNvSpPr txBox="1"/>
          <p:nvPr/>
        </p:nvSpPr>
        <p:spPr>
          <a:xfrm>
            <a:off x="6581393" y="2620518"/>
            <a:ext cx="743585" cy="329565"/>
          </a:xfrm>
          <a:prstGeom prst="rect">
            <a:avLst/>
          </a:prstGeom>
        </p:spPr>
        <p:txBody>
          <a:bodyPr vert="horz" wrap="square" lIns="0" tIns="11430" rIns="0" bIns="0" rtlCol="0">
            <a:spAutoFit/>
          </a:bodyPr>
          <a:lstStyle/>
          <a:p>
            <a:pPr marL="12700">
              <a:lnSpc>
                <a:spcPct val="100000"/>
              </a:lnSpc>
              <a:spcBef>
                <a:spcPts val="90"/>
              </a:spcBef>
            </a:pPr>
            <a:r>
              <a:rPr sz="2000" b="1" spc="-35" dirty="0">
                <a:latin typeface="Times New Roman"/>
                <a:cs typeface="Times New Roman"/>
              </a:rPr>
              <a:t>S</a:t>
            </a:r>
            <a:r>
              <a:rPr sz="2000" b="1" spc="-25" dirty="0">
                <a:latin typeface="Times New Roman"/>
                <a:cs typeface="Times New Roman"/>
              </a:rPr>
              <a:t>t</a:t>
            </a:r>
            <a:r>
              <a:rPr sz="2000" b="1" spc="-20" dirty="0">
                <a:latin typeface="Times New Roman"/>
                <a:cs typeface="Times New Roman"/>
              </a:rPr>
              <a:t>a</a:t>
            </a:r>
            <a:r>
              <a:rPr sz="2000" b="1" spc="-25" dirty="0">
                <a:latin typeface="Times New Roman"/>
                <a:cs typeface="Times New Roman"/>
              </a:rPr>
              <a:t>t</a:t>
            </a:r>
            <a:r>
              <a:rPr sz="2000" b="1" spc="-5" dirty="0">
                <a:latin typeface="Times New Roman"/>
                <a:cs typeface="Times New Roman"/>
              </a:rPr>
              <a:t>e</a:t>
            </a:r>
            <a:r>
              <a:rPr sz="2000" b="1" spc="-90" dirty="0">
                <a:latin typeface="Times New Roman"/>
                <a:cs typeface="Times New Roman"/>
              </a:rPr>
              <a:t> </a:t>
            </a:r>
            <a:r>
              <a:rPr sz="2000" b="1" spc="-5" dirty="0">
                <a:latin typeface="Times New Roman"/>
                <a:cs typeface="Times New Roman"/>
              </a:rPr>
              <a:t>1</a:t>
            </a:r>
            <a:endParaRPr sz="2000">
              <a:latin typeface="Times New Roman"/>
              <a:cs typeface="Times New Roman"/>
            </a:endParaRPr>
          </a:p>
        </p:txBody>
      </p:sp>
      <p:sp>
        <p:nvSpPr>
          <p:cNvPr id="30" name="object 30"/>
          <p:cNvSpPr txBox="1"/>
          <p:nvPr/>
        </p:nvSpPr>
        <p:spPr>
          <a:xfrm>
            <a:off x="7862061" y="5320986"/>
            <a:ext cx="1527175" cy="953135"/>
          </a:xfrm>
          <a:prstGeom prst="rect">
            <a:avLst/>
          </a:prstGeom>
        </p:spPr>
        <p:txBody>
          <a:bodyPr vert="horz" wrap="square" lIns="0" tIns="64769" rIns="0" bIns="0" rtlCol="0">
            <a:spAutoFit/>
          </a:bodyPr>
          <a:lstStyle/>
          <a:p>
            <a:pPr marL="12700">
              <a:lnSpc>
                <a:spcPct val="100000"/>
              </a:lnSpc>
              <a:spcBef>
                <a:spcPts val="509"/>
              </a:spcBef>
            </a:pPr>
            <a:r>
              <a:rPr sz="1800" b="1" spc="-5" dirty="0">
                <a:latin typeface="Times New Roman"/>
                <a:cs typeface="Times New Roman"/>
              </a:rPr>
              <a:t>State</a:t>
            </a:r>
            <a:r>
              <a:rPr sz="1800" b="1" spc="-45" dirty="0">
                <a:latin typeface="Times New Roman"/>
                <a:cs typeface="Times New Roman"/>
              </a:rPr>
              <a:t> </a:t>
            </a:r>
            <a:r>
              <a:rPr sz="1800" b="1" dirty="0">
                <a:latin typeface="Times New Roman"/>
                <a:cs typeface="Times New Roman"/>
              </a:rPr>
              <a:t>2</a:t>
            </a:r>
            <a:endParaRPr sz="1800">
              <a:latin typeface="Times New Roman"/>
              <a:cs typeface="Times New Roman"/>
            </a:endParaRPr>
          </a:p>
          <a:p>
            <a:pPr marL="12700" marR="5080">
              <a:lnSpc>
                <a:spcPct val="100000"/>
              </a:lnSpc>
              <a:spcBef>
                <a:spcPts val="409"/>
              </a:spcBef>
            </a:pPr>
            <a:r>
              <a:rPr sz="1800" b="1" spc="-10" dirty="0">
                <a:latin typeface="Times New Roman"/>
                <a:cs typeface="Times New Roman"/>
              </a:rPr>
              <a:t>Union</a:t>
            </a:r>
            <a:r>
              <a:rPr sz="1800" b="1" spc="-5" dirty="0">
                <a:latin typeface="Times New Roman"/>
                <a:cs typeface="Times New Roman"/>
              </a:rPr>
              <a:t> </a:t>
            </a:r>
            <a:r>
              <a:rPr sz="1800" b="1" spc="-10" dirty="0">
                <a:latin typeface="Times New Roman"/>
                <a:cs typeface="Times New Roman"/>
              </a:rPr>
              <a:t>territory </a:t>
            </a:r>
            <a:r>
              <a:rPr sz="1800" b="1" spc="-434" dirty="0">
                <a:latin typeface="Times New Roman"/>
                <a:cs typeface="Times New Roman"/>
              </a:rPr>
              <a:t> </a:t>
            </a:r>
            <a:r>
              <a:rPr sz="1800" b="1" spc="40" dirty="0">
                <a:latin typeface="Times New Roman"/>
                <a:cs typeface="Times New Roman"/>
              </a:rPr>
              <a:t>w</a:t>
            </a:r>
            <a:r>
              <a:rPr sz="1800" b="1" spc="-5" dirty="0">
                <a:latin typeface="Times New Roman"/>
                <a:cs typeface="Times New Roman"/>
              </a:rPr>
              <a:t>ith</a:t>
            </a:r>
            <a:r>
              <a:rPr sz="1800" b="1" spc="-55" dirty="0">
                <a:latin typeface="Times New Roman"/>
                <a:cs typeface="Times New Roman"/>
              </a:rPr>
              <a:t> </a:t>
            </a:r>
            <a:r>
              <a:rPr sz="1800" b="1" dirty="0">
                <a:latin typeface="Times New Roman"/>
                <a:cs typeface="Times New Roman"/>
              </a:rPr>
              <a:t>le</a:t>
            </a:r>
            <a:r>
              <a:rPr sz="1800" b="1" spc="5" dirty="0">
                <a:latin typeface="Times New Roman"/>
                <a:cs typeface="Times New Roman"/>
              </a:rPr>
              <a:t>g</a:t>
            </a:r>
            <a:r>
              <a:rPr sz="1800" b="1" spc="-5" dirty="0">
                <a:latin typeface="Times New Roman"/>
                <a:cs typeface="Times New Roman"/>
              </a:rPr>
              <a:t>isl</a:t>
            </a:r>
            <a:r>
              <a:rPr sz="1800" b="1" spc="-15" dirty="0">
                <a:latin typeface="Times New Roman"/>
                <a:cs typeface="Times New Roman"/>
              </a:rPr>
              <a:t>a</a:t>
            </a:r>
            <a:r>
              <a:rPr sz="1800" b="1" spc="-5" dirty="0">
                <a:latin typeface="Times New Roman"/>
                <a:cs typeface="Times New Roman"/>
              </a:rPr>
              <a:t>t</a:t>
            </a:r>
            <a:r>
              <a:rPr sz="1800" b="1" spc="-20" dirty="0">
                <a:latin typeface="Times New Roman"/>
                <a:cs typeface="Times New Roman"/>
              </a:rPr>
              <a:t>u</a:t>
            </a:r>
            <a:r>
              <a:rPr sz="1800" b="1" spc="-35" dirty="0">
                <a:latin typeface="Times New Roman"/>
                <a:cs typeface="Times New Roman"/>
              </a:rPr>
              <a:t>r</a:t>
            </a:r>
            <a:r>
              <a:rPr sz="1800" b="1" dirty="0">
                <a:latin typeface="Times New Roman"/>
                <a:cs typeface="Times New Roman"/>
              </a:rPr>
              <a:t>e</a:t>
            </a:r>
            <a:endParaRPr sz="1800">
              <a:latin typeface="Times New Roman"/>
              <a:cs typeface="Times New Roman"/>
            </a:endParaRPr>
          </a:p>
        </p:txBody>
      </p:sp>
      <p:grpSp>
        <p:nvGrpSpPr>
          <p:cNvPr id="31" name="object 31"/>
          <p:cNvGrpSpPr/>
          <p:nvPr/>
        </p:nvGrpSpPr>
        <p:grpSpPr>
          <a:xfrm>
            <a:off x="4279391" y="1920239"/>
            <a:ext cx="2301240" cy="451484"/>
            <a:chOff x="4279391" y="1920239"/>
            <a:chExt cx="2301240" cy="451484"/>
          </a:xfrm>
        </p:grpSpPr>
        <p:sp>
          <p:nvSpPr>
            <p:cNvPr id="32" name="object 32"/>
            <p:cNvSpPr/>
            <p:nvPr/>
          </p:nvSpPr>
          <p:spPr>
            <a:xfrm>
              <a:off x="4279391" y="2192273"/>
              <a:ext cx="2226310" cy="179070"/>
            </a:xfrm>
            <a:custGeom>
              <a:avLst/>
              <a:gdLst/>
              <a:ahLst/>
              <a:cxnLst/>
              <a:rect l="l" t="t" r="r" b="b"/>
              <a:pathLst>
                <a:path w="2226309" h="179069">
                  <a:moveTo>
                    <a:pt x="2224024" y="0"/>
                  </a:moveTo>
                  <a:lnTo>
                    <a:pt x="0" y="153797"/>
                  </a:lnTo>
                  <a:lnTo>
                    <a:pt x="1778" y="178942"/>
                  </a:lnTo>
                  <a:lnTo>
                    <a:pt x="2225929" y="25273"/>
                  </a:lnTo>
                  <a:lnTo>
                    <a:pt x="2224024" y="0"/>
                  </a:lnTo>
                  <a:close/>
                </a:path>
              </a:pathLst>
            </a:custGeom>
            <a:solidFill>
              <a:srgbClr val="1F4E79"/>
            </a:solidFill>
          </p:spPr>
          <p:txBody>
            <a:bodyPr wrap="square" lIns="0" tIns="0" rIns="0" bIns="0" rtlCol="0"/>
            <a:lstStyle/>
            <a:p>
              <a:endParaRPr/>
            </a:p>
          </p:txBody>
        </p:sp>
        <p:pic>
          <p:nvPicPr>
            <p:cNvPr id="33" name="object 33"/>
            <p:cNvPicPr/>
            <p:nvPr/>
          </p:nvPicPr>
          <p:blipFill>
            <a:blip r:embed="rId15" cstate="print"/>
            <a:stretch>
              <a:fillRect/>
            </a:stretch>
          </p:blipFill>
          <p:spPr>
            <a:xfrm>
              <a:off x="6501637" y="2167127"/>
              <a:ext cx="78866" cy="75564"/>
            </a:xfrm>
            <a:prstGeom prst="rect">
              <a:avLst/>
            </a:prstGeom>
          </p:spPr>
        </p:pic>
        <p:sp>
          <p:nvSpPr>
            <p:cNvPr id="34" name="object 34"/>
            <p:cNvSpPr/>
            <p:nvPr/>
          </p:nvSpPr>
          <p:spPr>
            <a:xfrm>
              <a:off x="5108447" y="1951227"/>
              <a:ext cx="50800" cy="194310"/>
            </a:xfrm>
            <a:custGeom>
              <a:avLst/>
              <a:gdLst/>
              <a:ahLst/>
              <a:cxnLst/>
              <a:rect l="l" t="t" r="r" b="b"/>
              <a:pathLst>
                <a:path w="50800" h="194310">
                  <a:moveTo>
                    <a:pt x="26415" y="0"/>
                  </a:moveTo>
                  <a:lnTo>
                    <a:pt x="12318" y="888"/>
                  </a:lnTo>
                  <a:lnTo>
                    <a:pt x="7492" y="1777"/>
                  </a:lnTo>
                  <a:lnTo>
                    <a:pt x="0" y="6858"/>
                  </a:lnTo>
                  <a:lnTo>
                    <a:pt x="11302" y="188975"/>
                  </a:lnTo>
                  <a:lnTo>
                    <a:pt x="24384" y="194183"/>
                  </a:lnTo>
                  <a:lnTo>
                    <a:pt x="27686" y="194183"/>
                  </a:lnTo>
                  <a:lnTo>
                    <a:pt x="38480" y="193421"/>
                  </a:lnTo>
                  <a:lnTo>
                    <a:pt x="43434" y="192405"/>
                  </a:lnTo>
                  <a:lnTo>
                    <a:pt x="50673" y="187451"/>
                  </a:lnTo>
                  <a:lnTo>
                    <a:pt x="39369" y="5842"/>
                  </a:lnTo>
                  <a:lnTo>
                    <a:pt x="28955" y="254"/>
                  </a:lnTo>
                  <a:lnTo>
                    <a:pt x="26415" y="0"/>
                  </a:lnTo>
                  <a:close/>
                </a:path>
              </a:pathLst>
            </a:custGeom>
            <a:solidFill>
              <a:srgbClr val="001F5F"/>
            </a:solidFill>
          </p:spPr>
          <p:txBody>
            <a:bodyPr wrap="square" lIns="0" tIns="0" rIns="0" bIns="0" rtlCol="0"/>
            <a:lstStyle/>
            <a:p>
              <a:endParaRPr/>
            </a:p>
          </p:txBody>
        </p:sp>
        <p:pic>
          <p:nvPicPr>
            <p:cNvPr id="35" name="object 35"/>
            <p:cNvPicPr/>
            <p:nvPr/>
          </p:nvPicPr>
          <p:blipFill>
            <a:blip r:embed="rId16" cstate="print"/>
            <a:stretch>
              <a:fillRect/>
            </a:stretch>
          </p:blipFill>
          <p:spPr>
            <a:xfrm>
              <a:off x="5184774" y="1939416"/>
              <a:ext cx="169290" cy="199136"/>
            </a:xfrm>
            <a:prstGeom prst="rect">
              <a:avLst/>
            </a:prstGeom>
          </p:spPr>
        </p:pic>
        <p:pic>
          <p:nvPicPr>
            <p:cNvPr id="36" name="object 36"/>
            <p:cNvPicPr/>
            <p:nvPr/>
          </p:nvPicPr>
          <p:blipFill>
            <a:blip r:embed="rId17" cstate="print"/>
            <a:stretch>
              <a:fillRect/>
            </a:stretch>
          </p:blipFill>
          <p:spPr>
            <a:xfrm>
              <a:off x="5376925" y="1920239"/>
              <a:ext cx="276987" cy="209423"/>
            </a:xfrm>
            <a:prstGeom prst="rect">
              <a:avLst/>
            </a:prstGeom>
          </p:spPr>
        </p:pic>
      </p:grpSp>
      <p:grpSp>
        <p:nvGrpSpPr>
          <p:cNvPr id="37" name="object 37"/>
          <p:cNvGrpSpPr/>
          <p:nvPr/>
        </p:nvGrpSpPr>
        <p:grpSpPr>
          <a:xfrm>
            <a:off x="-6095" y="758951"/>
            <a:ext cx="10582910" cy="137160"/>
            <a:chOff x="-6095" y="758951"/>
            <a:chExt cx="10582910" cy="137160"/>
          </a:xfrm>
        </p:grpSpPr>
        <p:sp>
          <p:nvSpPr>
            <p:cNvPr id="38" name="object 38"/>
            <p:cNvSpPr/>
            <p:nvPr/>
          </p:nvSpPr>
          <p:spPr>
            <a:xfrm>
              <a:off x="0" y="819911"/>
              <a:ext cx="10473055" cy="45720"/>
            </a:xfrm>
            <a:custGeom>
              <a:avLst/>
              <a:gdLst/>
              <a:ahLst/>
              <a:cxnLst/>
              <a:rect l="l" t="t" r="r" b="b"/>
              <a:pathLst>
                <a:path w="10473055" h="45719">
                  <a:moveTo>
                    <a:pt x="10472928" y="0"/>
                  </a:moveTo>
                  <a:lnTo>
                    <a:pt x="0" y="0"/>
                  </a:lnTo>
                  <a:lnTo>
                    <a:pt x="0" y="45720"/>
                  </a:lnTo>
                  <a:lnTo>
                    <a:pt x="10472928" y="45720"/>
                  </a:lnTo>
                  <a:lnTo>
                    <a:pt x="10472928" y="0"/>
                  </a:lnTo>
                  <a:close/>
                </a:path>
              </a:pathLst>
            </a:custGeom>
            <a:solidFill>
              <a:srgbClr val="001F5F"/>
            </a:solidFill>
          </p:spPr>
          <p:txBody>
            <a:bodyPr wrap="square" lIns="0" tIns="0" rIns="0" bIns="0" rtlCol="0"/>
            <a:lstStyle/>
            <a:p>
              <a:endParaRPr/>
            </a:p>
          </p:txBody>
        </p:sp>
        <p:sp>
          <p:nvSpPr>
            <p:cNvPr id="39" name="object 39"/>
            <p:cNvSpPr/>
            <p:nvPr/>
          </p:nvSpPr>
          <p:spPr>
            <a:xfrm>
              <a:off x="0" y="819911"/>
              <a:ext cx="10473055" cy="45720"/>
            </a:xfrm>
            <a:custGeom>
              <a:avLst/>
              <a:gdLst/>
              <a:ahLst/>
              <a:cxnLst/>
              <a:rect l="l" t="t" r="r" b="b"/>
              <a:pathLst>
                <a:path w="10473055" h="45719">
                  <a:moveTo>
                    <a:pt x="0" y="45720"/>
                  </a:moveTo>
                  <a:lnTo>
                    <a:pt x="10472928" y="45720"/>
                  </a:lnTo>
                  <a:lnTo>
                    <a:pt x="10472928" y="0"/>
                  </a:lnTo>
                  <a:lnTo>
                    <a:pt x="0" y="0"/>
                  </a:lnTo>
                  <a:lnTo>
                    <a:pt x="0" y="45720"/>
                  </a:lnTo>
                  <a:close/>
                </a:path>
              </a:pathLst>
            </a:custGeom>
            <a:ln w="12192">
              <a:solidFill>
                <a:srgbClr val="001F5F"/>
              </a:solidFill>
            </a:ln>
          </p:spPr>
          <p:txBody>
            <a:bodyPr wrap="square" lIns="0" tIns="0" rIns="0" bIns="0" rtlCol="0"/>
            <a:lstStyle/>
            <a:p>
              <a:endParaRPr/>
            </a:p>
          </p:txBody>
        </p:sp>
        <p:pic>
          <p:nvPicPr>
            <p:cNvPr id="40" name="object 40"/>
            <p:cNvPicPr/>
            <p:nvPr/>
          </p:nvPicPr>
          <p:blipFill>
            <a:blip r:embed="rId18" cstate="print"/>
            <a:stretch>
              <a:fillRect/>
            </a:stretch>
          </p:blipFill>
          <p:spPr>
            <a:xfrm>
              <a:off x="10466832" y="758951"/>
              <a:ext cx="109728" cy="137160"/>
            </a:xfrm>
            <a:prstGeom prst="rect">
              <a:avLst/>
            </a:prstGeom>
          </p:spPr>
        </p:pic>
      </p:grpSp>
      <p:pic>
        <p:nvPicPr>
          <p:cNvPr id="41" name="object 41"/>
          <p:cNvPicPr/>
          <p:nvPr/>
        </p:nvPicPr>
        <p:blipFill>
          <a:blip r:embed="rId19" cstate="print"/>
          <a:stretch>
            <a:fillRect/>
          </a:stretch>
        </p:blipFill>
        <p:spPr>
          <a:xfrm>
            <a:off x="0" y="0"/>
            <a:ext cx="777240" cy="674813"/>
          </a:xfrm>
          <a:prstGeom prst="rect">
            <a:avLst/>
          </a:prstGeom>
        </p:spPr>
      </p:pic>
      <p:pic>
        <p:nvPicPr>
          <p:cNvPr id="42" name="object 42"/>
          <p:cNvPicPr/>
          <p:nvPr/>
        </p:nvPicPr>
        <p:blipFill>
          <a:blip r:embed="rId20" cstate="print"/>
          <a:stretch>
            <a:fillRect/>
          </a:stretch>
        </p:blipFill>
        <p:spPr>
          <a:xfrm>
            <a:off x="10637519" y="39"/>
            <a:ext cx="1550004" cy="825969"/>
          </a:xfrm>
          <a:prstGeom prst="rect">
            <a:avLst/>
          </a:prstGeom>
        </p:spPr>
      </p:pic>
      <p:sp>
        <p:nvSpPr>
          <p:cNvPr id="43" name="object 43"/>
          <p:cNvSpPr/>
          <p:nvPr/>
        </p:nvSpPr>
        <p:spPr>
          <a:xfrm>
            <a:off x="11381231" y="6242303"/>
            <a:ext cx="548640" cy="551815"/>
          </a:xfrm>
          <a:custGeom>
            <a:avLst/>
            <a:gdLst/>
            <a:ahLst/>
            <a:cxnLst/>
            <a:rect l="l" t="t" r="r" b="b"/>
            <a:pathLst>
              <a:path w="548640" h="551815">
                <a:moveTo>
                  <a:pt x="274320" y="0"/>
                </a:moveTo>
                <a:lnTo>
                  <a:pt x="225008" y="4444"/>
                </a:lnTo>
                <a:lnTo>
                  <a:pt x="178597" y="17256"/>
                </a:lnTo>
                <a:lnTo>
                  <a:pt x="135861" y="37659"/>
                </a:lnTo>
                <a:lnTo>
                  <a:pt x="97575" y="64873"/>
                </a:lnTo>
                <a:lnTo>
                  <a:pt x="64513" y="98119"/>
                </a:lnTo>
                <a:lnTo>
                  <a:pt x="37450" y="136618"/>
                </a:lnTo>
                <a:lnTo>
                  <a:pt x="17161" y="179591"/>
                </a:lnTo>
                <a:lnTo>
                  <a:pt x="4419" y="226259"/>
                </a:lnTo>
                <a:lnTo>
                  <a:pt x="0" y="275844"/>
                </a:lnTo>
                <a:lnTo>
                  <a:pt x="4419" y="325428"/>
                </a:lnTo>
                <a:lnTo>
                  <a:pt x="17161" y="372096"/>
                </a:lnTo>
                <a:lnTo>
                  <a:pt x="37450" y="415069"/>
                </a:lnTo>
                <a:lnTo>
                  <a:pt x="64513" y="453568"/>
                </a:lnTo>
                <a:lnTo>
                  <a:pt x="97575" y="486814"/>
                </a:lnTo>
                <a:lnTo>
                  <a:pt x="135861" y="514028"/>
                </a:lnTo>
                <a:lnTo>
                  <a:pt x="178597" y="534431"/>
                </a:lnTo>
                <a:lnTo>
                  <a:pt x="225008" y="547243"/>
                </a:lnTo>
                <a:lnTo>
                  <a:pt x="274320" y="551688"/>
                </a:lnTo>
                <a:lnTo>
                  <a:pt x="323631" y="547243"/>
                </a:lnTo>
                <a:lnTo>
                  <a:pt x="370042" y="534431"/>
                </a:lnTo>
                <a:lnTo>
                  <a:pt x="412778" y="514028"/>
                </a:lnTo>
                <a:lnTo>
                  <a:pt x="451064" y="486814"/>
                </a:lnTo>
                <a:lnTo>
                  <a:pt x="484126" y="453568"/>
                </a:lnTo>
                <a:lnTo>
                  <a:pt x="511189" y="415069"/>
                </a:lnTo>
                <a:lnTo>
                  <a:pt x="531478" y="372096"/>
                </a:lnTo>
                <a:lnTo>
                  <a:pt x="544220" y="325428"/>
                </a:lnTo>
                <a:lnTo>
                  <a:pt x="548640" y="275844"/>
                </a:lnTo>
                <a:lnTo>
                  <a:pt x="544220" y="226259"/>
                </a:lnTo>
                <a:lnTo>
                  <a:pt x="531478" y="179591"/>
                </a:lnTo>
                <a:lnTo>
                  <a:pt x="511189" y="136618"/>
                </a:lnTo>
                <a:lnTo>
                  <a:pt x="484126" y="98119"/>
                </a:lnTo>
                <a:lnTo>
                  <a:pt x="451064" y="64873"/>
                </a:lnTo>
                <a:lnTo>
                  <a:pt x="412778" y="37659"/>
                </a:lnTo>
                <a:lnTo>
                  <a:pt x="370042" y="17256"/>
                </a:lnTo>
                <a:lnTo>
                  <a:pt x="323631" y="4444"/>
                </a:lnTo>
                <a:lnTo>
                  <a:pt x="274320" y="0"/>
                </a:lnTo>
                <a:close/>
              </a:path>
            </a:pathLst>
          </a:custGeom>
          <a:solidFill>
            <a:srgbClr val="000000">
              <a:alpha val="79998"/>
            </a:srgbClr>
          </a:solidFill>
        </p:spPr>
        <p:txBody>
          <a:bodyPr wrap="square" lIns="0" tIns="0" rIns="0" bIns="0" rtlCol="0"/>
          <a:lstStyle/>
          <a:p>
            <a:endParaRPr/>
          </a:p>
        </p:txBody>
      </p:sp>
      <p:sp>
        <p:nvSpPr>
          <p:cNvPr id="44" name="object 44"/>
          <p:cNvSpPr txBox="1"/>
          <p:nvPr/>
        </p:nvSpPr>
        <p:spPr>
          <a:xfrm>
            <a:off x="11567541" y="6410655"/>
            <a:ext cx="177800" cy="208915"/>
          </a:xfrm>
          <a:prstGeom prst="rect">
            <a:avLst/>
          </a:prstGeom>
        </p:spPr>
        <p:txBody>
          <a:bodyPr vert="horz" wrap="square" lIns="0" tIns="12700" rIns="0" bIns="0" rtlCol="0">
            <a:spAutoFit/>
          </a:bodyPr>
          <a:lstStyle/>
          <a:p>
            <a:pPr marL="12700">
              <a:lnSpc>
                <a:spcPct val="100000"/>
              </a:lnSpc>
              <a:spcBef>
                <a:spcPts val="100"/>
              </a:spcBef>
            </a:pPr>
            <a:r>
              <a:rPr sz="1200" spc="-5" dirty="0">
                <a:solidFill>
                  <a:srgbClr val="FFFFFF"/>
                </a:solidFill>
                <a:latin typeface="Times New Roman"/>
                <a:cs typeface="Times New Roman"/>
              </a:rPr>
              <a:t>18</a:t>
            </a:r>
            <a:endParaRPr sz="1200">
              <a:latin typeface="Times New Roman"/>
              <a:cs typeface="Times New Roman"/>
            </a:endParaRPr>
          </a:p>
        </p:txBody>
      </p:sp>
      <p:sp>
        <p:nvSpPr>
          <p:cNvPr id="45" name="object 45"/>
          <p:cNvSpPr txBox="1"/>
          <p:nvPr/>
        </p:nvSpPr>
        <p:spPr>
          <a:xfrm>
            <a:off x="852322" y="5249417"/>
            <a:ext cx="2139315" cy="634365"/>
          </a:xfrm>
          <a:prstGeom prst="rect">
            <a:avLst/>
          </a:prstGeom>
        </p:spPr>
        <p:txBody>
          <a:bodyPr vert="horz" wrap="square" lIns="0" tIns="11430" rIns="0" bIns="0" rtlCol="0">
            <a:spAutoFit/>
          </a:bodyPr>
          <a:lstStyle/>
          <a:p>
            <a:pPr marL="12700">
              <a:lnSpc>
                <a:spcPct val="100000"/>
              </a:lnSpc>
              <a:spcBef>
                <a:spcPts val="90"/>
              </a:spcBef>
            </a:pPr>
            <a:r>
              <a:rPr sz="2000" b="1" spc="-5" dirty="0">
                <a:latin typeface="Times New Roman"/>
                <a:cs typeface="Times New Roman"/>
              </a:rPr>
              <a:t>Union</a:t>
            </a:r>
            <a:r>
              <a:rPr sz="2000" b="1" spc="-65" dirty="0">
                <a:latin typeface="Times New Roman"/>
                <a:cs typeface="Times New Roman"/>
              </a:rPr>
              <a:t> </a:t>
            </a:r>
            <a:r>
              <a:rPr sz="2000" b="1" spc="-25" dirty="0">
                <a:latin typeface="Times New Roman"/>
                <a:cs typeface="Times New Roman"/>
              </a:rPr>
              <a:t>Territory</a:t>
            </a:r>
            <a:endParaRPr sz="2000">
              <a:latin typeface="Times New Roman"/>
              <a:cs typeface="Times New Roman"/>
            </a:endParaRPr>
          </a:p>
          <a:p>
            <a:pPr marL="12700">
              <a:lnSpc>
                <a:spcPct val="100000"/>
              </a:lnSpc>
            </a:pPr>
            <a:r>
              <a:rPr sz="2000" b="1" dirty="0">
                <a:latin typeface="Times New Roman"/>
                <a:cs typeface="Times New Roman"/>
              </a:rPr>
              <a:t>without</a:t>
            </a:r>
            <a:r>
              <a:rPr sz="2000" b="1" spc="-70" dirty="0">
                <a:latin typeface="Times New Roman"/>
                <a:cs typeface="Times New Roman"/>
              </a:rPr>
              <a:t> </a:t>
            </a:r>
            <a:r>
              <a:rPr sz="2000" b="1" spc="-10" dirty="0">
                <a:latin typeface="Times New Roman"/>
                <a:cs typeface="Times New Roman"/>
              </a:rPr>
              <a:t>Legislature</a:t>
            </a:r>
            <a:endParaRPr sz="2000">
              <a:latin typeface="Times New Roman"/>
              <a:cs typeface="Times New Roman"/>
            </a:endParaRPr>
          </a:p>
        </p:txBody>
      </p:sp>
    </p:spTree>
    <p:extLst>
      <p:ext uri="{BB962C8B-B14F-4D97-AF65-F5344CB8AC3E}">
        <p14:creationId xmlns:p14="http://schemas.microsoft.com/office/powerpoint/2010/main" val="81504908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US" sz="2800" b="1" dirty="0" smtClean="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smtClean="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smtClean="0">
              <a:solidFill>
                <a:schemeClr val="tx1"/>
              </a:solidFill>
              <a:latin typeface="Times New Roman" panose="02020603050405020304" pitchFamily="18" charset="0"/>
              <a:cs typeface="Times New Roman" panose="02020603050405020304" pitchFamily="18" charset="0"/>
            </a:endParaRPr>
          </a:p>
          <a:p>
            <a:endParaRPr lang="en-US" sz="2800" b="1" dirty="0" smtClean="0">
              <a:solidFill>
                <a:schemeClr val="tx1"/>
              </a:solidFill>
              <a:latin typeface="Times New Roman" panose="02020603050405020304" pitchFamily="18" charset="0"/>
              <a:cs typeface="Times New Roman" panose="02020603050405020304" pitchFamily="18" charset="0"/>
            </a:endParaRPr>
          </a:p>
          <a:p>
            <a:endParaRPr lang="en-US" sz="2800" b="1" dirty="0" smtClean="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IN" sz="2800" dirty="0">
                <a:solidFill>
                  <a:schemeClr val="tx1"/>
                </a:solidFill>
              </a:rPr>
              <a:t>GST stands for </a:t>
            </a:r>
            <a:r>
              <a:rPr lang="en-IN" sz="2800" dirty="0">
                <a:solidFill>
                  <a:srgbClr val="FF0000"/>
                </a:solidFill>
              </a:rPr>
              <a:t>Goods and Services Tax</a:t>
            </a:r>
            <a:r>
              <a:rPr lang="en-IN" sz="2800" dirty="0">
                <a:solidFill>
                  <a:schemeClr val="tx1"/>
                </a:solidFill>
              </a:rPr>
              <a:t>, which is a </a:t>
            </a:r>
            <a:r>
              <a:rPr lang="en-IN" sz="2800" dirty="0">
                <a:solidFill>
                  <a:srgbClr val="FF0000"/>
                </a:solidFill>
              </a:rPr>
              <a:t>destination based value added tax charged on the production, sale and consumption of goods and services. </a:t>
            </a:r>
            <a:r>
              <a:rPr lang="en-IN" sz="2800" dirty="0">
                <a:solidFill>
                  <a:schemeClr val="tx1"/>
                </a:solidFill>
              </a:rPr>
              <a:t>It is important to note that GST applies to the value addition at each stage, and no other tax would be levied, which results in the elimination of cascading effect.</a:t>
            </a:r>
          </a:p>
          <a:p>
            <a:endParaRPr lang="en-IN" sz="2800" dirty="0">
              <a:solidFill>
                <a:schemeClr val="tx1"/>
              </a:solidFill>
            </a:endParaRPr>
          </a:p>
          <a:p>
            <a:pPr marL="457200" indent="-457200">
              <a:buFont typeface="Wingdings" panose="05000000000000000000" pitchFamily="2" charset="2"/>
              <a:buChar char="Ø"/>
            </a:pPr>
            <a:r>
              <a:rPr lang="en-IN" sz="2800" dirty="0">
                <a:solidFill>
                  <a:schemeClr val="tx1"/>
                </a:solidFill>
              </a:rPr>
              <a:t>In this system, the </a:t>
            </a:r>
            <a:r>
              <a:rPr lang="en-IN" sz="2800" dirty="0">
                <a:solidFill>
                  <a:srgbClr val="FF0000"/>
                </a:solidFill>
              </a:rPr>
              <a:t>supplier of the goods or services is eligible </a:t>
            </a:r>
            <a:r>
              <a:rPr lang="en-IN" sz="2800" dirty="0">
                <a:solidFill>
                  <a:schemeClr val="tx1"/>
                </a:solidFill>
              </a:rPr>
              <a:t>to avail </a:t>
            </a:r>
            <a:r>
              <a:rPr lang="en-IN" sz="2800" dirty="0">
                <a:solidFill>
                  <a:srgbClr val="FF0000"/>
                </a:solidFill>
              </a:rPr>
              <a:t>input tax credit</a:t>
            </a:r>
            <a:r>
              <a:rPr lang="en-IN" sz="2800" dirty="0">
                <a:solidFill>
                  <a:schemeClr val="tx1"/>
                </a:solidFill>
              </a:rPr>
              <a:t>, i.e. </a:t>
            </a:r>
            <a:r>
              <a:rPr lang="en-IN" sz="2800" dirty="0">
                <a:solidFill>
                  <a:srgbClr val="7030A0"/>
                </a:solidFill>
              </a:rPr>
              <a:t>the GST paid on the </a:t>
            </a:r>
            <a:r>
              <a:rPr lang="en-IN" sz="2800" dirty="0">
                <a:solidFill>
                  <a:srgbClr val="C00000"/>
                </a:solidFill>
              </a:rPr>
              <a:t>purchase of goods</a:t>
            </a:r>
            <a:r>
              <a:rPr lang="en-IN" sz="2800" dirty="0">
                <a:solidFill>
                  <a:srgbClr val="7030A0"/>
                </a:solidFill>
              </a:rPr>
              <a:t>, will be set off against the GST payable on the </a:t>
            </a:r>
            <a:r>
              <a:rPr lang="en-IN" sz="2800" dirty="0">
                <a:solidFill>
                  <a:srgbClr val="C00000"/>
                </a:solidFill>
              </a:rPr>
              <a:t>supply of goods and services</a:t>
            </a:r>
            <a:r>
              <a:rPr lang="en-IN" sz="2800" dirty="0">
                <a:solidFill>
                  <a:srgbClr val="7030A0"/>
                </a:solidFill>
              </a:rPr>
              <a:t>. </a:t>
            </a:r>
            <a:r>
              <a:rPr lang="en-IN" sz="2800" dirty="0">
                <a:solidFill>
                  <a:schemeClr val="tx1"/>
                </a:solidFill>
              </a:rPr>
              <a:t>So, ultimately, </a:t>
            </a:r>
            <a:r>
              <a:rPr lang="en-IN" sz="2800" dirty="0">
                <a:solidFill>
                  <a:srgbClr val="C00000"/>
                </a:solidFill>
              </a:rPr>
              <a:t>the end consumer</a:t>
            </a:r>
            <a:r>
              <a:rPr lang="en-IN" sz="2800" dirty="0">
                <a:solidFill>
                  <a:schemeClr val="tx1"/>
                </a:solidFill>
              </a:rPr>
              <a:t>, bears the tax imposed by the last supplier in the distribution chain</a:t>
            </a: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800" dirty="0" smtClean="0">
              <a:solidFill>
                <a:schemeClr val="tx1"/>
              </a:solidFill>
            </a:endParaRPr>
          </a:p>
          <a:p>
            <a:pPr marL="457200" indent="-457200">
              <a:buFont typeface="Wingdings" panose="05000000000000000000" pitchFamily="2" charset="2"/>
              <a:buChar char="Ø"/>
            </a:pPr>
            <a:endParaRPr lang="en-IN" sz="2600" dirty="0">
              <a:solidFill>
                <a:schemeClr val="tx1"/>
              </a:solidFill>
            </a:endParaRPr>
          </a:p>
          <a:p>
            <a:pPr marL="457200" indent="-457200">
              <a:buFont typeface="Wingdings" panose="05000000000000000000" pitchFamily="2" charset="2"/>
              <a:buChar char="Ø"/>
            </a:pPr>
            <a:endParaRPr lang="en-US" sz="26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smtClean="0">
                <a:solidFill>
                  <a:schemeClr val="tx1"/>
                </a:solidFill>
                <a:latin typeface="Times New Roman" panose="02020603050405020304" pitchFamily="18" charset="0"/>
                <a:cs typeface="Times New Roman" panose="02020603050405020304" pitchFamily="18" charset="0"/>
              </a:rPr>
              <a:t> </a:t>
            </a:r>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2118360" y="137893"/>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smtClean="0">
                <a:solidFill>
                  <a:schemeClr val="bg1"/>
                </a:solidFill>
                <a:latin typeface="Times New Roman" panose="02020603050405020304" pitchFamily="18" charset="0"/>
                <a:cs typeface="Times New Roman" panose="02020603050405020304" pitchFamily="18" charset="0"/>
              </a:rPr>
              <a:t>Goods and Services Tax (GST)</a:t>
            </a:r>
            <a:endParaRPr lang="en-US" sz="36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11587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US" sz="2800" b="1" dirty="0" smtClean="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smtClean="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smtClean="0">
              <a:solidFill>
                <a:schemeClr val="tx1"/>
              </a:solidFill>
              <a:latin typeface="Times New Roman" panose="02020603050405020304" pitchFamily="18" charset="0"/>
              <a:cs typeface="Times New Roman" panose="02020603050405020304" pitchFamily="18" charset="0"/>
            </a:endParaRPr>
          </a:p>
          <a:p>
            <a:endParaRPr lang="en-US" sz="2800" b="1" dirty="0" smtClean="0">
              <a:solidFill>
                <a:schemeClr val="tx1"/>
              </a:solidFill>
              <a:latin typeface="Times New Roman" panose="02020603050405020304" pitchFamily="18" charset="0"/>
              <a:cs typeface="Times New Roman" panose="02020603050405020304" pitchFamily="18" charset="0"/>
            </a:endParaRPr>
          </a:p>
          <a:p>
            <a:endParaRPr lang="en-US" sz="2800" b="1" dirty="0" smtClean="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IN" sz="2600" dirty="0">
                <a:solidFill>
                  <a:schemeClr val="tx1"/>
                </a:solidFill>
              </a:rPr>
              <a:t>In India, </a:t>
            </a:r>
            <a:r>
              <a:rPr lang="en-IN" sz="2600" dirty="0">
                <a:solidFill>
                  <a:srgbClr val="C00000"/>
                </a:solidFill>
              </a:rPr>
              <a:t>Dual GST has been implemented</a:t>
            </a:r>
            <a:r>
              <a:rPr lang="en-IN" sz="2600" dirty="0">
                <a:solidFill>
                  <a:schemeClr val="tx1"/>
                </a:solidFill>
              </a:rPr>
              <a:t>, which is simultaneously levied by the </a:t>
            </a:r>
            <a:r>
              <a:rPr lang="en-IN" sz="2600" dirty="0">
                <a:solidFill>
                  <a:srgbClr val="C00000"/>
                </a:solidFill>
              </a:rPr>
              <a:t>Central and State government </a:t>
            </a:r>
            <a:r>
              <a:rPr lang="en-IN" sz="2600" dirty="0">
                <a:solidFill>
                  <a:schemeClr val="tx1"/>
                </a:solidFill>
              </a:rPr>
              <a:t>to tax goods and services. The Centre charges the tax on intrastate sales,  called as </a:t>
            </a:r>
            <a:r>
              <a:rPr lang="en-IN" sz="2600" dirty="0">
                <a:solidFill>
                  <a:srgbClr val="C00000"/>
                </a:solidFill>
              </a:rPr>
              <a:t>CGST</a:t>
            </a:r>
            <a:r>
              <a:rPr lang="en-IN" sz="2600" dirty="0">
                <a:solidFill>
                  <a:schemeClr val="tx1"/>
                </a:solidFill>
              </a:rPr>
              <a:t>. States charges tax on the services, called </a:t>
            </a:r>
            <a:r>
              <a:rPr lang="en-IN" sz="2600" dirty="0">
                <a:solidFill>
                  <a:srgbClr val="C00000"/>
                </a:solidFill>
              </a:rPr>
              <a:t>SGST</a:t>
            </a:r>
            <a:r>
              <a:rPr lang="en-IN" sz="2600" dirty="0">
                <a:solidFill>
                  <a:schemeClr val="tx1"/>
                </a:solidFill>
              </a:rPr>
              <a:t> </a:t>
            </a:r>
            <a:r>
              <a:rPr lang="en-IN" sz="2600" dirty="0" smtClean="0">
                <a:solidFill>
                  <a:schemeClr val="tx1"/>
                </a:solidFill>
              </a:rPr>
              <a:t>and </a:t>
            </a:r>
            <a:r>
              <a:rPr lang="en-IN" sz="2600" dirty="0" smtClean="0">
                <a:solidFill>
                  <a:srgbClr val="7030A0"/>
                </a:solidFill>
              </a:rPr>
              <a:t>UTGST</a:t>
            </a:r>
            <a:r>
              <a:rPr lang="en-IN" sz="2600" dirty="0" smtClean="0">
                <a:solidFill>
                  <a:schemeClr val="tx1"/>
                </a:solidFill>
              </a:rPr>
              <a:t> </a:t>
            </a:r>
            <a:r>
              <a:rPr lang="en-IN" sz="2600" dirty="0">
                <a:solidFill>
                  <a:schemeClr val="tx1"/>
                </a:solidFill>
              </a:rPr>
              <a:t>in case of </a:t>
            </a:r>
            <a:r>
              <a:rPr lang="en-IN" sz="2600" dirty="0">
                <a:solidFill>
                  <a:srgbClr val="7030A0"/>
                </a:solidFill>
              </a:rPr>
              <a:t>Union Territories</a:t>
            </a:r>
            <a:r>
              <a:rPr lang="en-IN" sz="2600" dirty="0">
                <a:solidFill>
                  <a:schemeClr val="tx1"/>
                </a:solidFill>
              </a:rPr>
              <a:t>. For the </a:t>
            </a:r>
            <a:r>
              <a:rPr lang="en-IN" sz="2600" dirty="0">
                <a:solidFill>
                  <a:srgbClr val="7030A0"/>
                </a:solidFill>
              </a:rPr>
              <a:t>interstate supply of goods and services </a:t>
            </a:r>
            <a:r>
              <a:rPr lang="en-IN" sz="2600" dirty="0">
                <a:solidFill>
                  <a:schemeClr val="tx1"/>
                </a:solidFill>
              </a:rPr>
              <a:t>that are taxable, are covered under </a:t>
            </a:r>
            <a:r>
              <a:rPr lang="en-IN" sz="2600" dirty="0">
                <a:solidFill>
                  <a:srgbClr val="7030A0"/>
                </a:solidFill>
              </a:rPr>
              <a:t>IGST</a:t>
            </a:r>
            <a:r>
              <a:rPr lang="en-IN" sz="2600" dirty="0">
                <a:solidFill>
                  <a:schemeClr val="tx1"/>
                </a:solidFill>
              </a:rPr>
              <a:t>, i.e. </a:t>
            </a:r>
            <a:r>
              <a:rPr lang="en-IN" sz="2600" dirty="0">
                <a:solidFill>
                  <a:srgbClr val="7030A0"/>
                </a:solidFill>
              </a:rPr>
              <a:t>Integrated Goods and Services Tax</a:t>
            </a:r>
            <a:r>
              <a:rPr lang="en-IN" sz="2600" dirty="0">
                <a:solidFill>
                  <a:schemeClr val="tx1"/>
                </a:solidFill>
              </a:rPr>
              <a:t>.</a:t>
            </a:r>
          </a:p>
          <a:p>
            <a:pPr marL="457200" indent="-457200">
              <a:buFont typeface="Wingdings" panose="05000000000000000000" pitchFamily="2" charset="2"/>
              <a:buChar char="Ø"/>
            </a:pPr>
            <a:r>
              <a:rPr lang="en-IN" sz="2600" dirty="0">
                <a:solidFill>
                  <a:schemeClr val="tx1"/>
                </a:solidFill>
              </a:rPr>
              <a:t>There are many indirect taxes, which are subsumed after the introduction of GST in India, which are as under:</a:t>
            </a:r>
          </a:p>
          <a:p>
            <a:pPr lvl="0"/>
            <a:r>
              <a:rPr lang="en-IN" sz="2600" dirty="0" smtClean="0">
                <a:solidFill>
                  <a:srgbClr val="FF0000"/>
                </a:solidFill>
              </a:rPr>
              <a:t>      At </a:t>
            </a:r>
            <a:r>
              <a:rPr lang="en-IN" sz="2600" dirty="0">
                <a:solidFill>
                  <a:srgbClr val="FF0000"/>
                </a:solidFill>
              </a:rPr>
              <a:t>CGST level: </a:t>
            </a:r>
            <a:r>
              <a:rPr lang="en-IN" sz="2600" dirty="0">
                <a:solidFill>
                  <a:schemeClr val="tx1"/>
                </a:solidFill>
              </a:rPr>
              <a:t>Excise Duty, Service tax, surcharge and cess</a:t>
            </a:r>
          </a:p>
          <a:p>
            <a:pPr lvl="0"/>
            <a:r>
              <a:rPr lang="en-IN" sz="2600" dirty="0" smtClean="0">
                <a:solidFill>
                  <a:schemeClr val="tx1"/>
                </a:solidFill>
              </a:rPr>
              <a:t>     </a:t>
            </a:r>
            <a:r>
              <a:rPr lang="en-IN" sz="2600" dirty="0" smtClean="0">
                <a:solidFill>
                  <a:srgbClr val="FF0000"/>
                </a:solidFill>
              </a:rPr>
              <a:t>At </a:t>
            </a:r>
            <a:r>
              <a:rPr lang="en-IN" sz="2600" dirty="0">
                <a:solidFill>
                  <a:srgbClr val="FF0000"/>
                </a:solidFill>
              </a:rPr>
              <a:t>SGST level:</a:t>
            </a:r>
            <a:r>
              <a:rPr lang="en-IN" sz="2600" dirty="0">
                <a:solidFill>
                  <a:schemeClr val="tx1"/>
                </a:solidFill>
              </a:rPr>
              <a:t> </a:t>
            </a:r>
            <a:r>
              <a:rPr lang="en-IN" sz="2600" dirty="0" err="1">
                <a:solidFill>
                  <a:schemeClr val="tx1"/>
                </a:solidFill>
              </a:rPr>
              <a:t>Octroi</a:t>
            </a:r>
            <a:r>
              <a:rPr lang="en-IN" sz="2600" dirty="0">
                <a:solidFill>
                  <a:schemeClr val="tx1"/>
                </a:solidFill>
              </a:rPr>
              <a:t> or Entry tax, VAT, luxury tax, surcharge and cess</a:t>
            </a:r>
          </a:p>
          <a:p>
            <a:pPr lvl="0"/>
            <a:r>
              <a:rPr lang="en-IN" sz="2600" dirty="0" smtClean="0">
                <a:solidFill>
                  <a:schemeClr val="tx1"/>
                </a:solidFill>
              </a:rPr>
              <a:t>     </a:t>
            </a:r>
            <a:r>
              <a:rPr lang="en-IN" sz="2600" dirty="0" smtClean="0">
                <a:solidFill>
                  <a:srgbClr val="FF0000"/>
                </a:solidFill>
              </a:rPr>
              <a:t>At </a:t>
            </a:r>
            <a:r>
              <a:rPr lang="en-IN" sz="2600" dirty="0">
                <a:solidFill>
                  <a:srgbClr val="FF0000"/>
                </a:solidFill>
              </a:rPr>
              <a:t>IGST level: </a:t>
            </a:r>
            <a:r>
              <a:rPr lang="en-IN" sz="2600" dirty="0">
                <a:solidFill>
                  <a:schemeClr val="tx1"/>
                </a:solidFill>
              </a:rPr>
              <a:t>Central Sales Tax</a:t>
            </a:r>
          </a:p>
          <a:p>
            <a:r>
              <a:rPr lang="en-IN" sz="2600" dirty="0" smtClean="0">
                <a:solidFill>
                  <a:schemeClr val="tx1"/>
                </a:solidFill>
              </a:rPr>
              <a:t>     GST </a:t>
            </a:r>
            <a:r>
              <a:rPr lang="en-IN" sz="2600" dirty="0">
                <a:solidFill>
                  <a:schemeClr val="tx1"/>
                </a:solidFill>
              </a:rPr>
              <a:t>slabs are fixed at </a:t>
            </a:r>
            <a:r>
              <a:rPr lang="en-IN" sz="2600" dirty="0">
                <a:solidFill>
                  <a:srgbClr val="0070C0"/>
                </a:solidFill>
              </a:rPr>
              <a:t>5%, 12%, 18% and 28%.</a:t>
            </a:r>
          </a:p>
          <a:p>
            <a:pPr marL="457200" indent="-457200">
              <a:buFont typeface="Wingdings" panose="05000000000000000000" pitchFamily="2" charset="2"/>
              <a:buChar char="Ø"/>
            </a:pPr>
            <a:r>
              <a:rPr lang="en-US" sz="2000" b="1" dirty="0"/>
              <a:t>0% for essential items, 5% for basic necessities, 12% for standard goods, 18% for most consumer products, and 28% for luxury and sin goods.</a:t>
            </a:r>
            <a:endParaRPr lang="en-IN" sz="2000" b="1" dirty="0">
              <a:solidFill>
                <a:schemeClr val="tx1"/>
              </a:solidFill>
            </a:endParaRPr>
          </a:p>
          <a:p>
            <a:pPr marL="457200" indent="-457200">
              <a:buFont typeface="Wingdings" panose="05000000000000000000" pitchFamily="2" charset="2"/>
              <a:buChar char="Ø"/>
            </a:pPr>
            <a:endParaRPr lang="en-IN" sz="2800" dirty="0" smtClean="0">
              <a:solidFill>
                <a:schemeClr val="tx1"/>
              </a:solidFill>
            </a:endParaRPr>
          </a:p>
          <a:p>
            <a:pPr marL="457200" indent="-457200">
              <a:buFont typeface="Wingdings" panose="05000000000000000000" pitchFamily="2" charset="2"/>
              <a:buChar char="Ø"/>
            </a:pPr>
            <a:endParaRPr lang="en-IN" sz="2600" dirty="0">
              <a:solidFill>
                <a:schemeClr val="tx1"/>
              </a:solidFill>
            </a:endParaRPr>
          </a:p>
          <a:p>
            <a:pPr marL="457200" indent="-457200">
              <a:buFont typeface="Wingdings" panose="05000000000000000000" pitchFamily="2" charset="2"/>
              <a:buChar char="Ø"/>
            </a:pPr>
            <a:endParaRPr lang="en-US" sz="26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smtClean="0">
                <a:solidFill>
                  <a:schemeClr val="tx1"/>
                </a:solidFill>
                <a:latin typeface="Times New Roman" panose="02020603050405020304" pitchFamily="18" charset="0"/>
                <a:cs typeface="Times New Roman" panose="02020603050405020304" pitchFamily="18" charset="0"/>
              </a:rPr>
              <a:t> </a:t>
            </a:r>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2118360" y="72579"/>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1"/>
                </a:solidFill>
                <a:latin typeface="Times New Roman" panose="02020603050405020304" pitchFamily="18" charset="0"/>
                <a:cs typeface="Times New Roman" panose="02020603050405020304" pitchFamily="18" charset="0"/>
              </a:rPr>
              <a:t>Goods and Services Tax (GST</a:t>
            </a:r>
            <a:r>
              <a:rPr lang="en-US" sz="3600" b="1" dirty="0" smtClean="0">
                <a:solidFill>
                  <a:schemeClr val="bg1"/>
                </a:solidFill>
                <a:latin typeface="Times New Roman" panose="02020603050405020304" pitchFamily="18" charset="0"/>
                <a:cs typeface="Times New Roman" panose="02020603050405020304" pitchFamily="18" charset="0"/>
              </a:rPr>
              <a:t>)</a:t>
            </a:r>
            <a:endParaRPr lang="en-US" sz="36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06033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48427" y="431807"/>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US" sz="2800" b="1" dirty="0" smtClean="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smtClean="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pPr algn="ctr"/>
            <a:endParaRPr lang="en-IN" sz="2600" dirty="0" smtClean="0">
              <a:solidFill>
                <a:schemeClr val="tx1"/>
              </a:solidFill>
            </a:endParaRPr>
          </a:p>
          <a:p>
            <a:pPr algn="ctr"/>
            <a:r>
              <a:rPr lang="en-IN" sz="2600" b="1" dirty="0" smtClean="0">
                <a:solidFill>
                  <a:schemeClr val="tx1"/>
                </a:solidFill>
              </a:rPr>
              <a:t>Impact </a:t>
            </a:r>
            <a:r>
              <a:rPr lang="en-IN" sz="2600" b="1" dirty="0">
                <a:solidFill>
                  <a:schemeClr val="tx1"/>
                </a:solidFill>
              </a:rPr>
              <a:t>of GST on </a:t>
            </a:r>
            <a:r>
              <a:rPr lang="en-IN" sz="2600" b="1" dirty="0" smtClean="0">
                <a:solidFill>
                  <a:schemeClr val="tx1"/>
                </a:solidFill>
              </a:rPr>
              <a:t>Consumers</a:t>
            </a:r>
          </a:p>
          <a:p>
            <a:pPr algn="ctr"/>
            <a:endParaRPr lang="en-IN" sz="2600" b="1" dirty="0">
              <a:solidFill>
                <a:schemeClr val="tx1"/>
              </a:solidFill>
            </a:endParaRPr>
          </a:p>
          <a:p>
            <a:pPr marL="514350" lvl="0" indent="-514350">
              <a:buFont typeface="+mj-lt"/>
              <a:buAutoNum type="arabicPeriod"/>
            </a:pPr>
            <a:r>
              <a:rPr lang="en-IN" sz="2800" dirty="0">
                <a:solidFill>
                  <a:schemeClr val="tx1"/>
                </a:solidFill>
              </a:rPr>
              <a:t>Simpler Tax system</a:t>
            </a:r>
          </a:p>
          <a:p>
            <a:pPr marL="514350" lvl="0" indent="-514350">
              <a:buFont typeface="+mj-lt"/>
              <a:buAutoNum type="arabicPeriod"/>
            </a:pPr>
            <a:r>
              <a:rPr lang="en-IN" sz="2800" dirty="0">
                <a:solidFill>
                  <a:schemeClr val="tx1"/>
                </a:solidFill>
              </a:rPr>
              <a:t>Reduction in prices of goods &amp; services </a:t>
            </a:r>
            <a:r>
              <a:rPr lang="en-IN" sz="2800" dirty="0" smtClean="0">
                <a:solidFill>
                  <a:schemeClr val="tx1"/>
                </a:solidFill>
              </a:rPr>
              <a:t>due to </a:t>
            </a:r>
            <a:r>
              <a:rPr lang="en-IN" sz="2800" dirty="0">
                <a:solidFill>
                  <a:schemeClr val="tx1"/>
                </a:solidFill>
              </a:rPr>
              <a:t>elimination of repeated taxes</a:t>
            </a:r>
          </a:p>
          <a:p>
            <a:pPr marL="514350" lvl="0" indent="-514350">
              <a:buFont typeface="+mj-lt"/>
              <a:buAutoNum type="arabicPeriod"/>
            </a:pPr>
            <a:r>
              <a:rPr lang="en-IN" sz="2800" dirty="0">
                <a:solidFill>
                  <a:schemeClr val="tx1"/>
                </a:solidFill>
              </a:rPr>
              <a:t>Uniform prices throughout the country</a:t>
            </a:r>
          </a:p>
          <a:p>
            <a:pPr marL="514350" lvl="0" indent="-514350">
              <a:buFont typeface="+mj-lt"/>
              <a:buAutoNum type="arabicPeriod"/>
            </a:pPr>
            <a:r>
              <a:rPr lang="en-IN" sz="2800" dirty="0">
                <a:solidFill>
                  <a:schemeClr val="tx1"/>
                </a:solidFill>
              </a:rPr>
              <a:t>Transparency in taxation system</a:t>
            </a:r>
          </a:p>
          <a:p>
            <a:pPr marL="514350" lvl="0" indent="-514350">
              <a:buFont typeface="+mj-lt"/>
              <a:buAutoNum type="arabicPeriod"/>
            </a:pPr>
            <a:r>
              <a:rPr lang="en-IN" sz="2800" dirty="0">
                <a:solidFill>
                  <a:schemeClr val="tx1"/>
                </a:solidFill>
              </a:rPr>
              <a:t>Increase in employment opportunities</a:t>
            </a:r>
          </a:p>
          <a:p>
            <a:endParaRPr lang="en-IN" sz="2800" dirty="0">
              <a:solidFill>
                <a:schemeClr val="tx1"/>
              </a:solidFill>
            </a:endParaRPr>
          </a:p>
          <a:p>
            <a:pPr marL="457200" indent="-457200">
              <a:buFont typeface="Wingdings" panose="05000000000000000000" pitchFamily="2" charset="2"/>
              <a:buChar char="Ø"/>
            </a:pPr>
            <a:endParaRPr lang="en-IN" sz="2800" dirty="0" smtClean="0">
              <a:solidFill>
                <a:schemeClr val="tx1"/>
              </a:solidFill>
            </a:endParaRPr>
          </a:p>
          <a:p>
            <a:pPr marL="457200" indent="-457200">
              <a:buFont typeface="Wingdings" panose="05000000000000000000" pitchFamily="2" charset="2"/>
              <a:buChar char="Ø"/>
            </a:pPr>
            <a:endParaRPr lang="en-IN" sz="2600" dirty="0">
              <a:solidFill>
                <a:schemeClr val="tx1"/>
              </a:solidFill>
            </a:endParaRPr>
          </a:p>
          <a:p>
            <a:endParaRPr lang="en-US" sz="26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smtClean="0">
                <a:solidFill>
                  <a:schemeClr val="tx1"/>
                </a:solidFill>
                <a:latin typeface="Times New Roman" panose="02020603050405020304" pitchFamily="18" charset="0"/>
                <a:cs typeface="Times New Roman" panose="02020603050405020304" pitchFamily="18" charset="0"/>
              </a:rPr>
              <a:t> </a:t>
            </a:r>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2118360" y="72579"/>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1"/>
                </a:solidFill>
                <a:latin typeface="Times New Roman" panose="02020603050405020304" pitchFamily="18" charset="0"/>
                <a:cs typeface="Times New Roman" panose="02020603050405020304" pitchFamily="18" charset="0"/>
              </a:rPr>
              <a:t>Goods and Services Tax (GST)</a:t>
            </a:r>
          </a:p>
        </p:txBody>
      </p:sp>
    </p:spTree>
    <p:extLst>
      <p:ext uri="{BB962C8B-B14F-4D97-AF65-F5344CB8AC3E}">
        <p14:creationId xmlns:p14="http://schemas.microsoft.com/office/powerpoint/2010/main" val="905207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842950" y="497122"/>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US" sz="2800" b="1" dirty="0" smtClean="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smtClean="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pPr algn="ctr"/>
            <a:endParaRPr lang="en-IN" sz="2600" b="1" dirty="0" smtClean="0">
              <a:solidFill>
                <a:schemeClr val="tx1"/>
              </a:solidFill>
            </a:endParaRPr>
          </a:p>
          <a:p>
            <a:pPr algn="ctr"/>
            <a:endParaRPr lang="en-IN" sz="2600" b="1" dirty="0">
              <a:solidFill>
                <a:schemeClr val="tx1"/>
              </a:solidFill>
            </a:endParaRPr>
          </a:p>
          <a:p>
            <a:pPr algn="ctr"/>
            <a:r>
              <a:rPr lang="en-IN" sz="2600" b="1" dirty="0" smtClean="0">
                <a:solidFill>
                  <a:schemeClr val="tx1"/>
                </a:solidFill>
              </a:rPr>
              <a:t>Impact </a:t>
            </a:r>
            <a:r>
              <a:rPr lang="en-IN" sz="2600" b="1" dirty="0">
                <a:solidFill>
                  <a:schemeClr val="tx1"/>
                </a:solidFill>
              </a:rPr>
              <a:t>of GST on </a:t>
            </a:r>
            <a:r>
              <a:rPr lang="en-IN" sz="2600" b="1" dirty="0" smtClean="0">
                <a:solidFill>
                  <a:schemeClr val="tx1"/>
                </a:solidFill>
              </a:rPr>
              <a:t>Traders</a:t>
            </a:r>
          </a:p>
          <a:p>
            <a:pPr algn="ctr"/>
            <a:endParaRPr lang="en-IN" sz="2600" dirty="0">
              <a:solidFill>
                <a:schemeClr val="tx1"/>
              </a:solidFill>
            </a:endParaRPr>
          </a:p>
          <a:p>
            <a:pPr marL="514350" lvl="0" indent="-514350">
              <a:buFont typeface="+mj-lt"/>
              <a:buAutoNum type="arabicPeriod"/>
            </a:pPr>
            <a:r>
              <a:rPr lang="en-IN" sz="3200" dirty="0">
                <a:solidFill>
                  <a:schemeClr val="tx1"/>
                </a:solidFill>
              </a:rPr>
              <a:t>Reduction in multiplicity of taxes</a:t>
            </a:r>
          </a:p>
          <a:p>
            <a:pPr marL="514350" lvl="0" indent="-514350">
              <a:buFont typeface="+mj-lt"/>
              <a:buAutoNum type="arabicPeriod"/>
            </a:pPr>
            <a:r>
              <a:rPr lang="en-IN" sz="3200" dirty="0">
                <a:solidFill>
                  <a:schemeClr val="tx1"/>
                </a:solidFill>
              </a:rPr>
              <a:t>Reducing double taxation through </a:t>
            </a:r>
            <a:r>
              <a:rPr lang="en-IN" sz="3200" dirty="0">
                <a:solidFill>
                  <a:srgbClr val="0070C0"/>
                </a:solidFill>
              </a:rPr>
              <a:t>input </a:t>
            </a:r>
            <a:r>
              <a:rPr lang="en-IN" sz="3200" dirty="0" smtClean="0">
                <a:solidFill>
                  <a:srgbClr val="0070C0"/>
                </a:solidFill>
              </a:rPr>
              <a:t>tax credit</a:t>
            </a:r>
            <a:endParaRPr lang="en-IN" sz="3200" dirty="0">
              <a:solidFill>
                <a:srgbClr val="0070C0"/>
              </a:solidFill>
            </a:endParaRPr>
          </a:p>
          <a:p>
            <a:pPr marL="514350" lvl="0" indent="-514350">
              <a:buFont typeface="+mj-lt"/>
              <a:buAutoNum type="arabicPeriod"/>
            </a:pPr>
            <a:r>
              <a:rPr lang="en-IN" sz="3200" dirty="0">
                <a:solidFill>
                  <a:schemeClr val="tx1"/>
                </a:solidFill>
              </a:rPr>
              <a:t>More efficient neutralisation of taxes</a:t>
            </a:r>
          </a:p>
          <a:p>
            <a:pPr marL="514350" lvl="0" indent="-514350">
              <a:buFont typeface="+mj-lt"/>
              <a:buAutoNum type="arabicPeriod"/>
            </a:pPr>
            <a:r>
              <a:rPr lang="en-IN" sz="3200" dirty="0">
                <a:solidFill>
                  <a:schemeClr val="tx1"/>
                </a:solidFill>
              </a:rPr>
              <a:t>especially for exports</a:t>
            </a:r>
          </a:p>
          <a:p>
            <a:pPr marL="514350" lvl="0" indent="-514350">
              <a:buFont typeface="+mj-lt"/>
              <a:buAutoNum type="arabicPeriod"/>
            </a:pPr>
            <a:r>
              <a:rPr lang="en-IN" sz="3200" dirty="0">
                <a:solidFill>
                  <a:schemeClr val="tx1"/>
                </a:solidFill>
              </a:rPr>
              <a:t>Development of common national market</a:t>
            </a:r>
          </a:p>
          <a:p>
            <a:pPr marL="514350" lvl="0" indent="-514350">
              <a:buFont typeface="+mj-lt"/>
              <a:buAutoNum type="arabicPeriod"/>
            </a:pPr>
            <a:r>
              <a:rPr lang="en-IN" sz="3200" dirty="0">
                <a:solidFill>
                  <a:schemeClr val="tx1"/>
                </a:solidFill>
              </a:rPr>
              <a:t>Simpler tax rules</a:t>
            </a:r>
          </a:p>
          <a:p>
            <a:pPr marL="514350" lvl="0" indent="-514350">
              <a:buFont typeface="+mj-lt"/>
              <a:buAutoNum type="arabicPeriod"/>
            </a:pPr>
            <a:r>
              <a:rPr lang="en-IN" sz="3200" dirty="0">
                <a:solidFill>
                  <a:schemeClr val="tx1"/>
                </a:solidFill>
              </a:rPr>
              <a:t>Fewer rates and exemptions</a:t>
            </a:r>
          </a:p>
          <a:p>
            <a:pPr marL="514350" lvl="0" indent="-514350">
              <a:buFont typeface="+mj-lt"/>
              <a:buAutoNum type="arabicPeriod"/>
            </a:pPr>
            <a:r>
              <a:rPr lang="en-IN" sz="3200" dirty="0">
                <a:solidFill>
                  <a:schemeClr val="tx1"/>
                </a:solidFill>
              </a:rPr>
              <a:t>Distinction between Goods &amp; Services no longer required</a:t>
            </a:r>
          </a:p>
          <a:p>
            <a:endParaRPr lang="en-IN" sz="2800" dirty="0">
              <a:solidFill>
                <a:schemeClr val="tx1"/>
              </a:solidFill>
            </a:endParaRPr>
          </a:p>
          <a:p>
            <a:pPr marL="457200" indent="-457200">
              <a:buFont typeface="Wingdings" panose="05000000000000000000" pitchFamily="2" charset="2"/>
              <a:buChar char="Ø"/>
            </a:pPr>
            <a:endParaRPr lang="en-IN" sz="2800" dirty="0" smtClean="0">
              <a:solidFill>
                <a:schemeClr val="tx1"/>
              </a:solidFill>
            </a:endParaRPr>
          </a:p>
          <a:p>
            <a:endParaRPr lang="en-IN" sz="2600" dirty="0">
              <a:solidFill>
                <a:schemeClr val="tx1"/>
              </a:solidFill>
            </a:endParaRPr>
          </a:p>
          <a:p>
            <a:endParaRPr lang="en-US" sz="26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smtClean="0">
                <a:solidFill>
                  <a:schemeClr val="tx1"/>
                </a:solidFill>
                <a:latin typeface="Times New Roman" panose="02020603050405020304" pitchFamily="18" charset="0"/>
                <a:cs typeface="Times New Roman" panose="02020603050405020304" pitchFamily="18" charset="0"/>
              </a:rPr>
              <a:t> </a:t>
            </a:r>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2118360" y="72579"/>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1"/>
                </a:solidFill>
                <a:latin typeface="Times New Roman" panose="02020603050405020304" pitchFamily="18" charset="0"/>
                <a:cs typeface="Times New Roman" panose="02020603050405020304" pitchFamily="18" charset="0"/>
              </a:rPr>
              <a:t>Goods and Services Tax (GST)</a:t>
            </a:r>
          </a:p>
        </p:txBody>
      </p:sp>
    </p:spTree>
    <p:extLst>
      <p:ext uri="{BB962C8B-B14F-4D97-AF65-F5344CB8AC3E}">
        <p14:creationId xmlns:p14="http://schemas.microsoft.com/office/powerpoint/2010/main" val="65727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682940"/>
            <a:ext cx="10515600" cy="689932"/>
          </a:xfrm>
          <a:prstGeom prst="rect">
            <a:avLst/>
          </a:prstGeom>
        </p:spPr>
        <p:txBody>
          <a:bodyPr vert="horz" wrap="square" lIns="0" tIns="12700" rIns="0" bIns="0" rtlCol="0">
            <a:spAutoFit/>
          </a:bodyPr>
          <a:lstStyle/>
          <a:p>
            <a:pPr marL="40005">
              <a:lnSpc>
                <a:spcPct val="100000"/>
              </a:lnSpc>
              <a:spcBef>
                <a:spcPts val="100"/>
              </a:spcBef>
            </a:pPr>
            <a:r>
              <a:rPr b="1" dirty="0">
                <a:solidFill>
                  <a:srgbClr val="0070C0"/>
                </a:solidFill>
              </a:rPr>
              <a:t>Benefits</a:t>
            </a:r>
            <a:r>
              <a:rPr b="1" spc="-40" dirty="0">
                <a:solidFill>
                  <a:srgbClr val="0070C0"/>
                </a:solidFill>
              </a:rPr>
              <a:t> </a:t>
            </a:r>
            <a:r>
              <a:rPr b="1" dirty="0">
                <a:solidFill>
                  <a:srgbClr val="0070C0"/>
                </a:solidFill>
              </a:rPr>
              <a:t>of</a:t>
            </a:r>
            <a:r>
              <a:rPr b="1" spc="-20" dirty="0">
                <a:solidFill>
                  <a:srgbClr val="0070C0"/>
                </a:solidFill>
              </a:rPr>
              <a:t> </a:t>
            </a:r>
            <a:r>
              <a:rPr b="1" dirty="0">
                <a:solidFill>
                  <a:srgbClr val="0070C0"/>
                </a:solidFill>
              </a:rPr>
              <a:t>GST</a:t>
            </a:r>
            <a:r>
              <a:rPr b="1" spc="-15" dirty="0">
                <a:solidFill>
                  <a:srgbClr val="0070C0"/>
                </a:solidFill>
              </a:rPr>
              <a:t> </a:t>
            </a:r>
            <a:r>
              <a:rPr b="1" spc="-10" dirty="0">
                <a:solidFill>
                  <a:srgbClr val="0070C0"/>
                </a:solidFill>
              </a:rPr>
              <a:t>(1/2)</a:t>
            </a:r>
          </a:p>
        </p:txBody>
      </p:sp>
      <p:grpSp>
        <p:nvGrpSpPr>
          <p:cNvPr id="3" name="object 3"/>
          <p:cNvGrpSpPr/>
          <p:nvPr/>
        </p:nvGrpSpPr>
        <p:grpSpPr>
          <a:xfrm>
            <a:off x="1812925" y="1452244"/>
            <a:ext cx="4936490" cy="389255"/>
            <a:chOff x="1812925" y="1452244"/>
            <a:chExt cx="4936490" cy="389255"/>
          </a:xfrm>
        </p:grpSpPr>
        <p:sp>
          <p:nvSpPr>
            <p:cNvPr id="4" name="object 4"/>
            <p:cNvSpPr/>
            <p:nvPr/>
          </p:nvSpPr>
          <p:spPr>
            <a:xfrm>
              <a:off x="2047875" y="1765299"/>
              <a:ext cx="4701540" cy="76200"/>
            </a:xfrm>
            <a:custGeom>
              <a:avLst/>
              <a:gdLst/>
              <a:ahLst/>
              <a:cxnLst/>
              <a:rect l="l" t="t" r="r" b="b"/>
              <a:pathLst>
                <a:path w="4701540" h="76200">
                  <a:moveTo>
                    <a:pt x="4663440" y="0"/>
                  </a:moveTo>
                  <a:lnTo>
                    <a:pt x="4648592" y="2988"/>
                  </a:lnTo>
                  <a:lnTo>
                    <a:pt x="4636484" y="11144"/>
                  </a:lnTo>
                  <a:lnTo>
                    <a:pt x="4628328" y="23252"/>
                  </a:lnTo>
                  <a:lnTo>
                    <a:pt x="4625340" y="38100"/>
                  </a:lnTo>
                  <a:lnTo>
                    <a:pt x="4628328" y="52947"/>
                  </a:lnTo>
                  <a:lnTo>
                    <a:pt x="4636484" y="65055"/>
                  </a:lnTo>
                  <a:lnTo>
                    <a:pt x="4648592" y="73211"/>
                  </a:lnTo>
                  <a:lnTo>
                    <a:pt x="4663440" y="76200"/>
                  </a:lnTo>
                  <a:lnTo>
                    <a:pt x="4678287" y="73211"/>
                  </a:lnTo>
                  <a:lnTo>
                    <a:pt x="4690395" y="65055"/>
                  </a:lnTo>
                  <a:lnTo>
                    <a:pt x="4698551" y="52947"/>
                  </a:lnTo>
                  <a:lnTo>
                    <a:pt x="4698983" y="50800"/>
                  </a:lnTo>
                  <a:lnTo>
                    <a:pt x="4663440" y="50800"/>
                  </a:lnTo>
                  <a:lnTo>
                    <a:pt x="4663440" y="25400"/>
                  </a:lnTo>
                  <a:lnTo>
                    <a:pt x="4698983" y="25400"/>
                  </a:lnTo>
                  <a:lnTo>
                    <a:pt x="4698551" y="23252"/>
                  </a:lnTo>
                  <a:lnTo>
                    <a:pt x="4690395" y="11144"/>
                  </a:lnTo>
                  <a:lnTo>
                    <a:pt x="4678287" y="2988"/>
                  </a:lnTo>
                  <a:lnTo>
                    <a:pt x="4663440" y="0"/>
                  </a:lnTo>
                  <a:close/>
                </a:path>
                <a:path w="4701540" h="76200">
                  <a:moveTo>
                    <a:pt x="4627896" y="25400"/>
                  </a:moveTo>
                  <a:lnTo>
                    <a:pt x="0" y="25400"/>
                  </a:lnTo>
                  <a:lnTo>
                    <a:pt x="0" y="50800"/>
                  </a:lnTo>
                  <a:lnTo>
                    <a:pt x="4627896" y="50800"/>
                  </a:lnTo>
                  <a:lnTo>
                    <a:pt x="4625340" y="38100"/>
                  </a:lnTo>
                  <a:lnTo>
                    <a:pt x="4627896" y="25400"/>
                  </a:lnTo>
                  <a:close/>
                </a:path>
                <a:path w="4701540" h="76200">
                  <a:moveTo>
                    <a:pt x="4698983" y="25400"/>
                  </a:moveTo>
                  <a:lnTo>
                    <a:pt x="4663440" y="25400"/>
                  </a:lnTo>
                  <a:lnTo>
                    <a:pt x="4663440" y="50800"/>
                  </a:lnTo>
                  <a:lnTo>
                    <a:pt x="4698983" y="50800"/>
                  </a:lnTo>
                  <a:lnTo>
                    <a:pt x="4701540" y="38100"/>
                  </a:lnTo>
                  <a:lnTo>
                    <a:pt x="4698983" y="25400"/>
                  </a:lnTo>
                  <a:close/>
                </a:path>
              </a:pathLst>
            </a:custGeom>
            <a:solidFill>
              <a:srgbClr val="001F5F"/>
            </a:solidFill>
          </p:spPr>
          <p:txBody>
            <a:bodyPr wrap="square" lIns="0" tIns="0" rIns="0" bIns="0" rtlCol="0"/>
            <a:lstStyle/>
            <a:p>
              <a:endParaRPr/>
            </a:p>
          </p:txBody>
        </p:sp>
        <p:sp>
          <p:nvSpPr>
            <p:cNvPr id="5" name="object 5"/>
            <p:cNvSpPr/>
            <p:nvPr/>
          </p:nvSpPr>
          <p:spPr>
            <a:xfrm>
              <a:off x="1819275" y="1458594"/>
              <a:ext cx="342900" cy="355600"/>
            </a:xfrm>
            <a:custGeom>
              <a:avLst/>
              <a:gdLst/>
              <a:ahLst/>
              <a:cxnLst/>
              <a:rect l="l" t="t" r="r" b="b"/>
              <a:pathLst>
                <a:path w="342900" h="355600">
                  <a:moveTo>
                    <a:pt x="342900" y="0"/>
                  </a:moveTo>
                  <a:lnTo>
                    <a:pt x="0" y="0"/>
                  </a:lnTo>
                  <a:lnTo>
                    <a:pt x="0" y="355600"/>
                  </a:lnTo>
                  <a:lnTo>
                    <a:pt x="342900" y="355600"/>
                  </a:lnTo>
                  <a:lnTo>
                    <a:pt x="342900" y="0"/>
                  </a:lnTo>
                  <a:close/>
                </a:path>
              </a:pathLst>
            </a:custGeom>
            <a:solidFill>
              <a:srgbClr val="1F4E79"/>
            </a:solidFill>
          </p:spPr>
          <p:txBody>
            <a:bodyPr wrap="square" lIns="0" tIns="0" rIns="0" bIns="0" rtlCol="0"/>
            <a:lstStyle/>
            <a:p>
              <a:endParaRPr/>
            </a:p>
          </p:txBody>
        </p:sp>
        <p:sp>
          <p:nvSpPr>
            <p:cNvPr id="6" name="object 6"/>
            <p:cNvSpPr/>
            <p:nvPr/>
          </p:nvSpPr>
          <p:spPr>
            <a:xfrm>
              <a:off x="1819275" y="1458594"/>
              <a:ext cx="342900" cy="355600"/>
            </a:xfrm>
            <a:custGeom>
              <a:avLst/>
              <a:gdLst/>
              <a:ahLst/>
              <a:cxnLst/>
              <a:rect l="l" t="t" r="r" b="b"/>
              <a:pathLst>
                <a:path w="342900" h="355600">
                  <a:moveTo>
                    <a:pt x="0" y="355600"/>
                  </a:moveTo>
                  <a:lnTo>
                    <a:pt x="342900" y="355600"/>
                  </a:lnTo>
                  <a:lnTo>
                    <a:pt x="342900" y="0"/>
                  </a:lnTo>
                  <a:lnTo>
                    <a:pt x="0" y="0"/>
                  </a:lnTo>
                  <a:lnTo>
                    <a:pt x="0" y="355600"/>
                  </a:lnTo>
                  <a:close/>
                </a:path>
              </a:pathLst>
            </a:custGeom>
            <a:ln w="12700">
              <a:solidFill>
                <a:srgbClr val="41709C"/>
              </a:solidFill>
            </a:ln>
          </p:spPr>
          <p:txBody>
            <a:bodyPr wrap="square" lIns="0" tIns="0" rIns="0" bIns="0" rtlCol="0"/>
            <a:lstStyle/>
            <a:p>
              <a:endParaRPr/>
            </a:p>
          </p:txBody>
        </p:sp>
      </p:grpSp>
      <p:sp>
        <p:nvSpPr>
          <p:cNvPr id="7" name="object 7"/>
          <p:cNvSpPr txBox="1"/>
          <p:nvPr/>
        </p:nvSpPr>
        <p:spPr>
          <a:xfrm>
            <a:off x="1920367" y="1471676"/>
            <a:ext cx="141605" cy="299720"/>
          </a:xfrm>
          <a:prstGeom prst="rect">
            <a:avLst/>
          </a:prstGeom>
        </p:spPr>
        <p:txBody>
          <a:bodyPr vert="horz" wrap="square" lIns="0" tIns="12700" rIns="0" bIns="0" rtlCol="0">
            <a:spAutoFit/>
          </a:bodyPr>
          <a:lstStyle/>
          <a:p>
            <a:pPr marL="12700">
              <a:lnSpc>
                <a:spcPct val="100000"/>
              </a:lnSpc>
              <a:spcBef>
                <a:spcPts val="100"/>
              </a:spcBef>
            </a:pPr>
            <a:r>
              <a:rPr sz="1800" spc="-50" dirty="0">
                <a:solidFill>
                  <a:srgbClr val="FFFFFF"/>
                </a:solidFill>
                <a:latin typeface="Calibri"/>
                <a:cs typeface="Calibri"/>
              </a:rPr>
              <a:t>1</a:t>
            </a:r>
            <a:endParaRPr sz="1800">
              <a:latin typeface="Calibri"/>
              <a:cs typeface="Calibri"/>
            </a:endParaRPr>
          </a:p>
        </p:txBody>
      </p:sp>
      <p:grpSp>
        <p:nvGrpSpPr>
          <p:cNvPr id="8" name="object 8"/>
          <p:cNvGrpSpPr/>
          <p:nvPr/>
        </p:nvGrpSpPr>
        <p:grpSpPr>
          <a:xfrm>
            <a:off x="1812925" y="2163445"/>
            <a:ext cx="4936490" cy="389255"/>
            <a:chOff x="1812925" y="2163445"/>
            <a:chExt cx="4936490" cy="389255"/>
          </a:xfrm>
        </p:grpSpPr>
        <p:sp>
          <p:nvSpPr>
            <p:cNvPr id="9" name="object 9"/>
            <p:cNvSpPr/>
            <p:nvPr/>
          </p:nvSpPr>
          <p:spPr>
            <a:xfrm>
              <a:off x="2047875" y="2476500"/>
              <a:ext cx="4701540" cy="76200"/>
            </a:xfrm>
            <a:custGeom>
              <a:avLst/>
              <a:gdLst/>
              <a:ahLst/>
              <a:cxnLst/>
              <a:rect l="l" t="t" r="r" b="b"/>
              <a:pathLst>
                <a:path w="4701540" h="76200">
                  <a:moveTo>
                    <a:pt x="4663440" y="0"/>
                  </a:moveTo>
                  <a:lnTo>
                    <a:pt x="4648592" y="2988"/>
                  </a:lnTo>
                  <a:lnTo>
                    <a:pt x="4636484" y="11144"/>
                  </a:lnTo>
                  <a:lnTo>
                    <a:pt x="4628328" y="23252"/>
                  </a:lnTo>
                  <a:lnTo>
                    <a:pt x="4625340" y="38100"/>
                  </a:lnTo>
                  <a:lnTo>
                    <a:pt x="4628328" y="52947"/>
                  </a:lnTo>
                  <a:lnTo>
                    <a:pt x="4636484" y="65055"/>
                  </a:lnTo>
                  <a:lnTo>
                    <a:pt x="4648592" y="73211"/>
                  </a:lnTo>
                  <a:lnTo>
                    <a:pt x="4663440" y="76200"/>
                  </a:lnTo>
                  <a:lnTo>
                    <a:pt x="4678287" y="73211"/>
                  </a:lnTo>
                  <a:lnTo>
                    <a:pt x="4690395" y="65055"/>
                  </a:lnTo>
                  <a:lnTo>
                    <a:pt x="4698551" y="52947"/>
                  </a:lnTo>
                  <a:lnTo>
                    <a:pt x="4698983" y="50800"/>
                  </a:lnTo>
                  <a:lnTo>
                    <a:pt x="4663440" y="50800"/>
                  </a:lnTo>
                  <a:lnTo>
                    <a:pt x="4663440" y="25400"/>
                  </a:lnTo>
                  <a:lnTo>
                    <a:pt x="4698983" y="25400"/>
                  </a:lnTo>
                  <a:lnTo>
                    <a:pt x="4698551" y="23252"/>
                  </a:lnTo>
                  <a:lnTo>
                    <a:pt x="4690395" y="11144"/>
                  </a:lnTo>
                  <a:lnTo>
                    <a:pt x="4678287" y="2988"/>
                  </a:lnTo>
                  <a:lnTo>
                    <a:pt x="4663440" y="0"/>
                  </a:lnTo>
                  <a:close/>
                </a:path>
                <a:path w="4701540" h="76200">
                  <a:moveTo>
                    <a:pt x="4627896" y="25400"/>
                  </a:moveTo>
                  <a:lnTo>
                    <a:pt x="0" y="25400"/>
                  </a:lnTo>
                  <a:lnTo>
                    <a:pt x="0" y="50800"/>
                  </a:lnTo>
                  <a:lnTo>
                    <a:pt x="4627896" y="50800"/>
                  </a:lnTo>
                  <a:lnTo>
                    <a:pt x="4625340" y="38100"/>
                  </a:lnTo>
                  <a:lnTo>
                    <a:pt x="4627896" y="25400"/>
                  </a:lnTo>
                  <a:close/>
                </a:path>
                <a:path w="4701540" h="76200">
                  <a:moveTo>
                    <a:pt x="4698983" y="25400"/>
                  </a:moveTo>
                  <a:lnTo>
                    <a:pt x="4663440" y="25400"/>
                  </a:lnTo>
                  <a:lnTo>
                    <a:pt x="4663440" y="50800"/>
                  </a:lnTo>
                  <a:lnTo>
                    <a:pt x="4698983" y="50800"/>
                  </a:lnTo>
                  <a:lnTo>
                    <a:pt x="4701540" y="38100"/>
                  </a:lnTo>
                  <a:lnTo>
                    <a:pt x="4698983" y="25400"/>
                  </a:lnTo>
                  <a:close/>
                </a:path>
              </a:pathLst>
            </a:custGeom>
            <a:solidFill>
              <a:srgbClr val="001F5F"/>
            </a:solidFill>
          </p:spPr>
          <p:txBody>
            <a:bodyPr wrap="square" lIns="0" tIns="0" rIns="0" bIns="0" rtlCol="0"/>
            <a:lstStyle/>
            <a:p>
              <a:endParaRPr/>
            </a:p>
          </p:txBody>
        </p:sp>
        <p:sp>
          <p:nvSpPr>
            <p:cNvPr id="10" name="object 10"/>
            <p:cNvSpPr/>
            <p:nvPr/>
          </p:nvSpPr>
          <p:spPr>
            <a:xfrm>
              <a:off x="1819275" y="2169795"/>
              <a:ext cx="342900" cy="355600"/>
            </a:xfrm>
            <a:custGeom>
              <a:avLst/>
              <a:gdLst/>
              <a:ahLst/>
              <a:cxnLst/>
              <a:rect l="l" t="t" r="r" b="b"/>
              <a:pathLst>
                <a:path w="342900" h="355600">
                  <a:moveTo>
                    <a:pt x="342900" y="0"/>
                  </a:moveTo>
                  <a:lnTo>
                    <a:pt x="0" y="0"/>
                  </a:lnTo>
                  <a:lnTo>
                    <a:pt x="0" y="355600"/>
                  </a:lnTo>
                  <a:lnTo>
                    <a:pt x="342900" y="355600"/>
                  </a:lnTo>
                  <a:lnTo>
                    <a:pt x="342900" y="0"/>
                  </a:lnTo>
                  <a:close/>
                </a:path>
              </a:pathLst>
            </a:custGeom>
            <a:solidFill>
              <a:srgbClr val="1F4E79"/>
            </a:solidFill>
          </p:spPr>
          <p:txBody>
            <a:bodyPr wrap="square" lIns="0" tIns="0" rIns="0" bIns="0" rtlCol="0"/>
            <a:lstStyle/>
            <a:p>
              <a:endParaRPr/>
            </a:p>
          </p:txBody>
        </p:sp>
        <p:sp>
          <p:nvSpPr>
            <p:cNvPr id="11" name="object 11"/>
            <p:cNvSpPr/>
            <p:nvPr/>
          </p:nvSpPr>
          <p:spPr>
            <a:xfrm>
              <a:off x="1819275" y="2169795"/>
              <a:ext cx="342900" cy="355600"/>
            </a:xfrm>
            <a:custGeom>
              <a:avLst/>
              <a:gdLst/>
              <a:ahLst/>
              <a:cxnLst/>
              <a:rect l="l" t="t" r="r" b="b"/>
              <a:pathLst>
                <a:path w="342900" h="355600">
                  <a:moveTo>
                    <a:pt x="0" y="355600"/>
                  </a:moveTo>
                  <a:lnTo>
                    <a:pt x="342900" y="355600"/>
                  </a:lnTo>
                  <a:lnTo>
                    <a:pt x="342900" y="0"/>
                  </a:lnTo>
                  <a:lnTo>
                    <a:pt x="0" y="0"/>
                  </a:lnTo>
                  <a:lnTo>
                    <a:pt x="0" y="355600"/>
                  </a:lnTo>
                  <a:close/>
                </a:path>
              </a:pathLst>
            </a:custGeom>
            <a:ln w="12700">
              <a:solidFill>
                <a:srgbClr val="41709C"/>
              </a:solidFill>
            </a:ln>
          </p:spPr>
          <p:txBody>
            <a:bodyPr wrap="square" lIns="0" tIns="0" rIns="0" bIns="0" rtlCol="0"/>
            <a:lstStyle/>
            <a:p>
              <a:endParaRPr/>
            </a:p>
          </p:txBody>
        </p:sp>
      </p:grpSp>
      <p:sp>
        <p:nvSpPr>
          <p:cNvPr id="12" name="object 12"/>
          <p:cNvSpPr txBox="1"/>
          <p:nvPr/>
        </p:nvSpPr>
        <p:spPr>
          <a:xfrm>
            <a:off x="1920367" y="2183129"/>
            <a:ext cx="141605" cy="299720"/>
          </a:xfrm>
          <a:prstGeom prst="rect">
            <a:avLst/>
          </a:prstGeom>
        </p:spPr>
        <p:txBody>
          <a:bodyPr vert="horz" wrap="square" lIns="0" tIns="12700" rIns="0" bIns="0" rtlCol="0">
            <a:spAutoFit/>
          </a:bodyPr>
          <a:lstStyle/>
          <a:p>
            <a:pPr marL="12700">
              <a:lnSpc>
                <a:spcPct val="100000"/>
              </a:lnSpc>
              <a:spcBef>
                <a:spcPts val="100"/>
              </a:spcBef>
            </a:pPr>
            <a:r>
              <a:rPr sz="1800" spc="-50" dirty="0">
                <a:solidFill>
                  <a:srgbClr val="FFFFFF"/>
                </a:solidFill>
                <a:latin typeface="Calibri"/>
                <a:cs typeface="Calibri"/>
              </a:rPr>
              <a:t>2</a:t>
            </a:r>
            <a:endParaRPr sz="1800">
              <a:latin typeface="Calibri"/>
              <a:cs typeface="Calibri"/>
            </a:endParaRPr>
          </a:p>
        </p:txBody>
      </p:sp>
      <p:grpSp>
        <p:nvGrpSpPr>
          <p:cNvPr id="13" name="object 13"/>
          <p:cNvGrpSpPr/>
          <p:nvPr/>
        </p:nvGrpSpPr>
        <p:grpSpPr>
          <a:xfrm>
            <a:off x="1812925" y="2861182"/>
            <a:ext cx="4936490" cy="389890"/>
            <a:chOff x="1812925" y="2861182"/>
            <a:chExt cx="4936490" cy="389890"/>
          </a:xfrm>
        </p:grpSpPr>
        <p:sp>
          <p:nvSpPr>
            <p:cNvPr id="14" name="object 14"/>
            <p:cNvSpPr/>
            <p:nvPr/>
          </p:nvSpPr>
          <p:spPr>
            <a:xfrm>
              <a:off x="2047875" y="3174364"/>
              <a:ext cx="4701540" cy="76200"/>
            </a:xfrm>
            <a:custGeom>
              <a:avLst/>
              <a:gdLst/>
              <a:ahLst/>
              <a:cxnLst/>
              <a:rect l="l" t="t" r="r" b="b"/>
              <a:pathLst>
                <a:path w="4701540" h="76200">
                  <a:moveTo>
                    <a:pt x="4663440" y="0"/>
                  </a:moveTo>
                  <a:lnTo>
                    <a:pt x="4648592" y="2988"/>
                  </a:lnTo>
                  <a:lnTo>
                    <a:pt x="4636484" y="11144"/>
                  </a:lnTo>
                  <a:lnTo>
                    <a:pt x="4628328" y="23252"/>
                  </a:lnTo>
                  <a:lnTo>
                    <a:pt x="4625340" y="38100"/>
                  </a:lnTo>
                  <a:lnTo>
                    <a:pt x="4628328" y="52893"/>
                  </a:lnTo>
                  <a:lnTo>
                    <a:pt x="4636484" y="65008"/>
                  </a:lnTo>
                  <a:lnTo>
                    <a:pt x="4648592" y="73193"/>
                  </a:lnTo>
                  <a:lnTo>
                    <a:pt x="4663440" y="76200"/>
                  </a:lnTo>
                  <a:lnTo>
                    <a:pt x="4678287" y="73193"/>
                  </a:lnTo>
                  <a:lnTo>
                    <a:pt x="4690395" y="65008"/>
                  </a:lnTo>
                  <a:lnTo>
                    <a:pt x="4698551" y="52893"/>
                  </a:lnTo>
                  <a:lnTo>
                    <a:pt x="4698974" y="50800"/>
                  </a:lnTo>
                  <a:lnTo>
                    <a:pt x="4663440" y="50800"/>
                  </a:lnTo>
                  <a:lnTo>
                    <a:pt x="4663440" y="25400"/>
                  </a:lnTo>
                  <a:lnTo>
                    <a:pt x="4698983" y="25400"/>
                  </a:lnTo>
                  <a:lnTo>
                    <a:pt x="4698551" y="23252"/>
                  </a:lnTo>
                  <a:lnTo>
                    <a:pt x="4690395" y="11144"/>
                  </a:lnTo>
                  <a:lnTo>
                    <a:pt x="4678287" y="2988"/>
                  </a:lnTo>
                  <a:lnTo>
                    <a:pt x="4663440" y="0"/>
                  </a:lnTo>
                  <a:close/>
                </a:path>
                <a:path w="4701540" h="76200">
                  <a:moveTo>
                    <a:pt x="4627896" y="25400"/>
                  </a:moveTo>
                  <a:lnTo>
                    <a:pt x="0" y="25400"/>
                  </a:lnTo>
                  <a:lnTo>
                    <a:pt x="0" y="50800"/>
                  </a:lnTo>
                  <a:lnTo>
                    <a:pt x="4627905" y="50800"/>
                  </a:lnTo>
                  <a:lnTo>
                    <a:pt x="4625340" y="38100"/>
                  </a:lnTo>
                  <a:lnTo>
                    <a:pt x="4627896" y="25400"/>
                  </a:lnTo>
                  <a:close/>
                </a:path>
                <a:path w="4701540" h="76200">
                  <a:moveTo>
                    <a:pt x="4698983" y="25400"/>
                  </a:moveTo>
                  <a:lnTo>
                    <a:pt x="4663440" y="25400"/>
                  </a:lnTo>
                  <a:lnTo>
                    <a:pt x="4663440" y="50800"/>
                  </a:lnTo>
                  <a:lnTo>
                    <a:pt x="4698974" y="50800"/>
                  </a:lnTo>
                  <a:lnTo>
                    <a:pt x="4701540" y="38100"/>
                  </a:lnTo>
                  <a:lnTo>
                    <a:pt x="4698983" y="25400"/>
                  </a:lnTo>
                  <a:close/>
                </a:path>
              </a:pathLst>
            </a:custGeom>
            <a:solidFill>
              <a:srgbClr val="001F5F"/>
            </a:solidFill>
          </p:spPr>
          <p:txBody>
            <a:bodyPr wrap="square" lIns="0" tIns="0" rIns="0" bIns="0" rtlCol="0"/>
            <a:lstStyle/>
            <a:p>
              <a:endParaRPr/>
            </a:p>
          </p:txBody>
        </p:sp>
        <p:sp>
          <p:nvSpPr>
            <p:cNvPr id="15" name="object 15"/>
            <p:cNvSpPr/>
            <p:nvPr/>
          </p:nvSpPr>
          <p:spPr>
            <a:xfrm>
              <a:off x="1819275" y="2867532"/>
              <a:ext cx="342900" cy="355600"/>
            </a:xfrm>
            <a:custGeom>
              <a:avLst/>
              <a:gdLst/>
              <a:ahLst/>
              <a:cxnLst/>
              <a:rect l="l" t="t" r="r" b="b"/>
              <a:pathLst>
                <a:path w="342900" h="355600">
                  <a:moveTo>
                    <a:pt x="342900" y="0"/>
                  </a:moveTo>
                  <a:lnTo>
                    <a:pt x="0" y="0"/>
                  </a:lnTo>
                  <a:lnTo>
                    <a:pt x="0" y="355600"/>
                  </a:lnTo>
                  <a:lnTo>
                    <a:pt x="342900" y="355600"/>
                  </a:lnTo>
                  <a:lnTo>
                    <a:pt x="342900" y="0"/>
                  </a:lnTo>
                  <a:close/>
                </a:path>
              </a:pathLst>
            </a:custGeom>
            <a:solidFill>
              <a:srgbClr val="1F4E79"/>
            </a:solidFill>
          </p:spPr>
          <p:txBody>
            <a:bodyPr wrap="square" lIns="0" tIns="0" rIns="0" bIns="0" rtlCol="0"/>
            <a:lstStyle/>
            <a:p>
              <a:endParaRPr/>
            </a:p>
          </p:txBody>
        </p:sp>
        <p:sp>
          <p:nvSpPr>
            <p:cNvPr id="16" name="object 16"/>
            <p:cNvSpPr/>
            <p:nvPr/>
          </p:nvSpPr>
          <p:spPr>
            <a:xfrm>
              <a:off x="1819275" y="2867532"/>
              <a:ext cx="342900" cy="355600"/>
            </a:xfrm>
            <a:custGeom>
              <a:avLst/>
              <a:gdLst/>
              <a:ahLst/>
              <a:cxnLst/>
              <a:rect l="l" t="t" r="r" b="b"/>
              <a:pathLst>
                <a:path w="342900" h="355600">
                  <a:moveTo>
                    <a:pt x="0" y="355600"/>
                  </a:moveTo>
                  <a:lnTo>
                    <a:pt x="342900" y="355600"/>
                  </a:lnTo>
                  <a:lnTo>
                    <a:pt x="342900" y="0"/>
                  </a:lnTo>
                  <a:lnTo>
                    <a:pt x="0" y="0"/>
                  </a:lnTo>
                  <a:lnTo>
                    <a:pt x="0" y="355600"/>
                  </a:lnTo>
                  <a:close/>
                </a:path>
              </a:pathLst>
            </a:custGeom>
            <a:ln w="12700">
              <a:solidFill>
                <a:srgbClr val="41709C"/>
              </a:solidFill>
            </a:ln>
          </p:spPr>
          <p:txBody>
            <a:bodyPr wrap="square" lIns="0" tIns="0" rIns="0" bIns="0" rtlCol="0"/>
            <a:lstStyle/>
            <a:p>
              <a:endParaRPr/>
            </a:p>
          </p:txBody>
        </p:sp>
      </p:grpSp>
      <p:sp>
        <p:nvSpPr>
          <p:cNvPr id="17" name="object 17"/>
          <p:cNvSpPr txBox="1"/>
          <p:nvPr/>
        </p:nvSpPr>
        <p:spPr>
          <a:xfrm>
            <a:off x="1920367" y="2881121"/>
            <a:ext cx="141605" cy="299720"/>
          </a:xfrm>
          <a:prstGeom prst="rect">
            <a:avLst/>
          </a:prstGeom>
        </p:spPr>
        <p:txBody>
          <a:bodyPr vert="horz" wrap="square" lIns="0" tIns="12700" rIns="0" bIns="0" rtlCol="0">
            <a:spAutoFit/>
          </a:bodyPr>
          <a:lstStyle/>
          <a:p>
            <a:pPr marL="12700">
              <a:lnSpc>
                <a:spcPct val="100000"/>
              </a:lnSpc>
              <a:spcBef>
                <a:spcPts val="100"/>
              </a:spcBef>
            </a:pPr>
            <a:r>
              <a:rPr sz="1800" spc="-50" dirty="0">
                <a:solidFill>
                  <a:srgbClr val="FFFFFF"/>
                </a:solidFill>
                <a:latin typeface="Calibri"/>
                <a:cs typeface="Calibri"/>
              </a:rPr>
              <a:t>3</a:t>
            </a:r>
            <a:endParaRPr sz="1800">
              <a:latin typeface="Calibri"/>
              <a:cs typeface="Calibri"/>
            </a:endParaRPr>
          </a:p>
        </p:txBody>
      </p:sp>
      <p:grpSp>
        <p:nvGrpSpPr>
          <p:cNvPr id="18" name="object 18"/>
          <p:cNvGrpSpPr/>
          <p:nvPr/>
        </p:nvGrpSpPr>
        <p:grpSpPr>
          <a:xfrm>
            <a:off x="1812925" y="3623183"/>
            <a:ext cx="4936490" cy="389890"/>
            <a:chOff x="1812925" y="3623183"/>
            <a:chExt cx="4936490" cy="389890"/>
          </a:xfrm>
        </p:grpSpPr>
        <p:sp>
          <p:nvSpPr>
            <p:cNvPr id="19" name="object 19"/>
            <p:cNvSpPr/>
            <p:nvPr/>
          </p:nvSpPr>
          <p:spPr>
            <a:xfrm>
              <a:off x="2047875" y="3936365"/>
              <a:ext cx="4701540" cy="76200"/>
            </a:xfrm>
            <a:custGeom>
              <a:avLst/>
              <a:gdLst/>
              <a:ahLst/>
              <a:cxnLst/>
              <a:rect l="l" t="t" r="r" b="b"/>
              <a:pathLst>
                <a:path w="4701540" h="76200">
                  <a:moveTo>
                    <a:pt x="4663440" y="0"/>
                  </a:moveTo>
                  <a:lnTo>
                    <a:pt x="4648592" y="2988"/>
                  </a:lnTo>
                  <a:lnTo>
                    <a:pt x="4636484" y="11144"/>
                  </a:lnTo>
                  <a:lnTo>
                    <a:pt x="4628328" y="23252"/>
                  </a:lnTo>
                  <a:lnTo>
                    <a:pt x="4625340" y="38100"/>
                  </a:lnTo>
                  <a:lnTo>
                    <a:pt x="4628328" y="52893"/>
                  </a:lnTo>
                  <a:lnTo>
                    <a:pt x="4636484" y="65008"/>
                  </a:lnTo>
                  <a:lnTo>
                    <a:pt x="4648592" y="73193"/>
                  </a:lnTo>
                  <a:lnTo>
                    <a:pt x="4663440" y="76200"/>
                  </a:lnTo>
                  <a:lnTo>
                    <a:pt x="4678287" y="73193"/>
                  </a:lnTo>
                  <a:lnTo>
                    <a:pt x="4690395" y="65008"/>
                  </a:lnTo>
                  <a:lnTo>
                    <a:pt x="4698551" y="52893"/>
                  </a:lnTo>
                  <a:lnTo>
                    <a:pt x="4698974" y="50800"/>
                  </a:lnTo>
                  <a:lnTo>
                    <a:pt x="4663440" y="50800"/>
                  </a:lnTo>
                  <a:lnTo>
                    <a:pt x="4663440" y="25400"/>
                  </a:lnTo>
                  <a:lnTo>
                    <a:pt x="4698983" y="25400"/>
                  </a:lnTo>
                  <a:lnTo>
                    <a:pt x="4698551" y="23252"/>
                  </a:lnTo>
                  <a:lnTo>
                    <a:pt x="4690395" y="11144"/>
                  </a:lnTo>
                  <a:lnTo>
                    <a:pt x="4678287" y="2988"/>
                  </a:lnTo>
                  <a:lnTo>
                    <a:pt x="4663440" y="0"/>
                  </a:lnTo>
                  <a:close/>
                </a:path>
                <a:path w="4701540" h="76200">
                  <a:moveTo>
                    <a:pt x="4627896" y="25400"/>
                  </a:moveTo>
                  <a:lnTo>
                    <a:pt x="0" y="25400"/>
                  </a:lnTo>
                  <a:lnTo>
                    <a:pt x="0" y="50800"/>
                  </a:lnTo>
                  <a:lnTo>
                    <a:pt x="4627905" y="50800"/>
                  </a:lnTo>
                  <a:lnTo>
                    <a:pt x="4625340" y="38100"/>
                  </a:lnTo>
                  <a:lnTo>
                    <a:pt x="4627896" y="25400"/>
                  </a:lnTo>
                  <a:close/>
                </a:path>
                <a:path w="4701540" h="76200">
                  <a:moveTo>
                    <a:pt x="4698983" y="25400"/>
                  </a:moveTo>
                  <a:lnTo>
                    <a:pt x="4663440" y="25400"/>
                  </a:lnTo>
                  <a:lnTo>
                    <a:pt x="4663440" y="50800"/>
                  </a:lnTo>
                  <a:lnTo>
                    <a:pt x="4698974" y="50800"/>
                  </a:lnTo>
                  <a:lnTo>
                    <a:pt x="4701540" y="38100"/>
                  </a:lnTo>
                  <a:lnTo>
                    <a:pt x="4698983" y="25400"/>
                  </a:lnTo>
                  <a:close/>
                </a:path>
              </a:pathLst>
            </a:custGeom>
            <a:solidFill>
              <a:srgbClr val="001F5F"/>
            </a:solidFill>
          </p:spPr>
          <p:txBody>
            <a:bodyPr wrap="square" lIns="0" tIns="0" rIns="0" bIns="0" rtlCol="0"/>
            <a:lstStyle/>
            <a:p>
              <a:endParaRPr/>
            </a:p>
          </p:txBody>
        </p:sp>
        <p:sp>
          <p:nvSpPr>
            <p:cNvPr id="20" name="object 20"/>
            <p:cNvSpPr/>
            <p:nvPr/>
          </p:nvSpPr>
          <p:spPr>
            <a:xfrm>
              <a:off x="1819275" y="3629533"/>
              <a:ext cx="342900" cy="355600"/>
            </a:xfrm>
            <a:custGeom>
              <a:avLst/>
              <a:gdLst/>
              <a:ahLst/>
              <a:cxnLst/>
              <a:rect l="l" t="t" r="r" b="b"/>
              <a:pathLst>
                <a:path w="342900" h="355600">
                  <a:moveTo>
                    <a:pt x="342900" y="0"/>
                  </a:moveTo>
                  <a:lnTo>
                    <a:pt x="0" y="0"/>
                  </a:lnTo>
                  <a:lnTo>
                    <a:pt x="0" y="355600"/>
                  </a:lnTo>
                  <a:lnTo>
                    <a:pt x="342900" y="355600"/>
                  </a:lnTo>
                  <a:lnTo>
                    <a:pt x="342900" y="0"/>
                  </a:lnTo>
                  <a:close/>
                </a:path>
              </a:pathLst>
            </a:custGeom>
            <a:solidFill>
              <a:srgbClr val="1F4E79"/>
            </a:solidFill>
          </p:spPr>
          <p:txBody>
            <a:bodyPr wrap="square" lIns="0" tIns="0" rIns="0" bIns="0" rtlCol="0"/>
            <a:lstStyle/>
            <a:p>
              <a:endParaRPr/>
            </a:p>
          </p:txBody>
        </p:sp>
        <p:sp>
          <p:nvSpPr>
            <p:cNvPr id="21" name="object 21"/>
            <p:cNvSpPr/>
            <p:nvPr/>
          </p:nvSpPr>
          <p:spPr>
            <a:xfrm>
              <a:off x="1819275" y="3629533"/>
              <a:ext cx="342900" cy="355600"/>
            </a:xfrm>
            <a:custGeom>
              <a:avLst/>
              <a:gdLst/>
              <a:ahLst/>
              <a:cxnLst/>
              <a:rect l="l" t="t" r="r" b="b"/>
              <a:pathLst>
                <a:path w="342900" h="355600">
                  <a:moveTo>
                    <a:pt x="0" y="355600"/>
                  </a:moveTo>
                  <a:lnTo>
                    <a:pt x="342900" y="355600"/>
                  </a:lnTo>
                  <a:lnTo>
                    <a:pt x="342900" y="0"/>
                  </a:lnTo>
                  <a:lnTo>
                    <a:pt x="0" y="0"/>
                  </a:lnTo>
                  <a:lnTo>
                    <a:pt x="0" y="355600"/>
                  </a:lnTo>
                  <a:close/>
                </a:path>
              </a:pathLst>
            </a:custGeom>
            <a:ln w="12700">
              <a:solidFill>
                <a:srgbClr val="41709C"/>
              </a:solidFill>
            </a:ln>
          </p:spPr>
          <p:txBody>
            <a:bodyPr wrap="square" lIns="0" tIns="0" rIns="0" bIns="0" rtlCol="0"/>
            <a:lstStyle/>
            <a:p>
              <a:endParaRPr/>
            </a:p>
          </p:txBody>
        </p:sp>
      </p:grpSp>
      <p:sp>
        <p:nvSpPr>
          <p:cNvPr id="22" name="object 22"/>
          <p:cNvSpPr txBox="1"/>
          <p:nvPr/>
        </p:nvSpPr>
        <p:spPr>
          <a:xfrm>
            <a:off x="1920367" y="3643121"/>
            <a:ext cx="141605" cy="299720"/>
          </a:xfrm>
          <a:prstGeom prst="rect">
            <a:avLst/>
          </a:prstGeom>
        </p:spPr>
        <p:txBody>
          <a:bodyPr vert="horz" wrap="square" lIns="0" tIns="12700" rIns="0" bIns="0" rtlCol="0">
            <a:spAutoFit/>
          </a:bodyPr>
          <a:lstStyle/>
          <a:p>
            <a:pPr marL="12700">
              <a:lnSpc>
                <a:spcPct val="100000"/>
              </a:lnSpc>
              <a:spcBef>
                <a:spcPts val="100"/>
              </a:spcBef>
            </a:pPr>
            <a:r>
              <a:rPr sz="1800" spc="-50" dirty="0">
                <a:solidFill>
                  <a:srgbClr val="FFFFFF"/>
                </a:solidFill>
                <a:latin typeface="Calibri"/>
                <a:cs typeface="Calibri"/>
              </a:rPr>
              <a:t>4</a:t>
            </a:r>
            <a:endParaRPr sz="1800">
              <a:latin typeface="Calibri"/>
              <a:cs typeface="Calibri"/>
            </a:endParaRPr>
          </a:p>
        </p:txBody>
      </p:sp>
      <p:sp>
        <p:nvSpPr>
          <p:cNvPr id="23" name="object 23"/>
          <p:cNvSpPr/>
          <p:nvPr/>
        </p:nvSpPr>
        <p:spPr>
          <a:xfrm>
            <a:off x="2047875" y="4698365"/>
            <a:ext cx="4701540" cy="76200"/>
          </a:xfrm>
          <a:custGeom>
            <a:avLst/>
            <a:gdLst/>
            <a:ahLst/>
            <a:cxnLst/>
            <a:rect l="l" t="t" r="r" b="b"/>
            <a:pathLst>
              <a:path w="4701540" h="76200">
                <a:moveTo>
                  <a:pt x="4663440" y="0"/>
                </a:moveTo>
                <a:lnTo>
                  <a:pt x="4648592" y="2988"/>
                </a:lnTo>
                <a:lnTo>
                  <a:pt x="4636484" y="11144"/>
                </a:lnTo>
                <a:lnTo>
                  <a:pt x="4628328" y="23252"/>
                </a:lnTo>
                <a:lnTo>
                  <a:pt x="4625340" y="38100"/>
                </a:lnTo>
                <a:lnTo>
                  <a:pt x="4628328" y="52893"/>
                </a:lnTo>
                <a:lnTo>
                  <a:pt x="4636484" y="65008"/>
                </a:lnTo>
                <a:lnTo>
                  <a:pt x="4648592" y="73193"/>
                </a:lnTo>
                <a:lnTo>
                  <a:pt x="4663440" y="76200"/>
                </a:lnTo>
                <a:lnTo>
                  <a:pt x="4678287" y="73193"/>
                </a:lnTo>
                <a:lnTo>
                  <a:pt x="4690395" y="65008"/>
                </a:lnTo>
                <a:lnTo>
                  <a:pt x="4698551" y="52893"/>
                </a:lnTo>
                <a:lnTo>
                  <a:pt x="4698974" y="50800"/>
                </a:lnTo>
                <a:lnTo>
                  <a:pt x="4663440" y="50800"/>
                </a:lnTo>
                <a:lnTo>
                  <a:pt x="4663440" y="25400"/>
                </a:lnTo>
                <a:lnTo>
                  <a:pt x="4698983" y="25400"/>
                </a:lnTo>
                <a:lnTo>
                  <a:pt x="4698551" y="23252"/>
                </a:lnTo>
                <a:lnTo>
                  <a:pt x="4690395" y="11144"/>
                </a:lnTo>
                <a:lnTo>
                  <a:pt x="4678287" y="2988"/>
                </a:lnTo>
                <a:lnTo>
                  <a:pt x="4663440" y="0"/>
                </a:lnTo>
                <a:close/>
              </a:path>
              <a:path w="4701540" h="76200">
                <a:moveTo>
                  <a:pt x="4627896" y="25400"/>
                </a:moveTo>
                <a:lnTo>
                  <a:pt x="0" y="25400"/>
                </a:lnTo>
                <a:lnTo>
                  <a:pt x="0" y="50800"/>
                </a:lnTo>
                <a:lnTo>
                  <a:pt x="4627905" y="50800"/>
                </a:lnTo>
                <a:lnTo>
                  <a:pt x="4625340" y="38100"/>
                </a:lnTo>
                <a:lnTo>
                  <a:pt x="4627896" y="25400"/>
                </a:lnTo>
                <a:close/>
              </a:path>
              <a:path w="4701540" h="76200">
                <a:moveTo>
                  <a:pt x="4698983" y="25400"/>
                </a:moveTo>
                <a:lnTo>
                  <a:pt x="4663440" y="25400"/>
                </a:lnTo>
                <a:lnTo>
                  <a:pt x="4663440" y="50800"/>
                </a:lnTo>
                <a:lnTo>
                  <a:pt x="4698974" y="50800"/>
                </a:lnTo>
                <a:lnTo>
                  <a:pt x="4701540" y="38100"/>
                </a:lnTo>
                <a:lnTo>
                  <a:pt x="4698983" y="25400"/>
                </a:lnTo>
                <a:close/>
              </a:path>
            </a:pathLst>
          </a:custGeom>
          <a:solidFill>
            <a:srgbClr val="001F5F"/>
          </a:solidFill>
        </p:spPr>
        <p:txBody>
          <a:bodyPr wrap="square" lIns="0" tIns="0" rIns="0" bIns="0" rtlCol="0"/>
          <a:lstStyle/>
          <a:p>
            <a:endParaRPr/>
          </a:p>
        </p:txBody>
      </p:sp>
      <p:grpSp>
        <p:nvGrpSpPr>
          <p:cNvPr id="24" name="object 24"/>
          <p:cNvGrpSpPr/>
          <p:nvPr/>
        </p:nvGrpSpPr>
        <p:grpSpPr>
          <a:xfrm>
            <a:off x="1812925" y="4385183"/>
            <a:ext cx="355600" cy="368300"/>
            <a:chOff x="1812925" y="4385183"/>
            <a:chExt cx="355600" cy="368300"/>
          </a:xfrm>
        </p:grpSpPr>
        <p:sp>
          <p:nvSpPr>
            <p:cNvPr id="25" name="object 25"/>
            <p:cNvSpPr/>
            <p:nvPr/>
          </p:nvSpPr>
          <p:spPr>
            <a:xfrm>
              <a:off x="1819275" y="4391533"/>
              <a:ext cx="342900" cy="355600"/>
            </a:xfrm>
            <a:custGeom>
              <a:avLst/>
              <a:gdLst/>
              <a:ahLst/>
              <a:cxnLst/>
              <a:rect l="l" t="t" r="r" b="b"/>
              <a:pathLst>
                <a:path w="342900" h="355600">
                  <a:moveTo>
                    <a:pt x="342900" y="0"/>
                  </a:moveTo>
                  <a:lnTo>
                    <a:pt x="0" y="0"/>
                  </a:lnTo>
                  <a:lnTo>
                    <a:pt x="0" y="355600"/>
                  </a:lnTo>
                  <a:lnTo>
                    <a:pt x="342900" y="355600"/>
                  </a:lnTo>
                  <a:lnTo>
                    <a:pt x="342900" y="0"/>
                  </a:lnTo>
                  <a:close/>
                </a:path>
              </a:pathLst>
            </a:custGeom>
            <a:solidFill>
              <a:srgbClr val="1F4E79"/>
            </a:solidFill>
          </p:spPr>
          <p:txBody>
            <a:bodyPr wrap="square" lIns="0" tIns="0" rIns="0" bIns="0" rtlCol="0"/>
            <a:lstStyle/>
            <a:p>
              <a:endParaRPr/>
            </a:p>
          </p:txBody>
        </p:sp>
        <p:sp>
          <p:nvSpPr>
            <p:cNvPr id="26" name="object 26"/>
            <p:cNvSpPr/>
            <p:nvPr/>
          </p:nvSpPr>
          <p:spPr>
            <a:xfrm>
              <a:off x="1819275" y="4391533"/>
              <a:ext cx="342900" cy="355600"/>
            </a:xfrm>
            <a:custGeom>
              <a:avLst/>
              <a:gdLst/>
              <a:ahLst/>
              <a:cxnLst/>
              <a:rect l="l" t="t" r="r" b="b"/>
              <a:pathLst>
                <a:path w="342900" h="355600">
                  <a:moveTo>
                    <a:pt x="0" y="355600"/>
                  </a:moveTo>
                  <a:lnTo>
                    <a:pt x="342900" y="355600"/>
                  </a:lnTo>
                  <a:lnTo>
                    <a:pt x="342900" y="0"/>
                  </a:lnTo>
                  <a:lnTo>
                    <a:pt x="0" y="0"/>
                  </a:lnTo>
                  <a:lnTo>
                    <a:pt x="0" y="355600"/>
                  </a:lnTo>
                  <a:close/>
                </a:path>
              </a:pathLst>
            </a:custGeom>
            <a:ln w="12700">
              <a:solidFill>
                <a:srgbClr val="41709C"/>
              </a:solidFill>
            </a:ln>
          </p:spPr>
          <p:txBody>
            <a:bodyPr wrap="square" lIns="0" tIns="0" rIns="0" bIns="0" rtlCol="0"/>
            <a:lstStyle/>
            <a:p>
              <a:endParaRPr/>
            </a:p>
          </p:txBody>
        </p:sp>
      </p:grpSp>
      <p:sp>
        <p:nvSpPr>
          <p:cNvPr id="27" name="object 27"/>
          <p:cNvSpPr txBox="1"/>
          <p:nvPr/>
        </p:nvSpPr>
        <p:spPr>
          <a:xfrm>
            <a:off x="1920367" y="4405376"/>
            <a:ext cx="141605" cy="299720"/>
          </a:xfrm>
          <a:prstGeom prst="rect">
            <a:avLst/>
          </a:prstGeom>
        </p:spPr>
        <p:txBody>
          <a:bodyPr vert="horz" wrap="square" lIns="0" tIns="12700" rIns="0" bIns="0" rtlCol="0">
            <a:spAutoFit/>
          </a:bodyPr>
          <a:lstStyle/>
          <a:p>
            <a:pPr marL="12700">
              <a:lnSpc>
                <a:spcPct val="100000"/>
              </a:lnSpc>
              <a:spcBef>
                <a:spcPts val="100"/>
              </a:spcBef>
            </a:pPr>
            <a:r>
              <a:rPr sz="1800" spc="-50" dirty="0">
                <a:solidFill>
                  <a:srgbClr val="FFFFFF"/>
                </a:solidFill>
                <a:latin typeface="Calibri"/>
                <a:cs typeface="Calibri"/>
              </a:rPr>
              <a:t>5</a:t>
            </a:r>
            <a:endParaRPr sz="1800">
              <a:latin typeface="Calibri"/>
              <a:cs typeface="Calibri"/>
            </a:endParaRPr>
          </a:p>
        </p:txBody>
      </p:sp>
      <p:sp>
        <p:nvSpPr>
          <p:cNvPr id="28" name="object 28"/>
          <p:cNvSpPr txBox="1"/>
          <p:nvPr/>
        </p:nvSpPr>
        <p:spPr>
          <a:xfrm>
            <a:off x="2271141" y="2065401"/>
            <a:ext cx="3702685"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Microsoft Sans Serif"/>
                <a:cs typeface="Microsoft Sans Serif"/>
              </a:rPr>
              <a:t>Overall</a:t>
            </a:r>
            <a:r>
              <a:rPr sz="2400" spc="-70" dirty="0">
                <a:latin typeface="Microsoft Sans Serif"/>
                <a:cs typeface="Microsoft Sans Serif"/>
              </a:rPr>
              <a:t> </a:t>
            </a:r>
            <a:r>
              <a:rPr sz="2400" dirty="0">
                <a:latin typeface="Microsoft Sans Serif"/>
                <a:cs typeface="Microsoft Sans Serif"/>
              </a:rPr>
              <a:t>Reduction</a:t>
            </a:r>
            <a:r>
              <a:rPr sz="2400" spc="-55" dirty="0">
                <a:latin typeface="Microsoft Sans Serif"/>
                <a:cs typeface="Microsoft Sans Serif"/>
              </a:rPr>
              <a:t> </a:t>
            </a:r>
            <a:r>
              <a:rPr sz="2400" dirty="0">
                <a:latin typeface="Microsoft Sans Serif"/>
                <a:cs typeface="Microsoft Sans Serif"/>
              </a:rPr>
              <a:t>in</a:t>
            </a:r>
            <a:r>
              <a:rPr sz="2400" spc="-80" dirty="0">
                <a:latin typeface="Microsoft Sans Serif"/>
                <a:cs typeface="Microsoft Sans Serif"/>
              </a:rPr>
              <a:t> </a:t>
            </a:r>
            <a:r>
              <a:rPr sz="2400" spc="-10" dirty="0">
                <a:latin typeface="Microsoft Sans Serif"/>
                <a:cs typeface="Microsoft Sans Serif"/>
              </a:rPr>
              <a:t>Prices</a:t>
            </a:r>
            <a:endParaRPr sz="2400">
              <a:latin typeface="Microsoft Sans Serif"/>
              <a:cs typeface="Microsoft Sans Serif"/>
            </a:endParaRPr>
          </a:p>
        </p:txBody>
      </p:sp>
      <p:sp>
        <p:nvSpPr>
          <p:cNvPr id="29" name="object 29"/>
          <p:cNvSpPr txBox="1"/>
          <p:nvPr/>
        </p:nvSpPr>
        <p:spPr>
          <a:xfrm>
            <a:off x="2280285" y="1334770"/>
            <a:ext cx="4459605"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Microsoft Sans Serif"/>
                <a:cs typeface="Microsoft Sans Serif"/>
              </a:rPr>
              <a:t>Reduction</a:t>
            </a:r>
            <a:r>
              <a:rPr sz="2400" spc="-45" dirty="0">
                <a:latin typeface="Microsoft Sans Serif"/>
                <a:cs typeface="Microsoft Sans Serif"/>
              </a:rPr>
              <a:t> </a:t>
            </a:r>
            <a:r>
              <a:rPr sz="2400" dirty="0">
                <a:latin typeface="Microsoft Sans Serif"/>
                <a:cs typeface="Microsoft Sans Serif"/>
              </a:rPr>
              <a:t>in</a:t>
            </a:r>
            <a:r>
              <a:rPr sz="2400" spc="-60" dirty="0">
                <a:latin typeface="Microsoft Sans Serif"/>
                <a:cs typeface="Microsoft Sans Serif"/>
              </a:rPr>
              <a:t> </a:t>
            </a:r>
            <a:r>
              <a:rPr sz="2400" dirty="0">
                <a:latin typeface="Microsoft Sans Serif"/>
                <a:cs typeface="Microsoft Sans Serif"/>
              </a:rPr>
              <a:t>Cascading</a:t>
            </a:r>
            <a:r>
              <a:rPr sz="2400" spc="-35" dirty="0">
                <a:latin typeface="Microsoft Sans Serif"/>
                <a:cs typeface="Microsoft Sans Serif"/>
              </a:rPr>
              <a:t> </a:t>
            </a:r>
            <a:r>
              <a:rPr sz="2400" dirty="0">
                <a:latin typeface="Microsoft Sans Serif"/>
                <a:cs typeface="Microsoft Sans Serif"/>
              </a:rPr>
              <a:t>of</a:t>
            </a:r>
            <a:r>
              <a:rPr sz="2400" spc="-105" dirty="0">
                <a:latin typeface="Microsoft Sans Serif"/>
                <a:cs typeface="Microsoft Sans Serif"/>
              </a:rPr>
              <a:t> </a:t>
            </a:r>
            <a:r>
              <a:rPr sz="2400" spc="-10" dirty="0">
                <a:latin typeface="Microsoft Sans Serif"/>
                <a:cs typeface="Microsoft Sans Serif"/>
              </a:rPr>
              <a:t>Taxes</a:t>
            </a:r>
            <a:endParaRPr sz="2400">
              <a:latin typeface="Microsoft Sans Serif"/>
              <a:cs typeface="Microsoft Sans Serif"/>
            </a:endParaRPr>
          </a:p>
        </p:txBody>
      </p:sp>
      <p:sp>
        <p:nvSpPr>
          <p:cNvPr id="30" name="object 30"/>
          <p:cNvSpPr txBox="1"/>
          <p:nvPr/>
        </p:nvSpPr>
        <p:spPr>
          <a:xfrm>
            <a:off x="2295270" y="2776854"/>
            <a:ext cx="348361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Microsoft Sans Serif"/>
                <a:cs typeface="Microsoft Sans Serif"/>
              </a:rPr>
              <a:t>Common</a:t>
            </a:r>
            <a:r>
              <a:rPr sz="2400" spc="-95" dirty="0">
                <a:latin typeface="Microsoft Sans Serif"/>
                <a:cs typeface="Microsoft Sans Serif"/>
              </a:rPr>
              <a:t> </a:t>
            </a:r>
            <a:r>
              <a:rPr sz="2400" dirty="0">
                <a:latin typeface="Microsoft Sans Serif"/>
                <a:cs typeface="Microsoft Sans Serif"/>
              </a:rPr>
              <a:t>National</a:t>
            </a:r>
            <a:r>
              <a:rPr sz="2400" spc="-85" dirty="0">
                <a:latin typeface="Microsoft Sans Serif"/>
                <a:cs typeface="Microsoft Sans Serif"/>
              </a:rPr>
              <a:t> </a:t>
            </a:r>
            <a:r>
              <a:rPr sz="2400" spc="-10" dirty="0">
                <a:latin typeface="Microsoft Sans Serif"/>
                <a:cs typeface="Microsoft Sans Serif"/>
              </a:rPr>
              <a:t>Market</a:t>
            </a:r>
            <a:endParaRPr sz="2400">
              <a:latin typeface="Microsoft Sans Serif"/>
              <a:cs typeface="Microsoft Sans Serif"/>
            </a:endParaRPr>
          </a:p>
        </p:txBody>
      </p:sp>
      <p:sp>
        <p:nvSpPr>
          <p:cNvPr id="31" name="object 31"/>
          <p:cNvSpPr txBox="1"/>
          <p:nvPr/>
        </p:nvSpPr>
        <p:spPr>
          <a:xfrm>
            <a:off x="2295270" y="3511422"/>
            <a:ext cx="377825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Microsoft Sans Serif"/>
                <a:cs typeface="Microsoft Sans Serif"/>
              </a:rPr>
              <a:t>Benefits</a:t>
            </a:r>
            <a:r>
              <a:rPr sz="2400" spc="-40" dirty="0">
                <a:latin typeface="Microsoft Sans Serif"/>
                <a:cs typeface="Microsoft Sans Serif"/>
              </a:rPr>
              <a:t> </a:t>
            </a:r>
            <a:r>
              <a:rPr sz="2400" dirty="0">
                <a:latin typeface="Microsoft Sans Serif"/>
                <a:cs typeface="Microsoft Sans Serif"/>
              </a:rPr>
              <a:t>to</a:t>
            </a:r>
            <a:r>
              <a:rPr sz="2400" spc="-50" dirty="0">
                <a:latin typeface="Microsoft Sans Serif"/>
                <a:cs typeface="Microsoft Sans Serif"/>
              </a:rPr>
              <a:t> </a:t>
            </a:r>
            <a:r>
              <a:rPr sz="2400" dirty="0">
                <a:latin typeface="Microsoft Sans Serif"/>
                <a:cs typeface="Microsoft Sans Serif"/>
              </a:rPr>
              <a:t>Small</a:t>
            </a:r>
            <a:r>
              <a:rPr sz="2400" spc="-70" dirty="0">
                <a:latin typeface="Microsoft Sans Serif"/>
                <a:cs typeface="Microsoft Sans Serif"/>
              </a:rPr>
              <a:t> </a:t>
            </a:r>
            <a:r>
              <a:rPr sz="2400" spc="-20" dirty="0">
                <a:latin typeface="Microsoft Sans Serif"/>
                <a:cs typeface="Microsoft Sans Serif"/>
              </a:rPr>
              <a:t>Taxpayers</a:t>
            </a:r>
            <a:endParaRPr sz="2400">
              <a:latin typeface="Microsoft Sans Serif"/>
              <a:cs typeface="Microsoft Sans Serif"/>
            </a:endParaRPr>
          </a:p>
        </p:txBody>
      </p:sp>
      <p:sp>
        <p:nvSpPr>
          <p:cNvPr id="32" name="object 32"/>
          <p:cNvSpPr txBox="1"/>
          <p:nvPr/>
        </p:nvSpPr>
        <p:spPr>
          <a:xfrm>
            <a:off x="2295270" y="4316095"/>
            <a:ext cx="3766185" cy="391160"/>
          </a:xfrm>
          <a:prstGeom prst="rect">
            <a:avLst/>
          </a:prstGeom>
        </p:spPr>
        <p:txBody>
          <a:bodyPr vert="horz" wrap="square" lIns="0" tIns="12700" rIns="0" bIns="0" rtlCol="0">
            <a:spAutoFit/>
          </a:bodyPr>
          <a:lstStyle/>
          <a:p>
            <a:pPr marL="12700">
              <a:lnSpc>
                <a:spcPct val="100000"/>
              </a:lnSpc>
              <a:spcBef>
                <a:spcPts val="100"/>
              </a:spcBef>
            </a:pPr>
            <a:r>
              <a:rPr sz="2400" spc="-25" dirty="0">
                <a:latin typeface="Microsoft Sans Serif"/>
                <a:cs typeface="Microsoft Sans Serif"/>
              </a:rPr>
              <a:t>Self-</a:t>
            </a:r>
            <a:r>
              <a:rPr sz="2400" dirty="0">
                <a:latin typeface="Microsoft Sans Serif"/>
                <a:cs typeface="Microsoft Sans Serif"/>
              </a:rPr>
              <a:t>Regulating</a:t>
            </a:r>
            <a:r>
              <a:rPr sz="2400" spc="-105" dirty="0">
                <a:latin typeface="Microsoft Sans Serif"/>
                <a:cs typeface="Microsoft Sans Serif"/>
              </a:rPr>
              <a:t> </a:t>
            </a:r>
            <a:r>
              <a:rPr sz="2400" spc="-55" dirty="0">
                <a:latin typeface="Microsoft Sans Serif"/>
                <a:cs typeface="Microsoft Sans Serif"/>
              </a:rPr>
              <a:t>Tax</a:t>
            </a:r>
            <a:r>
              <a:rPr sz="2400" spc="-100" dirty="0">
                <a:latin typeface="Microsoft Sans Serif"/>
                <a:cs typeface="Microsoft Sans Serif"/>
              </a:rPr>
              <a:t> </a:t>
            </a:r>
            <a:r>
              <a:rPr sz="2400" spc="-10" dirty="0">
                <a:latin typeface="Microsoft Sans Serif"/>
                <a:cs typeface="Microsoft Sans Serif"/>
              </a:rPr>
              <a:t>System</a:t>
            </a:r>
            <a:endParaRPr sz="2400">
              <a:latin typeface="Microsoft Sans Serif"/>
              <a:cs typeface="Microsoft Sans Serif"/>
            </a:endParaRPr>
          </a:p>
        </p:txBody>
      </p:sp>
      <p:grpSp>
        <p:nvGrpSpPr>
          <p:cNvPr id="33" name="object 33"/>
          <p:cNvGrpSpPr/>
          <p:nvPr/>
        </p:nvGrpSpPr>
        <p:grpSpPr>
          <a:xfrm>
            <a:off x="1812925" y="5202554"/>
            <a:ext cx="4936490" cy="389255"/>
            <a:chOff x="1812925" y="5202554"/>
            <a:chExt cx="4936490" cy="389255"/>
          </a:xfrm>
        </p:grpSpPr>
        <p:sp>
          <p:nvSpPr>
            <p:cNvPr id="34" name="object 34"/>
            <p:cNvSpPr/>
            <p:nvPr/>
          </p:nvSpPr>
          <p:spPr>
            <a:xfrm>
              <a:off x="2047875" y="5515609"/>
              <a:ext cx="4701540" cy="76200"/>
            </a:xfrm>
            <a:custGeom>
              <a:avLst/>
              <a:gdLst/>
              <a:ahLst/>
              <a:cxnLst/>
              <a:rect l="l" t="t" r="r" b="b"/>
              <a:pathLst>
                <a:path w="4701540" h="76200">
                  <a:moveTo>
                    <a:pt x="4663440" y="0"/>
                  </a:moveTo>
                  <a:lnTo>
                    <a:pt x="4648592" y="2988"/>
                  </a:lnTo>
                  <a:lnTo>
                    <a:pt x="4636484" y="11144"/>
                  </a:lnTo>
                  <a:lnTo>
                    <a:pt x="4628328" y="23252"/>
                  </a:lnTo>
                  <a:lnTo>
                    <a:pt x="4625340" y="38099"/>
                  </a:lnTo>
                  <a:lnTo>
                    <a:pt x="4628328" y="52943"/>
                  </a:lnTo>
                  <a:lnTo>
                    <a:pt x="4636484" y="65043"/>
                  </a:lnTo>
                  <a:lnTo>
                    <a:pt x="4648592" y="73190"/>
                  </a:lnTo>
                  <a:lnTo>
                    <a:pt x="4663440" y="76174"/>
                  </a:lnTo>
                  <a:lnTo>
                    <a:pt x="4678287" y="73190"/>
                  </a:lnTo>
                  <a:lnTo>
                    <a:pt x="4690395" y="65043"/>
                  </a:lnTo>
                  <a:lnTo>
                    <a:pt x="4698551" y="52943"/>
                  </a:lnTo>
                  <a:lnTo>
                    <a:pt x="4698983" y="50799"/>
                  </a:lnTo>
                  <a:lnTo>
                    <a:pt x="4663440" y="50799"/>
                  </a:lnTo>
                  <a:lnTo>
                    <a:pt x="4663440" y="25399"/>
                  </a:lnTo>
                  <a:lnTo>
                    <a:pt x="4698983" y="25399"/>
                  </a:lnTo>
                  <a:lnTo>
                    <a:pt x="4698551" y="23252"/>
                  </a:lnTo>
                  <a:lnTo>
                    <a:pt x="4690395" y="11144"/>
                  </a:lnTo>
                  <a:lnTo>
                    <a:pt x="4678287" y="2988"/>
                  </a:lnTo>
                  <a:lnTo>
                    <a:pt x="4663440" y="0"/>
                  </a:lnTo>
                  <a:close/>
                </a:path>
                <a:path w="4701540" h="76200">
                  <a:moveTo>
                    <a:pt x="4627896" y="25399"/>
                  </a:moveTo>
                  <a:lnTo>
                    <a:pt x="0" y="25399"/>
                  </a:lnTo>
                  <a:lnTo>
                    <a:pt x="0" y="50799"/>
                  </a:lnTo>
                  <a:lnTo>
                    <a:pt x="4627896" y="50799"/>
                  </a:lnTo>
                  <a:lnTo>
                    <a:pt x="4625340" y="38099"/>
                  </a:lnTo>
                  <a:lnTo>
                    <a:pt x="4627896" y="25399"/>
                  </a:lnTo>
                  <a:close/>
                </a:path>
                <a:path w="4701540" h="76200">
                  <a:moveTo>
                    <a:pt x="4698983" y="25399"/>
                  </a:moveTo>
                  <a:lnTo>
                    <a:pt x="4663440" y="25399"/>
                  </a:lnTo>
                  <a:lnTo>
                    <a:pt x="4663440" y="50799"/>
                  </a:lnTo>
                  <a:lnTo>
                    <a:pt x="4698983" y="50799"/>
                  </a:lnTo>
                  <a:lnTo>
                    <a:pt x="4701540" y="38099"/>
                  </a:lnTo>
                  <a:lnTo>
                    <a:pt x="4698983" y="25399"/>
                  </a:lnTo>
                  <a:close/>
                </a:path>
              </a:pathLst>
            </a:custGeom>
            <a:solidFill>
              <a:srgbClr val="001F5F"/>
            </a:solidFill>
          </p:spPr>
          <p:txBody>
            <a:bodyPr wrap="square" lIns="0" tIns="0" rIns="0" bIns="0" rtlCol="0"/>
            <a:lstStyle/>
            <a:p>
              <a:endParaRPr/>
            </a:p>
          </p:txBody>
        </p:sp>
        <p:sp>
          <p:nvSpPr>
            <p:cNvPr id="35" name="object 35"/>
            <p:cNvSpPr/>
            <p:nvPr/>
          </p:nvSpPr>
          <p:spPr>
            <a:xfrm>
              <a:off x="1819275" y="5208904"/>
              <a:ext cx="342900" cy="355600"/>
            </a:xfrm>
            <a:custGeom>
              <a:avLst/>
              <a:gdLst/>
              <a:ahLst/>
              <a:cxnLst/>
              <a:rect l="l" t="t" r="r" b="b"/>
              <a:pathLst>
                <a:path w="342900" h="355600">
                  <a:moveTo>
                    <a:pt x="342900" y="0"/>
                  </a:moveTo>
                  <a:lnTo>
                    <a:pt x="0" y="0"/>
                  </a:lnTo>
                  <a:lnTo>
                    <a:pt x="0" y="355600"/>
                  </a:lnTo>
                  <a:lnTo>
                    <a:pt x="342900" y="355600"/>
                  </a:lnTo>
                  <a:lnTo>
                    <a:pt x="342900" y="0"/>
                  </a:lnTo>
                  <a:close/>
                </a:path>
              </a:pathLst>
            </a:custGeom>
            <a:solidFill>
              <a:srgbClr val="1F4E79"/>
            </a:solidFill>
          </p:spPr>
          <p:txBody>
            <a:bodyPr wrap="square" lIns="0" tIns="0" rIns="0" bIns="0" rtlCol="0"/>
            <a:lstStyle/>
            <a:p>
              <a:endParaRPr/>
            </a:p>
          </p:txBody>
        </p:sp>
        <p:sp>
          <p:nvSpPr>
            <p:cNvPr id="36" name="object 36"/>
            <p:cNvSpPr/>
            <p:nvPr/>
          </p:nvSpPr>
          <p:spPr>
            <a:xfrm>
              <a:off x="1819275" y="5208904"/>
              <a:ext cx="342900" cy="355600"/>
            </a:xfrm>
            <a:custGeom>
              <a:avLst/>
              <a:gdLst/>
              <a:ahLst/>
              <a:cxnLst/>
              <a:rect l="l" t="t" r="r" b="b"/>
              <a:pathLst>
                <a:path w="342900" h="355600">
                  <a:moveTo>
                    <a:pt x="0" y="355600"/>
                  </a:moveTo>
                  <a:lnTo>
                    <a:pt x="342900" y="355600"/>
                  </a:lnTo>
                  <a:lnTo>
                    <a:pt x="342900" y="0"/>
                  </a:lnTo>
                  <a:lnTo>
                    <a:pt x="0" y="0"/>
                  </a:lnTo>
                  <a:lnTo>
                    <a:pt x="0" y="355600"/>
                  </a:lnTo>
                  <a:close/>
                </a:path>
              </a:pathLst>
            </a:custGeom>
            <a:ln w="12700">
              <a:solidFill>
                <a:srgbClr val="41709C"/>
              </a:solidFill>
            </a:ln>
          </p:spPr>
          <p:txBody>
            <a:bodyPr wrap="square" lIns="0" tIns="0" rIns="0" bIns="0" rtlCol="0"/>
            <a:lstStyle/>
            <a:p>
              <a:endParaRPr/>
            </a:p>
          </p:txBody>
        </p:sp>
      </p:grpSp>
      <p:sp>
        <p:nvSpPr>
          <p:cNvPr id="37" name="object 37"/>
          <p:cNvSpPr txBox="1"/>
          <p:nvPr/>
        </p:nvSpPr>
        <p:spPr>
          <a:xfrm>
            <a:off x="1920367" y="5222570"/>
            <a:ext cx="141605" cy="300355"/>
          </a:xfrm>
          <a:prstGeom prst="rect">
            <a:avLst/>
          </a:prstGeom>
        </p:spPr>
        <p:txBody>
          <a:bodyPr vert="horz" wrap="square" lIns="0" tIns="12700" rIns="0" bIns="0" rtlCol="0">
            <a:spAutoFit/>
          </a:bodyPr>
          <a:lstStyle/>
          <a:p>
            <a:pPr marL="12700">
              <a:lnSpc>
                <a:spcPct val="100000"/>
              </a:lnSpc>
              <a:spcBef>
                <a:spcPts val="100"/>
              </a:spcBef>
            </a:pPr>
            <a:r>
              <a:rPr sz="1800" spc="-50" dirty="0">
                <a:solidFill>
                  <a:srgbClr val="FFFFFF"/>
                </a:solidFill>
                <a:latin typeface="Calibri"/>
                <a:cs typeface="Calibri"/>
              </a:rPr>
              <a:t>6</a:t>
            </a:r>
            <a:endParaRPr sz="1800">
              <a:latin typeface="Calibri"/>
              <a:cs typeface="Calibri"/>
            </a:endParaRPr>
          </a:p>
        </p:txBody>
      </p:sp>
      <p:sp>
        <p:nvSpPr>
          <p:cNvPr id="38" name="object 38"/>
          <p:cNvSpPr txBox="1"/>
          <p:nvPr/>
        </p:nvSpPr>
        <p:spPr>
          <a:xfrm>
            <a:off x="2271141" y="5107940"/>
            <a:ext cx="4662170" cy="391160"/>
          </a:xfrm>
          <a:prstGeom prst="rect">
            <a:avLst/>
          </a:prstGeom>
        </p:spPr>
        <p:txBody>
          <a:bodyPr vert="horz" wrap="square" lIns="0" tIns="12700" rIns="0" bIns="0" rtlCol="0">
            <a:spAutoFit/>
          </a:bodyPr>
          <a:lstStyle/>
          <a:p>
            <a:pPr marL="12700">
              <a:lnSpc>
                <a:spcPct val="100000"/>
              </a:lnSpc>
              <a:spcBef>
                <a:spcPts val="100"/>
              </a:spcBef>
            </a:pPr>
            <a:r>
              <a:rPr sz="2400" spc="-25" dirty="0">
                <a:latin typeface="Microsoft Sans Serif"/>
                <a:cs typeface="Microsoft Sans Serif"/>
              </a:rPr>
              <a:t>Non-</a:t>
            </a:r>
            <a:r>
              <a:rPr sz="2400" dirty="0">
                <a:latin typeface="Microsoft Sans Serif"/>
                <a:cs typeface="Microsoft Sans Serif"/>
              </a:rPr>
              <a:t>Intrusive</a:t>
            </a:r>
            <a:r>
              <a:rPr sz="2400" spc="-45" dirty="0">
                <a:latin typeface="Microsoft Sans Serif"/>
                <a:cs typeface="Microsoft Sans Serif"/>
              </a:rPr>
              <a:t> </a:t>
            </a:r>
            <a:r>
              <a:rPr sz="2400" dirty="0">
                <a:latin typeface="Microsoft Sans Serif"/>
                <a:cs typeface="Microsoft Sans Serif"/>
              </a:rPr>
              <a:t>Electronic</a:t>
            </a:r>
            <a:r>
              <a:rPr sz="2400" spc="-65" dirty="0">
                <a:latin typeface="Microsoft Sans Serif"/>
                <a:cs typeface="Microsoft Sans Serif"/>
              </a:rPr>
              <a:t> </a:t>
            </a:r>
            <a:r>
              <a:rPr sz="2400" spc="-70" dirty="0">
                <a:latin typeface="Microsoft Sans Serif"/>
                <a:cs typeface="Microsoft Sans Serif"/>
              </a:rPr>
              <a:t>Tax</a:t>
            </a:r>
            <a:r>
              <a:rPr sz="2400" spc="-65" dirty="0">
                <a:latin typeface="Microsoft Sans Serif"/>
                <a:cs typeface="Microsoft Sans Serif"/>
              </a:rPr>
              <a:t> </a:t>
            </a:r>
            <a:r>
              <a:rPr sz="2400" spc="-10" dirty="0">
                <a:latin typeface="Microsoft Sans Serif"/>
                <a:cs typeface="Microsoft Sans Serif"/>
              </a:rPr>
              <a:t>Syste</a:t>
            </a:r>
            <a:endParaRPr sz="2400">
              <a:latin typeface="Microsoft Sans Serif"/>
              <a:cs typeface="Microsoft Sans Serif"/>
            </a:endParaRPr>
          </a:p>
        </p:txBody>
      </p:sp>
      <p:sp>
        <p:nvSpPr>
          <p:cNvPr id="39" name="object 39"/>
          <p:cNvSpPr txBox="1"/>
          <p:nvPr/>
        </p:nvSpPr>
        <p:spPr>
          <a:xfrm>
            <a:off x="6920127" y="5149512"/>
            <a:ext cx="254000" cy="340995"/>
          </a:xfrm>
          <a:prstGeom prst="rect">
            <a:avLst/>
          </a:prstGeom>
        </p:spPr>
        <p:txBody>
          <a:bodyPr vert="horz" wrap="square" lIns="0" tIns="0" rIns="0" bIns="0" rtlCol="0">
            <a:spAutoFit/>
          </a:bodyPr>
          <a:lstStyle/>
          <a:p>
            <a:pPr>
              <a:lnSpc>
                <a:spcPts val="2655"/>
              </a:lnSpc>
            </a:pPr>
            <a:r>
              <a:rPr sz="2400" spc="-50" dirty="0">
                <a:latin typeface="Microsoft Sans Serif"/>
                <a:cs typeface="Microsoft Sans Serif"/>
              </a:rPr>
              <a:t>m</a:t>
            </a:r>
            <a:endParaRPr sz="2400">
              <a:latin typeface="Microsoft Sans Serif"/>
              <a:cs typeface="Microsoft Sans Serif"/>
            </a:endParaRPr>
          </a:p>
        </p:txBody>
      </p:sp>
      <p:sp>
        <p:nvSpPr>
          <p:cNvPr id="40" name="object 40"/>
          <p:cNvSpPr txBox="1"/>
          <p:nvPr/>
        </p:nvSpPr>
        <p:spPr>
          <a:xfrm>
            <a:off x="7115302" y="1424533"/>
            <a:ext cx="3253104" cy="1225550"/>
          </a:xfrm>
          <a:prstGeom prst="rect">
            <a:avLst/>
          </a:prstGeom>
          <a:solidFill>
            <a:srgbClr val="001F5F"/>
          </a:solidFill>
          <a:ln w="12700">
            <a:solidFill>
              <a:srgbClr val="41709C"/>
            </a:solidFill>
          </a:ln>
        </p:spPr>
        <p:txBody>
          <a:bodyPr vert="horz" wrap="square" lIns="0" tIns="162560" rIns="0" bIns="0" rtlCol="0">
            <a:spAutoFit/>
          </a:bodyPr>
          <a:lstStyle/>
          <a:p>
            <a:pPr marL="1025525" marR="778510" indent="-236220">
              <a:lnSpc>
                <a:spcPct val="100000"/>
              </a:lnSpc>
              <a:spcBef>
                <a:spcPts val="1280"/>
              </a:spcBef>
            </a:pPr>
            <a:r>
              <a:rPr sz="2800" dirty="0">
                <a:solidFill>
                  <a:srgbClr val="FFFFFF"/>
                </a:solidFill>
                <a:latin typeface="Calibri"/>
                <a:cs typeface="Calibri"/>
              </a:rPr>
              <a:t>Decrease</a:t>
            </a:r>
            <a:r>
              <a:rPr sz="2800" spc="-100" dirty="0">
                <a:solidFill>
                  <a:srgbClr val="FFFFFF"/>
                </a:solidFill>
                <a:latin typeface="Calibri"/>
                <a:cs typeface="Calibri"/>
              </a:rPr>
              <a:t> </a:t>
            </a:r>
            <a:r>
              <a:rPr sz="2800" spc="-25" dirty="0">
                <a:solidFill>
                  <a:srgbClr val="FFFFFF"/>
                </a:solidFill>
                <a:latin typeface="Calibri"/>
                <a:cs typeface="Calibri"/>
              </a:rPr>
              <a:t>in </a:t>
            </a:r>
            <a:r>
              <a:rPr sz="2800" spc="-10" dirty="0">
                <a:solidFill>
                  <a:srgbClr val="FFFFFF"/>
                </a:solidFill>
                <a:latin typeface="Calibri"/>
                <a:cs typeface="Calibri"/>
              </a:rPr>
              <a:t>Inflation</a:t>
            </a:r>
            <a:endParaRPr sz="2800">
              <a:latin typeface="Calibri"/>
              <a:cs typeface="Calibri"/>
            </a:endParaRPr>
          </a:p>
        </p:txBody>
      </p:sp>
      <p:sp>
        <p:nvSpPr>
          <p:cNvPr id="41" name="object 41"/>
          <p:cNvSpPr txBox="1"/>
          <p:nvPr/>
        </p:nvSpPr>
        <p:spPr>
          <a:xfrm>
            <a:off x="7115302" y="2856712"/>
            <a:ext cx="3253104" cy="1225550"/>
          </a:xfrm>
          <a:prstGeom prst="rect">
            <a:avLst/>
          </a:prstGeom>
          <a:solidFill>
            <a:srgbClr val="001F5F"/>
          </a:solidFill>
          <a:ln w="12700">
            <a:solidFill>
              <a:srgbClr val="41709C"/>
            </a:solidFill>
          </a:ln>
        </p:spPr>
        <p:txBody>
          <a:bodyPr vert="horz" wrap="square" lIns="0" tIns="163195" rIns="0" bIns="0" rtlCol="0">
            <a:spAutoFit/>
          </a:bodyPr>
          <a:lstStyle/>
          <a:p>
            <a:pPr marL="1007110" marR="644525" indent="-355600">
              <a:lnSpc>
                <a:spcPct val="100000"/>
              </a:lnSpc>
              <a:spcBef>
                <a:spcPts val="1285"/>
              </a:spcBef>
            </a:pPr>
            <a:r>
              <a:rPr sz="2800" dirty="0">
                <a:solidFill>
                  <a:srgbClr val="FFFFFF"/>
                </a:solidFill>
                <a:latin typeface="Calibri"/>
                <a:cs typeface="Calibri"/>
              </a:rPr>
              <a:t>Ease</a:t>
            </a:r>
            <a:r>
              <a:rPr sz="2800" spc="-55" dirty="0">
                <a:solidFill>
                  <a:srgbClr val="FFFFFF"/>
                </a:solidFill>
                <a:latin typeface="Calibri"/>
                <a:cs typeface="Calibri"/>
              </a:rPr>
              <a:t> </a:t>
            </a:r>
            <a:r>
              <a:rPr sz="2800" dirty="0">
                <a:solidFill>
                  <a:srgbClr val="FFFFFF"/>
                </a:solidFill>
                <a:latin typeface="Calibri"/>
                <a:cs typeface="Calibri"/>
              </a:rPr>
              <a:t>of</a:t>
            </a:r>
            <a:r>
              <a:rPr sz="2800" spc="-60" dirty="0">
                <a:solidFill>
                  <a:srgbClr val="FFFFFF"/>
                </a:solidFill>
                <a:latin typeface="Calibri"/>
                <a:cs typeface="Calibri"/>
              </a:rPr>
              <a:t> </a:t>
            </a:r>
            <a:r>
              <a:rPr sz="2800" spc="-10" dirty="0">
                <a:solidFill>
                  <a:srgbClr val="FFFFFF"/>
                </a:solidFill>
                <a:latin typeface="Calibri"/>
                <a:cs typeface="Calibri"/>
              </a:rPr>
              <a:t>Doing Business</a:t>
            </a:r>
            <a:endParaRPr sz="2800">
              <a:latin typeface="Calibri"/>
              <a:cs typeface="Calibri"/>
            </a:endParaRPr>
          </a:p>
        </p:txBody>
      </p:sp>
      <p:sp>
        <p:nvSpPr>
          <p:cNvPr id="42" name="object 42"/>
          <p:cNvSpPr txBox="1"/>
          <p:nvPr/>
        </p:nvSpPr>
        <p:spPr>
          <a:xfrm>
            <a:off x="7115302" y="4320768"/>
            <a:ext cx="3253104" cy="1225550"/>
          </a:xfrm>
          <a:prstGeom prst="rect">
            <a:avLst/>
          </a:prstGeom>
          <a:solidFill>
            <a:srgbClr val="001F5F"/>
          </a:solidFill>
          <a:ln w="12700">
            <a:solidFill>
              <a:srgbClr val="41709C"/>
            </a:solidFill>
          </a:ln>
        </p:spPr>
        <p:txBody>
          <a:bodyPr vert="horz" wrap="square" lIns="0" tIns="163195" rIns="0" bIns="0" rtlCol="0">
            <a:spAutoFit/>
          </a:bodyPr>
          <a:lstStyle/>
          <a:p>
            <a:pPr marL="728345" marR="213360" indent="-508000">
              <a:lnSpc>
                <a:spcPct val="100000"/>
              </a:lnSpc>
              <a:spcBef>
                <a:spcPts val="1285"/>
              </a:spcBef>
            </a:pPr>
            <a:r>
              <a:rPr sz="2800" dirty="0">
                <a:solidFill>
                  <a:srgbClr val="FFFFFF"/>
                </a:solidFill>
                <a:latin typeface="Calibri"/>
                <a:cs typeface="Calibri"/>
              </a:rPr>
              <a:t>Decrease</a:t>
            </a:r>
            <a:r>
              <a:rPr sz="2800" spc="-60" dirty="0">
                <a:solidFill>
                  <a:srgbClr val="FFFFFF"/>
                </a:solidFill>
                <a:latin typeface="Calibri"/>
                <a:cs typeface="Calibri"/>
              </a:rPr>
              <a:t> </a:t>
            </a:r>
            <a:r>
              <a:rPr sz="2800" dirty="0">
                <a:solidFill>
                  <a:srgbClr val="FFFFFF"/>
                </a:solidFill>
                <a:latin typeface="Calibri"/>
                <a:cs typeface="Calibri"/>
              </a:rPr>
              <a:t>in</a:t>
            </a:r>
            <a:r>
              <a:rPr sz="2800" spc="-55" dirty="0">
                <a:solidFill>
                  <a:srgbClr val="FFFFFF"/>
                </a:solidFill>
                <a:latin typeface="Calibri"/>
                <a:cs typeface="Calibri"/>
              </a:rPr>
              <a:t> </a:t>
            </a:r>
            <a:r>
              <a:rPr sz="2800" spc="-10" dirty="0">
                <a:solidFill>
                  <a:srgbClr val="FFFFFF"/>
                </a:solidFill>
                <a:latin typeface="Calibri"/>
                <a:cs typeface="Calibri"/>
              </a:rPr>
              <a:t>“Black” Transactions</a:t>
            </a:r>
            <a:endParaRPr sz="2800">
              <a:latin typeface="Calibri"/>
              <a:cs typeface="Calibri"/>
            </a:endParaRPr>
          </a:p>
        </p:txBody>
      </p:sp>
      <p:sp>
        <p:nvSpPr>
          <p:cNvPr id="43" name="object 43"/>
          <p:cNvSpPr txBox="1"/>
          <p:nvPr/>
        </p:nvSpPr>
        <p:spPr>
          <a:xfrm>
            <a:off x="313740" y="6563664"/>
            <a:ext cx="180975" cy="208279"/>
          </a:xfrm>
          <a:prstGeom prst="rect">
            <a:avLst/>
          </a:prstGeom>
        </p:spPr>
        <p:txBody>
          <a:bodyPr vert="horz" wrap="square" lIns="0" tIns="12700" rIns="0" bIns="0" rtlCol="0">
            <a:spAutoFit/>
          </a:bodyPr>
          <a:lstStyle/>
          <a:p>
            <a:pPr marL="12700">
              <a:lnSpc>
                <a:spcPct val="100000"/>
              </a:lnSpc>
              <a:spcBef>
                <a:spcPts val="100"/>
              </a:spcBef>
            </a:pPr>
            <a:r>
              <a:rPr sz="1200" spc="-25" dirty="0">
                <a:solidFill>
                  <a:srgbClr val="888888"/>
                </a:solidFill>
                <a:latin typeface="Calibri"/>
                <a:cs typeface="Calibri"/>
              </a:rPr>
              <a:t>20</a:t>
            </a:r>
            <a:endParaRPr sz="1200">
              <a:latin typeface="Calibri"/>
              <a:cs typeface="Calibri"/>
            </a:endParaRPr>
          </a:p>
        </p:txBody>
      </p:sp>
    </p:spTree>
    <p:extLst>
      <p:ext uri="{BB962C8B-B14F-4D97-AF65-F5344CB8AC3E}">
        <p14:creationId xmlns:p14="http://schemas.microsoft.com/office/powerpoint/2010/main" val="347506718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682940"/>
            <a:ext cx="10515600" cy="689932"/>
          </a:xfrm>
          <a:prstGeom prst="rect">
            <a:avLst/>
          </a:prstGeom>
        </p:spPr>
        <p:txBody>
          <a:bodyPr vert="horz" wrap="square" lIns="0" tIns="12700" rIns="0" bIns="0" rtlCol="0">
            <a:spAutoFit/>
          </a:bodyPr>
          <a:lstStyle/>
          <a:p>
            <a:pPr marL="49530">
              <a:lnSpc>
                <a:spcPct val="100000"/>
              </a:lnSpc>
              <a:spcBef>
                <a:spcPts val="100"/>
              </a:spcBef>
            </a:pPr>
            <a:r>
              <a:rPr b="1" dirty="0">
                <a:solidFill>
                  <a:srgbClr val="0070C0"/>
                </a:solidFill>
              </a:rPr>
              <a:t>Benefits</a:t>
            </a:r>
            <a:r>
              <a:rPr b="1" spc="-40" dirty="0">
                <a:solidFill>
                  <a:srgbClr val="0070C0"/>
                </a:solidFill>
              </a:rPr>
              <a:t> </a:t>
            </a:r>
            <a:r>
              <a:rPr b="1" dirty="0">
                <a:solidFill>
                  <a:srgbClr val="0070C0"/>
                </a:solidFill>
              </a:rPr>
              <a:t>of</a:t>
            </a:r>
            <a:r>
              <a:rPr b="1" spc="-20" dirty="0">
                <a:solidFill>
                  <a:srgbClr val="0070C0"/>
                </a:solidFill>
              </a:rPr>
              <a:t> </a:t>
            </a:r>
            <a:r>
              <a:rPr b="1" dirty="0">
                <a:solidFill>
                  <a:srgbClr val="0070C0"/>
                </a:solidFill>
              </a:rPr>
              <a:t>GST</a:t>
            </a:r>
            <a:r>
              <a:rPr b="1" spc="-15" dirty="0">
                <a:solidFill>
                  <a:srgbClr val="0070C0"/>
                </a:solidFill>
              </a:rPr>
              <a:t> </a:t>
            </a:r>
            <a:r>
              <a:rPr b="1" spc="-10" dirty="0">
                <a:solidFill>
                  <a:srgbClr val="0070C0"/>
                </a:solidFill>
              </a:rPr>
              <a:t>(2/2)</a:t>
            </a:r>
          </a:p>
        </p:txBody>
      </p:sp>
      <p:sp>
        <p:nvSpPr>
          <p:cNvPr id="3" name="object 3"/>
          <p:cNvSpPr/>
          <p:nvPr/>
        </p:nvSpPr>
        <p:spPr>
          <a:xfrm>
            <a:off x="2057400" y="1765300"/>
            <a:ext cx="4701540" cy="76200"/>
          </a:xfrm>
          <a:custGeom>
            <a:avLst/>
            <a:gdLst/>
            <a:ahLst/>
            <a:cxnLst/>
            <a:rect l="l" t="t" r="r" b="b"/>
            <a:pathLst>
              <a:path w="4701540" h="76200">
                <a:moveTo>
                  <a:pt x="4663440" y="0"/>
                </a:moveTo>
                <a:lnTo>
                  <a:pt x="4648592" y="2988"/>
                </a:lnTo>
                <a:lnTo>
                  <a:pt x="4636484" y="11144"/>
                </a:lnTo>
                <a:lnTo>
                  <a:pt x="4628328" y="23252"/>
                </a:lnTo>
                <a:lnTo>
                  <a:pt x="4625340" y="38100"/>
                </a:lnTo>
                <a:lnTo>
                  <a:pt x="4628328" y="52947"/>
                </a:lnTo>
                <a:lnTo>
                  <a:pt x="4636484" y="65055"/>
                </a:lnTo>
                <a:lnTo>
                  <a:pt x="4648592" y="73211"/>
                </a:lnTo>
                <a:lnTo>
                  <a:pt x="4663440" y="76200"/>
                </a:lnTo>
                <a:lnTo>
                  <a:pt x="4678287" y="73211"/>
                </a:lnTo>
                <a:lnTo>
                  <a:pt x="4690395" y="65055"/>
                </a:lnTo>
                <a:lnTo>
                  <a:pt x="4698551" y="52947"/>
                </a:lnTo>
                <a:lnTo>
                  <a:pt x="4698983" y="50800"/>
                </a:lnTo>
                <a:lnTo>
                  <a:pt x="4663440" y="50800"/>
                </a:lnTo>
                <a:lnTo>
                  <a:pt x="4663440" y="25400"/>
                </a:lnTo>
                <a:lnTo>
                  <a:pt x="4698983" y="25400"/>
                </a:lnTo>
                <a:lnTo>
                  <a:pt x="4698551" y="23252"/>
                </a:lnTo>
                <a:lnTo>
                  <a:pt x="4690395" y="11144"/>
                </a:lnTo>
                <a:lnTo>
                  <a:pt x="4678287" y="2988"/>
                </a:lnTo>
                <a:lnTo>
                  <a:pt x="4663440" y="0"/>
                </a:lnTo>
                <a:close/>
              </a:path>
              <a:path w="4701540" h="76200">
                <a:moveTo>
                  <a:pt x="4627896" y="25400"/>
                </a:moveTo>
                <a:lnTo>
                  <a:pt x="0" y="25400"/>
                </a:lnTo>
                <a:lnTo>
                  <a:pt x="0" y="50800"/>
                </a:lnTo>
                <a:lnTo>
                  <a:pt x="4627896" y="50800"/>
                </a:lnTo>
                <a:lnTo>
                  <a:pt x="4625340" y="38100"/>
                </a:lnTo>
                <a:lnTo>
                  <a:pt x="4627896" y="25400"/>
                </a:lnTo>
                <a:close/>
              </a:path>
              <a:path w="4701540" h="76200">
                <a:moveTo>
                  <a:pt x="4698983" y="25400"/>
                </a:moveTo>
                <a:lnTo>
                  <a:pt x="4663440" y="25400"/>
                </a:lnTo>
                <a:lnTo>
                  <a:pt x="4663440" y="50800"/>
                </a:lnTo>
                <a:lnTo>
                  <a:pt x="4698983" y="50800"/>
                </a:lnTo>
                <a:lnTo>
                  <a:pt x="4701540" y="38100"/>
                </a:lnTo>
                <a:lnTo>
                  <a:pt x="4698983" y="25400"/>
                </a:lnTo>
                <a:close/>
              </a:path>
            </a:pathLst>
          </a:custGeom>
          <a:solidFill>
            <a:srgbClr val="001F5F"/>
          </a:solidFill>
        </p:spPr>
        <p:txBody>
          <a:bodyPr wrap="square" lIns="0" tIns="0" rIns="0" bIns="0" rtlCol="0"/>
          <a:lstStyle/>
          <a:p>
            <a:endParaRPr/>
          </a:p>
        </p:txBody>
      </p:sp>
      <p:grpSp>
        <p:nvGrpSpPr>
          <p:cNvPr id="4" name="object 4"/>
          <p:cNvGrpSpPr/>
          <p:nvPr/>
        </p:nvGrpSpPr>
        <p:grpSpPr>
          <a:xfrm>
            <a:off x="1822450" y="1452244"/>
            <a:ext cx="355600" cy="368300"/>
            <a:chOff x="1822450" y="1452244"/>
            <a:chExt cx="355600" cy="368300"/>
          </a:xfrm>
        </p:grpSpPr>
        <p:sp>
          <p:nvSpPr>
            <p:cNvPr id="5" name="object 5"/>
            <p:cNvSpPr/>
            <p:nvPr/>
          </p:nvSpPr>
          <p:spPr>
            <a:xfrm>
              <a:off x="1828800" y="1458594"/>
              <a:ext cx="342900" cy="355600"/>
            </a:xfrm>
            <a:custGeom>
              <a:avLst/>
              <a:gdLst/>
              <a:ahLst/>
              <a:cxnLst/>
              <a:rect l="l" t="t" r="r" b="b"/>
              <a:pathLst>
                <a:path w="342900" h="355600">
                  <a:moveTo>
                    <a:pt x="342900" y="0"/>
                  </a:moveTo>
                  <a:lnTo>
                    <a:pt x="0" y="0"/>
                  </a:lnTo>
                  <a:lnTo>
                    <a:pt x="0" y="355600"/>
                  </a:lnTo>
                  <a:lnTo>
                    <a:pt x="342900" y="355600"/>
                  </a:lnTo>
                  <a:lnTo>
                    <a:pt x="342900" y="0"/>
                  </a:lnTo>
                  <a:close/>
                </a:path>
              </a:pathLst>
            </a:custGeom>
            <a:solidFill>
              <a:srgbClr val="1F4E79"/>
            </a:solidFill>
          </p:spPr>
          <p:txBody>
            <a:bodyPr wrap="square" lIns="0" tIns="0" rIns="0" bIns="0" rtlCol="0"/>
            <a:lstStyle/>
            <a:p>
              <a:endParaRPr/>
            </a:p>
          </p:txBody>
        </p:sp>
        <p:sp>
          <p:nvSpPr>
            <p:cNvPr id="6" name="object 6"/>
            <p:cNvSpPr/>
            <p:nvPr/>
          </p:nvSpPr>
          <p:spPr>
            <a:xfrm>
              <a:off x="1828800" y="1458594"/>
              <a:ext cx="342900" cy="355600"/>
            </a:xfrm>
            <a:custGeom>
              <a:avLst/>
              <a:gdLst/>
              <a:ahLst/>
              <a:cxnLst/>
              <a:rect l="l" t="t" r="r" b="b"/>
              <a:pathLst>
                <a:path w="342900" h="355600">
                  <a:moveTo>
                    <a:pt x="0" y="355600"/>
                  </a:moveTo>
                  <a:lnTo>
                    <a:pt x="342900" y="355600"/>
                  </a:lnTo>
                  <a:lnTo>
                    <a:pt x="342900" y="0"/>
                  </a:lnTo>
                  <a:lnTo>
                    <a:pt x="0" y="0"/>
                  </a:lnTo>
                  <a:lnTo>
                    <a:pt x="0" y="355600"/>
                  </a:lnTo>
                  <a:close/>
                </a:path>
              </a:pathLst>
            </a:custGeom>
            <a:ln w="12700">
              <a:solidFill>
                <a:srgbClr val="41709C"/>
              </a:solidFill>
            </a:ln>
          </p:spPr>
          <p:txBody>
            <a:bodyPr wrap="square" lIns="0" tIns="0" rIns="0" bIns="0" rtlCol="0"/>
            <a:lstStyle/>
            <a:p>
              <a:endParaRPr/>
            </a:p>
          </p:txBody>
        </p:sp>
      </p:grpSp>
      <p:sp>
        <p:nvSpPr>
          <p:cNvPr id="7" name="object 7"/>
          <p:cNvSpPr txBox="1"/>
          <p:nvPr/>
        </p:nvSpPr>
        <p:spPr>
          <a:xfrm>
            <a:off x="1929764" y="1471676"/>
            <a:ext cx="141605" cy="299720"/>
          </a:xfrm>
          <a:prstGeom prst="rect">
            <a:avLst/>
          </a:prstGeom>
        </p:spPr>
        <p:txBody>
          <a:bodyPr vert="horz" wrap="square" lIns="0" tIns="12700" rIns="0" bIns="0" rtlCol="0">
            <a:spAutoFit/>
          </a:bodyPr>
          <a:lstStyle/>
          <a:p>
            <a:pPr marL="12700">
              <a:lnSpc>
                <a:spcPct val="100000"/>
              </a:lnSpc>
              <a:spcBef>
                <a:spcPts val="100"/>
              </a:spcBef>
            </a:pPr>
            <a:r>
              <a:rPr sz="1800" spc="-50" dirty="0">
                <a:solidFill>
                  <a:srgbClr val="FFFFFF"/>
                </a:solidFill>
                <a:latin typeface="Calibri"/>
                <a:cs typeface="Calibri"/>
              </a:rPr>
              <a:t>7</a:t>
            </a:r>
            <a:endParaRPr sz="1800">
              <a:latin typeface="Calibri"/>
              <a:cs typeface="Calibri"/>
            </a:endParaRPr>
          </a:p>
        </p:txBody>
      </p:sp>
      <p:grpSp>
        <p:nvGrpSpPr>
          <p:cNvPr id="8" name="object 8"/>
          <p:cNvGrpSpPr/>
          <p:nvPr/>
        </p:nvGrpSpPr>
        <p:grpSpPr>
          <a:xfrm>
            <a:off x="1822450" y="2163445"/>
            <a:ext cx="4936490" cy="389255"/>
            <a:chOff x="1822450" y="2163445"/>
            <a:chExt cx="4936490" cy="389255"/>
          </a:xfrm>
        </p:grpSpPr>
        <p:sp>
          <p:nvSpPr>
            <p:cNvPr id="9" name="object 9"/>
            <p:cNvSpPr/>
            <p:nvPr/>
          </p:nvSpPr>
          <p:spPr>
            <a:xfrm>
              <a:off x="2057400" y="2476500"/>
              <a:ext cx="4701540" cy="76200"/>
            </a:xfrm>
            <a:custGeom>
              <a:avLst/>
              <a:gdLst/>
              <a:ahLst/>
              <a:cxnLst/>
              <a:rect l="l" t="t" r="r" b="b"/>
              <a:pathLst>
                <a:path w="4701540" h="76200">
                  <a:moveTo>
                    <a:pt x="4663440" y="0"/>
                  </a:moveTo>
                  <a:lnTo>
                    <a:pt x="4648592" y="2988"/>
                  </a:lnTo>
                  <a:lnTo>
                    <a:pt x="4636484" y="11144"/>
                  </a:lnTo>
                  <a:lnTo>
                    <a:pt x="4628328" y="23252"/>
                  </a:lnTo>
                  <a:lnTo>
                    <a:pt x="4625340" y="38100"/>
                  </a:lnTo>
                  <a:lnTo>
                    <a:pt x="4628328" y="52947"/>
                  </a:lnTo>
                  <a:lnTo>
                    <a:pt x="4636484" y="65055"/>
                  </a:lnTo>
                  <a:lnTo>
                    <a:pt x="4648592" y="73211"/>
                  </a:lnTo>
                  <a:lnTo>
                    <a:pt x="4663440" y="76200"/>
                  </a:lnTo>
                  <a:lnTo>
                    <a:pt x="4678287" y="73211"/>
                  </a:lnTo>
                  <a:lnTo>
                    <a:pt x="4690395" y="65055"/>
                  </a:lnTo>
                  <a:lnTo>
                    <a:pt x="4698551" y="52947"/>
                  </a:lnTo>
                  <a:lnTo>
                    <a:pt x="4698983" y="50800"/>
                  </a:lnTo>
                  <a:lnTo>
                    <a:pt x="4663440" y="50800"/>
                  </a:lnTo>
                  <a:lnTo>
                    <a:pt x="4663440" y="25400"/>
                  </a:lnTo>
                  <a:lnTo>
                    <a:pt x="4698983" y="25400"/>
                  </a:lnTo>
                  <a:lnTo>
                    <a:pt x="4698551" y="23252"/>
                  </a:lnTo>
                  <a:lnTo>
                    <a:pt x="4690395" y="11144"/>
                  </a:lnTo>
                  <a:lnTo>
                    <a:pt x="4678287" y="2988"/>
                  </a:lnTo>
                  <a:lnTo>
                    <a:pt x="4663440" y="0"/>
                  </a:lnTo>
                  <a:close/>
                </a:path>
                <a:path w="4701540" h="76200">
                  <a:moveTo>
                    <a:pt x="4627896" y="25400"/>
                  </a:moveTo>
                  <a:lnTo>
                    <a:pt x="0" y="25400"/>
                  </a:lnTo>
                  <a:lnTo>
                    <a:pt x="0" y="50800"/>
                  </a:lnTo>
                  <a:lnTo>
                    <a:pt x="4627896" y="50800"/>
                  </a:lnTo>
                  <a:lnTo>
                    <a:pt x="4625340" y="38100"/>
                  </a:lnTo>
                  <a:lnTo>
                    <a:pt x="4627896" y="25400"/>
                  </a:lnTo>
                  <a:close/>
                </a:path>
                <a:path w="4701540" h="76200">
                  <a:moveTo>
                    <a:pt x="4698983" y="25400"/>
                  </a:moveTo>
                  <a:lnTo>
                    <a:pt x="4663440" y="25400"/>
                  </a:lnTo>
                  <a:lnTo>
                    <a:pt x="4663440" y="50800"/>
                  </a:lnTo>
                  <a:lnTo>
                    <a:pt x="4698983" y="50800"/>
                  </a:lnTo>
                  <a:lnTo>
                    <a:pt x="4701540" y="38100"/>
                  </a:lnTo>
                  <a:lnTo>
                    <a:pt x="4698983" y="25400"/>
                  </a:lnTo>
                  <a:close/>
                </a:path>
              </a:pathLst>
            </a:custGeom>
            <a:solidFill>
              <a:srgbClr val="001F5F"/>
            </a:solidFill>
          </p:spPr>
          <p:txBody>
            <a:bodyPr wrap="square" lIns="0" tIns="0" rIns="0" bIns="0" rtlCol="0"/>
            <a:lstStyle/>
            <a:p>
              <a:endParaRPr/>
            </a:p>
          </p:txBody>
        </p:sp>
        <p:sp>
          <p:nvSpPr>
            <p:cNvPr id="10" name="object 10"/>
            <p:cNvSpPr/>
            <p:nvPr/>
          </p:nvSpPr>
          <p:spPr>
            <a:xfrm>
              <a:off x="1828800" y="2169795"/>
              <a:ext cx="342900" cy="355600"/>
            </a:xfrm>
            <a:custGeom>
              <a:avLst/>
              <a:gdLst/>
              <a:ahLst/>
              <a:cxnLst/>
              <a:rect l="l" t="t" r="r" b="b"/>
              <a:pathLst>
                <a:path w="342900" h="355600">
                  <a:moveTo>
                    <a:pt x="342900" y="0"/>
                  </a:moveTo>
                  <a:lnTo>
                    <a:pt x="0" y="0"/>
                  </a:lnTo>
                  <a:lnTo>
                    <a:pt x="0" y="355600"/>
                  </a:lnTo>
                  <a:lnTo>
                    <a:pt x="342900" y="355600"/>
                  </a:lnTo>
                  <a:lnTo>
                    <a:pt x="342900" y="0"/>
                  </a:lnTo>
                  <a:close/>
                </a:path>
              </a:pathLst>
            </a:custGeom>
            <a:solidFill>
              <a:srgbClr val="1F4E79"/>
            </a:solidFill>
          </p:spPr>
          <p:txBody>
            <a:bodyPr wrap="square" lIns="0" tIns="0" rIns="0" bIns="0" rtlCol="0"/>
            <a:lstStyle/>
            <a:p>
              <a:endParaRPr/>
            </a:p>
          </p:txBody>
        </p:sp>
        <p:sp>
          <p:nvSpPr>
            <p:cNvPr id="11" name="object 11"/>
            <p:cNvSpPr/>
            <p:nvPr/>
          </p:nvSpPr>
          <p:spPr>
            <a:xfrm>
              <a:off x="1828800" y="2169795"/>
              <a:ext cx="342900" cy="355600"/>
            </a:xfrm>
            <a:custGeom>
              <a:avLst/>
              <a:gdLst/>
              <a:ahLst/>
              <a:cxnLst/>
              <a:rect l="l" t="t" r="r" b="b"/>
              <a:pathLst>
                <a:path w="342900" h="355600">
                  <a:moveTo>
                    <a:pt x="0" y="355600"/>
                  </a:moveTo>
                  <a:lnTo>
                    <a:pt x="342900" y="355600"/>
                  </a:lnTo>
                  <a:lnTo>
                    <a:pt x="342900" y="0"/>
                  </a:lnTo>
                  <a:lnTo>
                    <a:pt x="0" y="0"/>
                  </a:lnTo>
                  <a:lnTo>
                    <a:pt x="0" y="355600"/>
                  </a:lnTo>
                  <a:close/>
                </a:path>
              </a:pathLst>
            </a:custGeom>
            <a:ln w="12700">
              <a:solidFill>
                <a:srgbClr val="41709C"/>
              </a:solidFill>
            </a:ln>
          </p:spPr>
          <p:txBody>
            <a:bodyPr wrap="square" lIns="0" tIns="0" rIns="0" bIns="0" rtlCol="0"/>
            <a:lstStyle/>
            <a:p>
              <a:endParaRPr/>
            </a:p>
          </p:txBody>
        </p:sp>
      </p:grpSp>
      <p:sp>
        <p:nvSpPr>
          <p:cNvPr id="12" name="object 12"/>
          <p:cNvSpPr txBox="1"/>
          <p:nvPr/>
        </p:nvSpPr>
        <p:spPr>
          <a:xfrm>
            <a:off x="1929764" y="2183129"/>
            <a:ext cx="141605" cy="299720"/>
          </a:xfrm>
          <a:prstGeom prst="rect">
            <a:avLst/>
          </a:prstGeom>
        </p:spPr>
        <p:txBody>
          <a:bodyPr vert="horz" wrap="square" lIns="0" tIns="12700" rIns="0" bIns="0" rtlCol="0">
            <a:spAutoFit/>
          </a:bodyPr>
          <a:lstStyle/>
          <a:p>
            <a:pPr marL="12700">
              <a:lnSpc>
                <a:spcPct val="100000"/>
              </a:lnSpc>
              <a:spcBef>
                <a:spcPts val="100"/>
              </a:spcBef>
            </a:pPr>
            <a:r>
              <a:rPr sz="1800" spc="-50" dirty="0">
                <a:solidFill>
                  <a:srgbClr val="FFFFFF"/>
                </a:solidFill>
                <a:latin typeface="Calibri"/>
                <a:cs typeface="Calibri"/>
              </a:rPr>
              <a:t>8</a:t>
            </a:r>
            <a:endParaRPr sz="1800">
              <a:latin typeface="Calibri"/>
              <a:cs typeface="Calibri"/>
            </a:endParaRPr>
          </a:p>
        </p:txBody>
      </p:sp>
      <p:grpSp>
        <p:nvGrpSpPr>
          <p:cNvPr id="13" name="object 13"/>
          <p:cNvGrpSpPr/>
          <p:nvPr/>
        </p:nvGrpSpPr>
        <p:grpSpPr>
          <a:xfrm>
            <a:off x="1822450" y="2861182"/>
            <a:ext cx="4936490" cy="389890"/>
            <a:chOff x="1822450" y="2861182"/>
            <a:chExt cx="4936490" cy="389890"/>
          </a:xfrm>
        </p:grpSpPr>
        <p:sp>
          <p:nvSpPr>
            <p:cNvPr id="14" name="object 14"/>
            <p:cNvSpPr/>
            <p:nvPr/>
          </p:nvSpPr>
          <p:spPr>
            <a:xfrm>
              <a:off x="2057400" y="3174364"/>
              <a:ext cx="4701540" cy="76200"/>
            </a:xfrm>
            <a:custGeom>
              <a:avLst/>
              <a:gdLst/>
              <a:ahLst/>
              <a:cxnLst/>
              <a:rect l="l" t="t" r="r" b="b"/>
              <a:pathLst>
                <a:path w="4701540" h="76200">
                  <a:moveTo>
                    <a:pt x="4663440" y="0"/>
                  </a:moveTo>
                  <a:lnTo>
                    <a:pt x="4648592" y="2988"/>
                  </a:lnTo>
                  <a:lnTo>
                    <a:pt x="4636484" y="11144"/>
                  </a:lnTo>
                  <a:lnTo>
                    <a:pt x="4628328" y="23252"/>
                  </a:lnTo>
                  <a:lnTo>
                    <a:pt x="4625340" y="38100"/>
                  </a:lnTo>
                  <a:lnTo>
                    <a:pt x="4628328" y="52893"/>
                  </a:lnTo>
                  <a:lnTo>
                    <a:pt x="4636484" y="65008"/>
                  </a:lnTo>
                  <a:lnTo>
                    <a:pt x="4648592" y="73193"/>
                  </a:lnTo>
                  <a:lnTo>
                    <a:pt x="4663440" y="76200"/>
                  </a:lnTo>
                  <a:lnTo>
                    <a:pt x="4678287" y="73193"/>
                  </a:lnTo>
                  <a:lnTo>
                    <a:pt x="4690395" y="65008"/>
                  </a:lnTo>
                  <a:lnTo>
                    <a:pt x="4698551" y="52893"/>
                  </a:lnTo>
                  <a:lnTo>
                    <a:pt x="4698974" y="50800"/>
                  </a:lnTo>
                  <a:lnTo>
                    <a:pt x="4663440" y="50800"/>
                  </a:lnTo>
                  <a:lnTo>
                    <a:pt x="4663440" y="25400"/>
                  </a:lnTo>
                  <a:lnTo>
                    <a:pt x="4698983" y="25400"/>
                  </a:lnTo>
                  <a:lnTo>
                    <a:pt x="4698551" y="23252"/>
                  </a:lnTo>
                  <a:lnTo>
                    <a:pt x="4690395" y="11144"/>
                  </a:lnTo>
                  <a:lnTo>
                    <a:pt x="4678287" y="2988"/>
                  </a:lnTo>
                  <a:lnTo>
                    <a:pt x="4663440" y="0"/>
                  </a:lnTo>
                  <a:close/>
                </a:path>
                <a:path w="4701540" h="76200">
                  <a:moveTo>
                    <a:pt x="4627896" y="25400"/>
                  </a:moveTo>
                  <a:lnTo>
                    <a:pt x="0" y="25400"/>
                  </a:lnTo>
                  <a:lnTo>
                    <a:pt x="0" y="50800"/>
                  </a:lnTo>
                  <a:lnTo>
                    <a:pt x="4627905" y="50800"/>
                  </a:lnTo>
                  <a:lnTo>
                    <a:pt x="4625340" y="38100"/>
                  </a:lnTo>
                  <a:lnTo>
                    <a:pt x="4627896" y="25400"/>
                  </a:lnTo>
                  <a:close/>
                </a:path>
                <a:path w="4701540" h="76200">
                  <a:moveTo>
                    <a:pt x="4698983" y="25400"/>
                  </a:moveTo>
                  <a:lnTo>
                    <a:pt x="4663440" y="25400"/>
                  </a:lnTo>
                  <a:lnTo>
                    <a:pt x="4663440" y="50800"/>
                  </a:lnTo>
                  <a:lnTo>
                    <a:pt x="4698974" y="50800"/>
                  </a:lnTo>
                  <a:lnTo>
                    <a:pt x="4701540" y="38100"/>
                  </a:lnTo>
                  <a:lnTo>
                    <a:pt x="4698983" y="25400"/>
                  </a:lnTo>
                  <a:close/>
                </a:path>
              </a:pathLst>
            </a:custGeom>
            <a:solidFill>
              <a:srgbClr val="001F5F"/>
            </a:solidFill>
          </p:spPr>
          <p:txBody>
            <a:bodyPr wrap="square" lIns="0" tIns="0" rIns="0" bIns="0" rtlCol="0"/>
            <a:lstStyle/>
            <a:p>
              <a:endParaRPr/>
            </a:p>
          </p:txBody>
        </p:sp>
        <p:sp>
          <p:nvSpPr>
            <p:cNvPr id="15" name="object 15"/>
            <p:cNvSpPr/>
            <p:nvPr/>
          </p:nvSpPr>
          <p:spPr>
            <a:xfrm>
              <a:off x="1828800" y="2867532"/>
              <a:ext cx="342900" cy="355600"/>
            </a:xfrm>
            <a:custGeom>
              <a:avLst/>
              <a:gdLst/>
              <a:ahLst/>
              <a:cxnLst/>
              <a:rect l="l" t="t" r="r" b="b"/>
              <a:pathLst>
                <a:path w="342900" h="355600">
                  <a:moveTo>
                    <a:pt x="342900" y="0"/>
                  </a:moveTo>
                  <a:lnTo>
                    <a:pt x="0" y="0"/>
                  </a:lnTo>
                  <a:lnTo>
                    <a:pt x="0" y="355600"/>
                  </a:lnTo>
                  <a:lnTo>
                    <a:pt x="342900" y="355600"/>
                  </a:lnTo>
                  <a:lnTo>
                    <a:pt x="342900" y="0"/>
                  </a:lnTo>
                  <a:close/>
                </a:path>
              </a:pathLst>
            </a:custGeom>
            <a:solidFill>
              <a:srgbClr val="1F4E79"/>
            </a:solidFill>
          </p:spPr>
          <p:txBody>
            <a:bodyPr wrap="square" lIns="0" tIns="0" rIns="0" bIns="0" rtlCol="0"/>
            <a:lstStyle/>
            <a:p>
              <a:endParaRPr/>
            </a:p>
          </p:txBody>
        </p:sp>
        <p:sp>
          <p:nvSpPr>
            <p:cNvPr id="16" name="object 16"/>
            <p:cNvSpPr/>
            <p:nvPr/>
          </p:nvSpPr>
          <p:spPr>
            <a:xfrm>
              <a:off x="1828800" y="2867532"/>
              <a:ext cx="342900" cy="355600"/>
            </a:xfrm>
            <a:custGeom>
              <a:avLst/>
              <a:gdLst/>
              <a:ahLst/>
              <a:cxnLst/>
              <a:rect l="l" t="t" r="r" b="b"/>
              <a:pathLst>
                <a:path w="342900" h="355600">
                  <a:moveTo>
                    <a:pt x="0" y="355600"/>
                  </a:moveTo>
                  <a:lnTo>
                    <a:pt x="342900" y="355600"/>
                  </a:lnTo>
                  <a:lnTo>
                    <a:pt x="342900" y="0"/>
                  </a:lnTo>
                  <a:lnTo>
                    <a:pt x="0" y="0"/>
                  </a:lnTo>
                  <a:lnTo>
                    <a:pt x="0" y="355600"/>
                  </a:lnTo>
                  <a:close/>
                </a:path>
              </a:pathLst>
            </a:custGeom>
            <a:ln w="12700">
              <a:solidFill>
                <a:srgbClr val="41709C"/>
              </a:solidFill>
            </a:ln>
          </p:spPr>
          <p:txBody>
            <a:bodyPr wrap="square" lIns="0" tIns="0" rIns="0" bIns="0" rtlCol="0"/>
            <a:lstStyle/>
            <a:p>
              <a:endParaRPr/>
            </a:p>
          </p:txBody>
        </p:sp>
      </p:grpSp>
      <p:sp>
        <p:nvSpPr>
          <p:cNvPr id="17" name="object 17"/>
          <p:cNvSpPr txBox="1"/>
          <p:nvPr/>
        </p:nvSpPr>
        <p:spPr>
          <a:xfrm>
            <a:off x="1929764" y="2881121"/>
            <a:ext cx="141605" cy="299720"/>
          </a:xfrm>
          <a:prstGeom prst="rect">
            <a:avLst/>
          </a:prstGeom>
        </p:spPr>
        <p:txBody>
          <a:bodyPr vert="horz" wrap="square" lIns="0" tIns="12700" rIns="0" bIns="0" rtlCol="0">
            <a:spAutoFit/>
          </a:bodyPr>
          <a:lstStyle/>
          <a:p>
            <a:pPr marL="12700">
              <a:lnSpc>
                <a:spcPct val="100000"/>
              </a:lnSpc>
              <a:spcBef>
                <a:spcPts val="100"/>
              </a:spcBef>
            </a:pPr>
            <a:r>
              <a:rPr sz="1800" spc="-50" dirty="0">
                <a:solidFill>
                  <a:srgbClr val="FFFFFF"/>
                </a:solidFill>
                <a:latin typeface="Calibri"/>
                <a:cs typeface="Calibri"/>
              </a:rPr>
              <a:t>9</a:t>
            </a:r>
            <a:endParaRPr sz="1800">
              <a:latin typeface="Calibri"/>
              <a:cs typeface="Calibri"/>
            </a:endParaRPr>
          </a:p>
        </p:txBody>
      </p:sp>
      <p:sp>
        <p:nvSpPr>
          <p:cNvPr id="18" name="object 18"/>
          <p:cNvSpPr/>
          <p:nvPr/>
        </p:nvSpPr>
        <p:spPr>
          <a:xfrm>
            <a:off x="2057400" y="3936365"/>
            <a:ext cx="4701540" cy="76200"/>
          </a:xfrm>
          <a:custGeom>
            <a:avLst/>
            <a:gdLst/>
            <a:ahLst/>
            <a:cxnLst/>
            <a:rect l="l" t="t" r="r" b="b"/>
            <a:pathLst>
              <a:path w="4701540" h="76200">
                <a:moveTo>
                  <a:pt x="4663440" y="0"/>
                </a:moveTo>
                <a:lnTo>
                  <a:pt x="4648592" y="2988"/>
                </a:lnTo>
                <a:lnTo>
                  <a:pt x="4636484" y="11144"/>
                </a:lnTo>
                <a:lnTo>
                  <a:pt x="4628328" y="23252"/>
                </a:lnTo>
                <a:lnTo>
                  <a:pt x="4625340" y="38100"/>
                </a:lnTo>
                <a:lnTo>
                  <a:pt x="4628328" y="52893"/>
                </a:lnTo>
                <a:lnTo>
                  <a:pt x="4636484" y="65008"/>
                </a:lnTo>
                <a:lnTo>
                  <a:pt x="4648592" y="73193"/>
                </a:lnTo>
                <a:lnTo>
                  <a:pt x="4663440" y="76200"/>
                </a:lnTo>
                <a:lnTo>
                  <a:pt x="4678287" y="73193"/>
                </a:lnTo>
                <a:lnTo>
                  <a:pt x="4690395" y="65008"/>
                </a:lnTo>
                <a:lnTo>
                  <a:pt x="4698551" y="52893"/>
                </a:lnTo>
                <a:lnTo>
                  <a:pt x="4698974" y="50800"/>
                </a:lnTo>
                <a:lnTo>
                  <a:pt x="4663440" y="50800"/>
                </a:lnTo>
                <a:lnTo>
                  <a:pt x="4663440" y="25400"/>
                </a:lnTo>
                <a:lnTo>
                  <a:pt x="4698983" y="25400"/>
                </a:lnTo>
                <a:lnTo>
                  <a:pt x="4698551" y="23252"/>
                </a:lnTo>
                <a:lnTo>
                  <a:pt x="4690395" y="11144"/>
                </a:lnTo>
                <a:lnTo>
                  <a:pt x="4678287" y="2988"/>
                </a:lnTo>
                <a:lnTo>
                  <a:pt x="4663440" y="0"/>
                </a:lnTo>
                <a:close/>
              </a:path>
              <a:path w="4701540" h="76200">
                <a:moveTo>
                  <a:pt x="4627896" y="25400"/>
                </a:moveTo>
                <a:lnTo>
                  <a:pt x="0" y="25400"/>
                </a:lnTo>
                <a:lnTo>
                  <a:pt x="0" y="50800"/>
                </a:lnTo>
                <a:lnTo>
                  <a:pt x="4627905" y="50800"/>
                </a:lnTo>
                <a:lnTo>
                  <a:pt x="4625340" y="38100"/>
                </a:lnTo>
                <a:lnTo>
                  <a:pt x="4627896" y="25400"/>
                </a:lnTo>
                <a:close/>
              </a:path>
              <a:path w="4701540" h="76200">
                <a:moveTo>
                  <a:pt x="4698983" y="25400"/>
                </a:moveTo>
                <a:lnTo>
                  <a:pt x="4663440" y="25400"/>
                </a:lnTo>
                <a:lnTo>
                  <a:pt x="4663440" y="50800"/>
                </a:lnTo>
                <a:lnTo>
                  <a:pt x="4698974" y="50800"/>
                </a:lnTo>
                <a:lnTo>
                  <a:pt x="4701540" y="38100"/>
                </a:lnTo>
                <a:lnTo>
                  <a:pt x="4698983" y="25400"/>
                </a:lnTo>
                <a:close/>
              </a:path>
            </a:pathLst>
          </a:custGeom>
          <a:solidFill>
            <a:srgbClr val="001F5F"/>
          </a:solidFill>
        </p:spPr>
        <p:txBody>
          <a:bodyPr wrap="square" lIns="0" tIns="0" rIns="0" bIns="0" rtlCol="0"/>
          <a:lstStyle/>
          <a:p>
            <a:endParaRPr/>
          </a:p>
        </p:txBody>
      </p:sp>
      <p:sp>
        <p:nvSpPr>
          <p:cNvPr id="19" name="object 19"/>
          <p:cNvSpPr txBox="1"/>
          <p:nvPr/>
        </p:nvSpPr>
        <p:spPr>
          <a:xfrm>
            <a:off x="1717167" y="3659543"/>
            <a:ext cx="454659" cy="317500"/>
          </a:xfrm>
          <a:prstGeom prst="rect">
            <a:avLst/>
          </a:prstGeom>
          <a:solidFill>
            <a:srgbClr val="1F4E79"/>
          </a:solidFill>
          <a:ln w="12700">
            <a:solidFill>
              <a:srgbClr val="41709C"/>
            </a:solidFill>
          </a:ln>
        </p:spPr>
        <p:txBody>
          <a:bodyPr vert="horz" wrap="square" lIns="0" tIns="6985" rIns="0" bIns="0" rtlCol="0">
            <a:spAutoFit/>
          </a:bodyPr>
          <a:lstStyle/>
          <a:p>
            <a:pPr marL="111125">
              <a:lnSpc>
                <a:spcPct val="100000"/>
              </a:lnSpc>
              <a:spcBef>
                <a:spcPts val="55"/>
              </a:spcBef>
            </a:pPr>
            <a:r>
              <a:rPr sz="1800" spc="-25" dirty="0">
                <a:solidFill>
                  <a:srgbClr val="FFFFFF"/>
                </a:solidFill>
                <a:latin typeface="Calibri"/>
                <a:cs typeface="Calibri"/>
              </a:rPr>
              <a:t>10</a:t>
            </a:r>
            <a:endParaRPr sz="1800">
              <a:latin typeface="Calibri"/>
              <a:cs typeface="Calibri"/>
            </a:endParaRPr>
          </a:p>
        </p:txBody>
      </p:sp>
      <p:sp>
        <p:nvSpPr>
          <p:cNvPr id="20" name="object 20"/>
          <p:cNvSpPr txBox="1"/>
          <p:nvPr/>
        </p:nvSpPr>
        <p:spPr>
          <a:xfrm>
            <a:off x="2333370" y="1315339"/>
            <a:ext cx="3035935"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Microsoft Sans Serif"/>
                <a:cs typeface="Microsoft Sans Serif"/>
              </a:rPr>
              <a:t>Simplified</a:t>
            </a:r>
            <a:r>
              <a:rPr sz="2400" spc="-130" dirty="0">
                <a:latin typeface="Microsoft Sans Serif"/>
                <a:cs typeface="Microsoft Sans Serif"/>
              </a:rPr>
              <a:t> </a:t>
            </a:r>
            <a:r>
              <a:rPr sz="2400" spc="-65" dirty="0">
                <a:latin typeface="Microsoft Sans Serif"/>
                <a:cs typeface="Microsoft Sans Serif"/>
              </a:rPr>
              <a:t>Tax</a:t>
            </a:r>
            <a:r>
              <a:rPr sz="2400" spc="-95" dirty="0">
                <a:latin typeface="Microsoft Sans Serif"/>
                <a:cs typeface="Microsoft Sans Serif"/>
              </a:rPr>
              <a:t> </a:t>
            </a:r>
            <a:r>
              <a:rPr sz="2400" spc="-10" dirty="0">
                <a:latin typeface="Microsoft Sans Serif"/>
                <a:cs typeface="Microsoft Sans Serif"/>
              </a:rPr>
              <a:t>Regime</a:t>
            </a:r>
            <a:endParaRPr sz="2400">
              <a:latin typeface="Microsoft Sans Serif"/>
              <a:cs typeface="Microsoft Sans Serif"/>
            </a:endParaRPr>
          </a:p>
        </p:txBody>
      </p:sp>
      <p:sp>
        <p:nvSpPr>
          <p:cNvPr id="21" name="object 21"/>
          <p:cNvSpPr txBox="1"/>
          <p:nvPr/>
        </p:nvSpPr>
        <p:spPr>
          <a:xfrm>
            <a:off x="2295270" y="2083434"/>
            <a:ext cx="442468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Microsoft Sans Serif"/>
                <a:cs typeface="Microsoft Sans Serif"/>
              </a:rPr>
              <a:t>Reduction</a:t>
            </a:r>
            <a:r>
              <a:rPr sz="2400" spc="-50" dirty="0">
                <a:latin typeface="Microsoft Sans Serif"/>
                <a:cs typeface="Microsoft Sans Serif"/>
              </a:rPr>
              <a:t> </a:t>
            </a:r>
            <a:r>
              <a:rPr sz="2400" dirty="0">
                <a:latin typeface="Microsoft Sans Serif"/>
                <a:cs typeface="Microsoft Sans Serif"/>
              </a:rPr>
              <a:t>in</a:t>
            </a:r>
            <a:r>
              <a:rPr sz="2400" spc="-60" dirty="0">
                <a:latin typeface="Microsoft Sans Serif"/>
                <a:cs typeface="Microsoft Sans Serif"/>
              </a:rPr>
              <a:t> </a:t>
            </a:r>
            <a:r>
              <a:rPr sz="2400" dirty="0">
                <a:latin typeface="Microsoft Sans Serif"/>
                <a:cs typeface="Microsoft Sans Serif"/>
              </a:rPr>
              <a:t>Multiplicity</a:t>
            </a:r>
            <a:r>
              <a:rPr sz="2400" spc="-40" dirty="0">
                <a:latin typeface="Microsoft Sans Serif"/>
                <a:cs typeface="Microsoft Sans Serif"/>
              </a:rPr>
              <a:t> </a:t>
            </a:r>
            <a:r>
              <a:rPr sz="2400" dirty="0">
                <a:latin typeface="Microsoft Sans Serif"/>
                <a:cs typeface="Microsoft Sans Serif"/>
              </a:rPr>
              <a:t>of</a:t>
            </a:r>
            <a:r>
              <a:rPr sz="2400" spc="-110" dirty="0">
                <a:latin typeface="Microsoft Sans Serif"/>
                <a:cs typeface="Microsoft Sans Serif"/>
              </a:rPr>
              <a:t> </a:t>
            </a:r>
            <a:r>
              <a:rPr sz="2400" spc="-10" dirty="0">
                <a:latin typeface="Microsoft Sans Serif"/>
                <a:cs typeface="Microsoft Sans Serif"/>
              </a:rPr>
              <a:t>Taxes</a:t>
            </a:r>
            <a:endParaRPr sz="2400">
              <a:latin typeface="Microsoft Sans Serif"/>
              <a:cs typeface="Microsoft Sans Serif"/>
            </a:endParaRPr>
          </a:p>
        </p:txBody>
      </p:sp>
      <p:sp>
        <p:nvSpPr>
          <p:cNvPr id="22" name="object 22"/>
          <p:cNvSpPr txBox="1"/>
          <p:nvPr/>
        </p:nvSpPr>
        <p:spPr>
          <a:xfrm>
            <a:off x="2295270" y="2776854"/>
            <a:ext cx="3326129"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Microsoft Sans Serif"/>
                <a:cs typeface="Microsoft Sans Serif"/>
              </a:rPr>
              <a:t>Consumption</a:t>
            </a:r>
            <a:r>
              <a:rPr sz="2400" spc="-105" dirty="0">
                <a:latin typeface="Microsoft Sans Serif"/>
                <a:cs typeface="Microsoft Sans Serif"/>
              </a:rPr>
              <a:t> </a:t>
            </a:r>
            <a:r>
              <a:rPr sz="2400" dirty="0">
                <a:latin typeface="Microsoft Sans Serif"/>
                <a:cs typeface="Microsoft Sans Serif"/>
              </a:rPr>
              <a:t>Based</a:t>
            </a:r>
            <a:r>
              <a:rPr sz="2400" spc="-135" dirty="0">
                <a:latin typeface="Microsoft Sans Serif"/>
                <a:cs typeface="Microsoft Sans Serif"/>
              </a:rPr>
              <a:t> </a:t>
            </a:r>
            <a:r>
              <a:rPr sz="2400" spc="-25" dirty="0">
                <a:latin typeface="Microsoft Sans Serif"/>
                <a:cs typeface="Microsoft Sans Serif"/>
              </a:rPr>
              <a:t>Tax</a:t>
            </a:r>
            <a:endParaRPr sz="2400">
              <a:latin typeface="Microsoft Sans Serif"/>
              <a:cs typeface="Microsoft Sans Serif"/>
            </a:endParaRPr>
          </a:p>
        </p:txBody>
      </p:sp>
      <p:sp>
        <p:nvSpPr>
          <p:cNvPr id="23" name="object 23"/>
          <p:cNvSpPr txBox="1"/>
          <p:nvPr/>
        </p:nvSpPr>
        <p:spPr>
          <a:xfrm>
            <a:off x="2295270" y="3511422"/>
            <a:ext cx="2228215"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Microsoft Sans Serif"/>
                <a:cs typeface="Microsoft Sans Serif"/>
              </a:rPr>
              <a:t>Abolition</a:t>
            </a:r>
            <a:r>
              <a:rPr sz="2400" spc="-30" dirty="0">
                <a:latin typeface="Microsoft Sans Serif"/>
                <a:cs typeface="Microsoft Sans Serif"/>
              </a:rPr>
              <a:t> </a:t>
            </a:r>
            <a:r>
              <a:rPr sz="2400" dirty="0">
                <a:latin typeface="Microsoft Sans Serif"/>
                <a:cs typeface="Microsoft Sans Serif"/>
              </a:rPr>
              <a:t>of</a:t>
            </a:r>
            <a:r>
              <a:rPr sz="2400" spc="-55" dirty="0">
                <a:latin typeface="Microsoft Sans Serif"/>
                <a:cs typeface="Microsoft Sans Serif"/>
              </a:rPr>
              <a:t> </a:t>
            </a:r>
            <a:r>
              <a:rPr sz="2400" spc="-25" dirty="0">
                <a:latin typeface="Microsoft Sans Serif"/>
                <a:cs typeface="Microsoft Sans Serif"/>
              </a:rPr>
              <a:t>CST</a:t>
            </a:r>
            <a:endParaRPr sz="2400">
              <a:latin typeface="Microsoft Sans Serif"/>
              <a:cs typeface="Microsoft Sans Serif"/>
            </a:endParaRPr>
          </a:p>
        </p:txBody>
      </p:sp>
      <p:sp>
        <p:nvSpPr>
          <p:cNvPr id="24" name="object 24"/>
          <p:cNvSpPr txBox="1"/>
          <p:nvPr/>
        </p:nvSpPr>
        <p:spPr>
          <a:xfrm>
            <a:off x="7115302" y="1289685"/>
            <a:ext cx="3253104" cy="1360170"/>
          </a:xfrm>
          <a:prstGeom prst="rect">
            <a:avLst/>
          </a:prstGeom>
          <a:solidFill>
            <a:srgbClr val="001F5F"/>
          </a:solidFill>
          <a:ln w="12700">
            <a:solidFill>
              <a:srgbClr val="41709C"/>
            </a:solidFill>
          </a:ln>
        </p:spPr>
        <p:txBody>
          <a:bodyPr vert="horz" wrap="square" lIns="0" tIns="229870" rIns="0" bIns="0" rtlCol="0">
            <a:spAutoFit/>
          </a:bodyPr>
          <a:lstStyle/>
          <a:p>
            <a:pPr marL="912494" marR="521334" indent="-381000">
              <a:lnSpc>
                <a:spcPct val="100000"/>
              </a:lnSpc>
              <a:spcBef>
                <a:spcPts val="1810"/>
              </a:spcBef>
            </a:pPr>
            <a:r>
              <a:rPr sz="2800" dirty="0">
                <a:solidFill>
                  <a:srgbClr val="FFFFFF"/>
                </a:solidFill>
                <a:latin typeface="Calibri"/>
                <a:cs typeface="Calibri"/>
              </a:rPr>
              <a:t>More</a:t>
            </a:r>
            <a:r>
              <a:rPr sz="2800" spc="-80" dirty="0">
                <a:solidFill>
                  <a:srgbClr val="FFFFFF"/>
                </a:solidFill>
                <a:latin typeface="Calibri"/>
                <a:cs typeface="Calibri"/>
              </a:rPr>
              <a:t> </a:t>
            </a:r>
            <a:r>
              <a:rPr sz="2800" spc="-20" dirty="0">
                <a:solidFill>
                  <a:srgbClr val="FFFFFF"/>
                </a:solidFill>
                <a:latin typeface="Calibri"/>
                <a:cs typeface="Calibri"/>
              </a:rPr>
              <a:t>informed </a:t>
            </a:r>
            <a:r>
              <a:rPr sz="2800" spc="-10" dirty="0">
                <a:solidFill>
                  <a:srgbClr val="FFFFFF"/>
                </a:solidFill>
                <a:latin typeface="Calibri"/>
                <a:cs typeface="Calibri"/>
              </a:rPr>
              <a:t>consumer</a:t>
            </a:r>
            <a:endParaRPr sz="2800">
              <a:latin typeface="Calibri"/>
              <a:cs typeface="Calibri"/>
            </a:endParaRPr>
          </a:p>
        </p:txBody>
      </p:sp>
      <p:sp>
        <p:nvSpPr>
          <p:cNvPr id="25" name="object 25"/>
          <p:cNvSpPr txBox="1"/>
          <p:nvPr/>
        </p:nvSpPr>
        <p:spPr>
          <a:xfrm>
            <a:off x="7115302" y="2856712"/>
            <a:ext cx="3253104" cy="1225550"/>
          </a:xfrm>
          <a:prstGeom prst="rect">
            <a:avLst/>
          </a:prstGeom>
          <a:solidFill>
            <a:srgbClr val="001F5F"/>
          </a:solidFill>
          <a:ln w="12700">
            <a:solidFill>
              <a:srgbClr val="41709C"/>
            </a:solidFill>
          </a:ln>
        </p:spPr>
        <p:txBody>
          <a:bodyPr vert="horz" wrap="square" lIns="0" tIns="163195" rIns="0" bIns="0" rtlCol="0">
            <a:spAutoFit/>
          </a:bodyPr>
          <a:lstStyle/>
          <a:p>
            <a:pPr marL="1104900" marR="653415" indent="-441959">
              <a:lnSpc>
                <a:spcPct val="100000"/>
              </a:lnSpc>
              <a:spcBef>
                <a:spcPts val="1285"/>
              </a:spcBef>
            </a:pPr>
            <a:r>
              <a:rPr sz="2800" dirty="0">
                <a:solidFill>
                  <a:srgbClr val="FFFFFF"/>
                </a:solidFill>
                <a:latin typeface="Calibri"/>
                <a:cs typeface="Calibri"/>
              </a:rPr>
              <a:t>Poorer</a:t>
            </a:r>
            <a:r>
              <a:rPr sz="2800" spc="-150" dirty="0">
                <a:solidFill>
                  <a:srgbClr val="FFFFFF"/>
                </a:solidFill>
                <a:latin typeface="Calibri"/>
                <a:cs typeface="Calibri"/>
              </a:rPr>
              <a:t> </a:t>
            </a:r>
            <a:r>
              <a:rPr sz="2800" spc="-20" dirty="0">
                <a:solidFill>
                  <a:srgbClr val="FFFFFF"/>
                </a:solidFill>
                <a:latin typeface="Calibri"/>
                <a:cs typeface="Calibri"/>
              </a:rPr>
              <a:t>States </a:t>
            </a:r>
            <a:r>
              <a:rPr sz="2800" dirty="0">
                <a:solidFill>
                  <a:srgbClr val="FFFFFF"/>
                </a:solidFill>
                <a:latin typeface="Calibri"/>
                <a:cs typeface="Calibri"/>
              </a:rPr>
              <a:t>to</a:t>
            </a:r>
            <a:r>
              <a:rPr sz="2800" spc="-45" dirty="0">
                <a:solidFill>
                  <a:srgbClr val="FFFFFF"/>
                </a:solidFill>
                <a:latin typeface="Calibri"/>
                <a:cs typeface="Calibri"/>
              </a:rPr>
              <a:t> </a:t>
            </a:r>
            <a:r>
              <a:rPr sz="2800" spc="-20" dirty="0">
                <a:solidFill>
                  <a:srgbClr val="FFFFFF"/>
                </a:solidFill>
                <a:latin typeface="Calibri"/>
                <a:cs typeface="Calibri"/>
              </a:rPr>
              <a:t>Gain</a:t>
            </a:r>
            <a:endParaRPr sz="2800">
              <a:latin typeface="Calibri"/>
              <a:cs typeface="Calibri"/>
            </a:endParaRPr>
          </a:p>
        </p:txBody>
      </p:sp>
      <p:sp>
        <p:nvSpPr>
          <p:cNvPr id="26" name="object 26"/>
          <p:cNvSpPr txBox="1"/>
          <p:nvPr/>
        </p:nvSpPr>
        <p:spPr>
          <a:xfrm>
            <a:off x="7115302" y="4320768"/>
            <a:ext cx="3253104" cy="1225550"/>
          </a:xfrm>
          <a:prstGeom prst="rect">
            <a:avLst/>
          </a:prstGeom>
          <a:solidFill>
            <a:srgbClr val="001F5F"/>
          </a:solidFill>
          <a:ln w="12700">
            <a:solidFill>
              <a:srgbClr val="41709C"/>
            </a:solidFill>
          </a:ln>
        </p:spPr>
        <p:txBody>
          <a:bodyPr vert="horz" wrap="square" lIns="0" tIns="376555" rIns="0" bIns="0" rtlCol="0">
            <a:spAutoFit/>
          </a:bodyPr>
          <a:lstStyle/>
          <a:p>
            <a:pPr marL="655320">
              <a:lnSpc>
                <a:spcPct val="100000"/>
              </a:lnSpc>
              <a:spcBef>
                <a:spcPts val="2965"/>
              </a:spcBef>
            </a:pPr>
            <a:r>
              <a:rPr sz="2800" dirty="0">
                <a:solidFill>
                  <a:srgbClr val="FFFFFF"/>
                </a:solidFill>
                <a:latin typeface="Calibri"/>
                <a:cs typeface="Calibri"/>
              </a:rPr>
              <a:t>Make</a:t>
            </a:r>
            <a:r>
              <a:rPr sz="2800" spc="-80" dirty="0">
                <a:solidFill>
                  <a:srgbClr val="FFFFFF"/>
                </a:solidFill>
                <a:latin typeface="Calibri"/>
                <a:cs typeface="Calibri"/>
              </a:rPr>
              <a:t> </a:t>
            </a:r>
            <a:r>
              <a:rPr sz="2800" dirty="0">
                <a:solidFill>
                  <a:srgbClr val="FFFFFF"/>
                </a:solidFill>
                <a:latin typeface="Calibri"/>
                <a:cs typeface="Calibri"/>
              </a:rPr>
              <a:t>in</a:t>
            </a:r>
            <a:r>
              <a:rPr sz="2800" spc="-80" dirty="0">
                <a:solidFill>
                  <a:srgbClr val="FFFFFF"/>
                </a:solidFill>
                <a:latin typeface="Calibri"/>
                <a:cs typeface="Calibri"/>
              </a:rPr>
              <a:t> </a:t>
            </a:r>
            <a:r>
              <a:rPr sz="2800" spc="-20" dirty="0">
                <a:solidFill>
                  <a:srgbClr val="FFFFFF"/>
                </a:solidFill>
                <a:latin typeface="Calibri"/>
                <a:cs typeface="Calibri"/>
              </a:rPr>
              <a:t>India</a:t>
            </a:r>
            <a:endParaRPr sz="2800">
              <a:latin typeface="Calibri"/>
              <a:cs typeface="Calibri"/>
            </a:endParaRPr>
          </a:p>
        </p:txBody>
      </p:sp>
      <p:sp>
        <p:nvSpPr>
          <p:cNvPr id="27" name="object 27"/>
          <p:cNvSpPr/>
          <p:nvPr/>
        </p:nvSpPr>
        <p:spPr>
          <a:xfrm>
            <a:off x="2057400" y="4715255"/>
            <a:ext cx="4701540" cy="76200"/>
          </a:xfrm>
          <a:custGeom>
            <a:avLst/>
            <a:gdLst/>
            <a:ahLst/>
            <a:cxnLst/>
            <a:rect l="l" t="t" r="r" b="b"/>
            <a:pathLst>
              <a:path w="4701540" h="76200">
                <a:moveTo>
                  <a:pt x="4663440" y="0"/>
                </a:moveTo>
                <a:lnTo>
                  <a:pt x="4648592" y="3006"/>
                </a:lnTo>
                <a:lnTo>
                  <a:pt x="4636484" y="11191"/>
                </a:lnTo>
                <a:lnTo>
                  <a:pt x="4628328" y="23306"/>
                </a:lnTo>
                <a:lnTo>
                  <a:pt x="4625340" y="38100"/>
                </a:lnTo>
                <a:lnTo>
                  <a:pt x="4628328" y="52947"/>
                </a:lnTo>
                <a:lnTo>
                  <a:pt x="4636484" y="65055"/>
                </a:lnTo>
                <a:lnTo>
                  <a:pt x="4648592" y="73211"/>
                </a:lnTo>
                <a:lnTo>
                  <a:pt x="4663440" y="76200"/>
                </a:lnTo>
                <a:lnTo>
                  <a:pt x="4678287" y="73211"/>
                </a:lnTo>
                <a:lnTo>
                  <a:pt x="4690395" y="65055"/>
                </a:lnTo>
                <a:lnTo>
                  <a:pt x="4698551" y="52947"/>
                </a:lnTo>
                <a:lnTo>
                  <a:pt x="4698983" y="50800"/>
                </a:lnTo>
                <a:lnTo>
                  <a:pt x="4663440" y="50800"/>
                </a:lnTo>
                <a:lnTo>
                  <a:pt x="4663440" y="25400"/>
                </a:lnTo>
                <a:lnTo>
                  <a:pt x="4698974" y="25400"/>
                </a:lnTo>
                <a:lnTo>
                  <a:pt x="4698551" y="23306"/>
                </a:lnTo>
                <a:lnTo>
                  <a:pt x="4690395" y="11191"/>
                </a:lnTo>
                <a:lnTo>
                  <a:pt x="4678287" y="3006"/>
                </a:lnTo>
                <a:lnTo>
                  <a:pt x="4663440" y="0"/>
                </a:lnTo>
                <a:close/>
              </a:path>
              <a:path w="4701540" h="76200">
                <a:moveTo>
                  <a:pt x="4627905" y="25400"/>
                </a:moveTo>
                <a:lnTo>
                  <a:pt x="0" y="25400"/>
                </a:lnTo>
                <a:lnTo>
                  <a:pt x="0" y="50800"/>
                </a:lnTo>
                <a:lnTo>
                  <a:pt x="4627896" y="50800"/>
                </a:lnTo>
                <a:lnTo>
                  <a:pt x="4625340" y="38100"/>
                </a:lnTo>
                <a:lnTo>
                  <a:pt x="4627905" y="25400"/>
                </a:lnTo>
                <a:close/>
              </a:path>
              <a:path w="4701540" h="76200">
                <a:moveTo>
                  <a:pt x="4698974" y="25400"/>
                </a:moveTo>
                <a:lnTo>
                  <a:pt x="4663440" y="25400"/>
                </a:lnTo>
                <a:lnTo>
                  <a:pt x="4663440" y="50800"/>
                </a:lnTo>
                <a:lnTo>
                  <a:pt x="4698983" y="50800"/>
                </a:lnTo>
                <a:lnTo>
                  <a:pt x="4701540" y="38100"/>
                </a:lnTo>
                <a:lnTo>
                  <a:pt x="4698974" y="25400"/>
                </a:lnTo>
                <a:close/>
              </a:path>
            </a:pathLst>
          </a:custGeom>
          <a:solidFill>
            <a:srgbClr val="001F5F"/>
          </a:solidFill>
        </p:spPr>
        <p:txBody>
          <a:bodyPr wrap="square" lIns="0" tIns="0" rIns="0" bIns="0" rtlCol="0"/>
          <a:lstStyle/>
          <a:p>
            <a:endParaRPr/>
          </a:p>
        </p:txBody>
      </p:sp>
      <p:sp>
        <p:nvSpPr>
          <p:cNvPr id="28" name="object 28"/>
          <p:cNvSpPr txBox="1"/>
          <p:nvPr/>
        </p:nvSpPr>
        <p:spPr>
          <a:xfrm>
            <a:off x="1717167" y="4438561"/>
            <a:ext cx="454659" cy="317500"/>
          </a:xfrm>
          <a:prstGeom prst="rect">
            <a:avLst/>
          </a:prstGeom>
          <a:solidFill>
            <a:srgbClr val="1F4E79"/>
          </a:solidFill>
          <a:ln w="12700">
            <a:solidFill>
              <a:srgbClr val="41709C"/>
            </a:solidFill>
          </a:ln>
        </p:spPr>
        <p:txBody>
          <a:bodyPr vert="horz" wrap="square" lIns="0" tIns="6985" rIns="0" bIns="0" rtlCol="0">
            <a:spAutoFit/>
          </a:bodyPr>
          <a:lstStyle/>
          <a:p>
            <a:pPr marL="111125">
              <a:lnSpc>
                <a:spcPct val="100000"/>
              </a:lnSpc>
              <a:spcBef>
                <a:spcPts val="55"/>
              </a:spcBef>
            </a:pPr>
            <a:r>
              <a:rPr sz="1800" spc="-25" dirty="0">
                <a:solidFill>
                  <a:srgbClr val="FFFFFF"/>
                </a:solidFill>
                <a:latin typeface="Calibri"/>
                <a:cs typeface="Calibri"/>
              </a:rPr>
              <a:t>11</a:t>
            </a:r>
            <a:endParaRPr sz="1800">
              <a:latin typeface="Calibri"/>
              <a:cs typeface="Calibri"/>
            </a:endParaRPr>
          </a:p>
        </p:txBody>
      </p:sp>
      <p:sp>
        <p:nvSpPr>
          <p:cNvPr id="29" name="object 29"/>
          <p:cNvSpPr txBox="1"/>
          <p:nvPr/>
        </p:nvSpPr>
        <p:spPr>
          <a:xfrm>
            <a:off x="2295270" y="4290441"/>
            <a:ext cx="3428365"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Microsoft Sans Serif"/>
                <a:cs typeface="Microsoft Sans Serif"/>
              </a:rPr>
              <a:t>Exports</a:t>
            </a:r>
            <a:r>
              <a:rPr sz="2400" spc="-15" dirty="0">
                <a:latin typeface="Microsoft Sans Serif"/>
                <a:cs typeface="Microsoft Sans Serif"/>
              </a:rPr>
              <a:t> </a:t>
            </a:r>
            <a:r>
              <a:rPr sz="2400" dirty="0">
                <a:latin typeface="Microsoft Sans Serif"/>
                <a:cs typeface="Microsoft Sans Serif"/>
              </a:rPr>
              <a:t>to</a:t>
            </a:r>
            <a:r>
              <a:rPr sz="2400" spc="-20" dirty="0">
                <a:latin typeface="Microsoft Sans Serif"/>
                <a:cs typeface="Microsoft Sans Serif"/>
              </a:rPr>
              <a:t> </a:t>
            </a:r>
            <a:r>
              <a:rPr sz="2400" dirty="0">
                <a:latin typeface="Microsoft Sans Serif"/>
                <a:cs typeface="Microsoft Sans Serif"/>
              </a:rPr>
              <a:t>be</a:t>
            </a:r>
            <a:r>
              <a:rPr sz="2400" spc="-15" dirty="0">
                <a:latin typeface="Microsoft Sans Serif"/>
                <a:cs typeface="Microsoft Sans Serif"/>
              </a:rPr>
              <a:t> </a:t>
            </a:r>
            <a:r>
              <a:rPr sz="2400" dirty="0">
                <a:latin typeface="Microsoft Sans Serif"/>
                <a:cs typeface="Microsoft Sans Serif"/>
              </a:rPr>
              <a:t>Zero</a:t>
            </a:r>
            <a:r>
              <a:rPr sz="2400" spc="-20" dirty="0">
                <a:latin typeface="Microsoft Sans Serif"/>
                <a:cs typeface="Microsoft Sans Serif"/>
              </a:rPr>
              <a:t> </a:t>
            </a:r>
            <a:r>
              <a:rPr sz="2400" spc="-10" dirty="0">
                <a:latin typeface="Microsoft Sans Serif"/>
                <a:cs typeface="Microsoft Sans Serif"/>
              </a:rPr>
              <a:t>Rated</a:t>
            </a:r>
            <a:endParaRPr sz="2400">
              <a:latin typeface="Microsoft Sans Serif"/>
              <a:cs typeface="Microsoft Sans Serif"/>
            </a:endParaRPr>
          </a:p>
        </p:txBody>
      </p:sp>
      <p:sp>
        <p:nvSpPr>
          <p:cNvPr id="30" name="object 30"/>
          <p:cNvSpPr/>
          <p:nvPr/>
        </p:nvSpPr>
        <p:spPr>
          <a:xfrm>
            <a:off x="2057400" y="5521452"/>
            <a:ext cx="4701540" cy="76835"/>
          </a:xfrm>
          <a:custGeom>
            <a:avLst/>
            <a:gdLst/>
            <a:ahLst/>
            <a:cxnLst/>
            <a:rect l="l" t="t" r="r" b="b"/>
            <a:pathLst>
              <a:path w="4701540" h="76835">
                <a:moveTo>
                  <a:pt x="4663440" y="0"/>
                </a:moveTo>
                <a:lnTo>
                  <a:pt x="4648592" y="2988"/>
                </a:lnTo>
                <a:lnTo>
                  <a:pt x="4636484" y="11144"/>
                </a:lnTo>
                <a:lnTo>
                  <a:pt x="4628328" y="23252"/>
                </a:lnTo>
                <a:lnTo>
                  <a:pt x="4625340" y="38100"/>
                </a:lnTo>
                <a:lnTo>
                  <a:pt x="4628328" y="52949"/>
                </a:lnTo>
                <a:lnTo>
                  <a:pt x="4636484" y="65062"/>
                </a:lnTo>
                <a:lnTo>
                  <a:pt x="4648592" y="73222"/>
                </a:lnTo>
                <a:lnTo>
                  <a:pt x="4663440" y="76212"/>
                </a:lnTo>
                <a:lnTo>
                  <a:pt x="4678287" y="73222"/>
                </a:lnTo>
                <a:lnTo>
                  <a:pt x="4690395" y="65062"/>
                </a:lnTo>
                <a:lnTo>
                  <a:pt x="4698551" y="52949"/>
                </a:lnTo>
                <a:lnTo>
                  <a:pt x="4698984" y="50800"/>
                </a:lnTo>
                <a:lnTo>
                  <a:pt x="4663440" y="50800"/>
                </a:lnTo>
                <a:lnTo>
                  <a:pt x="4663440" y="25400"/>
                </a:lnTo>
                <a:lnTo>
                  <a:pt x="4698983" y="25400"/>
                </a:lnTo>
                <a:lnTo>
                  <a:pt x="4698551" y="23252"/>
                </a:lnTo>
                <a:lnTo>
                  <a:pt x="4690395" y="11144"/>
                </a:lnTo>
                <a:lnTo>
                  <a:pt x="4678287" y="2988"/>
                </a:lnTo>
                <a:lnTo>
                  <a:pt x="4663440" y="0"/>
                </a:lnTo>
                <a:close/>
              </a:path>
              <a:path w="4701540" h="76835">
                <a:moveTo>
                  <a:pt x="4627896" y="25400"/>
                </a:moveTo>
                <a:lnTo>
                  <a:pt x="0" y="25400"/>
                </a:lnTo>
                <a:lnTo>
                  <a:pt x="0" y="50800"/>
                </a:lnTo>
                <a:lnTo>
                  <a:pt x="4627895" y="50800"/>
                </a:lnTo>
                <a:lnTo>
                  <a:pt x="4625340" y="38100"/>
                </a:lnTo>
                <a:lnTo>
                  <a:pt x="4627896" y="25400"/>
                </a:lnTo>
                <a:close/>
              </a:path>
              <a:path w="4701540" h="76835">
                <a:moveTo>
                  <a:pt x="4698983" y="25400"/>
                </a:moveTo>
                <a:lnTo>
                  <a:pt x="4663440" y="25400"/>
                </a:lnTo>
                <a:lnTo>
                  <a:pt x="4663440" y="50800"/>
                </a:lnTo>
                <a:lnTo>
                  <a:pt x="4698984" y="50800"/>
                </a:lnTo>
                <a:lnTo>
                  <a:pt x="4701540" y="38100"/>
                </a:lnTo>
                <a:lnTo>
                  <a:pt x="4698983" y="25400"/>
                </a:lnTo>
                <a:close/>
              </a:path>
            </a:pathLst>
          </a:custGeom>
          <a:solidFill>
            <a:srgbClr val="001F5F"/>
          </a:solidFill>
        </p:spPr>
        <p:txBody>
          <a:bodyPr wrap="square" lIns="0" tIns="0" rIns="0" bIns="0" rtlCol="0"/>
          <a:lstStyle/>
          <a:p>
            <a:endParaRPr/>
          </a:p>
        </p:txBody>
      </p:sp>
      <p:sp>
        <p:nvSpPr>
          <p:cNvPr id="31" name="object 31"/>
          <p:cNvSpPr txBox="1"/>
          <p:nvPr/>
        </p:nvSpPr>
        <p:spPr>
          <a:xfrm>
            <a:off x="1717167" y="5244756"/>
            <a:ext cx="454659" cy="317500"/>
          </a:xfrm>
          <a:prstGeom prst="rect">
            <a:avLst/>
          </a:prstGeom>
          <a:solidFill>
            <a:srgbClr val="1F4E79"/>
          </a:solidFill>
          <a:ln w="12700">
            <a:solidFill>
              <a:srgbClr val="41709C"/>
            </a:solidFill>
          </a:ln>
        </p:spPr>
        <p:txBody>
          <a:bodyPr vert="horz" wrap="square" lIns="0" tIns="6985" rIns="0" bIns="0" rtlCol="0">
            <a:spAutoFit/>
          </a:bodyPr>
          <a:lstStyle/>
          <a:p>
            <a:pPr marL="111125">
              <a:lnSpc>
                <a:spcPct val="100000"/>
              </a:lnSpc>
              <a:spcBef>
                <a:spcPts val="55"/>
              </a:spcBef>
            </a:pPr>
            <a:r>
              <a:rPr sz="1800" spc="-25" dirty="0">
                <a:solidFill>
                  <a:srgbClr val="FFFFFF"/>
                </a:solidFill>
                <a:latin typeface="Calibri"/>
                <a:cs typeface="Calibri"/>
              </a:rPr>
              <a:t>12</a:t>
            </a:r>
            <a:endParaRPr sz="1800">
              <a:latin typeface="Calibri"/>
              <a:cs typeface="Calibri"/>
            </a:endParaRPr>
          </a:p>
        </p:txBody>
      </p:sp>
      <p:sp>
        <p:nvSpPr>
          <p:cNvPr id="32" name="object 32"/>
          <p:cNvSpPr txBox="1"/>
          <p:nvPr/>
        </p:nvSpPr>
        <p:spPr>
          <a:xfrm>
            <a:off x="2295270" y="5126863"/>
            <a:ext cx="466725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Microsoft Sans Serif"/>
                <a:cs typeface="Microsoft Sans Serif"/>
              </a:rPr>
              <a:t>Protection</a:t>
            </a:r>
            <a:r>
              <a:rPr sz="2400" spc="-30" dirty="0">
                <a:latin typeface="Microsoft Sans Serif"/>
                <a:cs typeface="Microsoft Sans Serif"/>
              </a:rPr>
              <a:t> </a:t>
            </a:r>
            <a:r>
              <a:rPr sz="2400" dirty="0">
                <a:latin typeface="Microsoft Sans Serif"/>
                <a:cs typeface="Microsoft Sans Serif"/>
              </a:rPr>
              <a:t>of</a:t>
            </a:r>
            <a:r>
              <a:rPr sz="2400" spc="-25" dirty="0">
                <a:latin typeface="Microsoft Sans Serif"/>
                <a:cs typeface="Microsoft Sans Serif"/>
              </a:rPr>
              <a:t> </a:t>
            </a:r>
            <a:r>
              <a:rPr sz="2400" dirty="0">
                <a:latin typeface="Microsoft Sans Serif"/>
                <a:cs typeface="Microsoft Sans Serif"/>
              </a:rPr>
              <a:t>Domestic</a:t>
            </a:r>
            <a:r>
              <a:rPr sz="2400" spc="-10" dirty="0">
                <a:latin typeface="Microsoft Sans Serif"/>
                <a:cs typeface="Microsoft Sans Serif"/>
              </a:rPr>
              <a:t> </a:t>
            </a:r>
            <a:r>
              <a:rPr sz="2400" dirty="0">
                <a:latin typeface="Microsoft Sans Serif"/>
                <a:cs typeface="Microsoft Sans Serif"/>
              </a:rPr>
              <a:t>Ind.</a:t>
            </a:r>
            <a:r>
              <a:rPr sz="2400" spc="-45" dirty="0">
                <a:latin typeface="Microsoft Sans Serif"/>
                <a:cs typeface="Microsoft Sans Serif"/>
              </a:rPr>
              <a:t> </a:t>
            </a:r>
            <a:r>
              <a:rPr sz="2400" dirty="0">
                <a:latin typeface="Microsoft Sans Serif"/>
                <a:cs typeface="Microsoft Sans Serif"/>
              </a:rPr>
              <a:t>-</a:t>
            </a:r>
            <a:r>
              <a:rPr sz="2400" spc="-30" dirty="0">
                <a:latin typeface="Microsoft Sans Serif"/>
                <a:cs typeface="Microsoft Sans Serif"/>
              </a:rPr>
              <a:t> </a:t>
            </a:r>
            <a:r>
              <a:rPr sz="2400" spc="-20" dirty="0">
                <a:latin typeface="Microsoft Sans Serif"/>
                <a:cs typeface="Microsoft Sans Serif"/>
              </a:rPr>
              <a:t>IGST</a:t>
            </a:r>
            <a:endParaRPr sz="2400">
              <a:latin typeface="Microsoft Sans Serif"/>
              <a:cs typeface="Microsoft Sans Serif"/>
            </a:endParaRPr>
          </a:p>
        </p:txBody>
      </p:sp>
      <p:sp>
        <p:nvSpPr>
          <p:cNvPr id="33" name="object 33"/>
          <p:cNvSpPr txBox="1"/>
          <p:nvPr/>
        </p:nvSpPr>
        <p:spPr>
          <a:xfrm>
            <a:off x="313740" y="6563664"/>
            <a:ext cx="180975" cy="208279"/>
          </a:xfrm>
          <a:prstGeom prst="rect">
            <a:avLst/>
          </a:prstGeom>
        </p:spPr>
        <p:txBody>
          <a:bodyPr vert="horz" wrap="square" lIns="0" tIns="12700" rIns="0" bIns="0" rtlCol="0">
            <a:spAutoFit/>
          </a:bodyPr>
          <a:lstStyle/>
          <a:p>
            <a:pPr marL="12700">
              <a:lnSpc>
                <a:spcPct val="100000"/>
              </a:lnSpc>
              <a:spcBef>
                <a:spcPts val="100"/>
              </a:spcBef>
            </a:pPr>
            <a:r>
              <a:rPr sz="1200" spc="-25" dirty="0">
                <a:solidFill>
                  <a:srgbClr val="888888"/>
                </a:solidFill>
                <a:latin typeface="Calibri"/>
                <a:cs typeface="Calibri"/>
              </a:rPr>
              <a:t>21</a:t>
            </a:r>
            <a:endParaRPr sz="1200">
              <a:latin typeface="Calibri"/>
              <a:cs typeface="Calibri"/>
            </a:endParaRPr>
          </a:p>
        </p:txBody>
      </p:sp>
    </p:spTree>
    <p:extLst>
      <p:ext uri="{BB962C8B-B14F-4D97-AF65-F5344CB8AC3E}">
        <p14:creationId xmlns:p14="http://schemas.microsoft.com/office/powerpoint/2010/main" val="150125813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E89A129-2810-4121-97A1-215370DB2F83}" type="slidenum">
              <a:rPr lang="en-US" smtClean="0"/>
              <a:pPr/>
              <a:t>37</a:t>
            </a:fld>
            <a:endParaRPr lang="en-US"/>
          </a:p>
        </p:txBody>
      </p:sp>
      <p:sp>
        <p:nvSpPr>
          <p:cNvPr id="47" name="Flowchart: Magnetic Disk 46"/>
          <p:cNvSpPr/>
          <p:nvPr/>
        </p:nvSpPr>
        <p:spPr>
          <a:xfrm>
            <a:off x="3602432" y="1330571"/>
            <a:ext cx="2334023" cy="4582634"/>
          </a:xfrm>
          <a:prstGeom prst="flowChartMagneticDisk">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 name="Flowchart: Magnetic Disk 47"/>
          <p:cNvSpPr/>
          <p:nvPr/>
        </p:nvSpPr>
        <p:spPr>
          <a:xfrm>
            <a:off x="3602430" y="3621889"/>
            <a:ext cx="2334023" cy="2291317"/>
          </a:xfrm>
          <a:prstGeom prst="flowChartMagneticDisk">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0" name="Flowchart: Magnetic Disk 49"/>
          <p:cNvSpPr/>
          <p:nvPr/>
        </p:nvSpPr>
        <p:spPr>
          <a:xfrm>
            <a:off x="6611446" y="1330571"/>
            <a:ext cx="2334023" cy="4582634"/>
          </a:xfrm>
          <a:prstGeom prst="flowChartMagneticDisk">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6" name="Straight Connector 65"/>
          <p:cNvCxnSpPr/>
          <p:nvPr/>
        </p:nvCxnSpPr>
        <p:spPr>
          <a:xfrm>
            <a:off x="3288950" y="3025601"/>
            <a:ext cx="3084357" cy="0"/>
          </a:xfrm>
          <a:prstGeom prst="line">
            <a:avLst/>
          </a:prstGeom>
          <a:ln w="25400" cmpd="sng">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67" name="TextBox 66"/>
          <p:cNvSpPr txBox="1"/>
          <p:nvPr/>
        </p:nvSpPr>
        <p:spPr>
          <a:xfrm>
            <a:off x="2625694" y="2871108"/>
            <a:ext cx="988304" cy="307777"/>
          </a:xfrm>
          <a:prstGeom prst="rect">
            <a:avLst/>
          </a:prstGeom>
          <a:noFill/>
        </p:spPr>
        <p:txBody>
          <a:bodyPr wrap="square" rtlCol="0">
            <a:spAutoFit/>
          </a:bodyPr>
          <a:lstStyle/>
          <a:p>
            <a:r>
              <a:rPr lang="en-IN" sz="1400" b="1" dirty="0"/>
              <a:t>Rs. 132</a:t>
            </a:r>
          </a:p>
        </p:txBody>
      </p:sp>
      <p:cxnSp>
        <p:nvCxnSpPr>
          <p:cNvPr id="90" name="Straight Arrow Connector 89"/>
          <p:cNvCxnSpPr/>
          <p:nvPr/>
        </p:nvCxnSpPr>
        <p:spPr>
          <a:xfrm flipH="1">
            <a:off x="3487029" y="3260696"/>
            <a:ext cx="0" cy="90000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91" name="TextBox 90"/>
          <p:cNvSpPr txBox="1"/>
          <p:nvPr/>
        </p:nvSpPr>
        <p:spPr>
          <a:xfrm>
            <a:off x="3041716" y="3553279"/>
            <a:ext cx="521962" cy="307777"/>
          </a:xfrm>
          <a:prstGeom prst="rect">
            <a:avLst/>
          </a:prstGeom>
          <a:noFill/>
        </p:spPr>
        <p:txBody>
          <a:bodyPr wrap="square" rtlCol="0">
            <a:spAutoFit/>
          </a:bodyPr>
          <a:lstStyle/>
          <a:p>
            <a:r>
              <a:rPr lang="en-IN" sz="1400" b="1" dirty="0"/>
              <a:t>32%</a:t>
            </a:r>
          </a:p>
        </p:txBody>
      </p:sp>
      <p:sp>
        <p:nvSpPr>
          <p:cNvPr id="94" name="TextBox 93"/>
          <p:cNvSpPr txBox="1"/>
          <p:nvPr/>
        </p:nvSpPr>
        <p:spPr>
          <a:xfrm>
            <a:off x="9364014" y="4083809"/>
            <a:ext cx="988304" cy="307777"/>
          </a:xfrm>
          <a:prstGeom prst="rect">
            <a:avLst/>
          </a:prstGeom>
          <a:noFill/>
        </p:spPr>
        <p:txBody>
          <a:bodyPr wrap="square" rtlCol="0">
            <a:spAutoFit/>
          </a:bodyPr>
          <a:lstStyle/>
          <a:p>
            <a:r>
              <a:rPr lang="en-IN" sz="1400" b="1" dirty="0"/>
              <a:t>Rs. 100</a:t>
            </a:r>
          </a:p>
        </p:txBody>
      </p:sp>
      <p:cxnSp>
        <p:nvCxnSpPr>
          <p:cNvPr id="95" name="Straight Connector 94"/>
          <p:cNvCxnSpPr/>
          <p:nvPr/>
        </p:nvCxnSpPr>
        <p:spPr>
          <a:xfrm>
            <a:off x="6362674" y="3154951"/>
            <a:ext cx="3084357" cy="0"/>
          </a:xfrm>
          <a:prstGeom prst="line">
            <a:avLst/>
          </a:prstGeom>
          <a:ln w="25400" cmpd="sng">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96" name="TextBox 95"/>
          <p:cNvSpPr txBox="1"/>
          <p:nvPr/>
        </p:nvSpPr>
        <p:spPr>
          <a:xfrm>
            <a:off x="9385214" y="3005132"/>
            <a:ext cx="988304" cy="307777"/>
          </a:xfrm>
          <a:prstGeom prst="rect">
            <a:avLst/>
          </a:prstGeom>
          <a:noFill/>
        </p:spPr>
        <p:txBody>
          <a:bodyPr wrap="square" rtlCol="0">
            <a:spAutoFit/>
          </a:bodyPr>
          <a:lstStyle/>
          <a:p>
            <a:r>
              <a:rPr lang="en-IN" sz="1400" b="1" dirty="0"/>
              <a:t>Rs. 128</a:t>
            </a:r>
          </a:p>
        </p:txBody>
      </p:sp>
      <p:cxnSp>
        <p:nvCxnSpPr>
          <p:cNvPr id="32" name="Straight Connector 31"/>
          <p:cNvCxnSpPr/>
          <p:nvPr/>
        </p:nvCxnSpPr>
        <p:spPr>
          <a:xfrm>
            <a:off x="3162225" y="4337847"/>
            <a:ext cx="3084357" cy="0"/>
          </a:xfrm>
          <a:prstGeom prst="line">
            <a:avLst/>
          </a:prstGeom>
          <a:ln w="25400" cmpd="sng">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2527299" y="4194156"/>
            <a:ext cx="988304" cy="307777"/>
          </a:xfrm>
          <a:prstGeom prst="rect">
            <a:avLst/>
          </a:prstGeom>
          <a:noFill/>
        </p:spPr>
        <p:txBody>
          <a:bodyPr wrap="square" rtlCol="0">
            <a:spAutoFit/>
          </a:bodyPr>
          <a:lstStyle/>
          <a:p>
            <a:r>
              <a:rPr lang="en-IN" sz="1400" b="1" dirty="0"/>
              <a:t>Rs. 100</a:t>
            </a:r>
          </a:p>
        </p:txBody>
      </p:sp>
      <p:sp>
        <p:nvSpPr>
          <p:cNvPr id="3" name="Rectangle 2"/>
          <p:cNvSpPr/>
          <p:nvPr/>
        </p:nvSpPr>
        <p:spPr>
          <a:xfrm>
            <a:off x="1672708" y="4709490"/>
            <a:ext cx="1831113" cy="983530"/>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Cost of production of goods is Rs. 100</a:t>
            </a:r>
          </a:p>
        </p:txBody>
      </p:sp>
      <p:sp>
        <p:nvSpPr>
          <p:cNvPr id="36" name="Rectangle 35"/>
          <p:cNvSpPr/>
          <p:nvPr/>
        </p:nvSpPr>
        <p:spPr>
          <a:xfrm>
            <a:off x="1672708" y="1545768"/>
            <a:ext cx="1754464" cy="983530"/>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Cumulative taxes of 32% levied</a:t>
            </a:r>
          </a:p>
        </p:txBody>
      </p:sp>
      <p:sp>
        <p:nvSpPr>
          <p:cNvPr id="37" name="Rectangle 36"/>
          <p:cNvSpPr/>
          <p:nvPr/>
        </p:nvSpPr>
        <p:spPr>
          <a:xfrm>
            <a:off x="9117696" y="1144894"/>
            <a:ext cx="1241390" cy="1297320"/>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All other taxes are replaced by GST</a:t>
            </a:r>
          </a:p>
        </p:txBody>
      </p:sp>
      <p:sp>
        <p:nvSpPr>
          <p:cNvPr id="39" name="Rectangle 38"/>
          <p:cNvSpPr/>
          <p:nvPr/>
        </p:nvSpPr>
        <p:spPr>
          <a:xfrm>
            <a:off x="9117475" y="4949078"/>
            <a:ext cx="1346760" cy="1487884"/>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Overall incidence of tax will be reduced</a:t>
            </a:r>
          </a:p>
        </p:txBody>
      </p:sp>
      <p:sp>
        <p:nvSpPr>
          <p:cNvPr id="40" name="Rectangle 39"/>
          <p:cNvSpPr/>
          <p:nvPr/>
        </p:nvSpPr>
        <p:spPr>
          <a:xfrm>
            <a:off x="1666554" y="119455"/>
            <a:ext cx="6737294" cy="584775"/>
          </a:xfrm>
          <a:prstGeom prst="rect">
            <a:avLst/>
          </a:prstGeom>
        </p:spPr>
        <p:txBody>
          <a:bodyPr wrap="none">
            <a:spAutoFit/>
          </a:bodyPr>
          <a:lstStyle/>
          <a:p>
            <a:r>
              <a:rPr lang="en-US" sz="3200" b="1" dirty="0">
                <a:solidFill>
                  <a:srgbClr val="002060"/>
                </a:solidFill>
              </a:rPr>
              <a:t>Reduction in Price of Goods under GST</a:t>
            </a:r>
          </a:p>
        </p:txBody>
      </p:sp>
      <p:cxnSp>
        <p:nvCxnSpPr>
          <p:cNvPr id="98" name="Straight Connector 97"/>
          <p:cNvCxnSpPr/>
          <p:nvPr/>
        </p:nvCxnSpPr>
        <p:spPr>
          <a:xfrm>
            <a:off x="6301118" y="4257881"/>
            <a:ext cx="3084357" cy="0"/>
          </a:xfrm>
          <a:prstGeom prst="line">
            <a:avLst/>
          </a:prstGeom>
          <a:ln w="25400" cmpd="sng">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51" name="Flowchart: Magnetic Disk 50"/>
          <p:cNvSpPr/>
          <p:nvPr/>
        </p:nvSpPr>
        <p:spPr>
          <a:xfrm>
            <a:off x="6611447" y="3710697"/>
            <a:ext cx="2334023" cy="2202509"/>
          </a:xfrm>
          <a:prstGeom prst="flowChartMagneticDisk">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Left Arrow 34">
            <a:hlinkClick r:id="rId2" action="ppaction://hlinksldjump"/>
          </p:cNvPr>
          <p:cNvSpPr/>
          <p:nvPr/>
        </p:nvSpPr>
        <p:spPr>
          <a:xfrm>
            <a:off x="8827417" y="229056"/>
            <a:ext cx="319087" cy="365570"/>
          </a:xfrm>
          <a:prstGeom prst="leftArrow">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Flowchart: Magnetic Disk 48"/>
          <p:cNvSpPr/>
          <p:nvPr/>
        </p:nvSpPr>
        <p:spPr>
          <a:xfrm>
            <a:off x="3602431" y="3071716"/>
            <a:ext cx="2334023" cy="1311598"/>
          </a:xfrm>
          <a:prstGeom prst="flowChartMagneticDisk">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Oval 40"/>
          <p:cNvSpPr/>
          <p:nvPr/>
        </p:nvSpPr>
        <p:spPr>
          <a:xfrm>
            <a:off x="3698524" y="3158342"/>
            <a:ext cx="1213278" cy="475285"/>
          </a:xfrm>
          <a:prstGeom prst="ellipse">
            <a:avLst/>
          </a:prstGeom>
          <a:solidFill>
            <a:srgbClr val="002060"/>
          </a:solidFill>
        </p:spPr>
        <p:style>
          <a:lnRef idx="0">
            <a:schemeClr val="dk1"/>
          </a:lnRef>
          <a:fillRef idx="3">
            <a:schemeClr val="dk1"/>
          </a:fillRef>
          <a:effectRef idx="3">
            <a:schemeClr val="dk1"/>
          </a:effectRef>
          <a:fontRef idx="minor">
            <a:schemeClr val="lt1"/>
          </a:fontRef>
        </p:style>
        <p:txBody>
          <a:bodyPr rtlCol="0" anchor="ctr"/>
          <a:lstStyle/>
          <a:p>
            <a:pPr algn="ctr"/>
            <a:r>
              <a:rPr lang="en-US" sz="1200" b="1" dirty="0"/>
              <a:t>Service</a:t>
            </a:r>
          </a:p>
          <a:p>
            <a:pPr algn="ctr"/>
            <a:r>
              <a:rPr lang="en-US" sz="1200" b="1" dirty="0"/>
              <a:t>Tax – 1%</a:t>
            </a:r>
          </a:p>
        </p:txBody>
      </p:sp>
      <p:sp>
        <p:nvSpPr>
          <p:cNvPr id="42" name="Oval 41"/>
          <p:cNvSpPr/>
          <p:nvPr/>
        </p:nvSpPr>
        <p:spPr>
          <a:xfrm>
            <a:off x="4926317" y="3155803"/>
            <a:ext cx="809899" cy="475285"/>
          </a:xfrm>
          <a:prstGeom prst="ellipse">
            <a:avLst/>
          </a:prstGeom>
          <a:solidFill>
            <a:srgbClr val="002060"/>
          </a:solidFill>
        </p:spPr>
        <p:style>
          <a:lnRef idx="0">
            <a:schemeClr val="dk1"/>
          </a:lnRef>
          <a:fillRef idx="3">
            <a:schemeClr val="dk1"/>
          </a:fillRef>
          <a:effectRef idx="3">
            <a:schemeClr val="dk1"/>
          </a:effectRef>
          <a:fontRef idx="minor">
            <a:schemeClr val="lt1"/>
          </a:fontRef>
        </p:style>
        <p:txBody>
          <a:bodyPr rtlCol="0" anchor="ctr"/>
          <a:lstStyle/>
          <a:p>
            <a:pPr algn="ctr"/>
            <a:r>
              <a:rPr lang="en-US" sz="1050" b="1" dirty="0"/>
              <a:t>VAT 14.5%</a:t>
            </a:r>
          </a:p>
        </p:txBody>
      </p:sp>
      <p:sp>
        <p:nvSpPr>
          <p:cNvPr id="43" name="Oval 42"/>
          <p:cNvSpPr/>
          <p:nvPr/>
        </p:nvSpPr>
        <p:spPr>
          <a:xfrm>
            <a:off x="5083690" y="3669909"/>
            <a:ext cx="852763" cy="475285"/>
          </a:xfrm>
          <a:prstGeom prst="ellipse">
            <a:avLst/>
          </a:prstGeom>
          <a:solidFill>
            <a:srgbClr val="002060"/>
          </a:solidFill>
        </p:spPr>
        <p:style>
          <a:lnRef idx="0">
            <a:schemeClr val="dk1"/>
          </a:lnRef>
          <a:fillRef idx="3">
            <a:schemeClr val="dk1"/>
          </a:fillRef>
          <a:effectRef idx="3">
            <a:schemeClr val="dk1"/>
          </a:effectRef>
          <a:fontRef idx="minor">
            <a:schemeClr val="lt1"/>
          </a:fontRef>
        </p:style>
        <p:txBody>
          <a:bodyPr rtlCol="0" anchor="ctr"/>
          <a:lstStyle/>
          <a:p>
            <a:pPr algn="ctr"/>
            <a:r>
              <a:rPr lang="en-US" sz="1050" b="1" dirty="0"/>
              <a:t>Excise 12.5%</a:t>
            </a:r>
          </a:p>
        </p:txBody>
      </p:sp>
      <p:sp>
        <p:nvSpPr>
          <p:cNvPr id="44" name="Oval 43"/>
          <p:cNvSpPr/>
          <p:nvPr/>
        </p:nvSpPr>
        <p:spPr>
          <a:xfrm>
            <a:off x="4290650" y="3633914"/>
            <a:ext cx="778525" cy="475285"/>
          </a:xfrm>
          <a:prstGeom prst="ellipse">
            <a:avLst/>
          </a:prstGeom>
          <a:solidFill>
            <a:srgbClr val="002060"/>
          </a:solidFill>
        </p:spPr>
        <p:style>
          <a:lnRef idx="0">
            <a:schemeClr val="dk1"/>
          </a:lnRef>
          <a:fillRef idx="3">
            <a:schemeClr val="dk1"/>
          </a:fillRef>
          <a:effectRef idx="3">
            <a:schemeClr val="dk1"/>
          </a:effectRef>
          <a:fontRef idx="minor">
            <a:schemeClr val="lt1"/>
          </a:fontRef>
        </p:style>
        <p:txBody>
          <a:bodyPr rtlCol="0" anchor="ctr"/>
          <a:lstStyle/>
          <a:p>
            <a:pPr algn="ctr"/>
            <a:r>
              <a:rPr lang="en-US" sz="1050" b="1" dirty="0"/>
              <a:t>Entry</a:t>
            </a:r>
          </a:p>
          <a:p>
            <a:pPr algn="ctr"/>
            <a:r>
              <a:rPr lang="en-US" sz="1050" b="1" dirty="0"/>
              <a:t>Tax 2%</a:t>
            </a:r>
          </a:p>
        </p:txBody>
      </p:sp>
      <p:sp>
        <p:nvSpPr>
          <p:cNvPr id="45" name="Oval 44"/>
          <p:cNvSpPr/>
          <p:nvPr/>
        </p:nvSpPr>
        <p:spPr>
          <a:xfrm>
            <a:off x="3648961" y="3770814"/>
            <a:ext cx="645592" cy="475285"/>
          </a:xfrm>
          <a:prstGeom prst="ellipse">
            <a:avLst/>
          </a:prstGeom>
          <a:solidFill>
            <a:srgbClr val="002060"/>
          </a:solidFill>
        </p:spPr>
        <p:style>
          <a:lnRef idx="0">
            <a:schemeClr val="dk1"/>
          </a:lnRef>
          <a:fillRef idx="3">
            <a:schemeClr val="dk1"/>
          </a:fillRef>
          <a:effectRef idx="3">
            <a:schemeClr val="dk1"/>
          </a:effectRef>
          <a:fontRef idx="minor">
            <a:schemeClr val="lt1"/>
          </a:fontRef>
        </p:style>
        <p:txBody>
          <a:bodyPr rtlCol="0" anchor="ctr"/>
          <a:lstStyle/>
          <a:p>
            <a:pPr algn="ctr"/>
            <a:r>
              <a:rPr lang="en-US" sz="1050" b="1" dirty="0"/>
              <a:t>CST 2%</a:t>
            </a:r>
          </a:p>
        </p:txBody>
      </p:sp>
      <p:sp>
        <p:nvSpPr>
          <p:cNvPr id="46" name="Flowchart: Magnetic Disk 45"/>
          <p:cNvSpPr/>
          <p:nvPr/>
        </p:nvSpPr>
        <p:spPr>
          <a:xfrm>
            <a:off x="6611447" y="3178884"/>
            <a:ext cx="2334023" cy="1212701"/>
          </a:xfrm>
          <a:prstGeom prst="flowChartMagneticDisk">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2" name="Oval 51"/>
          <p:cNvSpPr/>
          <p:nvPr/>
        </p:nvSpPr>
        <p:spPr>
          <a:xfrm>
            <a:off x="7325034" y="3770814"/>
            <a:ext cx="948188" cy="410359"/>
          </a:xfrm>
          <a:prstGeom prst="ellipse">
            <a:avLst/>
          </a:prstGeom>
          <a:solidFill>
            <a:srgbClr val="002060"/>
          </a:solidFill>
        </p:spPr>
        <p:style>
          <a:lnRef idx="0">
            <a:schemeClr val="dk1"/>
          </a:lnRef>
          <a:fillRef idx="3">
            <a:schemeClr val="dk1"/>
          </a:fillRef>
          <a:effectRef idx="3">
            <a:schemeClr val="dk1"/>
          </a:effectRef>
          <a:fontRef idx="minor">
            <a:schemeClr val="lt1"/>
          </a:fontRef>
        </p:style>
        <p:txBody>
          <a:bodyPr rtlCol="0" anchor="ctr"/>
          <a:lstStyle/>
          <a:p>
            <a:pPr algn="ctr"/>
            <a:r>
              <a:rPr lang="en-US" sz="1200" b="1" dirty="0"/>
              <a:t>GST @ 28%</a:t>
            </a:r>
          </a:p>
        </p:txBody>
      </p:sp>
      <p:cxnSp>
        <p:nvCxnSpPr>
          <p:cNvPr id="54" name="Straight Arrow Connector 53"/>
          <p:cNvCxnSpPr/>
          <p:nvPr/>
        </p:nvCxnSpPr>
        <p:spPr>
          <a:xfrm flipH="1">
            <a:off x="9160818" y="3260696"/>
            <a:ext cx="0" cy="90000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55" name="TextBox 54"/>
          <p:cNvSpPr txBox="1"/>
          <p:nvPr/>
        </p:nvSpPr>
        <p:spPr>
          <a:xfrm>
            <a:off x="9150925" y="3553279"/>
            <a:ext cx="521962" cy="307777"/>
          </a:xfrm>
          <a:prstGeom prst="rect">
            <a:avLst/>
          </a:prstGeom>
          <a:noFill/>
        </p:spPr>
        <p:txBody>
          <a:bodyPr wrap="square" rtlCol="0">
            <a:spAutoFit/>
          </a:bodyPr>
          <a:lstStyle/>
          <a:p>
            <a:r>
              <a:rPr lang="en-IN" sz="1400" b="1" dirty="0"/>
              <a:t>28%</a:t>
            </a:r>
          </a:p>
        </p:txBody>
      </p:sp>
      <p:sp>
        <p:nvSpPr>
          <p:cNvPr id="34" name="Rectangle 33"/>
          <p:cNvSpPr/>
          <p:nvPr/>
        </p:nvSpPr>
        <p:spPr>
          <a:xfrm>
            <a:off x="10250906" y="6625390"/>
            <a:ext cx="417096" cy="182880"/>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21</a:t>
            </a:r>
          </a:p>
        </p:txBody>
      </p:sp>
    </p:spTree>
    <p:extLst>
      <p:ext uri="{BB962C8B-B14F-4D97-AF65-F5344CB8AC3E}">
        <p14:creationId xmlns:p14="http://schemas.microsoft.com/office/powerpoint/2010/main" val="3953753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xit" presetSubtype="0" fill="hold" grpId="0" nodeType="clickEffect">
                                  <p:stCondLst>
                                    <p:cond delay="0"/>
                                  </p:stCondLst>
                                  <p:childTnLst>
                                    <p:animEffect transition="out" filter="wipe(down)">
                                      <p:cBhvr>
                                        <p:cTn id="6" dur="180" accel="50000">
                                          <p:stCondLst>
                                            <p:cond delay="1820"/>
                                          </p:stCondLst>
                                        </p:cTn>
                                        <p:tgtEl>
                                          <p:spTgt spid="44"/>
                                        </p:tgtEl>
                                      </p:cBhvr>
                                    </p:animEffect>
                                    <p:anim calcmode="lin" valueType="num">
                                      <p:cBhvr>
                                        <p:cTn id="7" dur="1822" tmFilter="0,0; 0.14,0.31; 0.43,0.73; 0.71,0.91; 1.0,1.0">
                                          <p:stCondLst>
                                            <p:cond delay="0"/>
                                          </p:stCondLst>
                                        </p:cTn>
                                        <p:tgtEl>
                                          <p:spTgt spid="44"/>
                                        </p:tgtEl>
                                        <p:attrNameLst>
                                          <p:attrName>ppt_x</p:attrName>
                                        </p:attrNameLst>
                                      </p:cBhvr>
                                      <p:tavLst>
                                        <p:tav tm="0">
                                          <p:val>
                                            <p:strVal val="ppt_x"/>
                                          </p:val>
                                        </p:tav>
                                        <p:tav tm="100000">
                                          <p:val>
                                            <p:strVal val="#ppt_x+0.25"/>
                                          </p:val>
                                        </p:tav>
                                      </p:tavLst>
                                    </p:anim>
                                    <p:anim calcmode="lin" valueType="num">
                                      <p:cBhvr>
                                        <p:cTn id="8" dur="178">
                                          <p:stCondLst>
                                            <p:cond delay="1822"/>
                                          </p:stCondLst>
                                        </p:cTn>
                                        <p:tgtEl>
                                          <p:spTgt spid="44"/>
                                        </p:tgtEl>
                                        <p:attrNameLst>
                                          <p:attrName>ppt_x</p:attrName>
                                        </p:attrNameLst>
                                      </p:cBhvr>
                                      <p:tavLst>
                                        <p:tav tm="0">
                                          <p:val>
                                            <p:strVal val="ppt_x"/>
                                          </p:val>
                                        </p:tav>
                                        <p:tav tm="100000">
                                          <p:val>
                                            <p:strVal val="ppt_x"/>
                                          </p:val>
                                        </p:tav>
                                      </p:tavLst>
                                    </p:anim>
                                    <p:anim calcmode="lin" valueType="num">
                                      <p:cBhvr>
                                        <p:cTn id="9" dur="664" tmFilter="0.0,0.0;0.25,0.07;0.50,0.2;0.75,0.467;1.0,1.0">
                                          <p:stCondLst>
                                            <p:cond delay="0"/>
                                          </p:stCondLst>
                                        </p:cTn>
                                        <p:tgtEl>
                                          <p:spTgt spid="44"/>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10" dur="664" tmFilter="0, 0; 0.125,0.2665; 0.25,0.4; 0.375,0.465; 0.5,0.5;  0.625,0.535; 0.75,0.6; 0.875,0.7335; 1,1">
                                          <p:stCondLst>
                                            <p:cond delay="664"/>
                                          </p:stCondLst>
                                        </p:cTn>
                                        <p:tgtEl>
                                          <p:spTgt spid="44"/>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11" dur="332" tmFilter="0, 0; 0.125,0.2665; 0.25,0.4; 0.375,0.465; 0.5,0.5;  0.625,0.535; 0.75,0.6; 0.875,0.7335; 1,1">
                                          <p:stCondLst>
                                            <p:cond delay="1324"/>
                                          </p:stCondLst>
                                        </p:cTn>
                                        <p:tgtEl>
                                          <p:spTgt spid="44"/>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12" dur="164" tmFilter="0, 0; 0.125,0.2665; 0.25,0.4; 0.375,0.465; 0.5,0.5;  0.625,0.535; 0.75,0.6; 0.875,0.7335; 1,1">
                                          <p:stCondLst>
                                            <p:cond delay="1656"/>
                                          </p:stCondLst>
                                        </p:cTn>
                                        <p:tgtEl>
                                          <p:spTgt spid="44"/>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13" dur="180" accel="50000">
                                          <p:stCondLst>
                                            <p:cond delay="1820"/>
                                          </p:stCondLst>
                                        </p:cTn>
                                        <p:tgtEl>
                                          <p:spTgt spid="44"/>
                                        </p:tgtEl>
                                        <p:attrNameLst>
                                          <p:attrName>ppt_y</p:attrName>
                                        </p:attrNameLst>
                                      </p:cBhvr>
                                      <p:tavLst>
                                        <p:tav tm="0">
                                          <p:val>
                                            <p:strVal val="ppt_y"/>
                                          </p:val>
                                        </p:tav>
                                        <p:tav tm="100000">
                                          <p:val>
                                            <p:strVal val="ppt_y+ppt_h"/>
                                          </p:val>
                                        </p:tav>
                                      </p:tavLst>
                                    </p:anim>
                                    <p:animScale>
                                      <p:cBhvr>
                                        <p:cTn id="14" dur="26">
                                          <p:stCondLst>
                                            <p:cond delay="620"/>
                                          </p:stCondLst>
                                        </p:cTn>
                                        <p:tgtEl>
                                          <p:spTgt spid="44"/>
                                        </p:tgtEl>
                                      </p:cBhvr>
                                      <p:to x="100000" y="60000"/>
                                    </p:animScale>
                                    <p:animScale>
                                      <p:cBhvr>
                                        <p:cTn id="15" dur="166" decel="50000">
                                          <p:stCondLst>
                                            <p:cond delay="646"/>
                                          </p:stCondLst>
                                        </p:cTn>
                                        <p:tgtEl>
                                          <p:spTgt spid="44"/>
                                        </p:tgtEl>
                                      </p:cBhvr>
                                      <p:to x="100000" y="100000"/>
                                    </p:animScale>
                                    <p:animScale>
                                      <p:cBhvr>
                                        <p:cTn id="16" dur="26">
                                          <p:stCondLst>
                                            <p:cond delay="1312"/>
                                          </p:stCondLst>
                                        </p:cTn>
                                        <p:tgtEl>
                                          <p:spTgt spid="44"/>
                                        </p:tgtEl>
                                      </p:cBhvr>
                                      <p:to x="100000" y="80000"/>
                                    </p:animScale>
                                    <p:animScale>
                                      <p:cBhvr>
                                        <p:cTn id="17" dur="166" decel="50000">
                                          <p:stCondLst>
                                            <p:cond delay="1338"/>
                                          </p:stCondLst>
                                        </p:cTn>
                                        <p:tgtEl>
                                          <p:spTgt spid="44"/>
                                        </p:tgtEl>
                                      </p:cBhvr>
                                      <p:to x="100000" y="100000"/>
                                    </p:animScale>
                                    <p:animScale>
                                      <p:cBhvr>
                                        <p:cTn id="18" dur="26">
                                          <p:stCondLst>
                                            <p:cond delay="1642"/>
                                          </p:stCondLst>
                                        </p:cTn>
                                        <p:tgtEl>
                                          <p:spTgt spid="44"/>
                                        </p:tgtEl>
                                      </p:cBhvr>
                                      <p:to x="100000" y="90000"/>
                                    </p:animScale>
                                    <p:animScale>
                                      <p:cBhvr>
                                        <p:cTn id="19" dur="166" decel="50000">
                                          <p:stCondLst>
                                            <p:cond delay="1668"/>
                                          </p:stCondLst>
                                        </p:cTn>
                                        <p:tgtEl>
                                          <p:spTgt spid="44"/>
                                        </p:tgtEl>
                                      </p:cBhvr>
                                      <p:to x="100000" y="100000"/>
                                    </p:animScale>
                                    <p:animScale>
                                      <p:cBhvr>
                                        <p:cTn id="20" dur="26">
                                          <p:stCondLst>
                                            <p:cond delay="1808"/>
                                          </p:stCondLst>
                                        </p:cTn>
                                        <p:tgtEl>
                                          <p:spTgt spid="44"/>
                                        </p:tgtEl>
                                      </p:cBhvr>
                                      <p:to x="100000" y="95000"/>
                                    </p:animScale>
                                    <p:animScale>
                                      <p:cBhvr>
                                        <p:cTn id="21" dur="166" decel="50000">
                                          <p:stCondLst>
                                            <p:cond delay="1834"/>
                                          </p:stCondLst>
                                        </p:cTn>
                                        <p:tgtEl>
                                          <p:spTgt spid="44"/>
                                        </p:tgtEl>
                                      </p:cBhvr>
                                      <p:to x="100000" y="100000"/>
                                    </p:animScale>
                                    <p:set>
                                      <p:cBhvr>
                                        <p:cTn id="22" dur="1" fill="hold">
                                          <p:stCondLst>
                                            <p:cond delay="1999"/>
                                          </p:stCondLst>
                                        </p:cTn>
                                        <p:tgtEl>
                                          <p:spTgt spid="44"/>
                                        </p:tgtEl>
                                        <p:attrNameLst>
                                          <p:attrName>style.visibility</p:attrName>
                                        </p:attrNameLst>
                                      </p:cBhvr>
                                      <p:to>
                                        <p:strVal val="hidden"/>
                                      </p:to>
                                    </p:set>
                                  </p:childTnLst>
                                </p:cTn>
                              </p:par>
                              <p:par>
                                <p:cTn id="23" presetID="26" presetClass="exit" presetSubtype="0" fill="hold" grpId="0" nodeType="withEffect">
                                  <p:stCondLst>
                                    <p:cond delay="0"/>
                                  </p:stCondLst>
                                  <p:childTnLst>
                                    <p:animEffect transition="out" filter="wipe(down)">
                                      <p:cBhvr>
                                        <p:cTn id="24" dur="180" accel="50000">
                                          <p:stCondLst>
                                            <p:cond delay="1820"/>
                                          </p:stCondLst>
                                        </p:cTn>
                                        <p:tgtEl>
                                          <p:spTgt spid="42"/>
                                        </p:tgtEl>
                                      </p:cBhvr>
                                    </p:animEffect>
                                    <p:anim calcmode="lin" valueType="num">
                                      <p:cBhvr>
                                        <p:cTn id="25" dur="1822" tmFilter="0,0; 0.14,0.31; 0.43,0.73; 0.71,0.91; 1.0,1.0">
                                          <p:stCondLst>
                                            <p:cond delay="0"/>
                                          </p:stCondLst>
                                        </p:cTn>
                                        <p:tgtEl>
                                          <p:spTgt spid="42"/>
                                        </p:tgtEl>
                                        <p:attrNameLst>
                                          <p:attrName>ppt_x</p:attrName>
                                        </p:attrNameLst>
                                      </p:cBhvr>
                                      <p:tavLst>
                                        <p:tav tm="0">
                                          <p:val>
                                            <p:strVal val="ppt_x"/>
                                          </p:val>
                                        </p:tav>
                                        <p:tav tm="100000">
                                          <p:val>
                                            <p:strVal val="#ppt_x+0.25"/>
                                          </p:val>
                                        </p:tav>
                                      </p:tavLst>
                                    </p:anim>
                                    <p:anim calcmode="lin" valueType="num">
                                      <p:cBhvr>
                                        <p:cTn id="26" dur="178">
                                          <p:stCondLst>
                                            <p:cond delay="1822"/>
                                          </p:stCondLst>
                                        </p:cTn>
                                        <p:tgtEl>
                                          <p:spTgt spid="42"/>
                                        </p:tgtEl>
                                        <p:attrNameLst>
                                          <p:attrName>ppt_x</p:attrName>
                                        </p:attrNameLst>
                                      </p:cBhvr>
                                      <p:tavLst>
                                        <p:tav tm="0">
                                          <p:val>
                                            <p:strVal val="ppt_x"/>
                                          </p:val>
                                        </p:tav>
                                        <p:tav tm="100000">
                                          <p:val>
                                            <p:strVal val="ppt_x"/>
                                          </p:val>
                                        </p:tav>
                                      </p:tavLst>
                                    </p:anim>
                                    <p:anim calcmode="lin" valueType="num">
                                      <p:cBhvr>
                                        <p:cTn id="27" dur="664" tmFilter="0.0,0.0;0.25,0.07;0.50,0.2;0.75,0.467;1.0,1.0">
                                          <p:stCondLst>
                                            <p:cond delay="0"/>
                                          </p:stCondLst>
                                        </p:cTn>
                                        <p:tgtEl>
                                          <p:spTgt spid="42"/>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28" dur="664" tmFilter="0, 0; 0.125,0.2665; 0.25,0.4; 0.375,0.465; 0.5,0.5;  0.625,0.535; 0.75,0.6; 0.875,0.7335; 1,1">
                                          <p:stCondLst>
                                            <p:cond delay="664"/>
                                          </p:stCondLst>
                                        </p:cTn>
                                        <p:tgtEl>
                                          <p:spTgt spid="42"/>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29" dur="332" tmFilter="0, 0; 0.125,0.2665; 0.25,0.4; 0.375,0.465; 0.5,0.5;  0.625,0.535; 0.75,0.6; 0.875,0.7335; 1,1">
                                          <p:stCondLst>
                                            <p:cond delay="1324"/>
                                          </p:stCondLst>
                                        </p:cTn>
                                        <p:tgtEl>
                                          <p:spTgt spid="42"/>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30" dur="164" tmFilter="0, 0; 0.125,0.2665; 0.25,0.4; 0.375,0.465; 0.5,0.5;  0.625,0.535; 0.75,0.6; 0.875,0.7335; 1,1">
                                          <p:stCondLst>
                                            <p:cond delay="1656"/>
                                          </p:stCondLst>
                                        </p:cTn>
                                        <p:tgtEl>
                                          <p:spTgt spid="42"/>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31" dur="180" accel="50000">
                                          <p:stCondLst>
                                            <p:cond delay="1820"/>
                                          </p:stCondLst>
                                        </p:cTn>
                                        <p:tgtEl>
                                          <p:spTgt spid="42"/>
                                        </p:tgtEl>
                                        <p:attrNameLst>
                                          <p:attrName>ppt_y</p:attrName>
                                        </p:attrNameLst>
                                      </p:cBhvr>
                                      <p:tavLst>
                                        <p:tav tm="0">
                                          <p:val>
                                            <p:strVal val="ppt_y"/>
                                          </p:val>
                                        </p:tav>
                                        <p:tav tm="100000">
                                          <p:val>
                                            <p:strVal val="ppt_y+ppt_h"/>
                                          </p:val>
                                        </p:tav>
                                      </p:tavLst>
                                    </p:anim>
                                    <p:animScale>
                                      <p:cBhvr>
                                        <p:cTn id="32" dur="26">
                                          <p:stCondLst>
                                            <p:cond delay="620"/>
                                          </p:stCondLst>
                                        </p:cTn>
                                        <p:tgtEl>
                                          <p:spTgt spid="42"/>
                                        </p:tgtEl>
                                      </p:cBhvr>
                                      <p:to x="100000" y="60000"/>
                                    </p:animScale>
                                    <p:animScale>
                                      <p:cBhvr>
                                        <p:cTn id="33" dur="166" decel="50000">
                                          <p:stCondLst>
                                            <p:cond delay="646"/>
                                          </p:stCondLst>
                                        </p:cTn>
                                        <p:tgtEl>
                                          <p:spTgt spid="42"/>
                                        </p:tgtEl>
                                      </p:cBhvr>
                                      <p:to x="100000" y="100000"/>
                                    </p:animScale>
                                    <p:animScale>
                                      <p:cBhvr>
                                        <p:cTn id="34" dur="26">
                                          <p:stCondLst>
                                            <p:cond delay="1312"/>
                                          </p:stCondLst>
                                        </p:cTn>
                                        <p:tgtEl>
                                          <p:spTgt spid="42"/>
                                        </p:tgtEl>
                                      </p:cBhvr>
                                      <p:to x="100000" y="80000"/>
                                    </p:animScale>
                                    <p:animScale>
                                      <p:cBhvr>
                                        <p:cTn id="35" dur="166" decel="50000">
                                          <p:stCondLst>
                                            <p:cond delay="1338"/>
                                          </p:stCondLst>
                                        </p:cTn>
                                        <p:tgtEl>
                                          <p:spTgt spid="42"/>
                                        </p:tgtEl>
                                      </p:cBhvr>
                                      <p:to x="100000" y="100000"/>
                                    </p:animScale>
                                    <p:animScale>
                                      <p:cBhvr>
                                        <p:cTn id="36" dur="26">
                                          <p:stCondLst>
                                            <p:cond delay="1642"/>
                                          </p:stCondLst>
                                        </p:cTn>
                                        <p:tgtEl>
                                          <p:spTgt spid="42"/>
                                        </p:tgtEl>
                                      </p:cBhvr>
                                      <p:to x="100000" y="90000"/>
                                    </p:animScale>
                                    <p:animScale>
                                      <p:cBhvr>
                                        <p:cTn id="37" dur="166" decel="50000">
                                          <p:stCondLst>
                                            <p:cond delay="1668"/>
                                          </p:stCondLst>
                                        </p:cTn>
                                        <p:tgtEl>
                                          <p:spTgt spid="42"/>
                                        </p:tgtEl>
                                      </p:cBhvr>
                                      <p:to x="100000" y="100000"/>
                                    </p:animScale>
                                    <p:animScale>
                                      <p:cBhvr>
                                        <p:cTn id="38" dur="26">
                                          <p:stCondLst>
                                            <p:cond delay="1808"/>
                                          </p:stCondLst>
                                        </p:cTn>
                                        <p:tgtEl>
                                          <p:spTgt spid="42"/>
                                        </p:tgtEl>
                                      </p:cBhvr>
                                      <p:to x="100000" y="95000"/>
                                    </p:animScale>
                                    <p:animScale>
                                      <p:cBhvr>
                                        <p:cTn id="39" dur="166" decel="50000">
                                          <p:stCondLst>
                                            <p:cond delay="1834"/>
                                          </p:stCondLst>
                                        </p:cTn>
                                        <p:tgtEl>
                                          <p:spTgt spid="42"/>
                                        </p:tgtEl>
                                      </p:cBhvr>
                                      <p:to x="100000" y="100000"/>
                                    </p:animScale>
                                    <p:set>
                                      <p:cBhvr>
                                        <p:cTn id="40" dur="1" fill="hold">
                                          <p:stCondLst>
                                            <p:cond delay="1999"/>
                                          </p:stCondLst>
                                        </p:cTn>
                                        <p:tgtEl>
                                          <p:spTgt spid="42"/>
                                        </p:tgtEl>
                                        <p:attrNameLst>
                                          <p:attrName>style.visibility</p:attrName>
                                        </p:attrNameLst>
                                      </p:cBhvr>
                                      <p:to>
                                        <p:strVal val="hidden"/>
                                      </p:to>
                                    </p:set>
                                  </p:childTnLst>
                                </p:cTn>
                              </p:par>
                              <p:par>
                                <p:cTn id="41" presetID="26" presetClass="exit" presetSubtype="0" fill="hold" grpId="0" nodeType="withEffect">
                                  <p:stCondLst>
                                    <p:cond delay="0"/>
                                  </p:stCondLst>
                                  <p:childTnLst>
                                    <p:animEffect transition="out" filter="wipe(down)">
                                      <p:cBhvr>
                                        <p:cTn id="42" dur="180" accel="50000">
                                          <p:stCondLst>
                                            <p:cond delay="1820"/>
                                          </p:stCondLst>
                                        </p:cTn>
                                        <p:tgtEl>
                                          <p:spTgt spid="43"/>
                                        </p:tgtEl>
                                      </p:cBhvr>
                                    </p:animEffect>
                                    <p:anim calcmode="lin" valueType="num">
                                      <p:cBhvr>
                                        <p:cTn id="43" dur="1822" tmFilter="0,0; 0.14,0.31; 0.43,0.73; 0.71,0.91; 1.0,1.0">
                                          <p:stCondLst>
                                            <p:cond delay="0"/>
                                          </p:stCondLst>
                                        </p:cTn>
                                        <p:tgtEl>
                                          <p:spTgt spid="43"/>
                                        </p:tgtEl>
                                        <p:attrNameLst>
                                          <p:attrName>ppt_x</p:attrName>
                                        </p:attrNameLst>
                                      </p:cBhvr>
                                      <p:tavLst>
                                        <p:tav tm="0">
                                          <p:val>
                                            <p:strVal val="ppt_x"/>
                                          </p:val>
                                        </p:tav>
                                        <p:tav tm="100000">
                                          <p:val>
                                            <p:strVal val="#ppt_x+0.25"/>
                                          </p:val>
                                        </p:tav>
                                      </p:tavLst>
                                    </p:anim>
                                    <p:anim calcmode="lin" valueType="num">
                                      <p:cBhvr>
                                        <p:cTn id="44" dur="178">
                                          <p:stCondLst>
                                            <p:cond delay="1822"/>
                                          </p:stCondLst>
                                        </p:cTn>
                                        <p:tgtEl>
                                          <p:spTgt spid="43"/>
                                        </p:tgtEl>
                                        <p:attrNameLst>
                                          <p:attrName>ppt_x</p:attrName>
                                        </p:attrNameLst>
                                      </p:cBhvr>
                                      <p:tavLst>
                                        <p:tav tm="0">
                                          <p:val>
                                            <p:strVal val="ppt_x"/>
                                          </p:val>
                                        </p:tav>
                                        <p:tav tm="100000">
                                          <p:val>
                                            <p:strVal val="ppt_x"/>
                                          </p:val>
                                        </p:tav>
                                      </p:tavLst>
                                    </p:anim>
                                    <p:anim calcmode="lin" valueType="num">
                                      <p:cBhvr>
                                        <p:cTn id="45" dur="664" tmFilter="0.0,0.0;0.25,0.07;0.50,0.2;0.75,0.467;1.0,1.0">
                                          <p:stCondLst>
                                            <p:cond delay="0"/>
                                          </p:stCondLst>
                                        </p:cTn>
                                        <p:tgtEl>
                                          <p:spTgt spid="43"/>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46" dur="664" tmFilter="0, 0; 0.125,0.2665; 0.25,0.4; 0.375,0.465; 0.5,0.5;  0.625,0.535; 0.75,0.6; 0.875,0.7335; 1,1">
                                          <p:stCondLst>
                                            <p:cond delay="664"/>
                                          </p:stCondLst>
                                        </p:cTn>
                                        <p:tgtEl>
                                          <p:spTgt spid="43"/>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47" dur="332" tmFilter="0, 0; 0.125,0.2665; 0.25,0.4; 0.375,0.465; 0.5,0.5;  0.625,0.535; 0.75,0.6; 0.875,0.7335; 1,1">
                                          <p:stCondLst>
                                            <p:cond delay="1324"/>
                                          </p:stCondLst>
                                        </p:cTn>
                                        <p:tgtEl>
                                          <p:spTgt spid="43"/>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48" dur="164" tmFilter="0, 0; 0.125,0.2665; 0.25,0.4; 0.375,0.465; 0.5,0.5;  0.625,0.535; 0.75,0.6; 0.875,0.7335; 1,1">
                                          <p:stCondLst>
                                            <p:cond delay="1656"/>
                                          </p:stCondLst>
                                        </p:cTn>
                                        <p:tgtEl>
                                          <p:spTgt spid="43"/>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49" dur="180" accel="50000">
                                          <p:stCondLst>
                                            <p:cond delay="1820"/>
                                          </p:stCondLst>
                                        </p:cTn>
                                        <p:tgtEl>
                                          <p:spTgt spid="43"/>
                                        </p:tgtEl>
                                        <p:attrNameLst>
                                          <p:attrName>ppt_y</p:attrName>
                                        </p:attrNameLst>
                                      </p:cBhvr>
                                      <p:tavLst>
                                        <p:tav tm="0">
                                          <p:val>
                                            <p:strVal val="ppt_y"/>
                                          </p:val>
                                        </p:tav>
                                        <p:tav tm="100000">
                                          <p:val>
                                            <p:strVal val="ppt_y+ppt_h"/>
                                          </p:val>
                                        </p:tav>
                                      </p:tavLst>
                                    </p:anim>
                                    <p:animScale>
                                      <p:cBhvr>
                                        <p:cTn id="50" dur="26">
                                          <p:stCondLst>
                                            <p:cond delay="620"/>
                                          </p:stCondLst>
                                        </p:cTn>
                                        <p:tgtEl>
                                          <p:spTgt spid="43"/>
                                        </p:tgtEl>
                                      </p:cBhvr>
                                      <p:to x="100000" y="60000"/>
                                    </p:animScale>
                                    <p:animScale>
                                      <p:cBhvr>
                                        <p:cTn id="51" dur="166" decel="50000">
                                          <p:stCondLst>
                                            <p:cond delay="646"/>
                                          </p:stCondLst>
                                        </p:cTn>
                                        <p:tgtEl>
                                          <p:spTgt spid="43"/>
                                        </p:tgtEl>
                                      </p:cBhvr>
                                      <p:to x="100000" y="100000"/>
                                    </p:animScale>
                                    <p:animScale>
                                      <p:cBhvr>
                                        <p:cTn id="52" dur="26">
                                          <p:stCondLst>
                                            <p:cond delay="1312"/>
                                          </p:stCondLst>
                                        </p:cTn>
                                        <p:tgtEl>
                                          <p:spTgt spid="43"/>
                                        </p:tgtEl>
                                      </p:cBhvr>
                                      <p:to x="100000" y="80000"/>
                                    </p:animScale>
                                    <p:animScale>
                                      <p:cBhvr>
                                        <p:cTn id="53" dur="166" decel="50000">
                                          <p:stCondLst>
                                            <p:cond delay="1338"/>
                                          </p:stCondLst>
                                        </p:cTn>
                                        <p:tgtEl>
                                          <p:spTgt spid="43"/>
                                        </p:tgtEl>
                                      </p:cBhvr>
                                      <p:to x="100000" y="100000"/>
                                    </p:animScale>
                                    <p:animScale>
                                      <p:cBhvr>
                                        <p:cTn id="54" dur="26">
                                          <p:stCondLst>
                                            <p:cond delay="1642"/>
                                          </p:stCondLst>
                                        </p:cTn>
                                        <p:tgtEl>
                                          <p:spTgt spid="43"/>
                                        </p:tgtEl>
                                      </p:cBhvr>
                                      <p:to x="100000" y="90000"/>
                                    </p:animScale>
                                    <p:animScale>
                                      <p:cBhvr>
                                        <p:cTn id="55" dur="166" decel="50000">
                                          <p:stCondLst>
                                            <p:cond delay="1668"/>
                                          </p:stCondLst>
                                        </p:cTn>
                                        <p:tgtEl>
                                          <p:spTgt spid="43"/>
                                        </p:tgtEl>
                                      </p:cBhvr>
                                      <p:to x="100000" y="100000"/>
                                    </p:animScale>
                                    <p:animScale>
                                      <p:cBhvr>
                                        <p:cTn id="56" dur="26">
                                          <p:stCondLst>
                                            <p:cond delay="1808"/>
                                          </p:stCondLst>
                                        </p:cTn>
                                        <p:tgtEl>
                                          <p:spTgt spid="43"/>
                                        </p:tgtEl>
                                      </p:cBhvr>
                                      <p:to x="100000" y="95000"/>
                                    </p:animScale>
                                    <p:animScale>
                                      <p:cBhvr>
                                        <p:cTn id="57" dur="166" decel="50000">
                                          <p:stCondLst>
                                            <p:cond delay="1834"/>
                                          </p:stCondLst>
                                        </p:cTn>
                                        <p:tgtEl>
                                          <p:spTgt spid="43"/>
                                        </p:tgtEl>
                                      </p:cBhvr>
                                      <p:to x="100000" y="100000"/>
                                    </p:animScale>
                                    <p:set>
                                      <p:cBhvr>
                                        <p:cTn id="58" dur="1" fill="hold">
                                          <p:stCondLst>
                                            <p:cond delay="1999"/>
                                          </p:stCondLst>
                                        </p:cTn>
                                        <p:tgtEl>
                                          <p:spTgt spid="43"/>
                                        </p:tgtEl>
                                        <p:attrNameLst>
                                          <p:attrName>style.visibility</p:attrName>
                                        </p:attrNameLst>
                                      </p:cBhvr>
                                      <p:to>
                                        <p:strVal val="hidden"/>
                                      </p:to>
                                    </p:set>
                                  </p:childTnLst>
                                </p:cTn>
                              </p:par>
                              <p:par>
                                <p:cTn id="59" presetID="26" presetClass="exit" presetSubtype="0" fill="hold" grpId="0" nodeType="withEffect">
                                  <p:stCondLst>
                                    <p:cond delay="0"/>
                                  </p:stCondLst>
                                  <p:childTnLst>
                                    <p:animEffect transition="out" filter="wipe(down)">
                                      <p:cBhvr>
                                        <p:cTn id="60" dur="180" accel="50000">
                                          <p:stCondLst>
                                            <p:cond delay="1820"/>
                                          </p:stCondLst>
                                        </p:cTn>
                                        <p:tgtEl>
                                          <p:spTgt spid="45"/>
                                        </p:tgtEl>
                                      </p:cBhvr>
                                    </p:animEffect>
                                    <p:anim calcmode="lin" valueType="num">
                                      <p:cBhvr>
                                        <p:cTn id="61" dur="1822" tmFilter="0,0; 0.14,0.31; 0.43,0.73; 0.71,0.91; 1.0,1.0">
                                          <p:stCondLst>
                                            <p:cond delay="0"/>
                                          </p:stCondLst>
                                        </p:cTn>
                                        <p:tgtEl>
                                          <p:spTgt spid="45"/>
                                        </p:tgtEl>
                                        <p:attrNameLst>
                                          <p:attrName>ppt_x</p:attrName>
                                        </p:attrNameLst>
                                      </p:cBhvr>
                                      <p:tavLst>
                                        <p:tav tm="0">
                                          <p:val>
                                            <p:strVal val="ppt_x"/>
                                          </p:val>
                                        </p:tav>
                                        <p:tav tm="100000">
                                          <p:val>
                                            <p:strVal val="#ppt_x+0.25"/>
                                          </p:val>
                                        </p:tav>
                                      </p:tavLst>
                                    </p:anim>
                                    <p:anim calcmode="lin" valueType="num">
                                      <p:cBhvr>
                                        <p:cTn id="62" dur="178">
                                          <p:stCondLst>
                                            <p:cond delay="1822"/>
                                          </p:stCondLst>
                                        </p:cTn>
                                        <p:tgtEl>
                                          <p:spTgt spid="45"/>
                                        </p:tgtEl>
                                        <p:attrNameLst>
                                          <p:attrName>ppt_x</p:attrName>
                                        </p:attrNameLst>
                                      </p:cBhvr>
                                      <p:tavLst>
                                        <p:tav tm="0">
                                          <p:val>
                                            <p:strVal val="ppt_x"/>
                                          </p:val>
                                        </p:tav>
                                        <p:tav tm="100000">
                                          <p:val>
                                            <p:strVal val="ppt_x"/>
                                          </p:val>
                                        </p:tav>
                                      </p:tavLst>
                                    </p:anim>
                                    <p:anim calcmode="lin" valueType="num">
                                      <p:cBhvr>
                                        <p:cTn id="63" dur="664" tmFilter="0.0,0.0;0.25,0.07;0.50,0.2;0.75,0.467;1.0,1.0">
                                          <p:stCondLst>
                                            <p:cond delay="0"/>
                                          </p:stCondLst>
                                        </p:cTn>
                                        <p:tgtEl>
                                          <p:spTgt spid="45"/>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64" dur="664" tmFilter="0, 0; 0.125,0.2665; 0.25,0.4; 0.375,0.465; 0.5,0.5;  0.625,0.535; 0.75,0.6; 0.875,0.7335; 1,1">
                                          <p:stCondLst>
                                            <p:cond delay="664"/>
                                          </p:stCondLst>
                                        </p:cTn>
                                        <p:tgtEl>
                                          <p:spTgt spid="45"/>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65" dur="332" tmFilter="0, 0; 0.125,0.2665; 0.25,0.4; 0.375,0.465; 0.5,0.5;  0.625,0.535; 0.75,0.6; 0.875,0.7335; 1,1">
                                          <p:stCondLst>
                                            <p:cond delay="1324"/>
                                          </p:stCondLst>
                                        </p:cTn>
                                        <p:tgtEl>
                                          <p:spTgt spid="45"/>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66" dur="164" tmFilter="0, 0; 0.125,0.2665; 0.25,0.4; 0.375,0.465; 0.5,0.5;  0.625,0.535; 0.75,0.6; 0.875,0.7335; 1,1">
                                          <p:stCondLst>
                                            <p:cond delay="1656"/>
                                          </p:stCondLst>
                                        </p:cTn>
                                        <p:tgtEl>
                                          <p:spTgt spid="45"/>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67" dur="180" accel="50000">
                                          <p:stCondLst>
                                            <p:cond delay="1820"/>
                                          </p:stCondLst>
                                        </p:cTn>
                                        <p:tgtEl>
                                          <p:spTgt spid="45"/>
                                        </p:tgtEl>
                                        <p:attrNameLst>
                                          <p:attrName>ppt_y</p:attrName>
                                        </p:attrNameLst>
                                      </p:cBhvr>
                                      <p:tavLst>
                                        <p:tav tm="0">
                                          <p:val>
                                            <p:strVal val="ppt_y"/>
                                          </p:val>
                                        </p:tav>
                                        <p:tav tm="100000">
                                          <p:val>
                                            <p:strVal val="ppt_y+ppt_h"/>
                                          </p:val>
                                        </p:tav>
                                      </p:tavLst>
                                    </p:anim>
                                    <p:animScale>
                                      <p:cBhvr>
                                        <p:cTn id="68" dur="26">
                                          <p:stCondLst>
                                            <p:cond delay="620"/>
                                          </p:stCondLst>
                                        </p:cTn>
                                        <p:tgtEl>
                                          <p:spTgt spid="45"/>
                                        </p:tgtEl>
                                      </p:cBhvr>
                                      <p:to x="100000" y="60000"/>
                                    </p:animScale>
                                    <p:animScale>
                                      <p:cBhvr>
                                        <p:cTn id="69" dur="166" decel="50000">
                                          <p:stCondLst>
                                            <p:cond delay="646"/>
                                          </p:stCondLst>
                                        </p:cTn>
                                        <p:tgtEl>
                                          <p:spTgt spid="45"/>
                                        </p:tgtEl>
                                      </p:cBhvr>
                                      <p:to x="100000" y="100000"/>
                                    </p:animScale>
                                    <p:animScale>
                                      <p:cBhvr>
                                        <p:cTn id="70" dur="26">
                                          <p:stCondLst>
                                            <p:cond delay="1312"/>
                                          </p:stCondLst>
                                        </p:cTn>
                                        <p:tgtEl>
                                          <p:spTgt spid="45"/>
                                        </p:tgtEl>
                                      </p:cBhvr>
                                      <p:to x="100000" y="80000"/>
                                    </p:animScale>
                                    <p:animScale>
                                      <p:cBhvr>
                                        <p:cTn id="71" dur="166" decel="50000">
                                          <p:stCondLst>
                                            <p:cond delay="1338"/>
                                          </p:stCondLst>
                                        </p:cTn>
                                        <p:tgtEl>
                                          <p:spTgt spid="45"/>
                                        </p:tgtEl>
                                      </p:cBhvr>
                                      <p:to x="100000" y="100000"/>
                                    </p:animScale>
                                    <p:animScale>
                                      <p:cBhvr>
                                        <p:cTn id="72" dur="26">
                                          <p:stCondLst>
                                            <p:cond delay="1642"/>
                                          </p:stCondLst>
                                        </p:cTn>
                                        <p:tgtEl>
                                          <p:spTgt spid="45"/>
                                        </p:tgtEl>
                                      </p:cBhvr>
                                      <p:to x="100000" y="90000"/>
                                    </p:animScale>
                                    <p:animScale>
                                      <p:cBhvr>
                                        <p:cTn id="73" dur="166" decel="50000">
                                          <p:stCondLst>
                                            <p:cond delay="1668"/>
                                          </p:stCondLst>
                                        </p:cTn>
                                        <p:tgtEl>
                                          <p:spTgt spid="45"/>
                                        </p:tgtEl>
                                      </p:cBhvr>
                                      <p:to x="100000" y="100000"/>
                                    </p:animScale>
                                    <p:animScale>
                                      <p:cBhvr>
                                        <p:cTn id="74" dur="26">
                                          <p:stCondLst>
                                            <p:cond delay="1808"/>
                                          </p:stCondLst>
                                        </p:cTn>
                                        <p:tgtEl>
                                          <p:spTgt spid="45"/>
                                        </p:tgtEl>
                                      </p:cBhvr>
                                      <p:to x="100000" y="95000"/>
                                    </p:animScale>
                                    <p:animScale>
                                      <p:cBhvr>
                                        <p:cTn id="75" dur="166" decel="50000">
                                          <p:stCondLst>
                                            <p:cond delay="1834"/>
                                          </p:stCondLst>
                                        </p:cTn>
                                        <p:tgtEl>
                                          <p:spTgt spid="45"/>
                                        </p:tgtEl>
                                      </p:cBhvr>
                                      <p:to x="100000" y="100000"/>
                                    </p:animScale>
                                    <p:set>
                                      <p:cBhvr>
                                        <p:cTn id="76" dur="1" fill="hold">
                                          <p:stCondLst>
                                            <p:cond delay="1999"/>
                                          </p:stCondLst>
                                        </p:cTn>
                                        <p:tgtEl>
                                          <p:spTgt spid="45"/>
                                        </p:tgtEl>
                                        <p:attrNameLst>
                                          <p:attrName>style.visibility</p:attrName>
                                        </p:attrNameLst>
                                      </p:cBhvr>
                                      <p:to>
                                        <p:strVal val="hidden"/>
                                      </p:to>
                                    </p:set>
                                  </p:childTnLst>
                                </p:cTn>
                              </p:par>
                              <p:par>
                                <p:cTn id="77" presetID="26" presetClass="exit" presetSubtype="0" fill="hold" grpId="0" nodeType="withEffect">
                                  <p:stCondLst>
                                    <p:cond delay="0"/>
                                  </p:stCondLst>
                                  <p:childTnLst>
                                    <p:animEffect transition="out" filter="wipe(down)">
                                      <p:cBhvr>
                                        <p:cTn id="78" dur="180" accel="50000">
                                          <p:stCondLst>
                                            <p:cond delay="1820"/>
                                          </p:stCondLst>
                                        </p:cTn>
                                        <p:tgtEl>
                                          <p:spTgt spid="41"/>
                                        </p:tgtEl>
                                      </p:cBhvr>
                                    </p:animEffect>
                                    <p:anim calcmode="lin" valueType="num">
                                      <p:cBhvr>
                                        <p:cTn id="79" dur="1822" tmFilter="0,0; 0.14,0.31; 0.43,0.73; 0.71,0.91; 1.0,1.0">
                                          <p:stCondLst>
                                            <p:cond delay="0"/>
                                          </p:stCondLst>
                                        </p:cTn>
                                        <p:tgtEl>
                                          <p:spTgt spid="41"/>
                                        </p:tgtEl>
                                        <p:attrNameLst>
                                          <p:attrName>ppt_x</p:attrName>
                                        </p:attrNameLst>
                                      </p:cBhvr>
                                      <p:tavLst>
                                        <p:tav tm="0">
                                          <p:val>
                                            <p:strVal val="ppt_x"/>
                                          </p:val>
                                        </p:tav>
                                        <p:tav tm="100000">
                                          <p:val>
                                            <p:strVal val="#ppt_x+0.25"/>
                                          </p:val>
                                        </p:tav>
                                      </p:tavLst>
                                    </p:anim>
                                    <p:anim calcmode="lin" valueType="num">
                                      <p:cBhvr>
                                        <p:cTn id="80" dur="178">
                                          <p:stCondLst>
                                            <p:cond delay="1822"/>
                                          </p:stCondLst>
                                        </p:cTn>
                                        <p:tgtEl>
                                          <p:spTgt spid="41"/>
                                        </p:tgtEl>
                                        <p:attrNameLst>
                                          <p:attrName>ppt_x</p:attrName>
                                        </p:attrNameLst>
                                      </p:cBhvr>
                                      <p:tavLst>
                                        <p:tav tm="0">
                                          <p:val>
                                            <p:strVal val="ppt_x"/>
                                          </p:val>
                                        </p:tav>
                                        <p:tav tm="100000">
                                          <p:val>
                                            <p:strVal val="ppt_x"/>
                                          </p:val>
                                        </p:tav>
                                      </p:tavLst>
                                    </p:anim>
                                    <p:anim calcmode="lin" valueType="num">
                                      <p:cBhvr>
                                        <p:cTn id="81" dur="664" tmFilter="0.0,0.0;0.25,0.07;0.50,0.2;0.75,0.467;1.0,1.0">
                                          <p:stCondLst>
                                            <p:cond delay="0"/>
                                          </p:stCondLst>
                                        </p:cTn>
                                        <p:tgtEl>
                                          <p:spTgt spid="41"/>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82" dur="664" tmFilter="0, 0; 0.125,0.2665; 0.25,0.4; 0.375,0.465; 0.5,0.5;  0.625,0.535; 0.75,0.6; 0.875,0.7335; 1,1">
                                          <p:stCondLst>
                                            <p:cond delay="664"/>
                                          </p:stCondLst>
                                        </p:cTn>
                                        <p:tgtEl>
                                          <p:spTgt spid="41"/>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83" dur="332" tmFilter="0, 0; 0.125,0.2665; 0.25,0.4; 0.375,0.465; 0.5,0.5;  0.625,0.535; 0.75,0.6; 0.875,0.7335; 1,1">
                                          <p:stCondLst>
                                            <p:cond delay="1324"/>
                                          </p:stCondLst>
                                        </p:cTn>
                                        <p:tgtEl>
                                          <p:spTgt spid="41"/>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84" dur="164" tmFilter="0, 0; 0.125,0.2665; 0.25,0.4; 0.375,0.465; 0.5,0.5;  0.625,0.535; 0.75,0.6; 0.875,0.7335; 1,1">
                                          <p:stCondLst>
                                            <p:cond delay="1656"/>
                                          </p:stCondLst>
                                        </p:cTn>
                                        <p:tgtEl>
                                          <p:spTgt spid="41"/>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85" dur="180" accel="50000">
                                          <p:stCondLst>
                                            <p:cond delay="1820"/>
                                          </p:stCondLst>
                                        </p:cTn>
                                        <p:tgtEl>
                                          <p:spTgt spid="41"/>
                                        </p:tgtEl>
                                        <p:attrNameLst>
                                          <p:attrName>ppt_y</p:attrName>
                                        </p:attrNameLst>
                                      </p:cBhvr>
                                      <p:tavLst>
                                        <p:tav tm="0">
                                          <p:val>
                                            <p:strVal val="ppt_y"/>
                                          </p:val>
                                        </p:tav>
                                        <p:tav tm="100000">
                                          <p:val>
                                            <p:strVal val="ppt_y+ppt_h"/>
                                          </p:val>
                                        </p:tav>
                                      </p:tavLst>
                                    </p:anim>
                                    <p:animScale>
                                      <p:cBhvr>
                                        <p:cTn id="86" dur="26">
                                          <p:stCondLst>
                                            <p:cond delay="620"/>
                                          </p:stCondLst>
                                        </p:cTn>
                                        <p:tgtEl>
                                          <p:spTgt spid="41"/>
                                        </p:tgtEl>
                                      </p:cBhvr>
                                      <p:to x="100000" y="60000"/>
                                    </p:animScale>
                                    <p:animScale>
                                      <p:cBhvr>
                                        <p:cTn id="87" dur="166" decel="50000">
                                          <p:stCondLst>
                                            <p:cond delay="646"/>
                                          </p:stCondLst>
                                        </p:cTn>
                                        <p:tgtEl>
                                          <p:spTgt spid="41"/>
                                        </p:tgtEl>
                                      </p:cBhvr>
                                      <p:to x="100000" y="100000"/>
                                    </p:animScale>
                                    <p:animScale>
                                      <p:cBhvr>
                                        <p:cTn id="88" dur="26">
                                          <p:stCondLst>
                                            <p:cond delay="1312"/>
                                          </p:stCondLst>
                                        </p:cTn>
                                        <p:tgtEl>
                                          <p:spTgt spid="41"/>
                                        </p:tgtEl>
                                      </p:cBhvr>
                                      <p:to x="100000" y="80000"/>
                                    </p:animScale>
                                    <p:animScale>
                                      <p:cBhvr>
                                        <p:cTn id="89" dur="166" decel="50000">
                                          <p:stCondLst>
                                            <p:cond delay="1338"/>
                                          </p:stCondLst>
                                        </p:cTn>
                                        <p:tgtEl>
                                          <p:spTgt spid="41"/>
                                        </p:tgtEl>
                                      </p:cBhvr>
                                      <p:to x="100000" y="100000"/>
                                    </p:animScale>
                                    <p:animScale>
                                      <p:cBhvr>
                                        <p:cTn id="90" dur="26">
                                          <p:stCondLst>
                                            <p:cond delay="1642"/>
                                          </p:stCondLst>
                                        </p:cTn>
                                        <p:tgtEl>
                                          <p:spTgt spid="41"/>
                                        </p:tgtEl>
                                      </p:cBhvr>
                                      <p:to x="100000" y="90000"/>
                                    </p:animScale>
                                    <p:animScale>
                                      <p:cBhvr>
                                        <p:cTn id="91" dur="166" decel="50000">
                                          <p:stCondLst>
                                            <p:cond delay="1668"/>
                                          </p:stCondLst>
                                        </p:cTn>
                                        <p:tgtEl>
                                          <p:spTgt spid="41"/>
                                        </p:tgtEl>
                                      </p:cBhvr>
                                      <p:to x="100000" y="100000"/>
                                    </p:animScale>
                                    <p:animScale>
                                      <p:cBhvr>
                                        <p:cTn id="92" dur="26">
                                          <p:stCondLst>
                                            <p:cond delay="1808"/>
                                          </p:stCondLst>
                                        </p:cTn>
                                        <p:tgtEl>
                                          <p:spTgt spid="41"/>
                                        </p:tgtEl>
                                      </p:cBhvr>
                                      <p:to x="100000" y="95000"/>
                                    </p:animScale>
                                    <p:animScale>
                                      <p:cBhvr>
                                        <p:cTn id="93" dur="166" decel="50000">
                                          <p:stCondLst>
                                            <p:cond delay="1834"/>
                                          </p:stCondLst>
                                        </p:cTn>
                                        <p:tgtEl>
                                          <p:spTgt spid="41"/>
                                        </p:tgtEl>
                                      </p:cBhvr>
                                      <p:to x="100000" y="100000"/>
                                    </p:animScale>
                                    <p:set>
                                      <p:cBhvr>
                                        <p:cTn id="94" dur="1" fill="hold">
                                          <p:stCondLst>
                                            <p:cond delay="1999"/>
                                          </p:stCondLst>
                                        </p:cTn>
                                        <p:tgtEl>
                                          <p:spTgt spid="41"/>
                                        </p:tgtEl>
                                        <p:attrNameLst>
                                          <p:attrName>style.visibility</p:attrName>
                                        </p:attrNameLst>
                                      </p:cBhvr>
                                      <p:to>
                                        <p:strVal val="hidden"/>
                                      </p:to>
                                    </p:set>
                                  </p:childTnLst>
                                </p:cTn>
                              </p:par>
                            </p:childTnLst>
                          </p:cTn>
                        </p:par>
                      </p:childTnLst>
                    </p:cTn>
                  </p:par>
                  <p:par>
                    <p:cTn id="95" fill="hold">
                      <p:stCondLst>
                        <p:cond delay="indefinite"/>
                      </p:stCondLst>
                      <p:childTnLst>
                        <p:par>
                          <p:cTn id="96" fill="hold">
                            <p:stCondLst>
                              <p:cond delay="0"/>
                            </p:stCondLst>
                            <p:childTnLst>
                              <p:par>
                                <p:cTn id="97" presetID="26" presetClass="entr" presetSubtype="0" fill="hold" grpId="0" nodeType="clickEffect">
                                  <p:stCondLst>
                                    <p:cond delay="0"/>
                                  </p:stCondLst>
                                  <p:childTnLst>
                                    <p:set>
                                      <p:cBhvr>
                                        <p:cTn id="98" dur="1" fill="hold">
                                          <p:stCondLst>
                                            <p:cond delay="0"/>
                                          </p:stCondLst>
                                        </p:cTn>
                                        <p:tgtEl>
                                          <p:spTgt spid="46"/>
                                        </p:tgtEl>
                                        <p:attrNameLst>
                                          <p:attrName>style.visibility</p:attrName>
                                        </p:attrNameLst>
                                      </p:cBhvr>
                                      <p:to>
                                        <p:strVal val="visible"/>
                                      </p:to>
                                    </p:set>
                                    <p:animEffect transition="in" filter="wipe(down)">
                                      <p:cBhvr>
                                        <p:cTn id="99" dur="580">
                                          <p:stCondLst>
                                            <p:cond delay="0"/>
                                          </p:stCondLst>
                                        </p:cTn>
                                        <p:tgtEl>
                                          <p:spTgt spid="46"/>
                                        </p:tgtEl>
                                      </p:cBhvr>
                                    </p:animEffect>
                                    <p:anim calcmode="lin" valueType="num">
                                      <p:cBhvr>
                                        <p:cTn id="100" dur="1822" tmFilter="0,0; 0.14,0.36; 0.43,0.73; 0.71,0.91; 1.0,1.0">
                                          <p:stCondLst>
                                            <p:cond delay="0"/>
                                          </p:stCondLst>
                                        </p:cTn>
                                        <p:tgtEl>
                                          <p:spTgt spid="46"/>
                                        </p:tgtEl>
                                        <p:attrNameLst>
                                          <p:attrName>ppt_x</p:attrName>
                                        </p:attrNameLst>
                                      </p:cBhvr>
                                      <p:tavLst>
                                        <p:tav tm="0">
                                          <p:val>
                                            <p:strVal val="#ppt_x-0.25"/>
                                          </p:val>
                                        </p:tav>
                                        <p:tav tm="100000">
                                          <p:val>
                                            <p:strVal val="#ppt_x"/>
                                          </p:val>
                                        </p:tav>
                                      </p:tavLst>
                                    </p:anim>
                                    <p:anim calcmode="lin" valueType="num">
                                      <p:cBhvr>
                                        <p:cTn id="101" dur="664" tmFilter="0.0,0.0; 0.25,0.07; 0.50,0.2; 0.75,0.467; 1.0,1.0">
                                          <p:stCondLst>
                                            <p:cond delay="0"/>
                                          </p:stCondLst>
                                        </p:cTn>
                                        <p:tgtEl>
                                          <p:spTgt spid="46"/>
                                        </p:tgtEl>
                                        <p:attrNameLst>
                                          <p:attrName>ppt_y</p:attrName>
                                        </p:attrNameLst>
                                      </p:cBhvr>
                                      <p:tavLst>
                                        <p:tav tm="0" fmla="#ppt_y-sin(pi*$)/3">
                                          <p:val>
                                            <p:fltVal val="0.5"/>
                                          </p:val>
                                        </p:tav>
                                        <p:tav tm="100000">
                                          <p:val>
                                            <p:fltVal val="1"/>
                                          </p:val>
                                        </p:tav>
                                      </p:tavLst>
                                    </p:anim>
                                    <p:anim calcmode="lin" valueType="num">
                                      <p:cBhvr>
                                        <p:cTn id="102" dur="664" tmFilter="0, 0; 0.125,0.2665; 0.25,0.4; 0.375,0.465; 0.5,0.5;  0.625,0.535; 0.75,0.6; 0.875,0.7335; 1,1">
                                          <p:stCondLst>
                                            <p:cond delay="664"/>
                                          </p:stCondLst>
                                        </p:cTn>
                                        <p:tgtEl>
                                          <p:spTgt spid="46"/>
                                        </p:tgtEl>
                                        <p:attrNameLst>
                                          <p:attrName>ppt_y</p:attrName>
                                        </p:attrNameLst>
                                      </p:cBhvr>
                                      <p:tavLst>
                                        <p:tav tm="0" fmla="#ppt_y-sin(pi*$)/9">
                                          <p:val>
                                            <p:fltVal val="0"/>
                                          </p:val>
                                        </p:tav>
                                        <p:tav tm="100000">
                                          <p:val>
                                            <p:fltVal val="1"/>
                                          </p:val>
                                        </p:tav>
                                      </p:tavLst>
                                    </p:anim>
                                    <p:anim calcmode="lin" valueType="num">
                                      <p:cBhvr>
                                        <p:cTn id="103" dur="332" tmFilter="0, 0; 0.125,0.2665; 0.25,0.4; 0.375,0.465; 0.5,0.5;  0.625,0.535; 0.75,0.6; 0.875,0.7335; 1,1">
                                          <p:stCondLst>
                                            <p:cond delay="1324"/>
                                          </p:stCondLst>
                                        </p:cTn>
                                        <p:tgtEl>
                                          <p:spTgt spid="46"/>
                                        </p:tgtEl>
                                        <p:attrNameLst>
                                          <p:attrName>ppt_y</p:attrName>
                                        </p:attrNameLst>
                                      </p:cBhvr>
                                      <p:tavLst>
                                        <p:tav tm="0" fmla="#ppt_y-sin(pi*$)/27">
                                          <p:val>
                                            <p:fltVal val="0"/>
                                          </p:val>
                                        </p:tav>
                                        <p:tav tm="100000">
                                          <p:val>
                                            <p:fltVal val="1"/>
                                          </p:val>
                                        </p:tav>
                                      </p:tavLst>
                                    </p:anim>
                                    <p:anim calcmode="lin" valueType="num">
                                      <p:cBhvr>
                                        <p:cTn id="104" dur="164" tmFilter="0, 0; 0.125,0.2665; 0.25,0.4; 0.375,0.465; 0.5,0.5;  0.625,0.535; 0.75,0.6; 0.875,0.7335; 1,1">
                                          <p:stCondLst>
                                            <p:cond delay="1656"/>
                                          </p:stCondLst>
                                        </p:cTn>
                                        <p:tgtEl>
                                          <p:spTgt spid="46"/>
                                        </p:tgtEl>
                                        <p:attrNameLst>
                                          <p:attrName>ppt_y</p:attrName>
                                        </p:attrNameLst>
                                      </p:cBhvr>
                                      <p:tavLst>
                                        <p:tav tm="0" fmla="#ppt_y-sin(pi*$)/81">
                                          <p:val>
                                            <p:fltVal val="0"/>
                                          </p:val>
                                        </p:tav>
                                        <p:tav tm="100000">
                                          <p:val>
                                            <p:fltVal val="1"/>
                                          </p:val>
                                        </p:tav>
                                      </p:tavLst>
                                    </p:anim>
                                    <p:animScale>
                                      <p:cBhvr>
                                        <p:cTn id="105" dur="26">
                                          <p:stCondLst>
                                            <p:cond delay="650"/>
                                          </p:stCondLst>
                                        </p:cTn>
                                        <p:tgtEl>
                                          <p:spTgt spid="46"/>
                                        </p:tgtEl>
                                      </p:cBhvr>
                                      <p:to x="100000" y="60000"/>
                                    </p:animScale>
                                    <p:animScale>
                                      <p:cBhvr>
                                        <p:cTn id="106" dur="166" decel="50000">
                                          <p:stCondLst>
                                            <p:cond delay="676"/>
                                          </p:stCondLst>
                                        </p:cTn>
                                        <p:tgtEl>
                                          <p:spTgt spid="46"/>
                                        </p:tgtEl>
                                      </p:cBhvr>
                                      <p:to x="100000" y="100000"/>
                                    </p:animScale>
                                    <p:animScale>
                                      <p:cBhvr>
                                        <p:cTn id="107" dur="26">
                                          <p:stCondLst>
                                            <p:cond delay="1312"/>
                                          </p:stCondLst>
                                        </p:cTn>
                                        <p:tgtEl>
                                          <p:spTgt spid="46"/>
                                        </p:tgtEl>
                                      </p:cBhvr>
                                      <p:to x="100000" y="80000"/>
                                    </p:animScale>
                                    <p:animScale>
                                      <p:cBhvr>
                                        <p:cTn id="108" dur="166" decel="50000">
                                          <p:stCondLst>
                                            <p:cond delay="1338"/>
                                          </p:stCondLst>
                                        </p:cTn>
                                        <p:tgtEl>
                                          <p:spTgt spid="46"/>
                                        </p:tgtEl>
                                      </p:cBhvr>
                                      <p:to x="100000" y="100000"/>
                                    </p:animScale>
                                    <p:animScale>
                                      <p:cBhvr>
                                        <p:cTn id="109" dur="26">
                                          <p:stCondLst>
                                            <p:cond delay="1642"/>
                                          </p:stCondLst>
                                        </p:cTn>
                                        <p:tgtEl>
                                          <p:spTgt spid="46"/>
                                        </p:tgtEl>
                                      </p:cBhvr>
                                      <p:to x="100000" y="90000"/>
                                    </p:animScale>
                                    <p:animScale>
                                      <p:cBhvr>
                                        <p:cTn id="110" dur="166" decel="50000">
                                          <p:stCondLst>
                                            <p:cond delay="1668"/>
                                          </p:stCondLst>
                                        </p:cTn>
                                        <p:tgtEl>
                                          <p:spTgt spid="46"/>
                                        </p:tgtEl>
                                      </p:cBhvr>
                                      <p:to x="100000" y="100000"/>
                                    </p:animScale>
                                    <p:animScale>
                                      <p:cBhvr>
                                        <p:cTn id="111" dur="26">
                                          <p:stCondLst>
                                            <p:cond delay="1808"/>
                                          </p:stCondLst>
                                        </p:cTn>
                                        <p:tgtEl>
                                          <p:spTgt spid="46"/>
                                        </p:tgtEl>
                                      </p:cBhvr>
                                      <p:to x="100000" y="95000"/>
                                    </p:animScale>
                                    <p:animScale>
                                      <p:cBhvr>
                                        <p:cTn id="112" dur="166" decel="50000">
                                          <p:stCondLst>
                                            <p:cond delay="1834"/>
                                          </p:stCondLst>
                                        </p:cTn>
                                        <p:tgtEl>
                                          <p:spTgt spid="46"/>
                                        </p:tgtEl>
                                      </p:cBhvr>
                                      <p:to x="100000" y="100000"/>
                                    </p:animScale>
                                  </p:childTnLst>
                                </p:cTn>
                              </p:par>
                              <p:par>
                                <p:cTn id="113" presetID="26" presetClass="entr" presetSubtype="0" fill="hold" grpId="0" nodeType="withEffect">
                                  <p:stCondLst>
                                    <p:cond delay="0"/>
                                  </p:stCondLst>
                                  <p:childTnLst>
                                    <p:set>
                                      <p:cBhvr>
                                        <p:cTn id="114" dur="1" fill="hold">
                                          <p:stCondLst>
                                            <p:cond delay="0"/>
                                          </p:stCondLst>
                                        </p:cTn>
                                        <p:tgtEl>
                                          <p:spTgt spid="51"/>
                                        </p:tgtEl>
                                        <p:attrNameLst>
                                          <p:attrName>style.visibility</p:attrName>
                                        </p:attrNameLst>
                                      </p:cBhvr>
                                      <p:to>
                                        <p:strVal val="visible"/>
                                      </p:to>
                                    </p:set>
                                    <p:animEffect transition="in" filter="wipe(down)">
                                      <p:cBhvr>
                                        <p:cTn id="115" dur="580">
                                          <p:stCondLst>
                                            <p:cond delay="0"/>
                                          </p:stCondLst>
                                        </p:cTn>
                                        <p:tgtEl>
                                          <p:spTgt spid="51"/>
                                        </p:tgtEl>
                                      </p:cBhvr>
                                    </p:animEffect>
                                    <p:anim calcmode="lin" valueType="num">
                                      <p:cBhvr>
                                        <p:cTn id="116" dur="1822" tmFilter="0,0; 0.14,0.36; 0.43,0.73; 0.71,0.91; 1.0,1.0">
                                          <p:stCondLst>
                                            <p:cond delay="0"/>
                                          </p:stCondLst>
                                        </p:cTn>
                                        <p:tgtEl>
                                          <p:spTgt spid="51"/>
                                        </p:tgtEl>
                                        <p:attrNameLst>
                                          <p:attrName>ppt_x</p:attrName>
                                        </p:attrNameLst>
                                      </p:cBhvr>
                                      <p:tavLst>
                                        <p:tav tm="0">
                                          <p:val>
                                            <p:strVal val="#ppt_x-0.25"/>
                                          </p:val>
                                        </p:tav>
                                        <p:tav tm="100000">
                                          <p:val>
                                            <p:strVal val="#ppt_x"/>
                                          </p:val>
                                        </p:tav>
                                      </p:tavLst>
                                    </p:anim>
                                    <p:anim calcmode="lin" valueType="num">
                                      <p:cBhvr>
                                        <p:cTn id="117" dur="664" tmFilter="0.0,0.0; 0.25,0.07; 0.50,0.2; 0.75,0.467; 1.0,1.0">
                                          <p:stCondLst>
                                            <p:cond delay="0"/>
                                          </p:stCondLst>
                                        </p:cTn>
                                        <p:tgtEl>
                                          <p:spTgt spid="51"/>
                                        </p:tgtEl>
                                        <p:attrNameLst>
                                          <p:attrName>ppt_y</p:attrName>
                                        </p:attrNameLst>
                                      </p:cBhvr>
                                      <p:tavLst>
                                        <p:tav tm="0" fmla="#ppt_y-sin(pi*$)/3">
                                          <p:val>
                                            <p:fltVal val="0.5"/>
                                          </p:val>
                                        </p:tav>
                                        <p:tav tm="100000">
                                          <p:val>
                                            <p:fltVal val="1"/>
                                          </p:val>
                                        </p:tav>
                                      </p:tavLst>
                                    </p:anim>
                                    <p:anim calcmode="lin" valueType="num">
                                      <p:cBhvr>
                                        <p:cTn id="118" dur="664" tmFilter="0, 0; 0.125,0.2665; 0.25,0.4; 0.375,0.465; 0.5,0.5;  0.625,0.535; 0.75,0.6; 0.875,0.7335; 1,1">
                                          <p:stCondLst>
                                            <p:cond delay="664"/>
                                          </p:stCondLst>
                                        </p:cTn>
                                        <p:tgtEl>
                                          <p:spTgt spid="51"/>
                                        </p:tgtEl>
                                        <p:attrNameLst>
                                          <p:attrName>ppt_y</p:attrName>
                                        </p:attrNameLst>
                                      </p:cBhvr>
                                      <p:tavLst>
                                        <p:tav tm="0" fmla="#ppt_y-sin(pi*$)/9">
                                          <p:val>
                                            <p:fltVal val="0"/>
                                          </p:val>
                                        </p:tav>
                                        <p:tav tm="100000">
                                          <p:val>
                                            <p:fltVal val="1"/>
                                          </p:val>
                                        </p:tav>
                                      </p:tavLst>
                                    </p:anim>
                                    <p:anim calcmode="lin" valueType="num">
                                      <p:cBhvr>
                                        <p:cTn id="119" dur="332" tmFilter="0, 0; 0.125,0.2665; 0.25,0.4; 0.375,0.465; 0.5,0.5;  0.625,0.535; 0.75,0.6; 0.875,0.7335; 1,1">
                                          <p:stCondLst>
                                            <p:cond delay="1324"/>
                                          </p:stCondLst>
                                        </p:cTn>
                                        <p:tgtEl>
                                          <p:spTgt spid="51"/>
                                        </p:tgtEl>
                                        <p:attrNameLst>
                                          <p:attrName>ppt_y</p:attrName>
                                        </p:attrNameLst>
                                      </p:cBhvr>
                                      <p:tavLst>
                                        <p:tav tm="0" fmla="#ppt_y-sin(pi*$)/27">
                                          <p:val>
                                            <p:fltVal val="0"/>
                                          </p:val>
                                        </p:tav>
                                        <p:tav tm="100000">
                                          <p:val>
                                            <p:fltVal val="1"/>
                                          </p:val>
                                        </p:tav>
                                      </p:tavLst>
                                    </p:anim>
                                    <p:anim calcmode="lin" valueType="num">
                                      <p:cBhvr>
                                        <p:cTn id="120" dur="164" tmFilter="0, 0; 0.125,0.2665; 0.25,0.4; 0.375,0.465; 0.5,0.5;  0.625,0.535; 0.75,0.6; 0.875,0.7335; 1,1">
                                          <p:stCondLst>
                                            <p:cond delay="1656"/>
                                          </p:stCondLst>
                                        </p:cTn>
                                        <p:tgtEl>
                                          <p:spTgt spid="51"/>
                                        </p:tgtEl>
                                        <p:attrNameLst>
                                          <p:attrName>ppt_y</p:attrName>
                                        </p:attrNameLst>
                                      </p:cBhvr>
                                      <p:tavLst>
                                        <p:tav tm="0" fmla="#ppt_y-sin(pi*$)/81">
                                          <p:val>
                                            <p:fltVal val="0"/>
                                          </p:val>
                                        </p:tav>
                                        <p:tav tm="100000">
                                          <p:val>
                                            <p:fltVal val="1"/>
                                          </p:val>
                                        </p:tav>
                                      </p:tavLst>
                                    </p:anim>
                                    <p:animScale>
                                      <p:cBhvr>
                                        <p:cTn id="121" dur="26">
                                          <p:stCondLst>
                                            <p:cond delay="650"/>
                                          </p:stCondLst>
                                        </p:cTn>
                                        <p:tgtEl>
                                          <p:spTgt spid="51"/>
                                        </p:tgtEl>
                                      </p:cBhvr>
                                      <p:to x="100000" y="60000"/>
                                    </p:animScale>
                                    <p:animScale>
                                      <p:cBhvr>
                                        <p:cTn id="122" dur="166" decel="50000">
                                          <p:stCondLst>
                                            <p:cond delay="676"/>
                                          </p:stCondLst>
                                        </p:cTn>
                                        <p:tgtEl>
                                          <p:spTgt spid="51"/>
                                        </p:tgtEl>
                                      </p:cBhvr>
                                      <p:to x="100000" y="100000"/>
                                    </p:animScale>
                                    <p:animScale>
                                      <p:cBhvr>
                                        <p:cTn id="123" dur="26">
                                          <p:stCondLst>
                                            <p:cond delay="1312"/>
                                          </p:stCondLst>
                                        </p:cTn>
                                        <p:tgtEl>
                                          <p:spTgt spid="51"/>
                                        </p:tgtEl>
                                      </p:cBhvr>
                                      <p:to x="100000" y="80000"/>
                                    </p:animScale>
                                    <p:animScale>
                                      <p:cBhvr>
                                        <p:cTn id="124" dur="166" decel="50000">
                                          <p:stCondLst>
                                            <p:cond delay="1338"/>
                                          </p:stCondLst>
                                        </p:cTn>
                                        <p:tgtEl>
                                          <p:spTgt spid="51"/>
                                        </p:tgtEl>
                                      </p:cBhvr>
                                      <p:to x="100000" y="100000"/>
                                    </p:animScale>
                                    <p:animScale>
                                      <p:cBhvr>
                                        <p:cTn id="125" dur="26">
                                          <p:stCondLst>
                                            <p:cond delay="1642"/>
                                          </p:stCondLst>
                                        </p:cTn>
                                        <p:tgtEl>
                                          <p:spTgt spid="51"/>
                                        </p:tgtEl>
                                      </p:cBhvr>
                                      <p:to x="100000" y="90000"/>
                                    </p:animScale>
                                    <p:animScale>
                                      <p:cBhvr>
                                        <p:cTn id="126" dur="166" decel="50000">
                                          <p:stCondLst>
                                            <p:cond delay="1668"/>
                                          </p:stCondLst>
                                        </p:cTn>
                                        <p:tgtEl>
                                          <p:spTgt spid="51"/>
                                        </p:tgtEl>
                                      </p:cBhvr>
                                      <p:to x="100000" y="100000"/>
                                    </p:animScale>
                                    <p:animScale>
                                      <p:cBhvr>
                                        <p:cTn id="127" dur="26">
                                          <p:stCondLst>
                                            <p:cond delay="1808"/>
                                          </p:stCondLst>
                                        </p:cTn>
                                        <p:tgtEl>
                                          <p:spTgt spid="51"/>
                                        </p:tgtEl>
                                      </p:cBhvr>
                                      <p:to x="100000" y="95000"/>
                                    </p:animScale>
                                    <p:animScale>
                                      <p:cBhvr>
                                        <p:cTn id="128" dur="166" decel="50000">
                                          <p:stCondLst>
                                            <p:cond delay="1834"/>
                                          </p:stCondLst>
                                        </p:cTn>
                                        <p:tgtEl>
                                          <p:spTgt spid="51"/>
                                        </p:tgtEl>
                                      </p:cBhvr>
                                      <p:to x="100000" y="100000"/>
                                    </p:animScale>
                                  </p:childTnLst>
                                </p:cTn>
                              </p:par>
                              <p:par>
                                <p:cTn id="129" presetID="26" presetClass="entr" presetSubtype="0" fill="hold" grpId="0" nodeType="withEffect">
                                  <p:stCondLst>
                                    <p:cond delay="0"/>
                                  </p:stCondLst>
                                  <p:childTnLst>
                                    <p:set>
                                      <p:cBhvr>
                                        <p:cTn id="130" dur="1" fill="hold">
                                          <p:stCondLst>
                                            <p:cond delay="0"/>
                                          </p:stCondLst>
                                        </p:cTn>
                                        <p:tgtEl>
                                          <p:spTgt spid="52"/>
                                        </p:tgtEl>
                                        <p:attrNameLst>
                                          <p:attrName>style.visibility</p:attrName>
                                        </p:attrNameLst>
                                      </p:cBhvr>
                                      <p:to>
                                        <p:strVal val="visible"/>
                                      </p:to>
                                    </p:set>
                                    <p:animEffect transition="in" filter="wipe(down)">
                                      <p:cBhvr>
                                        <p:cTn id="131" dur="580">
                                          <p:stCondLst>
                                            <p:cond delay="0"/>
                                          </p:stCondLst>
                                        </p:cTn>
                                        <p:tgtEl>
                                          <p:spTgt spid="52"/>
                                        </p:tgtEl>
                                      </p:cBhvr>
                                    </p:animEffect>
                                    <p:anim calcmode="lin" valueType="num">
                                      <p:cBhvr>
                                        <p:cTn id="132" dur="1822" tmFilter="0,0; 0.14,0.36; 0.43,0.73; 0.71,0.91; 1.0,1.0">
                                          <p:stCondLst>
                                            <p:cond delay="0"/>
                                          </p:stCondLst>
                                        </p:cTn>
                                        <p:tgtEl>
                                          <p:spTgt spid="52"/>
                                        </p:tgtEl>
                                        <p:attrNameLst>
                                          <p:attrName>ppt_x</p:attrName>
                                        </p:attrNameLst>
                                      </p:cBhvr>
                                      <p:tavLst>
                                        <p:tav tm="0">
                                          <p:val>
                                            <p:strVal val="#ppt_x-0.25"/>
                                          </p:val>
                                        </p:tav>
                                        <p:tav tm="100000">
                                          <p:val>
                                            <p:strVal val="#ppt_x"/>
                                          </p:val>
                                        </p:tav>
                                      </p:tavLst>
                                    </p:anim>
                                    <p:anim calcmode="lin" valueType="num">
                                      <p:cBhvr>
                                        <p:cTn id="133" dur="664" tmFilter="0.0,0.0; 0.25,0.07; 0.50,0.2; 0.75,0.467; 1.0,1.0">
                                          <p:stCondLst>
                                            <p:cond delay="0"/>
                                          </p:stCondLst>
                                        </p:cTn>
                                        <p:tgtEl>
                                          <p:spTgt spid="52"/>
                                        </p:tgtEl>
                                        <p:attrNameLst>
                                          <p:attrName>ppt_y</p:attrName>
                                        </p:attrNameLst>
                                      </p:cBhvr>
                                      <p:tavLst>
                                        <p:tav tm="0" fmla="#ppt_y-sin(pi*$)/3">
                                          <p:val>
                                            <p:fltVal val="0.5"/>
                                          </p:val>
                                        </p:tav>
                                        <p:tav tm="100000">
                                          <p:val>
                                            <p:fltVal val="1"/>
                                          </p:val>
                                        </p:tav>
                                      </p:tavLst>
                                    </p:anim>
                                    <p:anim calcmode="lin" valueType="num">
                                      <p:cBhvr>
                                        <p:cTn id="134" dur="664" tmFilter="0, 0; 0.125,0.2665; 0.25,0.4; 0.375,0.465; 0.5,0.5;  0.625,0.535; 0.75,0.6; 0.875,0.7335; 1,1">
                                          <p:stCondLst>
                                            <p:cond delay="664"/>
                                          </p:stCondLst>
                                        </p:cTn>
                                        <p:tgtEl>
                                          <p:spTgt spid="52"/>
                                        </p:tgtEl>
                                        <p:attrNameLst>
                                          <p:attrName>ppt_y</p:attrName>
                                        </p:attrNameLst>
                                      </p:cBhvr>
                                      <p:tavLst>
                                        <p:tav tm="0" fmla="#ppt_y-sin(pi*$)/9">
                                          <p:val>
                                            <p:fltVal val="0"/>
                                          </p:val>
                                        </p:tav>
                                        <p:tav tm="100000">
                                          <p:val>
                                            <p:fltVal val="1"/>
                                          </p:val>
                                        </p:tav>
                                      </p:tavLst>
                                    </p:anim>
                                    <p:anim calcmode="lin" valueType="num">
                                      <p:cBhvr>
                                        <p:cTn id="135" dur="332" tmFilter="0, 0; 0.125,0.2665; 0.25,0.4; 0.375,0.465; 0.5,0.5;  0.625,0.535; 0.75,0.6; 0.875,0.7335; 1,1">
                                          <p:stCondLst>
                                            <p:cond delay="1324"/>
                                          </p:stCondLst>
                                        </p:cTn>
                                        <p:tgtEl>
                                          <p:spTgt spid="52"/>
                                        </p:tgtEl>
                                        <p:attrNameLst>
                                          <p:attrName>ppt_y</p:attrName>
                                        </p:attrNameLst>
                                      </p:cBhvr>
                                      <p:tavLst>
                                        <p:tav tm="0" fmla="#ppt_y-sin(pi*$)/27">
                                          <p:val>
                                            <p:fltVal val="0"/>
                                          </p:val>
                                        </p:tav>
                                        <p:tav tm="100000">
                                          <p:val>
                                            <p:fltVal val="1"/>
                                          </p:val>
                                        </p:tav>
                                      </p:tavLst>
                                    </p:anim>
                                    <p:anim calcmode="lin" valueType="num">
                                      <p:cBhvr>
                                        <p:cTn id="136" dur="164" tmFilter="0, 0; 0.125,0.2665; 0.25,0.4; 0.375,0.465; 0.5,0.5;  0.625,0.535; 0.75,0.6; 0.875,0.7335; 1,1">
                                          <p:stCondLst>
                                            <p:cond delay="1656"/>
                                          </p:stCondLst>
                                        </p:cTn>
                                        <p:tgtEl>
                                          <p:spTgt spid="52"/>
                                        </p:tgtEl>
                                        <p:attrNameLst>
                                          <p:attrName>ppt_y</p:attrName>
                                        </p:attrNameLst>
                                      </p:cBhvr>
                                      <p:tavLst>
                                        <p:tav tm="0" fmla="#ppt_y-sin(pi*$)/81">
                                          <p:val>
                                            <p:fltVal val="0"/>
                                          </p:val>
                                        </p:tav>
                                        <p:tav tm="100000">
                                          <p:val>
                                            <p:fltVal val="1"/>
                                          </p:val>
                                        </p:tav>
                                      </p:tavLst>
                                    </p:anim>
                                    <p:animScale>
                                      <p:cBhvr>
                                        <p:cTn id="137" dur="26">
                                          <p:stCondLst>
                                            <p:cond delay="650"/>
                                          </p:stCondLst>
                                        </p:cTn>
                                        <p:tgtEl>
                                          <p:spTgt spid="52"/>
                                        </p:tgtEl>
                                      </p:cBhvr>
                                      <p:to x="100000" y="60000"/>
                                    </p:animScale>
                                    <p:animScale>
                                      <p:cBhvr>
                                        <p:cTn id="138" dur="166" decel="50000">
                                          <p:stCondLst>
                                            <p:cond delay="676"/>
                                          </p:stCondLst>
                                        </p:cTn>
                                        <p:tgtEl>
                                          <p:spTgt spid="52"/>
                                        </p:tgtEl>
                                      </p:cBhvr>
                                      <p:to x="100000" y="100000"/>
                                    </p:animScale>
                                    <p:animScale>
                                      <p:cBhvr>
                                        <p:cTn id="139" dur="26">
                                          <p:stCondLst>
                                            <p:cond delay="1312"/>
                                          </p:stCondLst>
                                        </p:cTn>
                                        <p:tgtEl>
                                          <p:spTgt spid="52"/>
                                        </p:tgtEl>
                                      </p:cBhvr>
                                      <p:to x="100000" y="80000"/>
                                    </p:animScale>
                                    <p:animScale>
                                      <p:cBhvr>
                                        <p:cTn id="140" dur="166" decel="50000">
                                          <p:stCondLst>
                                            <p:cond delay="1338"/>
                                          </p:stCondLst>
                                        </p:cTn>
                                        <p:tgtEl>
                                          <p:spTgt spid="52"/>
                                        </p:tgtEl>
                                      </p:cBhvr>
                                      <p:to x="100000" y="100000"/>
                                    </p:animScale>
                                    <p:animScale>
                                      <p:cBhvr>
                                        <p:cTn id="141" dur="26">
                                          <p:stCondLst>
                                            <p:cond delay="1642"/>
                                          </p:stCondLst>
                                        </p:cTn>
                                        <p:tgtEl>
                                          <p:spTgt spid="52"/>
                                        </p:tgtEl>
                                      </p:cBhvr>
                                      <p:to x="100000" y="90000"/>
                                    </p:animScale>
                                    <p:animScale>
                                      <p:cBhvr>
                                        <p:cTn id="142" dur="166" decel="50000">
                                          <p:stCondLst>
                                            <p:cond delay="1668"/>
                                          </p:stCondLst>
                                        </p:cTn>
                                        <p:tgtEl>
                                          <p:spTgt spid="52"/>
                                        </p:tgtEl>
                                      </p:cBhvr>
                                      <p:to x="100000" y="100000"/>
                                    </p:animScale>
                                    <p:animScale>
                                      <p:cBhvr>
                                        <p:cTn id="143" dur="26">
                                          <p:stCondLst>
                                            <p:cond delay="1808"/>
                                          </p:stCondLst>
                                        </p:cTn>
                                        <p:tgtEl>
                                          <p:spTgt spid="52"/>
                                        </p:tgtEl>
                                      </p:cBhvr>
                                      <p:to x="100000" y="95000"/>
                                    </p:animScale>
                                    <p:animScale>
                                      <p:cBhvr>
                                        <p:cTn id="144" dur="166" decel="50000">
                                          <p:stCondLst>
                                            <p:cond delay="1834"/>
                                          </p:stCondLst>
                                        </p:cTn>
                                        <p:tgtEl>
                                          <p:spTgt spid="52"/>
                                        </p:tgtEl>
                                      </p:cBhvr>
                                      <p:to x="100000" y="100000"/>
                                    </p:animScale>
                                  </p:childTnLst>
                                </p:cTn>
                              </p:par>
                              <p:par>
                                <p:cTn id="145" presetID="26" presetClass="entr" presetSubtype="0" fill="hold" grpId="0" nodeType="withEffect">
                                  <p:stCondLst>
                                    <p:cond delay="0"/>
                                  </p:stCondLst>
                                  <p:childTnLst>
                                    <p:set>
                                      <p:cBhvr>
                                        <p:cTn id="146" dur="1" fill="hold">
                                          <p:stCondLst>
                                            <p:cond delay="0"/>
                                          </p:stCondLst>
                                        </p:cTn>
                                        <p:tgtEl>
                                          <p:spTgt spid="96"/>
                                        </p:tgtEl>
                                        <p:attrNameLst>
                                          <p:attrName>style.visibility</p:attrName>
                                        </p:attrNameLst>
                                      </p:cBhvr>
                                      <p:to>
                                        <p:strVal val="visible"/>
                                      </p:to>
                                    </p:set>
                                    <p:animEffect transition="in" filter="wipe(down)">
                                      <p:cBhvr>
                                        <p:cTn id="147" dur="580">
                                          <p:stCondLst>
                                            <p:cond delay="0"/>
                                          </p:stCondLst>
                                        </p:cTn>
                                        <p:tgtEl>
                                          <p:spTgt spid="96"/>
                                        </p:tgtEl>
                                      </p:cBhvr>
                                    </p:animEffect>
                                    <p:anim calcmode="lin" valueType="num">
                                      <p:cBhvr>
                                        <p:cTn id="148" dur="1822" tmFilter="0,0; 0.14,0.36; 0.43,0.73; 0.71,0.91; 1.0,1.0">
                                          <p:stCondLst>
                                            <p:cond delay="0"/>
                                          </p:stCondLst>
                                        </p:cTn>
                                        <p:tgtEl>
                                          <p:spTgt spid="96"/>
                                        </p:tgtEl>
                                        <p:attrNameLst>
                                          <p:attrName>ppt_x</p:attrName>
                                        </p:attrNameLst>
                                      </p:cBhvr>
                                      <p:tavLst>
                                        <p:tav tm="0">
                                          <p:val>
                                            <p:strVal val="#ppt_x-0.25"/>
                                          </p:val>
                                        </p:tav>
                                        <p:tav tm="100000">
                                          <p:val>
                                            <p:strVal val="#ppt_x"/>
                                          </p:val>
                                        </p:tav>
                                      </p:tavLst>
                                    </p:anim>
                                    <p:anim calcmode="lin" valueType="num">
                                      <p:cBhvr>
                                        <p:cTn id="149" dur="664" tmFilter="0.0,0.0; 0.25,0.07; 0.50,0.2; 0.75,0.467; 1.0,1.0">
                                          <p:stCondLst>
                                            <p:cond delay="0"/>
                                          </p:stCondLst>
                                        </p:cTn>
                                        <p:tgtEl>
                                          <p:spTgt spid="96"/>
                                        </p:tgtEl>
                                        <p:attrNameLst>
                                          <p:attrName>ppt_y</p:attrName>
                                        </p:attrNameLst>
                                      </p:cBhvr>
                                      <p:tavLst>
                                        <p:tav tm="0" fmla="#ppt_y-sin(pi*$)/3">
                                          <p:val>
                                            <p:fltVal val="0.5"/>
                                          </p:val>
                                        </p:tav>
                                        <p:tav tm="100000">
                                          <p:val>
                                            <p:fltVal val="1"/>
                                          </p:val>
                                        </p:tav>
                                      </p:tavLst>
                                    </p:anim>
                                    <p:anim calcmode="lin" valueType="num">
                                      <p:cBhvr>
                                        <p:cTn id="150" dur="664" tmFilter="0, 0; 0.125,0.2665; 0.25,0.4; 0.375,0.465; 0.5,0.5;  0.625,0.535; 0.75,0.6; 0.875,0.7335; 1,1">
                                          <p:stCondLst>
                                            <p:cond delay="664"/>
                                          </p:stCondLst>
                                        </p:cTn>
                                        <p:tgtEl>
                                          <p:spTgt spid="96"/>
                                        </p:tgtEl>
                                        <p:attrNameLst>
                                          <p:attrName>ppt_y</p:attrName>
                                        </p:attrNameLst>
                                      </p:cBhvr>
                                      <p:tavLst>
                                        <p:tav tm="0" fmla="#ppt_y-sin(pi*$)/9">
                                          <p:val>
                                            <p:fltVal val="0"/>
                                          </p:val>
                                        </p:tav>
                                        <p:tav tm="100000">
                                          <p:val>
                                            <p:fltVal val="1"/>
                                          </p:val>
                                        </p:tav>
                                      </p:tavLst>
                                    </p:anim>
                                    <p:anim calcmode="lin" valueType="num">
                                      <p:cBhvr>
                                        <p:cTn id="151" dur="332" tmFilter="0, 0; 0.125,0.2665; 0.25,0.4; 0.375,0.465; 0.5,0.5;  0.625,0.535; 0.75,0.6; 0.875,0.7335; 1,1">
                                          <p:stCondLst>
                                            <p:cond delay="1324"/>
                                          </p:stCondLst>
                                        </p:cTn>
                                        <p:tgtEl>
                                          <p:spTgt spid="96"/>
                                        </p:tgtEl>
                                        <p:attrNameLst>
                                          <p:attrName>ppt_y</p:attrName>
                                        </p:attrNameLst>
                                      </p:cBhvr>
                                      <p:tavLst>
                                        <p:tav tm="0" fmla="#ppt_y-sin(pi*$)/27">
                                          <p:val>
                                            <p:fltVal val="0"/>
                                          </p:val>
                                        </p:tav>
                                        <p:tav tm="100000">
                                          <p:val>
                                            <p:fltVal val="1"/>
                                          </p:val>
                                        </p:tav>
                                      </p:tavLst>
                                    </p:anim>
                                    <p:anim calcmode="lin" valueType="num">
                                      <p:cBhvr>
                                        <p:cTn id="152" dur="164" tmFilter="0, 0; 0.125,0.2665; 0.25,0.4; 0.375,0.465; 0.5,0.5;  0.625,0.535; 0.75,0.6; 0.875,0.7335; 1,1">
                                          <p:stCondLst>
                                            <p:cond delay="1656"/>
                                          </p:stCondLst>
                                        </p:cTn>
                                        <p:tgtEl>
                                          <p:spTgt spid="96"/>
                                        </p:tgtEl>
                                        <p:attrNameLst>
                                          <p:attrName>ppt_y</p:attrName>
                                        </p:attrNameLst>
                                      </p:cBhvr>
                                      <p:tavLst>
                                        <p:tav tm="0" fmla="#ppt_y-sin(pi*$)/81">
                                          <p:val>
                                            <p:fltVal val="0"/>
                                          </p:val>
                                        </p:tav>
                                        <p:tav tm="100000">
                                          <p:val>
                                            <p:fltVal val="1"/>
                                          </p:val>
                                        </p:tav>
                                      </p:tavLst>
                                    </p:anim>
                                    <p:animScale>
                                      <p:cBhvr>
                                        <p:cTn id="153" dur="26">
                                          <p:stCondLst>
                                            <p:cond delay="650"/>
                                          </p:stCondLst>
                                        </p:cTn>
                                        <p:tgtEl>
                                          <p:spTgt spid="96"/>
                                        </p:tgtEl>
                                      </p:cBhvr>
                                      <p:to x="100000" y="60000"/>
                                    </p:animScale>
                                    <p:animScale>
                                      <p:cBhvr>
                                        <p:cTn id="154" dur="166" decel="50000">
                                          <p:stCondLst>
                                            <p:cond delay="676"/>
                                          </p:stCondLst>
                                        </p:cTn>
                                        <p:tgtEl>
                                          <p:spTgt spid="96"/>
                                        </p:tgtEl>
                                      </p:cBhvr>
                                      <p:to x="100000" y="100000"/>
                                    </p:animScale>
                                    <p:animScale>
                                      <p:cBhvr>
                                        <p:cTn id="155" dur="26">
                                          <p:stCondLst>
                                            <p:cond delay="1312"/>
                                          </p:stCondLst>
                                        </p:cTn>
                                        <p:tgtEl>
                                          <p:spTgt spid="96"/>
                                        </p:tgtEl>
                                      </p:cBhvr>
                                      <p:to x="100000" y="80000"/>
                                    </p:animScale>
                                    <p:animScale>
                                      <p:cBhvr>
                                        <p:cTn id="156" dur="166" decel="50000">
                                          <p:stCondLst>
                                            <p:cond delay="1338"/>
                                          </p:stCondLst>
                                        </p:cTn>
                                        <p:tgtEl>
                                          <p:spTgt spid="96"/>
                                        </p:tgtEl>
                                      </p:cBhvr>
                                      <p:to x="100000" y="100000"/>
                                    </p:animScale>
                                    <p:animScale>
                                      <p:cBhvr>
                                        <p:cTn id="157" dur="26">
                                          <p:stCondLst>
                                            <p:cond delay="1642"/>
                                          </p:stCondLst>
                                        </p:cTn>
                                        <p:tgtEl>
                                          <p:spTgt spid="96"/>
                                        </p:tgtEl>
                                      </p:cBhvr>
                                      <p:to x="100000" y="90000"/>
                                    </p:animScale>
                                    <p:animScale>
                                      <p:cBhvr>
                                        <p:cTn id="158" dur="166" decel="50000">
                                          <p:stCondLst>
                                            <p:cond delay="1668"/>
                                          </p:stCondLst>
                                        </p:cTn>
                                        <p:tgtEl>
                                          <p:spTgt spid="96"/>
                                        </p:tgtEl>
                                      </p:cBhvr>
                                      <p:to x="100000" y="100000"/>
                                    </p:animScale>
                                    <p:animScale>
                                      <p:cBhvr>
                                        <p:cTn id="159" dur="26">
                                          <p:stCondLst>
                                            <p:cond delay="1808"/>
                                          </p:stCondLst>
                                        </p:cTn>
                                        <p:tgtEl>
                                          <p:spTgt spid="96"/>
                                        </p:tgtEl>
                                      </p:cBhvr>
                                      <p:to x="100000" y="95000"/>
                                    </p:animScale>
                                    <p:animScale>
                                      <p:cBhvr>
                                        <p:cTn id="160" dur="166" decel="50000">
                                          <p:stCondLst>
                                            <p:cond delay="1834"/>
                                          </p:stCondLst>
                                        </p:cTn>
                                        <p:tgtEl>
                                          <p:spTgt spid="96"/>
                                        </p:tgtEl>
                                      </p:cBhvr>
                                      <p:to x="100000" y="100000"/>
                                    </p:animScale>
                                  </p:childTnLst>
                                </p:cTn>
                              </p:par>
                              <p:par>
                                <p:cTn id="161" presetID="26" presetClass="entr" presetSubtype="0" fill="hold" nodeType="withEffect">
                                  <p:stCondLst>
                                    <p:cond delay="0"/>
                                  </p:stCondLst>
                                  <p:childTnLst>
                                    <p:set>
                                      <p:cBhvr>
                                        <p:cTn id="162" dur="1" fill="hold">
                                          <p:stCondLst>
                                            <p:cond delay="0"/>
                                          </p:stCondLst>
                                        </p:cTn>
                                        <p:tgtEl>
                                          <p:spTgt spid="95"/>
                                        </p:tgtEl>
                                        <p:attrNameLst>
                                          <p:attrName>style.visibility</p:attrName>
                                        </p:attrNameLst>
                                      </p:cBhvr>
                                      <p:to>
                                        <p:strVal val="visible"/>
                                      </p:to>
                                    </p:set>
                                    <p:animEffect transition="in" filter="wipe(down)">
                                      <p:cBhvr>
                                        <p:cTn id="163" dur="580">
                                          <p:stCondLst>
                                            <p:cond delay="0"/>
                                          </p:stCondLst>
                                        </p:cTn>
                                        <p:tgtEl>
                                          <p:spTgt spid="95"/>
                                        </p:tgtEl>
                                      </p:cBhvr>
                                    </p:animEffect>
                                    <p:anim calcmode="lin" valueType="num">
                                      <p:cBhvr>
                                        <p:cTn id="164" dur="1822" tmFilter="0,0; 0.14,0.36; 0.43,0.73; 0.71,0.91; 1.0,1.0">
                                          <p:stCondLst>
                                            <p:cond delay="0"/>
                                          </p:stCondLst>
                                        </p:cTn>
                                        <p:tgtEl>
                                          <p:spTgt spid="95"/>
                                        </p:tgtEl>
                                        <p:attrNameLst>
                                          <p:attrName>ppt_x</p:attrName>
                                        </p:attrNameLst>
                                      </p:cBhvr>
                                      <p:tavLst>
                                        <p:tav tm="0">
                                          <p:val>
                                            <p:strVal val="#ppt_x-0.25"/>
                                          </p:val>
                                        </p:tav>
                                        <p:tav tm="100000">
                                          <p:val>
                                            <p:strVal val="#ppt_x"/>
                                          </p:val>
                                        </p:tav>
                                      </p:tavLst>
                                    </p:anim>
                                    <p:anim calcmode="lin" valueType="num">
                                      <p:cBhvr>
                                        <p:cTn id="165" dur="664" tmFilter="0.0,0.0; 0.25,0.07; 0.50,0.2; 0.75,0.467; 1.0,1.0">
                                          <p:stCondLst>
                                            <p:cond delay="0"/>
                                          </p:stCondLst>
                                        </p:cTn>
                                        <p:tgtEl>
                                          <p:spTgt spid="95"/>
                                        </p:tgtEl>
                                        <p:attrNameLst>
                                          <p:attrName>ppt_y</p:attrName>
                                        </p:attrNameLst>
                                      </p:cBhvr>
                                      <p:tavLst>
                                        <p:tav tm="0" fmla="#ppt_y-sin(pi*$)/3">
                                          <p:val>
                                            <p:fltVal val="0.5"/>
                                          </p:val>
                                        </p:tav>
                                        <p:tav tm="100000">
                                          <p:val>
                                            <p:fltVal val="1"/>
                                          </p:val>
                                        </p:tav>
                                      </p:tavLst>
                                    </p:anim>
                                    <p:anim calcmode="lin" valueType="num">
                                      <p:cBhvr>
                                        <p:cTn id="166" dur="664" tmFilter="0, 0; 0.125,0.2665; 0.25,0.4; 0.375,0.465; 0.5,0.5;  0.625,0.535; 0.75,0.6; 0.875,0.7335; 1,1">
                                          <p:stCondLst>
                                            <p:cond delay="664"/>
                                          </p:stCondLst>
                                        </p:cTn>
                                        <p:tgtEl>
                                          <p:spTgt spid="95"/>
                                        </p:tgtEl>
                                        <p:attrNameLst>
                                          <p:attrName>ppt_y</p:attrName>
                                        </p:attrNameLst>
                                      </p:cBhvr>
                                      <p:tavLst>
                                        <p:tav tm="0" fmla="#ppt_y-sin(pi*$)/9">
                                          <p:val>
                                            <p:fltVal val="0"/>
                                          </p:val>
                                        </p:tav>
                                        <p:tav tm="100000">
                                          <p:val>
                                            <p:fltVal val="1"/>
                                          </p:val>
                                        </p:tav>
                                      </p:tavLst>
                                    </p:anim>
                                    <p:anim calcmode="lin" valueType="num">
                                      <p:cBhvr>
                                        <p:cTn id="167" dur="332" tmFilter="0, 0; 0.125,0.2665; 0.25,0.4; 0.375,0.465; 0.5,0.5;  0.625,0.535; 0.75,0.6; 0.875,0.7335; 1,1">
                                          <p:stCondLst>
                                            <p:cond delay="1324"/>
                                          </p:stCondLst>
                                        </p:cTn>
                                        <p:tgtEl>
                                          <p:spTgt spid="95"/>
                                        </p:tgtEl>
                                        <p:attrNameLst>
                                          <p:attrName>ppt_y</p:attrName>
                                        </p:attrNameLst>
                                      </p:cBhvr>
                                      <p:tavLst>
                                        <p:tav tm="0" fmla="#ppt_y-sin(pi*$)/27">
                                          <p:val>
                                            <p:fltVal val="0"/>
                                          </p:val>
                                        </p:tav>
                                        <p:tav tm="100000">
                                          <p:val>
                                            <p:fltVal val="1"/>
                                          </p:val>
                                        </p:tav>
                                      </p:tavLst>
                                    </p:anim>
                                    <p:anim calcmode="lin" valueType="num">
                                      <p:cBhvr>
                                        <p:cTn id="168" dur="164" tmFilter="0, 0; 0.125,0.2665; 0.25,0.4; 0.375,0.465; 0.5,0.5;  0.625,0.535; 0.75,0.6; 0.875,0.7335; 1,1">
                                          <p:stCondLst>
                                            <p:cond delay="1656"/>
                                          </p:stCondLst>
                                        </p:cTn>
                                        <p:tgtEl>
                                          <p:spTgt spid="95"/>
                                        </p:tgtEl>
                                        <p:attrNameLst>
                                          <p:attrName>ppt_y</p:attrName>
                                        </p:attrNameLst>
                                      </p:cBhvr>
                                      <p:tavLst>
                                        <p:tav tm="0" fmla="#ppt_y-sin(pi*$)/81">
                                          <p:val>
                                            <p:fltVal val="0"/>
                                          </p:val>
                                        </p:tav>
                                        <p:tav tm="100000">
                                          <p:val>
                                            <p:fltVal val="1"/>
                                          </p:val>
                                        </p:tav>
                                      </p:tavLst>
                                    </p:anim>
                                    <p:animScale>
                                      <p:cBhvr>
                                        <p:cTn id="169" dur="26">
                                          <p:stCondLst>
                                            <p:cond delay="650"/>
                                          </p:stCondLst>
                                        </p:cTn>
                                        <p:tgtEl>
                                          <p:spTgt spid="95"/>
                                        </p:tgtEl>
                                      </p:cBhvr>
                                      <p:to x="100000" y="60000"/>
                                    </p:animScale>
                                    <p:animScale>
                                      <p:cBhvr>
                                        <p:cTn id="170" dur="166" decel="50000">
                                          <p:stCondLst>
                                            <p:cond delay="676"/>
                                          </p:stCondLst>
                                        </p:cTn>
                                        <p:tgtEl>
                                          <p:spTgt spid="95"/>
                                        </p:tgtEl>
                                      </p:cBhvr>
                                      <p:to x="100000" y="100000"/>
                                    </p:animScale>
                                    <p:animScale>
                                      <p:cBhvr>
                                        <p:cTn id="171" dur="26">
                                          <p:stCondLst>
                                            <p:cond delay="1312"/>
                                          </p:stCondLst>
                                        </p:cTn>
                                        <p:tgtEl>
                                          <p:spTgt spid="95"/>
                                        </p:tgtEl>
                                      </p:cBhvr>
                                      <p:to x="100000" y="80000"/>
                                    </p:animScale>
                                    <p:animScale>
                                      <p:cBhvr>
                                        <p:cTn id="172" dur="166" decel="50000">
                                          <p:stCondLst>
                                            <p:cond delay="1338"/>
                                          </p:stCondLst>
                                        </p:cTn>
                                        <p:tgtEl>
                                          <p:spTgt spid="95"/>
                                        </p:tgtEl>
                                      </p:cBhvr>
                                      <p:to x="100000" y="100000"/>
                                    </p:animScale>
                                    <p:animScale>
                                      <p:cBhvr>
                                        <p:cTn id="173" dur="26">
                                          <p:stCondLst>
                                            <p:cond delay="1642"/>
                                          </p:stCondLst>
                                        </p:cTn>
                                        <p:tgtEl>
                                          <p:spTgt spid="95"/>
                                        </p:tgtEl>
                                      </p:cBhvr>
                                      <p:to x="100000" y="90000"/>
                                    </p:animScale>
                                    <p:animScale>
                                      <p:cBhvr>
                                        <p:cTn id="174" dur="166" decel="50000">
                                          <p:stCondLst>
                                            <p:cond delay="1668"/>
                                          </p:stCondLst>
                                        </p:cTn>
                                        <p:tgtEl>
                                          <p:spTgt spid="95"/>
                                        </p:tgtEl>
                                      </p:cBhvr>
                                      <p:to x="100000" y="100000"/>
                                    </p:animScale>
                                    <p:animScale>
                                      <p:cBhvr>
                                        <p:cTn id="175" dur="26">
                                          <p:stCondLst>
                                            <p:cond delay="1808"/>
                                          </p:stCondLst>
                                        </p:cTn>
                                        <p:tgtEl>
                                          <p:spTgt spid="95"/>
                                        </p:tgtEl>
                                      </p:cBhvr>
                                      <p:to x="100000" y="95000"/>
                                    </p:animScale>
                                    <p:animScale>
                                      <p:cBhvr>
                                        <p:cTn id="176" dur="166" decel="50000">
                                          <p:stCondLst>
                                            <p:cond delay="1834"/>
                                          </p:stCondLst>
                                        </p:cTn>
                                        <p:tgtEl>
                                          <p:spTgt spid="95"/>
                                        </p:tgtEl>
                                      </p:cBhvr>
                                      <p:to x="100000" y="100000"/>
                                    </p:animScale>
                                  </p:childTnLst>
                                </p:cTn>
                              </p:par>
                              <p:par>
                                <p:cTn id="177" presetID="26" presetClass="entr" presetSubtype="0" fill="hold" grpId="0" nodeType="withEffect">
                                  <p:stCondLst>
                                    <p:cond delay="0"/>
                                  </p:stCondLst>
                                  <p:childTnLst>
                                    <p:set>
                                      <p:cBhvr>
                                        <p:cTn id="178" dur="1" fill="hold">
                                          <p:stCondLst>
                                            <p:cond delay="0"/>
                                          </p:stCondLst>
                                        </p:cTn>
                                        <p:tgtEl>
                                          <p:spTgt spid="55"/>
                                        </p:tgtEl>
                                        <p:attrNameLst>
                                          <p:attrName>style.visibility</p:attrName>
                                        </p:attrNameLst>
                                      </p:cBhvr>
                                      <p:to>
                                        <p:strVal val="visible"/>
                                      </p:to>
                                    </p:set>
                                    <p:animEffect transition="in" filter="wipe(down)">
                                      <p:cBhvr>
                                        <p:cTn id="179" dur="580">
                                          <p:stCondLst>
                                            <p:cond delay="0"/>
                                          </p:stCondLst>
                                        </p:cTn>
                                        <p:tgtEl>
                                          <p:spTgt spid="55"/>
                                        </p:tgtEl>
                                      </p:cBhvr>
                                    </p:animEffect>
                                    <p:anim calcmode="lin" valueType="num">
                                      <p:cBhvr>
                                        <p:cTn id="180" dur="1822" tmFilter="0,0; 0.14,0.36; 0.43,0.73; 0.71,0.91; 1.0,1.0">
                                          <p:stCondLst>
                                            <p:cond delay="0"/>
                                          </p:stCondLst>
                                        </p:cTn>
                                        <p:tgtEl>
                                          <p:spTgt spid="55"/>
                                        </p:tgtEl>
                                        <p:attrNameLst>
                                          <p:attrName>ppt_x</p:attrName>
                                        </p:attrNameLst>
                                      </p:cBhvr>
                                      <p:tavLst>
                                        <p:tav tm="0">
                                          <p:val>
                                            <p:strVal val="#ppt_x-0.25"/>
                                          </p:val>
                                        </p:tav>
                                        <p:tav tm="100000">
                                          <p:val>
                                            <p:strVal val="#ppt_x"/>
                                          </p:val>
                                        </p:tav>
                                      </p:tavLst>
                                    </p:anim>
                                    <p:anim calcmode="lin" valueType="num">
                                      <p:cBhvr>
                                        <p:cTn id="181" dur="664" tmFilter="0.0,0.0; 0.25,0.07; 0.50,0.2; 0.75,0.467; 1.0,1.0">
                                          <p:stCondLst>
                                            <p:cond delay="0"/>
                                          </p:stCondLst>
                                        </p:cTn>
                                        <p:tgtEl>
                                          <p:spTgt spid="55"/>
                                        </p:tgtEl>
                                        <p:attrNameLst>
                                          <p:attrName>ppt_y</p:attrName>
                                        </p:attrNameLst>
                                      </p:cBhvr>
                                      <p:tavLst>
                                        <p:tav tm="0" fmla="#ppt_y-sin(pi*$)/3">
                                          <p:val>
                                            <p:fltVal val="0.5"/>
                                          </p:val>
                                        </p:tav>
                                        <p:tav tm="100000">
                                          <p:val>
                                            <p:fltVal val="1"/>
                                          </p:val>
                                        </p:tav>
                                      </p:tavLst>
                                    </p:anim>
                                    <p:anim calcmode="lin" valueType="num">
                                      <p:cBhvr>
                                        <p:cTn id="182" dur="664" tmFilter="0, 0; 0.125,0.2665; 0.25,0.4; 0.375,0.465; 0.5,0.5;  0.625,0.535; 0.75,0.6; 0.875,0.7335; 1,1">
                                          <p:stCondLst>
                                            <p:cond delay="664"/>
                                          </p:stCondLst>
                                        </p:cTn>
                                        <p:tgtEl>
                                          <p:spTgt spid="55"/>
                                        </p:tgtEl>
                                        <p:attrNameLst>
                                          <p:attrName>ppt_y</p:attrName>
                                        </p:attrNameLst>
                                      </p:cBhvr>
                                      <p:tavLst>
                                        <p:tav tm="0" fmla="#ppt_y-sin(pi*$)/9">
                                          <p:val>
                                            <p:fltVal val="0"/>
                                          </p:val>
                                        </p:tav>
                                        <p:tav tm="100000">
                                          <p:val>
                                            <p:fltVal val="1"/>
                                          </p:val>
                                        </p:tav>
                                      </p:tavLst>
                                    </p:anim>
                                    <p:anim calcmode="lin" valueType="num">
                                      <p:cBhvr>
                                        <p:cTn id="183" dur="332" tmFilter="0, 0; 0.125,0.2665; 0.25,0.4; 0.375,0.465; 0.5,0.5;  0.625,0.535; 0.75,0.6; 0.875,0.7335; 1,1">
                                          <p:stCondLst>
                                            <p:cond delay="1324"/>
                                          </p:stCondLst>
                                        </p:cTn>
                                        <p:tgtEl>
                                          <p:spTgt spid="55"/>
                                        </p:tgtEl>
                                        <p:attrNameLst>
                                          <p:attrName>ppt_y</p:attrName>
                                        </p:attrNameLst>
                                      </p:cBhvr>
                                      <p:tavLst>
                                        <p:tav tm="0" fmla="#ppt_y-sin(pi*$)/27">
                                          <p:val>
                                            <p:fltVal val="0"/>
                                          </p:val>
                                        </p:tav>
                                        <p:tav tm="100000">
                                          <p:val>
                                            <p:fltVal val="1"/>
                                          </p:val>
                                        </p:tav>
                                      </p:tavLst>
                                    </p:anim>
                                    <p:anim calcmode="lin" valueType="num">
                                      <p:cBhvr>
                                        <p:cTn id="184" dur="164" tmFilter="0, 0; 0.125,0.2665; 0.25,0.4; 0.375,0.465; 0.5,0.5;  0.625,0.535; 0.75,0.6; 0.875,0.7335; 1,1">
                                          <p:stCondLst>
                                            <p:cond delay="1656"/>
                                          </p:stCondLst>
                                        </p:cTn>
                                        <p:tgtEl>
                                          <p:spTgt spid="55"/>
                                        </p:tgtEl>
                                        <p:attrNameLst>
                                          <p:attrName>ppt_y</p:attrName>
                                        </p:attrNameLst>
                                      </p:cBhvr>
                                      <p:tavLst>
                                        <p:tav tm="0" fmla="#ppt_y-sin(pi*$)/81">
                                          <p:val>
                                            <p:fltVal val="0"/>
                                          </p:val>
                                        </p:tav>
                                        <p:tav tm="100000">
                                          <p:val>
                                            <p:fltVal val="1"/>
                                          </p:val>
                                        </p:tav>
                                      </p:tavLst>
                                    </p:anim>
                                    <p:animScale>
                                      <p:cBhvr>
                                        <p:cTn id="185" dur="26">
                                          <p:stCondLst>
                                            <p:cond delay="650"/>
                                          </p:stCondLst>
                                        </p:cTn>
                                        <p:tgtEl>
                                          <p:spTgt spid="55"/>
                                        </p:tgtEl>
                                      </p:cBhvr>
                                      <p:to x="100000" y="60000"/>
                                    </p:animScale>
                                    <p:animScale>
                                      <p:cBhvr>
                                        <p:cTn id="186" dur="166" decel="50000">
                                          <p:stCondLst>
                                            <p:cond delay="676"/>
                                          </p:stCondLst>
                                        </p:cTn>
                                        <p:tgtEl>
                                          <p:spTgt spid="55"/>
                                        </p:tgtEl>
                                      </p:cBhvr>
                                      <p:to x="100000" y="100000"/>
                                    </p:animScale>
                                    <p:animScale>
                                      <p:cBhvr>
                                        <p:cTn id="187" dur="26">
                                          <p:stCondLst>
                                            <p:cond delay="1312"/>
                                          </p:stCondLst>
                                        </p:cTn>
                                        <p:tgtEl>
                                          <p:spTgt spid="55"/>
                                        </p:tgtEl>
                                      </p:cBhvr>
                                      <p:to x="100000" y="80000"/>
                                    </p:animScale>
                                    <p:animScale>
                                      <p:cBhvr>
                                        <p:cTn id="188" dur="166" decel="50000">
                                          <p:stCondLst>
                                            <p:cond delay="1338"/>
                                          </p:stCondLst>
                                        </p:cTn>
                                        <p:tgtEl>
                                          <p:spTgt spid="55"/>
                                        </p:tgtEl>
                                      </p:cBhvr>
                                      <p:to x="100000" y="100000"/>
                                    </p:animScale>
                                    <p:animScale>
                                      <p:cBhvr>
                                        <p:cTn id="189" dur="26">
                                          <p:stCondLst>
                                            <p:cond delay="1642"/>
                                          </p:stCondLst>
                                        </p:cTn>
                                        <p:tgtEl>
                                          <p:spTgt spid="55"/>
                                        </p:tgtEl>
                                      </p:cBhvr>
                                      <p:to x="100000" y="90000"/>
                                    </p:animScale>
                                    <p:animScale>
                                      <p:cBhvr>
                                        <p:cTn id="190" dur="166" decel="50000">
                                          <p:stCondLst>
                                            <p:cond delay="1668"/>
                                          </p:stCondLst>
                                        </p:cTn>
                                        <p:tgtEl>
                                          <p:spTgt spid="55"/>
                                        </p:tgtEl>
                                      </p:cBhvr>
                                      <p:to x="100000" y="100000"/>
                                    </p:animScale>
                                    <p:animScale>
                                      <p:cBhvr>
                                        <p:cTn id="191" dur="26">
                                          <p:stCondLst>
                                            <p:cond delay="1808"/>
                                          </p:stCondLst>
                                        </p:cTn>
                                        <p:tgtEl>
                                          <p:spTgt spid="55"/>
                                        </p:tgtEl>
                                      </p:cBhvr>
                                      <p:to x="100000" y="95000"/>
                                    </p:animScale>
                                    <p:animScale>
                                      <p:cBhvr>
                                        <p:cTn id="192" dur="166" decel="50000">
                                          <p:stCondLst>
                                            <p:cond delay="1834"/>
                                          </p:stCondLst>
                                        </p:cTn>
                                        <p:tgtEl>
                                          <p:spTgt spid="55"/>
                                        </p:tgtEl>
                                      </p:cBhvr>
                                      <p:to x="100000" y="100000"/>
                                    </p:animScale>
                                  </p:childTnLst>
                                </p:cTn>
                              </p:par>
                              <p:par>
                                <p:cTn id="193" presetID="26" presetClass="entr" presetSubtype="0" fill="hold" nodeType="withEffect">
                                  <p:stCondLst>
                                    <p:cond delay="0"/>
                                  </p:stCondLst>
                                  <p:childTnLst>
                                    <p:set>
                                      <p:cBhvr>
                                        <p:cTn id="194" dur="1" fill="hold">
                                          <p:stCondLst>
                                            <p:cond delay="0"/>
                                          </p:stCondLst>
                                        </p:cTn>
                                        <p:tgtEl>
                                          <p:spTgt spid="54"/>
                                        </p:tgtEl>
                                        <p:attrNameLst>
                                          <p:attrName>style.visibility</p:attrName>
                                        </p:attrNameLst>
                                      </p:cBhvr>
                                      <p:to>
                                        <p:strVal val="visible"/>
                                      </p:to>
                                    </p:set>
                                    <p:animEffect transition="in" filter="wipe(down)">
                                      <p:cBhvr>
                                        <p:cTn id="195" dur="580">
                                          <p:stCondLst>
                                            <p:cond delay="0"/>
                                          </p:stCondLst>
                                        </p:cTn>
                                        <p:tgtEl>
                                          <p:spTgt spid="54"/>
                                        </p:tgtEl>
                                      </p:cBhvr>
                                    </p:animEffect>
                                    <p:anim calcmode="lin" valueType="num">
                                      <p:cBhvr>
                                        <p:cTn id="196" dur="1822" tmFilter="0,0; 0.14,0.36; 0.43,0.73; 0.71,0.91; 1.0,1.0">
                                          <p:stCondLst>
                                            <p:cond delay="0"/>
                                          </p:stCondLst>
                                        </p:cTn>
                                        <p:tgtEl>
                                          <p:spTgt spid="54"/>
                                        </p:tgtEl>
                                        <p:attrNameLst>
                                          <p:attrName>ppt_x</p:attrName>
                                        </p:attrNameLst>
                                      </p:cBhvr>
                                      <p:tavLst>
                                        <p:tav tm="0">
                                          <p:val>
                                            <p:strVal val="#ppt_x-0.25"/>
                                          </p:val>
                                        </p:tav>
                                        <p:tav tm="100000">
                                          <p:val>
                                            <p:strVal val="#ppt_x"/>
                                          </p:val>
                                        </p:tav>
                                      </p:tavLst>
                                    </p:anim>
                                    <p:anim calcmode="lin" valueType="num">
                                      <p:cBhvr>
                                        <p:cTn id="197" dur="664" tmFilter="0.0,0.0; 0.25,0.07; 0.50,0.2; 0.75,0.467; 1.0,1.0">
                                          <p:stCondLst>
                                            <p:cond delay="0"/>
                                          </p:stCondLst>
                                        </p:cTn>
                                        <p:tgtEl>
                                          <p:spTgt spid="54"/>
                                        </p:tgtEl>
                                        <p:attrNameLst>
                                          <p:attrName>ppt_y</p:attrName>
                                        </p:attrNameLst>
                                      </p:cBhvr>
                                      <p:tavLst>
                                        <p:tav tm="0" fmla="#ppt_y-sin(pi*$)/3">
                                          <p:val>
                                            <p:fltVal val="0.5"/>
                                          </p:val>
                                        </p:tav>
                                        <p:tav tm="100000">
                                          <p:val>
                                            <p:fltVal val="1"/>
                                          </p:val>
                                        </p:tav>
                                      </p:tavLst>
                                    </p:anim>
                                    <p:anim calcmode="lin" valueType="num">
                                      <p:cBhvr>
                                        <p:cTn id="198" dur="664" tmFilter="0, 0; 0.125,0.2665; 0.25,0.4; 0.375,0.465; 0.5,0.5;  0.625,0.535; 0.75,0.6; 0.875,0.7335; 1,1">
                                          <p:stCondLst>
                                            <p:cond delay="664"/>
                                          </p:stCondLst>
                                        </p:cTn>
                                        <p:tgtEl>
                                          <p:spTgt spid="54"/>
                                        </p:tgtEl>
                                        <p:attrNameLst>
                                          <p:attrName>ppt_y</p:attrName>
                                        </p:attrNameLst>
                                      </p:cBhvr>
                                      <p:tavLst>
                                        <p:tav tm="0" fmla="#ppt_y-sin(pi*$)/9">
                                          <p:val>
                                            <p:fltVal val="0"/>
                                          </p:val>
                                        </p:tav>
                                        <p:tav tm="100000">
                                          <p:val>
                                            <p:fltVal val="1"/>
                                          </p:val>
                                        </p:tav>
                                      </p:tavLst>
                                    </p:anim>
                                    <p:anim calcmode="lin" valueType="num">
                                      <p:cBhvr>
                                        <p:cTn id="199" dur="332" tmFilter="0, 0; 0.125,0.2665; 0.25,0.4; 0.375,0.465; 0.5,0.5;  0.625,0.535; 0.75,0.6; 0.875,0.7335; 1,1">
                                          <p:stCondLst>
                                            <p:cond delay="1324"/>
                                          </p:stCondLst>
                                        </p:cTn>
                                        <p:tgtEl>
                                          <p:spTgt spid="54"/>
                                        </p:tgtEl>
                                        <p:attrNameLst>
                                          <p:attrName>ppt_y</p:attrName>
                                        </p:attrNameLst>
                                      </p:cBhvr>
                                      <p:tavLst>
                                        <p:tav tm="0" fmla="#ppt_y-sin(pi*$)/27">
                                          <p:val>
                                            <p:fltVal val="0"/>
                                          </p:val>
                                        </p:tav>
                                        <p:tav tm="100000">
                                          <p:val>
                                            <p:fltVal val="1"/>
                                          </p:val>
                                        </p:tav>
                                      </p:tavLst>
                                    </p:anim>
                                    <p:anim calcmode="lin" valueType="num">
                                      <p:cBhvr>
                                        <p:cTn id="200" dur="164" tmFilter="0, 0; 0.125,0.2665; 0.25,0.4; 0.375,0.465; 0.5,0.5;  0.625,0.535; 0.75,0.6; 0.875,0.7335; 1,1">
                                          <p:stCondLst>
                                            <p:cond delay="1656"/>
                                          </p:stCondLst>
                                        </p:cTn>
                                        <p:tgtEl>
                                          <p:spTgt spid="54"/>
                                        </p:tgtEl>
                                        <p:attrNameLst>
                                          <p:attrName>ppt_y</p:attrName>
                                        </p:attrNameLst>
                                      </p:cBhvr>
                                      <p:tavLst>
                                        <p:tav tm="0" fmla="#ppt_y-sin(pi*$)/81">
                                          <p:val>
                                            <p:fltVal val="0"/>
                                          </p:val>
                                        </p:tav>
                                        <p:tav tm="100000">
                                          <p:val>
                                            <p:fltVal val="1"/>
                                          </p:val>
                                        </p:tav>
                                      </p:tavLst>
                                    </p:anim>
                                    <p:animScale>
                                      <p:cBhvr>
                                        <p:cTn id="201" dur="26">
                                          <p:stCondLst>
                                            <p:cond delay="650"/>
                                          </p:stCondLst>
                                        </p:cTn>
                                        <p:tgtEl>
                                          <p:spTgt spid="54"/>
                                        </p:tgtEl>
                                      </p:cBhvr>
                                      <p:to x="100000" y="60000"/>
                                    </p:animScale>
                                    <p:animScale>
                                      <p:cBhvr>
                                        <p:cTn id="202" dur="166" decel="50000">
                                          <p:stCondLst>
                                            <p:cond delay="676"/>
                                          </p:stCondLst>
                                        </p:cTn>
                                        <p:tgtEl>
                                          <p:spTgt spid="54"/>
                                        </p:tgtEl>
                                      </p:cBhvr>
                                      <p:to x="100000" y="100000"/>
                                    </p:animScale>
                                    <p:animScale>
                                      <p:cBhvr>
                                        <p:cTn id="203" dur="26">
                                          <p:stCondLst>
                                            <p:cond delay="1312"/>
                                          </p:stCondLst>
                                        </p:cTn>
                                        <p:tgtEl>
                                          <p:spTgt spid="54"/>
                                        </p:tgtEl>
                                      </p:cBhvr>
                                      <p:to x="100000" y="80000"/>
                                    </p:animScale>
                                    <p:animScale>
                                      <p:cBhvr>
                                        <p:cTn id="204" dur="166" decel="50000">
                                          <p:stCondLst>
                                            <p:cond delay="1338"/>
                                          </p:stCondLst>
                                        </p:cTn>
                                        <p:tgtEl>
                                          <p:spTgt spid="54"/>
                                        </p:tgtEl>
                                      </p:cBhvr>
                                      <p:to x="100000" y="100000"/>
                                    </p:animScale>
                                    <p:animScale>
                                      <p:cBhvr>
                                        <p:cTn id="205" dur="26">
                                          <p:stCondLst>
                                            <p:cond delay="1642"/>
                                          </p:stCondLst>
                                        </p:cTn>
                                        <p:tgtEl>
                                          <p:spTgt spid="54"/>
                                        </p:tgtEl>
                                      </p:cBhvr>
                                      <p:to x="100000" y="90000"/>
                                    </p:animScale>
                                    <p:animScale>
                                      <p:cBhvr>
                                        <p:cTn id="206" dur="166" decel="50000">
                                          <p:stCondLst>
                                            <p:cond delay="1668"/>
                                          </p:stCondLst>
                                        </p:cTn>
                                        <p:tgtEl>
                                          <p:spTgt spid="54"/>
                                        </p:tgtEl>
                                      </p:cBhvr>
                                      <p:to x="100000" y="100000"/>
                                    </p:animScale>
                                    <p:animScale>
                                      <p:cBhvr>
                                        <p:cTn id="207" dur="26">
                                          <p:stCondLst>
                                            <p:cond delay="1808"/>
                                          </p:stCondLst>
                                        </p:cTn>
                                        <p:tgtEl>
                                          <p:spTgt spid="54"/>
                                        </p:tgtEl>
                                      </p:cBhvr>
                                      <p:to x="100000" y="95000"/>
                                    </p:animScale>
                                    <p:animScale>
                                      <p:cBhvr>
                                        <p:cTn id="208" dur="166" decel="50000">
                                          <p:stCondLst>
                                            <p:cond delay="1834"/>
                                          </p:stCondLst>
                                        </p:cTn>
                                        <p:tgtEl>
                                          <p:spTgt spid="54"/>
                                        </p:tgtEl>
                                      </p:cBhvr>
                                      <p:to x="100000" y="100000"/>
                                    </p:animScale>
                                  </p:childTnLst>
                                </p:cTn>
                              </p:par>
                              <p:par>
                                <p:cTn id="209" presetID="26" presetClass="entr" presetSubtype="0" fill="hold" grpId="0" nodeType="withEffect">
                                  <p:stCondLst>
                                    <p:cond delay="0"/>
                                  </p:stCondLst>
                                  <p:childTnLst>
                                    <p:set>
                                      <p:cBhvr>
                                        <p:cTn id="210" dur="1" fill="hold">
                                          <p:stCondLst>
                                            <p:cond delay="0"/>
                                          </p:stCondLst>
                                        </p:cTn>
                                        <p:tgtEl>
                                          <p:spTgt spid="94"/>
                                        </p:tgtEl>
                                        <p:attrNameLst>
                                          <p:attrName>style.visibility</p:attrName>
                                        </p:attrNameLst>
                                      </p:cBhvr>
                                      <p:to>
                                        <p:strVal val="visible"/>
                                      </p:to>
                                    </p:set>
                                    <p:animEffect transition="in" filter="wipe(down)">
                                      <p:cBhvr>
                                        <p:cTn id="211" dur="580">
                                          <p:stCondLst>
                                            <p:cond delay="0"/>
                                          </p:stCondLst>
                                        </p:cTn>
                                        <p:tgtEl>
                                          <p:spTgt spid="94"/>
                                        </p:tgtEl>
                                      </p:cBhvr>
                                    </p:animEffect>
                                    <p:anim calcmode="lin" valueType="num">
                                      <p:cBhvr>
                                        <p:cTn id="212" dur="1822" tmFilter="0,0; 0.14,0.36; 0.43,0.73; 0.71,0.91; 1.0,1.0">
                                          <p:stCondLst>
                                            <p:cond delay="0"/>
                                          </p:stCondLst>
                                        </p:cTn>
                                        <p:tgtEl>
                                          <p:spTgt spid="94"/>
                                        </p:tgtEl>
                                        <p:attrNameLst>
                                          <p:attrName>ppt_x</p:attrName>
                                        </p:attrNameLst>
                                      </p:cBhvr>
                                      <p:tavLst>
                                        <p:tav tm="0">
                                          <p:val>
                                            <p:strVal val="#ppt_x-0.25"/>
                                          </p:val>
                                        </p:tav>
                                        <p:tav tm="100000">
                                          <p:val>
                                            <p:strVal val="#ppt_x"/>
                                          </p:val>
                                        </p:tav>
                                      </p:tavLst>
                                    </p:anim>
                                    <p:anim calcmode="lin" valueType="num">
                                      <p:cBhvr>
                                        <p:cTn id="213" dur="664" tmFilter="0.0,0.0; 0.25,0.07; 0.50,0.2; 0.75,0.467; 1.0,1.0">
                                          <p:stCondLst>
                                            <p:cond delay="0"/>
                                          </p:stCondLst>
                                        </p:cTn>
                                        <p:tgtEl>
                                          <p:spTgt spid="94"/>
                                        </p:tgtEl>
                                        <p:attrNameLst>
                                          <p:attrName>ppt_y</p:attrName>
                                        </p:attrNameLst>
                                      </p:cBhvr>
                                      <p:tavLst>
                                        <p:tav tm="0" fmla="#ppt_y-sin(pi*$)/3">
                                          <p:val>
                                            <p:fltVal val="0.5"/>
                                          </p:val>
                                        </p:tav>
                                        <p:tav tm="100000">
                                          <p:val>
                                            <p:fltVal val="1"/>
                                          </p:val>
                                        </p:tav>
                                      </p:tavLst>
                                    </p:anim>
                                    <p:anim calcmode="lin" valueType="num">
                                      <p:cBhvr>
                                        <p:cTn id="214" dur="664" tmFilter="0, 0; 0.125,0.2665; 0.25,0.4; 0.375,0.465; 0.5,0.5;  0.625,0.535; 0.75,0.6; 0.875,0.7335; 1,1">
                                          <p:stCondLst>
                                            <p:cond delay="664"/>
                                          </p:stCondLst>
                                        </p:cTn>
                                        <p:tgtEl>
                                          <p:spTgt spid="94"/>
                                        </p:tgtEl>
                                        <p:attrNameLst>
                                          <p:attrName>ppt_y</p:attrName>
                                        </p:attrNameLst>
                                      </p:cBhvr>
                                      <p:tavLst>
                                        <p:tav tm="0" fmla="#ppt_y-sin(pi*$)/9">
                                          <p:val>
                                            <p:fltVal val="0"/>
                                          </p:val>
                                        </p:tav>
                                        <p:tav tm="100000">
                                          <p:val>
                                            <p:fltVal val="1"/>
                                          </p:val>
                                        </p:tav>
                                      </p:tavLst>
                                    </p:anim>
                                    <p:anim calcmode="lin" valueType="num">
                                      <p:cBhvr>
                                        <p:cTn id="215" dur="332" tmFilter="0, 0; 0.125,0.2665; 0.25,0.4; 0.375,0.465; 0.5,0.5;  0.625,0.535; 0.75,0.6; 0.875,0.7335; 1,1">
                                          <p:stCondLst>
                                            <p:cond delay="1324"/>
                                          </p:stCondLst>
                                        </p:cTn>
                                        <p:tgtEl>
                                          <p:spTgt spid="94"/>
                                        </p:tgtEl>
                                        <p:attrNameLst>
                                          <p:attrName>ppt_y</p:attrName>
                                        </p:attrNameLst>
                                      </p:cBhvr>
                                      <p:tavLst>
                                        <p:tav tm="0" fmla="#ppt_y-sin(pi*$)/27">
                                          <p:val>
                                            <p:fltVal val="0"/>
                                          </p:val>
                                        </p:tav>
                                        <p:tav tm="100000">
                                          <p:val>
                                            <p:fltVal val="1"/>
                                          </p:val>
                                        </p:tav>
                                      </p:tavLst>
                                    </p:anim>
                                    <p:anim calcmode="lin" valueType="num">
                                      <p:cBhvr>
                                        <p:cTn id="216" dur="164" tmFilter="0, 0; 0.125,0.2665; 0.25,0.4; 0.375,0.465; 0.5,0.5;  0.625,0.535; 0.75,0.6; 0.875,0.7335; 1,1">
                                          <p:stCondLst>
                                            <p:cond delay="1656"/>
                                          </p:stCondLst>
                                        </p:cTn>
                                        <p:tgtEl>
                                          <p:spTgt spid="94"/>
                                        </p:tgtEl>
                                        <p:attrNameLst>
                                          <p:attrName>ppt_y</p:attrName>
                                        </p:attrNameLst>
                                      </p:cBhvr>
                                      <p:tavLst>
                                        <p:tav tm="0" fmla="#ppt_y-sin(pi*$)/81">
                                          <p:val>
                                            <p:fltVal val="0"/>
                                          </p:val>
                                        </p:tav>
                                        <p:tav tm="100000">
                                          <p:val>
                                            <p:fltVal val="1"/>
                                          </p:val>
                                        </p:tav>
                                      </p:tavLst>
                                    </p:anim>
                                    <p:animScale>
                                      <p:cBhvr>
                                        <p:cTn id="217" dur="26">
                                          <p:stCondLst>
                                            <p:cond delay="650"/>
                                          </p:stCondLst>
                                        </p:cTn>
                                        <p:tgtEl>
                                          <p:spTgt spid="94"/>
                                        </p:tgtEl>
                                      </p:cBhvr>
                                      <p:to x="100000" y="60000"/>
                                    </p:animScale>
                                    <p:animScale>
                                      <p:cBhvr>
                                        <p:cTn id="218" dur="166" decel="50000">
                                          <p:stCondLst>
                                            <p:cond delay="676"/>
                                          </p:stCondLst>
                                        </p:cTn>
                                        <p:tgtEl>
                                          <p:spTgt spid="94"/>
                                        </p:tgtEl>
                                      </p:cBhvr>
                                      <p:to x="100000" y="100000"/>
                                    </p:animScale>
                                    <p:animScale>
                                      <p:cBhvr>
                                        <p:cTn id="219" dur="26">
                                          <p:stCondLst>
                                            <p:cond delay="1312"/>
                                          </p:stCondLst>
                                        </p:cTn>
                                        <p:tgtEl>
                                          <p:spTgt spid="94"/>
                                        </p:tgtEl>
                                      </p:cBhvr>
                                      <p:to x="100000" y="80000"/>
                                    </p:animScale>
                                    <p:animScale>
                                      <p:cBhvr>
                                        <p:cTn id="220" dur="166" decel="50000">
                                          <p:stCondLst>
                                            <p:cond delay="1338"/>
                                          </p:stCondLst>
                                        </p:cTn>
                                        <p:tgtEl>
                                          <p:spTgt spid="94"/>
                                        </p:tgtEl>
                                      </p:cBhvr>
                                      <p:to x="100000" y="100000"/>
                                    </p:animScale>
                                    <p:animScale>
                                      <p:cBhvr>
                                        <p:cTn id="221" dur="26">
                                          <p:stCondLst>
                                            <p:cond delay="1642"/>
                                          </p:stCondLst>
                                        </p:cTn>
                                        <p:tgtEl>
                                          <p:spTgt spid="94"/>
                                        </p:tgtEl>
                                      </p:cBhvr>
                                      <p:to x="100000" y="90000"/>
                                    </p:animScale>
                                    <p:animScale>
                                      <p:cBhvr>
                                        <p:cTn id="222" dur="166" decel="50000">
                                          <p:stCondLst>
                                            <p:cond delay="1668"/>
                                          </p:stCondLst>
                                        </p:cTn>
                                        <p:tgtEl>
                                          <p:spTgt spid="94"/>
                                        </p:tgtEl>
                                      </p:cBhvr>
                                      <p:to x="100000" y="100000"/>
                                    </p:animScale>
                                    <p:animScale>
                                      <p:cBhvr>
                                        <p:cTn id="223" dur="26">
                                          <p:stCondLst>
                                            <p:cond delay="1808"/>
                                          </p:stCondLst>
                                        </p:cTn>
                                        <p:tgtEl>
                                          <p:spTgt spid="94"/>
                                        </p:tgtEl>
                                      </p:cBhvr>
                                      <p:to x="100000" y="95000"/>
                                    </p:animScale>
                                    <p:animScale>
                                      <p:cBhvr>
                                        <p:cTn id="224" dur="166" decel="50000">
                                          <p:stCondLst>
                                            <p:cond delay="1834"/>
                                          </p:stCondLst>
                                        </p:cTn>
                                        <p:tgtEl>
                                          <p:spTgt spid="94"/>
                                        </p:tgtEl>
                                      </p:cBhvr>
                                      <p:to x="100000" y="100000"/>
                                    </p:animScale>
                                  </p:childTnLst>
                                </p:cTn>
                              </p:par>
                              <p:par>
                                <p:cTn id="225" presetID="26" presetClass="entr" presetSubtype="0" fill="hold" nodeType="withEffect">
                                  <p:stCondLst>
                                    <p:cond delay="0"/>
                                  </p:stCondLst>
                                  <p:childTnLst>
                                    <p:set>
                                      <p:cBhvr>
                                        <p:cTn id="226" dur="1" fill="hold">
                                          <p:stCondLst>
                                            <p:cond delay="0"/>
                                          </p:stCondLst>
                                        </p:cTn>
                                        <p:tgtEl>
                                          <p:spTgt spid="98"/>
                                        </p:tgtEl>
                                        <p:attrNameLst>
                                          <p:attrName>style.visibility</p:attrName>
                                        </p:attrNameLst>
                                      </p:cBhvr>
                                      <p:to>
                                        <p:strVal val="visible"/>
                                      </p:to>
                                    </p:set>
                                    <p:animEffect transition="in" filter="wipe(down)">
                                      <p:cBhvr>
                                        <p:cTn id="227" dur="580">
                                          <p:stCondLst>
                                            <p:cond delay="0"/>
                                          </p:stCondLst>
                                        </p:cTn>
                                        <p:tgtEl>
                                          <p:spTgt spid="98"/>
                                        </p:tgtEl>
                                      </p:cBhvr>
                                    </p:animEffect>
                                    <p:anim calcmode="lin" valueType="num">
                                      <p:cBhvr>
                                        <p:cTn id="228" dur="1822" tmFilter="0,0; 0.14,0.36; 0.43,0.73; 0.71,0.91; 1.0,1.0">
                                          <p:stCondLst>
                                            <p:cond delay="0"/>
                                          </p:stCondLst>
                                        </p:cTn>
                                        <p:tgtEl>
                                          <p:spTgt spid="98"/>
                                        </p:tgtEl>
                                        <p:attrNameLst>
                                          <p:attrName>ppt_x</p:attrName>
                                        </p:attrNameLst>
                                      </p:cBhvr>
                                      <p:tavLst>
                                        <p:tav tm="0">
                                          <p:val>
                                            <p:strVal val="#ppt_x-0.25"/>
                                          </p:val>
                                        </p:tav>
                                        <p:tav tm="100000">
                                          <p:val>
                                            <p:strVal val="#ppt_x"/>
                                          </p:val>
                                        </p:tav>
                                      </p:tavLst>
                                    </p:anim>
                                    <p:anim calcmode="lin" valueType="num">
                                      <p:cBhvr>
                                        <p:cTn id="229" dur="664" tmFilter="0.0,0.0; 0.25,0.07; 0.50,0.2; 0.75,0.467; 1.0,1.0">
                                          <p:stCondLst>
                                            <p:cond delay="0"/>
                                          </p:stCondLst>
                                        </p:cTn>
                                        <p:tgtEl>
                                          <p:spTgt spid="98"/>
                                        </p:tgtEl>
                                        <p:attrNameLst>
                                          <p:attrName>ppt_y</p:attrName>
                                        </p:attrNameLst>
                                      </p:cBhvr>
                                      <p:tavLst>
                                        <p:tav tm="0" fmla="#ppt_y-sin(pi*$)/3">
                                          <p:val>
                                            <p:fltVal val="0.5"/>
                                          </p:val>
                                        </p:tav>
                                        <p:tav tm="100000">
                                          <p:val>
                                            <p:fltVal val="1"/>
                                          </p:val>
                                        </p:tav>
                                      </p:tavLst>
                                    </p:anim>
                                    <p:anim calcmode="lin" valueType="num">
                                      <p:cBhvr>
                                        <p:cTn id="230" dur="664" tmFilter="0, 0; 0.125,0.2665; 0.25,0.4; 0.375,0.465; 0.5,0.5;  0.625,0.535; 0.75,0.6; 0.875,0.7335; 1,1">
                                          <p:stCondLst>
                                            <p:cond delay="664"/>
                                          </p:stCondLst>
                                        </p:cTn>
                                        <p:tgtEl>
                                          <p:spTgt spid="98"/>
                                        </p:tgtEl>
                                        <p:attrNameLst>
                                          <p:attrName>ppt_y</p:attrName>
                                        </p:attrNameLst>
                                      </p:cBhvr>
                                      <p:tavLst>
                                        <p:tav tm="0" fmla="#ppt_y-sin(pi*$)/9">
                                          <p:val>
                                            <p:fltVal val="0"/>
                                          </p:val>
                                        </p:tav>
                                        <p:tav tm="100000">
                                          <p:val>
                                            <p:fltVal val="1"/>
                                          </p:val>
                                        </p:tav>
                                      </p:tavLst>
                                    </p:anim>
                                    <p:anim calcmode="lin" valueType="num">
                                      <p:cBhvr>
                                        <p:cTn id="231" dur="332" tmFilter="0, 0; 0.125,0.2665; 0.25,0.4; 0.375,0.465; 0.5,0.5;  0.625,0.535; 0.75,0.6; 0.875,0.7335; 1,1">
                                          <p:stCondLst>
                                            <p:cond delay="1324"/>
                                          </p:stCondLst>
                                        </p:cTn>
                                        <p:tgtEl>
                                          <p:spTgt spid="98"/>
                                        </p:tgtEl>
                                        <p:attrNameLst>
                                          <p:attrName>ppt_y</p:attrName>
                                        </p:attrNameLst>
                                      </p:cBhvr>
                                      <p:tavLst>
                                        <p:tav tm="0" fmla="#ppt_y-sin(pi*$)/27">
                                          <p:val>
                                            <p:fltVal val="0"/>
                                          </p:val>
                                        </p:tav>
                                        <p:tav tm="100000">
                                          <p:val>
                                            <p:fltVal val="1"/>
                                          </p:val>
                                        </p:tav>
                                      </p:tavLst>
                                    </p:anim>
                                    <p:anim calcmode="lin" valueType="num">
                                      <p:cBhvr>
                                        <p:cTn id="232" dur="164" tmFilter="0, 0; 0.125,0.2665; 0.25,0.4; 0.375,0.465; 0.5,0.5;  0.625,0.535; 0.75,0.6; 0.875,0.7335; 1,1">
                                          <p:stCondLst>
                                            <p:cond delay="1656"/>
                                          </p:stCondLst>
                                        </p:cTn>
                                        <p:tgtEl>
                                          <p:spTgt spid="98"/>
                                        </p:tgtEl>
                                        <p:attrNameLst>
                                          <p:attrName>ppt_y</p:attrName>
                                        </p:attrNameLst>
                                      </p:cBhvr>
                                      <p:tavLst>
                                        <p:tav tm="0" fmla="#ppt_y-sin(pi*$)/81">
                                          <p:val>
                                            <p:fltVal val="0"/>
                                          </p:val>
                                        </p:tav>
                                        <p:tav tm="100000">
                                          <p:val>
                                            <p:fltVal val="1"/>
                                          </p:val>
                                        </p:tav>
                                      </p:tavLst>
                                    </p:anim>
                                    <p:animScale>
                                      <p:cBhvr>
                                        <p:cTn id="233" dur="26">
                                          <p:stCondLst>
                                            <p:cond delay="650"/>
                                          </p:stCondLst>
                                        </p:cTn>
                                        <p:tgtEl>
                                          <p:spTgt spid="98"/>
                                        </p:tgtEl>
                                      </p:cBhvr>
                                      <p:to x="100000" y="60000"/>
                                    </p:animScale>
                                    <p:animScale>
                                      <p:cBhvr>
                                        <p:cTn id="234" dur="166" decel="50000">
                                          <p:stCondLst>
                                            <p:cond delay="676"/>
                                          </p:stCondLst>
                                        </p:cTn>
                                        <p:tgtEl>
                                          <p:spTgt spid="98"/>
                                        </p:tgtEl>
                                      </p:cBhvr>
                                      <p:to x="100000" y="100000"/>
                                    </p:animScale>
                                    <p:animScale>
                                      <p:cBhvr>
                                        <p:cTn id="235" dur="26">
                                          <p:stCondLst>
                                            <p:cond delay="1312"/>
                                          </p:stCondLst>
                                        </p:cTn>
                                        <p:tgtEl>
                                          <p:spTgt spid="98"/>
                                        </p:tgtEl>
                                      </p:cBhvr>
                                      <p:to x="100000" y="80000"/>
                                    </p:animScale>
                                    <p:animScale>
                                      <p:cBhvr>
                                        <p:cTn id="236" dur="166" decel="50000">
                                          <p:stCondLst>
                                            <p:cond delay="1338"/>
                                          </p:stCondLst>
                                        </p:cTn>
                                        <p:tgtEl>
                                          <p:spTgt spid="98"/>
                                        </p:tgtEl>
                                      </p:cBhvr>
                                      <p:to x="100000" y="100000"/>
                                    </p:animScale>
                                    <p:animScale>
                                      <p:cBhvr>
                                        <p:cTn id="237" dur="26">
                                          <p:stCondLst>
                                            <p:cond delay="1642"/>
                                          </p:stCondLst>
                                        </p:cTn>
                                        <p:tgtEl>
                                          <p:spTgt spid="98"/>
                                        </p:tgtEl>
                                      </p:cBhvr>
                                      <p:to x="100000" y="90000"/>
                                    </p:animScale>
                                    <p:animScale>
                                      <p:cBhvr>
                                        <p:cTn id="238" dur="166" decel="50000">
                                          <p:stCondLst>
                                            <p:cond delay="1668"/>
                                          </p:stCondLst>
                                        </p:cTn>
                                        <p:tgtEl>
                                          <p:spTgt spid="98"/>
                                        </p:tgtEl>
                                      </p:cBhvr>
                                      <p:to x="100000" y="100000"/>
                                    </p:animScale>
                                    <p:animScale>
                                      <p:cBhvr>
                                        <p:cTn id="239" dur="26">
                                          <p:stCondLst>
                                            <p:cond delay="1808"/>
                                          </p:stCondLst>
                                        </p:cTn>
                                        <p:tgtEl>
                                          <p:spTgt spid="98"/>
                                        </p:tgtEl>
                                      </p:cBhvr>
                                      <p:to x="100000" y="95000"/>
                                    </p:animScale>
                                    <p:animScale>
                                      <p:cBhvr>
                                        <p:cTn id="240" dur="166" decel="50000">
                                          <p:stCondLst>
                                            <p:cond delay="1834"/>
                                          </p:stCondLst>
                                        </p:cTn>
                                        <p:tgtEl>
                                          <p:spTgt spid="98"/>
                                        </p:tgtEl>
                                      </p:cBhvr>
                                      <p:to x="100000" y="100000"/>
                                    </p:animScale>
                                  </p:childTnLst>
                                </p:cTn>
                              </p:par>
                              <p:par>
                                <p:cTn id="241" presetID="26" presetClass="entr" presetSubtype="0" fill="hold" grpId="0" nodeType="withEffect">
                                  <p:stCondLst>
                                    <p:cond delay="0"/>
                                  </p:stCondLst>
                                  <p:childTnLst>
                                    <p:set>
                                      <p:cBhvr>
                                        <p:cTn id="242" dur="1" fill="hold">
                                          <p:stCondLst>
                                            <p:cond delay="0"/>
                                          </p:stCondLst>
                                        </p:cTn>
                                        <p:tgtEl>
                                          <p:spTgt spid="50"/>
                                        </p:tgtEl>
                                        <p:attrNameLst>
                                          <p:attrName>style.visibility</p:attrName>
                                        </p:attrNameLst>
                                      </p:cBhvr>
                                      <p:to>
                                        <p:strVal val="visible"/>
                                      </p:to>
                                    </p:set>
                                    <p:animEffect transition="in" filter="wipe(down)">
                                      <p:cBhvr>
                                        <p:cTn id="243" dur="580">
                                          <p:stCondLst>
                                            <p:cond delay="0"/>
                                          </p:stCondLst>
                                        </p:cTn>
                                        <p:tgtEl>
                                          <p:spTgt spid="50"/>
                                        </p:tgtEl>
                                      </p:cBhvr>
                                    </p:animEffect>
                                    <p:anim calcmode="lin" valueType="num">
                                      <p:cBhvr>
                                        <p:cTn id="244" dur="1822" tmFilter="0,0; 0.14,0.36; 0.43,0.73; 0.71,0.91; 1.0,1.0">
                                          <p:stCondLst>
                                            <p:cond delay="0"/>
                                          </p:stCondLst>
                                        </p:cTn>
                                        <p:tgtEl>
                                          <p:spTgt spid="50"/>
                                        </p:tgtEl>
                                        <p:attrNameLst>
                                          <p:attrName>ppt_x</p:attrName>
                                        </p:attrNameLst>
                                      </p:cBhvr>
                                      <p:tavLst>
                                        <p:tav tm="0">
                                          <p:val>
                                            <p:strVal val="#ppt_x-0.25"/>
                                          </p:val>
                                        </p:tav>
                                        <p:tav tm="100000">
                                          <p:val>
                                            <p:strVal val="#ppt_x"/>
                                          </p:val>
                                        </p:tav>
                                      </p:tavLst>
                                    </p:anim>
                                    <p:anim calcmode="lin" valueType="num">
                                      <p:cBhvr>
                                        <p:cTn id="245" dur="664" tmFilter="0.0,0.0; 0.25,0.07; 0.50,0.2; 0.75,0.467; 1.0,1.0">
                                          <p:stCondLst>
                                            <p:cond delay="0"/>
                                          </p:stCondLst>
                                        </p:cTn>
                                        <p:tgtEl>
                                          <p:spTgt spid="50"/>
                                        </p:tgtEl>
                                        <p:attrNameLst>
                                          <p:attrName>ppt_y</p:attrName>
                                        </p:attrNameLst>
                                      </p:cBhvr>
                                      <p:tavLst>
                                        <p:tav tm="0" fmla="#ppt_y-sin(pi*$)/3">
                                          <p:val>
                                            <p:fltVal val="0.5"/>
                                          </p:val>
                                        </p:tav>
                                        <p:tav tm="100000">
                                          <p:val>
                                            <p:fltVal val="1"/>
                                          </p:val>
                                        </p:tav>
                                      </p:tavLst>
                                    </p:anim>
                                    <p:anim calcmode="lin" valueType="num">
                                      <p:cBhvr>
                                        <p:cTn id="246" dur="664" tmFilter="0, 0; 0.125,0.2665; 0.25,0.4; 0.375,0.465; 0.5,0.5;  0.625,0.535; 0.75,0.6; 0.875,0.7335; 1,1">
                                          <p:stCondLst>
                                            <p:cond delay="664"/>
                                          </p:stCondLst>
                                        </p:cTn>
                                        <p:tgtEl>
                                          <p:spTgt spid="50"/>
                                        </p:tgtEl>
                                        <p:attrNameLst>
                                          <p:attrName>ppt_y</p:attrName>
                                        </p:attrNameLst>
                                      </p:cBhvr>
                                      <p:tavLst>
                                        <p:tav tm="0" fmla="#ppt_y-sin(pi*$)/9">
                                          <p:val>
                                            <p:fltVal val="0"/>
                                          </p:val>
                                        </p:tav>
                                        <p:tav tm="100000">
                                          <p:val>
                                            <p:fltVal val="1"/>
                                          </p:val>
                                        </p:tav>
                                      </p:tavLst>
                                    </p:anim>
                                    <p:anim calcmode="lin" valueType="num">
                                      <p:cBhvr>
                                        <p:cTn id="247" dur="332" tmFilter="0, 0; 0.125,0.2665; 0.25,0.4; 0.375,0.465; 0.5,0.5;  0.625,0.535; 0.75,0.6; 0.875,0.7335; 1,1">
                                          <p:stCondLst>
                                            <p:cond delay="1324"/>
                                          </p:stCondLst>
                                        </p:cTn>
                                        <p:tgtEl>
                                          <p:spTgt spid="50"/>
                                        </p:tgtEl>
                                        <p:attrNameLst>
                                          <p:attrName>ppt_y</p:attrName>
                                        </p:attrNameLst>
                                      </p:cBhvr>
                                      <p:tavLst>
                                        <p:tav tm="0" fmla="#ppt_y-sin(pi*$)/27">
                                          <p:val>
                                            <p:fltVal val="0"/>
                                          </p:val>
                                        </p:tav>
                                        <p:tav tm="100000">
                                          <p:val>
                                            <p:fltVal val="1"/>
                                          </p:val>
                                        </p:tav>
                                      </p:tavLst>
                                    </p:anim>
                                    <p:anim calcmode="lin" valueType="num">
                                      <p:cBhvr>
                                        <p:cTn id="248" dur="164" tmFilter="0, 0; 0.125,0.2665; 0.25,0.4; 0.375,0.465; 0.5,0.5;  0.625,0.535; 0.75,0.6; 0.875,0.7335; 1,1">
                                          <p:stCondLst>
                                            <p:cond delay="1656"/>
                                          </p:stCondLst>
                                        </p:cTn>
                                        <p:tgtEl>
                                          <p:spTgt spid="50"/>
                                        </p:tgtEl>
                                        <p:attrNameLst>
                                          <p:attrName>ppt_y</p:attrName>
                                        </p:attrNameLst>
                                      </p:cBhvr>
                                      <p:tavLst>
                                        <p:tav tm="0" fmla="#ppt_y-sin(pi*$)/81">
                                          <p:val>
                                            <p:fltVal val="0"/>
                                          </p:val>
                                        </p:tav>
                                        <p:tav tm="100000">
                                          <p:val>
                                            <p:fltVal val="1"/>
                                          </p:val>
                                        </p:tav>
                                      </p:tavLst>
                                    </p:anim>
                                    <p:animScale>
                                      <p:cBhvr>
                                        <p:cTn id="249" dur="26">
                                          <p:stCondLst>
                                            <p:cond delay="650"/>
                                          </p:stCondLst>
                                        </p:cTn>
                                        <p:tgtEl>
                                          <p:spTgt spid="50"/>
                                        </p:tgtEl>
                                      </p:cBhvr>
                                      <p:to x="100000" y="60000"/>
                                    </p:animScale>
                                    <p:animScale>
                                      <p:cBhvr>
                                        <p:cTn id="250" dur="166" decel="50000">
                                          <p:stCondLst>
                                            <p:cond delay="676"/>
                                          </p:stCondLst>
                                        </p:cTn>
                                        <p:tgtEl>
                                          <p:spTgt spid="50"/>
                                        </p:tgtEl>
                                      </p:cBhvr>
                                      <p:to x="100000" y="100000"/>
                                    </p:animScale>
                                    <p:animScale>
                                      <p:cBhvr>
                                        <p:cTn id="251" dur="26">
                                          <p:stCondLst>
                                            <p:cond delay="1312"/>
                                          </p:stCondLst>
                                        </p:cTn>
                                        <p:tgtEl>
                                          <p:spTgt spid="50"/>
                                        </p:tgtEl>
                                      </p:cBhvr>
                                      <p:to x="100000" y="80000"/>
                                    </p:animScale>
                                    <p:animScale>
                                      <p:cBhvr>
                                        <p:cTn id="252" dur="166" decel="50000">
                                          <p:stCondLst>
                                            <p:cond delay="1338"/>
                                          </p:stCondLst>
                                        </p:cTn>
                                        <p:tgtEl>
                                          <p:spTgt spid="50"/>
                                        </p:tgtEl>
                                      </p:cBhvr>
                                      <p:to x="100000" y="100000"/>
                                    </p:animScale>
                                    <p:animScale>
                                      <p:cBhvr>
                                        <p:cTn id="253" dur="26">
                                          <p:stCondLst>
                                            <p:cond delay="1642"/>
                                          </p:stCondLst>
                                        </p:cTn>
                                        <p:tgtEl>
                                          <p:spTgt spid="50"/>
                                        </p:tgtEl>
                                      </p:cBhvr>
                                      <p:to x="100000" y="90000"/>
                                    </p:animScale>
                                    <p:animScale>
                                      <p:cBhvr>
                                        <p:cTn id="254" dur="166" decel="50000">
                                          <p:stCondLst>
                                            <p:cond delay="1668"/>
                                          </p:stCondLst>
                                        </p:cTn>
                                        <p:tgtEl>
                                          <p:spTgt spid="50"/>
                                        </p:tgtEl>
                                      </p:cBhvr>
                                      <p:to x="100000" y="100000"/>
                                    </p:animScale>
                                    <p:animScale>
                                      <p:cBhvr>
                                        <p:cTn id="255" dur="26">
                                          <p:stCondLst>
                                            <p:cond delay="1808"/>
                                          </p:stCondLst>
                                        </p:cTn>
                                        <p:tgtEl>
                                          <p:spTgt spid="50"/>
                                        </p:tgtEl>
                                      </p:cBhvr>
                                      <p:to x="100000" y="95000"/>
                                    </p:animScale>
                                    <p:animScale>
                                      <p:cBhvr>
                                        <p:cTn id="256" dur="166" decel="50000">
                                          <p:stCondLst>
                                            <p:cond delay="1834"/>
                                          </p:stCondLst>
                                        </p:cTn>
                                        <p:tgtEl>
                                          <p:spTgt spid="50"/>
                                        </p:tgtEl>
                                      </p:cBhvr>
                                      <p:to x="100000" y="100000"/>
                                    </p:animScale>
                                  </p:childTnLst>
                                </p:cTn>
                              </p:par>
                              <p:par>
                                <p:cTn id="257" presetID="26" presetClass="entr" presetSubtype="0" fill="hold" grpId="0" nodeType="withEffect">
                                  <p:stCondLst>
                                    <p:cond delay="0"/>
                                  </p:stCondLst>
                                  <p:childTnLst>
                                    <p:set>
                                      <p:cBhvr>
                                        <p:cTn id="258" dur="1" fill="hold">
                                          <p:stCondLst>
                                            <p:cond delay="0"/>
                                          </p:stCondLst>
                                        </p:cTn>
                                        <p:tgtEl>
                                          <p:spTgt spid="37"/>
                                        </p:tgtEl>
                                        <p:attrNameLst>
                                          <p:attrName>style.visibility</p:attrName>
                                        </p:attrNameLst>
                                      </p:cBhvr>
                                      <p:to>
                                        <p:strVal val="visible"/>
                                      </p:to>
                                    </p:set>
                                    <p:animEffect transition="in" filter="wipe(down)">
                                      <p:cBhvr>
                                        <p:cTn id="259" dur="580">
                                          <p:stCondLst>
                                            <p:cond delay="0"/>
                                          </p:stCondLst>
                                        </p:cTn>
                                        <p:tgtEl>
                                          <p:spTgt spid="37"/>
                                        </p:tgtEl>
                                      </p:cBhvr>
                                    </p:animEffect>
                                    <p:anim calcmode="lin" valueType="num">
                                      <p:cBhvr>
                                        <p:cTn id="260" dur="1822" tmFilter="0,0; 0.14,0.36; 0.43,0.73; 0.71,0.91; 1.0,1.0">
                                          <p:stCondLst>
                                            <p:cond delay="0"/>
                                          </p:stCondLst>
                                        </p:cTn>
                                        <p:tgtEl>
                                          <p:spTgt spid="37"/>
                                        </p:tgtEl>
                                        <p:attrNameLst>
                                          <p:attrName>ppt_x</p:attrName>
                                        </p:attrNameLst>
                                      </p:cBhvr>
                                      <p:tavLst>
                                        <p:tav tm="0">
                                          <p:val>
                                            <p:strVal val="#ppt_x-0.25"/>
                                          </p:val>
                                        </p:tav>
                                        <p:tav tm="100000">
                                          <p:val>
                                            <p:strVal val="#ppt_x"/>
                                          </p:val>
                                        </p:tav>
                                      </p:tavLst>
                                    </p:anim>
                                    <p:anim calcmode="lin" valueType="num">
                                      <p:cBhvr>
                                        <p:cTn id="261" dur="664" tmFilter="0.0,0.0; 0.25,0.07; 0.50,0.2; 0.75,0.467; 1.0,1.0">
                                          <p:stCondLst>
                                            <p:cond delay="0"/>
                                          </p:stCondLst>
                                        </p:cTn>
                                        <p:tgtEl>
                                          <p:spTgt spid="37"/>
                                        </p:tgtEl>
                                        <p:attrNameLst>
                                          <p:attrName>ppt_y</p:attrName>
                                        </p:attrNameLst>
                                      </p:cBhvr>
                                      <p:tavLst>
                                        <p:tav tm="0" fmla="#ppt_y-sin(pi*$)/3">
                                          <p:val>
                                            <p:fltVal val="0.5"/>
                                          </p:val>
                                        </p:tav>
                                        <p:tav tm="100000">
                                          <p:val>
                                            <p:fltVal val="1"/>
                                          </p:val>
                                        </p:tav>
                                      </p:tavLst>
                                    </p:anim>
                                    <p:anim calcmode="lin" valueType="num">
                                      <p:cBhvr>
                                        <p:cTn id="262" dur="664" tmFilter="0, 0; 0.125,0.2665; 0.25,0.4; 0.375,0.465; 0.5,0.5;  0.625,0.535; 0.75,0.6; 0.875,0.7335; 1,1">
                                          <p:stCondLst>
                                            <p:cond delay="664"/>
                                          </p:stCondLst>
                                        </p:cTn>
                                        <p:tgtEl>
                                          <p:spTgt spid="37"/>
                                        </p:tgtEl>
                                        <p:attrNameLst>
                                          <p:attrName>ppt_y</p:attrName>
                                        </p:attrNameLst>
                                      </p:cBhvr>
                                      <p:tavLst>
                                        <p:tav tm="0" fmla="#ppt_y-sin(pi*$)/9">
                                          <p:val>
                                            <p:fltVal val="0"/>
                                          </p:val>
                                        </p:tav>
                                        <p:tav tm="100000">
                                          <p:val>
                                            <p:fltVal val="1"/>
                                          </p:val>
                                        </p:tav>
                                      </p:tavLst>
                                    </p:anim>
                                    <p:anim calcmode="lin" valueType="num">
                                      <p:cBhvr>
                                        <p:cTn id="263" dur="332" tmFilter="0, 0; 0.125,0.2665; 0.25,0.4; 0.375,0.465; 0.5,0.5;  0.625,0.535; 0.75,0.6; 0.875,0.7335; 1,1">
                                          <p:stCondLst>
                                            <p:cond delay="1324"/>
                                          </p:stCondLst>
                                        </p:cTn>
                                        <p:tgtEl>
                                          <p:spTgt spid="37"/>
                                        </p:tgtEl>
                                        <p:attrNameLst>
                                          <p:attrName>ppt_y</p:attrName>
                                        </p:attrNameLst>
                                      </p:cBhvr>
                                      <p:tavLst>
                                        <p:tav tm="0" fmla="#ppt_y-sin(pi*$)/27">
                                          <p:val>
                                            <p:fltVal val="0"/>
                                          </p:val>
                                        </p:tav>
                                        <p:tav tm="100000">
                                          <p:val>
                                            <p:fltVal val="1"/>
                                          </p:val>
                                        </p:tav>
                                      </p:tavLst>
                                    </p:anim>
                                    <p:anim calcmode="lin" valueType="num">
                                      <p:cBhvr>
                                        <p:cTn id="264" dur="164" tmFilter="0, 0; 0.125,0.2665; 0.25,0.4; 0.375,0.465; 0.5,0.5;  0.625,0.535; 0.75,0.6; 0.875,0.7335; 1,1">
                                          <p:stCondLst>
                                            <p:cond delay="1656"/>
                                          </p:stCondLst>
                                        </p:cTn>
                                        <p:tgtEl>
                                          <p:spTgt spid="37"/>
                                        </p:tgtEl>
                                        <p:attrNameLst>
                                          <p:attrName>ppt_y</p:attrName>
                                        </p:attrNameLst>
                                      </p:cBhvr>
                                      <p:tavLst>
                                        <p:tav tm="0" fmla="#ppt_y-sin(pi*$)/81">
                                          <p:val>
                                            <p:fltVal val="0"/>
                                          </p:val>
                                        </p:tav>
                                        <p:tav tm="100000">
                                          <p:val>
                                            <p:fltVal val="1"/>
                                          </p:val>
                                        </p:tav>
                                      </p:tavLst>
                                    </p:anim>
                                    <p:animScale>
                                      <p:cBhvr>
                                        <p:cTn id="265" dur="26">
                                          <p:stCondLst>
                                            <p:cond delay="650"/>
                                          </p:stCondLst>
                                        </p:cTn>
                                        <p:tgtEl>
                                          <p:spTgt spid="37"/>
                                        </p:tgtEl>
                                      </p:cBhvr>
                                      <p:to x="100000" y="60000"/>
                                    </p:animScale>
                                    <p:animScale>
                                      <p:cBhvr>
                                        <p:cTn id="266" dur="166" decel="50000">
                                          <p:stCondLst>
                                            <p:cond delay="676"/>
                                          </p:stCondLst>
                                        </p:cTn>
                                        <p:tgtEl>
                                          <p:spTgt spid="37"/>
                                        </p:tgtEl>
                                      </p:cBhvr>
                                      <p:to x="100000" y="100000"/>
                                    </p:animScale>
                                    <p:animScale>
                                      <p:cBhvr>
                                        <p:cTn id="267" dur="26">
                                          <p:stCondLst>
                                            <p:cond delay="1312"/>
                                          </p:stCondLst>
                                        </p:cTn>
                                        <p:tgtEl>
                                          <p:spTgt spid="37"/>
                                        </p:tgtEl>
                                      </p:cBhvr>
                                      <p:to x="100000" y="80000"/>
                                    </p:animScale>
                                    <p:animScale>
                                      <p:cBhvr>
                                        <p:cTn id="268" dur="166" decel="50000">
                                          <p:stCondLst>
                                            <p:cond delay="1338"/>
                                          </p:stCondLst>
                                        </p:cTn>
                                        <p:tgtEl>
                                          <p:spTgt spid="37"/>
                                        </p:tgtEl>
                                      </p:cBhvr>
                                      <p:to x="100000" y="100000"/>
                                    </p:animScale>
                                    <p:animScale>
                                      <p:cBhvr>
                                        <p:cTn id="269" dur="26">
                                          <p:stCondLst>
                                            <p:cond delay="1642"/>
                                          </p:stCondLst>
                                        </p:cTn>
                                        <p:tgtEl>
                                          <p:spTgt spid="37"/>
                                        </p:tgtEl>
                                      </p:cBhvr>
                                      <p:to x="100000" y="90000"/>
                                    </p:animScale>
                                    <p:animScale>
                                      <p:cBhvr>
                                        <p:cTn id="270" dur="166" decel="50000">
                                          <p:stCondLst>
                                            <p:cond delay="1668"/>
                                          </p:stCondLst>
                                        </p:cTn>
                                        <p:tgtEl>
                                          <p:spTgt spid="37"/>
                                        </p:tgtEl>
                                      </p:cBhvr>
                                      <p:to x="100000" y="100000"/>
                                    </p:animScale>
                                    <p:animScale>
                                      <p:cBhvr>
                                        <p:cTn id="271" dur="26">
                                          <p:stCondLst>
                                            <p:cond delay="1808"/>
                                          </p:stCondLst>
                                        </p:cTn>
                                        <p:tgtEl>
                                          <p:spTgt spid="37"/>
                                        </p:tgtEl>
                                      </p:cBhvr>
                                      <p:to x="100000" y="95000"/>
                                    </p:animScale>
                                    <p:animScale>
                                      <p:cBhvr>
                                        <p:cTn id="272" dur="166" decel="50000">
                                          <p:stCondLst>
                                            <p:cond delay="1834"/>
                                          </p:stCondLst>
                                        </p:cTn>
                                        <p:tgtEl>
                                          <p:spTgt spid="37"/>
                                        </p:tgtEl>
                                      </p:cBhvr>
                                      <p:to x="100000" y="100000"/>
                                    </p:animScale>
                                  </p:childTnLst>
                                </p:cTn>
                              </p:par>
                            </p:childTnLst>
                          </p:cTn>
                        </p:par>
                      </p:childTnLst>
                    </p:cTn>
                  </p:par>
                  <p:par>
                    <p:cTn id="273" fill="hold">
                      <p:stCondLst>
                        <p:cond delay="indefinite"/>
                      </p:stCondLst>
                      <p:childTnLst>
                        <p:par>
                          <p:cTn id="274" fill="hold">
                            <p:stCondLst>
                              <p:cond delay="0"/>
                            </p:stCondLst>
                            <p:childTnLst>
                              <p:par>
                                <p:cTn id="275" presetID="42" presetClass="entr" presetSubtype="0" fill="hold" grpId="0" nodeType="clickEffect">
                                  <p:stCondLst>
                                    <p:cond delay="0"/>
                                  </p:stCondLst>
                                  <p:childTnLst>
                                    <p:set>
                                      <p:cBhvr>
                                        <p:cTn id="276" dur="1" fill="hold">
                                          <p:stCondLst>
                                            <p:cond delay="0"/>
                                          </p:stCondLst>
                                        </p:cTn>
                                        <p:tgtEl>
                                          <p:spTgt spid="39"/>
                                        </p:tgtEl>
                                        <p:attrNameLst>
                                          <p:attrName>style.visibility</p:attrName>
                                        </p:attrNameLst>
                                      </p:cBhvr>
                                      <p:to>
                                        <p:strVal val="visible"/>
                                      </p:to>
                                    </p:set>
                                    <p:animEffect transition="in" filter="fade">
                                      <p:cBhvr>
                                        <p:cTn id="277" dur="1000"/>
                                        <p:tgtEl>
                                          <p:spTgt spid="39"/>
                                        </p:tgtEl>
                                      </p:cBhvr>
                                    </p:animEffect>
                                    <p:anim calcmode="lin" valueType="num">
                                      <p:cBhvr>
                                        <p:cTn id="278" dur="1000" fill="hold"/>
                                        <p:tgtEl>
                                          <p:spTgt spid="39"/>
                                        </p:tgtEl>
                                        <p:attrNameLst>
                                          <p:attrName>ppt_x</p:attrName>
                                        </p:attrNameLst>
                                      </p:cBhvr>
                                      <p:tavLst>
                                        <p:tav tm="0">
                                          <p:val>
                                            <p:strVal val="#ppt_x"/>
                                          </p:val>
                                        </p:tav>
                                        <p:tav tm="100000">
                                          <p:val>
                                            <p:strVal val="#ppt_x"/>
                                          </p:val>
                                        </p:tav>
                                      </p:tavLst>
                                    </p:anim>
                                    <p:anim calcmode="lin" valueType="num">
                                      <p:cBhvr>
                                        <p:cTn id="279" dur="1000" fill="hold"/>
                                        <p:tgtEl>
                                          <p:spTgt spid="3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94" grpId="0"/>
      <p:bldP spid="96" grpId="0"/>
      <p:bldP spid="37" grpId="0" animBg="1"/>
      <p:bldP spid="39" grpId="0" animBg="1"/>
      <p:bldP spid="51" grpId="0" animBg="1"/>
      <p:bldP spid="41" grpId="0" animBg="1"/>
      <p:bldP spid="42" grpId="0" animBg="1"/>
      <p:bldP spid="43" grpId="0" animBg="1"/>
      <p:bldP spid="44" grpId="0" animBg="1"/>
      <p:bldP spid="45" grpId="0" animBg="1"/>
      <p:bldP spid="46" grpId="0" animBg="1"/>
      <p:bldP spid="52" grpId="0" animBg="1"/>
      <p:bldP spid="5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6E89A129-2810-4121-97A1-215370DB2F83}" type="slidenum">
              <a:rPr lang="en-US" smtClean="0"/>
              <a:pPr/>
              <a:t>38</a:t>
            </a:fld>
            <a:endParaRPr lang="en-US"/>
          </a:p>
        </p:txBody>
      </p:sp>
      <p:sp>
        <p:nvSpPr>
          <p:cNvPr id="47" name="Flowchart: Magnetic Disk 46"/>
          <p:cNvSpPr/>
          <p:nvPr/>
        </p:nvSpPr>
        <p:spPr>
          <a:xfrm>
            <a:off x="3602432" y="1330571"/>
            <a:ext cx="2334023" cy="4582634"/>
          </a:xfrm>
          <a:prstGeom prst="flowChartMagneticDisk">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 name="Flowchart: Magnetic Disk 47"/>
          <p:cNvSpPr/>
          <p:nvPr/>
        </p:nvSpPr>
        <p:spPr>
          <a:xfrm>
            <a:off x="3602430" y="4257881"/>
            <a:ext cx="2334023" cy="1655324"/>
          </a:xfrm>
          <a:prstGeom prst="flowChartMagneticDisk">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0" name="Flowchart: Magnetic Disk 49"/>
          <p:cNvSpPr/>
          <p:nvPr/>
        </p:nvSpPr>
        <p:spPr>
          <a:xfrm>
            <a:off x="6611446" y="1330571"/>
            <a:ext cx="2334023" cy="4582634"/>
          </a:xfrm>
          <a:prstGeom prst="flowChartMagneticDisk">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6" name="Straight Connector 65"/>
          <p:cNvCxnSpPr/>
          <p:nvPr/>
        </p:nvCxnSpPr>
        <p:spPr>
          <a:xfrm>
            <a:off x="3288949" y="3257825"/>
            <a:ext cx="3024000" cy="0"/>
          </a:xfrm>
          <a:prstGeom prst="line">
            <a:avLst/>
          </a:prstGeom>
          <a:ln w="25400" cmpd="sng">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67" name="TextBox 66"/>
          <p:cNvSpPr txBox="1"/>
          <p:nvPr/>
        </p:nvSpPr>
        <p:spPr>
          <a:xfrm>
            <a:off x="2625694" y="3088818"/>
            <a:ext cx="988304" cy="307777"/>
          </a:xfrm>
          <a:prstGeom prst="rect">
            <a:avLst/>
          </a:prstGeom>
          <a:noFill/>
        </p:spPr>
        <p:txBody>
          <a:bodyPr wrap="square" rtlCol="0">
            <a:spAutoFit/>
          </a:bodyPr>
          <a:lstStyle/>
          <a:p>
            <a:r>
              <a:rPr lang="en-IN" sz="1400" b="1" dirty="0"/>
              <a:t>Rs. 115</a:t>
            </a:r>
          </a:p>
        </p:txBody>
      </p:sp>
      <p:cxnSp>
        <p:nvCxnSpPr>
          <p:cNvPr id="90" name="Straight Arrow Connector 89"/>
          <p:cNvCxnSpPr/>
          <p:nvPr/>
        </p:nvCxnSpPr>
        <p:spPr>
          <a:xfrm flipH="1">
            <a:off x="3487029" y="3420350"/>
            <a:ext cx="0" cy="72000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91" name="TextBox 90"/>
          <p:cNvSpPr txBox="1"/>
          <p:nvPr/>
        </p:nvSpPr>
        <p:spPr>
          <a:xfrm>
            <a:off x="3027202" y="3640363"/>
            <a:ext cx="521962" cy="307777"/>
          </a:xfrm>
          <a:prstGeom prst="rect">
            <a:avLst/>
          </a:prstGeom>
          <a:noFill/>
        </p:spPr>
        <p:txBody>
          <a:bodyPr wrap="square" rtlCol="0">
            <a:spAutoFit/>
          </a:bodyPr>
          <a:lstStyle/>
          <a:p>
            <a:r>
              <a:rPr lang="en-IN" sz="1400" b="1" dirty="0"/>
              <a:t>15%</a:t>
            </a:r>
          </a:p>
        </p:txBody>
      </p:sp>
      <p:sp>
        <p:nvSpPr>
          <p:cNvPr id="94" name="TextBox 93"/>
          <p:cNvSpPr txBox="1"/>
          <p:nvPr/>
        </p:nvSpPr>
        <p:spPr>
          <a:xfrm>
            <a:off x="9305958" y="4533743"/>
            <a:ext cx="988304" cy="307777"/>
          </a:xfrm>
          <a:prstGeom prst="rect">
            <a:avLst/>
          </a:prstGeom>
          <a:noFill/>
        </p:spPr>
        <p:txBody>
          <a:bodyPr wrap="square" rtlCol="0">
            <a:spAutoFit/>
          </a:bodyPr>
          <a:lstStyle/>
          <a:p>
            <a:r>
              <a:rPr lang="en-IN" sz="1400" b="1" dirty="0"/>
              <a:t>Rs. 97</a:t>
            </a:r>
          </a:p>
        </p:txBody>
      </p:sp>
      <p:sp>
        <p:nvSpPr>
          <p:cNvPr id="96" name="TextBox 95"/>
          <p:cNvSpPr txBox="1"/>
          <p:nvPr/>
        </p:nvSpPr>
        <p:spPr>
          <a:xfrm>
            <a:off x="9385214" y="3005132"/>
            <a:ext cx="988304" cy="307777"/>
          </a:xfrm>
          <a:prstGeom prst="rect">
            <a:avLst/>
          </a:prstGeom>
          <a:noFill/>
        </p:spPr>
        <p:txBody>
          <a:bodyPr wrap="square" rtlCol="0">
            <a:spAutoFit/>
          </a:bodyPr>
          <a:lstStyle/>
          <a:p>
            <a:r>
              <a:rPr lang="en-IN" sz="1400" b="1" dirty="0"/>
              <a:t>Rs. ~115</a:t>
            </a:r>
          </a:p>
        </p:txBody>
      </p:sp>
      <p:cxnSp>
        <p:nvCxnSpPr>
          <p:cNvPr id="32" name="Straight Connector 31"/>
          <p:cNvCxnSpPr/>
          <p:nvPr/>
        </p:nvCxnSpPr>
        <p:spPr>
          <a:xfrm>
            <a:off x="3162225" y="4671669"/>
            <a:ext cx="3084357" cy="0"/>
          </a:xfrm>
          <a:prstGeom prst="line">
            <a:avLst/>
          </a:prstGeom>
          <a:ln w="25400" cmpd="sng">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2527299" y="4527978"/>
            <a:ext cx="988304" cy="307777"/>
          </a:xfrm>
          <a:prstGeom prst="rect">
            <a:avLst/>
          </a:prstGeom>
          <a:noFill/>
        </p:spPr>
        <p:txBody>
          <a:bodyPr wrap="square" rtlCol="0">
            <a:spAutoFit/>
          </a:bodyPr>
          <a:lstStyle/>
          <a:p>
            <a:r>
              <a:rPr lang="en-IN" sz="1400" b="1" dirty="0"/>
              <a:t>  Rs. 97</a:t>
            </a:r>
          </a:p>
        </p:txBody>
      </p:sp>
      <p:sp>
        <p:nvSpPr>
          <p:cNvPr id="3" name="Rectangle 2"/>
          <p:cNvSpPr/>
          <p:nvPr/>
        </p:nvSpPr>
        <p:spPr>
          <a:xfrm>
            <a:off x="1710138" y="4929675"/>
            <a:ext cx="1831113" cy="983530"/>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Cost of production of goods is Rs. 97</a:t>
            </a:r>
          </a:p>
        </p:txBody>
      </p:sp>
      <p:sp>
        <p:nvSpPr>
          <p:cNvPr id="36" name="Rectangle 35"/>
          <p:cNvSpPr/>
          <p:nvPr/>
        </p:nvSpPr>
        <p:spPr>
          <a:xfrm>
            <a:off x="1672708" y="1545768"/>
            <a:ext cx="1754464" cy="983530"/>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Service tax 15% and embedded VAT of ~3%</a:t>
            </a:r>
          </a:p>
        </p:txBody>
      </p:sp>
      <p:sp>
        <p:nvSpPr>
          <p:cNvPr id="37" name="Rectangle 36"/>
          <p:cNvSpPr/>
          <p:nvPr/>
        </p:nvSpPr>
        <p:spPr>
          <a:xfrm>
            <a:off x="9117696" y="1144894"/>
            <a:ext cx="1241390" cy="1297320"/>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Service tax replaced by GST</a:t>
            </a:r>
          </a:p>
        </p:txBody>
      </p:sp>
      <p:sp>
        <p:nvSpPr>
          <p:cNvPr id="39" name="Rectangle 38"/>
          <p:cNvSpPr/>
          <p:nvPr/>
        </p:nvSpPr>
        <p:spPr>
          <a:xfrm>
            <a:off x="9117475" y="4949078"/>
            <a:ext cx="1346760" cy="1487884"/>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Overall incidence of tax will be same</a:t>
            </a:r>
          </a:p>
        </p:txBody>
      </p:sp>
      <p:sp>
        <p:nvSpPr>
          <p:cNvPr id="40" name="Rectangle 39"/>
          <p:cNvSpPr/>
          <p:nvPr/>
        </p:nvSpPr>
        <p:spPr>
          <a:xfrm>
            <a:off x="1666554" y="119455"/>
            <a:ext cx="6737294" cy="584775"/>
          </a:xfrm>
          <a:prstGeom prst="rect">
            <a:avLst/>
          </a:prstGeom>
        </p:spPr>
        <p:txBody>
          <a:bodyPr wrap="none">
            <a:spAutoFit/>
          </a:bodyPr>
          <a:lstStyle/>
          <a:p>
            <a:r>
              <a:rPr lang="en-US" sz="3200" b="1" dirty="0">
                <a:solidFill>
                  <a:srgbClr val="002060"/>
                </a:solidFill>
              </a:rPr>
              <a:t>Reduction in Price of Goods under GST</a:t>
            </a:r>
          </a:p>
        </p:txBody>
      </p:sp>
      <p:cxnSp>
        <p:nvCxnSpPr>
          <p:cNvPr id="98" name="Straight Connector 97"/>
          <p:cNvCxnSpPr/>
          <p:nvPr/>
        </p:nvCxnSpPr>
        <p:spPr>
          <a:xfrm>
            <a:off x="6301118" y="4707815"/>
            <a:ext cx="3084357" cy="0"/>
          </a:xfrm>
          <a:prstGeom prst="line">
            <a:avLst/>
          </a:prstGeom>
          <a:ln w="25400" cmpd="sng">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51" name="Flowchart: Magnetic Disk 50"/>
          <p:cNvSpPr/>
          <p:nvPr/>
        </p:nvSpPr>
        <p:spPr>
          <a:xfrm>
            <a:off x="6611447" y="4257881"/>
            <a:ext cx="2334023" cy="1655324"/>
          </a:xfrm>
          <a:prstGeom prst="flowChartMagneticDisk">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Left Arrow 34">
            <a:hlinkClick r:id="rId2" action="ppaction://hlinksldjump"/>
          </p:cNvPr>
          <p:cNvSpPr/>
          <p:nvPr/>
        </p:nvSpPr>
        <p:spPr>
          <a:xfrm>
            <a:off x="8827417" y="229056"/>
            <a:ext cx="319087" cy="365570"/>
          </a:xfrm>
          <a:prstGeom prst="leftArrow">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Flowchart: Magnetic Disk 48"/>
          <p:cNvSpPr/>
          <p:nvPr/>
        </p:nvSpPr>
        <p:spPr>
          <a:xfrm>
            <a:off x="3597355" y="3937650"/>
            <a:ext cx="2334023" cy="859786"/>
          </a:xfrm>
          <a:prstGeom prst="flowChartMagneticDisk">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Flowchart: Magnetic Disk 45"/>
          <p:cNvSpPr/>
          <p:nvPr/>
        </p:nvSpPr>
        <p:spPr>
          <a:xfrm>
            <a:off x="6611447" y="3312908"/>
            <a:ext cx="2334023" cy="1485069"/>
          </a:xfrm>
          <a:prstGeom prst="flowChartMagneticDisk">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2" name="Oval 51"/>
          <p:cNvSpPr/>
          <p:nvPr/>
        </p:nvSpPr>
        <p:spPr>
          <a:xfrm>
            <a:off x="7340173" y="4065519"/>
            <a:ext cx="948188" cy="410359"/>
          </a:xfrm>
          <a:prstGeom prst="ellipse">
            <a:avLst/>
          </a:prstGeom>
          <a:solidFill>
            <a:srgbClr val="002060"/>
          </a:solidFill>
        </p:spPr>
        <p:style>
          <a:lnRef idx="0">
            <a:schemeClr val="dk1"/>
          </a:lnRef>
          <a:fillRef idx="3">
            <a:schemeClr val="dk1"/>
          </a:fillRef>
          <a:effectRef idx="3">
            <a:schemeClr val="dk1"/>
          </a:effectRef>
          <a:fontRef idx="minor">
            <a:schemeClr val="lt1"/>
          </a:fontRef>
        </p:style>
        <p:txBody>
          <a:bodyPr rtlCol="0" anchor="ctr"/>
          <a:lstStyle/>
          <a:p>
            <a:pPr algn="ctr"/>
            <a:r>
              <a:rPr lang="en-US" sz="1200" b="1" dirty="0"/>
              <a:t>GST </a:t>
            </a:r>
          </a:p>
        </p:txBody>
      </p:sp>
      <p:cxnSp>
        <p:nvCxnSpPr>
          <p:cNvPr id="54" name="Straight Arrow Connector 53"/>
          <p:cNvCxnSpPr/>
          <p:nvPr/>
        </p:nvCxnSpPr>
        <p:spPr>
          <a:xfrm flipH="1">
            <a:off x="9160818" y="3275210"/>
            <a:ext cx="0" cy="129600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55" name="TextBox 54"/>
          <p:cNvSpPr txBox="1"/>
          <p:nvPr/>
        </p:nvSpPr>
        <p:spPr>
          <a:xfrm>
            <a:off x="9150925" y="3698419"/>
            <a:ext cx="521962" cy="307777"/>
          </a:xfrm>
          <a:prstGeom prst="rect">
            <a:avLst/>
          </a:prstGeom>
          <a:noFill/>
        </p:spPr>
        <p:txBody>
          <a:bodyPr wrap="square" rtlCol="0">
            <a:spAutoFit/>
          </a:bodyPr>
          <a:lstStyle/>
          <a:p>
            <a:r>
              <a:rPr lang="en-IN" sz="1400" b="1" dirty="0"/>
              <a:t>18%</a:t>
            </a:r>
          </a:p>
        </p:txBody>
      </p:sp>
      <p:sp>
        <p:nvSpPr>
          <p:cNvPr id="34" name="Flowchart: Magnetic Disk 33"/>
          <p:cNvSpPr/>
          <p:nvPr/>
        </p:nvSpPr>
        <p:spPr>
          <a:xfrm>
            <a:off x="3597355" y="3312909"/>
            <a:ext cx="2334023" cy="1011873"/>
          </a:xfrm>
          <a:prstGeom prst="flowChartMagneticDisk">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Oval 37"/>
          <p:cNvSpPr/>
          <p:nvPr/>
        </p:nvSpPr>
        <p:spPr>
          <a:xfrm>
            <a:off x="4162801" y="3747898"/>
            <a:ext cx="1213278" cy="421481"/>
          </a:xfrm>
          <a:prstGeom prst="ellipse">
            <a:avLst/>
          </a:prstGeom>
          <a:solidFill>
            <a:srgbClr val="002060"/>
          </a:solidFill>
        </p:spPr>
        <p:style>
          <a:lnRef idx="0">
            <a:schemeClr val="dk1"/>
          </a:lnRef>
          <a:fillRef idx="3">
            <a:schemeClr val="dk1"/>
          </a:fillRef>
          <a:effectRef idx="3">
            <a:schemeClr val="dk1"/>
          </a:effectRef>
          <a:fontRef idx="minor">
            <a:schemeClr val="lt1"/>
          </a:fontRef>
        </p:style>
        <p:txBody>
          <a:bodyPr rtlCol="0" anchor="ctr"/>
          <a:lstStyle/>
          <a:p>
            <a:pPr algn="ctr"/>
            <a:r>
              <a:rPr lang="en-US" sz="1200" b="1" dirty="0"/>
              <a:t>Service</a:t>
            </a:r>
          </a:p>
          <a:p>
            <a:pPr algn="ctr"/>
            <a:r>
              <a:rPr lang="en-US" sz="1200" b="1" dirty="0"/>
              <a:t>Tax</a:t>
            </a:r>
          </a:p>
        </p:txBody>
      </p:sp>
      <p:sp>
        <p:nvSpPr>
          <p:cNvPr id="53" name="Oval 52"/>
          <p:cNvSpPr/>
          <p:nvPr/>
        </p:nvSpPr>
        <p:spPr>
          <a:xfrm>
            <a:off x="4368803" y="4420614"/>
            <a:ext cx="754743" cy="317905"/>
          </a:xfrm>
          <a:prstGeom prst="ellipse">
            <a:avLst/>
          </a:prstGeom>
          <a:solidFill>
            <a:srgbClr val="002060"/>
          </a:solidFill>
        </p:spPr>
        <p:style>
          <a:lnRef idx="0">
            <a:schemeClr val="dk1"/>
          </a:lnRef>
          <a:fillRef idx="3">
            <a:schemeClr val="dk1"/>
          </a:fillRef>
          <a:effectRef idx="3">
            <a:schemeClr val="dk1"/>
          </a:effectRef>
          <a:fontRef idx="minor">
            <a:schemeClr val="lt1"/>
          </a:fontRef>
        </p:style>
        <p:txBody>
          <a:bodyPr rtlCol="0" anchor="ctr"/>
          <a:lstStyle/>
          <a:p>
            <a:pPr algn="ctr"/>
            <a:r>
              <a:rPr lang="en-US" sz="1200" b="1" dirty="0"/>
              <a:t>VAT</a:t>
            </a:r>
          </a:p>
        </p:txBody>
      </p:sp>
      <p:cxnSp>
        <p:nvCxnSpPr>
          <p:cNvPr id="56" name="Straight Connector 55"/>
          <p:cNvCxnSpPr/>
          <p:nvPr/>
        </p:nvCxnSpPr>
        <p:spPr>
          <a:xfrm>
            <a:off x="3162225" y="4235064"/>
            <a:ext cx="3084357" cy="0"/>
          </a:xfrm>
          <a:prstGeom prst="line">
            <a:avLst/>
          </a:prstGeom>
          <a:ln w="25400" cmpd="sng">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57" name="TextBox 56"/>
          <p:cNvSpPr txBox="1"/>
          <p:nvPr/>
        </p:nvSpPr>
        <p:spPr>
          <a:xfrm>
            <a:off x="2527299" y="4091373"/>
            <a:ext cx="988304" cy="307777"/>
          </a:xfrm>
          <a:prstGeom prst="rect">
            <a:avLst/>
          </a:prstGeom>
          <a:noFill/>
        </p:spPr>
        <p:txBody>
          <a:bodyPr wrap="square" rtlCol="0">
            <a:spAutoFit/>
          </a:bodyPr>
          <a:lstStyle/>
          <a:p>
            <a:r>
              <a:rPr lang="en-IN" sz="1400" b="1" dirty="0"/>
              <a:t>Rs. 100</a:t>
            </a:r>
          </a:p>
        </p:txBody>
      </p:sp>
      <p:cxnSp>
        <p:nvCxnSpPr>
          <p:cNvPr id="58" name="Straight Connector 57"/>
          <p:cNvCxnSpPr/>
          <p:nvPr/>
        </p:nvCxnSpPr>
        <p:spPr>
          <a:xfrm>
            <a:off x="6373307" y="3257825"/>
            <a:ext cx="3084357" cy="0"/>
          </a:xfrm>
          <a:prstGeom prst="line">
            <a:avLst/>
          </a:prstGeom>
          <a:ln w="25400" cmpd="sng">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41" name="Rectangle 40"/>
          <p:cNvSpPr/>
          <p:nvPr/>
        </p:nvSpPr>
        <p:spPr>
          <a:xfrm>
            <a:off x="10250906" y="6625390"/>
            <a:ext cx="417096" cy="182880"/>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22</a:t>
            </a:r>
          </a:p>
        </p:txBody>
      </p:sp>
    </p:spTree>
    <p:extLst>
      <p:ext uri="{BB962C8B-B14F-4D97-AF65-F5344CB8AC3E}">
        <p14:creationId xmlns:p14="http://schemas.microsoft.com/office/powerpoint/2010/main" val="3900768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xit" presetSubtype="0" fill="hold" grpId="0" nodeType="clickEffect">
                                  <p:stCondLst>
                                    <p:cond delay="0"/>
                                  </p:stCondLst>
                                  <p:childTnLst>
                                    <p:animEffect transition="out" filter="wipe(down)">
                                      <p:cBhvr>
                                        <p:cTn id="6" dur="180" accel="50000">
                                          <p:stCondLst>
                                            <p:cond delay="1820"/>
                                          </p:stCondLst>
                                        </p:cTn>
                                        <p:tgtEl>
                                          <p:spTgt spid="38"/>
                                        </p:tgtEl>
                                      </p:cBhvr>
                                    </p:animEffect>
                                    <p:anim calcmode="lin" valueType="num">
                                      <p:cBhvr>
                                        <p:cTn id="7" dur="1822" tmFilter="0,0; 0.14,0.31; 0.43,0.73; 0.71,0.91; 1.0,1.0">
                                          <p:stCondLst>
                                            <p:cond delay="0"/>
                                          </p:stCondLst>
                                        </p:cTn>
                                        <p:tgtEl>
                                          <p:spTgt spid="38"/>
                                        </p:tgtEl>
                                        <p:attrNameLst>
                                          <p:attrName>ppt_x</p:attrName>
                                        </p:attrNameLst>
                                      </p:cBhvr>
                                      <p:tavLst>
                                        <p:tav tm="0">
                                          <p:val>
                                            <p:strVal val="ppt_x"/>
                                          </p:val>
                                        </p:tav>
                                        <p:tav tm="100000">
                                          <p:val>
                                            <p:strVal val="#ppt_x+0.25"/>
                                          </p:val>
                                        </p:tav>
                                      </p:tavLst>
                                    </p:anim>
                                    <p:anim calcmode="lin" valueType="num">
                                      <p:cBhvr>
                                        <p:cTn id="8" dur="178">
                                          <p:stCondLst>
                                            <p:cond delay="1822"/>
                                          </p:stCondLst>
                                        </p:cTn>
                                        <p:tgtEl>
                                          <p:spTgt spid="38"/>
                                        </p:tgtEl>
                                        <p:attrNameLst>
                                          <p:attrName>ppt_x</p:attrName>
                                        </p:attrNameLst>
                                      </p:cBhvr>
                                      <p:tavLst>
                                        <p:tav tm="0">
                                          <p:val>
                                            <p:strVal val="ppt_x"/>
                                          </p:val>
                                        </p:tav>
                                        <p:tav tm="100000">
                                          <p:val>
                                            <p:strVal val="ppt_x"/>
                                          </p:val>
                                        </p:tav>
                                      </p:tavLst>
                                    </p:anim>
                                    <p:anim calcmode="lin" valueType="num">
                                      <p:cBhvr>
                                        <p:cTn id="9" dur="664" tmFilter="0.0,0.0;0.25,0.07;0.50,0.2;0.75,0.467;1.0,1.0">
                                          <p:stCondLst>
                                            <p:cond delay="0"/>
                                          </p:stCondLst>
                                        </p:cTn>
                                        <p:tgtEl>
                                          <p:spTgt spid="38"/>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10" dur="664" tmFilter="0, 0; 0.125,0.2665; 0.25,0.4; 0.375,0.465; 0.5,0.5;  0.625,0.535; 0.75,0.6; 0.875,0.7335; 1,1">
                                          <p:stCondLst>
                                            <p:cond delay="664"/>
                                          </p:stCondLst>
                                        </p:cTn>
                                        <p:tgtEl>
                                          <p:spTgt spid="38"/>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11" dur="332" tmFilter="0, 0; 0.125,0.2665; 0.25,0.4; 0.375,0.465; 0.5,0.5;  0.625,0.535; 0.75,0.6; 0.875,0.7335; 1,1">
                                          <p:stCondLst>
                                            <p:cond delay="1324"/>
                                          </p:stCondLst>
                                        </p:cTn>
                                        <p:tgtEl>
                                          <p:spTgt spid="38"/>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12" dur="164" tmFilter="0, 0; 0.125,0.2665; 0.25,0.4; 0.375,0.465; 0.5,0.5;  0.625,0.535; 0.75,0.6; 0.875,0.7335; 1,1">
                                          <p:stCondLst>
                                            <p:cond delay="1656"/>
                                          </p:stCondLst>
                                        </p:cTn>
                                        <p:tgtEl>
                                          <p:spTgt spid="38"/>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13" dur="180" accel="50000">
                                          <p:stCondLst>
                                            <p:cond delay="1820"/>
                                          </p:stCondLst>
                                        </p:cTn>
                                        <p:tgtEl>
                                          <p:spTgt spid="38"/>
                                        </p:tgtEl>
                                        <p:attrNameLst>
                                          <p:attrName>ppt_y</p:attrName>
                                        </p:attrNameLst>
                                      </p:cBhvr>
                                      <p:tavLst>
                                        <p:tav tm="0">
                                          <p:val>
                                            <p:strVal val="ppt_y"/>
                                          </p:val>
                                        </p:tav>
                                        <p:tav tm="100000">
                                          <p:val>
                                            <p:strVal val="ppt_y+ppt_h"/>
                                          </p:val>
                                        </p:tav>
                                      </p:tavLst>
                                    </p:anim>
                                    <p:animScale>
                                      <p:cBhvr>
                                        <p:cTn id="14" dur="26">
                                          <p:stCondLst>
                                            <p:cond delay="620"/>
                                          </p:stCondLst>
                                        </p:cTn>
                                        <p:tgtEl>
                                          <p:spTgt spid="38"/>
                                        </p:tgtEl>
                                      </p:cBhvr>
                                      <p:to x="100000" y="60000"/>
                                    </p:animScale>
                                    <p:animScale>
                                      <p:cBhvr>
                                        <p:cTn id="15" dur="166" decel="50000">
                                          <p:stCondLst>
                                            <p:cond delay="646"/>
                                          </p:stCondLst>
                                        </p:cTn>
                                        <p:tgtEl>
                                          <p:spTgt spid="38"/>
                                        </p:tgtEl>
                                      </p:cBhvr>
                                      <p:to x="100000" y="100000"/>
                                    </p:animScale>
                                    <p:animScale>
                                      <p:cBhvr>
                                        <p:cTn id="16" dur="26">
                                          <p:stCondLst>
                                            <p:cond delay="1312"/>
                                          </p:stCondLst>
                                        </p:cTn>
                                        <p:tgtEl>
                                          <p:spTgt spid="38"/>
                                        </p:tgtEl>
                                      </p:cBhvr>
                                      <p:to x="100000" y="80000"/>
                                    </p:animScale>
                                    <p:animScale>
                                      <p:cBhvr>
                                        <p:cTn id="17" dur="166" decel="50000">
                                          <p:stCondLst>
                                            <p:cond delay="1338"/>
                                          </p:stCondLst>
                                        </p:cTn>
                                        <p:tgtEl>
                                          <p:spTgt spid="38"/>
                                        </p:tgtEl>
                                      </p:cBhvr>
                                      <p:to x="100000" y="100000"/>
                                    </p:animScale>
                                    <p:animScale>
                                      <p:cBhvr>
                                        <p:cTn id="18" dur="26">
                                          <p:stCondLst>
                                            <p:cond delay="1642"/>
                                          </p:stCondLst>
                                        </p:cTn>
                                        <p:tgtEl>
                                          <p:spTgt spid="38"/>
                                        </p:tgtEl>
                                      </p:cBhvr>
                                      <p:to x="100000" y="90000"/>
                                    </p:animScale>
                                    <p:animScale>
                                      <p:cBhvr>
                                        <p:cTn id="19" dur="166" decel="50000">
                                          <p:stCondLst>
                                            <p:cond delay="1668"/>
                                          </p:stCondLst>
                                        </p:cTn>
                                        <p:tgtEl>
                                          <p:spTgt spid="38"/>
                                        </p:tgtEl>
                                      </p:cBhvr>
                                      <p:to x="100000" y="100000"/>
                                    </p:animScale>
                                    <p:animScale>
                                      <p:cBhvr>
                                        <p:cTn id="20" dur="26">
                                          <p:stCondLst>
                                            <p:cond delay="1808"/>
                                          </p:stCondLst>
                                        </p:cTn>
                                        <p:tgtEl>
                                          <p:spTgt spid="38"/>
                                        </p:tgtEl>
                                      </p:cBhvr>
                                      <p:to x="100000" y="95000"/>
                                    </p:animScale>
                                    <p:animScale>
                                      <p:cBhvr>
                                        <p:cTn id="21" dur="166" decel="50000">
                                          <p:stCondLst>
                                            <p:cond delay="1834"/>
                                          </p:stCondLst>
                                        </p:cTn>
                                        <p:tgtEl>
                                          <p:spTgt spid="38"/>
                                        </p:tgtEl>
                                      </p:cBhvr>
                                      <p:to x="100000" y="100000"/>
                                    </p:animScale>
                                    <p:set>
                                      <p:cBhvr>
                                        <p:cTn id="22" dur="1" fill="hold">
                                          <p:stCondLst>
                                            <p:cond delay="1999"/>
                                          </p:stCondLst>
                                        </p:cTn>
                                        <p:tgtEl>
                                          <p:spTgt spid="38"/>
                                        </p:tgtEl>
                                        <p:attrNameLst>
                                          <p:attrName>style.visibility</p:attrName>
                                        </p:attrNameLst>
                                      </p:cBhvr>
                                      <p:to>
                                        <p:strVal val="hidden"/>
                                      </p:to>
                                    </p:set>
                                  </p:childTnLst>
                                </p:cTn>
                              </p:par>
                              <p:par>
                                <p:cTn id="23" presetID="26" presetClass="exit" presetSubtype="0" fill="hold" grpId="0" nodeType="withEffect">
                                  <p:stCondLst>
                                    <p:cond delay="0"/>
                                  </p:stCondLst>
                                  <p:childTnLst>
                                    <p:animEffect transition="out" filter="wipe(down)">
                                      <p:cBhvr>
                                        <p:cTn id="24" dur="180" accel="50000">
                                          <p:stCondLst>
                                            <p:cond delay="1820"/>
                                          </p:stCondLst>
                                        </p:cTn>
                                        <p:tgtEl>
                                          <p:spTgt spid="53"/>
                                        </p:tgtEl>
                                      </p:cBhvr>
                                    </p:animEffect>
                                    <p:anim calcmode="lin" valueType="num">
                                      <p:cBhvr>
                                        <p:cTn id="25" dur="1822" tmFilter="0,0; 0.14,0.31; 0.43,0.73; 0.71,0.91; 1.0,1.0">
                                          <p:stCondLst>
                                            <p:cond delay="0"/>
                                          </p:stCondLst>
                                        </p:cTn>
                                        <p:tgtEl>
                                          <p:spTgt spid="53"/>
                                        </p:tgtEl>
                                        <p:attrNameLst>
                                          <p:attrName>ppt_x</p:attrName>
                                        </p:attrNameLst>
                                      </p:cBhvr>
                                      <p:tavLst>
                                        <p:tav tm="0">
                                          <p:val>
                                            <p:strVal val="ppt_x"/>
                                          </p:val>
                                        </p:tav>
                                        <p:tav tm="100000">
                                          <p:val>
                                            <p:strVal val="#ppt_x+0.25"/>
                                          </p:val>
                                        </p:tav>
                                      </p:tavLst>
                                    </p:anim>
                                    <p:anim calcmode="lin" valueType="num">
                                      <p:cBhvr>
                                        <p:cTn id="26" dur="178">
                                          <p:stCondLst>
                                            <p:cond delay="1822"/>
                                          </p:stCondLst>
                                        </p:cTn>
                                        <p:tgtEl>
                                          <p:spTgt spid="53"/>
                                        </p:tgtEl>
                                        <p:attrNameLst>
                                          <p:attrName>ppt_x</p:attrName>
                                        </p:attrNameLst>
                                      </p:cBhvr>
                                      <p:tavLst>
                                        <p:tav tm="0">
                                          <p:val>
                                            <p:strVal val="ppt_x"/>
                                          </p:val>
                                        </p:tav>
                                        <p:tav tm="100000">
                                          <p:val>
                                            <p:strVal val="ppt_x"/>
                                          </p:val>
                                        </p:tav>
                                      </p:tavLst>
                                    </p:anim>
                                    <p:anim calcmode="lin" valueType="num">
                                      <p:cBhvr>
                                        <p:cTn id="27" dur="664" tmFilter="0.0,0.0;0.25,0.07;0.50,0.2;0.75,0.467;1.0,1.0">
                                          <p:stCondLst>
                                            <p:cond delay="0"/>
                                          </p:stCondLst>
                                        </p:cTn>
                                        <p:tgtEl>
                                          <p:spTgt spid="53"/>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28" dur="664" tmFilter="0, 0; 0.125,0.2665; 0.25,0.4; 0.375,0.465; 0.5,0.5;  0.625,0.535; 0.75,0.6; 0.875,0.7335; 1,1">
                                          <p:stCondLst>
                                            <p:cond delay="664"/>
                                          </p:stCondLst>
                                        </p:cTn>
                                        <p:tgtEl>
                                          <p:spTgt spid="53"/>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29" dur="332" tmFilter="0, 0; 0.125,0.2665; 0.25,0.4; 0.375,0.465; 0.5,0.5;  0.625,0.535; 0.75,0.6; 0.875,0.7335; 1,1">
                                          <p:stCondLst>
                                            <p:cond delay="1324"/>
                                          </p:stCondLst>
                                        </p:cTn>
                                        <p:tgtEl>
                                          <p:spTgt spid="53"/>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30" dur="164" tmFilter="0, 0; 0.125,0.2665; 0.25,0.4; 0.375,0.465; 0.5,0.5;  0.625,0.535; 0.75,0.6; 0.875,0.7335; 1,1">
                                          <p:stCondLst>
                                            <p:cond delay="1656"/>
                                          </p:stCondLst>
                                        </p:cTn>
                                        <p:tgtEl>
                                          <p:spTgt spid="53"/>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31" dur="180" accel="50000">
                                          <p:stCondLst>
                                            <p:cond delay="1820"/>
                                          </p:stCondLst>
                                        </p:cTn>
                                        <p:tgtEl>
                                          <p:spTgt spid="53"/>
                                        </p:tgtEl>
                                        <p:attrNameLst>
                                          <p:attrName>ppt_y</p:attrName>
                                        </p:attrNameLst>
                                      </p:cBhvr>
                                      <p:tavLst>
                                        <p:tav tm="0">
                                          <p:val>
                                            <p:strVal val="ppt_y"/>
                                          </p:val>
                                        </p:tav>
                                        <p:tav tm="100000">
                                          <p:val>
                                            <p:strVal val="ppt_y+ppt_h"/>
                                          </p:val>
                                        </p:tav>
                                      </p:tavLst>
                                    </p:anim>
                                    <p:animScale>
                                      <p:cBhvr>
                                        <p:cTn id="32" dur="26">
                                          <p:stCondLst>
                                            <p:cond delay="620"/>
                                          </p:stCondLst>
                                        </p:cTn>
                                        <p:tgtEl>
                                          <p:spTgt spid="53"/>
                                        </p:tgtEl>
                                      </p:cBhvr>
                                      <p:to x="100000" y="60000"/>
                                    </p:animScale>
                                    <p:animScale>
                                      <p:cBhvr>
                                        <p:cTn id="33" dur="166" decel="50000">
                                          <p:stCondLst>
                                            <p:cond delay="646"/>
                                          </p:stCondLst>
                                        </p:cTn>
                                        <p:tgtEl>
                                          <p:spTgt spid="53"/>
                                        </p:tgtEl>
                                      </p:cBhvr>
                                      <p:to x="100000" y="100000"/>
                                    </p:animScale>
                                    <p:animScale>
                                      <p:cBhvr>
                                        <p:cTn id="34" dur="26">
                                          <p:stCondLst>
                                            <p:cond delay="1312"/>
                                          </p:stCondLst>
                                        </p:cTn>
                                        <p:tgtEl>
                                          <p:spTgt spid="53"/>
                                        </p:tgtEl>
                                      </p:cBhvr>
                                      <p:to x="100000" y="80000"/>
                                    </p:animScale>
                                    <p:animScale>
                                      <p:cBhvr>
                                        <p:cTn id="35" dur="166" decel="50000">
                                          <p:stCondLst>
                                            <p:cond delay="1338"/>
                                          </p:stCondLst>
                                        </p:cTn>
                                        <p:tgtEl>
                                          <p:spTgt spid="53"/>
                                        </p:tgtEl>
                                      </p:cBhvr>
                                      <p:to x="100000" y="100000"/>
                                    </p:animScale>
                                    <p:animScale>
                                      <p:cBhvr>
                                        <p:cTn id="36" dur="26">
                                          <p:stCondLst>
                                            <p:cond delay="1642"/>
                                          </p:stCondLst>
                                        </p:cTn>
                                        <p:tgtEl>
                                          <p:spTgt spid="53"/>
                                        </p:tgtEl>
                                      </p:cBhvr>
                                      <p:to x="100000" y="90000"/>
                                    </p:animScale>
                                    <p:animScale>
                                      <p:cBhvr>
                                        <p:cTn id="37" dur="166" decel="50000">
                                          <p:stCondLst>
                                            <p:cond delay="1668"/>
                                          </p:stCondLst>
                                        </p:cTn>
                                        <p:tgtEl>
                                          <p:spTgt spid="53"/>
                                        </p:tgtEl>
                                      </p:cBhvr>
                                      <p:to x="100000" y="100000"/>
                                    </p:animScale>
                                    <p:animScale>
                                      <p:cBhvr>
                                        <p:cTn id="38" dur="26">
                                          <p:stCondLst>
                                            <p:cond delay="1808"/>
                                          </p:stCondLst>
                                        </p:cTn>
                                        <p:tgtEl>
                                          <p:spTgt spid="53"/>
                                        </p:tgtEl>
                                      </p:cBhvr>
                                      <p:to x="100000" y="95000"/>
                                    </p:animScale>
                                    <p:animScale>
                                      <p:cBhvr>
                                        <p:cTn id="39" dur="166" decel="50000">
                                          <p:stCondLst>
                                            <p:cond delay="1834"/>
                                          </p:stCondLst>
                                        </p:cTn>
                                        <p:tgtEl>
                                          <p:spTgt spid="53"/>
                                        </p:tgtEl>
                                      </p:cBhvr>
                                      <p:to x="100000" y="100000"/>
                                    </p:animScale>
                                    <p:set>
                                      <p:cBhvr>
                                        <p:cTn id="40" dur="1" fill="hold">
                                          <p:stCondLst>
                                            <p:cond delay="1999"/>
                                          </p:stCondLst>
                                        </p:cTn>
                                        <p:tgtEl>
                                          <p:spTgt spid="53"/>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26" presetClass="entr" presetSubtype="0" fill="hold" grpId="0" nodeType="clickEffect">
                                  <p:stCondLst>
                                    <p:cond delay="0"/>
                                  </p:stCondLst>
                                  <p:childTnLst>
                                    <p:set>
                                      <p:cBhvr>
                                        <p:cTn id="44" dur="1" fill="hold">
                                          <p:stCondLst>
                                            <p:cond delay="0"/>
                                          </p:stCondLst>
                                        </p:cTn>
                                        <p:tgtEl>
                                          <p:spTgt spid="51"/>
                                        </p:tgtEl>
                                        <p:attrNameLst>
                                          <p:attrName>style.visibility</p:attrName>
                                        </p:attrNameLst>
                                      </p:cBhvr>
                                      <p:to>
                                        <p:strVal val="visible"/>
                                      </p:to>
                                    </p:set>
                                    <p:animEffect transition="in" filter="wipe(down)">
                                      <p:cBhvr>
                                        <p:cTn id="45" dur="580">
                                          <p:stCondLst>
                                            <p:cond delay="0"/>
                                          </p:stCondLst>
                                        </p:cTn>
                                        <p:tgtEl>
                                          <p:spTgt spid="51"/>
                                        </p:tgtEl>
                                      </p:cBhvr>
                                    </p:animEffect>
                                    <p:anim calcmode="lin" valueType="num">
                                      <p:cBhvr>
                                        <p:cTn id="46" dur="1822" tmFilter="0,0; 0.14,0.36; 0.43,0.73; 0.71,0.91; 1.0,1.0">
                                          <p:stCondLst>
                                            <p:cond delay="0"/>
                                          </p:stCondLst>
                                        </p:cTn>
                                        <p:tgtEl>
                                          <p:spTgt spid="51"/>
                                        </p:tgtEl>
                                        <p:attrNameLst>
                                          <p:attrName>ppt_x</p:attrName>
                                        </p:attrNameLst>
                                      </p:cBhvr>
                                      <p:tavLst>
                                        <p:tav tm="0">
                                          <p:val>
                                            <p:strVal val="#ppt_x-0.25"/>
                                          </p:val>
                                        </p:tav>
                                        <p:tav tm="100000">
                                          <p:val>
                                            <p:strVal val="#ppt_x"/>
                                          </p:val>
                                        </p:tav>
                                      </p:tavLst>
                                    </p:anim>
                                    <p:anim calcmode="lin" valueType="num">
                                      <p:cBhvr>
                                        <p:cTn id="47" dur="664" tmFilter="0.0,0.0; 0.25,0.07; 0.50,0.2; 0.75,0.467; 1.0,1.0">
                                          <p:stCondLst>
                                            <p:cond delay="0"/>
                                          </p:stCondLst>
                                        </p:cTn>
                                        <p:tgtEl>
                                          <p:spTgt spid="51"/>
                                        </p:tgtEl>
                                        <p:attrNameLst>
                                          <p:attrName>ppt_y</p:attrName>
                                        </p:attrNameLst>
                                      </p:cBhvr>
                                      <p:tavLst>
                                        <p:tav tm="0" fmla="#ppt_y-sin(pi*$)/3">
                                          <p:val>
                                            <p:fltVal val="0.5"/>
                                          </p:val>
                                        </p:tav>
                                        <p:tav tm="100000">
                                          <p:val>
                                            <p:fltVal val="1"/>
                                          </p:val>
                                        </p:tav>
                                      </p:tavLst>
                                    </p:anim>
                                    <p:anim calcmode="lin" valueType="num">
                                      <p:cBhvr>
                                        <p:cTn id="48" dur="664" tmFilter="0, 0; 0.125,0.2665; 0.25,0.4; 0.375,0.465; 0.5,0.5;  0.625,0.535; 0.75,0.6; 0.875,0.7335; 1,1">
                                          <p:stCondLst>
                                            <p:cond delay="664"/>
                                          </p:stCondLst>
                                        </p:cTn>
                                        <p:tgtEl>
                                          <p:spTgt spid="51"/>
                                        </p:tgtEl>
                                        <p:attrNameLst>
                                          <p:attrName>ppt_y</p:attrName>
                                        </p:attrNameLst>
                                      </p:cBhvr>
                                      <p:tavLst>
                                        <p:tav tm="0" fmla="#ppt_y-sin(pi*$)/9">
                                          <p:val>
                                            <p:fltVal val="0"/>
                                          </p:val>
                                        </p:tav>
                                        <p:tav tm="100000">
                                          <p:val>
                                            <p:fltVal val="1"/>
                                          </p:val>
                                        </p:tav>
                                      </p:tavLst>
                                    </p:anim>
                                    <p:anim calcmode="lin" valueType="num">
                                      <p:cBhvr>
                                        <p:cTn id="49" dur="332" tmFilter="0, 0; 0.125,0.2665; 0.25,0.4; 0.375,0.465; 0.5,0.5;  0.625,0.535; 0.75,0.6; 0.875,0.7335; 1,1">
                                          <p:stCondLst>
                                            <p:cond delay="1324"/>
                                          </p:stCondLst>
                                        </p:cTn>
                                        <p:tgtEl>
                                          <p:spTgt spid="51"/>
                                        </p:tgtEl>
                                        <p:attrNameLst>
                                          <p:attrName>ppt_y</p:attrName>
                                        </p:attrNameLst>
                                      </p:cBhvr>
                                      <p:tavLst>
                                        <p:tav tm="0" fmla="#ppt_y-sin(pi*$)/27">
                                          <p:val>
                                            <p:fltVal val="0"/>
                                          </p:val>
                                        </p:tav>
                                        <p:tav tm="100000">
                                          <p:val>
                                            <p:fltVal val="1"/>
                                          </p:val>
                                        </p:tav>
                                      </p:tavLst>
                                    </p:anim>
                                    <p:anim calcmode="lin" valueType="num">
                                      <p:cBhvr>
                                        <p:cTn id="50" dur="164" tmFilter="0, 0; 0.125,0.2665; 0.25,0.4; 0.375,0.465; 0.5,0.5;  0.625,0.535; 0.75,0.6; 0.875,0.7335; 1,1">
                                          <p:stCondLst>
                                            <p:cond delay="1656"/>
                                          </p:stCondLst>
                                        </p:cTn>
                                        <p:tgtEl>
                                          <p:spTgt spid="51"/>
                                        </p:tgtEl>
                                        <p:attrNameLst>
                                          <p:attrName>ppt_y</p:attrName>
                                        </p:attrNameLst>
                                      </p:cBhvr>
                                      <p:tavLst>
                                        <p:tav tm="0" fmla="#ppt_y-sin(pi*$)/81">
                                          <p:val>
                                            <p:fltVal val="0"/>
                                          </p:val>
                                        </p:tav>
                                        <p:tav tm="100000">
                                          <p:val>
                                            <p:fltVal val="1"/>
                                          </p:val>
                                        </p:tav>
                                      </p:tavLst>
                                    </p:anim>
                                    <p:animScale>
                                      <p:cBhvr>
                                        <p:cTn id="51" dur="26">
                                          <p:stCondLst>
                                            <p:cond delay="650"/>
                                          </p:stCondLst>
                                        </p:cTn>
                                        <p:tgtEl>
                                          <p:spTgt spid="51"/>
                                        </p:tgtEl>
                                      </p:cBhvr>
                                      <p:to x="100000" y="60000"/>
                                    </p:animScale>
                                    <p:animScale>
                                      <p:cBhvr>
                                        <p:cTn id="52" dur="166" decel="50000">
                                          <p:stCondLst>
                                            <p:cond delay="676"/>
                                          </p:stCondLst>
                                        </p:cTn>
                                        <p:tgtEl>
                                          <p:spTgt spid="51"/>
                                        </p:tgtEl>
                                      </p:cBhvr>
                                      <p:to x="100000" y="100000"/>
                                    </p:animScale>
                                    <p:animScale>
                                      <p:cBhvr>
                                        <p:cTn id="53" dur="26">
                                          <p:stCondLst>
                                            <p:cond delay="1312"/>
                                          </p:stCondLst>
                                        </p:cTn>
                                        <p:tgtEl>
                                          <p:spTgt spid="51"/>
                                        </p:tgtEl>
                                      </p:cBhvr>
                                      <p:to x="100000" y="80000"/>
                                    </p:animScale>
                                    <p:animScale>
                                      <p:cBhvr>
                                        <p:cTn id="54" dur="166" decel="50000">
                                          <p:stCondLst>
                                            <p:cond delay="1338"/>
                                          </p:stCondLst>
                                        </p:cTn>
                                        <p:tgtEl>
                                          <p:spTgt spid="51"/>
                                        </p:tgtEl>
                                      </p:cBhvr>
                                      <p:to x="100000" y="100000"/>
                                    </p:animScale>
                                    <p:animScale>
                                      <p:cBhvr>
                                        <p:cTn id="55" dur="26">
                                          <p:stCondLst>
                                            <p:cond delay="1642"/>
                                          </p:stCondLst>
                                        </p:cTn>
                                        <p:tgtEl>
                                          <p:spTgt spid="51"/>
                                        </p:tgtEl>
                                      </p:cBhvr>
                                      <p:to x="100000" y="90000"/>
                                    </p:animScale>
                                    <p:animScale>
                                      <p:cBhvr>
                                        <p:cTn id="56" dur="166" decel="50000">
                                          <p:stCondLst>
                                            <p:cond delay="1668"/>
                                          </p:stCondLst>
                                        </p:cTn>
                                        <p:tgtEl>
                                          <p:spTgt spid="51"/>
                                        </p:tgtEl>
                                      </p:cBhvr>
                                      <p:to x="100000" y="100000"/>
                                    </p:animScale>
                                    <p:animScale>
                                      <p:cBhvr>
                                        <p:cTn id="57" dur="26">
                                          <p:stCondLst>
                                            <p:cond delay="1808"/>
                                          </p:stCondLst>
                                        </p:cTn>
                                        <p:tgtEl>
                                          <p:spTgt spid="51"/>
                                        </p:tgtEl>
                                      </p:cBhvr>
                                      <p:to x="100000" y="95000"/>
                                    </p:animScale>
                                    <p:animScale>
                                      <p:cBhvr>
                                        <p:cTn id="58" dur="166" decel="50000">
                                          <p:stCondLst>
                                            <p:cond delay="1834"/>
                                          </p:stCondLst>
                                        </p:cTn>
                                        <p:tgtEl>
                                          <p:spTgt spid="51"/>
                                        </p:tgtEl>
                                      </p:cBhvr>
                                      <p:to x="100000" y="100000"/>
                                    </p:animScale>
                                  </p:childTnLst>
                                </p:cTn>
                              </p:par>
                              <p:par>
                                <p:cTn id="59" presetID="26" presetClass="entr" presetSubtype="0" fill="hold" grpId="0" nodeType="withEffect">
                                  <p:stCondLst>
                                    <p:cond delay="0"/>
                                  </p:stCondLst>
                                  <p:childTnLst>
                                    <p:set>
                                      <p:cBhvr>
                                        <p:cTn id="60" dur="1" fill="hold">
                                          <p:stCondLst>
                                            <p:cond delay="0"/>
                                          </p:stCondLst>
                                        </p:cTn>
                                        <p:tgtEl>
                                          <p:spTgt spid="46"/>
                                        </p:tgtEl>
                                        <p:attrNameLst>
                                          <p:attrName>style.visibility</p:attrName>
                                        </p:attrNameLst>
                                      </p:cBhvr>
                                      <p:to>
                                        <p:strVal val="visible"/>
                                      </p:to>
                                    </p:set>
                                    <p:animEffect transition="in" filter="wipe(down)">
                                      <p:cBhvr>
                                        <p:cTn id="61" dur="580">
                                          <p:stCondLst>
                                            <p:cond delay="0"/>
                                          </p:stCondLst>
                                        </p:cTn>
                                        <p:tgtEl>
                                          <p:spTgt spid="46"/>
                                        </p:tgtEl>
                                      </p:cBhvr>
                                    </p:animEffect>
                                    <p:anim calcmode="lin" valueType="num">
                                      <p:cBhvr>
                                        <p:cTn id="62" dur="1822" tmFilter="0,0; 0.14,0.36; 0.43,0.73; 0.71,0.91; 1.0,1.0">
                                          <p:stCondLst>
                                            <p:cond delay="0"/>
                                          </p:stCondLst>
                                        </p:cTn>
                                        <p:tgtEl>
                                          <p:spTgt spid="46"/>
                                        </p:tgtEl>
                                        <p:attrNameLst>
                                          <p:attrName>ppt_x</p:attrName>
                                        </p:attrNameLst>
                                      </p:cBhvr>
                                      <p:tavLst>
                                        <p:tav tm="0">
                                          <p:val>
                                            <p:strVal val="#ppt_x-0.25"/>
                                          </p:val>
                                        </p:tav>
                                        <p:tav tm="100000">
                                          <p:val>
                                            <p:strVal val="#ppt_x"/>
                                          </p:val>
                                        </p:tav>
                                      </p:tavLst>
                                    </p:anim>
                                    <p:anim calcmode="lin" valueType="num">
                                      <p:cBhvr>
                                        <p:cTn id="63" dur="664" tmFilter="0.0,0.0; 0.25,0.07; 0.50,0.2; 0.75,0.467; 1.0,1.0">
                                          <p:stCondLst>
                                            <p:cond delay="0"/>
                                          </p:stCondLst>
                                        </p:cTn>
                                        <p:tgtEl>
                                          <p:spTgt spid="46"/>
                                        </p:tgtEl>
                                        <p:attrNameLst>
                                          <p:attrName>ppt_y</p:attrName>
                                        </p:attrNameLst>
                                      </p:cBhvr>
                                      <p:tavLst>
                                        <p:tav tm="0" fmla="#ppt_y-sin(pi*$)/3">
                                          <p:val>
                                            <p:fltVal val="0.5"/>
                                          </p:val>
                                        </p:tav>
                                        <p:tav tm="100000">
                                          <p:val>
                                            <p:fltVal val="1"/>
                                          </p:val>
                                        </p:tav>
                                      </p:tavLst>
                                    </p:anim>
                                    <p:anim calcmode="lin" valueType="num">
                                      <p:cBhvr>
                                        <p:cTn id="64" dur="664" tmFilter="0, 0; 0.125,0.2665; 0.25,0.4; 0.375,0.465; 0.5,0.5;  0.625,0.535; 0.75,0.6; 0.875,0.7335; 1,1">
                                          <p:stCondLst>
                                            <p:cond delay="664"/>
                                          </p:stCondLst>
                                        </p:cTn>
                                        <p:tgtEl>
                                          <p:spTgt spid="46"/>
                                        </p:tgtEl>
                                        <p:attrNameLst>
                                          <p:attrName>ppt_y</p:attrName>
                                        </p:attrNameLst>
                                      </p:cBhvr>
                                      <p:tavLst>
                                        <p:tav tm="0" fmla="#ppt_y-sin(pi*$)/9">
                                          <p:val>
                                            <p:fltVal val="0"/>
                                          </p:val>
                                        </p:tav>
                                        <p:tav tm="100000">
                                          <p:val>
                                            <p:fltVal val="1"/>
                                          </p:val>
                                        </p:tav>
                                      </p:tavLst>
                                    </p:anim>
                                    <p:anim calcmode="lin" valueType="num">
                                      <p:cBhvr>
                                        <p:cTn id="65" dur="332" tmFilter="0, 0; 0.125,0.2665; 0.25,0.4; 0.375,0.465; 0.5,0.5;  0.625,0.535; 0.75,0.6; 0.875,0.7335; 1,1">
                                          <p:stCondLst>
                                            <p:cond delay="1324"/>
                                          </p:stCondLst>
                                        </p:cTn>
                                        <p:tgtEl>
                                          <p:spTgt spid="46"/>
                                        </p:tgtEl>
                                        <p:attrNameLst>
                                          <p:attrName>ppt_y</p:attrName>
                                        </p:attrNameLst>
                                      </p:cBhvr>
                                      <p:tavLst>
                                        <p:tav tm="0" fmla="#ppt_y-sin(pi*$)/27">
                                          <p:val>
                                            <p:fltVal val="0"/>
                                          </p:val>
                                        </p:tav>
                                        <p:tav tm="100000">
                                          <p:val>
                                            <p:fltVal val="1"/>
                                          </p:val>
                                        </p:tav>
                                      </p:tavLst>
                                    </p:anim>
                                    <p:anim calcmode="lin" valueType="num">
                                      <p:cBhvr>
                                        <p:cTn id="66" dur="164" tmFilter="0, 0; 0.125,0.2665; 0.25,0.4; 0.375,0.465; 0.5,0.5;  0.625,0.535; 0.75,0.6; 0.875,0.7335; 1,1">
                                          <p:stCondLst>
                                            <p:cond delay="1656"/>
                                          </p:stCondLst>
                                        </p:cTn>
                                        <p:tgtEl>
                                          <p:spTgt spid="46"/>
                                        </p:tgtEl>
                                        <p:attrNameLst>
                                          <p:attrName>ppt_y</p:attrName>
                                        </p:attrNameLst>
                                      </p:cBhvr>
                                      <p:tavLst>
                                        <p:tav tm="0" fmla="#ppt_y-sin(pi*$)/81">
                                          <p:val>
                                            <p:fltVal val="0"/>
                                          </p:val>
                                        </p:tav>
                                        <p:tav tm="100000">
                                          <p:val>
                                            <p:fltVal val="1"/>
                                          </p:val>
                                        </p:tav>
                                      </p:tavLst>
                                    </p:anim>
                                    <p:animScale>
                                      <p:cBhvr>
                                        <p:cTn id="67" dur="26">
                                          <p:stCondLst>
                                            <p:cond delay="650"/>
                                          </p:stCondLst>
                                        </p:cTn>
                                        <p:tgtEl>
                                          <p:spTgt spid="46"/>
                                        </p:tgtEl>
                                      </p:cBhvr>
                                      <p:to x="100000" y="60000"/>
                                    </p:animScale>
                                    <p:animScale>
                                      <p:cBhvr>
                                        <p:cTn id="68" dur="166" decel="50000">
                                          <p:stCondLst>
                                            <p:cond delay="676"/>
                                          </p:stCondLst>
                                        </p:cTn>
                                        <p:tgtEl>
                                          <p:spTgt spid="46"/>
                                        </p:tgtEl>
                                      </p:cBhvr>
                                      <p:to x="100000" y="100000"/>
                                    </p:animScale>
                                    <p:animScale>
                                      <p:cBhvr>
                                        <p:cTn id="69" dur="26">
                                          <p:stCondLst>
                                            <p:cond delay="1312"/>
                                          </p:stCondLst>
                                        </p:cTn>
                                        <p:tgtEl>
                                          <p:spTgt spid="46"/>
                                        </p:tgtEl>
                                      </p:cBhvr>
                                      <p:to x="100000" y="80000"/>
                                    </p:animScale>
                                    <p:animScale>
                                      <p:cBhvr>
                                        <p:cTn id="70" dur="166" decel="50000">
                                          <p:stCondLst>
                                            <p:cond delay="1338"/>
                                          </p:stCondLst>
                                        </p:cTn>
                                        <p:tgtEl>
                                          <p:spTgt spid="46"/>
                                        </p:tgtEl>
                                      </p:cBhvr>
                                      <p:to x="100000" y="100000"/>
                                    </p:animScale>
                                    <p:animScale>
                                      <p:cBhvr>
                                        <p:cTn id="71" dur="26">
                                          <p:stCondLst>
                                            <p:cond delay="1642"/>
                                          </p:stCondLst>
                                        </p:cTn>
                                        <p:tgtEl>
                                          <p:spTgt spid="46"/>
                                        </p:tgtEl>
                                      </p:cBhvr>
                                      <p:to x="100000" y="90000"/>
                                    </p:animScale>
                                    <p:animScale>
                                      <p:cBhvr>
                                        <p:cTn id="72" dur="166" decel="50000">
                                          <p:stCondLst>
                                            <p:cond delay="1668"/>
                                          </p:stCondLst>
                                        </p:cTn>
                                        <p:tgtEl>
                                          <p:spTgt spid="46"/>
                                        </p:tgtEl>
                                      </p:cBhvr>
                                      <p:to x="100000" y="100000"/>
                                    </p:animScale>
                                    <p:animScale>
                                      <p:cBhvr>
                                        <p:cTn id="73" dur="26">
                                          <p:stCondLst>
                                            <p:cond delay="1808"/>
                                          </p:stCondLst>
                                        </p:cTn>
                                        <p:tgtEl>
                                          <p:spTgt spid="46"/>
                                        </p:tgtEl>
                                      </p:cBhvr>
                                      <p:to x="100000" y="95000"/>
                                    </p:animScale>
                                    <p:animScale>
                                      <p:cBhvr>
                                        <p:cTn id="74" dur="166" decel="50000">
                                          <p:stCondLst>
                                            <p:cond delay="1834"/>
                                          </p:stCondLst>
                                        </p:cTn>
                                        <p:tgtEl>
                                          <p:spTgt spid="46"/>
                                        </p:tgtEl>
                                      </p:cBhvr>
                                      <p:to x="100000" y="100000"/>
                                    </p:animScale>
                                  </p:childTnLst>
                                </p:cTn>
                              </p:par>
                              <p:par>
                                <p:cTn id="75" presetID="26" presetClass="entr" presetSubtype="0" fill="hold" grpId="0" nodeType="withEffect">
                                  <p:stCondLst>
                                    <p:cond delay="0"/>
                                  </p:stCondLst>
                                  <p:childTnLst>
                                    <p:set>
                                      <p:cBhvr>
                                        <p:cTn id="76" dur="1" fill="hold">
                                          <p:stCondLst>
                                            <p:cond delay="0"/>
                                          </p:stCondLst>
                                        </p:cTn>
                                        <p:tgtEl>
                                          <p:spTgt spid="52"/>
                                        </p:tgtEl>
                                        <p:attrNameLst>
                                          <p:attrName>style.visibility</p:attrName>
                                        </p:attrNameLst>
                                      </p:cBhvr>
                                      <p:to>
                                        <p:strVal val="visible"/>
                                      </p:to>
                                    </p:set>
                                    <p:animEffect transition="in" filter="wipe(down)">
                                      <p:cBhvr>
                                        <p:cTn id="77" dur="580">
                                          <p:stCondLst>
                                            <p:cond delay="0"/>
                                          </p:stCondLst>
                                        </p:cTn>
                                        <p:tgtEl>
                                          <p:spTgt spid="52"/>
                                        </p:tgtEl>
                                      </p:cBhvr>
                                    </p:animEffect>
                                    <p:anim calcmode="lin" valueType="num">
                                      <p:cBhvr>
                                        <p:cTn id="78" dur="1822" tmFilter="0,0; 0.14,0.36; 0.43,0.73; 0.71,0.91; 1.0,1.0">
                                          <p:stCondLst>
                                            <p:cond delay="0"/>
                                          </p:stCondLst>
                                        </p:cTn>
                                        <p:tgtEl>
                                          <p:spTgt spid="52"/>
                                        </p:tgtEl>
                                        <p:attrNameLst>
                                          <p:attrName>ppt_x</p:attrName>
                                        </p:attrNameLst>
                                      </p:cBhvr>
                                      <p:tavLst>
                                        <p:tav tm="0">
                                          <p:val>
                                            <p:strVal val="#ppt_x-0.25"/>
                                          </p:val>
                                        </p:tav>
                                        <p:tav tm="100000">
                                          <p:val>
                                            <p:strVal val="#ppt_x"/>
                                          </p:val>
                                        </p:tav>
                                      </p:tavLst>
                                    </p:anim>
                                    <p:anim calcmode="lin" valueType="num">
                                      <p:cBhvr>
                                        <p:cTn id="79" dur="664" tmFilter="0.0,0.0; 0.25,0.07; 0.50,0.2; 0.75,0.467; 1.0,1.0">
                                          <p:stCondLst>
                                            <p:cond delay="0"/>
                                          </p:stCondLst>
                                        </p:cTn>
                                        <p:tgtEl>
                                          <p:spTgt spid="52"/>
                                        </p:tgtEl>
                                        <p:attrNameLst>
                                          <p:attrName>ppt_y</p:attrName>
                                        </p:attrNameLst>
                                      </p:cBhvr>
                                      <p:tavLst>
                                        <p:tav tm="0" fmla="#ppt_y-sin(pi*$)/3">
                                          <p:val>
                                            <p:fltVal val="0.5"/>
                                          </p:val>
                                        </p:tav>
                                        <p:tav tm="100000">
                                          <p:val>
                                            <p:fltVal val="1"/>
                                          </p:val>
                                        </p:tav>
                                      </p:tavLst>
                                    </p:anim>
                                    <p:anim calcmode="lin" valueType="num">
                                      <p:cBhvr>
                                        <p:cTn id="80" dur="664" tmFilter="0, 0; 0.125,0.2665; 0.25,0.4; 0.375,0.465; 0.5,0.5;  0.625,0.535; 0.75,0.6; 0.875,0.7335; 1,1">
                                          <p:stCondLst>
                                            <p:cond delay="664"/>
                                          </p:stCondLst>
                                        </p:cTn>
                                        <p:tgtEl>
                                          <p:spTgt spid="52"/>
                                        </p:tgtEl>
                                        <p:attrNameLst>
                                          <p:attrName>ppt_y</p:attrName>
                                        </p:attrNameLst>
                                      </p:cBhvr>
                                      <p:tavLst>
                                        <p:tav tm="0" fmla="#ppt_y-sin(pi*$)/9">
                                          <p:val>
                                            <p:fltVal val="0"/>
                                          </p:val>
                                        </p:tav>
                                        <p:tav tm="100000">
                                          <p:val>
                                            <p:fltVal val="1"/>
                                          </p:val>
                                        </p:tav>
                                      </p:tavLst>
                                    </p:anim>
                                    <p:anim calcmode="lin" valueType="num">
                                      <p:cBhvr>
                                        <p:cTn id="81" dur="332" tmFilter="0, 0; 0.125,0.2665; 0.25,0.4; 0.375,0.465; 0.5,0.5;  0.625,0.535; 0.75,0.6; 0.875,0.7335; 1,1">
                                          <p:stCondLst>
                                            <p:cond delay="1324"/>
                                          </p:stCondLst>
                                        </p:cTn>
                                        <p:tgtEl>
                                          <p:spTgt spid="52"/>
                                        </p:tgtEl>
                                        <p:attrNameLst>
                                          <p:attrName>ppt_y</p:attrName>
                                        </p:attrNameLst>
                                      </p:cBhvr>
                                      <p:tavLst>
                                        <p:tav tm="0" fmla="#ppt_y-sin(pi*$)/27">
                                          <p:val>
                                            <p:fltVal val="0"/>
                                          </p:val>
                                        </p:tav>
                                        <p:tav tm="100000">
                                          <p:val>
                                            <p:fltVal val="1"/>
                                          </p:val>
                                        </p:tav>
                                      </p:tavLst>
                                    </p:anim>
                                    <p:anim calcmode="lin" valueType="num">
                                      <p:cBhvr>
                                        <p:cTn id="82" dur="164" tmFilter="0, 0; 0.125,0.2665; 0.25,0.4; 0.375,0.465; 0.5,0.5;  0.625,0.535; 0.75,0.6; 0.875,0.7335; 1,1">
                                          <p:stCondLst>
                                            <p:cond delay="1656"/>
                                          </p:stCondLst>
                                        </p:cTn>
                                        <p:tgtEl>
                                          <p:spTgt spid="52"/>
                                        </p:tgtEl>
                                        <p:attrNameLst>
                                          <p:attrName>ppt_y</p:attrName>
                                        </p:attrNameLst>
                                      </p:cBhvr>
                                      <p:tavLst>
                                        <p:tav tm="0" fmla="#ppt_y-sin(pi*$)/81">
                                          <p:val>
                                            <p:fltVal val="0"/>
                                          </p:val>
                                        </p:tav>
                                        <p:tav tm="100000">
                                          <p:val>
                                            <p:fltVal val="1"/>
                                          </p:val>
                                        </p:tav>
                                      </p:tavLst>
                                    </p:anim>
                                    <p:animScale>
                                      <p:cBhvr>
                                        <p:cTn id="83" dur="26">
                                          <p:stCondLst>
                                            <p:cond delay="650"/>
                                          </p:stCondLst>
                                        </p:cTn>
                                        <p:tgtEl>
                                          <p:spTgt spid="52"/>
                                        </p:tgtEl>
                                      </p:cBhvr>
                                      <p:to x="100000" y="60000"/>
                                    </p:animScale>
                                    <p:animScale>
                                      <p:cBhvr>
                                        <p:cTn id="84" dur="166" decel="50000">
                                          <p:stCondLst>
                                            <p:cond delay="676"/>
                                          </p:stCondLst>
                                        </p:cTn>
                                        <p:tgtEl>
                                          <p:spTgt spid="52"/>
                                        </p:tgtEl>
                                      </p:cBhvr>
                                      <p:to x="100000" y="100000"/>
                                    </p:animScale>
                                    <p:animScale>
                                      <p:cBhvr>
                                        <p:cTn id="85" dur="26">
                                          <p:stCondLst>
                                            <p:cond delay="1312"/>
                                          </p:stCondLst>
                                        </p:cTn>
                                        <p:tgtEl>
                                          <p:spTgt spid="52"/>
                                        </p:tgtEl>
                                      </p:cBhvr>
                                      <p:to x="100000" y="80000"/>
                                    </p:animScale>
                                    <p:animScale>
                                      <p:cBhvr>
                                        <p:cTn id="86" dur="166" decel="50000">
                                          <p:stCondLst>
                                            <p:cond delay="1338"/>
                                          </p:stCondLst>
                                        </p:cTn>
                                        <p:tgtEl>
                                          <p:spTgt spid="52"/>
                                        </p:tgtEl>
                                      </p:cBhvr>
                                      <p:to x="100000" y="100000"/>
                                    </p:animScale>
                                    <p:animScale>
                                      <p:cBhvr>
                                        <p:cTn id="87" dur="26">
                                          <p:stCondLst>
                                            <p:cond delay="1642"/>
                                          </p:stCondLst>
                                        </p:cTn>
                                        <p:tgtEl>
                                          <p:spTgt spid="52"/>
                                        </p:tgtEl>
                                      </p:cBhvr>
                                      <p:to x="100000" y="90000"/>
                                    </p:animScale>
                                    <p:animScale>
                                      <p:cBhvr>
                                        <p:cTn id="88" dur="166" decel="50000">
                                          <p:stCondLst>
                                            <p:cond delay="1668"/>
                                          </p:stCondLst>
                                        </p:cTn>
                                        <p:tgtEl>
                                          <p:spTgt spid="52"/>
                                        </p:tgtEl>
                                      </p:cBhvr>
                                      <p:to x="100000" y="100000"/>
                                    </p:animScale>
                                    <p:animScale>
                                      <p:cBhvr>
                                        <p:cTn id="89" dur="26">
                                          <p:stCondLst>
                                            <p:cond delay="1808"/>
                                          </p:stCondLst>
                                        </p:cTn>
                                        <p:tgtEl>
                                          <p:spTgt spid="52"/>
                                        </p:tgtEl>
                                      </p:cBhvr>
                                      <p:to x="100000" y="95000"/>
                                    </p:animScale>
                                    <p:animScale>
                                      <p:cBhvr>
                                        <p:cTn id="90" dur="166" decel="50000">
                                          <p:stCondLst>
                                            <p:cond delay="1834"/>
                                          </p:stCondLst>
                                        </p:cTn>
                                        <p:tgtEl>
                                          <p:spTgt spid="52"/>
                                        </p:tgtEl>
                                      </p:cBhvr>
                                      <p:to x="100000" y="100000"/>
                                    </p:animScale>
                                  </p:childTnLst>
                                </p:cTn>
                              </p:par>
                              <p:par>
                                <p:cTn id="91" presetID="26" presetClass="entr" presetSubtype="0" fill="hold" grpId="0" nodeType="withEffect">
                                  <p:stCondLst>
                                    <p:cond delay="0"/>
                                  </p:stCondLst>
                                  <p:childTnLst>
                                    <p:set>
                                      <p:cBhvr>
                                        <p:cTn id="92" dur="1" fill="hold">
                                          <p:stCondLst>
                                            <p:cond delay="0"/>
                                          </p:stCondLst>
                                        </p:cTn>
                                        <p:tgtEl>
                                          <p:spTgt spid="94"/>
                                        </p:tgtEl>
                                        <p:attrNameLst>
                                          <p:attrName>style.visibility</p:attrName>
                                        </p:attrNameLst>
                                      </p:cBhvr>
                                      <p:to>
                                        <p:strVal val="visible"/>
                                      </p:to>
                                    </p:set>
                                    <p:animEffect transition="in" filter="wipe(down)">
                                      <p:cBhvr>
                                        <p:cTn id="93" dur="580">
                                          <p:stCondLst>
                                            <p:cond delay="0"/>
                                          </p:stCondLst>
                                        </p:cTn>
                                        <p:tgtEl>
                                          <p:spTgt spid="94"/>
                                        </p:tgtEl>
                                      </p:cBhvr>
                                    </p:animEffect>
                                    <p:anim calcmode="lin" valueType="num">
                                      <p:cBhvr>
                                        <p:cTn id="94" dur="1822" tmFilter="0,0; 0.14,0.36; 0.43,0.73; 0.71,0.91; 1.0,1.0">
                                          <p:stCondLst>
                                            <p:cond delay="0"/>
                                          </p:stCondLst>
                                        </p:cTn>
                                        <p:tgtEl>
                                          <p:spTgt spid="94"/>
                                        </p:tgtEl>
                                        <p:attrNameLst>
                                          <p:attrName>ppt_x</p:attrName>
                                        </p:attrNameLst>
                                      </p:cBhvr>
                                      <p:tavLst>
                                        <p:tav tm="0">
                                          <p:val>
                                            <p:strVal val="#ppt_x-0.25"/>
                                          </p:val>
                                        </p:tav>
                                        <p:tav tm="100000">
                                          <p:val>
                                            <p:strVal val="#ppt_x"/>
                                          </p:val>
                                        </p:tav>
                                      </p:tavLst>
                                    </p:anim>
                                    <p:anim calcmode="lin" valueType="num">
                                      <p:cBhvr>
                                        <p:cTn id="95" dur="664" tmFilter="0.0,0.0; 0.25,0.07; 0.50,0.2; 0.75,0.467; 1.0,1.0">
                                          <p:stCondLst>
                                            <p:cond delay="0"/>
                                          </p:stCondLst>
                                        </p:cTn>
                                        <p:tgtEl>
                                          <p:spTgt spid="94"/>
                                        </p:tgtEl>
                                        <p:attrNameLst>
                                          <p:attrName>ppt_y</p:attrName>
                                        </p:attrNameLst>
                                      </p:cBhvr>
                                      <p:tavLst>
                                        <p:tav tm="0" fmla="#ppt_y-sin(pi*$)/3">
                                          <p:val>
                                            <p:fltVal val="0.5"/>
                                          </p:val>
                                        </p:tav>
                                        <p:tav tm="100000">
                                          <p:val>
                                            <p:fltVal val="1"/>
                                          </p:val>
                                        </p:tav>
                                      </p:tavLst>
                                    </p:anim>
                                    <p:anim calcmode="lin" valueType="num">
                                      <p:cBhvr>
                                        <p:cTn id="96" dur="664" tmFilter="0, 0; 0.125,0.2665; 0.25,0.4; 0.375,0.465; 0.5,0.5;  0.625,0.535; 0.75,0.6; 0.875,0.7335; 1,1">
                                          <p:stCondLst>
                                            <p:cond delay="664"/>
                                          </p:stCondLst>
                                        </p:cTn>
                                        <p:tgtEl>
                                          <p:spTgt spid="94"/>
                                        </p:tgtEl>
                                        <p:attrNameLst>
                                          <p:attrName>ppt_y</p:attrName>
                                        </p:attrNameLst>
                                      </p:cBhvr>
                                      <p:tavLst>
                                        <p:tav tm="0" fmla="#ppt_y-sin(pi*$)/9">
                                          <p:val>
                                            <p:fltVal val="0"/>
                                          </p:val>
                                        </p:tav>
                                        <p:tav tm="100000">
                                          <p:val>
                                            <p:fltVal val="1"/>
                                          </p:val>
                                        </p:tav>
                                      </p:tavLst>
                                    </p:anim>
                                    <p:anim calcmode="lin" valueType="num">
                                      <p:cBhvr>
                                        <p:cTn id="97" dur="332" tmFilter="0, 0; 0.125,0.2665; 0.25,0.4; 0.375,0.465; 0.5,0.5;  0.625,0.535; 0.75,0.6; 0.875,0.7335; 1,1">
                                          <p:stCondLst>
                                            <p:cond delay="1324"/>
                                          </p:stCondLst>
                                        </p:cTn>
                                        <p:tgtEl>
                                          <p:spTgt spid="94"/>
                                        </p:tgtEl>
                                        <p:attrNameLst>
                                          <p:attrName>ppt_y</p:attrName>
                                        </p:attrNameLst>
                                      </p:cBhvr>
                                      <p:tavLst>
                                        <p:tav tm="0" fmla="#ppt_y-sin(pi*$)/27">
                                          <p:val>
                                            <p:fltVal val="0"/>
                                          </p:val>
                                        </p:tav>
                                        <p:tav tm="100000">
                                          <p:val>
                                            <p:fltVal val="1"/>
                                          </p:val>
                                        </p:tav>
                                      </p:tavLst>
                                    </p:anim>
                                    <p:anim calcmode="lin" valueType="num">
                                      <p:cBhvr>
                                        <p:cTn id="98" dur="164" tmFilter="0, 0; 0.125,0.2665; 0.25,0.4; 0.375,0.465; 0.5,0.5;  0.625,0.535; 0.75,0.6; 0.875,0.7335; 1,1">
                                          <p:stCondLst>
                                            <p:cond delay="1656"/>
                                          </p:stCondLst>
                                        </p:cTn>
                                        <p:tgtEl>
                                          <p:spTgt spid="94"/>
                                        </p:tgtEl>
                                        <p:attrNameLst>
                                          <p:attrName>ppt_y</p:attrName>
                                        </p:attrNameLst>
                                      </p:cBhvr>
                                      <p:tavLst>
                                        <p:tav tm="0" fmla="#ppt_y-sin(pi*$)/81">
                                          <p:val>
                                            <p:fltVal val="0"/>
                                          </p:val>
                                        </p:tav>
                                        <p:tav tm="100000">
                                          <p:val>
                                            <p:fltVal val="1"/>
                                          </p:val>
                                        </p:tav>
                                      </p:tavLst>
                                    </p:anim>
                                    <p:animScale>
                                      <p:cBhvr>
                                        <p:cTn id="99" dur="26">
                                          <p:stCondLst>
                                            <p:cond delay="650"/>
                                          </p:stCondLst>
                                        </p:cTn>
                                        <p:tgtEl>
                                          <p:spTgt spid="94"/>
                                        </p:tgtEl>
                                      </p:cBhvr>
                                      <p:to x="100000" y="60000"/>
                                    </p:animScale>
                                    <p:animScale>
                                      <p:cBhvr>
                                        <p:cTn id="100" dur="166" decel="50000">
                                          <p:stCondLst>
                                            <p:cond delay="676"/>
                                          </p:stCondLst>
                                        </p:cTn>
                                        <p:tgtEl>
                                          <p:spTgt spid="94"/>
                                        </p:tgtEl>
                                      </p:cBhvr>
                                      <p:to x="100000" y="100000"/>
                                    </p:animScale>
                                    <p:animScale>
                                      <p:cBhvr>
                                        <p:cTn id="101" dur="26">
                                          <p:stCondLst>
                                            <p:cond delay="1312"/>
                                          </p:stCondLst>
                                        </p:cTn>
                                        <p:tgtEl>
                                          <p:spTgt spid="94"/>
                                        </p:tgtEl>
                                      </p:cBhvr>
                                      <p:to x="100000" y="80000"/>
                                    </p:animScale>
                                    <p:animScale>
                                      <p:cBhvr>
                                        <p:cTn id="102" dur="166" decel="50000">
                                          <p:stCondLst>
                                            <p:cond delay="1338"/>
                                          </p:stCondLst>
                                        </p:cTn>
                                        <p:tgtEl>
                                          <p:spTgt spid="94"/>
                                        </p:tgtEl>
                                      </p:cBhvr>
                                      <p:to x="100000" y="100000"/>
                                    </p:animScale>
                                    <p:animScale>
                                      <p:cBhvr>
                                        <p:cTn id="103" dur="26">
                                          <p:stCondLst>
                                            <p:cond delay="1642"/>
                                          </p:stCondLst>
                                        </p:cTn>
                                        <p:tgtEl>
                                          <p:spTgt spid="94"/>
                                        </p:tgtEl>
                                      </p:cBhvr>
                                      <p:to x="100000" y="90000"/>
                                    </p:animScale>
                                    <p:animScale>
                                      <p:cBhvr>
                                        <p:cTn id="104" dur="166" decel="50000">
                                          <p:stCondLst>
                                            <p:cond delay="1668"/>
                                          </p:stCondLst>
                                        </p:cTn>
                                        <p:tgtEl>
                                          <p:spTgt spid="94"/>
                                        </p:tgtEl>
                                      </p:cBhvr>
                                      <p:to x="100000" y="100000"/>
                                    </p:animScale>
                                    <p:animScale>
                                      <p:cBhvr>
                                        <p:cTn id="105" dur="26">
                                          <p:stCondLst>
                                            <p:cond delay="1808"/>
                                          </p:stCondLst>
                                        </p:cTn>
                                        <p:tgtEl>
                                          <p:spTgt spid="94"/>
                                        </p:tgtEl>
                                      </p:cBhvr>
                                      <p:to x="100000" y="95000"/>
                                    </p:animScale>
                                    <p:animScale>
                                      <p:cBhvr>
                                        <p:cTn id="106" dur="166" decel="50000">
                                          <p:stCondLst>
                                            <p:cond delay="1834"/>
                                          </p:stCondLst>
                                        </p:cTn>
                                        <p:tgtEl>
                                          <p:spTgt spid="94"/>
                                        </p:tgtEl>
                                      </p:cBhvr>
                                      <p:to x="100000" y="100000"/>
                                    </p:animScale>
                                  </p:childTnLst>
                                </p:cTn>
                              </p:par>
                              <p:par>
                                <p:cTn id="107" presetID="26" presetClass="entr" presetSubtype="0" fill="hold" nodeType="withEffect">
                                  <p:stCondLst>
                                    <p:cond delay="0"/>
                                  </p:stCondLst>
                                  <p:childTnLst>
                                    <p:set>
                                      <p:cBhvr>
                                        <p:cTn id="108" dur="1" fill="hold">
                                          <p:stCondLst>
                                            <p:cond delay="0"/>
                                          </p:stCondLst>
                                        </p:cTn>
                                        <p:tgtEl>
                                          <p:spTgt spid="98"/>
                                        </p:tgtEl>
                                        <p:attrNameLst>
                                          <p:attrName>style.visibility</p:attrName>
                                        </p:attrNameLst>
                                      </p:cBhvr>
                                      <p:to>
                                        <p:strVal val="visible"/>
                                      </p:to>
                                    </p:set>
                                    <p:animEffect transition="in" filter="wipe(down)">
                                      <p:cBhvr>
                                        <p:cTn id="109" dur="580">
                                          <p:stCondLst>
                                            <p:cond delay="0"/>
                                          </p:stCondLst>
                                        </p:cTn>
                                        <p:tgtEl>
                                          <p:spTgt spid="98"/>
                                        </p:tgtEl>
                                      </p:cBhvr>
                                    </p:animEffect>
                                    <p:anim calcmode="lin" valueType="num">
                                      <p:cBhvr>
                                        <p:cTn id="110" dur="1822" tmFilter="0,0; 0.14,0.36; 0.43,0.73; 0.71,0.91; 1.0,1.0">
                                          <p:stCondLst>
                                            <p:cond delay="0"/>
                                          </p:stCondLst>
                                        </p:cTn>
                                        <p:tgtEl>
                                          <p:spTgt spid="98"/>
                                        </p:tgtEl>
                                        <p:attrNameLst>
                                          <p:attrName>ppt_x</p:attrName>
                                        </p:attrNameLst>
                                      </p:cBhvr>
                                      <p:tavLst>
                                        <p:tav tm="0">
                                          <p:val>
                                            <p:strVal val="#ppt_x-0.25"/>
                                          </p:val>
                                        </p:tav>
                                        <p:tav tm="100000">
                                          <p:val>
                                            <p:strVal val="#ppt_x"/>
                                          </p:val>
                                        </p:tav>
                                      </p:tavLst>
                                    </p:anim>
                                    <p:anim calcmode="lin" valueType="num">
                                      <p:cBhvr>
                                        <p:cTn id="111" dur="664" tmFilter="0.0,0.0; 0.25,0.07; 0.50,0.2; 0.75,0.467; 1.0,1.0">
                                          <p:stCondLst>
                                            <p:cond delay="0"/>
                                          </p:stCondLst>
                                        </p:cTn>
                                        <p:tgtEl>
                                          <p:spTgt spid="98"/>
                                        </p:tgtEl>
                                        <p:attrNameLst>
                                          <p:attrName>ppt_y</p:attrName>
                                        </p:attrNameLst>
                                      </p:cBhvr>
                                      <p:tavLst>
                                        <p:tav tm="0" fmla="#ppt_y-sin(pi*$)/3">
                                          <p:val>
                                            <p:fltVal val="0.5"/>
                                          </p:val>
                                        </p:tav>
                                        <p:tav tm="100000">
                                          <p:val>
                                            <p:fltVal val="1"/>
                                          </p:val>
                                        </p:tav>
                                      </p:tavLst>
                                    </p:anim>
                                    <p:anim calcmode="lin" valueType="num">
                                      <p:cBhvr>
                                        <p:cTn id="112" dur="664" tmFilter="0, 0; 0.125,0.2665; 0.25,0.4; 0.375,0.465; 0.5,0.5;  0.625,0.535; 0.75,0.6; 0.875,0.7335; 1,1">
                                          <p:stCondLst>
                                            <p:cond delay="664"/>
                                          </p:stCondLst>
                                        </p:cTn>
                                        <p:tgtEl>
                                          <p:spTgt spid="98"/>
                                        </p:tgtEl>
                                        <p:attrNameLst>
                                          <p:attrName>ppt_y</p:attrName>
                                        </p:attrNameLst>
                                      </p:cBhvr>
                                      <p:tavLst>
                                        <p:tav tm="0" fmla="#ppt_y-sin(pi*$)/9">
                                          <p:val>
                                            <p:fltVal val="0"/>
                                          </p:val>
                                        </p:tav>
                                        <p:tav tm="100000">
                                          <p:val>
                                            <p:fltVal val="1"/>
                                          </p:val>
                                        </p:tav>
                                      </p:tavLst>
                                    </p:anim>
                                    <p:anim calcmode="lin" valueType="num">
                                      <p:cBhvr>
                                        <p:cTn id="113" dur="332" tmFilter="0, 0; 0.125,0.2665; 0.25,0.4; 0.375,0.465; 0.5,0.5;  0.625,0.535; 0.75,0.6; 0.875,0.7335; 1,1">
                                          <p:stCondLst>
                                            <p:cond delay="1324"/>
                                          </p:stCondLst>
                                        </p:cTn>
                                        <p:tgtEl>
                                          <p:spTgt spid="98"/>
                                        </p:tgtEl>
                                        <p:attrNameLst>
                                          <p:attrName>ppt_y</p:attrName>
                                        </p:attrNameLst>
                                      </p:cBhvr>
                                      <p:tavLst>
                                        <p:tav tm="0" fmla="#ppt_y-sin(pi*$)/27">
                                          <p:val>
                                            <p:fltVal val="0"/>
                                          </p:val>
                                        </p:tav>
                                        <p:tav tm="100000">
                                          <p:val>
                                            <p:fltVal val="1"/>
                                          </p:val>
                                        </p:tav>
                                      </p:tavLst>
                                    </p:anim>
                                    <p:anim calcmode="lin" valueType="num">
                                      <p:cBhvr>
                                        <p:cTn id="114" dur="164" tmFilter="0, 0; 0.125,0.2665; 0.25,0.4; 0.375,0.465; 0.5,0.5;  0.625,0.535; 0.75,0.6; 0.875,0.7335; 1,1">
                                          <p:stCondLst>
                                            <p:cond delay="1656"/>
                                          </p:stCondLst>
                                        </p:cTn>
                                        <p:tgtEl>
                                          <p:spTgt spid="98"/>
                                        </p:tgtEl>
                                        <p:attrNameLst>
                                          <p:attrName>ppt_y</p:attrName>
                                        </p:attrNameLst>
                                      </p:cBhvr>
                                      <p:tavLst>
                                        <p:tav tm="0" fmla="#ppt_y-sin(pi*$)/81">
                                          <p:val>
                                            <p:fltVal val="0"/>
                                          </p:val>
                                        </p:tav>
                                        <p:tav tm="100000">
                                          <p:val>
                                            <p:fltVal val="1"/>
                                          </p:val>
                                        </p:tav>
                                      </p:tavLst>
                                    </p:anim>
                                    <p:animScale>
                                      <p:cBhvr>
                                        <p:cTn id="115" dur="26">
                                          <p:stCondLst>
                                            <p:cond delay="650"/>
                                          </p:stCondLst>
                                        </p:cTn>
                                        <p:tgtEl>
                                          <p:spTgt spid="98"/>
                                        </p:tgtEl>
                                      </p:cBhvr>
                                      <p:to x="100000" y="60000"/>
                                    </p:animScale>
                                    <p:animScale>
                                      <p:cBhvr>
                                        <p:cTn id="116" dur="166" decel="50000">
                                          <p:stCondLst>
                                            <p:cond delay="676"/>
                                          </p:stCondLst>
                                        </p:cTn>
                                        <p:tgtEl>
                                          <p:spTgt spid="98"/>
                                        </p:tgtEl>
                                      </p:cBhvr>
                                      <p:to x="100000" y="100000"/>
                                    </p:animScale>
                                    <p:animScale>
                                      <p:cBhvr>
                                        <p:cTn id="117" dur="26">
                                          <p:stCondLst>
                                            <p:cond delay="1312"/>
                                          </p:stCondLst>
                                        </p:cTn>
                                        <p:tgtEl>
                                          <p:spTgt spid="98"/>
                                        </p:tgtEl>
                                      </p:cBhvr>
                                      <p:to x="100000" y="80000"/>
                                    </p:animScale>
                                    <p:animScale>
                                      <p:cBhvr>
                                        <p:cTn id="118" dur="166" decel="50000">
                                          <p:stCondLst>
                                            <p:cond delay="1338"/>
                                          </p:stCondLst>
                                        </p:cTn>
                                        <p:tgtEl>
                                          <p:spTgt spid="98"/>
                                        </p:tgtEl>
                                      </p:cBhvr>
                                      <p:to x="100000" y="100000"/>
                                    </p:animScale>
                                    <p:animScale>
                                      <p:cBhvr>
                                        <p:cTn id="119" dur="26">
                                          <p:stCondLst>
                                            <p:cond delay="1642"/>
                                          </p:stCondLst>
                                        </p:cTn>
                                        <p:tgtEl>
                                          <p:spTgt spid="98"/>
                                        </p:tgtEl>
                                      </p:cBhvr>
                                      <p:to x="100000" y="90000"/>
                                    </p:animScale>
                                    <p:animScale>
                                      <p:cBhvr>
                                        <p:cTn id="120" dur="166" decel="50000">
                                          <p:stCondLst>
                                            <p:cond delay="1668"/>
                                          </p:stCondLst>
                                        </p:cTn>
                                        <p:tgtEl>
                                          <p:spTgt spid="98"/>
                                        </p:tgtEl>
                                      </p:cBhvr>
                                      <p:to x="100000" y="100000"/>
                                    </p:animScale>
                                    <p:animScale>
                                      <p:cBhvr>
                                        <p:cTn id="121" dur="26">
                                          <p:stCondLst>
                                            <p:cond delay="1808"/>
                                          </p:stCondLst>
                                        </p:cTn>
                                        <p:tgtEl>
                                          <p:spTgt spid="98"/>
                                        </p:tgtEl>
                                      </p:cBhvr>
                                      <p:to x="100000" y="95000"/>
                                    </p:animScale>
                                    <p:animScale>
                                      <p:cBhvr>
                                        <p:cTn id="122" dur="166" decel="50000">
                                          <p:stCondLst>
                                            <p:cond delay="1834"/>
                                          </p:stCondLst>
                                        </p:cTn>
                                        <p:tgtEl>
                                          <p:spTgt spid="98"/>
                                        </p:tgtEl>
                                      </p:cBhvr>
                                      <p:to x="100000" y="100000"/>
                                    </p:animScale>
                                  </p:childTnLst>
                                </p:cTn>
                              </p:par>
                              <p:par>
                                <p:cTn id="123" presetID="26" presetClass="entr" presetSubtype="0" fill="hold" grpId="0" nodeType="withEffect">
                                  <p:stCondLst>
                                    <p:cond delay="0"/>
                                  </p:stCondLst>
                                  <p:childTnLst>
                                    <p:set>
                                      <p:cBhvr>
                                        <p:cTn id="124" dur="1" fill="hold">
                                          <p:stCondLst>
                                            <p:cond delay="0"/>
                                          </p:stCondLst>
                                        </p:cTn>
                                        <p:tgtEl>
                                          <p:spTgt spid="55"/>
                                        </p:tgtEl>
                                        <p:attrNameLst>
                                          <p:attrName>style.visibility</p:attrName>
                                        </p:attrNameLst>
                                      </p:cBhvr>
                                      <p:to>
                                        <p:strVal val="visible"/>
                                      </p:to>
                                    </p:set>
                                    <p:animEffect transition="in" filter="wipe(down)">
                                      <p:cBhvr>
                                        <p:cTn id="125" dur="580">
                                          <p:stCondLst>
                                            <p:cond delay="0"/>
                                          </p:stCondLst>
                                        </p:cTn>
                                        <p:tgtEl>
                                          <p:spTgt spid="55"/>
                                        </p:tgtEl>
                                      </p:cBhvr>
                                    </p:animEffect>
                                    <p:anim calcmode="lin" valueType="num">
                                      <p:cBhvr>
                                        <p:cTn id="126" dur="1822" tmFilter="0,0; 0.14,0.36; 0.43,0.73; 0.71,0.91; 1.0,1.0">
                                          <p:stCondLst>
                                            <p:cond delay="0"/>
                                          </p:stCondLst>
                                        </p:cTn>
                                        <p:tgtEl>
                                          <p:spTgt spid="55"/>
                                        </p:tgtEl>
                                        <p:attrNameLst>
                                          <p:attrName>ppt_x</p:attrName>
                                        </p:attrNameLst>
                                      </p:cBhvr>
                                      <p:tavLst>
                                        <p:tav tm="0">
                                          <p:val>
                                            <p:strVal val="#ppt_x-0.25"/>
                                          </p:val>
                                        </p:tav>
                                        <p:tav tm="100000">
                                          <p:val>
                                            <p:strVal val="#ppt_x"/>
                                          </p:val>
                                        </p:tav>
                                      </p:tavLst>
                                    </p:anim>
                                    <p:anim calcmode="lin" valueType="num">
                                      <p:cBhvr>
                                        <p:cTn id="127" dur="664" tmFilter="0.0,0.0; 0.25,0.07; 0.50,0.2; 0.75,0.467; 1.0,1.0">
                                          <p:stCondLst>
                                            <p:cond delay="0"/>
                                          </p:stCondLst>
                                        </p:cTn>
                                        <p:tgtEl>
                                          <p:spTgt spid="55"/>
                                        </p:tgtEl>
                                        <p:attrNameLst>
                                          <p:attrName>ppt_y</p:attrName>
                                        </p:attrNameLst>
                                      </p:cBhvr>
                                      <p:tavLst>
                                        <p:tav tm="0" fmla="#ppt_y-sin(pi*$)/3">
                                          <p:val>
                                            <p:fltVal val="0.5"/>
                                          </p:val>
                                        </p:tav>
                                        <p:tav tm="100000">
                                          <p:val>
                                            <p:fltVal val="1"/>
                                          </p:val>
                                        </p:tav>
                                      </p:tavLst>
                                    </p:anim>
                                    <p:anim calcmode="lin" valueType="num">
                                      <p:cBhvr>
                                        <p:cTn id="128" dur="664" tmFilter="0, 0; 0.125,0.2665; 0.25,0.4; 0.375,0.465; 0.5,0.5;  0.625,0.535; 0.75,0.6; 0.875,0.7335; 1,1">
                                          <p:stCondLst>
                                            <p:cond delay="664"/>
                                          </p:stCondLst>
                                        </p:cTn>
                                        <p:tgtEl>
                                          <p:spTgt spid="55"/>
                                        </p:tgtEl>
                                        <p:attrNameLst>
                                          <p:attrName>ppt_y</p:attrName>
                                        </p:attrNameLst>
                                      </p:cBhvr>
                                      <p:tavLst>
                                        <p:tav tm="0" fmla="#ppt_y-sin(pi*$)/9">
                                          <p:val>
                                            <p:fltVal val="0"/>
                                          </p:val>
                                        </p:tav>
                                        <p:tav tm="100000">
                                          <p:val>
                                            <p:fltVal val="1"/>
                                          </p:val>
                                        </p:tav>
                                      </p:tavLst>
                                    </p:anim>
                                    <p:anim calcmode="lin" valueType="num">
                                      <p:cBhvr>
                                        <p:cTn id="129" dur="332" tmFilter="0, 0; 0.125,0.2665; 0.25,0.4; 0.375,0.465; 0.5,0.5;  0.625,0.535; 0.75,0.6; 0.875,0.7335; 1,1">
                                          <p:stCondLst>
                                            <p:cond delay="1324"/>
                                          </p:stCondLst>
                                        </p:cTn>
                                        <p:tgtEl>
                                          <p:spTgt spid="55"/>
                                        </p:tgtEl>
                                        <p:attrNameLst>
                                          <p:attrName>ppt_y</p:attrName>
                                        </p:attrNameLst>
                                      </p:cBhvr>
                                      <p:tavLst>
                                        <p:tav tm="0" fmla="#ppt_y-sin(pi*$)/27">
                                          <p:val>
                                            <p:fltVal val="0"/>
                                          </p:val>
                                        </p:tav>
                                        <p:tav tm="100000">
                                          <p:val>
                                            <p:fltVal val="1"/>
                                          </p:val>
                                        </p:tav>
                                      </p:tavLst>
                                    </p:anim>
                                    <p:anim calcmode="lin" valueType="num">
                                      <p:cBhvr>
                                        <p:cTn id="130" dur="164" tmFilter="0, 0; 0.125,0.2665; 0.25,0.4; 0.375,0.465; 0.5,0.5;  0.625,0.535; 0.75,0.6; 0.875,0.7335; 1,1">
                                          <p:stCondLst>
                                            <p:cond delay="1656"/>
                                          </p:stCondLst>
                                        </p:cTn>
                                        <p:tgtEl>
                                          <p:spTgt spid="55"/>
                                        </p:tgtEl>
                                        <p:attrNameLst>
                                          <p:attrName>ppt_y</p:attrName>
                                        </p:attrNameLst>
                                      </p:cBhvr>
                                      <p:tavLst>
                                        <p:tav tm="0" fmla="#ppt_y-sin(pi*$)/81">
                                          <p:val>
                                            <p:fltVal val="0"/>
                                          </p:val>
                                        </p:tav>
                                        <p:tav tm="100000">
                                          <p:val>
                                            <p:fltVal val="1"/>
                                          </p:val>
                                        </p:tav>
                                      </p:tavLst>
                                    </p:anim>
                                    <p:animScale>
                                      <p:cBhvr>
                                        <p:cTn id="131" dur="26">
                                          <p:stCondLst>
                                            <p:cond delay="650"/>
                                          </p:stCondLst>
                                        </p:cTn>
                                        <p:tgtEl>
                                          <p:spTgt spid="55"/>
                                        </p:tgtEl>
                                      </p:cBhvr>
                                      <p:to x="100000" y="60000"/>
                                    </p:animScale>
                                    <p:animScale>
                                      <p:cBhvr>
                                        <p:cTn id="132" dur="166" decel="50000">
                                          <p:stCondLst>
                                            <p:cond delay="676"/>
                                          </p:stCondLst>
                                        </p:cTn>
                                        <p:tgtEl>
                                          <p:spTgt spid="55"/>
                                        </p:tgtEl>
                                      </p:cBhvr>
                                      <p:to x="100000" y="100000"/>
                                    </p:animScale>
                                    <p:animScale>
                                      <p:cBhvr>
                                        <p:cTn id="133" dur="26">
                                          <p:stCondLst>
                                            <p:cond delay="1312"/>
                                          </p:stCondLst>
                                        </p:cTn>
                                        <p:tgtEl>
                                          <p:spTgt spid="55"/>
                                        </p:tgtEl>
                                      </p:cBhvr>
                                      <p:to x="100000" y="80000"/>
                                    </p:animScale>
                                    <p:animScale>
                                      <p:cBhvr>
                                        <p:cTn id="134" dur="166" decel="50000">
                                          <p:stCondLst>
                                            <p:cond delay="1338"/>
                                          </p:stCondLst>
                                        </p:cTn>
                                        <p:tgtEl>
                                          <p:spTgt spid="55"/>
                                        </p:tgtEl>
                                      </p:cBhvr>
                                      <p:to x="100000" y="100000"/>
                                    </p:animScale>
                                    <p:animScale>
                                      <p:cBhvr>
                                        <p:cTn id="135" dur="26">
                                          <p:stCondLst>
                                            <p:cond delay="1642"/>
                                          </p:stCondLst>
                                        </p:cTn>
                                        <p:tgtEl>
                                          <p:spTgt spid="55"/>
                                        </p:tgtEl>
                                      </p:cBhvr>
                                      <p:to x="100000" y="90000"/>
                                    </p:animScale>
                                    <p:animScale>
                                      <p:cBhvr>
                                        <p:cTn id="136" dur="166" decel="50000">
                                          <p:stCondLst>
                                            <p:cond delay="1668"/>
                                          </p:stCondLst>
                                        </p:cTn>
                                        <p:tgtEl>
                                          <p:spTgt spid="55"/>
                                        </p:tgtEl>
                                      </p:cBhvr>
                                      <p:to x="100000" y="100000"/>
                                    </p:animScale>
                                    <p:animScale>
                                      <p:cBhvr>
                                        <p:cTn id="137" dur="26">
                                          <p:stCondLst>
                                            <p:cond delay="1808"/>
                                          </p:stCondLst>
                                        </p:cTn>
                                        <p:tgtEl>
                                          <p:spTgt spid="55"/>
                                        </p:tgtEl>
                                      </p:cBhvr>
                                      <p:to x="100000" y="95000"/>
                                    </p:animScale>
                                    <p:animScale>
                                      <p:cBhvr>
                                        <p:cTn id="138" dur="166" decel="50000">
                                          <p:stCondLst>
                                            <p:cond delay="1834"/>
                                          </p:stCondLst>
                                        </p:cTn>
                                        <p:tgtEl>
                                          <p:spTgt spid="55"/>
                                        </p:tgtEl>
                                      </p:cBhvr>
                                      <p:to x="100000" y="100000"/>
                                    </p:animScale>
                                  </p:childTnLst>
                                </p:cTn>
                              </p:par>
                              <p:par>
                                <p:cTn id="139" presetID="26" presetClass="entr" presetSubtype="0" fill="hold" nodeType="withEffect">
                                  <p:stCondLst>
                                    <p:cond delay="0"/>
                                  </p:stCondLst>
                                  <p:childTnLst>
                                    <p:set>
                                      <p:cBhvr>
                                        <p:cTn id="140" dur="1" fill="hold">
                                          <p:stCondLst>
                                            <p:cond delay="0"/>
                                          </p:stCondLst>
                                        </p:cTn>
                                        <p:tgtEl>
                                          <p:spTgt spid="54"/>
                                        </p:tgtEl>
                                        <p:attrNameLst>
                                          <p:attrName>style.visibility</p:attrName>
                                        </p:attrNameLst>
                                      </p:cBhvr>
                                      <p:to>
                                        <p:strVal val="visible"/>
                                      </p:to>
                                    </p:set>
                                    <p:animEffect transition="in" filter="wipe(down)">
                                      <p:cBhvr>
                                        <p:cTn id="141" dur="580">
                                          <p:stCondLst>
                                            <p:cond delay="0"/>
                                          </p:stCondLst>
                                        </p:cTn>
                                        <p:tgtEl>
                                          <p:spTgt spid="54"/>
                                        </p:tgtEl>
                                      </p:cBhvr>
                                    </p:animEffect>
                                    <p:anim calcmode="lin" valueType="num">
                                      <p:cBhvr>
                                        <p:cTn id="142" dur="1822" tmFilter="0,0; 0.14,0.36; 0.43,0.73; 0.71,0.91; 1.0,1.0">
                                          <p:stCondLst>
                                            <p:cond delay="0"/>
                                          </p:stCondLst>
                                        </p:cTn>
                                        <p:tgtEl>
                                          <p:spTgt spid="54"/>
                                        </p:tgtEl>
                                        <p:attrNameLst>
                                          <p:attrName>ppt_x</p:attrName>
                                        </p:attrNameLst>
                                      </p:cBhvr>
                                      <p:tavLst>
                                        <p:tav tm="0">
                                          <p:val>
                                            <p:strVal val="#ppt_x-0.25"/>
                                          </p:val>
                                        </p:tav>
                                        <p:tav tm="100000">
                                          <p:val>
                                            <p:strVal val="#ppt_x"/>
                                          </p:val>
                                        </p:tav>
                                      </p:tavLst>
                                    </p:anim>
                                    <p:anim calcmode="lin" valueType="num">
                                      <p:cBhvr>
                                        <p:cTn id="143" dur="664" tmFilter="0.0,0.0; 0.25,0.07; 0.50,0.2; 0.75,0.467; 1.0,1.0">
                                          <p:stCondLst>
                                            <p:cond delay="0"/>
                                          </p:stCondLst>
                                        </p:cTn>
                                        <p:tgtEl>
                                          <p:spTgt spid="54"/>
                                        </p:tgtEl>
                                        <p:attrNameLst>
                                          <p:attrName>ppt_y</p:attrName>
                                        </p:attrNameLst>
                                      </p:cBhvr>
                                      <p:tavLst>
                                        <p:tav tm="0" fmla="#ppt_y-sin(pi*$)/3">
                                          <p:val>
                                            <p:fltVal val="0.5"/>
                                          </p:val>
                                        </p:tav>
                                        <p:tav tm="100000">
                                          <p:val>
                                            <p:fltVal val="1"/>
                                          </p:val>
                                        </p:tav>
                                      </p:tavLst>
                                    </p:anim>
                                    <p:anim calcmode="lin" valueType="num">
                                      <p:cBhvr>
                                        <p:cTn id="144" dur="664" tmFilter="0, 0; 0.125,0.2665; 0.25,0.4; 0.375,0.465; 0.5,0.5;  0.625,0.535; 0.75,0.6; 0.875,0.7335; 1,1">
                                          <p:stCondLst>
                                            <p:cond delay="664"/>
                                          </p:stCondLst>
                                        </p:cTn>
                                        <p:tgtEl>
                                          <p:spTgt spid="54"/>
                                        </p:tgtEl>
                                        <p:attrNameLst>
                                          <p:attrName>ppt_y</p:attrName>
                                        </p:attrNameLst>
                                      </p:cBhvr>
                                      <p:tavLst>
                                        <p:tav tm="0" fmla="#ppt_y-sin(pi*$)/9">
                                          <p:val>
                                            <p:fltVal val="0"/>
                                          </p:val>
                                        </p:tav>
                                        <p:tav tm="100000">
                                          <p:val>
                                            <p:fltVal val="1"/>
                                          </p:val>
                                        </p:tav>
                                      </p:tavLst>
                                    </p:anim>
                                    <p:anim calcmode="lin" valueType="num">
                                      <p:cBhvr>
                                        <p:cTn id="145" dur="332" tmFilter="0, 0; 0.125,0.2665; 0.25,0.4; 0.375,0.465; 0.5,0.5;  0.625,0.535; 0.75,0.6; 0.875,0.7335; 1,1">
                                          <p:stCondLst>
                                            <p:cond delay="1324"/>
                                          </p:stCondLst>
                                        </p:cTn>
                                        <p:tgtEl>
                                          <p:spTgt spid="54"/>
                                        </p:tgtEl>
                                        <p:attrNameLst>
                                          <p:attrName>ppt_y</p:attrName>
                                        </p:attrNameLst>
                                      </p:cBhvr>
                                      <p:tavLst>
                                        <p:tav tm="0" fmla="#ppt_y-sin(pi*$)/27">
                                          <p:val>
                                            <p:fltVal val="0"/>
                                          </p:val>
                                        </p:tav>
                                        <p:tav tm="100000">
                                          <p:val>
                                            <p:fltVal val="1"/>
                                          </p:val>
                                        </p:tav>
                                      </p:tavLst>
                                    </p:anim>
                                    <p:anim calcmode="lin" valueType="num">
                                      <p:cBhvr>
                                        <p:cTn id="146" dur="164" tmFilter="0, 0; 0.125,0.2665; 0.25,0.4; 0.375,0.465; 0.5,0.5;  0.625,0.535; 0.75,0.6; 0.875,0.7335; 1,1">
                                          <p:stCondLst>
                                            <p:cond delay="1656"/>
                                          </p:stCondLst>
                                        </p:cTn>
                                        <p:tgtEl>
                                          <p:spTgt spid="54"/>
                                        </p:tgtEl>
                                        <p:attrNameLst>
                                          <p:attrName>ppt_y</p:attrName>
                                        </p:attrNameLst>
                                      </p:cBhvr>
                                      <p:tavLst>
                                        <p:tav tm="0" fmla="#ppt_y-sin(pi*$)/81">
                                          <p:val>
                                            <p:fltVal val="0"/>
                                          </p:val>
                                        </p:tav>
                                        <p:tav tm="100000">
                                          <p:val>
                                            <p:fltVal val="1"/>
                                          </p:val>
                                        </p:tav>
                                      </p:tavLst>
                                    </p:anim>
                                    <p:animScale>
                                      <p:cBhvr>
                                        <p:cTn id="147" dur="26">
                                          <p:stCondLst>
                                            <p:cond delay="650"/>
                                          </p:stCondLst>
                                        </p:cTn>
                                        <p:tgtEl>
                                          <p:spTgt spid="54"/>
                                        </p:tgtEl>
                                      </p:cBhvr>
                                      <p:to x="100000" y="60000"/>
                                    </p:animScale>
                                    <p:animScale>
                                      <p:cBhvr>
                                        <p:cTn id="148" dur="166" decel="50000">
                                          <p:stCondLst>
                                            <p:cond delay="676"/>
                                          </p:stCondLst>
                                        </p:cTn>
                                        <p:tgtEl>
                                          <p:spTgt spid="54"/>
                                        </p:tgtEl>
                                      </p:cBhvr>
                                      <p:to x="100000" y="100000"/>
                                    </p:animScale>
                                    <p:animScale>
                                      <p:cBhvr>
                                        <p:cTn id="149" dur="26">
                                          <p:stCondLst>
                                            <p:cond delay="1312"/>
                                          </p:stCondLst>
                                        </p:cTn>
                                        <p:tgtEl>
                                          <p:spTgt spid="54"/>
                                        </p:tgtEl>
                                      </p:cBhvr>
                                      <p:to x="100000" y="80000"/>
                                    </p:animScale>
                                    <p:animScale>
                                      <p:cBhvr>
                                        <p:cTn id="150" dur="166" decel="50000">
                                          <p:stCondLst>
                                            <p:cond delay="1338"/>
                                          </p:stCondLst>
                                        </p:cTn>
                                        <p:tgtEl>
                                          <p:spTgt spid="54"/>
                                        </p:tgtEl>
                                      </p:cBhvr>
                                      <p:to x="100000" y="100000"/>
                                    </p:animScale>
                                    <p:animScale>
                                      <p:cBhvr>
                                        <p:cTn id="151" dur="26">
                                          <p:stCondLst>
                                            <p:cond delay="1642"/>
                                          </p:stCondLst>
                                        </p:cTn>
                                        <p:tgtEl>
                                          <p:spTgt spid="54"/>
                                        </p:tgtEl>
                                      </p:cBhvr>
                                      <p:to x="100000" y="90000"/>
                                    </p:animScale>
                                    <p:animScale>
                                      <p:cBhvr>
                                        <p:cTn id="152" dur="166" decel="50000">
                                          <p:stCondLst>
                                            <p:cond delay="1668"/>
                                          </p:stCondLst>
                                        </p:cTn>
                                        <p:tgtEl>
                                          <p:spTgt spid="54"/>
                                        </p:tgtEl>
                                      </p:cBhvr>
                                      <p:to x="100000" y="100000"/>
                                    </p:animScale>
                                    <p:animScale>
                                      <p:cBhvr>
                                        <p:cTn id="153" dur="26">
                                          <p:stCondLst>
                                            <p:cond delay="1808"/>
                                          </p:stCondLst>
                                        </p:cTn>
                                        <p:tgtEl>
                                          <p:spTgt spid="54"/>
                                        </p:tgtEl>
                                      </p:cBhvr>
                                      <p:to x="100000" y="95000"/>
                                    </p:animScale>
                                    <p:animScale>
                                      <p:cBhvr>
                                        <p:cTn id="154" dur="166" decel="50000">
                                          <p:stCondLst>
                                            <p:cond delay="1834"/>
                                          </p:stCondLst>
                                        </p:cTn>
                                        <p:tgtEl>
                                          <p:spTgt spid="54"/>
                                        </p:tgtEl>
                                      </p:cBhvr>
                                      <p:to x="100000" y="100000"/>
                                    </p:animScale>
                                  </p:childTnLst>
                                </p:cTn>
                              </p:par>
                              <p:par>
                                <p:cTn id="155" presetID="26" presetClass="entr" presetSubtype="0" fill="hold" grpId="0" nodeType="withEffect">
                                  <p:stCondLst>
                                    <p:cond delay="0"/>
                                  </p:stCondLst>
                                  <p:childTnLst>
                                    <p:set>
                                      <p:cBhvr>
                                        <p:cTn id="156" dur="1" fill="hold">
                                          <p:stCondLst>
                                            <p:cond delay="0"/>
                                          </p:stCondLst>
                                        </p:cTn>
                                        <p:tgtEl>
                                          <p:spTgt spid="96"/>
                                        </p:tgtEl>
                                        <p:attrNameLst>
                                          <p:attrName>style.visibility</p:attrName>
                                        </p:attrNameLst>
                                      </p:cBhvr>
                                      <p:to>
                                        <p:strVal val="visible"/>
                                      </p:to>
                                    </p:set>
                                    <p:animEffect transition="in" filter="wipe(down)">
                                      <p:cBhvr>
                                        <p:cTn id="157" dur="580">
                                          <p:stCondLst>
                                            <p:cond delay="0"/>
                                          </p:stCondLst>
                                        </p:cTn>
                                        <p:tgtEl>
                                          <p:spTgt spid="96"/>
                                        </p:tgtEl>
                                      </p:cBhvr>
                                    </p:animEffect>
                                    <p:anim calcmode="lin" valueType="num">
                                      <p:cBhvr>
                                        <p:cTn id="158" dur="1822" tmFilter="0,0; 0.14,0.36; 0.43,0.73; 0.71,0.91; 1.0,1.0">
                                          <p:stCondLst>
                                            <p:cond delay="0"/>
                                          </p:stCondLst>
                                        </p:cTn>
                                        <p:tgtEl>
                                          <p:spTgt spid="96"/>
                                        </p:tgtEl>
                                        <p:attrNameLst>
                                          <p:attrName>ppt_x</p:attrName>
                                        </p:attrNameLst>
                                      </p:cBhvr>
                                      <p:tavLst>
                                        <p:tav tm="0">
                                          <p:val>
                                            <p:strVal val="#ppt_x-0.25"/>
                                          </p:val>
                                        </p:tav>
                                        <p:tav tm="100000">
                                          <p:val>
                                            <p:strVal val="#ppt_x"/>
                                          </p:val>
                                        </p:tav>
                                      </p:tavLst>
                                    </p:anim>
                                    <p:anim calcmode="lin" valueType="num">
                                      <p:cBhvr>
                                        <p:cTn id="159" dur="664" tmFilter="0.0,0.0; 0.25,0.07; 0.50,0.2; 0.75,0.467; 1.0,1.0">
                                          <p:stCondLst>
                                            <p:cond delay="0"/>
                                          </p:stCondLst>
                                        </p:cTn>
                                        <p:tgtEl>
                                          <p:spTgt spid="96"/>
                                        </p:tgtEl>
                                        <p:attrNameLst>
                                          <p:attrName>ppt_y</p:attrName>
                                        </p:attrNameLst>
                                      </p:cBhvr>
                                      <p:tavLst>
                                        <p:tav tm="0" fmla="#ppt_y-sin(pi*$)/3">
                                          <p:val>
                                            <p:fltVal val="0.5"/>
                                          </p:val>
                                        </p:tav>
                                        <p:tav tm="100000">
                                          <p:val>
                                            <p:fltVal val="1"/>
                                          </p:val>
                                        </p:tav>
                                      </p:tavLst>
                                    </p:anim>
                                    <p:anim calcmode="lin" valueType="num">
                                      <p:cBhvr>
                                        <p:cTn id="160" dur="664" tmFilter="0, 0; 0.125,0.2665; 0.25,0.4; 0.375,0.465; 0.5,0.5;  0.625,0.535; 0.75,0.6; 0.875,0.7335; 1,1">
                                          <p:stCondLst>
                                            <p:cond delay="664"/>
                                          </p:stCondLst>
                                        </p:cTn>
                                        <p:tgtEl>
                                          <p:spTgt spid="96"/>
                                        </p:tgtEl>
                                        <p:attrNameLst>
                                          <p:attrName>ppt_y</p:attrName>
                                        </p:attrNameLst>
                                      </p:cBhvr>
                                      <p:tavLst>
                                        <p:tav tm="0" fmla="#ppt_y-sin(pi*$)/9">
                                          <p:val>
                                            <p:fltVal val="0"/>
                                          </p:val>
                                        </p:tav>
                                        <p:tav tm="100000">
                                          <p:val>
                                            <p:fltVal val="1"/>
                                          </p:val>
                                        </p:tav>
                                      </p:tavLst>
                                    </p:anim>
                                    <p:anim calcmode="lin" valueType="num">
                                      <p:cBhvr>
                                        <p:cTn id="161" dur="332" tmFilter="0, 0; 0.125,0.2665; 0.25,0.4; 0.375,0.465; 0.5,0.5;  0.625,0.535; 0.75,0.6; 0.875,0.7335; 1,1">
                                          <p:stCondLst>
                                            <p:cond delay="1324"/>
                                          </p:stCondLst>
                                        </p:cTn>
                                        <p:tgtEl>
                                          <p:spTgt spid="96"/>
                                        </p:tgtEl>
                                        <p:attrNameLst>
                                          <p:attrName>ppt_y</p:attrName>
                                        </p:attrNameLst>
                                      </p:cBhvr>
                                      <p:tavLst>
                                        <p:tav tm="0" fmla="#ppt_y-sin(pi*$)/27">
                                          <p:val>
                                            <p:fltVal val="0"/>
                                          </p:val>
                                        </p:tav>
                                        <p:tav tm="100000">
                                          <p:val>
                                            <p:fltVal val="1"/>
                                          </p:val>
                                        </p:tav>
                                      </p:tavLst>
                                    </p:anim>
                                    <p:anim calcmode="lin" valueType="num">
                                      <p:cBhvr>
                                        <p:cTn id="162" dur="164" tmFilter="0, 0; 0.125,0.2665; 0.25,0.4; 0.375,0.465; 0.5,0.5;  0.625,0.535; 0.75,0.6; 0.875,0.7335; 1,1">
                                          <p:stCondLst>
                                            <p:cond delay="1656"/>
                                          </p:stCondLst>
                                        </p:cTn>
                                        <p:tgtEl>
                                          <p:spTgt spid="96"/>
                                        </p:tgtEl>
                                        <p:attrNameLst>
                                          <p:attrName>ppt_y</p:attrName>
                                        </p:attrNameLst>
                                      </p:cBhvr>
                                      <p:tavLst>
                                        <p:tav tm="0" fmla="#ppt_y-sin(pi*$)/81">
                                          <p:val>
                                            <p:fltVal val="0"/>
                                          </p:val>
                                        </p:tav>
                                        <p:tav tm="100000">
                                          <p:val>
                                            <p:fltVal val="1"/>
                                          </p:val>
                                        </p:tav>
                                      </p:tavLst>
                                    </p:anim>
                                    <p:animScale>
                                      <p:cBhvr>
                                        <p:cTn id="163" dur="26">
                                          <p:stCondLst>
                                            <p:cond delay="650"/>
                                          </p:stCondLst>
                                        </p:cTn>
                                        <p:tgtEl>
                                          <p:spTgt spid="96"/>
                                        </p:tgtEl>
                                      </p:cBhvr>
                                      <p:to x="100000" y="60000"/>
                                    </p:animScale>
                                    <p:animScale>
                                      <p:cBhvr>
                                        <p:cTn id="164" dur="166" decel="50000">
                                          <p:stCondLst>
                                            <p:cond delay="676"/>
                                          </p:stCondLst>
                                        </p:cTn>
                                        <p:tgtEl>
                                          <p:spTgt spid="96"/>
                                        </p:tgtEl>
                                      </p:cBhvr>
                                      <p:to x="100000" y="100000"/>
                                    </p:animScale>
                                    <p:animScale>
                                      <p:cBhvr>
                                        <p:cTn id="165" dur="26">
                                          <p:stCondLst>
                                            <p:cond delay="1312"/>
                                          </p:stCondLst>
                                        </p:cTn>
                                        <p:tgtEl>
                                          <p:spTgt spid="96"/>
                                        </p:tgtEl>
                                      </p:cBhvr>
                                      <p:to x="100000" y="80000"/>
                                    </p:animScale>
                                    <p:animScale>
                                      <p:cBhvr>
                                        <p:cTn id="166" dur="166" decel="50000">
                                          <p:stCondLst>
                                            <p:cond delay="1338"/>
                                          </p:stCondLst>
                                        </p:cTn>
                                        <p:tgtEl>
                                          <p:spTgt spid="96"/>
                                        </p:tgtEl>
                                      </p:cBhvr>
                                      <p:to x="100000" y="100000"/>
                                    </p:animScale>
                                    <p:animScale>
                                      <p:cBhvr>
                                        <p:cTn id="167" dur="26">
                                          <p:stCondLst>
                                            <p:cond delay="1642"/>
                                          </p:stCondLst>
                                        </p:cTn>
                                        <p:tgtEl>
                                          <p:spTgt spid="96"/>
                                        </p:tgtEl>
                                      </p:cBhvr>
                                      <p:to x="100000" y="90000"/>
                                    </p:animScale>
                                    <p:animScale>
                                      <p:cBhvr>
                                        <p:cTn id="168" dur="166" decel="50000">
                                          <p:stCondLst>
                                            <p:cond delay="1668"/>
                                          </p:stCondLst>
                                        </p:cTn>
                                        <p:tgtEl>
                                          <p:spTgt spid="96"/>
                                        </p:tgtEl>
                                      </p:cBhvr>
                                      <p:to x="100000" y="100000"/>
                                    </p:animScale>
                                    <p:animScale>
                                      <p:cBhvr>
                                        <p:cTn id="169" dur="26">
                                          <p:stCondLst>
                                            <p:cond delay="1808"/>
                                          </p:stCondLst>
                                        </p:cTn>
                                        <p:tgtEl>
                                          <p:spTgt spid="96"/>
                                        </p:tgtEl>
                                      </p:cBhvr>
                                      <p:to x="100000" y="95000"/>
                                    </p:animScale>
                                    <p:animScale>
                                      <p:cBhvr>
                                        <p:cTn id="170" dur="166" decel="50000">
                                          <p:stCondLst>
                                            <p:cond delay="1834"/>
                                          </p:stCondLst>
                                        </p:cTn>
                                        <p:tgtEl>
                                          <p:spTgt spid="96"/>
                                        </p:tgtEl>
                                      </p:cBhvr>
                                      <p:to x="100000" y="100000"/>
                                    </p:animScale>
                                  </p:childTnLst>
                                </p:cTn>
                              </p:par>
                              <p:par>
                                <p:cTn id="171" presetID="26" presetClass="entr" presetSubtype="0" fill="hold" nodeType="withEffect">
                                  <p:stCondLst>
                                    <p:cond delay="0"/>
                                  </p:stCondLst>
                                  <p:childTnLst>
                                    <p:set>
                                      <p:cBhvr>
                                        <p:cTn id="172" dur="1" fill="hold">
                                          <p:stCondLst>
                                            <p:cond delay="0"/>
                                          </p:stCondLst>
                                        </p:cTn>
                                        <p:tgtEl>
                                          <p:spTgt spid="58"/>
                                        </p:tgtEl>
                                        <p:attrNameLst>
                                          <p:attrName>style.visibility</p:attrName>
                                        </p:attrNameLst>
                                      </p:cBhvr>
                                      <p:to>
                                        <p:strVal val="visible"/>
                                      </p:to>
                                    </p:set>
                                    <p:animEffect transition="in" filter="wipe(down)">
                                      <p:cBhvr>
                                        <p:cTn id="173" dur="580">
                                          <p:stCondLst>
                                            <p:cond delay="0"/>
                                          </p:stCondLst>
                                        </p:cTn>
                                        <p:tgtEl>
                                          <p:spTgt spid="58"/>
                                        </p:tgtEl>
                                      </p:cBhvr>
                                    </p:animEffect>
                                    <p:anim calcmode="lin" valueType="num">
                                      <p:cBhvr>
                                        <p:cTn id="174" dur="1822" tmFilter="0,0; 0.14,0.36; 0.43,0.73; 0.71,0.91; 1.0,1.0">
                                          <p:stCondLst>
                                            <p:cond delay="0"/>
                                          </p:stCondLst>
                                        </p:cTn>
                                        <p:tgtEl>
                                          <p:spTgt spid="58"/>
                                        </p:tgtEl>
                                        <p:attrNameLst>
                                          <p:attrName>ppt_x</p:attrName>
                                        </p:attrNameLst>
                                      </p:cBhvr>
                                      <p:tavLst>
                                        <p:tav tm="0">
                                          <p:val>
                                            <p:strVal val="#ppt_x-0.25"/>
                                          </p:val>
                                        </p:tav>
                                        <p:tav tm="100000">
                                          <p:val>
                                            <p:strVal val="#ppt_x"/>
                                          </p:val>
                                        </p:tav>
                                      </p:tavLst>
                                    </p:anim>
                                    <p:anim calcmode="lin" valueType="num">
                                      <p:cBhvr>
                                        <p:cTn id="175" dur="664" tmFilter="0.0,0.0; 0.25,0.07; 0.50,0.2; 0.75,0.467; 1.0,1.0">
                                          <p:stCondLst>
                                            <p:cond delay="0"/>
                                          </p:stCondLst>
                                        </p:cTn>
                                        <p:tgtEl>
                                          <p:spTgt spid="58"/>
                                        </p:tgtEl>
                                        <p:attrNameLst>
                                          <p:attrName>ppt_y</p:attrName>
                                        </p:attrNameLst>
                                      </p:cBhvr>
                                      <p:tavLst>
                                        <p:tav tm="0" fmla="#ppt_y-sin(pi*$)/3">
                                          <p:val>
                                            <p:fltVal val="0.5"/>
                                          </p:val>
                                        </p:tav>
                                        <p:tav tm="100000">
                                          <p:val>
                                            <p:fltVal val="1"/>
                                          </p:val>
                                        </p:tav>
                                      </p:tavLst>
                                    </p:anim>
                                    <p:anim calcmode="lin" valueType="num">
                                      <p:cBhvr>
                                        <p:cTn id="176" dur="664" tmFilter="0, 0; 0.125,0.2665; 0.25,0.4; 0.375,0.465; 0.5,0.5;  0.625,0.535; 0.75,0.6; 0.875,0.7335; 1,1">
                                          <p:stCondLst>
                                            <p:cond delay="664"/>
                                          </p:stCondLst>
                                        </p:cTn>
                                        <p:tgtEl>
                                          <p:spTgt spid="58"/>
                                        </p:tgtEl>
                                        <p:attrNameLst>
                                          <p:attrName>ppt_y</p:attrName>
                                        </p:attrNameLst>
                                      </p:cBhvr>
                                      <p:tavLst>
                                        <p:tav tm="0" fmla="#ppt_y-sin(pi*$)/9">
                                          <p:val>
                                            <p:fltVal val="0"/>
                                          </p:val>
                                        </p:tav>
                                        <p:tav tm="100000">
                                          <p:val>
                                            <p:fltVal val="1"/>
                                          </p:val>
                                        </p:tav>
                                      </p:tavLst>
                                    </p:anim>
                                    <p:anim calcmode="lin" valueType="num">
                                      <p:cBhvr>
                                        <p:cTn id="177" dur="332" tmFilter="0, 0; 0.125,0.2665; 0.25,0.4; 0.375,0.465; 0.5,0.5;  0.625,0.535; 0.75,0.6; 0.875,0.7335; 1,1">
                                          <p:stCondLst>
                                            <p:cond delay="1324"/>
                                          </p:stCondLst>
                                        </p:cTn>
                                        <p:tgtEl>
                                          <p:spTgt spid="58"/>
                                        </p:tgtEl>
                                        <p:attrNameLst>
                                          <p:attrName>ppt_y</p:attrName>
                                        </p:attrNameLst>
                                      </p:cBhvr>
                                      <p:tavLst>
                                        <p:tav tm="0" fmla="#ppt_y-sin(pi*$)/27">
                                          <p:val>
                                            <p:fltVal val="0"/>
                                          </p:val>
                                        </p:tav>
                                        <p:tav tm="100000">
                                          <p:val>
                                            <p:fltVal val="1"/>
                                          </p:val>
                                        </p:tav>
                                      </p:tavLst>
                                    </p:anim>
                                    <p:anim calcmode="lin" valueType="num">
                                      <p:cBhvr>
                                        <p:cTn id="178" dur="164" tmFilter="0, 0; 0.125,0.2665; 0.25,0.4; 0.375,0.465; 0.5,0.5;  0.625,0.535; 0.75,0.6; 0.875,0.7335; 1,1">
                                          <p:stCondLst>
                                            <p:cond delay="1656"/>
                                          </p:stCondLst>
                                        </p:cTn>
                                        <p:tgtEl>
                                          <p:spTgt spid="58"/>
                                        </p:tgtEl>
                                        <p:attrNameLst>
                                          <p:attrName>ppt_y</p:attrName>
                                        </p:attrNameLst>
                                      </p:cBhvr>
                                      <p:tavLst>
                                        <p:tav tm="0" fmla="#ppt_y-sin(pi*$)/81">
                                          <p:val>
                                            <p:fltVal val="0"/>
                                          </p:val>
                                        </p:tav>
                                        <p:tav tm="100000">
                                          <p:val>
                                            <p:fltVal val="1"/>
                                          </p:val>
                                        </p:tav>
                                      </p:tavLst>
                                    </p:anim>
                                    <p:animScale>
                                      <p:cBhvr>
                                        <p:cTn id="179" dur="26">
                                          <p:stCondLst>
                                            <p:cond delay="650"/>
                                          </p:stCondLst>
                                        </p:cTn>
                                        <p:tgtEl>
                                          <p:spTgt spid="58"/>
                                        </p:tgtEl>
                                      </p:cBhvr>
                                      <p:to x="100000" y="60000"/>
                                    </p:animScale>
                                    <p:animScale>
                                      <p:cBhvr>
                                        <p:cTn id="180" dur="166" decel="50000">
                                          <p:stCondLst>
                                            <p:cond delay="676"/>
                                          </p:stCondLst>
                                        </p:cTn>
                                        <p:tgtEl>
                                          <p:spTgt spid="58"/>
                                        </p:tgtEl>
                                      </p:cBhvr>
                                      <p:to x="100000" y="100000"/>
                                    </p:animScale>
                                    <p:animScale>
                                      <p:cBhvr>
                                        <p:cTn id="181" dur="26">
                                          <p:stCondLst>
                                            <p:cond delay="1312"/>
                                          </p:stCondLst>
                                        </p:cTn>
                                        <p:tgtEl>
                                          <p:spTgt spid="58"/>
                                        </p:tgtEl>
                                      </p:cBhvr>
                                      <p:to x="100000" y="80000"/>
                                    </p:animScale>
                                    <p:animScale>
                                      <p:cBhvr>
                                        <p:cTn id="182" dur="166" decel="50000">
                                          <p:stCondLst>
                                            <p:cond delay="1338"/>
                                          </p:stCondLst>
                                        </p:cTn>
                                        <p:tgtEl>
                                          <p:spTgt spid="58"/>
                                        </p:tgtEl>
                                      </p:cBhvr>
                                      <p:to x="100000" y="100000"/>
                                    </p:animScale>
                                    <p:animScale>
                                      <p:cBhvr>
                                        <p:cTn id="183" dur="26">
                                          <p:stCondLst>
                                            <p:cond delay="1642"/>
                                          </p:stCondLst>
                                        </p:cTn>
                                        <p:tgtEl>
                                          <p:spTgt spid="58"/>
                                        </p:tgtEl>
                                      </p:cBhvr>
                                      <p:to x="100000" y="90000"/>
                                    </p:animScale>
                                    <p:animScale>
                                      <p:cBhvr>
                                        <p:cTn id="184" dur="166" decel="50000">
                                          <p:stCondLst>
                                            <p:cond delay="1668"/>
                                          </p:stCondLst>
                                        </p:cTn>
                                        <p:tgtEl>
                                          <p:spTgt spid="58"/>
                                        </p:tgtEl>
                                      </p:cBhvr>
                                      <p:to x="100000" y="100000"/>
                                    </p:animScale>
                                    <p:animScale>
                                      <p:cBhvr>
                                        <p:cTn id="185" dur="26">
                                          <p:stCondLst>
                                            <p:cond delay="1808"/>
                                          </p:stCondLst>
                                        </p:cTn>
                                        <p:tgtEl>
                                          <p:spTgt spid="58"/>
                                        </p:tgtEl>
                                      </p:cBhvr>
                                      <p:to x="100000" y="95000"/>
                                    </p:animScale>
                                    <p:animScale>
                                      <p:cBhvr>
                                        <p:cTn id="186" dur="166" decel="50000">
                                          <p:stCondLst>
                                            <p:cond delay="1834"/>
                                          </p:stCondLst>
                                        </p:cTn>
                                        <p:tgtEl>
                                          <p:spTgt spid="58"/>
                                        </p:tgtEl>
                                      </p:cBhvr>
                                      <p:to x="100000" y="100000"/>
                                    </p:animScale>
                                  </p:childTnLst>
                                </p:cTn>
                              </p:par>
                              <p:par>
                                <p:cTn id="187" presetID="26" presetClass="entr" presetSubtype="0" fill="hold" grpId="0" nodeType="withEffect">
                                  <p:stCondLst>
                                    <p:cond delay="0"/>
                                  </p:stCondLst>
                                  <p:childTnLst>
                                    <p:set>
                                      <p:cBhvr>
                                        <p:cTn id="188" dur="1" fill="hold">
                                          <p:stCondLst>
                                            <p:cond delay="0"/>
                                          </p:stCondLst>
                                        </p:cTn>
                                        <p:tgtEl>
                                          <p:spTgt spid="50"/>
                                        </p:tgtEl>
                                        <p:attrNameLst>
                                          <p:attrName>style.visibility</p:attrName>
                                        </p:attrNameLst>
                                      </p:cBhvr>
                                      <p:to>
                                        <p:strVal val="visible"/>
                                      </p:to>
                                    </p:set>
                                    <p:animEffect transition="in" filter="wipe(down)">
                                      <p:cBhvr>
                                        <p:cTn id="189" dur="580">
                                          <p:stCondLst>
                                            <p:cond delay="0"/>
                                          </p:stCondLst>
                                        </p:cTn>
                                        <p:tgtEl>
                                          <p:spTgt spid="50"/>
                                        </p:tgtEl>
                                      </p:cBhvr>
                                    </p:animEffect>
                                    <p:anim calcmode="lin" valueType="num">
                                      <p:cBhvr>
                                        <p:cTn id="190" dur="1822" tmFilter="0,0; 0.14,0.36; 0.43,0.73; 0.71,0.91; 1.0,1.0">
                                          <p:stCondLst>
                                            <p:cond delay="0"/>
                                          </p:stCondLst>
                                        </p:cTn>
                                        <p:tgtEl>
                                          <p:spTgt spid="50"/>
                                        </p:tgtEl>
                                        <p:attrNameLst>
                                          <p:attrName>ppt_x</p:attrName>
                                        </p:attrNameLst>
                                      </p:cBhvr>
                                      <p:tavLst>
                                        <p:tav tm="0">
                                          <p:val>
                                            <p:strVal val="#ppt_x-0.25"/>
                                          </p:val>
                                        </p:tav>
                                        <p:tav tm="100000">
                                          <p:val>
                                            <p:strVal val="#ppt_x"/>
                                          </p:val>
                                        </p:tav>
                                      </p:tavLst>
                                    </p:anim>
                                    <p:anim calcmode="lin" valueType="num">
                                      <p:cBhvr>
                                        <p:cTn id="191" dur="664" tmFilter="0.0,0.0; 0.25,0.07; 0.50,0.2; 0.75,0.467; 1.0,1.0">
                                          <p:stCondLst>
                                            <p:cond delay="0"/>
                                          </p:stCondLst>
                                        </p:cTn>
                                        <p:tgtEl>
                                          <p:spTgt spid="50"/>
                                        </p:tgtEl>
                                        <p:attrNameLst>
                                          <p:attrName>ppt_y</p:attrName>
                                        </p:attrNameLst>
                                      </p:cBhvr>
                                      <p:tavLst>
                                        <p:tav tm="0" fmla="#ppt_y-sin(pi*$)/3">
                                          <p:val>
                                            <p:fltVal val="0.5"/>
                                          </p:val>
                                        </p:tav>
                                        <p:tav tm="100000">
                                          <p:val>
                                            <p:fltVal val="1"/>
                                          </p:val>
                                        </p:tav>
                                      </p:tavLst>
                                    </p:anim>
                                    <p:anim calcmode="lin" valueType="num">
                                      <p:cBhvr>
                                        <p:cTn id="192" dur="664" tmFilter="0, 0; 0.125,0.2665; 0.25,0.4; 0.375,0.465; 0.5,0.5;  0.625,0.535; 0.75,0.6; 0.875,0.7335; 1,1">
                                          <p:stCondLst>
                                            <p:cond delay="664"/>
                                          </p:stCondLst>
                                        </p:cTn>
                                        <p:tgtEl>
                                          <p:spTgt spid="50"/>
                                        </p:tgtEl>
                                        <p:attrNameLst>
                                          <p:attrName>ppt_y</p:attrName>
                                        </p:attrNameLst>
                                      </p:cBhvr>
                                      <p:tavLst>
                                        <p:tav tm="0" fmla="#ppt_y-sin(pi*$)/9">
                                          <p:val>
                                            <p:fltVal val="0"/>
                                          </p:val>
                                        </p:tav>
                                        <p:tav tm="100000">
                                          <p:val>
                                            <p:fltVal val="1"/>
                                          </p:val>
                                        </p:tav>
                                      </p:tavLst>
                                    </p:anim>
                                    <p:anim calcmode="lin" valueType="num">
                                      <p:cBhvr>
                                        <p:cTn id="193" dur="332" tmFilter="0, 0; 0.125,0.2665; 0.25,0.4; 0.375,0.465; 0.5,0.5;  0.625,0.535; 0.75,0.6; 0.875,0.7335; 1,1">
                                          <p:stCondLst>
                                            <p:cond delay="1324"/>
                                          </p:stCondLst>
                                        </p:cTn>
                                        <p:tgtEl>
                                          <p:spTgt spid="50"/>
                                        </p:tgtEl>
                                        <p:attrNameLst>
                                          <p:attrName>ppt_y</p:attrName>
                                        </p:attrNameLst>
                                      </p:cBhvr>
                                      <p:tavLst>
                                        <p:tav tm="0" fmla="#ppt_y-sin(pi*$)/27">
                                          <p:val>
                                            <p:fltVal val="0"/>
                                          </p:val>
                                        </p:tav>
                                        <p:tav tm="100000">
                                          <p:val>
                                            <p:fltVal val="1"/>
                                          </p:val>
                                        </p:tav>
                                      </p:tavLst>
                                    </p:anim>
                                    <p:anim calcmode="lin" valueType="num">
                                      <p:cBhvr>
                                        <p:cTn id="194" dur="164" tmFilter="0, 0; 0.125,0.2665; 0.25,0.4; 0.375,0.465; 0.5,0.5;  0.625,0.535; 0.75,0.6; 0.875,0.7335; 1,1">
                                          <p:stCondLst>
                                            <p:cond delay="1656"/>
                                          </p:stCondLst>
                                        </p:cTn>
                                        <p:tgtEl>
                                          <p:spTgt spid="50"/>
                                        </p:tgtEl>
                                        <p:attrNameLst>
                                          <p:attrName>ppt_y</p:attrName>
                                        </p:attrNameLst>
                                      </p:cBhvr>
                                      <p:tavLst>
                                        <p:tav tm="0" fmla="#ppt_y-sin(pi*$)/81">
                                          <p:val>
                                            <p:fltVal val="0"/>
                                          </p:val>
                                        </p:tav>
                                        <p:tav tm="100000">
                                          <p:val>
                                            <p:fltVal val="1"/>
                                          </p:val>
                                        </p:tav>
                                      </p:tavLst>
                                    </p:anim>
                                    <p:animScale>
                                      <p:cBhvr>
                                        <p:cTn id="195" dur="26">
                                          <p:stCondLst>
                                            <p:cond delay="650"/>
                                          </p:stCondLst>
                                        </p:cTn>
                                        <p:tgtEl>
                                          <p:spTgt spid="50"/>
                                        </p:tgtEl>
                                      </p:cBhvr>
                                      <p:to x="100000" y="60000"/>
                                    </p:animScale>
                                    <p:animScale>
                                      <p:cBhvr>
                                        <p:cTn id="196" dur="166" decel="50000">
                                          <p:stCondLst>
                                            <p:cond delay="676"/>
                                          </p:stCondLst>
                                        </p:cTn>
                                        <p:tgtEl>
                                          <p:spTgt spid="50"/>
                                        </p:tgtEl>
                                      </p:cBhvr>
                                      <p:to x="100000" y="100000"/>
                                    </p:animScale>
                                    <p:animScale>
                                      <p:cBhvr>
                                        <p:cTn id="197" dur="26">
                                          <p:stCondLst>
                                            <p:cond delay="1312"/>
                                          </p:stCondLst>
                                        </p:cTn>
                                        <p:tgtEl>
                                          <p:spTgt spid="50"/>
                                        </p:tgtEl>
                                      </p:cBhvr>
                                      <p:to x="100000" y="80000"/>
                                    </p:animScale>
                                    <p:animScale>
                                      <p:cBhvr>
                                        <p:cTn id="198" dur="166" decel="50000">
                                          <p:stCondLst>
                                            <p:cond delay="1338"/>
                                          </p:stCondLst>
                                        </p:cTn>
                                        <p:tgtEl>
                                          <p:spTgt spid="50"/>
                                        </p:tgtEl>
                                      </p:cBhvr>
                                      <p:to x="100000" y="100000"/>
                                    </p:animScale>
                                    <p:animScale>
                                      <p:cBhvr>
                                        <p:cTn id="199" dur="26">
                                          <p:stCondLst>
                                            <p:cond delay="1642"/>
                                          </p:stCondLst>
                                        </p:cTn>
                                        <p:tgtEl>
                                          <p:spTgt spid="50"/>
                                        </p:tgtEl>
                                      </p:cBhvr>
                                      <p:to x="100000" y="90000"/>
                                    </p:animScale>
                                    <p:animScale>
                                      <p:cBhvr>
                                        <p:cTn id="200" dur="166" decel="50000">
                                          <p:stCondLst>
                                            <p:cond delay="1668"/>
                                          </p:stCondLst>
                                        </p:cTn>
                                        <p:tgtEl>
                                          <p:spTgt spid="50"/>
                                        </p:tgtEl>
                                      </p:cBhvr>
                                      <p:to x="100000" y="100000"/>
                                    </p:animScale>
                                    <p:animScale>
                                      <p:cBhvr>
                                        <p:cTn id="201" dur="26">
                                          <p:stCondLst>
                                            <p:cond delay="1808"/>
                                          </p:stCondLst>
                                        </p:cTn>
                                        <p:tgtEl>
                                          <p:spTgt spid="50"/>
                                        </p:tgtEl>
                                      </p:cBhvr>
                                      <p:to x="100000" y="95000"/>
                                    </p:animScale>
                                    <p:animScale>
                                      <p:cBhvr>
                                        <p:cTn id="202" dur="166" decel="50000">
                                          <p:stCondLst>
                                            <p:cond delay="1834"/>
                                          </p:stCondLst>
                                        </p:cTn>
                                        <p:tgtEl>
                                          <p:spTgt spid="50"/>
                                        </p:tgtEl>
                                      </p:cBhvr>
                                      <p:to x="100000" y="100000"/>
                                    </p:animScale>
                                  </p:childTnLst>
                                </p:cTn>
                              </p:par>
                              <p:par>
                                <p:cTn id="203" presetID="26" presetClass="entr" presetSubtype="0" fill="hold" grpId="0" nodeType="withEffect">
                                  <p:stCondLst>
                                    <p:cond delay="0"/>
                                  </p:stCondLst>
                                  <p:childTnLst>
                                    <p:set>
                                      <p:cBhvr>
                                        <p:cTn id="204" dur="1" fill="hold">
                                          <p:stCondLst>
                                            <p:cond delay="0"/>
                                          </p:stCondLst>
                                        </p:cTn>
                                        <p:tgtEl>
                                          <p:spTgt spid="37"/>
                                        </p:tgtEl>
                                        <p:attrNameLst>
                                          <p:attrName>style.visibility</p:attrName>
                                        </p:attrNameLst>
                                      </p:cBhvr>
                                      <p:to>
                                        <p:strVal val="visible"/>
                                      </p:to>
                                    </p:set>
                                    <p:animEffect transition="in" filter="wipe(down)">
                                      <p:cBhvr>
                                        <p:cTn id="205" dur="580">
                                          <p:stCondLst>
                                            <p:cond delay="0"/>
                                          </p:stCondLst>
                                        </p:cTn>
                                        <p:tgtEl>
                                          <p:spTgt spid="37"/>
                                        </p:tgtEl>
                                      </p:cBhvr>
                                    </p:animEffect>
                                    <p:anim calcmode="lin" valueType="num">
                                      <p:cBhvr>
                                        <p:cTn id="206" dur="1822" tmFilter="0,0; 0.14,0.36; 0.43,0.73; 0.71,0.91; 1.0,1.0">
                                          <p:stCondLst>
                                            <p:cond delay="0"/>
                                          </p:stCondLst>
                                        </p:cTn>
                                        <p:tgtEl>
                                          <p:spTgt spid="37"/>
                                        </p:tgtEl>
                                        <p:attrNameLst>
                                          <p:attrName>ppt_x</p:attrName>
                                        </p:attrNameLst>
                                      </p:cBhvr>
                                      <p:tavLst>
                                        <p:tav tm="0">
                                          <p:val>
                                            <p:strVal val="#ppt_x-0.25"/>
                                          </p:val>
                                        </p:tav>
                                        <p:tav tm="100000">
                                          <p:val>
                                            <p:strVal val="#ppt_x"/>
                                          </p:val>
                                        </p:tav>
                                      </p:tavLst>
                                    </p:anim>
                                    <p:anim calcmode="lin" valueType="num">
                                      <p:cBhvr>
                                        <p:cTn id="207" dur="664" tmFilter="0.0,0.0; 0.25,0.07; 0.50,0.2; 0.75,0.467; 1.0,1.0">
                                          <p:stCondLst>
                                            <p:cond delay="0"/>
                                          </p:stCondLst>
                                        </p:cTn>
                                        <p:tgtEl>
                                          <p:spTgt spid="37"/>
                                        </p:tgtEl>
                                        <p:attrNameLst>
                                          <p:attrName>ppt_y</p:attrName>
                                        </p:attrNameLst>
                                      </p:cBhvr>
                                      <p:tavLst>
                                        <p:tav tm="0" fmla="#ppt_y-sin(pi*$)/3">
                                          <p:val>
                                            <p:fltVal val="0.5"/>
                                          </p:val>
                                        </p:tav>
                                        <p:tav tm="100000">
                                          <p:val>
                                            <p:fltVal val="1"/>
                                          </p:val>
                                        </p:tav>
                                      </p:tavLst>
                                    </p:anim>
                                    <p:anim calcmode="lin" valueType="num">
                                      <p:cBhvr>
                                        <p:cTn id="208" dur="664" tmFilter="0, 0; 0.125,0.2665; 0.25,0.4; 0.375,0.465; 0.5,0.5;  0.625,0.535; 0.75,0.6; 0.875,0.7335; 1,1">
                                          <p:stCondLst>
                                            <p:cond delay="664"/>
                                          </p:stCondLst>
                                        </p:cTn>
                                        <p:tgtEl>
                                          <p:spTgt spid="37"/>
                                        </p:tgtEl>
                                        <p:attrNameLst>
                                          <p:attrName>ppt_y</p:attrName>
                                        </p:attrNameLst>
                                      </p:cBhvr>
                                      <p:tavLst>
                                        <p:tav tm="0" fmla="#ppt_y-sin(pi*$)/9">
                                          <p:val>
                                            <p:fltVal val="0"/>
                                          </p:val>
                                        </p:tav>
                                        <p:tav tm="100000">
                                          <p:val>
                                            <p:fltVal val="1"/>
                                          </p:val>
                                        </p:tav>
                                      </p:tavLst>
                                    </p:anim>
                                    <p:anim calcmode="lin" valueType="num">
                                      <p:cBhvr>
                                        <p:cTn id="209" dur="332" tmFilter="0, 0; 0.125,0.2665; 0.25,0.4; 0.375,0.465; 0.5,0.5;  0.625,0.535; 0.75,0.6; 0.875,0.7335; 1,1">
                                          <p:stCondLst>
                                            <p:cond delay="1324"/>
                                          </p:stCondLst>
                                        </p:cTn>
                                        <p:tgtEl>
                                          <p:spTgt spid="37"/>
                                        </p:tgtEl>
                                        <p:attrNameLst>
                                          <p:attrName>ppt_y</p:attrName>
                                        </p:attrNameLst>
                                      </p:cBhvr>
                                      <p:tavLst>
                                        <p:tav tm="0" fmla="#ppt_y-sin(pi*$)/27">
                                          <p:val>
                                            <p:fltVal val="0"/>
                                          </p:val>
                                        </p:tav>
                                        <p:tav tm="100000">
                                          <p:val>
                                            <p:fltVal val="1"/>
                                          </p:val>
                                        </p:tav>
                                      </p:tavLst>
                                    </p:anim>
                                    <p:anim calcmode="lin" valueType="num">
                                      <p:cBhvr>
                                        <p:cTn id="210" dur="164" tmFilter="0, 0; 0.125,0.2665; 0.25,0.4; 0.375,0.465; 0.5,0.5;  0.625,0.535; 0.75,0.6; 0.875,0.7335; 1,1">
                                          <p:stCondLst>
                                            <p:cond delay="1656"/>
                                          </p:stCondLst>
                                        </p:cTn>
                                        <p:tgtEl>
                                          <p:spTgt spid="37"/>
                                        </p:tgtEl>
                                        <p:attrNameLst>
                                          <p:attrName>ppt_y</p:attrName>
                                        </p:attrNameLst>
                                      </p:cBhvr>
                                      <p:tavLst>
                                        <p:tav tm="0" fmla="#ppt_y-sin(pi*$)/81">
                                          <p:val>
                                            <p:fltVal val="0"/>
                                          </p:val>
                                        </p:tav>
                                        <p:tav tm="100000">
                                          <p:val>
                                            <p:fltVal val="1"/>
                                          </p:val>
                                        </p:tav>
                                      </p:tavLst>
                                    </p:anim>
                                    <p:animScale>
                                      <p:cBhvr>
                                        <p:cTn id="211" dur="26">
                                          <p:stCondLst>
                                            <p:cond delay="650"/>
                                          </p:stCondLst>
                                        </p:cTn>
                                        <p:tgtEl>
                                          <p:spTgt spid="37"/>
                                        </p:tgtEl>
                                      </p:cBhvr>
                                      <p:to x="100000" y="60000"/>
                                    </p:animScale>
                                    <p:animScale>
                                      <p:cBhvr>
                                        <p:cTn id="212" dur="166" decel="50000">
                                          <p:stCondLst>
                                            <p:cond delay="676"/>
                                          </p:stCondLst>
                                        </p:cTn>
                                        <p:tgtEl>
                                          <p:spTgt spid="37"/>
                                        </p:tgtEl>
                                      </p:cBhvr>
                                      <p:to x="100000" y="100000"/>
                                    </p:animScale>
                                    <p:animScale>
                                      <p:cBhvr>
                                        <p:cTn id="213" dur="26">
                                          <p:stCondLst>
                                            <p:cond delay="1312"/>
                                          </p:stCondLst>
                                        </p:cTn>
                                        <p:tgtEl>
                                          <p:spTgt spid="37"/>
                                        </p:tgtEl>
                                      </p:cBhvr>
                                      <p:to x="100000" y="80000"/>
                                    </p:animScale>
                                    <p:animScale>
                                      <p:cBhvr>
                                        <p:cTn id="214" dur="166" decel="50000">
                                          <p:stCondLst>
                                            <p:cond delay="1338"/>
                                          </p:stCondLst>
                                        </p:cTn>
                                        <p:tgtEl>
                                          <p:spTgt spid="37"/>
                                        </p:tgtEl>
                                      </p:cBhvr>
                                      <p:to x="100000" y="100000"/>
                                    </p:animScale>
                                    <p:animScale>
                                      <p:cBhvr>
                                        <p:cTn id="215" dur="26">
                                          <p:stCondLst>
                                            <p:cond delay="1642"/>
                                          </p:stCondLst>
                                        </p:cTn>
                                        <p:tgtEl>
                                          <p:spTgt spid="37"/>
                                        </p:tgtEl>
                                      </p:cBhvr>
                                      <p:to x="100000" y="90000"/>
                                    </p:animScale>
                                    <p:animScale>
                                      <p:cBhvr>
                                        <p:cTn id="216" dur="166" decel="50000">
                                          <p:stCondLst>
                                            <p:cond delay="1668"/>
                                          </p:stCondLst>
                                        </p:cTn>
                                        <p:tgtEl>
                                          <p:spTgt spid="37"/>
                                        </p:tgtEl>
                                      </p:cBhvr>
                                      <p:to x="100000" y="100000"/>
                                    </p:animScale>
                                    <p:animScale>
                                      <p:cBhvr>
                                        <p:cTn id="217" dur="26">
                                          <p:stCondLst>
                                            <p:cond delay="1808"/>
                                          </p:stCondLst>
                                        </p:cTn>
                                        <p:tgtEl>
                                          <p:spTgt spid="37"/>
                                        </p:tgtEl>
                                      </p:cBhvr>
                                      <p:to x="100000" y="95000"/>
                                    </p:animScale>
                                    <p:animScale>
                                      <p:cBhvr>
                                        <p:cTn id="218" dur="166" decel="50000">
                                          <p:stCondLst>
                                            <p:cond delay="1834"/>
                                          </p:stCondLst>
                                        </p:cTn>
                                        <p:tgtEl>
                                          <p:spTgt spid="37"/>
                                        </p:tgtEl>
                                      </p:cBhvr>
                                      <p:to x="100000" y="100000"/>
                                    </p:animScale>
                                  </p:childTnLst>
                                </p:cTn>
                              </p:par>
                            </p:childTnLst>
                          </p:cTn>
                        </p:par>
                      </p:childTnLst>
                    </p:cTn>
                  </p:par>
                  <p:par>
                    <p:cTn id="219" fill="hold">
                      <p:stCondLst>
                        <p:cond delay="indefinite"/>
                      </p:stCondLst>
                      <p:childTnLst>
                        <p:par>
                          <p:cTn id="220" fill="hold">
                            <p:stCondLst>
                              <p:cond delay="0"/>
                            </p:stCondLst>
                            <p:childTnLst>
                              <p:par>
                                <p:cTn id="221" presetID="2" presetClass="entr" presetSubtype="4" fill="hold" grpId="0" nodeType="clickEffect">
                                  <p:stCondLst>
                                    <p:cond delay="0"/>
                                  </p:stCondLst>
                                  <p:childTnLst>
                                    <p:set>
                                      <p:cBhvr>
                                        <p:cTn id="222" dur="1" fill="hold">
                                          <p:stCondLst>
                                            <p:cond delay="0"/>
                                          </p:stCondLst>
                                        </p:cTn>
                                        <p:tgtEl>
                                          <p:spTgt spid="39"/>
                                        </p:tgtEl>
                                        <p:attrNameLst>
                                          <p:attrName>style.visibility</p:attrName>
                                        </p:attrNameLst>
                                      </p:cBhvr>
                                      <p:to>
                                        <p:strVal val="visible"/>
                                      </p:to>
                                    </p:set>
                                    <p:anim calcmode="lin" valueType="num">
                                      <p:cBhvr additive="base">
                                        <p:cTn id="223" dur="500" fill="hold"/>
                                        <p:tgtEl>
                                          <p:spTgt spid="39"/>
                                        </p:tgtEl>
                                        <p:attrNameLst>
                                          <p:attrName>ppt_x</p:attrName>
                                        </p:attrNameLst>
                                      </p:cBhvr>
                                      <p:tavLst>
                                        <p:tav tm="0">
                                          <p:val>
                                            <p:strVal val="#ppt_x"/>
                                          </p:val>
                                        </p:tav>
                                        <p:tav tm="100000">
                                          <p:val>
                                            <p:strVal val="#ppt_x"/>
                                          </p:val>
                                        </p:tav>
                                      </p:tavLst>
                                    </p:anim>
                                    <p:anim calcmode="lin" valueType="num">
                                      <p:cBhvr additive="base">
                                        <p:cTn id="224"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94" grpId="0"/>
      <p:bldP spid="96" grpId="0"/>
      <p:bldP spid="37" grpId="0" animBg="1"/>
      <p:bldP spid="39" grpId="0" animBg="1"/>
      <p:bldP spid="51" grpId="0" animBg="1"/>
      <p:bldP spid="46" grpId="0" animBg="1"/>
      <p:bldP spid="52" grpId="0" animBg="1"/>
      <p:bldP spid="55" grpId="0"/>
      <p:bldP spid="38" grpId="0" animBg="1"/>
      <p:bldP spid="53"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523" y="765048"/>
            <a:ext cx="11138535" cy="119380"/>
          </a:xfrm>
          <a:custGeom>
            <a:avLst/>
            <a:gdLst/>
            <a:ahLst/>
            <a:cxnLst/>
            <a:rect l="l" t="t" r="r" b="b"/>
            <a:pathLst>
              <a:path w="11138535" h="119380">
                <a:moveTo>
                  <a:pt x="11079099" y="0"/>
                </a:moveTo>
                <a:lnTo>
                  <a:pt x="11055988" y="4679"/>
                </a:lnTo>
                <a:lnTo>
                  <a:pt x="11037093" y="17430"/>
                </a:lnTo>
                <a:lnTo>
                  <a:pt x="11024342" y="36325"/>
                </a:lnTo>
                <a:lnTo>
                  <a:pt x="11019663" y="59436"/>
                </a:lnTo>
                <a:lnTo>
                  <a:pt x="11024342" y="82546"/>
                </a:lnTo>
                <a:lnTo>
                  <a:pt x="11037093" y="101441"/>
                </a:lnTo>
                <a:lnTo>
                  <a:pt x="11055988" y="114192"/>
                </a:lnTo>
                <a:lnTo>
                  <a:pt x="11079099" y="118872"/>
                </a:lnTo>
                <a:lnTo>
                  <a:pt x="11102262" y="114192"/>
                </a:lnTo>
                <a:lnTo>
                  <a:pt x="11121151" y="101441"/>
                </a:lnTo>
                <a:lnTo>
                  <a:pt x="11133873" y="82546"/>
                </a:lnTo>
                <a:lnTo>
                  <a:pt x="11134538" y="79248"/>
                </a:lnTo>
                <a:lnTo>
                  <a:pt x="11079099" y="79248"/>
                </a:lnTo>
                <a:lnTo>
                  <a:pt x="11079099" y="39624"/>
                </a:lnTo>
                <a:lnTo>
                  <a:pt x="11134538" y="39624"/>
                </a:lnTo>
                <a:lnTo>
                  <a:pt x="11133873" y="36325"/>
                </a:lnTo>
                <a:lnTo>
                  <a:pt x="11121151" y="17430"/>
                </a:lnTo>
                <a:lnTo>
                  <a:pt x="11102262" y="4679"/>
                </a:lnTo>
                <a:lnTo>
                  <a:pt x="11079099" y="0"/>
                </a:lnTo>
                <a:close/>
              </a:path>
              <a:path w="11138535" h="119380">
                <a:moveTo>
                  <a:pt x="11023674" y="39624"/>
                </a:moveTo>
                <a:lnTo>
                  <a:pt x="0" y="39624"/>
                </a:lnTo>
                <a:lnTo>
                  <a:pt x="0" y="79248"/>
                </a:lnTo>
                <a:lnTo>
                  <a:pt x="11023674" y="79248"/>
                </a:lnTo>
                <a:lnTo>
                  <a:pt x="11019663" y="59436"/>
                </a:lnTo>
                <a:lnTo>
                  <a:pt x="11023674" y="39624"/>
                </a:lnTo>
                <a:close/>
              </a:path>
              <a:path w="11138535" h="119380">
                <a:moveTo>
                  <a:pt x="11134538" y="39624"/>
                </a:moveTo>
                <a:lnTo>
                  <a:pt x="11079099" y="39624"/>
                </a:lnTo>
                <a:lnTo>
                  <a:pt x="11079099" y="79248"/>
                </a:lnTo>
                <a:lnTo>
                  <a:pt x="11134538" y="79248"/>
                </a:lnTo>
                <a:lnTo>
                  <a:pt x="11138535" y="59436"/>
                </a:lnTo>
                <a:lnTo>
                  <a:pt x="11134538" y="39624"/>
                </a:lnTo>
                <a:close/>
              </a:path>
            </a:pathLst>
          </a:custGeom>
          <a:solidFill>
            <a:srgbClr val="001F5F"/>
          </a:solidFill>
        </p:spPr>
        <p:txBody>
          <a:bodyPr wrap="square" lIns="0" tIns="0" rIns="0" bIns="0" rtlCol="0"/>
          <a:lstStyle/>
          <a:p>
            <a:endParaRPr/>
          </a:p>
        </p:txBody>
      </p:sp>
      <p:pic>
        <p:nvPicPr>
          <p:cNvPr id="3" name="object 3"/>
          <p:cNvPicPr/>
          <p:nvPr/>
        </p:nvPicPr>
        <p:blipFill>
          <a:blip r:embed="rId2" cstate="print"/>
          <a:stretch>
            <a:fillRect/>
          </a:stretch>
        </p:blipFill>
        <p:spPr>
          <a:xfrm>
            <a:off x="10509504" y="67056"/>
            <a:ext cx="1600200" cy="474412"/>
          </a:xfrm>
          <a:prstGeom prst="rect">
            <a:avLst/>
          </a:prstGeom>
        </p:spPr>
      </p:pic>
      <p:graphicFrame>
        <p:nvGraphicFramePr>
          <p:cNvPr id="4" name="object 4"/>
          <p:cNvGraphicFramePr>
            <a:graphicFrameLocks noGrp="1"/>
          </p:cNvGraphicFramePr>
          <p:nvPr/>
        </p:nvGraphicFramePr>
        <p:xfrm>
          <a:off x="295554" y="1084961"/>
          <a:ext cx="4200525" cy="3340729"/>
        </p:xfrm>
        <a:graphic>
          <a:graphicData uri="http://schemas.openxmlformats.org/drawingml/2006/table">
            <a:tbl>
              <a:tblPr firstRow="1" bandRow="1">
                <a:tableStyleId>{2D5ABB26-0587-4C30-8999-92F81FD0307C}</a:tableStyleId>
              </a:tblPr>
              <a:tblGrid>
                <a:gridCol w="2148840">
                  <a:extLst>
                    <a:ext uri="{9D8B030D-6E8A-4147-A177-3AD203B41FA5}">
                      <a16:colId xmlns:a16="http://schemas.microsoft.com/office/drawing/2014/main" val="20000"/>
                    </a:ext>
                  </a:extLst>
                </a:gridCol>
                <a:gridCol w="2051685">
                  <a:extLst>
                    <a:ext uri="{9D8B030D-6E8A-4147-A177-3AD203B41FA5}">
                      <a16:colId xmlns:a16="http://schemas.microsoft.com/office/drawing/2014/main" val="20001"/>
                    </a:ext>
                  </a:extLst>
                </a:gridCol>
              </a:tblGrid>
              <a:tr h="377190">
                <a:tc gridSpan="2">
                  <a:txBody>
                    <a:bodyPr/>
                    <a:lstStyle/>
                    <a:p>
                      <a:pPr marL="813435" algn="ctr">
                        <a:lnSpc>
                          <a:spcPct val="100000"/>
                        </a:lnSpc>
                        <a:spcBef>
                          <a:spcPts val="270"/>
                        </a:spcBef>
                      </a:pPr>
                      <a:r>
                        <a:rPr sz="1800" b="1" dirty="0">
                          <a:solidFill>
                            <a:srgbClr val="FFFFFF"/>
                          </a:solidFill>
                          <a:latin typeface="Calibri"/>
                          <a:cs typeface="Calibri"/>
                        </a:rPr>
                        <a:t>A</a:t>
                      </a:r>
                      <a:r>
                        <a:rPr sz="1800" b="1" spc="-35" dirty="0">
                          <a:solidFill>
                            <a:srgbClr val="FFFFFF"/>
                          </a:solidFill>
                          <a:latin typeface="Calibri"/>
                          <a:cs typeface="Calibri"/>
                        </a:rPr>
                        <a:t> </a:t>
                      </a:r>
                      <a:r>
                        <a:rPr sz="1800" b="1" spc="-15" dirty="0">
                          <a:solidFill>
                            <a:srgbClr val="FFFFFF"/>
                          </a:solidFill>
                          <a:latin typeface="Calibri"/>
                          <a:cs typeface="Calibri"/>
                        </a:rPr>
                        <a:t>Ltd</a:t>
                      </a:r>
                      <a:endParaRPr sz="1800">
                        <a:latin typeface="Calibri"/>
                        <a:cs typeface="Calibri"/>
                      </a:endParaRPr>
                    </a:p>
                  </a:txBody>
                  <a:tcPr marL="0" marR="0" marT="34290" marB="0">
                    <a:solidFill>
                      <a:srgbClr val="EC7C30"/>
                    </a:solidFill>
                  </a:tcPr>
                </a:tc>
                <a:tc hMerge="1">
                  <a:txBody>
                    <a:bodyPr/>
                    <a:lstStyle/>
                    <a:p>
                      <a:endParaRPr/>
                    </a:p>
                  </a:txBody>
                  <a:tcPr marL="0" marR="0" marT="0" marB="0"/>
                </a:tc>
                <a:extLst>
                  <a:ext uri="{0D108BD9-81ED-4DB2-BD59-A6C34878D82A}">
                    <a16:rowId xmlns:a16="http://schemas.microsoft.com/office/drawing/2014/main" val="10000"/>
                  </a:ext>
                </a:extLst>
              </a:tr>
              <a:tr h="367664">
                <a:tc>
                  <a:txBody>
                    <a:bodyPr/>
                    <a:lstStyle/>
                    <a:p>
                      <a:pPr marL="90805">
                        <a:lnSpc>
                          <a:spcPct val="100000"/>
                        </a:lnSpc>
                        <a:spcBef>
                          <a:spcPts val="220"/>
                        </a:spcBef>
                      </a:pPr>
                      <a:r>
                        <a:rPr sz="1800" spc="-10" dirty="0">
                          <a:latin typeface="Calibri"/>
                          <a:cs typeface="Calibri"/>
                        </a:rPr>
                        <a:t>Selling</a:t>
                      </a:r>
                      <a:r>
                        <a:rPr sz="1800" spc="35" dirty="0">
                          <a:latin typeface="Calibri"/>
                          <a:cs typeface="Calibri"/>
                        </a:rPr>
                        <a:t> </a:t>
                      </a:r>
                      <a:r>
                        <a:rPr sz="1800" dirty="0">
                          <a:latin typeface="Calibri"/>
                          <a:cs typeface="Calibri"/>
                        </a:rPr>
                        <a:t>Price</a:t>
                      </a:r>
                      <a:endParaRPr sz="1800">
                        <a:latin typeface="Calibri"/>
                        <a:cs typeface="Calibri"/>
                      </a:endParaRPr>
                    </a:p>
                  </a:txBody>
                  <a:tcPr marL="0" marR="0" marT="27940" marB="0">
                    <a:lnL w="6350">
                      <a:solidFill>
                        <a:srgbClr val="EC7C30"/>
                      </a:solidFill>
                      <a:prstDash val="solid"/>
                    </a:lnL>
                    <a:lnB w="6350">
                      <a:solidFill>
                        <a:srgbClr val="EC7C30"/>
                      </a:solidFill>
                      <a:prstDash val="solid"/>
                    </a:lnB>
                  </a:tcPr>
                </a:tc>
                <a:tc>
                  <a:txBody>
                    <a:bodyPr/>
                    <a:lstStyle/>
                    <a:p>
                      <a:pPr marL="115570">
                        <a:lnSpc>
                          <a:spcPct val="100000"/>
                        </a:lnSpc>
                        <a:spcBef>
                          <a:spcPts val="220"/>
                        </a:spcBef>
                      </a:pPr>
                      <a:r>
                        <a:rPr sz="1800" spc="-5" dirty="0">
                          <a:latin typeface="Calibri"/>
                          <a:cs typeface="Calibri"/>
                        </a:rPr>
                        <a:t>1000</a:t>
                      </a:r>
                      <a:endParaRPr sz="1800">
                        <a:latin typeface="Calibri"/>
                        <a:cs typeface="Calibri"/>
                      </a:endParaRPr>
                    </a:p>
                  </a:txBody>
                  <a:tcPr marL="0" marR="0" marT="27940" marB="0">
                    <a:lnR w="6350">
                      <a:solidFill>
                        <a:srgbClr val="EC7C30"/>
                      </a:solidFill>
                      <a:prstDash val="solid"/>
                    </a:lnR>
                    <a:lnB w="6350">
                      <a:solidFill>
                        <a:srgbClr val="EC7C30"/>
                      </a:solidFill>
                      <a:prstDash val="solid"/>
                    </a:lnB>
                  </a:tcPr>
                </a:tc>
                <a:extLst>
                  <a:ext uri="{0D108BD9-81ED-4DB2-BD59-A6C34878D82A}">
                    <a16:rowId xmlns:a16="http://schemas.microsoft.com/office/drawing/2014/main" val="10001"/>
                  </a:ext>
                </a:extLst>
              </a:tr>
              <a:tr h="370839">
                <a:tc>
                  <a:txBody>
                    <a:bodyPr/>
                    <a:lstStyle/>
                    <a:p>
                      <a:pPr marL="90805">
                        <a:lnSpc>
                          <a:spcPct val="100000"/>
                        </a:lnSpc>
                        <a:spcBef>
                          <a:spcPts val="250"/>
                        </a:spcBef>
                      </a:pPr>
                      <a:r>
                        <a:rPr sz="1800" spc="-15" dirty="0">
                          <a:latin typeface="Calibri"/>
                          <a:cs typeface="Calibri"/>
                        </a:rPr>
                        <a:t>GST</a:t>
                      </a:r>
                      <a:r>
                        <a:rPr sz="1800" spc="5" dirty="0">
                          <a:latin typeface="Calibri"/>
                          <a:cs typeface="Calibri"/>
                        </a:rPr>
                        <a:t> </a:t>
                      </a:r>
                      <a:r>
                        <a:rPr sz="1800" dirty="0">
                          <a:latin typeface="Calibri"/>
                          <a:cs typeface="Calibri"/>
                        </a:rPr>
                        <a:t>@</a:t>
                      </a:r>
                      <a:r>
                        <a:rPr sz="1800" spc="-30" dirty="0">
                          <a:latin typeface="Calibri"/>
                          <a:cs typeface="Calibri"/>
                        </a:rPr>
                        <a:t> </a:t>
                      </a:r>
                      <a:r>
                        <a:rPr sz="1800" dirty="0">
                          <a:latin typeface="Calibri"/>
                          <a:cs typeface="Calibri"/>
                        </a:rPr>
                        <a:t>12%</a:t>
                      </a:r>
                      <a:endParaRPr sz="1800">
                        <a:latin typeface="Calibri"/>
                        <a:cs typeface="Calibri"/>
                      </a:endParaRPr>
                    </a:p>
                  </a:txBody>
                  <a:tcPr marL="0" marR="0" marT="31750" marB="0">
                    <a:lnL w="6350">
                      <a:solidFill>
                        <a:srgbClr val="EC7C30"/>
                      </a:solidFill>
                      <a:prstDash val="solid"/>
                    </a:lnL>
                    <a:lnT w="6350">
                      <a:solidFill>
                        <a:srgbClr val="EC7C30"/>
                      </a:solidFill>
                      <a:prstDash val="solid"/>
                    </a:lnT>
                    <a:lnB w="6350">
                      <a:solidFill>
                        <a:srgbClr val="EC7C30"/>
                      </a:solidFill>
                      <a:prstDash val="solid"/>
                    </a:lnB>
                  </a:tcPr>
                </a:tc>
                <a:tc>
                  <a:txBody>
                    <a:bodyPr/>
                    <a:lstStyle/>
                    <a:p>
                      <a:pPr marL="115570">
                        <a:lnSpc>
                          <a:spcPct val="100000"/>
                        </a:lnSpc>
                        <a:spcBef>
                          <a:spcPts val="250"/>
                        </a:spcBef>
                      </a:pPr>
                      <a:r>
                        <a:rPr sz="1800" dirty="0">
                          <a:latin typeface="Calibri"/>
                          <a:cs typeface="Calibri"/>
                        </a:rPr>
                        <a:t>?</a:t>
                      </a:r>
                      <a:endParaRPr sz="1800">
                        <a:latin typeface="Calibri"/>
                        <a:cs typeface="Calibri"/>
                      </a:endParaRPr>
                    </a:p>
                  </a:txBody>
                  <a:tcPr marL="0" marR="0" marT="31750" marB="0">
                    <a:lnR w="6350">
                      <a:solidFill>
                        <a:srgbClr val="EC7C30"/>
                      </a:solidFill>
                      <a:prstDash val="solid"/>
                    </a:lnR>
                    <a:lnT w="6350">
                      <a:solidFill>
                        <a:srgbClr val="EC7C30"/>
                      </a:solidFill>
                      <a:prstDash val="solid"/>
                    </a:lnT>
                    <a:lnB w="6350">
                      <a:solidFill>
                        <a:srgbClr val="EC7C30"/>
                      </a:solidFill>
                      <a:prstDash val="solid"/>
                    </a:lnB>
                  </a:tcPr>
                </a:tc>
                <a:extLst>
                  <a:ext uri="{0D108BD9-81ED-4DB2-BD59-A6C34878D82A}">
                    <a16:rowId xmlns:a16="http://schemas.microsoft.com/office/drawing/2014/main" val="10002"/>
                  </a:ext>
                </a:extLst>
              </a:tr>
              <a:tr h="370840">
                <a:tc>
                  <a:txBody>
                    <a:bodyPr/>
                    <a:lstStyle/>
                    <a:p>
                      <a:pPr marL="90805">
                        <a:lnSpc>
                          <a:spcPct val="100000"/>
                        </a:lnSpc>
                        <a:spcBef>
                          <a:spcPts val="250"/>
                        </a:spcBef>
                      </a:pPr>
                      <a:r>
                        <a:rPr sz="1800" spc="-40" dirty="0">
                          <a:latin typeface="Calibri"/>
                          <a:cs typeface="Calibri"/>
                        </a:rPr>
                        <a:t>Total</a:t>
                      </a:r>
                      <a:endParaRPr sz="1800">
                        <a:latin typeface="Calibri"/>
                        <a:cs typeface="Calibri"/>
                      </a:endParaRPr>
                    </a:p>
                  </a:txBody>
                  <a:tcPr marL="0" marR="0" marT="31750" marB="0">
                    <a:lnL w="6350">
                      <a:solidFill>
                        <a:srgbClr val="EC7C30"/>
                      </a:solidFill>
                      <a:prstDash val="solid"/>
                    </a:lnL>
                    <a:lnT w="6350">
                      <a:solidFill>
                        <a:srgbClr val="EC7C30"/>
                      </a:solidFill>
                      <a:prstDash val="solid"/>
                    </a:lnT>
                    <a:lnB w="6350">
                      <a:solidFill>
                        <a:srgbClr val="EC7C30"/>
                      </a:solidFill>
                      <a:prstDash val="solid"/>
                    </a:lnB>
                  </a:tcPr>
                </a:tc>
                <a:tc>
                  <a:txBody>
                    <a:bodyPr/>
                    <a:lstStyle/>
                    <a:p>
                      <a:pPr marL="115570">
                        <a:lnSpc>
                          <a:spcPct val="100000"/>
                        </a:lnSpc>
                        <a:spcBef>
                          <a:spcPts val="250"/>
                        </a:spcBef>
                      </a:pPr>
                      <a:r>
                        <a:rPr sz="1800" dirty="0">
                          <a:latin typeface="Calibri"/>
                          <a:cs typeface="Calibri"/>
                        </a:rPr>
                        <a:t>?</a:t>
                      </a:r>
                      <a:endParaRPr sz="1800">
                        <a:latin typeface="Calibri"/>
                        <a:cs typeface="Calibri"/>
                      </a:endParaRPr>
                    </a:p>
                  </a:txBody>
                  <a:tcPr marL="0" marR="0" marT="31750" marB="0">
                    <a:lnR w="6350">
                      <a:solidFill>
                        <a:srgbClr val="EC7C30"/>
                      </a:solidFill>
                      <a:prstDash val="solid"/>
                    </a:lnR>
                    <a:lnT w="6350">
                      <a:solidFill>
                        <a:srgbClr val="EC7C30"/>
                      </a:solidFill>
                      <a:prstDash val="solid"/>
                    </a:lnT>
                    <a:lnB w="6350">
                      <a:solidFill>
                        <a:srgbClr val="EC7C30"/>
                      </a:solidFill>
                      <a:prstDash val="solid"/>
                    </a:lnB>
                  </a:tcPr>
                </a:tc>
                <a:extLst>
                  <a:ext uri="{0D108BD9-81ED-4DB2-BD59-A6C34878D82A}">
                    <a16:rowId xmlns:a16="http://schemas.microsoft.com/office/drawing/2014/main" val="10003"/>
                  </a:ext>
                </a:extLst>
              </a:tr>
              <a:tr h="370839">
                <a:tc gridSpan="2">
                  <a:txBody>
                    <a:bodyPr/>
                    <a:lstStyle/>
                    <a:p>
                      <a:pPr>
                        <a:lnSpc>
                          <a:spcPct val="100000"/>
                        </a:lnSpc>
                      </a:pPr>
                      <a:endParaRPr sz="1900">
                        <a:latin typeface="Times New Roman"/>
                        <a:cs typeface="Times New Roman"/>
                      </a:endParaRPr>
                    </a:p>
                  </a:txBody>
                  <a:tcPr marL="0" marR="0" marT="0" marB="0">
                    <a:lnL w="6350">
                      <a:solidFill>
                        <a:srgbClr val="EC7C30"/>
                      </a:solidFill>
                      <a:prstDash val="solid"/>
                    </a:lnL>
                    <a:lnR w="6350">
                      <a:solidFill>
                        <a:srgbClr val="EC7C30"/>
                      </a:solidFill>
                      <a:prstDash val="solid"/>
                    </a:lnR>
                    <a:lnT w="6350">
                      <a:solidFill>
                        <a:srgbClr val="EC7C30"/>
                      </a:solidFill>
                      <a:prstDash val="solid"/>
                    </a:lnT>
                    <a:lnB w="6350">
                      <a:solidFill>
                        <a:srgbClr val="EC7C30"/>
                      </a:solidFill>
                      <a:prstDash val="solid"/>
                    </a:lnB>
                  </a:tcPr>
                </a:tc>
                <a:tc hMerge="1">
                  <a:txBody>
                    <a:bodyPr/>
                    <a:lstStyle/>
                    <a:p>
                      <a:endParaRPr/>
                    </a:p>
                  </a:txBody>
                  <a:tcPr marL="0" marR="0" marT="0" marB="0"/>
                </a:tc>
                <a:extLst>
                  <a:ext uri="{0D108BD9-81ED-4DB2-BD59-A6C34878D82A}">
                    <a16:rowId xmlns:a16="http://schemas.microsoft.com/office/drawing/2014/main" val="10004"/>
                  </a:ext>
                </a:extLst>
              </a:tr>
              <a:tr h="370839">
                <a:tc gridSpan="2">
                  <a:txBody>
                    <a:bodyPr/>
                    <a:lstStyle/>
                    <a:p>
                      <a:pPr>
                        <a:lnSpc>
                          <a:spcPct val="100000"/>
                        </a:lnSpc>
                      </a:pPr>
                      <a:endParaRPr sz="1900">
                        <a:latin typeface="Times New Roman"/>
                        <a:cs typeface="Times New Roman"/>
                      </a:endParaRPr>
                    </a:p>
                  </a:txBody>
                  <a:tcPr marL="0" marR="0" marT="0" marB="0">
                    <a:lnL w="6350">
                      <a:solidFill>
                        <a:srgbClr val="EC7C30"/>
                      </a:solidFill>
                      <a:prstDash val="solid"/>
                    </a:lnL>
                    <a:lnR w="6350">
                      <a:solidFill>
                        <a:srgbClr val="EC7C30"/>
                      </a:solidFill>
                      <a:prstDash val="solid"/>
                    </a:lnR>
                    <a:lnT w="6350">
                      <a:solidFill>
                        <a:srgbClr val="EC7C30"/>
                      </a:solidFill>
                      <a:prstDash val="solid"/>
                    </a:lnT>
                    <a:lnB w="6350">
                      <a:solidFill>
                        <a:srgbClr val="EC7C30"/>
                      </a:solidFill>
                      <a:prstDash val="solid"/>
                    </a:lnB>
                  </a:tcPr>
                </a:tc>
                <a:tc hMerge="1">
                  <a:txBody>
                    <a:bodyPr/>
                    <a:lstStyle/>
                    <a:p>
                      <a:endParaRPr/>
                    </a:p>
                  </a:txBody>
                  <a:tcPr marL="0" marR="0" marT="0" marB="0"/>
                </a:tc>
                <a:extLst>
                  <a:ext uri="{0D108BD9-81ED-4DB2-BD59-A6C34878D82A}">
                    <a16:rowId xmlns:a16="http://schemas.microsoft.com/office/drawing/2014/main" val="10005"/>
                  </a:ext>
                </a:extLst>
              </a:tr>
              <a:tr h="370840">
                <a:tc>
                  <a:txBody>
                    <a:bodyPr/>
                    <a:lstStyle/>
                    <a:p>
                      <a:pPr marL="90805">
                        <a:lnSpc>
                          <a:spcPct val="100000"/>
                        </a:lnSpc>
                        <a:spcBef>
                          <a:spcPts val="250"/>
                        </a:spcBef>
                      </a:pPr>
                      <a:r>
                        <a:rPr sz="1800" spc="-55" dirty="0">
                          <a:latin typeface="Calibri"/>
                          <a:cs typeface="Calibri"/>
                        </a:rPr>
                        <a:t>Tax</a:t>
                      </a:r>
                      <a:r>
                        <a:rPr sz="1800" spc="-50" dirty="0">
                          <a:latin typeface="Calibri"/>
                          <a:cs typeface="Calibri"/>
                        </a:rPr>
                        <a:t> </a:t>
                      </a:r>
                      <a:r>
                        <a:rPr sz="1800" spc="-15" dirty="0">
                          <a:latin typeface="Calibri"/>
                          <a:cs typeface="Calibri"/>
                        </a:rPr>
                        <a:t>Payable</a:t>
                      </a:r>
                      <a:endParaRPr sz="1800">
                        <a:latin typeface="Calibri"/>
                        <a:cs typeface="Calibri"/>
                      </a:endParaRPr>
                    </a:p>
                  </a:txBody>
                  <a:tcPr marL="0" marR="0" marT="31750" marB="0">
                    <a:lnL w="6350">
                      <a:solidFill>
                        <a:srgbClr val="EC7C30"/>
                      </a:solidFill>
                      <a:prstDash val="solid"/>
                    </a:lnL>
                    <a:lnT w="6350">
                      <a:solidFill>
                        <a:srgbClr val="EC7C30"/>
                      </a:solidFill>
                      <a:prstDash val="solid"/>
                    </a:lnT>
                    <a:lnB w="6350">
                      <a:solidFill>
                        <a:srgbClr val="EC7C30"/>
                      </a:solidFill>
                      <a:prstDash val="solid"/>
                    </a:lnB>
                  </a:tcPr>
                </a:tc>
                <a:tc>
                  <a:txBody>
                    <a:bodyPr/>
                    <a:lstStyle/>
                    <a:p>
                      <a:pPr marL="115570">
                        <a:lnSpc>
                          <a:spcPct val="100000"/>
                        </a:lnSpc>
                        <a:spcBef>
                          <a:spcPts val="250"/>
                        </a:spcBef>
                      </a:pPr>
                      <a:r>
                        <a:rPr sz="1800" dirty="0">
                          <a:latin typeface="Calibri"/>
                          <a:cs typeface="Calibri"/>
                        </a:rPr>
                        <a:t>?</a:t>
                      </a:r>
                      <a:endParaRPr sz="1800">
                        <a:latin typeface="Calibri"/>
                        <a:cs typeface="Calibri"/>
                      </a:endParaRPr>
                    </a:p>
                  </a:txBody>
                  <a:tcPr marL="0" marR="0" marT="31750" marB="0">
                    <a:lnR w="6350">
                      <a:solidFill>
                        <a:srgbClr val="EC7C30"/>
                      </a:solidFill>
                      <a:prstDash val="solid"/>
                    </a:lnR>
                    <a:lnT w="6350">
                      <a:solidFill>
                        <a:srgbClr val="EC7C30"/>
                      </a:solidFill>
                      <a:prstDash val="solid"/>
                    </a:lnT>
                    <a:lnB w="6350">
                      <a:solidFill>
                        <a:srgbClr val="EC7C30"/>
                      </a:solidFill>
                      <a:prstDash val="solid"/>
                    </a:lnB>
                  </a:tcPr>
                </a:tc>
                <a:extLst>
                  <a:ext uri="{0D108BD9-81ED-4DB2-BD59-A6C34878D82A}">
                    <a16:rowId xmlns:a16="http://schemas.microsoft.com/office/drawing/2014/main" val="10006"/>
                  </a:ext>
                </a:extLst>
              </a:tr>
              <a:tr h="370839">
                <a:tc>
                  <a:txBody>
                    <a:bodyPr/>
                    <a:lstStyle/>
                    <a:p>
                      <a:pPr marL="90805">
                        <a:lnSpc>
                          <a:spcPct val="100000"/>
                        </a:lnSpc>
                        <a:spcBef>
                          <a:spcPts val="254"/>
                        </a:spcBef>
                      </a:pPr>
                      <a:r>
                        <a:rPr sz="1800" spc="-5" dirty="0">
                          <a:latin typeface="Calibri"/>
                          <a:cs typeface="Calibri"/>
                        </a:rPr>
                        <a:t>Less:</a:t>
                      </a:r>
                      <a:r>
                        <a:rPr sz="1800" spc="5" dirty="0">
                          <a:latin typeface="Calibri"/>
                          <a:cs typeface="Calibri"/>
                        </a:rPr>
                        <a:t> </a:t>
                      </a:r>
                      <a:r>
                        <a:rPr sz="1800" spc="-5" dirty="0">
                          <a:latin typeface="Calibri"/>
                          <a:cs typeface="Calibri"/>
                        </a:rPr>
                        <a:t>Input</a:t>
                      </a:r>
                      <a:r>
                        <a:rPr sz="1800" spc="5" dirty="0">
                          <a:latin typeface="Calibri"/>
                          <a:cs typeface="Calibri"/>
                        </a:rPr>
                        <a:t> </a:t>
                      </a:r>
                      <a:r>
                        <a:rPr sz="1800" spc="-20" dirty="0">
                          <a:latin typeface="Calibri"/>
                          <a:cs typeface="Calibri"/>
                        </a:rPr>
                        <a:t>tax</a:t>
                      </a:r>
                      <a:r>
                        <a:rPr sz="1800" spc="-5" dirty="0">
                          <a:latin typeface="Calibri"/>
                          <a:cs typeface="Calibri"/>
                        </a:rPr>
                        <a:t> </a:t>
                      </a:r>
                      <a:r>
                        <a:rPr sz="1800" spc="-10" dirty="0">
                          <a:latin typeface="Calibri"/>
                          <a:cs typeface="Calibri"/>
                        </a:rPr>
                        <a:t>Credit</a:t>
                      </a:r>
                      <a:endParaRPr sz="1800">
                        <a:latin typeface="Calibri"/>
                        <a:cs typeface="Calibri"/>
                      </a:endParaRPr>
                    </a:p>
                  </a:txBody>
                  <a:tcPr marL="0" marR="0" marT="32384" marB="0">
                    <a:lnL w="6350">
                      <a:solidFill>
                        <a:srgbClr val="EC7C30"/>
                      </a:solidFill>
                      <a:prstDash val="solid"/>
                    </a:lnL>
                    <a:lnT w="6350">
                      <a:solidFill>
                        <a:srgbClr val="EC7C30"/>
                      </a:solidFill>
                      <a:prstDash val="solid"/>
                    </a:lnT>
                    <a:lnB w="6350">
                      <a:solidFill>
                        <a:srgbClr val="EC7C30"/>
                      </a:solidFill>
                      <a:prstDash val="solid"/>
                    </a:lnB>
                  </a:tcPr>
                </a:tc>
                <a:tc>
                  <a:txBody>
                    <a:bodyPr/>
                    <a:lstStyle/>
                    <a:p>
                      <a:pPr marL="115570">
                        <a:lnSpc>
                          <a:spcPct val="100000"/>
                        </a:lnSpc>
                        <a:spcBef>
                          <a:spcPts val="254"/>
                        </a:spcBef>
                      </a:pPr>
                      <a:r>
                        <a:rPr sz="1800" spc="-5" dirty="0">
                          <a:latin typeface="Calibri"/>
                          <a:cs typeface="Calibri"/>
                        </a:rPr>
                        <a:t>80</a:t>
                      </a:r>
                      <a:endParaRPr sz="1800">
                        <a:latin typeface="Calibri"/>
                        <a:cs typeface="Calibri"/>
                      </a:endParaRPr>
                    </a:p>
                  </a:txBody>
                  <a:tcPr marL="0" marR="0" marT="32384" marB="0">
                    <a:lnR w="6350">
                      <a:solidFill>
                        <a:srgbClr val="EC7C30"/>
                      </a:solidFill>
                      <a:prstDash val="solid"/>
                    </a:lnR>
                    <a:lnT w="6350">
                      <a:solidFill>
                        <a:srgbClr val="EC7C30"/>
                      </a:solidFill>
                      <a:prstDash val="solid"/>
                    </a:lnT>
                    <a:lnB w="6350">
                      <a:solidFill>
                        <a:srgbClr val="EC7C30"/>
                      </a:solidFill>
                      <a:prstDash val="solid"/>
                    </a:lnB>
                  </a:tcPr>
                </a:tc>
                <a:extLst>
                  <a:ext uri="{0D108BD9-81ED-4DB2-BD59-A6C34878D82A}">
                    <a16:rowId xmlns:a16="http://schemas.microsoft.com/office/drawing/2014/main" val="10007"/>
                  </a:ext>
                </a:extLst>
              </a:tr>
              <a:tr h="370839">
                <a:tc>
                  <a:txBody>
                    <a:bodyPr/>
                    <a:lstStyle/>
                    <a:p>
                      <a:pPr marL="90805">
                        <a:lnSpc>
                          <a:spcPct val="100000"/>
                        </a:lnSpc>
                        <a:spcBef>
                          <a:spcPts val="254"/>
                        </a:spcBef>
                      </a:pPr>
                      <a:r>
                        <a:rPr sz="1800" spc="-5" dirty="0">
                          <a:latin typeface="Calibri"/>
                          <a:cs typeface="Calibri"/>
                        </a:rPr>
                        <a:t>Net</a:t>
                      </a:r>
                      <a:r>
                        <a:rPr sz="1800" spc="-15" dirty="0">
                          <a:latin typeface="Calibri"/>
                          <a:cs typeface="Calibri"/>
                        </a:rPr>
                        <a:t> Payment</a:t>
                      </a:r>
                      <a:endParaRPr sz="1800">
                        <a:latin typeface="Calibri"/>
                        <a:cs typeface="Calibri"/>
                      </a:endParaRPr>
                    </a:p>
                  </a:txBody>
                  <a:tcPr marL="0" marR="0" marT="32384" marB="0">
                    <a:lnL w="6350">
                      <a:solidFill>
                        <a:srgbClr val="EC7C30"/>
                      </a:solidFill>
                      <a:prstDash val="solid"/>
                    </a:lnL>
                    <a:lnT w="6350">
                      <a:solidFill>
                        <a:srgbClr val="EC7C30"/>
                      </a:solidFill>
                      <a:prstDash val="solid"/>
                    </a:lnT>
                    <a:lnB w="6350">
                      <a:solidFill>
                        <a:srgbClr val="EC7C30"/>
                      </a:solidFill>
                      <a:prstDash val="solid"/>
                    </a:lnB>
                  </a:tcPr>
                </a:tc>
                <a:tc>
                  <a:txBody>
                    <a:bodyPr/>
                    <a:lstStyle/>
                    <a:p>
                      <a:pPr marL="115570">
                        <a:lnSpc>
                          <a:spcPct val="100000"/>
                        </a:lnSpc>
                        <a:spcBef>
                          <a:spcPts val="254"/>
                        </a:spcBef>
                      </a:pPr>
                      <a:r>
                        <a:rPr sz="1800" dirty="0">
                          <a:latin typeface="Calibri"/>
                          <a:cs typeface="Calibri"/>
                        </a:rPr>
                        <a:t>?</a:t>
                      </a:r>
                      <a:endParaRPr sz="1800">
                        <a:latin typeface="Calibri"/>
                        <a:cs typeface="Calibri"/>
                      </a:endParaRPr>
                    </a:p>
                  </a:txBody>
                  <a:tcPr marL="0" marR="0" marT="32384" marB="0">
                    <a:lnR w="6350">
                      <a:solidFill>
                        <a:srgbClr val="EC7C30"/>
                      </a:solidFill>
                      <a:prstDash val="solid"/>
                    </a:lnR>
                    <a:lnT w="6350">
                      <a:solidFill>
                        <a:srgbClr val="EC7C30"/>
                      </a:solidFill>
                      <a:prstDash val="solid"/>
                    </a:lnT>
                    <a:lnB w="6350">
                      <a:solidFill>
                        <a:srgbClr val="EC7C30"/>
                      </a:solidFill>
                      <a:prstDash val="solid"/>
                    </a:lnB>
                  </a:tcPr>
                </a:tc>
                <a:extLst>
                  <a:ext uri="{0D108BD9-81ED-4DB2-BD59-A6C34878D82A}">
                    <a16:rowId xmlns:a16="http://schemas.microsoft.com/office/drawing/2014/main" val="10008"/>
                  </a:ext>
                </a:extLst>
              </a:tr>
            </a:tbl>
          </a:graphicData>
        </a:graphic>
      </p:graphicFrame>
      <p:graphicFrame>
        <p:nvGraphicFramePr>
          <p:cNvPr id="5" name="object 5"/>
          <p:cNvGraphicFramePr>
            <a:graphicFrameLocks noGrp="1"/>
          </p:cNvGraphicFramePr>
          <p:nvPr/>
        </p:nvGraphicFramePr>
        <p:xfrm>
          <a:off x="5092572" y="1153413"/>
          <a:ext cx="4538979" cy="4079233"/>
        </p:xfrm>
        <a:graphic>
          <a:graphicData uri="http://schemas.openxmlformats.org/drawingml/2006/table">
            <a:tbl>
              <a:tblPr firstRow="1" bandRow="1">
                <a:tableStyleId>{2D5ABB26-0587-4C30-8999-92F81FD0307C}</a:tableStyleId>
              </a:tblPr>
              <a:tblGrid>
                <a:gridCol w="2737485">
                  <a:extLst>
                    <a:ext uri="{9D8B030D-6E8A-4147-A177-3AD203B41FA5}">
                      <a16:colId xmlns:a16="http://schemas.microsoft.com/office/drawing/2014/main" val="20000"/>
                    </a:ext>
                  </a:extLst>
                </a:gridCol>
                <a:gridCol w="1801494">
                  <a:extLst>
                    <a:ext uri="{9D8B030D-6E8A-4147-A177-3AD203B41FA5}">
                      <a16:colId xmlns:a16="http://schemas.microsoft.com/office/drawing/2014/main" val="20001"/>
                    </a:ext>
                  </a:extLst>
                </a:gridCol>
              </a:tblGrid>
              <a:tr h="370839">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marL="92710">
                        <a:lnSpc>
                          <a:spcPct val="100000"/>
                        </a:lnSpc>
                        <a:spcBef>
                          <a:spcPts val="244"/>
                        </a:spcBef>
                      </a:pPr>
                      <a:r>
                        <a:rPr sz="1800" b="1" dirty="0">
                          <a:latin typeface="Calibri"/>
                          <a:cs typeface="Calibri"/>
                        </a:rPr>
                        <a:t>B</a:t>
                      </a:r>
                      <a:r>
                        <a:rPr sz="1800" b="1" spc="-40" dirty="0">
                          <a:latin typeface="Calibri"/>
                          <a:cs typeface="Calibri"/>
                        </a:rPr>
                        <a:t> </a:t>
                      </a:r>
                      <a:r>
                        <a:rPr sz="1800" b="1" spc="-15" dirty="0">
                          <a:latin typeface="Calibri"/>
                          <a:cs typeface="Calibri"/>
                        </a:rPr>
                        <a:t>Ltd</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extLst>
                  <a:ext uri="{0D108BD9-81ED-4DB2-BD59-A6C34878D82A}">
                    <a16:rowId xmlns:a16="http://schemas.microsoft.com/office/drawing/2014/main" val="10000"/>
                  </a:ext>
                </a:extLst>
              </a:tr>
              <a:tr h="370840">
                <a:tc>
                  <a:txBody>
                    <a:bodyPr/>
                    <a:lstStyle/>
                    <a:p>
                      <a:pPr marL="92710">
                        <a:lnSpc>
                          <a:spcPct val="100000"/>
                        </a:lnSpc>
                        <a:spcBef>
                          <a:spcPts val="245"/>
                        </a:spcBef>
                      </a:pPr>
                      <a:r>
                        <a:rPr sz="1800" spc="-10" dirty="0">
                          <a:latin typeface="Calibri"/>
                          <a:cs typeface="Calibri"/>
                        </a:rPr>
                        <a:t>Cost</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solidFill>
                      <a:srgbClr val="CCCCCC"/>
                    </a:solidFill>
                  </a:tcPr>
                </a:tc>
                <a:tc>
                  <a:txBody>
                    <a:bodyPr/>
                    <a:lstStyle/>
                    <a:p>
                      <a:pPr marL="92710">
                        <a:lnSpc>
                          <a:spcPct val="100000"/>
                        </a:lnSpc>
                        <a:spcBef>
                          <a:spcPts val="245"/>
                        </a:spcBef>
                      </a:pPr>
                      <a:r>
                        <a:rPr sz="1800" dirty="0">
                          <a:latin typeface="Calibri"/>
                          <a:cs typeface="Calibri"/>
                        </a:rPr>
                        <a:t>?</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solidFill>
                      <a:srgbClr val="CCCCCC"/>
                    </a:solidFill>
                  </a:tcPr>
                </a:tc>
                <a:extLst>
                  <a:ext uri="{0D108BD9-81ED-4DB2-BD59-A6C34878D82A}">
                    <a16:rowId xmlns:a16="http://schemas.microsoft.com/office/drawing/2014/main" val="10001"/>
                  </a:ext>
                </a:extLst>
              </a:tr>
              <a:tr h="370839">
                <a:tc>
                  <a:txBody>
                    <a:bodyPr/>
                    <a:lstStyle/>
                    <a:p>
                      <a:pPr marL="92710">
                        <a:lnSpc>
                          <a:spcPct val="100000"/>
                        </a:lnSpc>
                        <a:spcBef>
                          <a:spcPts val="245"/>
                        </a:spcBef>
                      </a:pPr>
                      <a:r>
                        <a:rPr sz="1800" spc="-10" dirty="0">
                          <a:latin typeface="Calibri"/>
                          <a:cs typeface="Calibri"/>
                        </a:rPr>
                        <a:t>Profit</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245"/>
                        </a:spcBef>
                      </a:pPr>
                      <a:r>
                        <a:rPr sz="1800" dirty="0">
                          <a:latin typeface="Calibri"/>
                          <a:cs typeface="Calibri"/>
                        </a:rPr>
                        <a:t>1,000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70839">
                <a:tc>
                  <a:txBody>
                    <a:bodyPr/>
                    <a:lstStyle/>
                    <a:p>
                      <a:pPr marL="92710">
                        <a:lnSpc>
                          <a:spcPct val="100000"/>
                        </a:lnSpc>
                        <a:spcBef>
                          <a:spcPts val="250"/>
                        </a:spcBef>
                      </a:pPr>
                      <a:r>
                        <a:rPr sz="1800" spc="-40" dirty="0">
                          <a:latin typeface="Calibri"/>
                          <a:cs typeface="Calibri"/>
                        </a:rPr>
                        <a:t>Total</a:t>
                      </a:r>
                      <a:r>
                        <a:rPr sz="1800" spc="-20" dirty="0">
                          <a:latin typeface="Calibri"/>
                          <a:cs typeface="Calibri"/>
                        </a:rPr>
                        <a:t> </a:t>
                      </a:r>
                      <a:r>
                        <a:rPr sz="1800" spc="-35" dirty="0">
                          <a:latin typeface="Calibri"/>
                          <a:cs typeface="Calibri"/>
                        </a:rPr>
                        <a:t>Taxable</a:t>
                      </a:r>
                      <a:r>
                        <a:rPr sz="1800" spc="5" dirty="0">
                          <a:latin typeface="Calibri"/>
                          <a:cs typeface="Calibri"/>
                        </a:rPr>
                        <a:t> </a:t>
                      </a:r>
                      <a:r>
                        <a:rPr sz="1800" spc="-25" dirty="0">
                          <a:latin typeface="Calibri"/>
                          <a:cs typeface="Calibri"/>
                        </a:rPr>
                        <a:t>Value</a:t>
                      </a:r>
                      <a:endParaRPr sz="1800">
                        <a:latin typeface="Calibri"/>
                        <a:cs typeface="Calibri"/>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CCCCC"/>
                    </a:solidFill>
                  </a:tcPr>
                </a:tc>
                <a:tc>
                  <a:txBody>
                    <a:bodyPr/>
                    <a:lstStyle/>
                    <a:p>
                      <a:pPr marL="92710">
                        <a:lnSpc>
                          <a:spcPct val="100000"/>
                        </a:lnSpc>
                        <a:spcBef>
                          <a:spcPts val="250"/>
                        </a:spcBef>
                      </a:pPr>
                      <a:r>
                        <a:rPr sz="1800" dirty="0">
                          <a:latin typeface="Calibri"/>
                          <a:cs typeface="Calibri"/>
                        </a:rPr>
                        <a:t>?</a:t>
                      </a:r>
                      <a:endParaRPr sz="1800">
                        <a:latin typeface="Calibri"/>
                        <a:cs typeface="Calibri"/>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CCCCC"/>
                    </a:solidFill>
                  </a:tcPr>
                </a:tc>
                <a:extLst>
                  <a:ext uri="{0D108BD9-81ED-4DB2-BD59-A6C34878D82A}">
                    <a16:rowId xmlns:a16="http://schemas.microsoft.com/office/drawing/2014/main" val="10003"/>
                  </a:ext>
                </a:extLst>
              </a:tr>
              <a:tr h="370839">
                <a:tc>
                  <a:txBody>
                    <a:bodyPr/>
                    <a:lstStyle/>
                    <a:p>
                      <a:pPr marL="92710">
                        <a:lnSpc>
                          <a:spcPct val="100000"/>
                        </a:lnSpc>
                        <a:spcBef>
                          <a:spcPts val="250"/>
                        </a:spcBef>
                      </a:pPr>
                      <a:r>
                        <a:rPr sz="1800" spc="-20" dirty="0">
                          <a:latin typeface="Calibri"/>
                          <a:cs typeface="Calibri"/>
                        </a:rPr>
                        <a:t>GST</a:t>
                      </a:r>
                      <a:r>
                        <a:rPr sz="1800" spc="-10" dirty="0">
                          <a:latin typeface="Calibri"/>
                          <a:cs typeface="Calibri"/>
                        </a:rPr>
                        <a:t> </a:t>
                      </a:r>
                      <a:r>
                        <a:rPr sz="1800" spc="-5" dirty="0">
                          <a:latin typeface="Calibri"/>
                          <a:cs typeface="Calibri"/>
                        </a:rPr>
                        <a:t>@18%</a:t>
                      </a:r>
                      <a:endParaRPr sz="1800">
                        <a:latin typeface="Calibri"/>
                        <a:cs typeface="Calibri"/>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250"/>
                        </a:spcBef>
                      </a:pPr>
                      <a:r>
                        <a:rPr sz="1800" dirty="0">
                          <a:latin typeface="Calibri"/>
                          <a:cs typeface="Calibri"/>
                        </a:rPr>
                        <a:t>?</a:t>
                      </a:r>
                      <a:endParaRPr sz="1800">
                        <a:latin typeface="Calibri"/>
                        <a:cs typeface="Calibri"/>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370839">
                <a:tc>
                  <a:txBody>
                    <a:bodyPr/>
                    <a:lstStyle/>
                    <a:p>
                      <a:pPr marL="92710">
                        <a:lnSpc>
                          <a:spcPct val="100000"/>
                        </a:lnSpc>
                        <a:spcBef>
                          <a:spcPts val="250"/>
                        </a:spcBef>
                      </a:pPr>
                      <a:r>
                        <a:rPr sz="1800" spc="-40" dirty="0">
                          <a:latin typeface="Calibri"/>
                          <a:cs typeface="Calibri"/>
                        </a:rPr>
                        <a:t>Total</a:t>
                      </a:r>
                      <a:r>
                        <a:rPr sz="1800" spc="-35" dirty="0">
                          <a:latin typeface="Calibri"/>
                          <a:cs typeface="Calibri"/>
                        </a:rPr>
                        <a:t> </a:t>
                      </a:r>
                      <a:r>
                        <a:rPr sz="1800" spc="-10" dirty="0">
                          <a:latin typeface="Calibri"/>
                          <a:cs typeface="Calibri"/>
                        </a:rPr>
                        <a:t>Invoice</a:t>
                      </a:r>
                      <a:endParaRPr sz="1800">
                        <a:latin typeface="Calibri"/>
                        <a:cs typeface="Calibri"/>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CCCCC"/>
                    </a:solidFill>
                  </a:tcPr>
                </a:tc>
                <a:tc>
                  <a:txBody>
                    <a:bodyPr/>
                    <a:lstStyle/>
                    <a:p>
                      <a:pPr marL="92710">
                        <a:lnSpc>
                          <a:spcPct val="100000"/>
                        </a:lnSpc>
                        <a:spcBef>
                          <a:spcPts val="250"/>
                        </a:spcBef>
                      </a:pPr>
                      <a:r>
                        <a:rPr sz="1800" dirty="0">
                          <a:latin typeface="Calibri"/>
                          <a:cs typeface="Calibri"/>
                        </a:rPr>
                        <a:t>?</a:t>
                      </a:r>
                      <a:endParaRPr sz="1800">
                        <a:latin typeface="Calibri"/>
                        <a:cs typeface="Calibri"/>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CCCCC"/>
                    </a:solidFill>
                  </a:tcPr>
                </a:tc>
                <a:extLst>
                  <a:ext uri="{0D108BD9-81ED-4DB2-BD59-A6C34878D82A}">
                    <a16:rowId xmlns:a16="http://schemas.microsoft.com/office/drawing/2014/main" val="10005"/>
                  </a:ext>
                </a:extLst>
              </a:tr>
              <a:tr h="370840">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r h="370839">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CCCCC"/>
                    </a:solidFill>
                  </a:tcPr>
                </a:tc>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CCCCC"/>
                    </a:solidFill>
                  </a:tcPr>
                </a:tc>
                <a:extLst>
                  <a:ext uri="{0D108BD9-81ED-4DB2-BD59-A6C34878D82A}">
                    <a16:rowId xmlns:a16="http://schemas.microsoft.com/office/drawing/2014/main" val="10007"/>
                  </a:ext>
                </a:extLst>
              </a:tr>
              <a:tr h="370840">
                <a:tc>
                  <a:txBody>
                    <a:bodyPr/>
                    <a:lstStyle/>
                    <a:p>
                      <a:pPr marL="92710">
                        <a:lnSpc>
                          <a:spcPct val="100000"/>
                        </a:lnSpc>
                        <a:spcBef>
                          <a:spcPts val="254"/>
                        </a:spcBef>
                      </a:pPr>
                      <a:r>
                        <a:rPr sz="1800" spc="-55" dirty="0">
                          <a:latin typeface="Calibri"/>
                          <a:cs typeface="Calibri"/>
                        </a:rPr>
                        <a:t>Tax</a:t>
                      </a:r>
                      <a:r>
                        <a:rPr sz="1800" spc="-45" dirty="0">
                          <a:latin typeface="Calibri"/>
                          <a:cs typeface="Calibri"/>
                        </a:rPr>
                        <a:t> </a:t>
                      </a:r>
                      <a:r>
                        <a:rPr sz="1800" spc="-20" dirty="0">
                          <a:latin typeface="Calibri"/>
                          <a:cs typeface="Calibri"/>
                        </a:rPr>
                        <a:t>Payable</a:t>
                      </a:r>
                      <a:endParaRPr sz="1800">
                        <a:latin typeface="Calibri"/>
                        <a:cs typeface="Calibri"/>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254"/>
                        </a:spcBef>
                      </a:pPr>
                      <a:r>
                        <a:rPr sz="1800" dirty="0">
                          <a:latin typeface="Calibri"/>
                          <a:cs typeface="Calibri"/>
                        </a:rPr>
                        <a:t>?</a:t>
                      </a:r>
                      <a:endParaRPr sz="1800">
                        <a:latin typeface="Calibri"/>
                        <a:cs typeface="Calibri"/>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8"/>
                  </a:ext>
                </a:extLst>
              </a:tr>
              <a:tr h="370839">
                <a:tc>
                  <a:txBody>
                    <a:bodyPr/>
                    <a:lstStyle/>
                    <a:p>
                      <a:pPr marL="92710">
                        <a:lnSpc>
                          <a:spcPct val="100000"/>
                        </a:lnSpc>
                        <a:spcBef>
                          <a:spcPts val="254"/>
                        </a:spcBef>
                      </a:pPr>
                      <a:r>
                        <a:rPr sz="1800" spc="-5" dirty="0">
                          <a:latin typeface="Calibri"/>
                          <a:cs typeface="Calibri"/>
                        </a:rPr>
                        <a:t>Less:</a:t>
                      </a:r>
                      <a:r>
                        <a:rPr sz="1800" spc="5" dirty="0">
                          <a:latin typeface="Calibri"/>
                          <a:cs typeface="Calibri"/>
                        </a:rPr>
                        <a:t> </a:t>
                      </a:r>
                      <a:r>
                        <a:rPr sz="1800" spc="-10" dirty="0">
                          <a:latin typeface="Calibri"/>
                          <a:cs typeface="Calibri"/>
                        </a:rPr>
                        <a:t>Input</a:t>
                      </a:r>
                      <a:r>
                        <a:rPr sz="1800" spc="40" dirty="0">
                          <a:latin typeface="Calibri"/>
                          <a:cs typeface="Calibri"/>
                        </a:rPr>
                        <a:t> </a:t>
                      </a:r>
                      <a:r>
                        <a:rPr sz="1800" spc="-20" dirty="0">
                          <a:latin typeface="Calibri"/>
                          <a:cs typeface="Calibri"/>
                        </a:rPr>
                        <a:t>tax</a:t>
                      </a:r>
                      <a:r>
                        <a:rPr sz="1800" dirty="0">
                          <a:latin typeface="Calibri"/>
                          <a:cs typeface="Calibri"/>
                        </a:rPr>
                        <a:t> </a:t>
                      </a:r>
                      <a:r>
                        <a:rPr sz="1800" spc="-15" dirty="0">
                          <a:latin typeface="Calibri"/>
                          <a:cs typeface="Calibri"/>
                        </a:rPr>
                        <a:t>Credit</a:t>
                      </a:r>
                      <a:endParaRPr sz="1800">
                        <a:latin typeface="Calibri"/>
                        <a:cs typeface="Calibri"/>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CCCCC"/>
                    </a:solidFill>
                  </a:tcPr>
                </a:tc>
                <a:tc>
                  <a:txBody>
                    <a:bodyPr/>
                    <a:lstStyle/>
                    <a:p>
                      <a:pPr marL="92710">
                        <a:lnSpc>
                          <a:spcPct val="100000"/>
                        </a:lnSpc>
                        <a:spcBef>
                          <a:spcPts val="254"/>
                        </a:spcBef>
                      </a:pPr>
                      <a:r>
                        <a:rPr sz="1800" dirty="0">
                          <a:latin typeface="Calibri"/>
                          <a:cs typeface="Calibri"/>
                        </a:rPr>
                        <a:t>?</a:t>
                      </a:r>
                      <a:endParaRPr sz="1800">
                        <a:latin typeface="Calibri"/>
                        <a:cs typeface="Calibri"/>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CCCCC"/>
                    </a:solidFill>
                  </a:tcPr>
                </a:tc>
                <a:extLst>
                  <a:ext uri="{0D108BD9-81ED-4DB2-BD59-A6C34878D82A}">
                    <a16:rowId xmlns:a16="http://schemas.microsoft.com/office/drawing/2014/main" val="10009"/>
                  </a:ext>
                </a:extLst>
              </a:tr>
              <a:tr h="370840">
                <a:tc>
                  <a:txBody>
                    <a:bodyPr/>
                    <a:lstStyle/>
                    <a:p>
                      <a:pPr marL="92710">
                        <a:lnSpc>
                          <a:spcPct val="100000"/>
                        </a:lnSpc>
                        <a:spcBef>
                          <a:spcPts val="254"/>
                        </a:spcBef>
                      </a:pPr>
                      <a:r>
                        <a:rPr sz="1800" spc="-10" dirty="0">
                          <a:latin typeface="Calibri"/>
                          <a:cs typeface="Calibri"/>
                        </a:rPr>
                        <a:t>Net</a:t>
                      </a:r>
                      <a:r>
                        <a:rPr sz="1800" spc="10" dirty="0">
                          <a:latin typeface="Calibri"/>
                          <a:cs typeface="Calibri"/>
                        </a:rPr>
                        <a:t> </a:t>
                      </a:r>
                      <a:r>
                        <a:rPr sz="1800" spc="-20" dirty="0">
                          <a:latin typeface="Calibri"/>
                          <a:cs typeface="Calibri"/>
                        </a:rPr>
                        <a:t>Payment</a:t>
                      </a:r>
                      <a:r>
                        <a:rPr sz="1800" spc="35" dirty="0">
                          <a:latin typeface="Calibri"/>
                          <a:cs typeface="Calibri"/>
                        </a:rPr>
                        <a:t> </a:t>
                      </a:r>
                      <a:r>
                        <a:rPr sz="1800" spc="-5" dirty="0">
                          <a:latin typeface="Calibri"/>
                          <a:cs typeface="Calibri"/>
                        </a:rPr>
                        <a:t>(in</a:t>
                      </a:r>
                      <a:r>
                        <a:rPr sz="1800" spc="5" dirty="0">
                          <a:latin typeface="Calibri"/>
                          <a:cs typeface="Calibri"/>
                        </a:rPr>
                        <a:t> </a:t>
                      </a:r>
                      <a:r>
                        <a:rPr sz="1800" spc="-10" dirty="0">
                          <a:latin typeface="Calibri"/>
                          <a:cs typeface="Calibri"/>
                        </a:rPr>
                        <a:t>Cash)</a:t>
                      </a:r>
                      <a:endParaRPr sz="1800">
                        <a:latin typeface="Calibri"/>
                        <a:cs typeface="Calibri"/>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254"/>
                        </a:spcBef>
                      </a:pPr>
                      <a:r>
                        <a:rPr sz="1800" dirty="0">
                          <a:latin typeface="Calibri"/>
                          <a:cs typeface="Calibri"/>
                        </a:rPr>
                        <a:t>?</a:t>
                      </a:r>
                      <a:endParaRPr sz="1800">
                        <a:latin typeface="Calibri"/>
                        <a:cs typeface="Calibri"/>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10"/>
                  </a:ext>
                </a:extLst>
              </a:tr>
            </a:tbl>
          </a:graphicData>
        </a:graphic>
      </p:graphicFrame>
      <p:grpSp>
        <p:nvGrpSpPr>
          <p:cNvPr id="6" name="object 6"/>
          <p:cNvGrpSpPr/>
          <p:nvPr/>
        </p:nvGrpSpPr>
        <p:grpSpPr>
          <a:xfrm>
            <a:off x="10046207" y="4572000"/>
            <a:ext cx="1972310" cy="1332230"/>
            <a:chOff x="10046207" y="4572000"/>
            <a:chExt cx="1972310" cy="1332230"/>
          </a:xfrm>
        </p:grpSpPr>
        <p:sp>
          <p:nvSpPr>
            <p:cNvPr id="7" name="object 7"/>
            <p:cNvSpPr/>
            <p:nvPr/>
          </p:nvSpPr>
          <p:spPr>
            <a:xfrm>
              <a:off x="10052303" y="4578095"/>
              <a:ext cx="1960245" cy="1320165"/>
            </a:xfrm>
            <a:custGeom>
              <a:avLst/>
              <a:gdLst/>
              <a:ahLst/>
              <a:cxnLst/>
              <a:rect l="l" t="t" r="r" b="b"/>
              <a:pathLst>
                <a:path w="1960245" h="1320164">
                  <a:moveTo>
                    <a:pt x="979931" y="0"/>
                  </a:moveTo>
                  <a:lnTo>
                    <a:pt x="922358" y="1120"/>
                  </a:lnTo>
                  <a:lnTo>
                    <a:pt x="865661" y="4438"/>
                  </a:lnTo>
                  <a:lnTo>
                    <a:pt x="809930" y="9894"/>
                  </a:lnTo>
                  <a:lnTo>
                    <a:pt x="755259" y="17426"/>
                  </a:lnTo>
                  <a:lnTo>
                    <a:pt x="701739" y="26970"/>
                  </a:lnTo>
                  <a:lnTo>
                    <a:pt x="649462" y="38466"/>
                  </a:lnTo>
                  <a:lnTo>
                    <a:pt x="598521" y="51851"/>
                  </a:lnTo>
                  <a:lnTo>
                    <a:pt x="549006" y="67064"/>
                  </a:lnTo>
                  <a:lnTo>
                    <a:pt x="501010" y="84043"/>
                  </a:lnTo>
                  <a:lnTo>
                    <a:pt x="454626" y="102726"/>
                  </a:lnTo>
                  <a:lnTo>
                    <a:pt x="409944" y="123052"/>
                  </a:lnTo>
                  <a:lnTo>
                    <a:pt x="367057" y="144957"/>
                  </a:lnTo>
                  <a:lnTo>
                    <a:pt x="326057" y="168381"/>
                  </a:lnTo>
                  <a:lnTo>
                    <a:pt x="287035" y="193262"/>
                  </a:lnTo>
                  <a:lnTo>
                    <a:pt x="250085" y="219537"/>
                  </a:lnTo>
                  <a:lnTo>
                    <a:pt x="215297" y="247145"/>
                  </a:lnTo>
                  <a:lnTo>
                    <a:pt x="182763" y="276024"/>
                  </a:lnTo>
                  <a:lnTo>
                    <a:pt x="152577" y="306113"/>
                  </a:lnTo>
                  <a:lnTo>
                    <a:pt x="124828" y="337348"/>
                  </a:lnTo>
                  <a:lnTo>
                    <a:pt x="99610" y="369669"/>
                  </a:lnTo>
                  <a:lnTo>
                    <a:pt x="77015" y="403014"/>
                  </a:lnTo>
                  <a:lnTo>
                    <a:pt x="57134" y="437321"/>
                  </a:lnTo>
                  <a:lnTo>
                    <a:pt x="40059" y="472527"/>
                  </a:lnTo>
                  <a:lnTo>
                    <a:pt x="25883" y="508571"/>
                  </a:lnTo>
                  <a:lnTo>
                    <a:pt x="14697" y="545392"/>
                  </a:lnTo>
                  <a:lnTo>
                    <a:pt x="6593" y="582926"/>
                  </a:lnTo>
                  <a:lnTo>
                    <a:pt x="1663" y="621114"/>
                  </a:lnTo>
                  <a:lnTo>
                    <a:pt x="0" y="659891"/>
                  </a:lnTo>
                  <a:lnTo>
                    <a:pt x="1663" y="698666"/>
                  </a:lnTo>
                  <a:lnTo>
                    <a:pt x="6593" y="736850"/>
                  </a:lnTo>
                  <a:lnTo>
                    <a:pt x="14697" y="774382"/>
                  </a:lnTo>
                  <a:lnTo>
                    <a:pt x="25883" y="811200"/>
                  </a:lnTo>
                  <a:lnTo>
                    <a:pt x="40059" y="847242"/>
                  </a:lnTo>
                  <a:lnTo>
                    <a:pt x="57134" y="882447"/>
                  </a:lnTo>
                  <a:lnTo>
                    <a:pt x="77015" y="916753"/>
                  </a:lnTo>
                  <a:lnTo>
                    <a:pt x="99610" y="950097"/>
                  </a:lnTo>
                  <a:lnTo>
                    <a:pt x="124828" y="982418"/>
                  </a:lnTo>
                  <a:lnTo>
                    <a:pt x="152577" y="1013653"/>
                  </a:lnTo>
                  <a:lnTo>
                    <a:pt x="182763" y="1043742"/>
                  </a:lnTo>
                  <a:lnTo>
                    <a:pt x="215297" y="1072622"/>
                  </a:lnTo>
                  <a:lnTo>
                    <a:pt x="250085" y="1100231"/>
                  </a:lnTo>
                  <a:lnTo>
                    <a:pt x="287035" y="1126507"/>
                  </a:lnTo>
                  <a:lnTo>
                    <a:pt x="326057" y="1151389"/>
                  </a:lnTo>
                  <a:lnTo>
                    <a:pt x="367057" y="1174814"/>
                  </a:lnTo>
                  <a:lnTo>
                    <a:pt x="409944" y="1196721"/>
                  </a:lnTo>
                  <a:lnTo>
                    <a:pt x="454626" y="1217047"/>
                  </a:lnTo>
                  <a:lnTo>
                    <a:pt x="501010" y="1235732"/>
                  </a:lnTo>
                  <a:lnTo>
                    <a:pt x="549006" y="1252712"/>
                  </a:lnTo>
                  <a:lnTo>
                    <a:pt x="598521" y="1267926"/>
                  </a:lnTo>
                  <a:lnTo>
                    <a:pt x="649462" y="1281313"/>
                  </a:lnTo>
                  <a:lnTo>
                    <a:pt x="701739" y="1292810"/>
                  </a:lnTo>
                  <a:lnTo>
                    <a:pt x="755259" y="1302355"/>
                  </a:lnTo>
                  <a:lnTo>
                    <a:pt x="809930" y="1309887"/>
                  </a:lnTo>
                  <a:lnTo>
                    <a:pt x="865661" y="1315344"/>
                  </a:lnTo>
                  <a:lnTo>
                    <a:pt x="922358" y="1318663"/>
                  </a:lnTo>
                  <a:lnTo>
                    <a:pt x="979931" y="1319783"/>
                  </a:lnTo>
                  <a:lnTo>
                    <a:pt x="1037505" y="1318663"/>
                  </a:lnTo>
                  <a:lnTo>
                    <a:pt x="1094202" y="1315344"/>
                  </a:lnTo>
                  <a:lnTo>
                    <a:pt x="1149933" y="1309887"/>
                  </a:lnTo>
                  <a:lnTo>
                    <a:pt x="1204604" y="1302355"/>
                  </a:lnTo>
                  <a:lnTo>
                    <a:pt x="1258124" y="1292810"/>
                  </a:lnTo>
                  <a:lnTo>
                    <a:pt x="1310401" y="1281313"/>
                  </a:lnTo>
                  <a:lnTo>
                    <a:pt x="1361342" y="1267926"/>
                  </a:lnTo>
                  <a:lnTo>
                    <a:pt x="1410857" y="1252712"/>
                  </a:lnTo>
                  <a:lnTo>
                    <a:pt x="1458853" y="1235732"/>
                  </a:lnTo>
                  <a:lnTo>
                    <a:pt x="1505237" y="1217047"/>
                  </a:lnTo>
                  <a:lnTo>
                    <a:pt x="1549919" y="1196721"/>
                  </a:lnTo>
                  <a:lnTo>
                    <a:pt x="1592806" y="1174814"/>
                  </a:lnTo>
                  <a:lnTo>
                    <a:pt x="1633806" y="1151389"/>
                  </a:lnTo>
                  <a:lnTo>
                    <a:pt x="1672828" y="1126507"/>
                  </a:lnTo>
                  <a:lnTo>
                    <a:pt x="1709778" y="1100231"/>
                  </a:lnTo>
                  <a:lnTo>
                    <a:pt x="1744566" y="1072622"/>
                  </a:lnTo>
                  <a:lnTo>
                    <a:pt x="1777100" y="1043742"/>
                  </a:lnTo>
                  <a:lnTo>
                    <a:pt x="1807286" y="1013653"/>
                  </a:lnTo>
                  <a:lnTo>
                    <a:pt x="1835035" y="982418"/>
                  </a:lnTo>
                  <a:lnTo>
                    <a:pt x="1860253" y="950097"/>
                  </a:lnTo>
                  <a:lnTo>
                    <a:pt x="1882848" y="916753"/>
                  </a:lnTo>
                  <a:lnTo>
                    <a:pt x="1902729" y="882447"/>
                  </a:lnTo>
                  <a:lnTo>
                    <a:pt x="1919804" y="847242"/>
                  </a:lnTo>
                  <a:lnTo>
                    <a:pt x="1933980" y="811200"/>
                  </a:lnTo>
                  <a:lnTo>
                    <a:pt x="1945166" y="774382"/>
                  </a:lnTo>
                  <a:lnTo>
                    <a:pt x="1953270" y="736850"/>
                  </a:lnTo>
                  <a:lnTo>
                    <a:pt x="1958200" y="698666"/>
                  </a:lnTo>
                  <a:lnTo>
                    <a:pt x="1959864" y="659891"/>
                  </a:lnTo>
                  <a:lnTo>
                    <a:pt x="1958200" y="621114"/>
                  </a:lnTo>
                  <a:lnTo>
                    <a:pt x="1953270" y="582926"/>
                  </a:lnTo>
                  <a:lnTo>
                    <a:pt x="1945166" y="545392"/>
                  </a:lnTo>
                  <a:lnTo>
                    <a:pt x="1933980" y="508571"/>
                  </a:lnTo>
                  <a:lnTo>
                    <a:pt x="1919804" y="472527"/>
                  </a:lnTo>
                  <a:lnTo>
                    <a:pt x="1902729" y="437321"/>
                  </a:lnTo>
                  <a:lnTo>
                    <a:pt x="1882848" y="403014"/>
                  </a:lnTo>
                  <a:lnTo>
                    <a:pt x="1860253" y="369669"/>
                  </a:lnTo>
                  <a:lnTo>
                    <a:pt x="1835035" y="337348"/>
                  </a:lnTo>
                  <a:lnTo>
                    <a:pt x="1807286" y="306113"/>
                  </a:lnTo>
                  <a:lnTo>
                    <a:pt x="1777100" y="276024"/>
                  </a:lnTo>
                  <a:lnTo>
                    <a:pt x="1744566" y="247145"/>
                  </a:lnTo>
                  <a:lnTo>
                    <a:pt x="1709778" y="219537"/>
                  </a:lnTo>
                  <a:lnTo>
                    <a:pt x="1672828" y="193262"/>
                  </a:lnTo>
                  <a:lnTo>
                    <a:pt x="1633806" y="168381"/>
                  </a:lnTo>
                  <a:lnTo>
                    <a:pt x="1592806" y="144957"/>
                  </a:lnTo>
                  <a:lnTo>
                    <a:pt x="1549919" y="123052"/>
                  </a:lnTo>
                  <a:lnTo>
                    <a:pt x="1505237" y="102726"/>
                  </a:lnTo>
                  <a:lnTo>
                    <a:pt x="1458853" y="84043"/>
                  </a:lnTo>
                  <a:lnTo>
                    <a:pt x="1410857" y="67064"/>
                  </a:lnTo>
                  <a:lnTo>
                    <a:pt x="1361342" y="51851"/>
                  </a:lnTo>
                  <a:lnTo>
                    <a:pt x="1310401" y="38466"/>
                  </a:lnTo>
                  <a:lnTo>
                    <a:pt x="1258124" y="26970"/>
                  </a:lnTo>
                  <a:lnTo>
                    <a:pt x="1204604" y="17426"/>
                  </a:lnTo>
                  <a:lnTo>
                    <a:pt x="1149933" y="9894"/>
                  </a:lnTo>
                  <a:lnTo>
                    <a:pt x="1094202" y="4438"/>
                  </a:lnTo>
                  <a:lnTo>
                    <a:pt x="1037505" y="1120"/>
                  </a:lnTo>
                  <a:lnTo>
                    <a:pt x="979931" y="0"/>
                  </a:lnTo>
                  <a:close/>
                </a:path>
              </a:pathLst>
            </a:custGeom>
            <a:solidFill>
              <a:srgbClr val="7B7B7B"/>
            </a:solidFill>
          </p:spPr>
          <p:txBody>
            <a:bodyPr wrap="square" lIns="0" tIns="0" rIns="0" bIns="0" rtlCol="0"/>
            <a:lstStyle/>
            <a:p>
              <a:endParaRPr/>
            </a:p>
          </p:txBody>
        </p:sp>
        <p:sp>
          <p:nvSpPr>
            <p:cNvPr id="8" name="object 8"/>
            <p:cNvSpPr/>
            <p:nvPr/>
          </p:nvSpPr>
          <p:spPr>
            <a:xfrm>
              <a:off x="10052303" y="4578095"/>
              <a:ext cx="1960245" cy="1320165"/>
            </a:xfrm>
            <a:custGeom>
              <a:avLst/>
              <a:gdLst/>
              <a:ahLst/>
              <a:cxnLst/>
              <a:rect l="l" t="t" r="r" b="b"/>
              <a:pathLst>
                <a:path w="1960245" h="1320164">
                  <a:moveTo>
                    <a:pt x="0" y="659891"/>
                  </a:moveTo>
                  <a:lnTo>
                    <a:pt x="1663" y="621114"/>
                  </a:lnTo>
                  <a:lnTo>
                    <a:pt x="6593" y="582926"/>
                  </a:lnTo>
                  <a:lnTo>
                    <a:pt x="14697" y="545392"/>
                  </a:lnTo>
                  <a:lnTo>
                    <a:pt x="25883" y="508571"/>
                  </a:lnTo>
                  <a:lnTo>
                    <a:pt x="40059" y="472527"/>
                  </a:lnTo>
                  <a:lnTo>
                    <a:pt x="57134" y="437321"/>
                  </a:lnTo>
                  <a:lnTo>
                    <a:pt x="77015" y="403014"/>
                  </a:lnTo>
                  <a:lnTo>
                    <a:pt x="99610" y="369669"/>
                  </a:lnTo>
                  <a:lnTo>
                    <a:pt x="124828" y="337348"/>
                  </a:lnTo>
                  <a:lnTo>
                    <a:pt x="152577" y="306113"/>
                  </a:lnTo>
                  <a:lnTo>
                    <a:pt x="182763" y="276024"/>
                  </a:lnTo>
                  <a:lnTo>
                    <a:pt x="215297" y="247145"/>
                  </a:lnTo>
                  <a:lnTo>
                    <a:pt x="250085" y="219537"/>
                  </a:lnTo>
                  <a:lnTo>
                    <a:pt x="287035" y="193262"/>
                  </a:lnTo>
                  <a:lnTo>
                    <a:pt x="326057" y="168381"/>
                  </a:lnTo>
                  <a:lnTo>
                    <a:pt x="367057" y="144957"/>
                  </a:lnTo>
                  <a:lnTo>
                    <a:pt x="409944" y="123052"/>
                  </a:lnTo>
                  <a:lnTo>
                    <a:pt x="454626" y="102726"/>
                  </a:lnTo>
                  <a:lnTo>
                    <a:pt x="501010" y="84043"/>
                  </a:lnTo>
                  <a:lnTo>
                    <a:pt x="549006" y="67064"/>
                  </a:lnTo>
                  <a:lnTo>
                    <a:pt x="598521" y="51851"/>
                  </a:lnTo>
                  <a:lnTo>
                    <a:pt x="649462" y="38466"/>
                  </a:lnTo>
                  <a:lnTo>
                    <a:pt x="701739" y="26970"/>
                  </a:lnTo>
                  <a:lnTo>
                    <a:pt x="755259" y="17426"/>
                  </a:lnTo>
                  <a:lnTo>
                    <a:pt x="809930" y="9894"/>
                  </a:lnTo>
                  <a:lnTo>
                    <a:pt x="865661" y="4438"/>
                  </a:lnTo>
                  <a:lnTo>
                    <a:pt x="922358" y="1120"/>
                  </a:lnTo>
                  <a:lnTo>
                    <a:pt x="979931" y="0"/>
                  </a:lnTo>
                  <a:lnTo>
                    <a:pt x="1037505" y="1120"/>
                  </a:lnTo>
                  <a:lnTo>
                    <a:pt x="1094202" y="4438"/>
                  </a:lnTo>
                  <a:lnTo>
                    <a:pt x="1149933" y="9894"/>
                  </a:lnTo>
                  <a:lnTo>
                    <a:pt x="1204604" y="17426"/>
                  </a:lnTo>
                  <a:lnTo>
                    <a:pt x="1258124" y="26970"/>
                  </a:lnTo>
                  <a:lnTo>
                    <a:pt x="1310401" y="38466"/>
                  </a:lnTo>
                  <a:lnTo>
                    <a:pt x="1361342" y="51851"/>
                  </a:lnTo>
                  <a:lnTo>
                    <a:pt x="1410857" y="67064"/>
                  </a:lnTo>
                  <a:lnTo>
                    <a:pt x="1458853" y="84043"/>
                  </a:lnTo>
                  <a:lnTo>
                    <a:pt x="1505237" y="102726"/>
                  </a:lnTo>
                  <a:lnTo>
                    <a:pt x="1549919" y="123052"/>
                  </a:lnTo>
                  <a:lnTo>
                    <a:pt x="1592806" y="144957"/>
                  </a:lnTo>
                  <a:lnTo>
                    <a:pt x="1633806" y="168381"/>
                  </a:lnTo>
                  <a:lnTo>
                    <a:pt x="1672828" y="193262"/>
                  </a:lnTo>
                  <a:lnTo>
                    <a:pt x="1709778" y="219537"/>
                  </a:lnTo>
                  <a:lnTo>
                    <a:pt x="1744566" y="247145"/>
                  </a:lnTo>
                  <a:lnTo>
                    <a:pt x="1777100" y="276024"/>
                  </a:lnTo>
                  <a:lnTo>
                    <a:pt x="1807286" y="306113"/>
                  </a:lnTo>
                  <a:lnTo>
                    <a:pt x="1835035" y="337348"/>
                  </a:lnTo>
                  <a:lnTo>
                    <a:pt x="1860253" y="369669"/>
                  </a:lnTo>
                  <a:lnTo>
                    <a:pt x="1882848" y="403014"/>
                  </a:lnTo>
                  <a:lnTo>
                    <a:pt x="1902729" y="437321"/>
                  </a:lnTo>
                  <a:lnTo>
                    <a:pt x="1919804" y="472527"/>
                  </a:lnTo>
                  <a:lnTo>
                    <a:pt x="1933980" y="508571"/>
                  </a:lnTo>
                  <a:lnTo>
                    <a:pt x="1945166" y="545392"/>
                  </a:lnTo>
                  <a:lnTo>
                    <a:pt x="1953270" y="582926"/>
                  </a:lnTo>
                  <a:lnTo>
                    <a:pt x="1958200" y="621114"/>
                  </a:lnTo>
                  <a:lnTo>
                    <a:pt x="1959864" y="659891"/>
                  </a:lnTo>
                  <a:lnTo>
                    <a:pt x="1958200" y="698666"/>
                  </a:lnTo>
                  <a:lnTo>
                    <a:pt x="1953270" y="736850"/>
                  </a:lnTo>
                  <a:lnTo>
                    <a:pt x="1945166" y="774382"/>
                  </a:lnTo>
                  <a:lnTo>
                    <a:pt x="1933980" y="811200"/>
                  </a:lnTo>
                  <a:lnTo>
                    <a:pt x="1919804" y="847242"/>
                  </a:lnTo>
                  <a:lnTo>
                    <a:pt x="1902729" y="882447"/>
                  </a:lnTo>
                  <a:lnTo>
                    <a:pt x="1882848" y="916753"/>
                  </a:lnTo>
                  <a:lnTo>
                    <a:pt x="1860253" y="950097"/>
                  </a:lnTo>
                  <a:lnTo>
                    <a:pt x="1835035" y="982418"/>
                  </a:lnTo>
                  <a:lnTo>
                    <a:pt x="1807286" y="1013653"/>
                  </a:lnTo>
                  <a:lnTo>
                    <a:pt x="1777100" y="1043742"/>
                  </a:lnTo>
                  <a:lnTo>
                    <a:pt x="1744566" y="1072622"/>
                  </a:lnTo>
                  <a:lnTo>
                    <a:pt x="1709778" y="1100231"/>
                  </a:lnTo>
                  <a:lnTo>
                    <a:pt x="1672828" y="1126507"/>
                  </a:lnTo>
                  <a:lnTo>
                    <a:pt x="1633806" y="1151389"/>
                  </a:lnTo>
                  <a:lnTo>
                    <a:pt x="1592806" y="1174814"/>
                  </a:lnTo>
                  <a:lnTo>
                    <a:pt x="1549919" y="1196721"/>
                  </a:lnTo>
                  <a:lnTo>
                    <a:pt x="1505237" y="1217047"/>
                  </a:lnTo>
                  <a:lnTo>
                    <a:pt x="1458853" y="1235732"/>
                  </a:lnTo>
                  <a:lnTo>
                    <a:pt x="1410857" y="1252712"/>
                  </a:lnTo>
                  <a:lnTo>
                    <a:pt x="1361342" y="1267926"/>
                  </a:lnTo>
                  <a:lnTo>
                    <a:pt x="1310401" y="1281313"/>
                  </a:lnTo>
                  <a:lnTo>
                    <a:pt x="1258124" y="1292810"/>
                  </a:lnTo>
                  <a:lnTo>
                    <a:pt x="1204604" y="1302355"/>
                  </a:lnTo>
                  <a:lnTo>
                    <a:pt x="1149933" y="1309887"/>
                  </a:lnTo>
                  <a:lnTo>
                    <a:pt x="1094202" y="1315344"/>
                  </a:lnTo>
                  <a:lnTo>
                    <a:pt x="1037505" y="1318663"/>
                  </a:lnTo>
                  <a:lnTo>
                    <a:pt x="979931" y="1319783"/>
                  </a:lnTo>
                  <a:lnTo>
                    <a:pt x="922358" y="1318663"/>
                  </a:lnTo>
                  <a:lnTo>
                    <a:pt x="865661" y="1315344"/>
                  </a:lnTo>
                  <a:lnTo>
                    <a:pt x="809930" y="1309887"/>
                  </a:lnTo>
                  <a:lnTo>
                    <a:pt x="755259" y="1302355"/>
                  </a:lnTo>
                  <a:lnTo>
                    <a:pt x="701739" y="1292810"/>
                  </a:lnTo>
                  <a:lnTo>
                    <a:pt x="649462" y="1281313"/>
                  </a:lnTo>
                  <a:lnTo>
                    <a:pt x="598521" y="1267926"/>
                  </a:lnTo>
                  <a:lnTo>
                    <a:pt x="549006" y="1252712"/>
                  </a:lnTo>
                  <a:lnTo>
                    <a:pt x="501010" y="1235732"/>
                  </a:lnTo>
                  <a:lnTo>
                    <a:pt x="454626" y="1217047"/>
                  </a:lnTo>
                  <a:lnTo>
                    <a:pt x="409944" y="1196721"/>
                  </a:lnTo>
                  <a:lnTo>
                    <a:pt x="367057" y="1174814"/>
                  </a:lnTo>
                  <a:lnTo>
                    <a:pt x="326057" y="1151389"/>
                  </a:lnTo>
                  <a:lnTo>
                    <a:pt x="287035" y="1126507"/>
                  </a:lnTo>
                  <a:lnTo>
                    <a:pt x="250085" y="1100231"/>
                  </a:lnTo>
                  <a:lnTo>
                    <a:pt x="215297" y="1072622"/>
                  </a:lnTo>
                  <a:lnTo>
                    <a:pt x="182763" y="1043742"/>
                  </a:lnTo>
                  <a:lnTo>
                    <a:pt x="152577" y="1013653"/>
                  </a:lnTo>
                  <a:lnTo>
                    <a:pt x="124828" y="982418"/>
                  </a:lnTo>
                  <a:lnTo>
                    <a:pt x="99610" y="950097"/>
                  </a:lnTo>
                  <a:lnTo>
                    <a:pt x="77015" y="916753"/>
                  </a:lnTo>
                  <a:lnTo>
                    <a:pt x="57134" y="882447"/>
                  </a:lnTo>
                  <a:lnTo>
                    <a:pt x="40059" y="847242"/>
                  </a:lnTo>
                  <a:lnTo>
                    <a:pt x="25883" y="811200"/>
                  </a:lnTo>
                  <a:lnTo>
                    <a:pt x="14697" y="774382"/>
                  </a:lnTo>
                  <a:lnTo>
                    <a:pt x="6593" y="736850"/>
                  </a:lnTo>
                  <a:lnTo>
                    <a:pt x="1663" y="698666"/>
                  </a:lnTo>
                  <a:lnTo>
                    <a:pt x="0" y="659891"/>
                  </a:lnTo>
                  <a:close/>
                </a:path>
              </a:pathLst>
            </a:custGeom>
            <a:ln w="12192">
              <a:solidFill>
                <a:srgbClr val="2E528F"/>
              </a:solidFill>
            </a:ln>
          </p:spPr>
          <p:txBody>
            <a:bodyPr wrap="square" lIns="0" tIns="0" rIns="0" bIns="0" rtlCol="0"/>
            <a:lstStyle/>
            <a:p>
              <a:endParaRPr/>
            </a:p>
          </p:txBody>
        </p:sp>
      </p:grpSp>
      <p:sp>
        <p:nvSpPr>
          <p:cNvPr id="9" name="object 9"/>
          <p:cNvSpPr txBox="1"/>
          <p:nvPr/>
        </p:nvSpPr>
        <p:spPr>
          <a:xfrm>
            <a:off x="10579100" y="4807966"/>
            <a:ext cx="907415" cy="848994"/>
          </a:xfrm>
          <a:prstGeom prst="rect">
            <a:avLst/>
          </a:prstGeom>
        </p:spPr>
        <p:txBody>
          <a:bodyPr vert="horz" wrap="square" lIns="0" tIns="12700" rIns="0" bIns="0" rtlCol="0">
            <a:spAutoFit/>
          </a:bodyPr>
          <a:lstStyle/>
          <a:p>
            <a:pPr marL="12065" marR="5080" indent="4445" algn="ctr">
              <a:lnSpc>
                <a:spcPct val="100000"/>
              </a:lnSpc>
              <a:spcBef>
                <a:spcPts val="100"/>
              </a:spcBef>
            </a:pPr>
            <a:r>
              <a:rPr sz="1800" spc="-45" dirty="0">
                <a:solidFill>
                  <a:srgbClr val="FFFFFF"/>
                </a:solidFill>
                <a:latin typeface="Times New Roman"/>
                <a:cs typeface="Times New Roman"/>
              </a:rPr>
              <a:t>Type</a:t>
            </a:r>
            <a:r>
              <a:rPr sz="1800" spc="20" dirty="0">
                <a:solidFill>
                  <a:srgbClr val="FFFFFF"/>
                </a:solidFill>
                <a:latin typeface="Times New Roman"/>
                <a:cs typeface="Times New Roman"/>
              </a:rPr>
              <a:t> </a:t>
            </a:r>
            <a:r>
              <a:rPr sz="1800" spc="5" dirty="0">
                <a:solidFill>
                  <a:srgbClr val="FFFFFF"/>
                </a:solidFill>
                <a:latin typeface="Times New Roman"/>
                <a:cs typeface="Times New Roman"/>
              </a:rPr>
              <a:t>of </a:t>
            </a:r>
            <a:r>
              <a:rPr sz="1800" spc="10" dirty="0">
                <a:solidFill>
                  <a:srgbClr val="FFFFFF"/>
                </a:solidFill>
                <a:latin typeface="Times New Roman"/>
                <a:cs typeface="Times New Roman"/>
              </a:rPr>
              <a:t> </a:t>
            </a:r>
            <a:r>
              <a:rPr sz="1800" spc="-10" dirty="0">
                <a:solidFill>
                  <a:srgbClr val="FFFFFF"/>
                </a:solidFill>
                <a:latin typeface="Times New Roman"/>
                <a:cs typeface="Times New Roman"/>
              </a:rPr>
              <a:t>Ledger</a:t>
            </a:r>
            <a:r>
              <a:rPr sz="1800" spc="-60" dirty="0">
                <a:solidFill>
                  <a:srgbClr val="FFFFFF"/>
                </a:solidFill>
                <a:latin typeface="Times New Roman"/>
                <a:cs typeface="Times New Roman"/>
              </a:rPr>
              <a:t> </a:t>
            </a:r>
            <a:r>
              <a:rPr sz="1800" dirty="0">
                <a:solidFill>
                  <a:srgbClr val="FFFFFF"/>
                </a:solidFill>
                <a:latin typeface="Times New Roman"/>
                <a:cs typeface="Times New Roman"/>
              </a:rPr>
              <a:t>in </a:t>
            </a:r>
            <a:r>
              <a:rPr sz="1800" spc="-434" dirty="0">
                <a:solidFill>
                  <a:srgbClr val="FFFFFF"/>
                </a:solidFill>
                <a:latin typeface="Times New Roman"/>
                <a:cs typeface="Times New Roman"/>
              </a:rPr>
              <a:t> </a:t>
            </a:r>
            <a:r>
              <a:rPr sz="1800" spc="-10" dirty="0">
                <a:solidFill>
                  <a:srgbClr val="FFFFFF"/>
                </a:solidFill>
                <a:latin typeface="Times New Roman"/>
                <a:cs typeface="Times New Roman"/>
              </a:rPr>
              <a:t>GST</a:t>
            </a:r>
            <a:r>
              <a:rPr sz="1800" spc="-30" dirty="0">
                <a:solidFill>
                  <a:srgbClr val="FFFFFF"/>
                </a:solidFill>
                <a:latin typeface="Times New Roman"/>
                <a:cs typeface="Times New Roman"/>
              </a:rPr>
              <a:t> </a:t>
            </a:r>
            <a:r>
              <a:rPr sz="1800" dirty="0">
                <a:solidFill>
                  <a:srgbClr val="FFFFFF"/>
                </a:solidFill>
                <a:latin typeface="Times New Roman"/>
                <a:cs typeface="Times New Roman"/>
              </a:rPr>
              <a:t>?</a:t>
            </a:r>
            <a:endParaRPr sz="1800">
              <a:latin typeface="Times New Roman"/>
              <a:cs typeface="Times New Roman"/>
            </a:endParaRPr>
          </a:p>
        </p:txBody>
      </p:sp>
      <p:sp>
        <p:nvSpPr>
          <p:cNvPr id="10" name="object 10"/>
          <p:cNvSpPr txBox="1">
            <a:spLocks noGrp="1"/>
          </p:cNvSpPr>
          <p:nvPr>
            <p:ph type="title"/>
          </p:nvPr>
        </p:nvSpPr>
        <p:spPr>
          <a:xfrm>
            <a:off x="862075" y="153746"/>
            <a:ext cx="5409565" cy="512445"/>
          </a:xfrm>
          <a:prstGeom prst="rect">
            <a:avLst/>
          </a:prstGeom>
        </p:spPr>
        <p:txBody>
          <a:bodyPr vert="horz" wrap="square" lIns="0" tIns="12065" rIns="0" bIns="0" rtlCol="0">
            <a:spAutoFit/>
          </a:bodyPr>
          <a:lstStyle/>
          <a:p>
            <a:pPr marL="12700">
              <a:lnSpc>
                <a:spcPct val="100000"/>
              </a:lnSpc>
              <a:spcBef>
                <a:spcPts val="95"/>
              </a:spcBef>
            </a:pPr>
            <a:r>
              <a:rPr sz="3200" b="1" spc="-10" dirty="0">
                <a:latin typeface="Times New Roman"/>
                <a:cs typeface="Times New Roman"/>
              </a:rPr>
              <a:t>GST</a:t>
            </a:r>
            <a:r>
              <a:rPr sz="3200" b="1" spc="-35" dirty="0">
                <a:latin typeface="Times New Roman"/>
                <a:cs typeface="Times New Roman"/>
              </a:rPr>
              <a:t> </a:t>
            </a:r>
            <a:r>
              <a:rPr sz="3200" b="1" spc="-5" dirty="0">
                <a:latin typeface="Times New Roman"/>
                <a:cs typeface="Times New Roman"/>
              </a:rPr>
              <a:t>-</a:t>
            </a:r>
            <a:r>
              <a:rPr sz="3200" b="1" spc="-30" dirty="0">
                <a:latin typeface="Times New Roman"/>
                <a:cs typeface="Times New Roman"/>
              </a:rPr>
              <a:t> </a:t>
            </a:r>
            <a:r>
              <a:rPr sz="3200" b="1" spc="-10" dirty="0">
                <a:latin typeface="Times New Roman"/>
                <a:cs typeface="Times New Roman"/>
              </a:rPr>
              <a:t>Impact</a:t>
            </a:r>
            <a:r>
              <a:rPr sz="3200" b="1" spc="40" dirty="0">
                <a:latin typeface="Times New Roman"/>
                <a:cs typeface="Times New Roman"/>
              </a:rPr>
              <a:t> </a:t>
            </a:r>
            <a:r>
              <a:rPr sz="3200" b="1" spc="-5" dirty="0">
                <a:latin typeface="Times New Roman"/>
                <a:cs typeface="Times New Roman"/>
              </a:rPr>
              <a:t>on</a:t>
            </a:r>
            <a:r>
              <a:rPr sz="3200" b="1" spc="-15" dirty="0">
                <a:latin typeface="Times New Roman"/>
                <a:cs typeface="Times New Roman"/>
              </a:rPr>
              <a:t> </a:t>
            </a:r>
            <a:r>
              <a:rPr sz="3200" b="1" spc="-5" dirty="0">
                <a:latin typeface="Times New Roman"/>
                <a:cs typeface="Times New Roman"/>
              </a:rPr>
              <a:t>Cost</a:t>
            </a:r>
            <a:r>
              <a:rPr sz="3200" b="1" spc="-15" dirty="0">
                <a:latin typeface="Times New Roman"/>
                <a:cs typeface="Times New Roman"/>
              </a:rPr>
              <a:t> </a:t>
            </a:r>
            <a:r>
              <a:rPr sz="3200" b="1" spc="-5" dirty="0">
                <a:latin typeface="Times New Roman"/>
                <a:cs typeface="Times New Roman"/>
              </a:rPr>
              <a:t>and</a:t>
            </a:r>
            <a:r>
              <a:rPr sz="3200" b="1" spc="-15" dirty="0">
                <a:latin typeface="Times New Roman"/>
                <a:cs typeface="Times New Roman"/>
              </a:rPr>
              <a:t> </a:t>
            </a:r>
            <a:r>
              <a:rPr sz="3200" b="1" spc="-5" dirty="0">
                <a:latin typeface="Times New Roman"/>
                <a:cs typeface="Times New Roman"/>
              </a:rPr>
              <a:t>ITC</a:t>
            </a:r>
            <a:endParaRPr sz="3200">
              <a:latin typeface="Times New Roman"/>
              <a:cs typeface="Times New Roman"/>
            </a:endParaRPr>
          </a:p>
        </p:txBody>
      </p:sp>
      <p:pic>
        <p:nvPicPr>
          <p:cNvPr id="11" name="object 11"/>
          <p:cNvPicPr/>
          <p:nvPr/>
        </p:nvPicPr>
        <p:blipFill>
          <a:blip r:embed="rId3" cstate="print"/>
          <a:stretch>
            <a:fillRect/>
          </a:stretch>
        </p:blipFill>
        <p:spPr>
          <a:xfrm>
            <a:off x="85343" y="0"/>
            <a:ext cx="582168" cy="674813"/>
          </a:xfrm>
          <a:prstGeom prst="rect">
            <a:avLst/>
          </a:prstGeom>
        </p:spPr>
      </p:pic>
    </p:spTree>
    <p:extLst>
      <p:ext uri="{BB962C8B-B14F-4D97-AF65-F5344CB8AC3E}">
        <p14:creationId xmlns:p14="http://schemas.microsoft.com/office/powerpoint/2010/main" val="319450692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523" y="765048"/>
            <a:ext cx="11138535" cy="119380"/>
          </a:xfrm>
          <a:custGeom>
            <a:avLst/>
            <a:gdLst/>
            <a:ahLst/>
            <a:cxnLst/>
            <a:rect l="l" t="t" r="r" b="b"/>
            <a:pathLst>
              <a:path w="11138535" h="119380">
                <a:moveTo>
                  <a:pt x="11079099" y="0"/>
                </a:moveTo>
                <a:lnTo>
                  <a:pt x="11055988" y="4679"/>
                </a:lnTo>
                <a:lnTo>
                  <a:pt x="11037093" y="17430"/>
                </a:lnTo>
                <a:lnTo>
                  <a:pt x="11024342" y="36325"/>
                </a:lnTo>
                <a:lnTo>
                  <a:pt x="11019663" y="59436"/>
                </a:lnTo>
                <a:lnTo>
                  <a:pt x="11024342" y="82546"/>
                </a:lnTo>
                <a:lnTo>
                  <a:pt x="11037093" y="101441"/>
                </a:lnTo>
                <a:lnTo>
                  <a:pt x="11055988" y="114192"/>
                </a:lnTo>
                <a:lnTo>
                  <a:pt x="11079099" y="118872"/>
                </a:lnTo>
                <a:lnTo>
                  <a:pt x="11102262" y="114192"/>
                </a:lnTo>
                <a:lnTo>
                  <a:pt x="11121151" y="101441"/>
                </a:lnTo>
                <a:lnTo>
                  <a:pt x="11133873" y="82546"/>
                </a:lnTo>
                <a:lnTo>
                  <a:pt x="11134538" y="79248"/>
                </a:lnTo>
                <a:lnTo>
                  <a:pt x="11079099" y="79248"/>
                </a:lnTo>
                <a:lnTo>
                  <a:pt x="11079099" y="39624"/>
                </a:lnTo>
                <a:lnTo>
                  <a:pt x="11134538" y="39624"/>
                </a:lnTo>
                <a:lnTo>
                  <a:pt x="11133873" y="36325"/>
                </a:lnTo>
                <a:lnTo>
                  <a:pt x="11121151" y="17430"/>
                </a:lnTo>
                <a:lnTo>
                  <a:pt x="11102262" y="4679"/>
                </a:lnTo>
                <a:lnTo>
                  <a:pt x="11079099" y="0"/>
                </a:lnTo>
                <a:close/>
              </a:path>
              <a:path w="11138535" h="119380">
                <a:moveTo>
                  <a:pt x="11023674" y="39624"/>
                </a:moveTo>
                <a:lnTo>
                  <a:pt x="0" y="39624"/>
                </a:lnTo>
                <a:lnTo>
                  <a:pt x="0" y="79248"/>
                </a:lnTo>
                <a:lnTo>
                  <a:pt x="11023674" y="79248"/>
                </a:lnTo>
                <a:lnTo>
                  <a:pt x="11019663" y="59436"/>
                </a:lnTo>
                <a:lnTo>
                  <a:pt x="11023674" y="39624"/>
                </a:lnTo>
                <a:close/>
              </a:path>
              <a:path w="11138535" h="119380">
                <a:moveTo>
                  <a:pt x="11134538" y="39624"/>
                </a:moveTo>
                <a:lnTo>
                  <a:pt x="11079099" y="39624"/>
                </a:lnTo>
                <a:lnTo>
                  <a:pt x="11079099" y="79248"/>
                </a:lnTo>
                <a:lnTo>
                  <a:pt x="11134538" y="79248"/>
                </a:lnTo>
                <a:lnTo>
                  <a:pt x="11138535" y="59436"/>
                </a:lnTo>
                <a:lnTo>
                  <a:pt x="11134538" y="39624"/>
                </a:lnTo>
                <a:close/>
              </a:path>
            </a:pathLst>
          </a:custGeom>
          <a:solidFill>
            <a:srgbClr val="001F5F"/>
          </a:solidFill>
        </p:spPr>
        <p:txBody>
          <a:bodyPr wrap="square" lIns="0" tIns="0" rIns="0" bIns="0" rtlCol="0"/>
          <a:lstStyle/>
          <a:p>
            <a:endParaRPr/>
          </a:p>
        </p:txBody>
      </p:sp>
      <p:pic>
        <p:nvPicPr>
          <p:cNvPr id="3" name="object 3"/>
          <p:cNvPicPr/>
          <p:nvPr/>
        </p:nvPicPr>
        <p:blipFill>
          <a:blip r:embed="rId2" cstate="print"/>
          <a:stretch>
            <a:fillRect/>
          </a:stretch>
        </p:blipFill>
        <p:spPr>
          <a:xfrm>
            <a:off x="10509504" y="67056"/>
            <a:ext cx="1600200" cy="474412"/>
          </a:xfrm>
          <a:prstGeom prst="rect">
            <a:avLst/>
          </a:prstGeom>
        </p:spPr>
      </p:pic>
      <p:sp>
        <p:nvSpPr>
          <p:cNvPr id="4" name="object 4"/>
          <p:cNvSpPr/>
          <p:nvPr/>
        </p:nvSpPr>
        <p:spPr>
          <a:xfrm>
            <a:off x="4499483" y="1084961"/>
            <a:ext cx="0" cy="3343910"/>
          </a:xfrm>
          <a:custGeom>
            <a:avLst/>
            <a:gdLst/>
            <a:ahLst/>
            <a:cxnLst/>
            <a:rect l="l" t="t" r="r" b="b"/>
            <a:pathLst>
              <a:path h="3343910">
                <a:moveTo>
                  <a:pt x="0" y="0"/>
                </a:moveTo>
                <a:lnTo>
                  <a:pt x="0" y="3343909"/>
                </a:lnTo>
              </a:path>
            </a:pathLst>
          </a:custGeom>
          <a:ln w="6350">
            <a:solidFill>
              <a:srgbClr val="EC7C30"/>
            </a:solidFill>
          </a:ln>
        </p:spPr>
        <p:txBody>
          <a:bodyPr wrap="square" lIns="0" tIns="0" rIns="0" bIns="0" rtlCol="0"/>
          <a:lstStyle/>
          <a:p>
            <a:endParaRPr/>
          </a:p>
        </p:txBody>
      </p:sp>
      <p:graphicFrame>
        <p:nvGraphicFramePr>
          <p:cNvPr id="5" name="object 5"/>
          <p:cNvGraphicFramePr>
            <a:graphicFrameLocks noGrp="1"/>
          </p:cNvGraphicFramePr>
          <p:nvPr/>
        </p:nvGraphicFramePr>
        <p:xfrm>
          <a:off x="295554" y="1084961"/>
          <a:ext cx="4203700" cy="3340729"/>
        </p:xfrm>
        <a:graphic>
          <a:graphicData uri="http://schemas.openxmlformats.org/drawingml/2006/table">
            <a:tbl>
              <a:tblPr firstRow="1" bandRow="1">
                <a:tableStyleId>{2D5ABB26-0587-4C30-8999-92F81FD0307C}</a:tableStyleId>
              </a:tblPr>
              <a:tblGrid>
                <a:gridCol w="2148840">
                  <a:extLst>
                    <a:ext uri="{9D8B030D-6E8A-4147-A177-3AD203B41FA5}">
                      <a16:colId xmlns:a16="http://schemas.microsoft.com/office/drawing/2014/main" val="20000"/>
                    </a:ext>
                  </a:extLst>
                </a:gridCol>
                <a:gridCol w="2054860">
                  <a:extLst>
                    <a:ext uri="{9D8B030D-6E8A-4147-A177-3AD203B41FA5}">
                      <a16:colId xmlns:a16="http://schemas.microsoft.com/office/drawing/2014/main" val="20001"/>
                    </a:ext>
                  </a:extLst>
                </a:gridCol>
              </a:tblGrid>
              <a:tr h="377190">
                <a:tc>
                  <a:txBody>
                    <a:bodyPr/>
                    <a:lstStyle/>
                    <a:p>
                      <a:pPr>
                        <a:lnSpc>
                          <a:spcPct val="100000"/>
                        </a:lnSpc>
                      </a:pPr>
                      <a:endParaRPr sz="1900">
                        <a:latin typeface="Times New Roman"/>
                        <a:cs typeface="Times New Roman"/>
                      </a:endParaRPr>
                    </a:p>
                  </a:txBody>
                  <a:tcPr marL="0" marR="0" marT="0" marB="0">
                    <a:solidFill>
                      <a:srgbClr val="EC7C30"/>
                    </a:solidFill>
                  </a:tcPr>
                </a:tc>
                <a:tc>
                  <a:txBody>
                    <a:bodyPr/>
                    <a:lstStyle/>
                    <a:p>
                      <a:pPr marL="115570">
                        <a:lnSpc>
                          <a:spcPct val="100000"/>
                        </a:lnSpc>
                        <a:spcBef>
                          <a:spcPts val="270"/>
                        </a:spcBef>
                      </a:pPr>
                      <a:r>
                        <a:rPr sz="1800" b="1" dirty="0">
                          <a:solidFill>
                            <a:srgbClr val="FFFFFF"/>
                          </a:solidFill>
                          <a:latin typeface="Calibri"/>
                          <a:cs typeface="Calibri"/>
                        </a:rPr>
                        <a:t>A</a:t>
                      </a:r>
                      <a:r>
                        <a:rPr sz="1800" b="1" spc="-35" dirty="0">
                          <a:solidFill>
                            <a:srgbClr val="FFFFFF"/>
                          </a:solidFill>
                          <a:latin typeface="Calibri"/>
                          <a:cs typeface="Calibri"/>
                        </a:rPr>
                        <a:t> </a:t>
                      </a:r>
                      <a:r>
                        <a:rPr sz="1800" b="1" spc="-15" dirty="0">
                          <a:solidFill>
                            <a:srgbClr val="FFFFFF"/>
                          </a:solidFill>
                          <a:latin typeface="Calibri"/>
                          <a:cs typeface="Calibri"/>
                        </a:rPr>
                        <a:t>Ltd</a:t>
                      </a:r>
                      <a:endParaRPr sz="1800">
                        <a:latin typeface="Calibri"/>
                        <a:cs typeface="Calibri"/>
                      </a:endParaRPr>
                    </a:p>
                  </a:txBody>
                  <a:tcPr marL="0" marR="0" marT="34290" marB="0">
                    <a:solidFill>
                      <a:srgbClr val="EC7C30"/>
                    </a:solidFill>
                  </a:tcPr>
                </a:tc>
                <a:extLst>
                  <a:ext uri="{0D108BD9-81ED-4DB2-BD59-A6C34878D82A}">
                    <a16:rowId xmlns:a16="http://schemas.microsoft.com/office/drawing/2014/main" val="10000"/>
                  </a:ext>
                </a:extLst>
              </a:tr>
              <a:tr h="367664">
                <a:tc>
                  <a:txBody>
                    <a:bodyPr/>
                    <a:lstStyle/>
                    <a:p>
                      <a:pPr marL="90805">
                        <a:lnSpc>
                          <a:spcPct val="100000"/>
                        </a:lnSpc>
                        <a:spcBef>
                          <a:spcPts val="220"/>
                        </a:spcBef>
                      </a:pPr>
                      <a:r>
                        <a:rPr sz="1800" spc="-10" dirty="0">
                          <a:latin typeface="Calibri"/>
                          <a:cs typeface="Calibri"/>
                        </a:rPr>
                        <a:t>Selling</a:t>
                      </a:r>
                      <a:r>
                        <a:rPr sz="1800" spc="35" dirty="0">
                          <a:latin typeface="Calibri"/>
                          <a:cs typeface="Calibri"/>
                        </a:rPr>
                        <a:t> </a:t>
                      </a:r>
                      <a:r>
                        <a:rPr sz="1800" dirty="0">
                          <a:latin typeface="Calibri"/>
                          <a:cs typeface="Calibri"/>
                        </a:rPr>
                        <a:t>Price</a:t>
                      </a:r>
                      <a:endParaRPr sz="1800">
                        <a:latin typeface="Calibri"/>
                        <a:cs typeface="Calibri"/>
                      </a:endParaRPr>
                    </a:p>
                  </a:txBody>
                  <a:tcPr marL="0" marR="0" marT="27940" marB="0">
                    <a:lnL w="6350">
                      <a:solidFill>
                        <a:srgbClr val="EC7C30"/>
                      </a:solidFill>
                      <a:prstDash val="solid"/>
                    </a:lnL>
                    <a:lnB w="6350">
                      <a:solidFill>
                        <a:srgbClr val="EC7C30"/>
                      </a:solidFill>
                      <a:prstDash val="solid"/>
                    </a:lnB>
                  </a:tcPr>
                </a:tc>
                <a:tc>
                  <a:txBody>
                    <a:bodyPr/>
                    <a:lstStyle/>
                    <a:p>
                      <a:pPr marL="115570">
                        <a:lnSpc>
                          <a:spcPct val="100000"/>
                        </a:lnSpc>
                        <a:spcBef>
                          <a:spcPts val="220"/>
                        </a:spcBef>
                      </a:pPr>
                      <a:r>
                        <a:rPr sz="1800" spc="-5" dirty="0">
                          <a:latin typeface="Calibri"/>
                          <a:cs typeface="Calibri"/>
                        </a:rPr>
                        <a:t>1000</a:t>
                      </a:r>
                      <a:endParaRPr sz="1800">
                        <a:latin typeface="Calibri"/>
                        <a:cs typeface="Calibri"/>
                      </a:endParaRPr>
                    </a:p>
                  </a:txBody>
                  <a:tcPr marL="0" marR="0" marT="27940" marB="0">
                    <a:lnB w="6350">
                      <a:solidFill>
                        <a:srgbClr val="EC7C30"/>
                      </a:solidFill>
                      <a:prstDash val="solid"/>
                    </a:lnB>
                  </a:tcPr>
                </a:tc>
                <a:extLst>
                  <a:ext uri="{0D108BD9-81ED-4DB2-BD59-A6C34878D82A}">
                    <a16:rowId xmlns:a16="http://schemas.microsoft.com/office/drawing/2014/main" val="10001"/>
                  </a:ext>
                </a:extLst>
              </a:tr>
              <a:tr h="370839">
                <a:tc>
                  <a:txBody>
                    <a:bodyPr/>
                    <a:lstStyle/>
                    <a:p>
                      <a:pPr marL="90805">
                        <a:lnSpc>
                          <a:spcPct val="100000"/>
                        </a:lnSpc>
                        <a:spcBef>
                          <a:spcPts val="250"/>
                        </a:spcBef>
                      </a:pPr>
                      <a:r>
                        <a:rPr sz="1800" spc="-15" dirty="0">
                          <a:latin typeface="Calibri"/>
                          <a:cs typeface="Calibri"/>
                        </a:rPr>
                        <a:t>GST</a:t>
                      </a:r>
                      <a:r>
                        <a:rPr sz="1800" spc="5" dirty="0">
                          <a:latin typeface="Calibri"/>
                          <a:cs typeface="Calibri"/>
                        </a:rPr>
                        <a:t> </a:t>
                      </a:r>
                      <a:r>
                        <a:rPr sz="1800" dirty="0">
                          <a:latin typeface="Calibri"/>
                          <a:cs typeface="Calibri"/>
                        </a:rPr>
                        <a:t>@</a:t>
                      </a:r>
                      <a:r>
                        <a:rPr sz="1800" spc="-30" dirty="0">
                          <a:latin typeface="Calibri"/>
                          <a:cs typeface="Calibri"/>
                        </a:rPr>
                        <a:t> </a:t>
                      </a:r>
                      <a:r>
                        <a:rPr sz="1800" dirty="0">
                          <a:latin typeface="Calibri"/>
                          <a:cs typeface="Calibri"/>
                        </a:rPr>
                        <a:t>12%</a:t>
                      </a:r>
                      <a:endParaRPr sz="1800">
                        <a:latin typeface="Calibri"/>
                        <a:cs typeface="Calibri"/>
                      </a:endParaRPr>
                    </a:p>
                  </a:txBody>
                  <a:tcPr marL="0" marR="0" marT="31750" marB="0">
                    <a:lnL w="6350">
                      <a:solidFill>
                        <a:srgbClr val="EC7C30"/>
                      </a:solidFill>
                      <a:prstDash val="solid"/>
                    </a:lnL>
                    <a:lnT w="6350">
                      <a:solidFill>
                        <a:srgbClr val="EC7C30"/>
                      </a:solidFill>
                      <a:prstDash val="solid"/>
                    </a:lnT>
                    <a:lnB w="6350">
                      <a:solidFill>
                        <a:srgbClr val="EC7C30"/>
                      </a:solidFill>
                      <a:prstDash val="solid"/>
                    </a:lnB>
                  </a:tcPr>
                </a:tc>
                <a:tc>
                  <a:txBody>
                    <a:bodyPr/>
                    <a:lstStyle/>
                    <a:p>
                      <a:pPr marL="115570">
                        <a:lnSpc>
                          <a:spcPct val="100000"/>
                        </a:lnSpc>
                        <a:spcBef>
                          <a:spcPts val="250"/>
                        </a:spcBef>
                      </a:pPr>
                      <a:r>
                        <a:rPr sz="1800" spc="-5" dirty="0">
                          <a:latin typeface="Calibri"/>
                          <a:cs typeface="Calibri"/>
                        </a:rPr>
                        <a:t>120</a:t>
                      </a:r>
                      <a:endParaRPr sz="1800">
                        <a:latin typeface="Calibri"/>
                        <a:cs typeface="Calibri"/>
                      </a:endParaRPr>
                    </a:p>
                  </a:txBody>
                  <a:tcPr marL="0" marR="0" marT="31750" marB="0">
                    <a:lnT w="6350">
                      <a:solidFill>
                        <a:srgbClr val="EC7C30"/>
                      </a:solidFill>
                      <a:prstDash val="solid"/>
                    </a:lnT>
                    <a:lnB w="6350">
                      <a:solidFill>
                        <a:srgbClr val="EC7C30"/>
                      </a:solidFill>
                      <a:prstDash val="solid"/>
                    </a:lnB>
                  </a:tcPr>
                </a:tc>
                <a:extLst>
                  <a:ext uri="{0D108BD9-81ED-4DB2-BD59-A6C34878D82A}">
                    <a16:rowId xmlns:a16="http://schemas.microsoft.com/office/drawing/2014/main" val="10002"/>
                  </a:ext>
                </a:extLst>
              </a:tr>
              <a:tr h="370840">
                <a:tc>
                  <a:txBody>
                    <a:bodyPr/>
                    <a:lstStyle/>
                    <a:p>
                      <a:pPr marL="90805">
                        <a:lnSpc>
                          <a:spcPct val="100000"/>
                        </a:lnSpc>
                        <a:spcBef>
                          <a:spcPts val="250"/>
                        </a:spcBef>
                      </a:pPr>
                      <a:r>
                        <a:rPr sz="1800" spc="-40" dirty="0">
                          <a:latin typeface="Calibri"/>
                          <a:cs typeface="Calibri"/>
                        </a:rPr>
                        <a:t>Total</a:t>
                      </a:r>
                      <a:endParaRPr sz="1800">
                        <a:latin typeface="Calibri"/>
                        <a:cs typeface="Calibri"/>
                      </a:endParaRPr>
                    </a:p>
                  </a:txBody>
                  <a:tcPr marL="0" marR="0" marT="31750" marB="0">
                    <a:lnL w="6350">
                      <a:solidFill>
                        <a:srgbClr val="EC7C30"/>
                      </a:solidFill>
                      <a:prstDash val="solid"/>
                    </a:lnL>
                    <a:lnT w="6350">
                      <a:solidFill>
                        <a:srgbClr val="EC7C30"/>
                      </a:solidFill>
                      <a:prstDash val="solid"/>
                    </a:lnT>
                    <a:lnB w="6350">
                      <a:solidFill>
                        <a:srgbClr val="EC7C30"/>
                      </a:solidFill>
                      <a:prstDash val="solid"/>
                    </a:lnB>
                  </a:tcPr>
                </a:tc>
                <a:tc>
                  <a:txBody>
                    <a:bodyPr/>
                    <a:lstStyle/>
                    <a:p>
                      <a:pPr marL="115570">
                        <a:lnSpc>
                          <a:spcPct val="100000"/>
                        </a:lnSpc>
                        <a:spcBef>
                          <a:spcPts val="250"/>
                        </a:spcBef>
                      </a:pPr>
                      <a:r>
                        <a:rPr sz="1800" spc="-5" dirty="0">
                          <a:latin typeface="Calibri"/>
                          <a:cs typeface="Calibri"/>
                        </a:rPr>
                        <a:t>1120</a:t>
                      </a:r>
                      <a:endParaRPr sz="1800">
                        <a:latin typeface="Calibri"/>
                        <a:cs typeface="Calibri"/>
                      </a:endParaRPr>
                    </a:p>
                  </a:txBody>
                  <a:tcPr marL="0" marR="0" marT="31750" marB="0">
                    <a:lnT w="6350">
                      <a:solidFill>
                        <a:srgbClr val="EC7C30"/>
                      </a:solidFill>
                      <a:prstDash val="solid"/>
                    </a:lnT>
                    <a:lnB w="6350">
                      <a:solidFill>
                        <a:srgbClr val="EC7C30"/>
                      </a:solidFill>
                      <a:prstDash val="solid"/>
                    </a:lnB>
                  </a:tcPr>
                </a:tc>
                <a:extLst>
                  <a:ext uri="{0D108BD9-81ED-4DB2-BD59-A6C34878D82A}">
                    <a16:rowId xmlns:a16="http://schemas.microsoft.com/office/drawing/2014/main" val="10003"/>
                  </a:ext>
                </a:extLst>
              </a:tr>
              <a:tr h="370839">
                <a:tc>
                  <a:txBody>
                    <a:bodyPr/>
                    <a:lstStyle/>
                    <a:p>
                      <a:pPr>
                        <a:lnSpc>
                          <a:spcPct val="100000"/>
                        </a:lnSpc>
                      </a:pPr>
                      <a:endParaRPr sz="1900">
                        <a:latin typeface="Times New Roman"/>
                        <a:cs typeface="Times New Roman"/>
                      </a:endParaRPr>
                    </a:p>
                  </a:txBody>
                  <a:tcPr marL="0" marR="0" marT="0" marB="0">
                    <a:lnL w="6350">
                      <a:solidFill>
                        <a:srgbClr val="EC7C30"/>
                      </a:solidFill>
                      <a:prstDash val="solid"/>
                    </a:lnL>
                    <a:lnT w="6350">
                      <a:solidFill>
                        <a:srgbClr val="EC7C30"/>
                      </a:solidFill>
                      <a:prstDash val="solid"/>
                    </a:lnT>
                    <a:lnB w="6350">
                      <a:solidFill>
                        <a:srgbClr val="EC7C30"/>
                      </a:solidFill>
                      <a:prstDash val="solid"/>
                    </a:lnB>
                  </a:tcPr>
                </a:tc>
                <a:tc>
                  <a:txBody>
                    <a:bodyPr/>
                    <a:lstStyle/>
                    <a:p>
                      <a:pPr>
                        <a:lnSpc>
                          <a:spcPct val="100000"/>
                        </a:lnSpc>
                      </a:pPr>
                      <a:endParaRPr sz="1900">
                        <a:latin typeface="Times New Roman"/>
                        <a:cs typeface="Times New Roman"/>
                      </a:endParaRPr>
                    </a:p>
                  </a:txBody>
                  <a:tcPr marL="0" marR="0" marT="0" marB="0">
                    <a:lnT w="6350">
                      <a:solidFill>
                        <a:srgbClr val="EC7C30"/>
                      </a:solidFill>
                      <a:prstDash val="solid"/>
                    </a:lnT>
                    <a:lnB w="6350">
                      <a:solidFill>
                        <a:srgbClr val="EC7C30"/>
                      </a:solidFill>
                      <a:prstDash val="solid"/>
                    </a:lnB>
                  </a:tcPr>
                </a:tc>
                <a:extLst>
                  <a:ext uri="{0D108BD9-81ED-4DB2-BD59-A6C34878D82A}">
                    <a16:rowId xmlns:a16="http://schemas.microsoft.com/office/drawing/2014/main" val="10004"/>
                  </a:ext>
                </a:extLst>
              </a:tr>
              <a:tr h="370839">
                <a:tc>
                  <a:txBody>
                    <a:bodyPr/>
                    <a:lstStyle/>
                    <a:p>
                      <a:pPr>
                        <a:lnSpc>
                          <a:spcPct val="100000"/>
                        </a:lnSpc>
                      </a:pPr>
                      <a:endParaRPr sz="1900">
                        <a:latin typeface="Times New Roman"/>
                        <a:cs typeface="Times New Roman"/>
                      </a:endParaRPr>
                    </a:p>
                  </a:txBody>
                  <a:tcPr marL="0" marR="0" marT="0" marB="0">
                    <a:lnL w="6350">
                      <a:solidFill>
                        <a:srgbClr val="EC7C30"/>
                      </a:solidFill>
                      <a:prstDash val="solid"/>
                    </a:lnL>
                    <a:lnT w="6350">
                      <a:solidFill>
                        <a:srgbClr val="EC7C30"/>
                      </a:solidFill>
                      <a:prstDash val="solid"/>
                    </a:lnT>
                    <a:lnB w="6350">
                      <a:solidFill>
                        <a:srgbClr val="EC7C30"/>
                      </a:solidFill>
                      <a:prstDash val="solid"/>
                    </a:lnB>
                  </a:tcPr>
                </a:tc>
                <a:tc>
                  <a:txBody>
                    <a:bodyPr/>
                    <a:lstStyle/>
                    <a:p>
                      <a:pPr>
                        <a:lnSpc>
                          <a:spcPct val="100000"/>
                        </a:lnSpc>
                      </a:pPr>
                      <a:endParaRPr sz="1900">
                        <a:latin typeface="Times New Roman"/>
                        <a:cs typeface="Times New Roman"/>
                      </a:endParaRPr>
                    </a:p>
                  </a:txBody>
                  <a:tcPr marL="0" marR="0" marT="0" marB="0">
                    <a:lnT w="6350">
                      <a:solidFill>
                        <a:srgbClr val="EC7C30"/>
                      </a:solidFill>
                      <a:prstDash val="solid"/>
                    </a:lnT>
                    <a:lnB w="6350">
                      <a:solidFill>
                        <a:srgbClr val="EC7C30"/>
                      </a:solidFill>
                      <a:prstDash val="solid"/>
                    </a:lnB>
                  </a:tcPr>
                </a:tc>
                <a:extLst>
                  <a:ext uri="{0D108BD9-81ED-4DB2-BD59-A6C34878D82A}">
                    <a16:rowId xmlns:a16="http://schemas.microsoft.com/office/drawing/2014/main" val="10005"/>
                  </a:ext>
                </a:extLst>
              </a:tr>
              <a:tr h="370840">
                <a:tc>
                  <a:txBody>
                    <a:bodyPr/>
                    <a:lstStyle/>
                    <a:p>
                      <a:pPr marL="90805">
                        <a:lnSpc>
                          <a:spcPct val="100000"/>
                        </a:lnSpc>
                        <a:spcBef>
                          <a:spcPts val="250"/>
                        </a:spcBef>
                      </a:pPr>
                      <a:r>
                        <a:rPr sz="1800" spc="-55" dirty="0">
                          <a:latin typeface="Calibri"/>
                          <a:cs typeface="Calibri"/>
                        </a:rPr>
                        <a:t>Tax</a:t>
                      </a:r>
                      <a:r>
                        <a:rPr sz="1800" spc="-50" dirty="0">
                          <a:latin typeface="Calibri"/>
                          <a:cs typeface="Calibri"/>
                        </a:rPr>
                        <a:t> </a:t>
                      </a:r>
                      <a:r>
                        <a:rPr sz="1800" spc="-15" dirty="0">
                          <a:latin typeface="Calibri"/>
                          <a:cs typeface="Calibri"/>
                        </a:rPr>
                        <a:t>Payable</a:t>
                      </a:r>
                      <a:endParaRPr sz="1800">
                        <a:latin typeface="Calibri"/>
                        <a:cs typeface="Calibri"/>
                      </a:endParaRPr>
                    </a:p>
                  </a:txBody>
                  <a:tcPr marL="0" marR="0" marT="31750" marB="0">
                    <a:lnL w="6350">
                      <a:solidFill>
                        <a:srgbClr val="EC7C30"/>
                      </a:solidFill>
                      <a:prstDash val="solid"/>
                    </a:lnL>
                    <a:lnT w="6350">
                      <a:solidFill>
                        <a:srgbClr val="EC7C30"/>
                      </a:solidFill>
                      <a:prstDash val="solid"/>
                    </a:lnT>
                    <a:lnB w="6350">
                      <a:solidFill>
                        <a:srgbClr val="EC7C30"/>
                      </a:solidFill>
                      <a:prstDash val="solid"/>
                    </a:lnB>
                  </a:tcPr>
                </a:tc>
                <a:tc>
                  <a:txBody>
                    <a:bodyPr/>
                    <a:lstStyle/>
                    <a:p>
                      <a:pPr marL="115570">
                        <a:lnSpc>
                          <a:spcPct val="100000"/>
                        </a:lnSpc>
                        <a:spcBef>
                          <a:spcPts val="250"/>
                        </a:spcBef>
                      </a:pPr>
                      <a:r>
                        <a:rPr sz="1800" spc="-5" dirty="0">
                          <a:latin typeface="Calibri"/>
                          <a:cs typeface="Calibri"/>
                        </a:rPr>
                        <a:t>120</a:t>
                      </a:r>
                      <a:endParaRPr sz="1800">
                        <a:latin typeface="Calibri"/>
                        <a:cs typeface="Calibri"/>
                      </a:endParaRPr>
                    </a:p>
                  </a:txBody>
                  <a:tcPr marL="0" marR="0" marT="31750" marB="0">
                    <a:lnT w="6350">
                      <a:solidFill>
                        <a:srgbClr val="EC7C30"/>
                      </a:solidFill>
                      <a:prstDash val="solid"/>
                    </a:lnT>
                    <a:lnB w="6350">
                      <a:solidFill>
                        <a:srgbClr val="EC7C30"/>
                      </a:solidFill>
                      <a:prstDash val="solid"/>
                    </a:lnB>
                  </a:tcPr>
                </a:tc>
                <a:extLst>
                  <a:ext uri="{0D108BD9-81ED-4DB2-BD59-A6C34878D82A}">
                    <a16:rowId xmlns:a16="http://schemas.microsoft.com/office/drawing/2014/main" val="10006"/>
                  </a:ext>
                </a:extLst>
              </a:tr>
              <a:tr h="370839">
                <a:tc>
                  <a:txBody>
                    <a:bodyPr/>
                    <a:lstStyle/>
                    <a:p>
                      <a:pPr marL="90805">
                        <a:lnSpc>
                          <a:spcPct val="100000"/>
                        </a:lnSpc>
                        <a:spcBef>
                          <a:spcPts val="254"/>
                        </a:spcBef>
                      </a:pPr>
                      <a:r>
                        <a:rPr sz="1800" spc="-5" dirty="0">
                          <a:latin typeface="Calibri"/>
                          <a:cs typeface="Calibri"/>
                        </a:rPr>
                        <a:t>Less:</a:t>
                      </a:r>
                      <a:r>
                        <a:rPr sz="1800" spc="5" dirty="0">
                          <a:latin typeface="Calibri"/>
                          <a:cs typeface="Calibri"/>
                        </a:rPr>
                        <a:t> </a:t>
                      </a:r>
                      <a:r>
                        <a:rPr sz="1800" spc="-5" dirty="0">
                          <a:latin typeface="Calibri"/>
                          <a:cs typeface="Calibri"/>
                        </a:rPr>
                        <a:t>Input</a:t>
                      </a:r>
                      <a:r>
                        <a:rPr sz="1800" spc="5" dirty="0">
                          <a:latin typeface="Calibri"/>
                          <a:cs typeface="Calibri"/>
                        </a:rPr>
                        <a:t> </a:t>
                      </a:r>
                      <a:r>
                        <a:rPr sz="1800" spc="-20" dirty="0">
                          <a:latin typeface="Calibri"/>
                          <a:cs typeface="Calibri"/>
                        </a:rPr>
                        <a:t>tax</a:t>
                      </a:r>
                      <a:r>
                        <a:rPr sz="1800" spc="-5" dirty="0">
                          <a:latin typeface="Calibri"/>
                          <a:cs typeface="Calibri"/>
                        </a:rPr>
                        <a:t> </a:t>
                      </a:r>
                      <a:r>
                        <a:rPr sz="1800" spc="-10" dirty="0">
                          <a:latin typeface="Calibri"/>
                          <a:cs typeface="Calibri"/>
                        </a:rPr>
                        <a:t>Credit</a:t>
                      </a:r>
                      <a:endParaRPr sz="1800">
                        <a:latin typeface="Calibri"/>
                        <a:cs typeface="Calibri"/>
                      </a:endParaRPr>
                    </a:p>
                  </a:txBody>
                  <a:tcPr marL="0" marR="0" marT="32384" marB="0">
                    <a:lnL w="6350">
                      <a:solidFill>
                        <a:srgbClr val="EC7C30"/>
                      </a:solidFill>
                      <a:prstDash val="solid"/>
                    </a:lnL>
                    <a:lnT w="6350">
                      <a:solidFill>
                        <a:srgbClr val="EC7C30"/>
                      </a:solidFill>
                      <a:prstDash val="solid"/>
                    </a:lnT>
                    <a:lnB w="6350">
                      <a:solidFill>
                        <a:srgbClr val="EC7C30"/>
                      </a:solidFill>
                      <a:prstDash val="solid"/>
                    </a:lnB>
                  </a:tcPr>
                </a:tc>
                <a:tc>
                  <a:txBody>
                    <a:bodyPr/>
                    <a:lstStyle/>
                    <a:p>
                      <a:pPr marL="115570">
                        <a:lnSpc>
                          <a:spcPct val="100000"/>
                        </a:lnSpc>
                        <a:spcBef>
                          <a:spcPts val="254"/>
                        </a:spcBef>
                      </a:pPr>
                      <a:r>
                        <a:rPr sz="1800" spc="-5" dirty="0">
                          <a:latin typeface="Calibri"/>
                          <a:cs typeface="Calibri"/>
                        </a:rPr>
                        <a:t>80</a:t>
                      </a:r>
                      <a:endParaRPr sz="1800">
                        <a:latin typeface="Calibri"/>
                        <a:cs typeface="Calibri"/>
                      </a:endParaRPr>
                    </a:p>
                  </a:txBody>
                  <a:tcPr marL="0" marR="0" marT="32384" marB="0">
                    <a:lnT w="6350">
                      <a:solidFill>
                        <a:srgbClr val="EC7C30"/>
                      </a:solidFill>
                      <a:prstDash val="solid"/>
                    </a:lnT>
                    <a:lnB w="6350">
                      <a:solidFill>
                        <a:srgbClr val="EC7C30"/>
                      </a:solidFill>
                      <a:prstDash val="solid"/>
                    </a:lnB>
                  </a:tcPr>
                </a:tc>
                <a:extLst>
                  <a:ext uri="{0D108BD9-81ED-4DB2-BD59-A6C34878D82A}">
                    <a16:rowId xmlns:a16="http://schemas.microsoft.com/office/drawing/2014/main" val="10007"/>
                  </a:ext>
                </a:extLst>
              </a:tr>
              <a:tr h="370839">
                <a:tc>
                  <a:txBody>
                    <a:bodyPr/>
                    <a:lstStyle/>
                    <a:p>
                      <a:pPr marL="90805">
                        <a:lnSpc>
                          <a:spcPct val="100000"/>
                        </a:lnSpc>
                        <a:spcBef>
                          <a:spcPts val="254"/>
                        </a:spcBef>
                      </a:pPr>
                      <a:r>
                        <a:rPr sz="1800" spc="-5" dirty="0">
                          <a:latin typeface="Calibri"/>
                          <a:cs typeface="Calibri"/>
                        </a:rPr>
                        <a:t>Net</a:t>
                      </a:r>
                      <a:r>
                        <a:rPr sz="1800" spc="-15" dirty="0">
                          <a:latin typeface="Calibri"/>
                          <a:cs typeface="Calibri"/>
                        </a:rPr>
                        <a:t> Payment</a:t>
                      </a:r>
                      <a:endParaRPr sz="1800">
                        <a:latin typeface="Calibri"/>
                        <a:cs typeface="Calibri"/>
                      </a:endParaRPr>
                    </a:p>
                  </a:txBody>
                  <a:tcPr marL="0" marR="0" marT="32384" marB="0">
                    <a:lnL w="6350">
                      <a:solidFill>
                        <a:srgbClr val="EC7C30"/>
                      </a:solidFill>
                      <a:prstDash val="solid"/>
                    </a:lnL>
                    <a:lnT w="6350">
                      <a:solidFill>
                        <a:srgbClr val="EC7C30"/>
                      </a:solidFill>
                      <a:prstDash val="solid"/>
                    </a:lnT>
                    <a:lnB w="6350">
                      <a:solidFill>
                        <a:srgbClr val="EC7C30"/>
                      </a:solidFill>
                      <a:prstDash val="solid"/>
                    </a:lnB>
                  </a:tcPr>
                </a:tc>
                <a:tc>
                  <a:txBody>
                    <a:bodyPr/>
                    <a:lstStyle/>
                    <a:p>
                      <a:pPr marL="115570">
                        <a:lnSpc>
                          <a:spcPct val="100000"/>
                        </a:lnSpc>
                        <a:spcBef>
                          <a:spcPts val="254"/>
                        </a:spcBef>
                      </a:pPr>
                      <a:r>
                        <a:rPr sz="1800" spc="-5" dirty="0">
                          <a:latin typeface="Calibri"/>
                          <a:cs typeface="Calibri"/>
                        </a:rPr>
                        <a:t>40</a:t>
                      </a:r>
                      <a:endParaRPr sz="1800">
                        <a:latin typeface="Calibri"/>
                        <a:cs typeface="Calibri"/>
                      </a:endParaRPr>
                    </a:p>
                  </a:txBody>
                  <a:tcPr marL="0" marR="0" marT="32384" marB="0">
                    <a:lnT w="6350">
                      <a:solidFill>
                        <a:srgbClr val="EC7C30"/>
                      </a:solidFill>
                      <a:prstDash val="solid"/>
                    </a:lnT>
                    <a:lnB w="6350">
                      <a:solidFill>
                        <a:srgbClr val="EC7C30"/>
                      </a:solidFill>
                      <a:prstDash val="solid"/>
                    </a:lnB>
                  </a:tcPr>
                </a:tc>
                <a:extLst>
                  <a:ext uri="{0D108BD9-81ED-4DB2-BD59-A6C34878D82A}">
                    <a16:rowId xmlns:a16="http://schemas.microsoft.com/office/drawing/2014/main" val="10008"/>
                  </a:ext>
                </a:extLst>
              </a:tr>
            </a:tbl>
          </a:graphicData>
        </a:graphic>
      </p:graphicFrame>
      <p:sp>
        <p:nvSpPr>
          <p:cNvPr id="6" name="object 6"/>
          <p:cNvSpPr/>
          <p:nvPr/>
        </p:nvSpPr>
        <p:spPr>
          <a:xfrm>
            <a:off x="5098922" y="1153413"/>
            <a:ext cx="0" cy="4091940"/>
          </a:xfrm>
          <a:custGeom>
            <a:avLst/>
            <a:gdLst/>
            <a:ahLst/>
            <a:cxnLst/>
            <a:rect l="l" t="t" r="r" b="b"/>
            <a:pathLst>
              <a:path h="4091940">
                <a:moveTo>
                  <a:pt x="0" y="0"/>
                </a:moveTo>
                <a:lnTo>
                  <a:pt x="0" y="4091940"/>
                </a:lnTo>
              </a:path>
            </a:pathLst>
          </a:custGeom>
          <a:ln w="12700">
            <a:solidFill>
              <a:srgbClr val="000000"/>
            </a:solidFill>
          </a:ln>
        </p:spPr>
        <p:txBody>
          <a:bodyPr wrap="square" lIns="0" tIns="0" rIns="0" bIns="0" rtlCol="0"/>
          <a:lstStyle/>
          <a:p>
            <a:endParaRPr/>
          </a:p>
        </p:txBody>
      </p:sp>
      <p:graphicFrame>
        <p:nvGraphicFramePr>
          <p:cNvPr id="7" name="object 7"/>
          <p:cNvGraphicFramePr>
            <a:graphicFrameLocks noGrp="1"/>
          </p:cNvGraphicFramePr>
          <p:nvPr/>
        </p:nvGraphicFramePr>
        <p:xfrm>
          <a:off x="5098922" y="1159763"/>
          <a:ext cx="4538979" cy="4079233"/>
        </p:xfrm>
        <a:graphic>
          <a:graphicData uri="http://schemas.openxmlformats.org/drawingml/2006/table">
            <a:tbl>
              <a:tblPr firstRow="1" bandRow="1">
                <a:tableStyleId>{2D5ABB26-0587-4C30-8999-92F81FD0307C}</a:tableStyleId>
              </a:tblPr>
              <a:tblGrid>
                <a:gridCol w="2737485">
                  <a:extLst>
                    <a:ext uri="{9D8B030D-6E8A-4147-A177-3AD203B41FA5}">
                      <a16:colId xmlns:a16="http://schemas.microsoft.com/office/drawing/2014/main" val="20000"/>
                    </a:ext>
                  </a:extLst>
                </a:gridCol>
                <a:gridCol w="1801494">
                  <a:extLst>
                    <a:ext uri="{9D8B030D-6E8A-4147-A177-3AD203B41FA5}">
                      <a16:colId xmlns:a16="http://schemas.microsoft.com/office/drawing/2014/main" val="20001"/>
                    </a:ext>
                  </a:extLst>
                </a:gridCol>
              </a:tblGrid>
              <a:tr h="370839">
                <a:tc>
                  <a:txBody>
                    <a:bodyPr/>
                    <a:lstStyle/>
                    <a:p>
                      <a:pPr>
                        <a:lnSpc>
                          <a:spcPct val="100000"/>
                        </a:lnSpc>
                      </a:pPr>
                      <a:endParaRPr sz="1900">
                        <a:latin typeface="Times New Roman"/>
                        <a:cs typeface="Times New Roman"/>
                      </a:endParaRPr>
                    </a:p>
                  </a:txBody>
                  <a:tcPr marL="0" marR="0" marT="0" marB="0">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marL="92710">
                        <a:lnSpc>
                          <a:spcPct val="100000"/>
                        </a:lnSpc>
                        <a:spcBef>
                          <a:spcPts val="244"/>
                        </a:spcBef>
                      </a:pPr>
                      <a:r>
                        <a:rPr sz="1800" b="1" dirty="0">
                          <a:latin typeface="Calibri"/>
                          <a:cs typeface="Calibri"/>
                        </a:rPr>
                        <a:t>B</a:t>
                      </a:r>
                      <a:r>
                        <a:rPr sz="1800" b="1" spc="-40" dirty="0">
                          <a:latin typeface="Calibri"/>
                          <a:cs typeface="Calibri"/>
                        </a:rPr>
                        <a:t> </a:t>
                      </a:r>
                      <a:r>
                        <a:rPr sz="1800" b="1" spc="-15" dirty="0">
                          <a:latin typeface="Calibri"/>
                          <a:cs typeface="Calibri"/>
                        </a:rPr>
                        <a:t>Ltd</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extLst>
                  <a:ext uri="{0D108BD9-81ED-4DB2-BD59-A6C34878D82A}">
                    <a16:rowId xmlns:a16="http://schemas.microsoft.com/office/drawing/2014/main" val="10000"/>
                  </a:ext>
                </a:extLst>
              </a:tr>
              <a:tr h="370840">
                <a:tc>
                  <a:txBody>
                    <a:bodyPr/>
                    <a:lstStyle/>
                    <a:p>
                      <a:pPr marL="92710">
                        <a:lnSpc>
                          <a:spcPct val="100000"/>
                        </a:lnSpc>
                        <a:spcBef>
                          <a:spcPts val="245"/>
                        </a:spcBef>
                      </a:pPr>
                      <a:r>
                        <a:rPr sz="1800" spc="-10" dirty="0">
                          <a:latin typeface="Calibri"/>
                          <a:cs typeface="Calibri"/>
                        </a:rPr>
                        <a:t>Cost</a:t>
                      </a:r>
                      <a:endParaRPr sz="1800">
                        <a:latin typeface="Calibri"/>
                        <a:cs typeface="Calibri"/>
                      </a:endParaRPr>
                    </a:p>
                  </a:txBody>
                  <a:tcPr marL="0" marR="0" marT="31115" marB="0">
                    <a:lnR w="12700">
                      <a:solidFill>
                        <a:srgbClr val="000000"/>
                      </a:solidFill>
                      <a:prstDash val="solid"/>
                    </a:lnR>
                    <a:lnT w="28575">
                      <a:solidFill>
                        <a:srgbClr val="000000"/>
                      </a:solidFill>
                      <a:prstDash val="solid"/>
                    </a:lnT>
                    <a:lnB w="12700">
                      <a:solidFill>
                        <a:srgbClr val="000000"/>
                      </a:solidFill>
                      <a:prstDash val="solid"/>
                    </a:lnB>
                    <a:solidFill>
                      <a:srgbClr val="CCCCCC"/>
                    </a:solidFill>
                  </a:tcPr>
                </a:tc>
                <a:tc>
                  <a:txBody>
                    <a:bodyPr/>
                    <a:lstStyle/>
                    <a:p>
                      <a:pPr marL="92710">
                        <a:lnSpc>
                          <a:spcPct val="100000"/>
                        </a:lnSpc>
                        <a:spcBef>
                          <a:spcPts val="245"/>
                        </a:spcBef>
                      </a:pPr>
                      <a:r>
                        <a:rPr sz="1800" dirty="0">
                          <a:latin typeface="Calibri"/>
                          <a:cs typeface="Calibri"/>
                        </a:rPr>
                        <a:t>1,000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solidFill>
                      <a:srgbClr val="CCCCCC"/>
                    </a:solidFill>
                  </a:tcPr>
                </a:tc>
                <a:extLst>
                  <a:ext uri="{0D108BD9-81ED-4DB2-BD59-A6C34878D82A}">
                    <a16:rowId xmlns:a16="http://schemas.microsoft.com/office/drawing/2014/main" val="10001"/>
                  </a:ext>
                </a:extLst>
              </a:tr>
              <a:tr h="370839">
                <a:tc>
                  <a:txBody>
                    <a:bodyPr/>
                    <a:lstStyle/>
                    <a:p>
                      <a:pPr marL="92710">
                        <a:lnSpc>
                          <a:spcPct val="100000"/>
                        </a:lnSpc>
                        <a:spcBef>
                          <a:spcPts val="245"/>
                        </a:spcBef>
                      </a:pPr>
                      <a:r>
                        <a:rPr sz="1800" spc="-10" dirty="0">
                          <a:latin typeface="Calibri"/>
                          <a:cs typeface="Calibri"/>
                        </a:rPr>
                        <a:t>Profit</a:t>
                      </a:r>
                      <a:endParaRPr sz="1800">
                        <a:latin typeface="Calibri"/>
                        <a:cs typeface="Calibri"/>
                      </a:endParaRPr>
                    </a:p>
                  </a:txBody>
                  <a:tcPr marL="0" marR="0" marT="31115"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245"/>
                        </a:spcBef>
                      </a:pPr>
                      <a:r>
                        <a:rPr sz="1800" dirty="0">
                          <a:latin typeface="Calibri"/>
                          <a:cs typeface="Calibri"/>
                        </a:rPr>
                        <a:t>1,000</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70839">
                <a:tc>
                  <a:txBody>
                    <a:bodyPr/>
                    <a:lstStyle/>
                    <a:p>
                      <a:pPr marL="92710">
                        <a:lnSpc>
                          <a:spcPct val="100000"/>
                        </a:lnSpc>
                        <a:spcBef>
                          <a:spcPts val="250"/>
                        </a:spcBef>
                      </a:pPr>
                      <a:r>
                        <a:rPr sz="1800" spc="-40" dirty="0">
                          <a:latin typeface="Calibri"/>
                          <a:cs typeface="Calibri"/>
                        </a:rPr>
                        <a:t>Total</a:t>
                      </a:r>
                      <a:r>
                        <a:rPr sz="1800" spc="-20" dirty="0">
                          <a:latin typeface="Calibri"/>
                          <a:cs typeface="Calibri"/>
                        </a:rPr>
                        <a:t> </a:t>
                      </a:r>
                      <a:r>
                        <a:rPr sz="1800" spc="-35" dirty="0">
                          <a:latin typeface="Calibri"/>
                          <a:cs typeface="Calibri"/>
                        </a:rPr>
                        <a:t>Taxable</a:t>
                      </a:r>
                      <a:r>
                        <a:rPr sz="1800" spc="5" dirty="0">
                          <a:latin typeface="Calibri"/>
                          <a:cs typeface="Calibri"/>
                        </a:rPr>
                        <a:t> </a:t>
                      </a:r>
                      <a:r>
                        <a:rPr sz="1800" spc="-25" dirty="0">
                          <a:latin typeface="Calibri"/>
                          <a:cs typeface="Calibri"/>
                        </a:rPr>
                        <a:t>Value</a:t>
                      </a:r>
                      <a:endParaRPr sz="1800">
                        <a:latin typeface="Calibri"/>
                        <a:cs typeface="Calibri"/>
                      </a:endParaRPr>
                    </a:p>
                  </a:txBody>
                  <a:tcPr marL="0" marR="0" marT="31750" marB="0">
                    <a:lnR w="12700">
                      <a:solidFill>
                        <a:srgbClr val="000000"/>
                      </a:solidFill>
                      <a:prstDash val="solid"/>
                    </a:lnR>
                    <a:lnT w="12700">
                      <a:solidFill>
                        <a:srgbClr val="000000"/>
                      </a:solidFill>
                      <a:prstDash val="solid"/>
                    </a:lnT>
                    <a:lnB w="12700">
                      <a:solidFill>
                        <a:srgbClr val="000000"/>
                      </a:solidFill>
                      <a:prstDash val="solid"/>
                    </a:lnB>
                    <a:solidFill>
                      <a:srgbClr val="CCCCCC"/>
                    </a:solidFill>
                  </a:tcPr>
                </a:tc>
                <a:tc>
                  <a:txBody>
                    <a:bodyPr/>
                    <a:lstStyle/>
                    <a:p>
                      <a:pPr marL="92710">
                        <a:lnSpc>
                          <a:spcPct val="100000"/>
                        </a:lnSpc>
                        <a:spcBef>
                          <a:spcPts val="250"/>
                        </a:spcBef>
                      </a:pPr>
                      <a:r>
                        <a:rPr sz="1800" dirty="0">
                          <a:latin typeface="Calibri"/>
                          <a:cs typeface="Calibri"/>
                        </a:rPr>
                        <a:t>2,000</a:t>
                      </a:r>
                      <a:endParaRPr sz="1800">
                        <a:latin typeface="Calibri"/>
                        <a:cs typeface="Calibri"/>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CCCCC"/>
                    </a:solidFill>
                  </a:tcPr>
                </a:tc>
                <a:extLst>
                  <a:ext uri="{0D108BD9-81ED-4DB2-BD59-A6C34878D82A}">
                    <a16:rowId xmlns:a16="http://schemas.microsoft.com/office/drawing/2014/main" val="10003"/>
                  </a:ext>
                </a:extLst>
              </a:tr>
              <a:tr h="370839">
                <a:tc>
                  <a:txBody>
                    <a:bodyPr/>
                    <a:lstStyle/>
                    <a:p>
                      <a:pPr marL="92710">
                        <a:lnSpc>
                          <a:spcPct val="100000"/>
                        </a:lnSpc>
                        <a:spcBef>
                          <a:spcPts val="250"/>
                        </a:spcBef>
                      </a:pPr>
                      <a:r>
                        <a:rPr sz="1800" spc="-20" dirty="0">
                          <a:latin typeface="Calibri"/>
                          <a:cs typeface="Calibri"/>
                        </a:rPr>
                        <a:t>GST</a:t>
                      </a:r>
                      <a:r>
                        <a:rPr sz="1800" spc="-10" dirty="0">
                          <a:latin typeface="Calibri"/>
                          <a:cs typeface="Calibri"/>
                        </a:rPr>
                        <a:t> </a:t>
                      </a:r>
                      <a:r>
                        <a:rPr sz="1800" spc="-5" dirty="0">
                          <a:latin typeface="Calibri"/>
                          <a:cs typeface="Calibri"/>
                        </a:rPr>
                        <a:t>@18%</a:t>
                      </a:r>
                      <a:endParaRPr sz="1800">
                        <a:latin typeface="Calibri"/>
                        <a:cs typeface="Calibri"/>
                      </a:endParaRPr>
                    </a:p>
                  </a:txBody>
                  <a:tcPr marL="0" marR="0" marT="31750"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250"/>
                        </a:spcBef>
                      </a:pPr>
                      <a:r>
                        <a:rPr sz="1800" dirty="0">
                          <a:latin typeface="Calibri"/>
                          <a:cs typeface="Calibri"/>
                        </a:rPr>
                        <a:t>360</a:t>
                      </a:r>
                      <a:endParaRPr sz="1800">
                        <a:latin typeface="Calibri"/>
                        <a:cs typeface="Calibri"/>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370839">
                <a:tc>
                  <a:txBody>
                    <a:bodyPr/>
                    <a:lstStyle/>
                    <a:p>
                      <a:pPr marL="92710">
                        <a:lnSpc>
                          <a:spcPct val="100000"/>
                        </a:lnSpc>
                        <a:spcBef>
                          <a:spcPts val="250"/>
                        </a:spcBef>
                      </a:pPr>
                      <a:r>
                        <a:rPr sz="1800" spc="-40" dirty="0">
                          <a:latin typeface="Calibri"/>
                          <a:cs typeface="Calibri"/>
                        </a:rPr>
                        <a:t>Total</a:t>
                      </a:r>
                      <a:r>
                        <a:rPr sz="1800" spc="-35" dirty="0">
                          <a:latin typeface="Calibri"/>
                          <a:cs typeface="Calibri"/>
                        </a:rPr>
                        <a:t> </a:t>
                      </a:r>
                      <a:r>
                        <a:rPr sz="1800" spc="-10" dirty="0">
                          <a:latin typeface="Calibri"/>
                          <a:cs typeface="Calibri"/>
                        </a:rPr>
                        <a:t>Invoice</a:t>
                      </a:r>
                      <a:endParaRPr sz="1800">
                        <a:latin typeface="Calibri"/>
                        <a:cs typeface="Calibri"/>
                      </a:endParaRPr>
                    </a:p>
                  </a:txBody>
                  <a:tcPr marL="0" marR="0" marT="31750" marB="0">
                    <a:lnR w="12700">
                      <a:solidFill>
                        <a:srgbClr val="000000"/>
                      </a:solidFill>
                      <a:prstDash val="solid"/>
                    </a:lnR>
                    <a:lnT w="12700">
                      <a:solidFill>
                        <a:srgbClr val="000000"/>
                      </a:solidFill>
                      <a:prstDash val="solid"/>
                    </a:lnT>
                    <a:lnB w="12700">
                      <a:solidFill>
                        <a:srgbClr val="000000"/>
                      </a:solidFill>
                      <a:prstDash val="solid"/>
                    </a:lnB>
                    <a:solidFill>
                      <a:srgbClr val="CCCCCC"/>
                    </a:solidFill>
                  </a:tcPr>
                </a:tc>
                <a:tc>
                  <a:txBody>
                    <a:bodyPr/>
                    <a:lstStyle/>
                    <a:p>
                      <a:pPr marL="92710">
                        <a:lnSpc>
                          <a:spcPct val="100000"/>
                        </a:lnSpc>
                        <a:spcBef>
                          <a:spcPts val="250"/>
                        </a:spcBef>
                      </a:pPr>
                      <a:r>
                        <a:rPr sz="1800" dirty="0">
                          <a:latin typeface="Calibri"/>
                          <a:cs typeface="Calibri"/>
                        </a:rPr>
                        <a:t>2,360</a:t>
                      </a:r>
                      <a:endParaRPr sz="1800">
                        <a:latin typeface="Calibri"/>
                        <a:cs typeface="Calibri"/>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CCCCC"/>
                    </a:solidFill>
                  </a:tcPr>
                </a:tc>
                <a:extLst>
                  <a:ext uri="{0D108BD9-81ED-4DB2-BD59-A6C34878D82A}">
                    <a16:rowId xmlns:a16="http://schemas.microsoft.com/office/drawing/2014/main" val="10005"/>
                  </a:ext>
                </a:extLst>
              </a:tr>
              <a:tr h="370840">
                <a:tc>
                  <a:txBody>
                    <a:bodyPr/>
                    <a:lstStyle/>
                    <a:p>
                      <a:pPr>
                        <a:lnSpc>
                          <a:spcPct val="100000"/>
                        </a:lnSpc>
                      </a:pPr>
                      <a:endParaRPr sz="1900">
                        <a:latin typeface="Times New Roman"/>
                        <a:cs typeface="Times New Roman"/>
                      </a:endParaRPr>
                    </a:p>
                  </a:txBody>
                  <a:tcPr marL="0" marR="0" marT="0"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r h="370839">
                <a:tc>
                  <a:txBody>
                    <a:bodyPr/>
                    <a:lstStyle/>
                    <a:p>
                      <a:pPr>
                        <a:lnSpc>
                          <a:spcPct val="100000"/>
                        </a:lnSpc>
                      </a:pPr>
                      <a:endParaRPr sz="1900">
                        <a:latin typeface="Times New Roman"/>
                        <a:cs typeface="Times New Roman"/>
                      </a:endParaRPr>
                    </a:p>
                  </a:txBody>
                  <a:tcPr marL="0" marR="0" marT="0" marB="0">
                    <a:lnR w="12700">
                      <a:solidFill>
                        <a:srgbClr val="000000"/>
                      </a:solidFill>
                      <a:prstDash val="solid"/>
                    </a:lnR>
                    <a:lnT w="12700">
                      <a:solidFill>
                        <a:srgbClr val="000000"/>
                      </a:solidFill>
                      <a:prstDash val="solid"/>
                    </a:lnT>
                    <a:lnB w="12700">
                      <a:solidFill>
                        <a:srgbClr val="000000"/>
                      </a:solidFill>
                      <a:prstDash val="solid"/>
                    </a:lnB>
                    <a:solidFill>
                      <a:srgbClr val="CCCCCC"/>
                    </a:solidFill>
                  </a:tcPr>
                </a:tc>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CCCCC"/>
                    </a:solidFill>
                  </a:tcPr>
                </a:tc>
                <a:extLst>
                  <a:ext uri="{0D108BD9-81ED-4DB2-BD59-A6C34878D82A}">
                    <a16:rowId xmlns:a16="http://schemas.microsoft.com/office/drawing/2014/main" val="10007"/>
                  </a:ext>
                </a:extLst>
              </a:tr>
              <a:tr h="370840">
                <a:tc>
                  <a:txBody>
                    <a:bodyPr/>
                    <a:lstStyle/>
                    <a:p>
                      <a:pPr marL="92710">
                        <a:lnSpc>
                          <a:spcPct val="100000"/>
                        </a:lnSpc>
                        <a:spcBef>
                          <a:spcPts val="254"/>
                        </a:spcBef>
                      </a:pPr>
                      <a:r>
                        <a:rPr sz="1800" spc="-55" dirty="0">
                          <a:latin typeface="Calibri"/>
                          <a:cs typeface="Calibri"/>
                        </a:rPr>
                        <a:t>Tax</a:t>
                      </a:r>
                      <a:r>
                        <a:rPr sz="1800" spc="-45" dirty="0">
                          <a:latin typeface="Calibri"/>
                          <a:cs typeface="Calibri"/>
                        </a:rPr>
                        <a:t> </a:t>
                      </a:r>
                      <a:r>
                        <a:rPr sz="1800" spc="-20" dirty="0">
                          <a:latin typeface="Calibri"/>
                          <a:cs typeface="Calibri"/>
                        </a:rPr>
                        <a:t>Payable</a:t>
                      </a:r>
                      <a:endParaRPr sz="1800">
                        <a:latin typeface="Calibri"/>
                        <a:cs typeface="Calibri"/>
                      </a:endParaRPr>
                    </a:p>
                  </a:txBody>
                  <a:tcPr marL="0" marR="0" marT="32384"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254"/>
                        </a:spcBef>
                      </a:pPr>
                      <a:r>
                        <a:rPr sz="1800" dirty="0">
                          <a:latin typeface="Calibri"/>
                          <a:cs typeface="Calibri"/>
                        </a:rPr>
                        <a:t>360</a:t>
                      </a:r>
                      <a:endParaRPr sz="1800">
                        <a:latin typeface="Calibri"/>
                        <a:cs typeface="Calibri"/>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8"/>
                  </a:ext>
                </a:extLst>
              </a:tr>
              <a:tr h="370839">
                <a:tc>
                  <a:txBody>
                    <a:bodyPr/>
                    <a:lstStyle/>
                    <a:p>
                      <a:pPr marL="92710">
                        <a:lnSpc>
                          <a:spcPct val="100000"/>
                        </a:lnSpc>
                        <a:spcBef>
                          <a:spcPts val="254"/>
                        </a:spcBef>
                      </a:pPr>
                      <a:r>
                        <a:rPr sz="1800" spc="-5" dirty="0">
                          <a:latin typeface="Calibri"/>
                          <a:cs typeface="Calibri"/>
                        </a:rPr>
                        <a:t>Less:</a:t>
                      </a:r>
                      <a:r>
                        <a:rPr sz="1800" spc="5" dirty="0">
                          <a:latin typeface="Calibri"/>
                          <a:cs typeface="Calibri"/>
                        </a:rPr>
                        <a:t> </a:t>
                      </a:r>
                      <a:r>
                        <a:rPr sz="1800" spc="-10" dirty="0">
                          <a:latin typeface="Calibri"/>
                          <a:cs typeface="Calibri"/>
                        </a:rPr>
                        <a:t>Input</a:t>
                      </a:r>
                      <a:r>
                        <a:rPr sz="1800" spc="40" dirty="0">
                          <a:latin typeface="Calibri"/>
                          <a:cs typeface="Calibri"/>
                        </a:rPr>
                        <a:t> </a:t>
                      </a:r>
                      <a:r>
                        <a:rPr sz="1800" spc="-20" dirty="0">
                          <a:latin typeface="Calibri"/>
                          <a:cs typeface="Calibri"/>
                        </a:rPr>
                        <a:t>tax</a:t>
                      </a:r>
                      <a:r>
                        <a:rPr sz="1800" dirty="0">
                          <a:latin typeface="Calibri"/>
                          <a:cs typeface="Calibri"/>
                        </a:rPr>
                        <a:t> </a:t>
                      </a:r>
                      <a:r>
                        <a:rPr sz="1800" spc="-15" dirty="0">
                          <a:latin typeface="Calibri"/>
                          <a:cs typeface="Calibri"/>
                        </a:rPr>
                        <a:t>Credit</a:t>
                      </a:r>
                      <a:endParaRPr sz="1800">
                        <a:latin typeface="Calibri"/>
                        <a:cs typeface="Calibri"/>
                      </a:endParaRPr>
                    </a:p>
                  </a:txBody>
                  <a:tcPr marL="0" marR="0" marT="32384" marB="0">
                    <a:lnR w="12700">
                      <a:solidFill>
                        <a:srgbClr val="000000"/>
                      </a:solidFill>
                      <a:prstDash val="solid"/>
                    </a:lnR>
                    <a:lnT w="12700">
                      <a:solidFill>
                        <a:srgbClr val="000000"/>
                      </a:solidFill>
                      <a:prstDash val="solid"/>
                    </a:lnT>
                    <a:lnB w="12700">
                      <a:solidFill>
                        <a:srgbClr val="000000"/>
                      </a:solidFill>
                      <a:prstDash val="solid"/>
                    </a:lnB>
                    <a:solidFill>
                      <a:srgbClr val="CCCCCC"/>
                    </a:solidFill>
                  </a:tcPr>
                </a:tc>
                <a:tc>
                  <a:txBody>
                    <a:bodyPr/>
                    <a:lstStyle/>
                    <a:p>
                      <a:pPr marL="92710">
                        <a:lnSpc>
                          <a:spcPct val="100000"/>
                        </a:lnSpc>
                        <a:spcBef>
                          <a:spcPts val="254"/>
                        </a:spcBef>
                      </a:pPr>
                      <a:r>
                        <a:rPr sz="1800" dirty="0">
                          <a:latin typeface="Calibri"/>
                          <a:cs typeface="Calibri"/>
                        </a:rPr>
                        <a:t>120</a:t>
                      </a:r>
                      <a:endParaRPr sz="1800">
                        <a:latin typeface="Calibri"/>
                        <a:cs typeface="Calibri"/>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CCCCC"/>
                    </a:solidFill>
                  </a:tcPr>
                </a:tc>
                <a:extLst>
                  <a:ext uri="{0D108BD9-81ED-4DB2-BD59-A6C34878D82A}">
                    <a16:rowId xmlns:a16="http://schemas.microsoft.com/office/drawing/2014/main" val="10009"/>
                  </a:ext>
                </a:extLst>
              </a:tr>
              <a:tr h="370840">
                <a:tc>
                  <a:txBody>
                    <a:bodyPr/>
                    <a:lstStyle/>
                    <a:p>
                      <a:pPr marL="92710">
                        <a:lnSpc>
                          <a:spcPct val="100000"/>
                        </a:lnSpc>
                        <a:spcBef>
                          <a:spcPts val="254"/>
                        </a:spcBef>
                      </a:pPr>
                      <a:r>
                        <a:rPr sz="1800" spc="-10" dirty="0">
                          <a:latin typeface="Calibri"/>
                          <a:cs typeface="Calibri"/>
                        </a:rPr>
                        <a:t>Net</a:t>
                      </a:r>
                      <a:r>
                        <a:rPr sz="1800" spc="10" dirty="0">
                          <a:latin typeface="Calibri"/>
                          <a:cs typeface="Calibri"/>
                        </a:rPr>
                        <a:t> </a:t>
                      </a:r>
                      <a:r>
                        <a:rPr sz="1800" spc="-20" dirty="0">
                          <a:latin typeface="Calibri"/>
                          <a:cs typeface="Calibri"/>
                        </a:rPr>
                        <a:t>Payment</a:t>
                      </a:r>
                      <a:r>
                        <a:rPr sz="1800" spc="35" dirty="0">
                          <a:latin typeface="Calibri"/>
                          <a:cs typeface="Calibri"/>
                        </a:rPr>
                        <a:t> </a:t>
                      </a:r>
                      <a:r>
                        <a:rPr sz="1800" spc="-5" dirty="0">
                          <a:latin typeface="Calibri"/>
                          <a:cs typeface="Calibri"/>
                        </a:rPr>
                        <a:t>(in</a:t>
                      </a:r>
                      <a:r>
                        <a:rPr sz="1800" spc="5" dirty="0">
                          <a:latin typeface="Calibri"/>
                          <a:cs typeface="Calibri"/>
                        </a:rPr>
                        <a:t> </a:t>
                      </a:r>
                      <a:r>
                        <a:rPr sz="1800" spc="-10" dirty="0">
                          <a:latin typeface="Calibri"/>
                          <a:cs typeface="Calibri"/>
                        </a:rPr>
                        <a:t>Cash)</a:t>
                      </a:r>
                      <a:endParaRPr sz="1800">
                        <a:latin typeface="Calibri"/>
                        <a:cs typeface="Calibri"/>
                      </a:endParaRPr>
                    </a:p>
                  </a:txBody>
                  <a:tcPr marL="0" marR="0" marT="32384"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254"/>
                        </a:spcBef>
                      </a:pPr>
                      <a:r>
                        <a:rPr sz="1800" dirty="0">
                          <a:latin typeface="Calibri"/>
                          <a:cs typeface="Calibri"/>
                        </a:rPr>
                        <a:t>240</a:t>
                      </a:r>
                      <a:endParaRPr sz="1800">
                        <a:latin typeface="Calibri"/>
                        <a:cs typeface="Calibri"/>
                      </a:endParaRPr>
                    </a:p>
                  </a:txBody>
                  <a:tcPr marL="0" marR="0" marT="323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10"/>
                  </a:ext>
                </a:extLst>
              </a:tr>
            </a:tbl>
          </a:graphicData>
        </a:graphic>
      </p:graphicFrame>
      <p:sp>
        <p:nvSpPr>
          <p:cNvPr id="8" name="object 8"/>
          <p:cNvSpPr/>
          <p:nvPr/>
        </p:nvSpPr>
        <p:spPr>
          <a:xfrm>
            <a:off x="2937001" y="2025014"/>
            <a:ext cx="4915535" cy="2667000"/>
          </a:xfrm>
          <a:custGeom>
            <a:avLst/>
            <a:gdLst/>
            <a:ahLst/>
            <a:cxnLst/>
            <a:rect l="l" t="t" r="r" b="b"/>
            <a:pathLst>
              <a:path w="4915534" h="2667000">
                <a:moveTo>
                  <a:pt x="4864994" y="2646226"/>
                </a:moveTo>
                <a:lnTo>
                  <a:pt x="4810633" y="2647950"/>
                </a:lnTo>
                <a:lnTo>
                  <a:pt x="4805553" y="2648204"/>
                </a:lnTo>
                <a:lnTo>
                  <a:pt x="4801616" y="2652395"/>
                </a:lnTo>
                <a:lnTo>
                  <a:pt x="4801743" y="2657475"/>
                </a:lnTo>
                <a:lnTo>
                  <a:pt x="4801997" y="2662428"/>
                </a:lnTo>
                <a:lnTo>
                  <a:pt x="4806188" y="2666492"/>
                </a:lnTo>
                <a:lnTo>
                  <a:pt x="4811268" y="2666238"/>
                </a:lnTo>
                <a:lnTo>
                  <a:pt x="4915027" y="2662936"/>
                </a:lnTo>
                <a:lnTo>
                  <a:pt x="4914718" y="2662428"/>
                </a:lnTo>
                <a:lnTo>
                  <a:pt x="4894961" y="2662428"/>
                </a:lnTo>
                <a:lnTo>
                  <a:pt x="4864994" y="2646226"/>
                </a:lnTo>
                <a:close/>
              </a:path>
              <a:path w="4915534" h="2667000">
                <a:moveTo>
                  <a:pt x="4883152" y="2645651"/>
                </a:moveTo>
                <a:lnTo>
                  <a:pt x="4864994" y="2646226"/>
                </a:lnTo>
                <a:lnTo>
                  <a:pt x="4894961" y="2662428"/>
                </a:lnTo>
                <a:lnTo>
                  <a:pt x="4896824" y="2658999"/>
                </a:lnTo>
                <a:lnTo>
                  <a:pt x="4891278" y="2658999"/>
                </a:lnTo>
                <a:lnTo>
                  <a:pt x="4883152" y="2645651"/>
                </a:lnTo>
                <a:close/>
              </a:path>
              <a:path w="4915534" h="2667000">
                <a:moveTo>
                  <a:pt x="4852797" y="2568448"/>
                </a:moveTo>
                <a:lnTo>
                  <a:pt x="4844161" y="2573782"/>
                </a:lnTo>
                <a:lnTo>
                  <a:pt x="4842764" y="2579370"/>
                </a:lnTo>
                <a:lnTo>
                  <a:pt x="4845431" y="2583688"/>
                </a:lnTo>
                <a:lnTo>
                  <a:pt x="4873648" y="2630040"/>
                </a:lnTo>
                <a:lnTo>
                  <a:pt x="4903724" y="2646299"/>
                </a:lnTo>
                <a:lnTo>
                  <a:pt x="4894961" y="2662428"/>
                </a:lnTo>
                <a:lnTo>
                  <a:pt x="4914718" y="2662428"/>
                </a:lnTo>
                <a:lnTo>
                  <a:pt x="4861052" y="2574163"/>
                </a:lnTo>
                <a:lnTo>
                  <a:pt x="4858384" y="2569845"/>
                </a:lnTo>
                <a:lnTo>
                  <a:pt x="4852797" y="2568448"/>
                </a:lnTo>
                <a:close/>
              </a:path>
              <a:path w="4915534" h="2667000">
                <a:moveTo>
                  <a:pt x="4898771" y="2645156"/>
                </a:moveTo>
                <a:lnTo>
                  <a:pt x="4883152" y="2645651"/>
                </a:lnTo>
                <a:lnTo>
                  <a:pt x="4891278" y="2658999"/>
                </a:lnTo>
                <a:lnTo>
                  <a:pt x="4898771" y="2645156"/>
                </a:lnTo>
                <a:close/>
              </a:path>
              <a:path w="4915534" h="2667000">
                <a:moveTo>
                  <a:pt x="4901609" y="2645156"/>
                </a:moveTo>
                <a:lnTo>
                  <a:pt x="4898771" y="2645156"/>
                </a:lnTo>
                <a:lnTo>
                  <a:pt x="4891278" y="2658999"/>
                </a:lnTo>
                <a:lnTo>
                  <a:pt x="4896824" y="2658999"/>
                </a:lnTo>
                <a:lnTo>
                  <a:pt x="4903724" y="2646299"/>
                </a:lnTo>
                <a:lnTo>
                  <a:pt x="4901609" y="2645156"/>
                </a:lnTo>
                <a:close/>
              </a:path>
              <a:path w="4915534" h="2667000">
                <a:moveTo>
                  <a:pt x="8636" y="0"/>
                </a:moveTo>
                <a:lnTo>
                  <a:pt x="0" y="16001"/>
                </a:lnTo>
                <a:lnTo>
                  <a:pt x="4864994" y="2646226"/>
                </a:lnTo>
                <a:lnTo>
                  <a:pt x="4883152" y="2645651"/>
                </a:lnTo>
                <a:lnTo>
                  <a:pt x="4873648" y="2630040"/>
                </a:lnTo>
                <a:lnTo>
                  <a:pt x="8636" y="0"/>
                </a:lnTo>
                <a:close/>
              </a:path>
              <a:path w="4915534" h="2667000">
                <a:moveTo>
                  <a:pt x="4873648" y="2630040"/>
                </a:moveTo>
                <a:lnTo>
                  <a:pt x="4883152" y="2645651"/>
                </a:lnTo>
                <a:lnTo>
                  <a:pt x="4898771" y="2645156"/>
                </a:lnTo>
                <a:lnTo>
                  <a:pt x="4901609" y="2645156"/>
                </a:lnTo>
                <a:lnTo>
                  <a:pt x="4873648" y="2630040"/>
                </a:lnTo>
                <a:close/>
              </a:path>
            </a:pathLst>
          </a:custGeom>
          <a:solidFill>
            <a:srgbClr val="000000"/>
          </a:solidFill>
        </p:spPr>
        <p:txBody>
          <a:bodyPr wrap="square" lIns="0" tIns="0" rIns="0" bIns="0" rtlCol="0"/>
          <a:lstStyle/>
          <a:p>
            <a:endParaRPr/>
          </a:p>
        </p:txBody>
      </p:sp>
      <p:grpSp>
        <p:nvGrpSpPr>
          <p:cNvPr id="9" name="object 9"/>
          <p:cNvGrpSpPr/>
          <p:nvPr/>
        </p:nvGrpSpPr>
        <p:grpSpPr>
          <a:xfrm>
            <a:off x="9963911" y="3550920"/>
            <a:ext cx="1972310" cy="1332230"/>
            <a:chOff x="9963911" y="3550920"/>
            <a:chExt cx="1972310" cy="1332230"/>
          </a:xfrm>
        </p:grpSpPr>
        <p:sp>
          <p:nvSpPr>
            <p:cNvPr id="10" name="object 10"/>
            <p:cNvSpPr/>
            <p:nvPr/>
          </p:nvSpPr>
          <p:spPr>
            <a:xfrm>
              <a:off x="9970007" y="3557016"/>
              <a:ext cx="1960245" cy="1320165"/>
            </a:xfrm>
            <a:custGeom>
              <a:avLst/>
              <a:gdLst/>
              <a:ahLst/>
              <a:cxnLst/>
              <a:rect l="l" t="t" r="r" b="b"/>
              <a:pathLst>
                <a:path w="1960245" h="1320164">
                  <a:moveTo>
                    <a:pt x="979932" y="0"/>
                  </a:moveTo>
                  <a:lnTo>
                    <a:pt x="922358" y="1120"/>
                  </a:lnTo>
                  <a:lnTo>
                    <a:pt x="865661" y="4438"/>
                  </a:lnTo>
                  <a:lnTo>
                    <a:pt x="809930" y="9894"/>
                  </a:lnTo>
                  <a:lnTo>
                    <a:pt x="755259" y="17426"/>
                  </a:lnTo>
                  <a:lnTo>
                    <a:pt x="701739" y="26970"/>
                  </a:lnTo>
                  <a:lnTo>
                    <a:pt x="649462" y="38466"/>
                  </a:lnTo>
                  <a:lnTo>
                    <a:pt x="598521" y="51851"/>
                  </a:lnTo>
                  <a:lnTo>
                    <a:pt x="549006" y="67064"/>
                  </a:lnTo>
                  <a:lnTo>
                    <a:pt x="501010" y="84043"/>
                  </a:lnTo>
                  <a:lnTo>
                    <a:pt x="454626" y="102726"/>
                  </a:lnTo>
                  <a:lnTo>
                    <a:pt x="409944" y="123052"/>
                  </a:lnTo>
                  <a:lnTo>
                    <a:pt x="367057" y="144957"/>
                  </a:lnTo>
                  <a:lnTo>
                    <a:pt x="326057" y="168381"/>
                  </a:lnTo>
                  <a:lnTo>
                    <a:pt x="287035" y="193262"/>
                  </a:lnTo>
                  <a:lnTo>
                    <a:pt x="250085" y="219537"/>
                  </a:lnTo>
                  <a:lnTo>
                    <a:pt x="215297" y="247145"/>
                  </a:lnTo>
                  <a:lnTo>
                    <a:pt x="182763" y="276024"/>
                  </a:lnTo>
                  <a:lnTo>
                    <a:pt x="152577" y="306113"/>
                  </a:lnTo>
                  <a:lnTo>
                    <a:pt x="124828" y="337348"/>
                  </a:lnTo>
                  <a:lnTo>
                    <a:pt x="99610" y="369669"/>
                  </a:lnTo>
                  <a:lnTo>
                    <a:pt x="77015" y="403014"/>
                  </a:lnTo>
                  <a:lnTo>
                    <a:pt x="57134" y="437321"/>
                  </a:lnTo>
                  <a:lnTo>
                    <a:pt x="40059" y="472527"/>
                  </a:lnTo>
                  <a:lnTo>
                    <a:pt x="25883" y="508571"/>
                  </a:lnTo>
                  <a:lnTo>
                    <a:pt x="14697" y="545392"/>
                  </a:lnTo>
                  <a:lnTo>
                    <a:pt x="6593" y="582926"/>
                  </a:lnTo>
                  <a:lnTo>
                    <a:pt x="1663" y="621114"/>
                  </a:lnTo>
                  <a:lnTo>
                    <a:pt x="0" y="659892"/>
                  </a:lnTo>
                  <a:lnTo>
                    <a:pt x="1663" y="698669"/>
                  </a:lnTo>
                  <a:lnTo>
                    <a:pt x="6593" y="736857"/>
                  </a:lnTo>
                  <a:lnTo>
                    <a:pt x="14697" y="774391"/>
                  </a:lnTo>
                  <a:lnTo>
                    <a:pt x="25883" y="811212"/>
                  </a:lnTo>
                  <a:lnTo>
                    <a:pt x="40059" y="847256"/>
                  </a:lnTo>
                  <a:lnTo>
                    <a:pt x="57134" y="882462"/>
                  </a:lnTo>
                  <a:lnTo>
                    <a:pt x="77015" y="916769"/>
                  </a:lnTo>
                  <a:lnTo>
                    <a:pt x="99610" y="950114"/>
                  </a:lnTo>
                  <a:lnTo>
                    <a:pt x="124828" y="982435"/>
                  </a:lnTo>
                  <a:lnTo>
                    <a:pt x="152577" y="1013670"/>
                  </a:lnTo>
                  <a:lnTo>
                    <a:pt x="182763" y="1043759"/>
                  </a:lnTo>
                  <a:lnTo>
                    <a:pt x="215297" y="1072638"/>
                  </a:lnTo>
                  <a:lnTo>
                    <a:pt x="250085" y="1100246"/>
                  </a:lnTo>
                  <a:lnTo>
                    <a:pt x="287035" y="1126521"/>
                  </a:lnTo>
                  <a:lnTo>
                    <a:pt x="326057" y="1151402"/>
                  </a:lnTo>
                  <a:lnTo>
                    <a:pt x="367057" y="1174826"/>
                  </a:lnTo>
                  <a:lnTo>
                    <a:pt x="409944" y="1196731"/>
                  </a:lnTo>
                  <a:lnTo>
                    <a:pt x="454626" y="1217057"/>
                  </a:lnTo>
                  <a:lnTo>
                    <a:pt x="501010" y="1235740"/>
                  </a:lnTo>
                  <a:lnTo>
                    <a:pt x="549006" y="1252719"/>
                  </a:lnTo>
                  <a:lnTo>
                    <a:pt x="598521" y="1267932"/>
                  </a:lnTo>
                  <a:lnTo>
                    <a:pt x="649462" y="1281317"/>
                  </a:lnTo>
                  <a:lnTo>
                    <a:pt x="701739" y="1292813"/>
                  </a:lnTo>
                  <a:lnTo>
                    <a:pt x="755259" y="1302357"/>
                  </a:lnTo>
                  <a:lnTo>
                    <a:pt x="809930" y="1309889"/>
                  </a:lnTo>
                  <a:lnTo>
                    <a:pt x="865661" y="1315345"/>
                  </a:lnTo>
                  <a:lnTo>
                    <a:pt x="922358" y="1318663"/>
                  </a:lnTo>
                  <a:lnTo>
                    <a:pt x="979932" y="1319784"/>
                  </a:lnTo>
                  <a:lnTo>
                    <a:pt x="1037505" y="1318663"/>
                  </a:lnTo>
                  <a:lnTo>
                    <a:pt x="1094202" y="1315345"/>
                  </a:lnTo>
                  <a:lnTo>
                    <a:pt x="1149933" y="1309889"/>
                  </a:lnTo>
                  <a:lnTo>
                    <a:pt x="1204604" y="1302357"/>
                  </a:lnTo>
                  <a:lnTo>
                    <a:pt x="1258124" y="1292813"/>
                  </a:lnTo>
                  <a:lnTo>
                    <a:pt x="1310401" y="1281317"/>
                  </a:lnTo>
                  <a:lnTo>
                    <a:pt x="1361342" y="1267932"/>
                  </a:lnTo>
                  <a:lnTo>
                    <a:pt x="1410857" y="1252719"/>
                  </a:lnTo>
                  <a:lnTo>
                    <a:pt x="1458853" y="1235740"/>
                  </a:lnTo>
                  <a:lnTo>
                    <a:pt x="1505237" y="1217057"/>
                  </a:lnTo>
                  <a:lnTo>
                    <a:pt x="1549919" y="1196731"/>
                  </a:lnTo>
                  <a:lnTo>
                    <a:pt x="1592806" y="1174826"/>
                  </a:lnTo>
                  <a:lnTo>
                    <a:pt x="1633806" y="1151402"/>
                  </a:lnTo>
                  <a:lnTo>
                    <a:pt x="1672828" y="1126521"/>
                  </a:lnTo>
                  <a:lnTo>
                    <a:pt x="1709778" y="1100246"/>
                  </a:lnTo>
                  <a:lnTo>
                    <a:pt x="1744566" y="1072638"/>
                  </a:lnTo>
                  <a:lnTo>
                    <a:pt x="1777100" y="1043759"/>
                  </a:lnTo>
                  <a:lnTo>
                    <a:pt x="1807286" y="1013670"/>
                  </a:lnTo>
                  <a:lnTo>
                    <a:pt x="1835035" y="982435"/>
                  </a:lnTo>
                  <a:lnTo>
                    <a:pt x="1860253" y="950114"/>
                  </a:lnTo>
                  <a:lnTo>
                    <a:pt x="1882848" y="916769"/>
                  </a:lnTo>
                  <a:lnTo>
                    <a:pt x="1902729" y="882462"/>
                  </a:lnTo>
                  <a:lnTo>
                    <a:pt x="1919804" y="847256"/>
                  </a:lnTo>
                  <a:lnTo>
                    <a:pt x="1933980" y="811212"/>
                  </a:lnTo>
                  <a:lnTo>
                    <a:pt x="1945166" y="774391"/>
                  </a:lnTo>
                  <a:lnTo>
                    <a:pt x="1953270" y="736857"/>
                  </a:lnTo>
                  <a:lnTo>
                    <a:pt x="1958200" y="698669"/>
                  </a:lnTo>
                  <a:lnTo>
                    <a:pt x="1959864" y="659892"/>
                  </a:lnTo>
                  <a:lnTo>
                    <a:pt x="1958200" y="621114"/>
                  </a:lnTo>
                  <a:lnTo>
                    <a:pt x="1953270" y="582926"/>
                  </a:lnTo>
                  <a:lnTo>
                    <a:pt x="1945166" y="545392"/>
                  </a:lnTo>
                  <a:lnTo>
                    <a:pt x="1933980" y="508571"/>
                  </a:lnTo>
                  <a:lnTo>
                    <a:pt x="1919804" y="472527"/>
                  </a:lnTo>
                  <a:lnTo>
                    <a:pt x="1902729" y="437321"/>
                  </a:lnTo>
                  <a:lnTo>
                    <a:pt x="1882848" y="403014"/>
                  </a:lnTo>
                  <a:lnTo>
                    <a:pt x="1860253" y="369669"/>
                  </a:lnTo>
                  <a:lnTo>
                    <a:pt x="1835035" y="337348"/>
                  </a:lnTo>
                  <a:lnTo>
                    <a:pt x="1807286" y="306113"/>
                  </a:lnTo>
                  <a:lnTo>
                    <a:pt x="1777100" y="276024"/>
                  </a:lnTo>
                  <a:lnTo>
                    <a:pt x="1744566" y="247145"/>
                  </a:lnTo>
                  <a:lnTo>
                    <a:pt x="1709778" y="219537"/>
                  </a:lnTo>
                  <a:lnTo>
                    <a:pt x="1672828" y="193262"/>
                  </a:lnTo>
                  <a:lnTo>
                    <a:pt x="1633806" y="168381"/>
                  </a:lnTo>
                  <a:lnTo>
                    <a:pt x="1592806" y="144957"/>
                  </a:lnTo>
                  <a:lnTo>
                    <a:pt x="1549919" y="123052"/>
                  </a:lnTo>
                  <a:lnTo>
                    <a:pt x="1505237" y="102726"/>
                  </a:lnTo>
                  <a:lnTo>
                    <a:pt x="1458853" y="84043"/>
                  </a:lnTo>
                  <a:lnTo>
                    <a:pt x="1410857" y="67064"/>
                  </a:lnTo>
                  <a:lnTo>
                    <a:pt x="1361342" y="51851"/>
                  </a:lnTo>
                  <a:lnTo>
                    <a:pt x="1310401" y="38466"/>
                  </a:lnTo>
                  <a:lnTo>
                    <a:pt x="1258124" y="26970"/>
                  </a:lnTo>
                  <a:lnTo>
                    <a:pt x="1204604" y="17426"/>
                  </a:lnTo>
                  <a:lnTo>
                    <a:pt x="1149933" y="9894"/>
                  </a:lnTo>
                  <a:lnTo>
                    <a:pt x="1094202" y="4438"/>
                  </a:lnTo>
                  <a:lnTo>
                    <a:pt x="1037505" y="1120"/>
                  </a:lnTo>
                  <a:lnTo>
                    <a:pt x="979932" y="0"/>
                  </a:lnTo>
                  <a:close/>
                </a:path>
              </a:pathLst>
            </a:custGeom>
            <a:solidFill>
              <a:srgbClr val="EC7C30"/>
            </a:solidFill>
          </p:spPr>
          <p:txBody>
            <a:bodyPr wrap="square" lIns="0" tIns="0" rIns="0" bIns="0" rtlCol="0"/>
            <a:lstStyle/>
            <a:p>
              <a:endParaRPr/>
            </a:p>
          </p:txBody>
        </p:sp>
        <p:sp>
          <p:nvSpPr>
            <p:cNvPr id="11" name="object 11"/>
            <p:cNvSpPr/>
            <p:nvPr/>
          </p:nvSpPr>
          <p:spPr>
            <a:xfrm>
              <a:off x="9970007" y="3557016"/>
              <a:ext cx="1960245" cy="1320165"/>
            </a:xfrm>
            <a:custGeom>
              <a:avLst/>
              <a:gdLst/>
              <a:ahLst/>
              <a:cxnLst/>
              <a:rect l="l" t="t" r="r" b="b"/>
              <a:pathLst>
                <a:path w="1960245" h="1320164">
                  <a:moveTo>
                    <a:pt x="0" y="659892"/>
                  </a:moveTo>
                  <a:lnTo>
                    <a:pt x="1663" y="621114"/>
                  </a:lnTo>
                  <a:lnTo>
                    <a:pt x="6593" y="582926"/>
                  </a:lnTo>
                  <a:lnTo>
                    <a:pt x="14697" y="545392"/>
                  </a:lnTo>
                  <a:lnTo>
                    <a:pt x="25883" y="508571"/>
                  </a:lnTo>
                  <a:lnTo>
                    <a:pt x="40059" y="472527"/>
                  </a:lnTo>
                  <a:lnTo>
                    <a:pt x="57134" y="437321"/>
                  </a:lnTo>
                  <a:lnTo>
                    <a:pt x="77015" y="403014"/>
                  </a:lnTo>
                  <a:lnTo>
                    <a:pt x="99610" y="369669"/>
                  </a:lnTo>
                  <a:lnTo>
                    <a:pt x="124828" y="337348"/>
                  </a:lnTo>
                  <a:lnTo>
                    <a:pt x="152577" y="306113"/>
                  </a:lnTo>
                  <a:lnTo>
                    <a:pt x="182763" y="276024"/>
                  </a:lnTo>
                  <a:lnTo>
                    <a:pt x="215297" y="247145"/>
                  </a:lnTo>
                  <a:lnTo>
                    <a:pt x="250085" y="219537"/>
                  </a:lnTo>
                  <a:lnTo>
                    <a:pt x="287035" y="193262"/>
                  </a:lnTo>
                  <a:lnTo>
                    <a:pt x="326057" y="168381"/>
                  </a:lnTo>
                  <a:lnTo>
                    <a:pt x="367057" y="144957"/>
                  </a:lnTo>
                  <a:lnTo>
                    <a:pt x="409944" y="123052"/>
                  </a:lnTo>
                  <a:lnTo>
                    <a:pt x="454626" y="102726"/>
                  </a:lnTo>
                  <a:lnTo>
                    <a:pt x="501010" y="84043"/>
                  </a:lnTo>
                  <a:lnTo>
                    <a:pt x="549006" y="67064"/>
                  </a:lnTo>
                  <a:lnTo>
                    <a:pt x="598521" y="51851"/>
                  </a:lnTo>
                  <a:lnTo>
                    <a:pt x="649462" y="38466"/>
                  </a:lnTo>
                  <a:lnTo>
                    <a:pt x="701739" y="26970"/>
                  </a:lnTo>
                  <a:lnTo>
                    <a:pt x="755259" y="17426"/>
                  </a:lnTo>
                  <a:lnTo>
                    <a:pt x="809930" y="9894"/>
                  </a:lnTo>
                  <a:lnTo>
                    <a:pt x="865661" y="4438"/>
                  </a:lnTo>
                  <a:lnTo>
                    <a:pt x="922358" y="1120"/>
                  </a:lnTo>
                  <a:lnTo>
                    <a:pt x="979932" y="0"/>
                  </a:lnTo>
                  <a:lnTo>
                    <a:pt x="1037505" y="1120"/>
                  </a:lnTo>
                  <a:lnTo>
                    <a:pt x="1094202" y="4438"/>
                  </a:lnTo>
                  <a:lnTo>
                    <a:pt x="1149933" y="9894"/>
                  </a:lnTo>
                  <a:lnTo>
                    <a:pt x="1204604" y="17426"/>
                  </a:lnTo>
                  <a:lnTo>
                    <a:pt x="1258124" y="26970"/>
                  </a:lnTo>
                  <a:lnTo>
                    <a:pt x="1310401" y="38466"/>
                  </a:lnTo>
                  <a:lnTo>
                    <a:pt x="1361342" y="51851"/>
                  </a:lnTo>
                  <a:lnTo>
                    <a:pt x="1410857" y="67064"/>
                  </a:lnTo>
                  <a:lnTo>
                    <a:pt x="1458853" y="84043"/>
                  </a:lnTo>
                  <a:lnTo>
                    <a:pt x="1505237" y="102726"/>
                  </a:lnTo>
                  <a:lnTo>
                    <a:pt x="1549919" y="123052"/>
                  </a:lnTo>
                  <a:lnTo>
                    <a:pt x="1592806" y="144957"/>
                  </a:lnTo>
                  <a:lnTo>
                    <a:pt x="1633806" y="168381"/>
                  </a:lnTo>
                  <a:lnTo>
                    <a:pt x="1672828" y="193262"/>
                  </a:lnTo>
                  <a:lnTo>
                    <a:pt x="1709778" y="219537"/>
                  </a:lnTo>
                  <a:lnTo>
                    <a:pt x="1744566" y="247145"/>
                  </a:lnTo>
                  <a:lnTo>
                    <a:pt x="1777100" y="276024"/>
                  </a:lnTo>
                  <a:lnTo>
                    <a:pt x="1807286" y="306113"/>
                  </a:lnTo>
                  <a:lnTo>
                    <a:pt x="1835035" y="337348"/>
                  </a:lnTo>
                  <a:lnTo>
                    <a:pt x="1860253" y="369669"/>
                  </a:lnTo>
                  <a:lnTo>
                    <a:pt x="1882848" y="403014"/>
                  </a:lnTo>
                  <a:lnTo>
                    <a:pt x="1902729" y="437321"/>
                  </a:lnTo>
                  <a:lnTo>
                    <a:pt x="1919804" y="472527"/>
                  </a:lnTo>
                  <a:lnTo>
                    <a:pt x="1933980" y="508571"/>
                  </a:lnTo>
                  <a:lnTo>
                    <a:pt x="1945166" y="545392"/>
                  </a:lnTo>
                  <a:lnTo>
                    <a:pt x="1953270" y="582926"/>
                  </a:lnTo>
                  <a:lnTo>
                    <a:pt x="1958200" y="621114"/>
                  </a:lnTo>
                  <a:lnTo>
                    <a:pt x="1959864" y="659892"/>
                  </a:lnTo>
                  <a:lnTo>
                    <a:pt x="1958200" y="698669"/>
                  </a:lnTo>
                  <a:lnTo>
                    <a:pt x="1953270" y="736857"/>
                  </a:lnTo>
                  <a:lnTo>
                    <a:pt x="1945166" y="774391"/>
                  </a:lnTo>
                  <a:lnTo>
                    <a:pt x="1933980" y="811212"/>
                  </a:lnTo>
                  <a:lnTo>
                    <a:pt x="1919804" y="847256"/>
                  </a:lnTo>
                  <a:lnTo>
                    <a:pt x="1902729" y="882462"/>
                  </a:lnTo>
                  <a:lnTo>
                    <a:pt x="1882848" y="916769"/>
                  </a:lnTo>
                  <a:lnTo>
                    <a:pt x="1860253" y="950114"/>
                  </a:lnTo>
                  <a:lnTo>
                    <a:pt x="1835035" y="982435"/>
                  </a:lnTo>
                  <a:lnTo>
                    <a:pt x="1807286" y="1013670"/>
                  </a:lnTo>
                  <a:lnTo>
                    <a:pt x="1777100" y="1043759"/>
                  </a:lnTo>
                  <a:lnTo>
                    <a:pt x="1744566" y="1072638"/>
                  </a:lnTo>
                  <a:lnTo>
                    <a:pt x="1709778" y="1100246"/>
                  </a:lnTo>
                  <a:lnTo>
                    <a:pt x="1672828" y="1126521"/>
                  </a:lnTo>
                  <a:lnTo>
                    <a:pt x="1633806" y="1151402"/>
                  </a:lnTo>
                  <a:lnTo>
                    <a:pt x="1592806" y="1174826"/>
                  </a:lnTo>
                  <a:lnTo>
                    <a:pt x="1549919" y="1196731"/>
                  </a:lnTo>
                  <a:lnTo>
                    <a:pt x="1505237" y="1217057"/>
                  </a:lnTo>
                  <a:lnTo>
                    <a:pt x="1458853" y="1235740"/>
                  </a:lnTo>
                  <a:lnTo>
                    <a:pt x="1410857" y="1252719"/>
                  </a:lnTo>
                  <a:lnTo>
                    <a:pt x="1361342" y="1267932"/>
                  </a:lnTo>
                  <a:lnTo>
                    <a:pt x="1310401" y="1281317"/>
                  </a:lnTo>
                  <a:lnTo>
                    <a:pt x="1258124" y="1292813"/>
                  </a:lnTo>
                  <a:lnTo>
                    <a:pt x="1204604" y="1302357"/>
                  </a:lnTo>
                  <a:lnTo>
                    <a:pt x="1149933" y="1309889"/>
                  </a:lnTo>
                  <a:lnTo>
                    <a:pt x="1094202" y="1315345"/>
                  </a:lnTo>
                  <a:lnTo>
                    <a:pt x="1037505" y="1318663"/>
                  </a:lnTo>
                  <a:lnTo>
                    <a:pt x="979932" y="1319784"/>
                  </a:lnTo>
                  <a:lnTo>
                    <a:pt x="922358" y="1318663"/>
                  </a:lnTo>
                  <a:lnTo>
                    <a:pt x="865661" y="1315345"/>
                  </a:lnTo>
                  <a:lnTo>
                    <a:pt x="809930" y="1309889"/>
                  </a:lnTo>
                  <a:lnTo>
                    <a:pt x="755259" y="1302357"/>
                  </a:lnTo>
                  <a:lnTo>
                    <a:pt x="701739" y="1292813"/>
                  </a:lnTo>
                  <a:lnTo>
                    <a:pt x="649462" y="1281317"/>
                  </a:lnTo>
                  <a:lnTo>
                    <a:pt x="598521" y="1267932"/>
                  </a:lnTo>
                  <a:lnTo>
                    <a:pt x="549006" y="1252719"/>
                  </a:lnTo>
                  <a:lnTo>
                    <a:pt x="501010" y="1235740"/>
                  </a:lnTo>
                  <a:lnTo>
                    <a:pt x="454626" y="1217057"/>
                  </a:lnTo>
                  <a:lnTo>
                    <a:pt x="409944" y="1196731"/>
                  </a:lnTo>
                  <a:lnTo>
                    <a:pt x="367057" y="1174826"/>
                  </a:lnTo>
                  <a:lnTo>
                    <a:pt x="326057" y="1151402"/>
                  </a:lnTo>
                  <a:lnTo>
                    <a:pt x="287035" y="1126521"/>
                  </a:lnTo>
                  <a:lnTo>
                    <a:pt x="250085" y="1100246"/>
                  </a:lnTo>
                  <a:lnTo>
                    <a:pt x="215297" y="1072638"/>
                  </a:lnTo>
                  <a:lnTo>
                    <a:pt x="182763" y="1043759"/>
                  </a:lnTo>
                  <a:lnTo>
                    <a:pt x="152577" y="1013670"/>
                  </a:lnTo>
                  <a:lnTo>
                    <a:pt x="124828" y="982435"/>
                  </a:lnTo>
                  <a:lnTo>
                    <a:pt x="99610" y="950114"/>
                  </a:lnTo>
                  <a:lnTo>
                    <a:pt x="77015" y="916769"/>
                  </a:lnTo>
                  <a:lnTo>
                    <a:pt x="57134" y="882462"/>
                  </a:lnTo>
                  <a:lnTo>
                    <a:pt x="40059" y="847256"/>
                  </a:lnTo>
                  <a:lnTo>
                    <a:pt x="25883" y="811212"/>
                  </a:lnTo>
                  <a:lnTo>
                    <a:pt x="14697" y="774391"/>
                  </a:lnTo>
                  <a:lnTo>
                    <a:pt x="6593" y="736857"/>
                  </a:lnTo>
                  <a:lnTo>
                    <a:pt x="1663" y="698669"/>
                  </a:lnTo>
                  <a:lnTo>
                    <a:pt x="0" y="659892"/>
                  </a:lnTo>
                  <a:close/>
                </a:path>
              </a:pathLst>
            </a:custGeom>
            <a:ln w="12192">
              <a:solidFill>
                <a:srgbClr val="2E528F"/>
              </a:solidFill>
            </a:ln>
          </p:spPr>
          <p:txBody>
            <a:bodyPr wrap="square" lIns="0" tIns="0" rIns="0" bIns="0" rtlCol="0"/>
            <a:lstStyle/>
            <a:p>
              <a:endParaRPr/>
            </a:p>
          </p:txBody>
        </p:sp>
      </p:grpSp>
      <p:sp>
        <p:nvSpPr>
          <p:cNvPr id="12" name="object 12"/>
          <p:cNvSpPr txBox="1"/>
          <p:nvPr/>
        </p:nvSpPr>
        <p:spPr>
          <a:xfrm>
            <a:off x="10468102" y="3784549"/>
            <a:ext cx="967105" cy="848994"/>
          </a:xfrm>
          <a:prstGeom prst="rect">
            <a:avLst/>
          </a:prstGeom>
        </p:spPr>
        <p:txBody>
          <a:bodyPr vert="horz" wrap="square" lIns="0" tIns="12700" rIns="0" bIns="0" rtlCol="0">
            <a:spAutoFit/>
          </a:bodyPr>
          <a:lstStyle/>
          <a:p>
            <a:pPr marL="12065" marR="5080" algn="ctr">
              <a:lnSpc>
                <a:spcPct val="100000"/>
              </a:lnSpc>
              <a:spcBef>
                <a:spcPts val="100"/>
              </a:spcBef>
            </a:pPr>
            <a:r>
              <a:rPr sz="1800" dirty="0">
                <a:solidFill>
                  <a:srgbClr val="FFFFFF"/>
                </a:solidFill>
                <a:latin typeface="Times New Roman"/>
                <a:cs typeface="Times New Roman"/>
              </a:rPr>
              <a:t>El</a:t>
            </a:r>
            <a:r>
              <a:rPr sz="1800" spc="-10" dirty="0">
                <a:solidFill>
                  <a:srgbClr val="FFFFFF"/>
                </a:solidFill>
                <a:latin typeface="Times New Roman"/>
                <a:cs typeface="Times New Roman"/>
              </a:rPr>
              <a:t>ec</a:t>
            </a:r>
            <a:r>
              <a:rPr sz="1800" dirty="0">
                <a:solidFill>
                  <a:srgbClr val="FFFFFF"/>
                </a:solidFill>
                <a:latin typeface="Times New Roman"/>
                <a:cs typeface="Times New Roman"/>
              </a:rPr>
              <a:t>tr</a:t>
            </a:r>
            <a:r>
              <a:rPr sz="1800" spc="10" dirty="0">
                <a:solidFill>
                  <a:srgbClr val="FFFFFF"/>
                </a:solidFill>
                <a:latin typeface="Times New Roman"/>
                <a:cs typeface="Times New Roman"/>
              </a:rPr>
              <a:t>o</a:t>
            </a:r>
            <a:r>
              <a:rPr sz="1800" spc="5" dirty="0">
                <a:solidFill>
                  <a:srgbClr val="FFFFFF"/>
                </a:solidFill>
                <a:latin typeface="Times New Roman"/>
                <a:cs typeface="Times New Roman"/>
              </a:rPr>
              <a:t>n</a:t>
            </a:r>
            <a:r>
              <a:rPr sz="1800" dirty="0">
                <a:solidFill>
                  <a:srgbClr val="FFFFFF"/>
                </a:solidFill>
                <a:latin typeface="Times New Roman"/>
                <a:cs typeface="Times New Roman"/>
              </a:rPr>
              <a:t>ic  Credit </a:t>
            </a:r>
            <a:r>
              <a:rPr sz="1800" spc="5" dirty="0">
                <a:solidFill>
                  <a:srgbClr val="FFFFFF"/>
                </a:solidFill>
                <a:latin typeface="Times New Roman"/>
                <a:cs typeface="Times New Roman"/>
              </a:rPr>
              <a:t> </a:t>
            </a:r>
            <a:r>
              <a:rPr sz="1800" spc="-10" dirty="0">
                <a:solidFill>
                  <a:srgbClr val="FFFFFF"/>
                </a:solidFill>
                <a:latin typeface="Times New Roman"/>
                <a:cs typeface="Times New Roman"/>
              </a:rPr>
              <a:t>Ledger</a:t>
            </a:r>
            <a:endParaRPr sz="1800">
              <a:latin typeface="Times New Roman"/>
              <a:cs typeface="Times New Roman"/>
            </a:endParaRPr>
          </a:p>
        </p:txBody>
      </p:sp>
      <p:grpSp>
        <p:nvGrpSpPr>
          <p:cNvPr id="13" name="object 13"/>
          <p:cNvGrpSpPr/>
          <p:nvPr/>
        </p:nvGrpSpPr>
        <p:grpSpPr>
          <a:xfrm>
            <a:off x="10116311" y="5254752"/>
            <a:ext cx="1972310" cy="1335405"/>
            <a:chOff x="10116311" y="5254752"/>
            <a:chExt cx="1972310" cy="1335405"/>
          </a:xfrm>
        </p:grpSpPr>
        <p:sp>
          <p:nvSpPr>
            <p:cNvPr id="14" name="object 14"/>
            <p:cNvSpPr/>
            <p:nvPr/>
          </p:nvSpPr>
          <p:spPr>
            <a:xfrm>
              <a:off x="10122407" y="5260848"/>
              <a:ext cx="1960245" cy="1323340"/>
            </a:xfrm>
            <a:custGeom>
              <a:avLst/>
              <a:gdLst/>
              <a:ahLst/>
              <a:cxnLst/>
              <a:rect l="l" t="t" r="r" b="b"/>
              <a:pathLst>
                <a:path w="1960245" h="1323340">
                  <a:moveTo>
                    <a:pt x="979932" y="0"/>
                  </a:moveTo>
                  <a:lnTo>
                    <a:pt x="922358" y="1122"/>
                  </a:lnTo>
                  <a:lnTo>
                    <a:pt x="865661" y="4450"/>
                  </a:lnTo>
                  <a:lnTo>
                    <a:pt x="809930" y="9920"/>
                  </a:lnTo>
                  <a:lnTo>
                    <a:pt x="755259" y="17470"/>
                  </a:lnTo>
                  <a:lnTo>
                    <a:pt x="701739" y="27038"/>
                  </a:lnTo>
                  <a:lnTo>
                    <a:pt x="649462" y="38563"/>
                  </a:lnTo>
                  <a:lnTo>
                    <a:pt x="598521" y="51982"/>
                  </a:lnTo>
                  <a:lnTo>
                    <a:pt x="549006" y="67233"/>
                  </a:lnTo>
                  <a:lnTo>
                    <a:pt x="501010" y="84254"/>
                  </a:lnTo>
                  <a:lnTo>
                    <a:pt x="454626" y="102983"/>
                  </a:lnTo>
                  <a:lnTo>
                    <a:pt x="409944" y="123358"/>
                  </a:lnTo>
                  <a:lnTo>
                    <a:pt x="367057" y="145317"/>
                  </a:lnTo>
                  <a:lnTo>
                    <a:pt x="326057" y="168798"/>
                  </a:lnTo>
                  <a:lnTo>
                    <a:pt x="287035" y="193738"/>
                  </a:lnTo>
                  <a:lnTo>
                    <a:pt x="250085" y="220076"/>
                  </a:lnTo>
                  <a:lnTo>
                    <a:pt x="215297" y="247749"/>
                  </a:lnTo>
                  <a:lnTo>
                    <a:pt x="182763" y="276697"/>
                  </a:lnTo>
                  <a:lnTo>
                    <a:pt x="152577" y="306855"/>
                  </a:lnTo>
                  <a:lnTo>
                    <a:pt x="124828" y="338163"/>
                  </a:lnTo>
                  <a:lnTo>
                    <a:pt x="99610" y="370558"/>
                  </a:lnTo>
                  <a:lnTo>
                    <a:pt x="77015" y="403979"/>
                  </a:lnTo>
                  <a:lnTo>
                    <a:pt x="57134" y="438362"/>
                  </a:lnTo>
                  <a:lnTo>
                    <a:pt x="40059" y="473647"/>
                  </a:lnTo>
                  <a:lnTo>
                    <a:pt x="25883" y="509771"/>
                  </a:lnTo>
                  <a:lnTo>
                    <a:pt x="14697" y="546672"/>
                  </a:lnTo>
                  <a:lnTo>
                    <a:pt x="6593" y="584287"/>
                  </a:lnTo>
                  <a:lnTo>
                    <a:pt x="1663" y="622556"/>
                  </a:lnTo>
                  <a:lnTo>
                    <a:pt x="0" y="661415"/>
                  </a:lnTo>
                  <a:lnTo>
                    <a:pt x="1663" y="700279"/>
                  </a:lnTo>
                  <a:lnTo>
                    <a:pt x="6593" y="738551"/>
                  </a:lnTo>
                  <a:lnTo>
                    <a:pt x="14697" y="776169"/>
                  </a:lnTo>
                  <a:lnTo>
                    <a:pt x="25883" y="813072"/>
                  </a:lnTo>
                  <a:lnTo>
                    <a:pt x="40059" y="849198"/>
                  </a:lnTo>
                  <a:lnTo>
                    <a:pt x="57134" y="884484"/>
                  </a:lnTo>
                  <a:lnTo>
                    <a:pt x="77015" y="918869"/>
                  </a:lnTo>
                  <a:lnTo>
                    <a:pt x="99610" y="952290"/>
                  </a:lnTo>
                  <a:lnTo>
                    <a:pt x="124828" y="984685"/>
                  </a:lnTo>
                  <a:lnTo>
                    <a:pt x="152577" y="1015993"/>
                  </a:lnTo>
                  <a:lnTo>
                    <a:pt x="182763" y="1046151"/>
                  </a:lnTo>
                  <a:lnTo>
                    <a:pt x="215297" y="1075098"/>
                  </a:lnTo>
                  <a:lnTo>
                    <a:pt x="250085" y="1102770"/>
                  </a:lnTo>
                  <a:lnTo>
                    <a:pt x="287035" y="1129107"/>
                  </a:lnTo>
                  <a:lnTo>
                    <a:pt x="326057" y="1154046"/>
                  </a:lnTo>
                  <a:lnTo>
                    <a:pt x="367057" y="1177526"/>
                  </a:lnTo>
                  <a:lnTo>
                    <a:pt x="409944" y="1199483"/>
                  </a:lnTo>
                  <a:lnTo>
                    <a:pt x="454626" y="1219857"/>
                  </a:lnTo>
                  <a:lnTo>
                    <a:pt x="501010" y="1238585"/>
                  </a:lnTo>
                  <a:lnTo>
                    <a:pt x="549006" y="1255604"/>
                  </a:lnTo>
                  <a:lnTo>
                    <a:pt x="598521" y="1270854"/>
                  </a:lnTo>
                  <a:lnTo>
                    <a:pt x="649462" y="1284272"/>
                  </a:lnTo>
                  <a:lnTo>
                    <a:pt x="701739" y="1295796"/>
                  </a:lnTo>
                  <a:lnTo>
                    <a:pt x="755259" y="1305363"/>
                  </a:lnTo>
                  <a:lnTo>
                    <a:pt x="809930" y="1312912"/>
                  </a:lnTo>
                  <a:lnTo>
                    <a:pt x="865661" y="1318382"/>
                  </a:lnTo>
                  <a:lnTo>
                    <a:pt x="922358" y="1321709"/>
                  </a:lnTo>
                  <a:lnTo>
                    <a:pt x="979932" y="1322832"/>
                  </a:lnTo>
                  <a:lnTo>
                    <a:pt x="1037505" y="1321709"/>
                  </a:lnTo>
                  <a:lnTo>
                    <a:pt x="1094202" y="1318382"/>
                  </a:lnTo>
                  <a:lnTo>
                    <a:pt x="1149933" y="1312912"/>
                  </a:lnTo>
                  <a:lnTo>
                    <a:pt x="1204604" y="1305363"/>
                  </a:lnTo>
                  <a:lnTo>
                    <a:pt x="1258124" y="1295796"/>
                  </a:lnTo>
                  <a:lnTo>
                    <a:pt x="1310401" y="1284272"/>
                  </a:lnTo>
                  <a:lnTo>
                    <a:pt x="1361342" y="1270854"/>
                  </a:lnTo>
                  <a:lnTo>
                    <a:pt x="1410857" y="1255604"/>
                  </a:lnTo>
                  <a:lnTo>
                    <a:pt x="1458853" y="1238585"/>
                  </a:lnTo>
                  <a:lnTo>
                    <a:pt x="1505237" y="1219857"/>
                  </a:lnTo>
                  <a:lnTo>
                    <a:pt x="1549919" y="1199483"/>
                  </a:lnTo>
                  <a:lnTo>
                    <a:pt x="1592806" y="1177526"/>
                  </a:lnTo>
                  <a:lnTo>
                    <a:pt x="1633806" y="1154046"/>
                  </a:lnTo>
                  <a:lnTo>
                    <a:pt x="1672828" y="1129107"/>
                  </a:lnTo>
                  <a:lnTo>
                    <a:pt x="1709778" y="1102770"/>
                  </a:lnTo>
                  <a:lnTo>
                    <a:pt x="1744566" y="1075098"/>
                  </a:lnTo>
                  <a:lnTo>
                    <a:pt x="1777100" y="1046151"/>
                  </a:lnTo>
                  <a:lnTo>
                    <a:pt x="1807286" y="1015993"/>
                  </a:lnTo>
                  <a:lnTo>
                    <a:pt x="1835035" y="984685"/>
                  </a:lnTo>
                  <a:lnTo>
                    <a:pt x="1860253" y="952290"/>
                  </a:lnTo>
                  <a:lnTo>
                    <a:pt x="1882848" y="918869"/>
                  </a:lnTo>
                  <a:lnTo>
                    <a:pt x="1902729" y="884484"/>
                  </a:lnTo>
                  <a:lnTo>
                    <a:pt x="1919804" y="849198"/>
                  </a:lnTo>
                  <a:lnTo>
                    <a:pt x="1933980" y="813072"/>
                  </a:lnTo>
                  <a:lnTo>
                    <a:pt x="1945166" y="776169"/>
                  </a:lnTo>
                  <a:lnTo>
                    <a:pt x="1953270" y="738551"/>
                  </a:lnTo>
                  <a:lnTo>
                    <a:pt x="1958200" y="700279"/>
                  </a:lnTo>
                  <a:lnTo>
                    <a:pt x="1959864" y="661415"/>
                  </a:lnTo>
                  <a:lnTo>
                    <a:pt x="1958200" y="622556"/>
                  </a:lnTo>
                  <a:lnTo>
                    <a:pt x="1953270" y="584287"/>
                  </a:lnTo>
                  <a:lnTo>
                    <a:pt x="1945166" y="546672"/>
                  </a:lnTo>
                  <a:lnTo>
                    <a:pt x="1933980" y="509771"/>
                  </a:lnTo>
                  <a:lnTo>
                    <a:pt x="1919804" y="473647"/>
                  </a:lnTo>
                  <a:lnTo>
                    <a:pt x="1902729" y="438362"/>
                  </a:lnTo>
                  <a:lnTo>
                    <a:pt x="1882848" y="403979"/>
                  </a:lnTo>
                  <a:lnTo>
                    <a:pt x="1860253" y="370558"/>
                  </a:lnTo>
                  <a:lnTo>
                    <a:pt x="1835035" y="338163"/>
                  </a:lnTo>
                  <a:lnTo>
                    <a:pt x="1807286" y="306855"/>
                  </a:lnTo>
                  <a:lnTo>
                    <a:pt x="1777100" y="276697"/>
                  </a:lnTo>
                  <a:lnTo>
                    <a:pt x="1744566" y="247749"/>
                  </a:lnTo>
                  <a:lnTo>
                    <a:pt x="1709778" y="220076"/>
                  </a:lnTo>
                  <a:lnTo>
                    <a:pt x="1672828" y="193738"/>
                  </a:lnTo>
                  <a:lnTo>
                    <a:pt x="1633806" y="168798"/>
                  </a:lnTo>
                  <a:lnTo>
                    <a:pt x="1592806" y="145317"/>
                  </a:lnTo>
                  <a:lnTo>
                    <a:pt x="1549919" y="123358"/>
                  </a:lnTo>
                  <a:lnTo>
                    <a:pt x="1505237" y="102983"/>
                  </a:lnTo>
                  <a:lnTo>
                    <a:pt x="1458853" y="84254"/>
                  </a:lnTo>
                  <a:lnTo>
                    <a:pt x="1410857" y="67233"/>
                  </a:lnTo>
                  <a:lnTo>
                    <a:pt x="1361342" y="51982"/>
                  </a:lnTo>
                  <a:lnTo>
                    <a:pt x="1310401" y="38563"/>
                  </a:lnTo>
                  <a:lnTo>
                    <a:pt x="1258124" y="27038"/>
                  </a:lnTo>
                  <a:lnTo>
                    <a:pt x="1204604" y="17470"/>
                  </a:lnTo>
                  <a:lnTo>
                    <a:pt x="1149933" y="9920"/>
                  </a:lnTo>
                  <a:lnTo>
                    <a:pt x="1094202" y="4450"/>
                  </a:lnTo>
                  <a:lnTo>
                    <a:pt x="1037505" y="1122"/>
                  </a:lnTo>
                  <a:lnTo>
                    <a:pt x="979932" y="0"/>
                  </a:lnTo>
                  <a:close/>
                </a:path>
              </a:pathLst>
            </a:custGeom>
            <a:solidFill>
              <a:srgbClr val="7B7B7B"/>
            </a:solidFill>
          </p:spPr>
          <p:txBody>
            <a:bodyPr wrap="square" lIns="0" tIns="0" rIns="0" bIns="0" rtlCol="0"/>
            <a:lstStyle/>
            <a:p>
              <a:endParaRPr/>
            </a:p>
          </p:txBody>
        </p:sp>
        <p:sp>
          <p:nvSpPr>
            <p:cNvPr id="15" name="object 15"/>
            <p:cNvSpPr/>
            <p:nvPr/>
          </p:nvSpPr>
          <p:spPr>
            <a:xfrm>
              <a:off x="10122407" y="5260848"/>
              <a:ext cx="1960245" cy="1323340"/>
            </a:xfrm>
            <a:custGeom>
              <a:avLst/>
              <a:gdLst/>
              <a:ahLst/>
              <a:cxnLst/>
              <a:rect l="l" t="t" r="r" b="b"/>
              <a:pathLst>
                <a:path w="1960245" h="1323340">
                  <a:moveTo>
                    <a:pt x="0" y="661415"/>
                  </a:moveTo>
                  <a:lnTo>
                    <a:pt x="1663" y="622556"/>
                  </a:lnTo>
                  <a:lnTo>
                    <a:pt x="6593" y="584287"/>
                  </a:lnTo>
                  <a:lnTo>
                    <a:pt x="14697" y="546672"/>
                  </a:lnTo>
                  <a:lnTo>
                    <a:pt x="25883" y="509771"/>
                  </a:lnTo>
                  <a:lnTo>
                    <a:pt x="40059" y="473647"/>
                  </a:lnTo>
                  <a:lnTo>
                    <a:pt x="57134" y="438362"/>
                  </a:lnTo>
                  <a:lnTo>
                    <a:pt x="77015" y="403979"/>
                  </a:lnTo>
                  <a:lnTo>
                    <a:pt x="99610" y="370558"/>
                  </a:lnTo>
                  <a:lnTo>
                    <a:pt x="124828" y="338163"/>
                  </a:lnTo>
                  <a:lnTo>
                    <a:pt x="152577" y="306855"/>
                  </a:lnTo>
                  <a:lnTo>
                    <a:pt x="182763" y="276697"/>
                  </a:lnTo>
                  <a:lnTo>
                    <a:pt x="215297" y="247749"/>
                  </a:lnTo>
                  <a:lnTo>
                    <a:pt x="250085" y="220076"/>
                  </a:lnTo>
                  <a:lnTo>
                    <a:pt x="287035" y="193738"/>
                  </a:lnTo>
                  <a:lnTo>
                    <a:pt x="326057" y="168798"/>
                  </a:lnTo>
                  <a:lnTo>
                    <a:pt x="367057" y="145317"/>
                  </a:lnTo>
                  <a:lnTo>
                    <a:pt x="409944" y="123358"/>
                  </a:lnTo>
                  <a:lnTo>
                    <a:pt x="454626" y="102983"/>
                  </a:lnTo>
                  <a:lnTo>
                    <a:pt x="501010" y="84254"/>
                  </a:lnTo>
                  <a:lnTo>
                    <a:pt x="549006" y="67233"/>
                  </a:lnTo>
                  <a:lnTo>
                    <a:pt x="598521" y="51982"/>
                  </a:lnTo>
                  <a:lnTo>
                    <a:pt x="649462" y="38563"/>
                  </a:lnTo>
                  <a:lnTo>
                    <a:pt x="701739" y="27038"/>
                  </a:lnTo>
                  <a:lnTo>
                    <a:pt x="755259" y="17470"/>
                  </a:lnTo>
                  <a:lnTo>
                    <a:pt x="809930" y="9920"/>
                  </a:lnTo>
                  <a:lnTo>
                    <a:pt x="865661" y="4450"/>
                  </a:lnTo>
                  <a:lnTo>
                    <a:pt x="922358" y="1122"/>
                  </a:lnTo>
                  <a:lnTo>
                    <a:pt x="979932" y="0"/>
                  </a:lnTo>
                  <a:lnTo>
                    <a:pt x="1037505" y="1122"/>
                  </a:lnTo>
                  <a:lnTo>
                    <a:pt x="1094202" y="4450"/>
                  </a:lnTo>
                  <a:lnTo>
                    <a:pt x="1149933" y="9920"/>
                  </a:lnTo>
                  <a:lnTo>
                    <a:pt x="1204604" y="17470"/>
                  </a:lnTo>
                  <a:lnTo>
                    <a:pt x="1258124" y="27038"/>
                  </a:lnTo>
                  <a:lnTo>
                    <a:pt x="1310401" y="38563"/>
                  </a:lnTo>
                  <a:lnTo>
                    <a:pt x="1361342" y="51982"/>
                  </a:lnTo>
                  <a:lnTo>
                    <a:pt x="1410857" y="67233"/>
                  </a:lnTo>
                  <a:lnTo>
                    <a:pt x="1458853" y="84254"/>
                  </a:lnTo>
                  <a:lnTo>
                    <a:pt x="1505237" y="102983"/>
                  </a:lnTo>
                  <a:lnTo>
                    <a:pt x="1549919" y="123358"/>
                  </a:lnTo>
                  <a:lnTo>
                    <a:pt x="1592806" y="145317"/>
                  </a:lnTo>
                  <a:lnTo>
                    <a:pt x="1633806" y="168798"/>
                  </a:lnTo>
                  <a:lnTo>
                    <a:pt x="1672828" y="193738"/>
                  </a:lnTo>
                  <a:lnTo>
                    <a:pt x="1709778" y="220076"/>
                  </a:lnTo>
                  <a:lnTo>
                    <a:pt x="1744566" y="247749"/>
                  </a:lnTo>
                  <a:lnTo>
                    <a:pt x="1777100" y="276697"/>
                  </a:lnTo>
                  <a:lnTo>
                    <a:pt x="1807286" y="306855"/>
                  </a:lnTo>
                  <a:lnTo>
                    <a:pt x="1835035" y="338163"/>
                  </a:lnTo>
                  <a:lnTo>
                    <a:pt x="1860253" y="370558"/>
                  </a:lnTo>
                  <a:lnTo>
                    <a:pt x="1882848" y="403979"/>
                  </a:lnTo>
                  <a:lnTo>
                    <a:pt x="1902729" y="438362"/>
                  </a:lnTo>
                  <a:lnTo>
                    <a:pt x="1919804" y="473647"/>
                  </a:lnTo>
                  <a:lnTo>
                    <a:pt x="1933980" y="509771"/>
                  </a:lnTo>
                  <a:lnTo>
                    <a:pt x="1945166" y="546672"/>
                  </a:lnTo>
                  <a:lnTo>
                    <a:pt x="1953270" y="584287"/>
                  </a:lnTo>
                  <a:lnTo>
                    <a:pt x="1958200" y="622556"/>
                  </a:lnTo>
                  <a:lnTo>
                    <a:pt x="1959864" y="661415"/>
                  </a:lnTo>
                  <a:lnTo>
                    <a:pt x="1958200" y="700279"/>
                  </a:lnTo>
                  <a:lnTo>
                    <a:pt x="1953270" y="738551"/>
                  </a:lnTo>
                  <a:lnTo>
                    <a:pt x="1945166" y="776169"/>
                  </a:lnTo>
                  <a:lnTo>
                    <a:pt x="1933980" y="813072"/>
                  </a:lnTo>
                  <a:lnTo>
                    <a:pt x="1919804" y="849198"/>
                  </a:lnTo>
                  <a:lnTo>
                    <a:pt x="1902729" y="884484"/>
                  </a:lnTo>
                  <a:lnTo>
                    <a:pt x="1882848" y="918869"/>
                  </a:lnTo>
                  <a:lnTo>
                    <a:pt x="1860253" y="952290"/>
                  </a:lnTo>
                  <a:lnTo>
                    <a:pt x="1835035" y="984685"/>
                  </a:lnTo>
                  <a:lnTo>
                    <a:pt x="1807286" y="1015993"/>
                  </a:lnTo>
                  <a:lnTo>
                    <a:pt x="1777100" y="1046151"/>
                  </a:lnTo>
                  <a:lnTo>
                    <a:pt x="1744566" y="1075098"/>
                  </a:lnTo>
                  <a:lnTo>
                    <a:pt x="1709778" y="1102770"/>
                  </a:lnTo>
                  <a:lnTo>
                    <a:pt x="1672828" y="1129107"/>
                  </a:lnTo>
                  <a:lnTo>
                    <a:pt x="1633806" y="1154046"/>
                  </a:lnTo>
                  <a:lnTo>
                    <a:pt x="1592806" y="1177526"/>
                  </a:lnTo>
                  <a:lnTo>
                    <a:pt x="1549919" y="1199483"/>
                  </a:lnTo>
                  <a:lnTo>
                    <a:pt x="1505237" y="1219857"/>
                  </a:lnTo>
                  <a:lnTo>
                    <a:pt x="1458853" y="1238585"/>
                  </a:lnTo>
                  <a:lnTo>
                    <a:pt x="1410857" y="1255604"/>
                  </a:lnTo>
                  <a:lnTo>
                    <a:pt x="1361342" y="1270854"/>
                  </a:lnTo>
                  <a:lnTo>
                    <a:pt x="1310401" y="1284272"/>
                  </a:lnTo>
                  <a:lnTo>
                    <a:pt x="1258124" y="1295796"/>
                  </a:lnTo>
                  <a:lnTo>
                    <a:pt x="1204604" y="1305363"/>
                  </a:lnTo>
                  <a:lnTo>
                    <a:pt x="1149933" y="1312912"/>
                  </a:lnTo>
                  <a:lnTo>
                    <a:pt x="1094202" y="1318382"/>
                  </a:lnTo>
                  <a:lnTo>
                    <a:pt x="1037505" y="1321709"/>
                  </a:lnTo>
                  <a:lnTo>
                    <a:pt x="979932" y="1322832"/>
                  </a:lnTo>
                  <a:lnTo>
                    <a:pt x="922358" y="1321709"/>
                  </a:lnTo>
                  <a:lnTo>
                    <a:pt x="865661" y="1318382"/>
                  </a:lnTo>
                  <a:lnTo>
                    <a:pt x="809930" y="1312912"/>
                  </a:lnTo>
                  <a:lnTo>
                    <a:pt x="755259" y="1305363"/>
                  </a:lnTo>
                  <a:lnTo>
                    <a:pt x="701739" y="1295796"/>
                  </a:lnTo>
                  <a:lnTo>
                    <a:pt x="649462" y="1284272"/>
                  </a:lnTo>
                  <a:lnTo>
                    <a:pt x="598521" y="1270854"/>
                  </a:lnTo>
                  <a:lnTo>
                    <a:pt x="549006" y="1255604"/>
                  </a:lnTo>
                  <a:lnTo>
                    <a:pt x="501010" y="1238585"/>
                  </a:lnTo>
                  <a:lnTo>
                    <a:pt x="454626" y="1219857"/>
                  </a:lnTo>
                  <a:lnTo>
                    <a:pt x="409944" y="1199483"/>
                  </a:lnTo>
                  <a:lnTo>
                    <a:pt x="367057" y="1177526"/>
                  </a:lnTo>
                  <a:lnTo>
                    <a:pt x="326057" y="1154046"/>
                  </a:lnTo>
                  <a:lnTo>
                    <a:pt x="287035" y="1129107"/>
                  </a:lnTo>
                  <a:lnTo>
                    <a:pt x="250085" y="1102770"/>
                  </a:lnTo>
                  <a:lnTo>
                    <a:pt x="215297" y="1075098"/>
                  </a:lnTo>
                  <a:lnTo>
                    <a:pt x="182763" y="1046151"/>
                  </a:lnTo>
                  <a:lnTo>
                    <a:pt x="152577" y="1015993"/>
                  </a:lnTo>
                  <a:lnTo>
                    <a:pt x="124828" y="984685"/>
                  </a:lnTo>
                  <a:lnTo>
                    <a:pt x="99610" y="952290"/>
                  </a:lnTo>
                  <a:lnTo>
                    <a:pt x="77015" y="918869"/>
                  </a:lnTo>
                  <a:lnTo>
                    <a:pt x="57134" y="884484"/>
                  </a:lnTo>
                  <a:lnTo>
                    <a:pt x="40059" y="849198"/>
                  </a:lnTo>
                  <a:lnTo>
                    <a:pt x="25883" y="813072"/>
                  </a:lnTo>
                  <a:lnTo>
                    <a:pt x="14697" y="776169"/>
                  </a:lnTo>
                  <a:lnTo>
                    <a:pt x="6593" y="738551"/>
                  </a:lnTo>
                  <a:lnTo>
                    <a:pt x="1663" y="700279"/>
                  </a:lnTo>
                  <a:lnTo>
                    <a:pt x="0" y="661415"/>
                  </a:lnTo>
                  <a:close/>
                </a:path>
              </a:pathLst>
            </a:custGeom>
            <a:ln w="12192">
              <a:solidFill>
                <a:srgbClr val="2E528F"/>
              </a:solidFill>
            </a:ln>
          </p:spPr>
          <p:txBody>
            <a:bodyPr wrap="square" lIns="0" tIns="0" rIns="0" bIns="0" rtlCol="0"/>
            <a:lstStyle/>
            <a:p>
              <a:endParaRPr/>
            </a:p>
          </p:txBody>
        </p:sp>
      </p:grpSp>
      <p:sp>
        <p:nvSpPr>
          <p:cNvPr id="16" name="object 16"/>
          <p:cNvSpPr txBox="1"/>
          <p:nvPr/>
        </p:nvSpPr>
        <p:spPr>
          <a:xfrm>
            <a:off x="10513821" y="5627928"/>
            <a:ext cx="1183005" cy="574675"/>
          </a:xfrm>
          <a:prstGeom prst="rect">
            <a:avLst/>
          </a:prstGeom>
        </p:spPr>
        <p:txBody>
          <a:bodyPr vert="horz" wrap="square" lIns="0" tIns="12700" rIns="0" bIns="0" rtlCol="0">
            <a:spAutoFit/>
          </a:bodyPr>
          <a:lstStyle/>
          <a:p>
            <a:pPr marL="118745">
              <a:lnSpc>
                <a:spcPct val="100000"/>
              </a:lnSpc>
              <a:spcBef>
                <a:spcPts val="100"/>
              </a:spcBef>
            </a:pPr>
            <a:r>
              <a:rPr sz="1800" dirty="0">
                <a:solidFill>
                  <a:srgbClr val="FFFFFF"/>
                </a:solidFill>
                <a:latin typeface="Times New Roman"/>
                <a:cs typeface="Times New Roman"/>
              </a:rPr>
              <a:t>Electronic</a:t>
            </a:r>
            <a:endParaRPr sz="1800">
              <a:latin typeface="Times New Roman"/>
              <a:cs typeface="Times New Roman"/>
            </a:endParaRPr>
          </a:p>
          <a:p>
            <a:pPr marL="12700">
              <a:lnSpc>
                <a:spcPct val="100000"/>
              </a:lnSpc>
              <a:spcBef>
                <a:spcPts val="5"/>
              </a:spcBef>
            </a:pPr>
            <a:r>
              <a:rPr sz="1800" spc="-5" dirty="0">
                <a:solidFill>
                  <a:srgbClr val="FFFFFF"/>
                </a:solidFill>
                <a:latin typeface="Times New Roman"/>
                <a:cs typeface="Times New Roman"/>
              </a:rPr>
              <a:t>Cash</a:t>
            </a:r>
            <a:r>
              <a:rPr sz="1800" spc="-55" dirty="0">
                <a:solidFill>
                  <a:srgbClr val="FFFFFF"/>
                </a:solidFill>
                <a:latin typeface="Times New Roman"/>
                <a:cs typeface="Times New Roman"/>
              </a:rPr>
              <a:t> </a:t>
            </a:r>
            <a:r>
              <a:rPr sz="1800" spc="-10" dirty="0">
                <a:solidFill>
                  <a:srgbClr val="FFFFFF"/>
                </a:solidFill>
                <a:latin typeface="Times New Roman"/>
                <a:cs typeface="Times New Roman"/>
              </a:rPr>
              <a:t>Ledger</a:t>
            </a:r>
            <a:endParaRPr sz="1800">
              <a:latin typeface="Times New Roman"/>
              <a:cs typeface="Times New Roman"/>
            </a:endParaRPr>
          </a:p>
        </p:txBody>
      </p:sp>
      <p:sp>
        <p:nvSpPr>
          <p:cNvPr id="17" name="object 17"/>
          <p:cNvSpPr txBox="1">
            <a:spLocks noGrp="1"/>
          </p:cNvSpPr>
          <p:nvPr>
            <p:ph type="title"/>
          </p:nvPr>
        </p:nvSpPr>
        <p:spPr>
          <a:xfrm>
            <a:off x="862075" y="153746"/>
            <a:ext cx="5409565" cy="512445"/>
          </a:xfrm>
          <a:prstGeom prst="rect">
            <a:avLst/>
          </a:prstGeom>
        </p:spPr>
        <p:txBody>
          <a:bodyPr vert="horz" wrap="square" lIns="0" tIns="12065" rIns="0" bIns="0" rtlCol="0">
            <a:spAutoFit/>
          </a:bodyPr>
          <a:lstStyle/>
          <a:p>
            <a:pPr marL="12700">
              <a:lnSpc>
                <a:spcPct val="100000"/>
              </a:lnSpc>
              <a:spcBef>
                <a:spcPts val="95"/>
              </a:spcBef>
            </a:pPr>
            <a:r>
              <a:rPr sz="3200" b="1" spc="-10" dirty="0">
                <a:latin typeface="Times New Roman"/>
                <a:cs typeface="Times New Roman"/>
              </a:rPr>
              <a:t>GST</a:t>
            </a:r>
            <a:r>
              <a:rPr sz="3200" b="1" spc="-35" dirty="0">
                <a:latin typeface="Times New Roman"/>
                <a:cs typeface="Times New Roman"/>
              </a:rPr>
              <a:t> </a:t>
            </a:r>
            <a:r>
              <a:rPr sz="3200" b="1" spc="-5" dirty="0">
                <a:latin typeface="Times New Roman"/>
                <a:cs typeface="Times New Roman"/>
              </a:rPr>
              <a:t>-</a:t>
            </a:r>
            <a:r>
              <a:rPr sz="3200" b="1" spc="-30" dirty="0">
                <a:latin typeface="Times New Roman"/>
                <a:cs typeface="Times New Roman"/>
              </a:rPr>
              <a:t> </a:t>
            </a:r>
            <a:r>
              <a:rPr sz="3200" b="1" spc="-10" dirty="0">
                <a:latin typeface="Times New Roman"/>
                <a:cs typeface="Times New Roman"/>
              </a:rPr>
              <a:t>Impact</a:t>
            </a:r>
            <a:r>
              <a:rPr sz="3200" b="1" spc="40" dirty="0">
                <a:latin typeface="Times New Roman"/>
                <a:cs typeface="Times New Roman"/>
              </a:rPr>
              <a:t> </a:t>
            </a:r>
            <a:r>
              <a:rPr sz="3200" b="1" spc="-5" dirty="0">
                <a:latin typeface="Times New Roman"/>
                <a:cs typeface="Times New Roman"/>
              </a:rPr>
              <a:t>on</a:t>
            </a:r>
            <a:r>
              <a:rPr sz="3200" b="1" spc="-15" dirty="0">
                <a:latin typeface="Times New Roman"/>
                <a:cs typeface="Times New Roman"/>
              </a:rPr>
              <a:t> </a:t>
            </a:r>
            <a:r>
              <a:rPr sz="3200" b="1" spc="-5" dirty="0">
                <a:latin typeface="Times New Roman"/>
                <a:cs typeface="Times New Roman"/>
              </a:rPr>
              <a:t>Cost</a:t>
            </a:r>
            <a:r>
              <a:rPr sz="3200" b="1" spc="-15" dirty="0">
                <a:latin typeface="Times New Roman"/>
                <a:cs typeface="Times New Roman"/>
              </a:rPr>
              <a:t> </a:t>
            </a:r>
            <a:r>
              <a:rPr sz="3200" b="1" spc="-5" dirty="0">
                <a:latin typeface="Times New Roman"/>
                <a:cs typeface="Times New Roman"/>
              </a:rPr>
              <a:t>and</a:t>
            </a:r>
            <a:r>
              <a:rPr sz="3200" b="1" spc="-15" dirty="0">
                <a:latin typeface="Times New Roman"/>
                <a:cs typeface="Times New Roman"/>
              </a:rPr>
              <a:t> </a:t>
            </a:r>
            <a:r>
              <a:rPr sz="3200" b="1" spc="-5" dirty="0">
                <a:latin typeface="Times New Roman"/>
                <a:cs typeface="Times New Roman"/>
              </a:rPr>
              <a:t>ITC</a:t>
            </a:r>
            <a:endParaRPr sz="3200">
              <a:latin typeface="Times New Roman"/>
              <a:cs typeface="Times New Roman"/>
            </a:endParaRPr>
          </a:p>
        </p:txBody>
      </p:sp>
      <p:sp>
        <p:nvSpPr>
          <p:cNvPr id="18" name="object 18"/>
          <p:cNvSpPr/>
          <p:nvPr/>
        </p:nvSpPr>
        <p:spPr>
          <a:xfrm>
            <a:off x="3105911" y="1542288"/>
            <a:ext cx="4746625" cy="109855"/>
          </a:xfrm>
          <a:custGeom>
            <a:avLst/>
            <a:gdLst/>
            <a:ahLst/>
            <a:cxnLst/>
            <a:rect l="l" t="t" r="r" b="b"/>
            <a:pathLst>
              <a:path w="4746625" h="109855">
                <a:moveTo>
                  <a:pt x="4710012" y="54863"/>
                </a:moveTo>
                <a:lnTo>
                  <a:pt x="4647311" y="91439"/>
                </a:lnTo>
                <a:lnTo>
                  <a:pt x="4642866" y="93979"/>
                </a:lnTo>
                <a:lnTo>
                  <a:pt x="4641469" y="99567"/>
                </a:lnTo>
                <a:lnTo>
                  <a:pt x="4644009" y="103886"/>
                </a:lnTo>
                <a:lnTo>
                  <a:pt x="4646548" y="108331"/>
                </a:lnTo>
                <a:lnTo>
                  <a:pt x="4652137" y="109727"/>
                </a:lnTo>
                <a:lnTo>
                  <a:pt x="4730552" y="64008"/>
                </a:lnTo>
                <a:lnTo>
                  <a:pt x="4728210" y="64008"/>
                </a:lnTo>
                <a:lnTo>
                  <a:pt x="4728210" y="62737"/>
                </a:lnTo>
                <a:lnTo>
                  <a:pt x="4723511" y="62737"/>
                </a:lnTo>
                <a:lnTo>
                  <a:pt x="4710012" y="54863"/>
                </a:lnTo>
                <a:close/>
              </a:path>
              <a:path w="4746625" h="109855">
                <a:moveTo>
                  <a:pt x="4694337" y="45720"/>
                </a:moveTo>
                <a:lnTo>
                  <a:pt x="0" y="45720"/>
                </a:lnTo>
                <a:lnTo>
                  <a:pt x="0" y="64008"/>
                </a:lnTo>
                <a:lnTo>
                  <a:pt x="4694337" y="64008"/>
                </a:lnTo>
                <a:lnTo>
                  <a:pt x="4710012" y="54863"/>
                </a:lnTo>
                <a:lnTo>
                  <a:pt x="4694337" y="45720"/>
                </a:lnTo>
                <a:close/>
              </a:path>
              <a:path w="4746625" h="109855">
                <a:moveTo>
                  <a:pt x="4730552" y="45720"/>
                </a:moveTo>
                <a:lnTo>
                  <a:pt x="4728210" y="45720"/>
                </a:lnTo>
                <a:lnTo>
                  <a:pt x="4728210" y="64008"/>
                </a:lnTo>
                <a:lnTo>
                  <a:pt x="4730552" y="64008"/>
                </a:lnTo>
                <a:lnTo>
                  <a:pt x="4746244" y="54863"/>
                </a:lnTo>
                <a:lnTo>
                  <a:pt x="4730552" y="45720"/>
                </a:lnTo>
                <a:close/>
              </a:path>
              <a:path w="4746625" h="109855">
                <a:moveTo>
                  <a:pt x="4723511" y="46989"/>
                </a:moveTo>
                <a:lnTo>
                  <a:pt x="4710012" y="54863"/>
                </a:lnTo>
                <a:lnTo>
                  <a:pt x="4723511" y="62737"/>
                </a:lnTo>
                <a:lnTo>
                  <a:pt x="4723511" y="46989"/>
                </a:lnTo>
                <a:close/>
              </a:path>
              <a:path w="4746625" h="109855">
                <a:moveTo>
                  <a:pt x="4728210" y="46989"/>
                </a:moveTo>
                <a:lnTo>
                  <a:pt x="4723511" y="46989"/>
                </a:lnTo>
                <a:lnTo>
                  <a:pt x="4723511" y="62737"/>
                </a:lnTo>
                <a:lnTo>
                  <a:pt x="4728210" y="62737"/>
                </a:lnTo>
                <a:lnTo>
                  <a:pt x="4728210" y="46989"/>
                </a:lnTo>
                <a:close/>
              </a:path>
              <a:path w="4746625" h="109855">
                <a:moveTo>
                  <a:pt x="4652137" y="0"/>
                </a:moveTo>
                <a:lnTo>
                  <a:pt x="4646548" y="1397"/>
                </a:lnTo>
                <a:lnTo>
                  <a:pt x="4644009" y="5841"/>
                </a:lnTo>
                <a:lnTo>
                  <a:pt x="4641469" y="10160"/>
                </a:lnTo>
                <a:lnTo>
                  <a:pt x="4642866" y="15748"/>
                </a:lnTo>
                <a:lnTo>
                  <a:pt x="4647311" y="18287"/>
                </a:lnTo>
                <a:lnTo>
                  <a:pt x="4710012" y="54863"/>
                </a:lnTo>
                <a:lnTo>
                  <a:pt x="4723511" y="46989"/>
                </a:lnTo>
                <a:lnTo>
                  <a:pt x="4728210" y="46989"/>
                </a:lnTo>
                <a:lnTo>
                  <a:pt x="4728210" y="45720"/>
                </a:lnTo>
                <a:lnTo>
                  <a:pt x="4730552" y="45720"/>
                </a:lnTo>
                <a:lnTo>
                  <a:pt x="4652137" y="0"/>
                </a:lnTo>
                <a:close/>
              </a:path>
            </a:pathLst>
          </a:custGeom>
          <a:solidFill>
            <a:srgbClr val="FF0000"/>
          </a:solidFill>
        </p:spPr>
        <p:txBody>
          <a:bodyPr wrap="square" lIns="0" tIns="0" rIns="0" bIns="0" rtlCol="0"/>
          <a:lstStyle/>
          <a:p>
            <a:endParaRPr/>
          </a:p>
        </p:txBody>
      </p:sp>
      <p:pic>
        <p:nvPicPr>
          <p:cNvPr id="19" name="object 19"/>
          <p:cNvPicPr/>
          <p:nvPr/>
        </p:nvPicPr>
        <p:blipFill>
          <a:blip r:embed="rId3" cstate="print"/>
          <a:stretch>
            <a:fillRect/>
          </a:stretch>
        </p:blipFill>
        <p:spPr>
          <a:xfrm>
            <a:off x="85343" y="0"/>
            <a:ext cx="582168" cy="674813"/>
          </a:xfrm>
          <a:prstGeom prst="rect">
            <a:avLst/>
          </a:prstGeom>
        </p:spPr>
      </p:pic>
    </p:spTree>
    <p:extLst>
      <p:ext uri="{BB962C8B-B14F-4D97-AF65-F5344CB8AC3E}">
        <p14:creationId xmlns:p14="http://schemas.microsoft.com/office/powerpoint/2010/main" val="31525530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sz="2800" dirty="0">
              <a:solidFill>
                <a:schemeClr val="tx1"/>
              </a:solidFill>
            </a:endParaRPr>
          </a:p>
          <a:p>
            <a:pPr marL="457200" indent="-457200">
              <a:buFont typeface="Wingdings" panose="05000000000000000000" pitchFamily="2" charset="2"/>
              <a:buChar char="Ø"/>
            </a:pPr>
            <a:endParaRPr lang="en-IN" sz="2800" dirty="0" smtClean="0">
              <a:solidFill>
                <a:schemeClr val="tx1"/>
              </a:solidFill>
            </a:endParaRPr>
          </a:p>
          <a:p>
            <a:pPr marL="457200" indent="-457200">
              <a:buFont typeface="Wingdings" panose="05000000000000000000" pitchFamily="2" charset="2"/>
              <a:buChar char="Ø"/>
            </a:pPr>
            <a:endParaRPr lang="en-IN" sz="2600" dirty="0">
              <a:solidFill>
                <a:schemeClr val="tx1"/>
              </a:solidFill>
            </a:endParaRPr>
          </a:p>
          <a:p>
            <a:pPr marL="457200" indent="-457200">
              <a:buFont typeface="Wingdings" panose="05000000000000000000" pitchFamily="2" charset="2"/>
              <a:buChar char="Ø"/>
            </a:pPr>
            <a:endParaRPr lang="en-US" sz="26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smtClean="0">
                <a:solidFill>
                  <a:schemeClr val="tx1"/>
                </a:solidFill>
                <a:latin typeface="Times New Roman" panose="02020603050405020304" pitchFamily="18" charset="0"/>
                <a:cs typeface="Times New Roman" panose="02020603050405020304" pitchFamily="18" charset="0"/>
              </a:rPr>
              <a:t> </a:t>
            </a:r>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2118360" y="72579"/>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1"/>
                </a:solidFill>
                <a:latin typeface="Times New Roman" panose="02020603050405020304" pitchFamily="18" charset="0"/>
                <a:cs typeface="Times New Roman" panose="02020603050405020304" pitchFamily="18" charset="0"/>
              </a:rPr>
              <a:t>Goods and Services Tax (GST)</a:t>
            </a:r>
          </a:p>
        </p:txBody>
      </p:sp>
      <p:pic>
        <p:nvPicPr>
          <p:cNvPr id="2" name="Picture 1"/>
          <p:cNvPicPr>
            <a:picLocks noChangeAspect="1"/>
          </p:cNvPicPr>
          <p:nvPr/>
        </p:nvPicPr>
        <p:blipFill>
          <a:blip r:embed="rId2"/>
          <a:stretch>
            <a:fillRect/>
          </a:stretch>
        </p:blipFill>
        <p:spPr>
          <a:xfrm>
            <a:off x="622788" y="791036"/>
            <a:ext cx="10284697" cy="5368260"/>
          </a:xfrm>
          <a:prstGeom prst="rect">
            <a:avLst/>
          </a:prstGeom>
        </p:spPr>
      </p:pic>
    </p:spTree>
    <p:extLst>
      <p:ext uri="{BB962C8B-B14F-4D97-AF65-F5344CB8AC3E}">
        <p14:creationId xmlns:p14="http://schemas.microsoft.com/office/powerpoint/2010/main" val="1396206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sz="2800" dirty="0">
              <a:solidFill>
                <a:schemeClr val="tx1"/>
              </a:solidFill>
            </a:endParaRPr>
          </a:p>
          <a:p>
            <a:pPr marL="457200" indent="-457200">
              <a:buFont typeface="Wingdings" panose="05000000000000000000" pitchFamily="2" charset="2"/>
              <a:buChar char="Ø"/>
            </a:pPr>
            <a:endParaRPr lang="en-IN" sz="2800" dirty="0" smtClean="0">
              <a:solidFill>
                <a:schemeClr val="tx1"/>
              </a:solidFill>
            </a:endParaRPr>
          </a:p>
          <a:p>
            <a:pPr marL="457200" indent="-457200">
              <a:buFont typeface="Wingdings" panose="05000000000000000000" pitchFamily="2" charset="2"/>
              <a:buChar char="Ø"/>
            </a:pPr>
            <a:endParaRPr lang="en-IN" sz="2600" dirty="0">
              <a:solidFill>
                <a:schemeClr val="tx1"/>
              </a:solidFill>
            </a:endParaRPr>
          </a:p>
          <a:p>
            <a:pPr marL="457200" indent="-457200">
              <a:buFont typeface="Wingdings" panose="05000000000000000000" pitchFamily="2" charset="2"/>
              <a:buChar char="Ø"/>
            </a:pPr>
            <a:endParaRPr lang="en-US" sz="26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smtClean="0">
                <a:solidFill>
                  <a:schemeClr val="tx1"/>
                </a:solidFill>
                <a:latin typeface="Times New Roman" panose="02020603050405020304" pitchFamily="18" charset="0"/>
                <a:cs typeface="Times New Roman" panose="02020603050405020304" pitchFamily="18" charset="0"/>
              </a:rPr>
              <a:t> </a:t>
            </a:r>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2118360" y="72579"/>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1"/>
                </a:solidFill>
                <a:latin typeface="Times New Roman" panose="02020603050405020304" pitchFamily="18" charset="0"/>
                <a:cs typeface="Times New Roman" panose="02020603050405020304" pitchFamily="18" charset="0"/>
              </a:rPr>
              <a:t>Goods and Services Tax (GST)</a:t>
            </a:r>
          </a:p>
        </p:txBody>
      </p:sp>
      <p:pic>
        <p:nvPicPr>
          <p:cNvPr id="3" name="Picture 2"/>
          <p:cNvPicPr>
            <a:picLocks noChangeAspect="1"/>
          </p:cNvPicPr>
          <p:nvPr/>
        </p:nvPicPr>
        <p:blipFill>
          <a:blip r:embed="rId2"/>
          <a:stretch>
            <a:fillRect/>
          </a:stretch>
        </p:blipFill>
        <p:spPr>
          <a:xfrm>
            <a:off x="2118360" y="895622"/>
            <a:ext cx="8203093" cy="5456576"/>
          </a:xfrm>
          <a:prstGeom prst="rect">
            <a:avLst/>
          </a:prstGeom>
        </p:spPr>
      </p:pic>
    </p:spTree>
    <p:extLst>
      <p:ext uri="{BB962C8B-B14F-4D97-AF65-F5344CB8AC3E}">
        <p14:creationId xmlns:p14="http://schemas.microsoft.com/office/powerpoint/2010/main" val="1001710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sz="2800" dirty="0">
              <a:solidFill>
                <a:schemeClr val="tx1"/>
              </a:solidFill>
            </a:endParaRPr>
          </a:p>
          <a:p>
            <a:pPr marL="457200" indent="-457200">
              <a:buFont typeface="Wingdings" panose="05000000000000000000" pitchFamily="2" charset="2"/>
              <a:buChar char="Ø"/>
            </a:pPr>
            <a:endParaRPr lang="en-IN" sz="2800" dirty="0" smtClean="0">
              <a:solidFill>
                <a:schemeClr val="tx1"/>
              </a:solidFill>
            </a:endParaRPr>
          </a:p>
          <a:p>
            <a:pPr marL="457200" indent="-457200">
              <a:buFont typeface="Wingdings" panose="05000000000000000000" pitchFamily="2" charset="2"/>
              <a:buChar char="Ø"/>
            </a:pPr>
            <a:endParaRPr lang="en-IN" sz="2600" dirty="0">
              <a:solidFill>
                <a:schemeClr val="tx1"/>
              </a:solidFill>
            </a:endParaRPr>
          </a:p>
          <a:p>
            <a:pPr marL="457200" indent="-457200">
              <a:buFont typeface="Wingdings" panose="05000000000000000000" pitchFamily="2" charset="2"/>
              <a:buChar char="Ø"/>
            </a:pPr>
            <a:endParaRPr lang="en-US" sz="26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smtClean="0">
                <a:solidFill>
                  <a:schemeClr val="tx1"/>
                </a:solidFill>
                <a:latin typeface="Times New Roman" panose="02020603050405020304" pitchFamily="18" charset="0"/>
                <a:cs typeface="Times New Roman" panose="02020603050405020304" pitchFamily="18" charset="0"/>
              </a:rPr>
              <a:t> </a:t>
            </a:r>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2118360" y="72579"/>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1"/>
                </a:solidFill>
                <a:latin typeface="Times New Roman" panose="02020603050405020304" pitchFamily="18" charset="0"/>
                <a:cs typeface="Times New Roman" panose="02020603050405020304" pitchFamily="18" charset="0"/>
              </a:rPr>
              <a:t>Goods and Services Tax (GST)</a:t>
            </a:r>
          </a:p>
        </p:txBody>
      </p:sp>
      <p:pic>
        <p:nvPicPr>
          <p:cNvPr id="2" name="Picture 1"/>
          <p:cNvPicPr>
            <a:picLocks noChangeAspect="1"/>
          </p:cNvPicPr>
          <p:nvPr/>
        </p:nvPicPr>
        <p:blipFill>
          <a:blip r:embed="rId2"/>
          <a:stretch>
            <a:fillRect/>
          </a:stretch>
        </p:blipFill>
        <p:spPr>
          <a:xfrm>
            <a:off x="571524" y="1385598"/>
            <a:ext cx="10413820" cy="4105468"/>
          </a:xfrm>
          <a:prstGeom prst="rect">
            <a:avLst/>
          </a:prstGeom>
        </p:spPr>
      </p:pic>
    </p:spTree>
    <p:extLst>
      <p:ext uri="{BB962C8B-B14F-4D97-AF65-F5344CB8AC3E}">
        <p14:creationId xmlns:p14="http://schemas.microsoft.com/office/powerpoint/2010/main" val="3044864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sz="2800" dirty="0">
              <a:solidFill>
                <a:schemeClr val="tx1"/>
              </a:solidFill>
            </a:endParaRPr>
          </a:p>
          <a:p>
            <a:pPr marL="457200" indent="-457200">
              <a:buFont typeface="Wingdings" panose="05000000000000000000" pitchFamily="2" charset="2"/>
              <a:buChar char="Ø"/>
            </a:pPr>
            <a:endParaRPr lang="en-IN" sz="2800" dirty="0" smtClean="0">
              <a:solidFill>
                <a:schemeClr val="tx1"/>
              </a:solidFill>
            </a:endParaRPr>
          </a:p>
          <a:p>
            <a:pPr marL="457200" indent="-457200">
              <a:buFont typeface="Wingdings" panose="05000000000000000000" pitchFamily="2" charset="2"/>
              <a:buChar char="Ø"/>
            </a:pPr>
            <a:endParaRPr lang="en-IN" sz="2600" dirty="0">
              <a:solidFill>
                <a:schemeClr val="tx1"/>
              </a:solidFill>
            </a:endParaRPr>
          </a:p>
          <a:p>
            <a:pPr marL="457200" indent="-457200">
              <a:buFont typeface="Wingdings" panose="05000000000000000000" pitchFamily="2" charset="2"/>
              <a:buChar char="Ø"/>
            </a:pPr>
            <a:endParaRPr lang="en-US" sz="26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smtClean="0">
                <a:solidFill>
                  <a:schemeClr val="tx1"/>
                </a:solidFill>
                <a:latin typeface="Times New Roman" panose="02020603050405020304" pitchFamily="18" charset="0"/>
                <a:cs typeface="Times New Roman" panose="02020603050405020304" pitchFamily="18" charset="0"/>
              </a:rPr>
              <a:t> </a:t>
            </a:r>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2118360" y="72579"/>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1"/>
                </a:solidFill>
                <a:latin typeface="Times New Roman" panose="02020603050405020304" pitchFamily="18" charset="0"/>
                <a:cs typeface="Times New Roman" panose="02020603050405020304" pitchFamily="18" charset="0"/>
              </a:rPr>
              <a:t>Goods and Services Tax (GST)</a:t>
            </a:r>
          </a:p>
        </p:txBody>
      </p:sp>
      <p:pic>
        <p:nvPicPr>
          <p:cNvPr id="3" name="Picture 2"/>
          <p:cNvPicPr>
            <a:picLocks noChangeAspect="1"/>
          </p:cNvPicPr>
          <p:nvPr/>
        </p:nvPicPr>
        <p:blipFill>
          <a:blip r:embed="rId2"/>
          <a:stretch>
            <a:fillRect/>
          </a:stretch>
        </p:blipFill>
        <p:spPr>
          <a:xfrm>
            <a:off x="442329" y="965557"/>
            <a:ext cx="10672209" cy="4791431"/>
          </a:xfrm>
          <a:prstGeom prst="rect">
            <a:avLst/>
          </a:prstGeom>
        </p:spPr>
      </p:pic>
      <p:pic>
        <p:nvPicPr>
          <p:cNvPr id="6" name="Picture 5"/>
          <p:cNvPicPr>
            <a:picLocks noChangeAspect="1"/>
          </p:cNvPicPr>
          <p:nvPr/>
        </p:nvPicPr>
        <p:blipFill>
          <a:blip r:embed="rId3"/>
          <a:stretch>
            <a:fillRect/>
          </a:stretch>
        </p:blipFill>
        <p:spPr>
          <a:xfrm>
            <a:off x="3928849" y="5839193"/>
            <a:ext cx="3998400" cy="437733"/>
          </a:xfrm>
          <a:prstGeom prst="rect">
            <a:avLst/>
          </a:prstGeom>
        </p:spPr>
      </p:pic>
    </p:spTree>
    <p:extLst>
      <p:ext uri="{BB962C8B-B14F-4D97-AF65-F5344CB8AC3E}">
        <p14:creationId xmlns:p14="http://schemas.microsoft.com/office/powerpoint/2010/main" val="3916681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sz="2800" dirty="0">
              <a:solidFill>
                <a:schemeClr val="tx1"/>
              </a:solidFill>
            </a:endParaRPr>
          </a:p>
          <a:p>
            <a:pPr marL="457200" indent="-457200">
              <a:buFont typeface="Wingdings" panose="05000000000000000000" pitchFamily="2" charset="2"/>
              <a:buChar char="Ø"/>
            </a:pPr>
            <a:endParaRPr lang="en-IN" sz="2800" dirty="0" smtClean="0">
              <a:solidFill>
                <a:schemeClr val="tx1"/>
              </a:solidFill>
            </a:endParaRPr>
          </a:p>
          <a:p>
            <a:pPr marL="457200" indent="-457200">
              <a:buFont typeface="Wingdings" panose="05000000000000000000" pitchFamily="2" charset="2"/>
              <a:buChar char="Ø"/>
            </a:pPr>
            <a:endParaRPr lang="en-IN" sz="2600" dirty="0">
              <a:solidFill>
                <a:schemeClr val="tx1"/>
              </a:solidFill>
            </a:endParaRPr>
          </a:p>
          <a:p>
            <a:pPr marL="457200" indent="-457200">
              <a:buFont typeface="Wingdings" panose="05000000000000000000" pitchFamily="2" charset="2"/>
              <a:buChar char="Ø"/>
            </a:pPr>
            <a:endParaRPr lang="en-US" sz="26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smtClean="0">
                <a:solidFill>
                  <a:schemeClr val="tx1"/>
                </a:solidFill>
                <a:latin typeface="Times New Roman" panose="02020603050405020304" pitchFamily="18" charset="0"/>
                <a:cs typeface="Times New Roman" panose="02020603050405020304" pitchFamily="18" charset="0"/>
              </a:rPr>
              <a:t> </a:t>
            </a:r>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2118360" y="72579"/>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smtClean="0">
                <a:solidFill>
                  <a:schemeClr val="bg1"/>
                </a:solidFill>
                <a:latin typeface="Times New Roman" panose="02020603050405020304" pitchFamily="18" charset="0"/>
                <a:cs typeface="Times New Roman" panose="02020603050405020304" pitchFamily="18" charset="0"/>
              </a:rPr>
              <a:t>GST</a:t>
            </a:r>
            <a:r>
              <a:rPr lang="en-US" sz="3600" b="1" dirty="0">
                <a:solidFill>
                  <a:schemeClr val="bg1"/>
                </a:solidFill>
                <a:latin typeface="Times New Roman" panose="02020603050405020304" pitchFamily="18" charset="0"/>
                <a:cs typeface="Times New Roman" panose="02020603050405020304" pitchFamily="18" charset="0"/>
              </a:rPr>
              <a:t> </a:t>
            </a:r>
            <a:r>
              <a:rPr lang="en-US" sz="3600" b="1" dirty="0" smtClean="0">
                <a:solidFill>
                  <a:schemeClr val="bg1"/>
                </a:solidFill>
                <a:latin typeface="Times New Roman" panose="02020603050405020304" pitchFamily="18" charset="0"/>
                <a:cs typeface="Times New Roman" panose="02020603050405020304" pitchFamily="18" charset="0"/>
              </a:rPr>
              <a:t>Slab</a:t>
            </a:r>
            <a:endParaRPr lang="en-US" sz="3600" b="1" dirty="0">
              <a:solidFill>
                <a:schemeClr val="bg1"/>
              </a:solidFill>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1118936" y="791036"/>
            <a:ext cx="9456822" cy="5476510"/>
          </a:xfrm>
          <a:prstGeom prst="rect">
            <a:avLst/>
          </a:prstGeom>
        </p:spPr>
      </p:pic>
    </p:spTree>
    <p:extLst>
      <p:ext uri="{BB962C8B-B14F-4D97-AF65-F5344CB8AC3E}">
        <p14:creationId xmlns:p14="http://schemas.microsoft.com/office/powerpoint/2010/main" val="4176394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sz="2800" dirty="0">
              <a:solidFill>
                <a:schemeClr val="tx1"/>
              </a:solidFill>
            </a:endParaRPr>
          </a:p>
          <a:p>
            <a:pPr marL="457200" indent="-457200">
              <a:buFont typeface="Wingdings" panose="05000000000000000000" pitchFamily="2" charset="2"/>
              <a:buChar char="Ø"/>
            </a:pPr>
            <a:endParaRPr lang="en-IN" sz="2800" dirty="0" smtClean="0">
              <a:solidFill>
                <a:schemeClr val="tx1"/>
              </a:solidFill>
            </a:endParaRPr>
          </a:p>
          <a:p>
            <a:pPr marL="457200" indent="-457200">
              <a:buFont typeface="Wingdings" panose="05000000000000000000" pitchFamily="2" charset="2"/>
              <a:buChar char="Ø"/>
            </a:pPr>
            <a:endParaRPr lang="en-IN" sz="2600" dirty="0">
              <a:solidFill>
                <a:schemeClr val="tx1"/>
              </a:solidFill>
            </a:endParaRPr>
          </a:p>
          <a:p>
            <a:pPr marL="457200" indent="-457200">
              <a:buFont typeface="Wingdings" panose="05000000000000000000" pitchFamily="2" charset="2"/>
              <a:buChar char="Ø"/>
            </a:pPr>
            <a:endParaRPr lang="en-US" sz="26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smtClean="0">
                <a:solidFill>
                  <a:schemeClr val="tx1"/>
                </a:solidFill>
                <a:latin typeface="Times New Roman" panose="02020603050405020304" pitchFamily="18" charset="0"/>
                <a:cs typeface="Times New Roman" panose="02020603050405020304" pitchFamily="18" charset="0"/>
              </a:rPr>
              <a:t> </a:t>
            </a:r>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2118360" y="72579"/>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smtClean="0">
                <a:solidFill>
                  <a:schemeClr val="bg1"/>
                </a:solidFill>
                <a:latin typeface="Times New Roman" panose="02020603050405020304" pitchFamily="18" charset="0"/>
                <a:cs typeface="Times New Roman" panose="02020603050405020304" pitchFamily="18" charset="0"/>
              </a:rPr>
              <a:t>GST</a:t>
            </a:r>
            <a:r>
              <a:rPr lang="en-US" sz="3600" b="1" dirty="0">
                <a:solidFill>
                  <a:schemeClr val="bg1"/>
                </a:solidFill>
                <a:latin typeface="Times New Roman" panose="02020603050405020304" pitchFamily="18" charset="0"/>
                <a:cs typeface="Times New Roman" panose="02020603050405020304" pitchFamily="18" charset="0"/>
              </a:rPr>
              <a:t> </a:t>
            </a:r>
            <a:r>
              <a:rPr lang="en-US" sz="3600" b="1" dirty="0" smtClean="0">
                <a:solidFill>
                  <a:schemeClr val="bg1"/>
                </a:solidFill>
                <a:latin typeface="Times New Roman" panose="02020603050405020304" pitchFamily="18" charset="0"/>
                <a:cs typeface="Times New Roman" panose="02020603050405020304" pitchFamily="18" charset="0"/>
              </a:rPr>
              <a:t>Slab</a:t>
            </a:r>
            <a:endParaRPr lang="en-US" sz="3600" b="1" dirty="0">
              <a:solidFill>
                <a:schemeClr val="bg1"/>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1070811" y="737310"/>
            <a:ext cx="9654256" cy="5560854"/>
          </a:xfrm>
          <a:prstGeom prst="rect">
            <a:avLst/>
          </a:prstGeom>
        </p:spPr>
      </p:pic>
    </p:spTree>
    <p:extLst>
      <p:ext uri="{BB962C8B-B14F-4D97-AF65-F5344CB8AC3E}">
        <p14:creationId xmlns:p14="http://schemas.microsoft.com/office/powerpoint/2010/main" val="1873833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5" y="419878"/>
            <a:ext cx="11520111" cy="6139541"/>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sz="2800" dirty="0">
              <a:solidFill>
                <a:schemeClr val="tx1"/>
              </a:solidFill>
            </a:endParaRPr>
          </a:p>
          <a:p>
            <a:pPr marL="457200" indent="-457200">
              <a:buFont typeface="Wingdings" panose="05000000000000000000" pitchFamily="2" charset="2"/>
              <a:buChar char="Ø"/>
            </a:pPr>
            <a:endParaRPr lang="en-IN" sz="2800" dirty="0" smtClean="0">
              <a:solidFill>
                <a:schemeClr val="tx1"/>
              </a:solidFill>
            </a:endParaRPr>
          </a:p>
          <a:p>
            <a:pPr marL="457200" indent="-457200">
              <a:buFont typeface="Wingdings" panose="05000000000000000000" pitchFamily="2" charset="2"/>
              <a:buChar char="Ø"/>
            </a:pPr>
            <a:endParaRPr lang="en-IN" sz="2600" dirty="0">
              <a:solidFill>
                <a:schemeClr val="tx1"/>
              </a:solidFill>
            </a:endParaRPr>
          </a:p>
          <a:p>
            <a:pPr marL="457200" indent="-457200">
              <a:buFont typeface="Wingdings" panose="05000000000000000000" pitchFamily="2" charset="2"/>
              <a:buChar char="Ø"/>
            </a:pPr>
            <a:endParaRPr lang="en-US" sz="26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smtClean="0">
                <a:solidFill>
                  <a:schemeClr val="tx1"/>
                </a:solidFill>
                <a:latin typeface="Times New Roman" panose="02020603050405020304" pitchFamily="18" charset="0"/>
                <a:cs typeface="Times New Roman" panose="02020603050405020304" pitchFamily="18" charset="0"/>
              </a:rPr>
              <a:t> </a:t>
            </a:r>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2118360" y="72579"/>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smtClean="0">
                <a:solidFill>
                  <a:schemeClr val="bg1"/>
                </a:solidFill>
                <a:latin typeface="Times New Roman" panose="02020603050405020304" pitchFamily="18" charset="0"/>
                <a:cs typeface="Times New Roman" panose="02020603050405020304" pitchFamily="18" charset="0"/>
              </a:rPr>
              <a:t>VAT v/s GST </a:t>
            </a:r>
            <a:endParaRPr lang="en-US" sz="3600" b="1" dirty="0">
              <a:solidFill>
                <a:schemeClr val="bg1"/>
              </a:solidFill>
              <a:latin typeface="Times New Roman" panose="02020603050405020304" pitchFamily="18" charset="0"/>
              <a:cs typeface="Times New Roman" panose="02020603050405020304" pitchFamily="18" charset="0"/>
            </a:endParaRPr>
          </a:p>
        </p:txBody>
      </p:sp>
      <p:graphicFrame>
        <p:nvGraphicFramePr>
          <p:cNvPr id="2" name="Table 1"/>
          <p:cNvGraphicFramePr>
            <a:graphicFrameLocks noGrp="1"/>
          </p:cNvGraphicFramePr>
          <p:nvPr>
            <p:extLst>
              <p:ext uri="{D42A27DB-BD31-4B8C-83A1-F6EECF244321}">
                <p14:modId xmlns:p14="http://schemas.microsoft.com/office/powerpoint/2010/main" val="748086748"/>
              </p:ext>
            </p:extLst>
          </p:nvPr>
        </p:nvGraphicFramePr>
        <p:xfrm>
          <a:off x="709127" y="857106"/>
          <a:ext cx="10823509" cy="5350447"/>
        </p:xfrm>
        <a:graphic>
          <a:graphicData uri="http://schemas.openxmlformats.org/drawingml/2006/table">
            <a:tbl>
              <a:tblPr firstRow="1" bandRow="1">
                <a:tableStyleId>{5C22544A-7EE6-4342-B048-85BDC9FD1C3A}</a:tableStyleId>
              </a:tblPr>
              <a:tblGrid>
                <a:gridCol w="2244016">
                  <a:extLst>
                    <a:ext uri="{9D8B030D-6E8A-4147-A177-3AD203B41FA5}">
                      <a16:colId xmlns:a16="http://schemas.microsoft.com/office/drawing/2014/main" val="602336789"/>
                    </a:ext>
                  </a:extLst>
                </a:gridCol>
                <a:gridCol w="4641625">
                  <a:extLst>
                    <a:ext uri="{9D8B030D-6E8A-4147-A177-3AD203B41FA5}">
                      <a16:colId xmlns:a16="http://schemas.microsoft.com/office/drawing/2014/main" val="3231671492"/>
                    </a:ext>
                  </a:extLst>
                </a:gridCol>
                <a:gridCol w="3937868">
                  <a:extLst>
                    <a:ext uri="{9D8B030D-6E8A-4147-A177-3AD203B41FA5}">
                      <a16:colId xmlns:a16="http://schemas.microsoft.com/office/drawing/2014/main" val="2142036151"/>
                    </a:ext>
                  </a:extLst>
                </a:gridCol>
              </a:tblGrid>
              <a:tr h="357673">
                <a:tc>
                  <a:txBody>
                    <a:bodyPr/>
                    <a:lstStyle/>
                    <a:p>
                      <a:pPr algn="ctr">
                        <a:lnSpc>
                          <a:spcPct val="107000"/>
                        </a:lnSpc>
                        <a:spcAft>
                          <a:spcPts val="1200"/>
                        </a:spcAft>
                      </a:pPr>
                      <a:r>
                        <a:rPr lang="en-IN" sz="1400" b="1" cap="all">
                          <a:solidFill>
                            <a:srgbClr val="222222"/>
                          </a:solidFill>
                          <a:effectLst/>
                          <a:latin typeface="Arial" panose="020B0604020202020204" pitchFamily="34" charset="0"/>
                          <a:ea typeface="Calibri" panose="020F0502020204030204" pitchFamily="34" charset="0"/>
                          <a:cs typeface="Times New Roman" panose="02020603050405020304" pitchFamily="18" charset="0"/>
                        </a:rPr>
                        <a:t>BASIS FOR COMPARISON</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nchor="ctr"/>
                </a:tc>
                <a:tc>
                  <a:txBody>
                    <a:bodyPr/>
                    <a:lstStyle/>
                    <a:p>
                      <a:pPr algn="ctr">
                        <a:lnSpc>
                          <a:spcPct val="107000"/>
                        </a:lnSpc>
                        <a:spcAft>
                          <a:spcPts val="1200"/>
                        </a:spcAft>
                      </a:pPr>
                      <a:r>
                        <a:rPr lang="en-IN" sz="1400" b="1" cap="all">
                          <a:solidFill>
                            <a:srgbClr val="222222"/>
                          </a:solidFill>
                          <a:effectLst/>
                          <a:latin typeface="Arial" panose="020B0604020202020204" pitchFamily="34" charset="0"/>
                          <a:ea typeface="Calibri" panose="020F0502020204030204" pitchFamily="34" charset="0"/>
                          <a:cs typeface="Times New Roman" panose="02020603050405020304" pitchFamily="18" charset="0"/>
                        </a:rPr>
                        <a:t>VAT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nchor="ctr"/>
                </a:tc>
                <a:tc>
                  <a:txBody>
                    <a:bodyPr/>
                    <a:lstStyle/>
                    <a:p>
                      <a:pPr algn="ctr">
                        <a:lnSpc>
                          <a:spcPct val="107000"/>
                        </a:lnSpc>
                        <a:spcAft>
                          <a:spcPts val="1200"/>
                        </a:spcAft>
                      </a:pPr>
                      <a:r>
                        <a:rPr lang="en-IN" sz="1400" b="1" cap="all" dirty="0">
                          <a:solidFill>
                            <a:srgbClr val="222222"/>
                          </a:solidFill>
                          <a:effectLst/>
                          <a:latin typeface="Arial" panose="020B0604020202020204" pitchFamily="34" charset="0"/>
                          <a:ea typeface="Calibri" panose="020F0502020204030204" pitchFamily="34" charset="0"/>
                          <a:cs typeface="Times New Roman" panose="02020603050405020304" pitchFamily="18" charset="0"/>
                        </a:rPr>
                        <a:t>GST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nchor="ctr"/>
                </a:tc>
                <a:extLst>
                  <a:ext uri="{0D108BD9-81ED-4DB2-BD59-A6C34878D82A}">
                    <a16:rowId xmlns:a16="http://schemas.microsoft.com/office/drawing/2014/main" val="221571138"/>
                  </a:ext>
                </a:extLst>
              </a:tr>
              <a:tr h="357673">
                <a:tc>
                  <a:txBody>
                    <a:bodyPr/>
                    <a:lstStyle/>
                    <a:p>
                      <a:pPr>
                        <a:lnSpc>
                          <a:spcPct val="107000"/>
                        </a:lnSpc>
                        <a:spcAft>
                          <a:spcPts val="1200"/>
                        </a:spcAft>
                      </a:pPr>
                      <a:r>
                        <a:rPr lang="en-IN" sz="1800" dirty="0">
                          <a:solidFill>
                            <a:srgbClr val="222222"/>
                          </a:solidFill>
                          <a:effectLst/>
                          <a:latin typeface="Arial" panose="020B0604020202020204" pitchFamily="34" charset="0"/>
                          <a:ea typeface="Calibri" panose="020F0502020204030204" pitchFamily="34" charset="0"/>
                          <a:cs typeface="Times New Roman" panose="02020603050405020304" pitchFamily="18" charset="0"/>
                        </a:rPr>
                        <a:t>Meaning</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gn="just">
                        <a:lnSpc>
                          <a:spcPct val="107000"/>
                        </a:lnSpc>
                        <a:spcAft>
                          <a:spcPts val="1200"/>
                        </a:spcAft>
                      </a:pPr>
                      <a:r>
                        <a:rPr lang="en-IN" sz="1600" dirty="0">
                          <a:solidFill>
                            <a:srgbClr val="222222"/>
                          </a:solidFill>
                          <a:effectLst/>
                          <a:latin typeface="Arial" panose="020B0604020202020204" pitchFamily="34" charset="0"/>
                          <a:ea typeface="Calibri" panose="020F0502020204030204" pitchFamily="34" charset="0"/>
                          <a:cs typeface="Times New Roman" panose="02020603050405020304" pitchFamily="18" charset="0"/>
                        </a:rPr>
                        <a:t>VAT is a </a:t>
                      </a:r>
                      <a:r>
                        <a:rPr lang="en-IN" sz="1600" dirty="0">
                          <a:solidFill>
                            <a:srgbClr val="FF0000"/>
                          </a:solidFill>
                          <a:effectLst/>
                          <a:latin typeface="Arial" panose="020B0604020202020204" pitchFamily="34" charset="0"/>
                          <a:ea typeface="Calibri" panose="020F0502020204030204" pitchFamily="34" charset="0"/>
                          <a:cs typeface="Times New Roman" panose="02020603050405020304" pitchFamily="18" charset="0"/>
                        </a:rPr>
                        <a:t>consumption tax</a:t>
                      </a:r>
                      <a:r>
                        <a:rPr lang="en-IN" sz="1600" dirty="0">
                          <a:solidFill>
                            <a:srgbClr val="222222"/>
                          </a:solidFill>
                          <a:effectLst/>
                          <a:latin typeface="Arial" panose="020B0604020202020204" pitchFamily="34" charset="0"/>
                          <a:ea typeface="Calibri" panose="020F0502020204030204" pitchFamily="34" charset="0"/>
                          <a:cs typeface="Times New Roman" panose="02020603050405020304" pitchFamily="18" charset="0"/>
                        </a:rPr>
                        <a:t>, that is levied on the value addition, at each stage of </a:t>
                      </a:r>
                      <a:r>
                        <a:rPr lang="en-IN" sz="1600" dirty="0" smtClean="0">
                          <a:solidFill>
                            <a:srgbClr val="222222"/>
                          </a:solidFill>
                          <a:effectLst/>
                          <a:latin typeface="Arial" panose="020B0604020202020204" pitchFamily="34" charset="0"/>
                          <a:ea typeface="Calibri" panose="020F0502020204030204" pitchFamily="34" charset="0"/>
                          <a:cs typeface="Times New Roman" panose="02020603050405020304" pitchFamily="18" charset="0"/>
                        </a:rPr>
                        <a:t>production / distribution </a:t>
                      </a:r>
                      <a:r>
                        <a:rPr lang="en-IN" sz="1600" dirty="0">
                          <a:solidFill>
                            <a:srgbClr val="222222"/>
                          </a:solidFill>
                          <a:effectLst/>
                          <a:latin typeface="Arial" panose="020B0604020202020204" pitchFamily="34" charset="0"/>
                          <a:ea typeface="Calibri" panose="020F0502020204030204" pitchFamily="34" charset="0"/>
                          <a:cs typeface="Times New Roman" panose="02020603050405020304" pitchFamily="18" charset="0"/>
                        </a:rPr>
                        <a:t>of goods.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gn="just">
                        <a:lnSpc>
                          <a:spcPct val="107000"/>
                        </a:lnSpc>
                        <a:spcAft>
                          <a:spcPts val="1200"/>
                        </a:spcAft>
                      </a:pPr>
                      <a:r>
                        <a:rPr lang="en-IN" sz="1600" dirty="0">
                          <a:solidFill>
                            <a:srgbClr val="222222"/>
                          </a:solidFill>
                          <a:effectLst/>
                          <a:latin typeface="Arial" panose="020B0604020202020204" pitchFamily="34" charset="0"/>
                          <a:ea typeface="Calibri" panose="020F0502020204030204" pitchFamily="34" charset="0"/>
                          <a:cs typeface="Times New Roman" panose="02020603050405020304" pitchFamily="18" charset="0"/>
                        </a:rPr>
                        <a:t>GST is a </a:t>
                      </a:r>
                      <a:r>
                        <a:rPr lang="en-IN" sz="1600" dirty="0">
                          <a:solidFill>
                            <a:srgbClr val="FF0000"/>
                          </a:solidFill>
                          <a:effectLst/>
                          <a:latin typeface="Arial" panose="020B0604020202020204" pitchFamily="34" charset="0"/>
                          <a:ea typeface="Calibri" panose="020F0502020204030204" pitchFamily="34" charset="0"/>
                          <a:cs typeface="Times New Roman" panose="02020603050405020304" pitchFamily="18" charset="0"/>
                        </a:rPr>
                        <a:t>destination based tax</a:t>
                      </a:r>
                      <a:r>
                        <a:rPr lang="en-IN" sz="1600" dirty="0">
                          <a:solidFill>
                            <a:srgbClr val="222222"/>
                          </a:solidFill>
                          <a:effectLst/>
                          <a:latin typeface="Arial" panose="020B0604020202020204" pitchFamily="34" charset="0"/>
                          <a:ea typeface="Calibri" panose="020F0502020204030204" pitchFamily="34" charset="0"/>
                          <a:cs typeface="Times New Roman" panose="02020603050405020304" pitchFamily="18" charset="0"/>
                        </a:rPr>
                        <a:t>, charged on the manufacture, sale and consumption of goods and services.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val="372644633"/>
                  </a:ext>
                </a:extLst>
              </a:tr>
              <a:tr h="357673">
                <a:tc>
                  <a:txBody>
                    <a:bodyPr/>
                    <a:lstStyle/>
                    <a:p>
                      <a:pPr>
                        <a:lnSpc>
                          <a:spcPct val="107000"/>
                        </a:lnSpc>
                        <a:spcAft>
                          <a:spcPts val="1200"/>
                        </a:spcAft>
                      </a:pPr>
                      <a:r>
                        <a:rPr lang="en-IN" sz="1800" dirty="0">
                          <a:solidFill>
                            <a:srgbClr val="222222"/>
                          </a:solidFill>
                          <a:effectLst/>
                          <a:latin typeface="Arial" panose="020B0604020202020204" pitchFamily="34" charset="0"/>
                          <a:ea typeface="Calibri" panose="020F0502020204030204" pitchFamily="34" charset="0"/>
                          <a:cs typeface="Times New Roman" panose="02020603050405020304" pitchFamily="18" charset="0"/>
                        </a:rPr>
                        <a:t>Point of taxation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gn="just">
                        <a:lnSpc>
                          <a:spcPct val="107000"/>
                        </a:lnSpc>
                        <a:spcAft>
                          <a:spcPts val="1200"/>
                        </a:spcAft>
                      </a:pPr>
                      <a:r>
                        <a:rPr lang="en-IN" sz="1600" dirty="0">
                          <a:solidFill>
                            <a:srgbClr val="222222"/>
                          </a:solidFill>
                          <a:effectLst/>
                          <a:latin typeface="Arial" panose="020B0604020202020204" pitchFamily="34" charset="0"/>
                          <a:ea typeface="Calibri" panose="020F0502020204030204" pitchFamily="34" charset="0"/>
                          <a:cs typeface="Times New Roman" panose="02020603050405020304" pitchFamily="18" charset="0"/>
                        </a:rPr>
                        <a:t>Sale of goods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gn="just">
                        <a:lnSpc>
                          <a:spcPct val="107000"/>
                        </a:lnSpc>
                        <a:spcAft>
                          <a:spcPts val="1200"/>
                        </a:spcAft>
                      </a:pPr>
                      <a:r>
                        <a:rPr lang="en-IN" sz="1600" dirty="0">
                          <a:solidFill>
                            <a:srgbClr val="222222"/>
                          </a:solidFill>
                          <a:effectLst/>
                          <a:latin typeface="Arial" panose="020B0604020202020204" pitchFamily="34" charset="0"/>
                          <a:ea typeface="Calibri" panose="020F0502020204030204" pitchFamily="34" charset="0"/>
                          <a:cs typeface="Times New Roman" panose="02020603050405020304" pitchFamily="18" charset="0"/>
                        </a:rPr>
                        <a:t>Supply of goods and services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val="3177899283"/>
                  </a:ext>
                </a:extLst>
              </a:tr>
              <a:tr h="357673">
                <a:tc>
                  <a:txBody>
                    <a:bodyPr/>
                    <a:lstStyle/>
                    <a:p>
                      <a:pPr>
                        <a:lnSpc>
                          <a:spcPct val="107000"/>
                        </a:lnSpc>
                        <a:spcAft>
                          <a:spcPts val="1200"/>
                        </a:spcAft>
                      </a:pPr>
                      <a:r>
                        <a:rPr lang="en-IN" sz="1800" dirty="0">
                          <a:solidFill>
                            <a:srgbClr val="222222"/>
                          </a:solidFill>
                          <a:effectLst/>
                          <a:latin typeface="Arial" panose="020B0604020202020204" pitchFamily="34" charset="0"/>
                          <a:ea typeface="Calibri" panose="020F0502020204030204" pitchFamily="34" charset="0"/>
                          <a:cs typeface="Times New Roman" panose="02020603050405020304" pitchFamily="18" charset="0"/>
                        </a:rPr>
                        <a:t>Payment Mode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gn="just">
                        <a:lnSpc>
                          <a:spcPct val="107000"/>
                        </a:lnSpc>
                        <a:spcAft>
                          <a:spcPts val="1200"/>
                        </a:spcAft>
                      </a:pPr>
                      <a:r>
                        <a:rPr lang="en-IN" sz="1600" dirty="0">
                          <a:solidFill>
                            <a:srgbClr val="222222"/>
                          </a:solidFill>
                          <a:effectLst/>
                          <a:latin typeface="Arial" panose="020B0604020202020204" pitchFamily="34" charset="0"/>
                          <a:ea typeface="Calibri" panose="020F0502020204030204" pitchFamily="34" charset="0"/>
                          <a:cs typeface="Times New Roman" panose="02020603050405020304" pitchFamily="18" charset="0"/>
                        </a:rPr>
                        <a:t>Offline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gn="just">
                        <a:lnSpc>
                          <a:spcPct val="107000"/>
                        </a:lnSpc>
                        <a:spcAft>
                          <a:spcPts val="1200"/>
                        </a:spcAft>
                      </a:pPr>
                      <a:r>
                        <a:rPr lang="en-IN" sz="1600">
                          <a:solidFill>
                            <a:srgbClr val="222222"/>
                          </a:solidFill>
                          <a:effectLst/>
                          <a:latin typeface="Arial" panose="020B0604020202020204" pitchFamily="34" charset="0"/>
                          <a:ea typeface="Calibri" panose="020F0502020204030204" pitchFamily="34" charset="0"/>
                          <a:cs typeface="Times New Roman" panose="02020603050405020304" pitchFamily="18" charset="0"/>
                        </a:rPr>
                        <a:t>Online</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val="1089572568"/>
                  </a:ext>
                </a:extLst>
              </a:tr>
              <a:tr h="357673">
                <a:tc>
                  <a:txBody>
                    <a:bodyPr/>
                    <a:lstStyle/>
                    <a:p>
                      <a:pPr>
                        <a:lnSpc>
                          <a:spcPct val="107000"/>
                        </a:lnSpc>
                        <a:spcAft>
                          <a:spcPts val="1200"/>
                        </a:spcAft>
                      </a:pPr>
                      <a:r>
                        <a:rPr lang="en-IN" sz="1800" dirty="0">
                          <a:solidFill>
                            <a:srgbClr val="222222"/>
                          </a:solidFill>
                          <a:effectLst/>
                          <a:latin typeface="Arial" panose="020B0604020202020204" pitchFamily="34" charset="0"/>
                          <a:ea typeface="Calibri" panose="020F0502020204030204" pitchFamily="34" charset="0"/>
                          <a:cs typeface="Times New Roman" panose="02020603050405020304" pitchFamily="18" charset="0"/>
                        </a:rPr>
                        <a:t>Registration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gn="just">
                        <a:lnSpc>
                          <a:spcPct val="107000"/>
                        </a:lnSpc>
                        <a:spcAft>
                          <a:spcPts val="1200"/>
                        </a:spcAft>
                      </a:pPr>
                      <a:r>
                        <a:rPr lang="en-IN" sz="1600" dirty="0">
                          <a:solidFill>
                            <a:srgbClr val="222222"/>
                          </a:solidFill>
                          <a:effectLst/>
                          <a:latin typeface="Arial" panose="020B0604020202020204" pitchFamily="34" charset="0"/>
                          <a:ea typeface="Calibri" panose="020F0502020204030204" pitchFamily="34" charset="0"/>
                          <a:cs typeface="Times New Roman" panose="02020603050405020304" pitchFamily="18" charset="0"/>
                        </a:rPr>
                        <a:t>Compulsory if turnover is greater than 10 lakhs.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gn="just">
                        <a:lnSpc>
                          <a:spcPct val="107000"/>
                        </a:lnSpc>
                        <a:spcAft>
                          <a:spcPts val="1200"/>
                        </a:spcAft>
                      </a:pPr>
                      <a:r>
                        <a:rPr lang="en-IN" sz="1600" dirty="0">
                          <a:solidFill>
                            <a:srgbClr val="222222"/>
                          </a:solidFill>
                          <a:effectLst/>
                          <a:latin typeface="Arial" panose="020B0604020202020204" pitchFamily="34" charset="0"/>
                          <a:ea typeface="Calibri" panose="020F0502020204030204" pitchFamily="34" charset="0"/>
                          <a:cs typeface="Times New Roman" panose="02020603050405020304" pitchFamily="18" charset="0"/>
                        </a:rPr>
                        <a:t>Compulsory if turnover is greater than 20 lakhs.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val="3861817054"/>
                  </a:ext>
                </a:extLst>
              </a:tr>
              <a:tr h="357673">
                <a:tc>
                  <a:txBody>
                    <a:bodyPr/>
                    <a:lstStyle/>
                    <a:p>
                      <a:pPr>
                        <a:lnSpc>
                          <a:spcPct val="107000"/>
                        </a:lnSpc>
                        <a:spcAft>
                          <a:spcPts val="1200"/>
                        </a:spcAft>
                      </a:pPr>
                      <a:r>
                        <a:rPr lang="en-IN" sz="1800" dirty="0">
                          <a:solidFill>
                            <a:srgbClr val="222222"/>
                          </a:solidFill>
                          <a:effectLst/>
                          <a:latin typeface="Arial" panose="020B0604020202020204" pitchFamily="34" charset="0"/>
                          <a:ea typeface="Calibri" panose="020F0502020204030204" pitchFamily="34" charset="0"/>
                          <a:cs typeface="Times New Roman" panose="02020603050405020304" pitchFamily="18" charset="0"/>
                        </a:rPr>
                        <a:t>Basis of taxation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gn="just">
                        <a:lnSpc>
                          <a:spcPct val="107000"/>
                        </a:lnSpc>
                        <a:spcAft>
                          <a:spcPts val="1200"/>
                        </a:spcAft>
                      </a:pPr>
                      <a:r>
                        <a:rPr lang="en-IN" sz="1600" dirty="0">
                          <a:solidFill>
                            <a:srgbClr val="222222"/>
                          </a:solidFill>
                          <a:effectLst/>
                          <a:latin typeface="Arial" panose="020B0604020202020204" pitchFamily="34" charset="0"/>
                          <a:ea typeface="Calibri" panose="020F0502020204030204" pitchFamily="34" charset="0"/>
                          <a:cs typeface="Times New Roman" panose="02020603050405020304" pitchFamily="18" charset="0"/>
                        </a:rPr>
                        <a:t>Summary based</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gn="just">
                        <a:lnSpc>
                          <a:spcPct val="107000"/>
                        </a:lnSpc>
                        <a:spcAft>
                          <a:spcPts val="1200"/>
                        </a:spcAft>
                      </a:pPr>
                      <a:r>
                        <a:rPr lang="en-IN" sz="1600">
                          <a:solidFill>
                            <a:srgbClr val="222222"/>
                          </a:solidFill>
                          <a:effectLst/>
                          <a:latin typeface="Arial" panose="020B0604020202020204" pitchFamily="34" charset="0"/>
                          <a:ea typeface="Calibri" panose="020F0502020204030204" pitchFamily="34" charset="0"/>
                          <a:cs typeface="Times New Roman" panose="02020603050405020304" pitchFamily="18" charset="0"/>
                        </a:rPr>
                        <a:t>Transaction based</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val="1709692925"/>
                  </a:ext>
                </a:extLst>
              </a:tr>
              <a:tr h="357673">
                <a:tc>
                  <a:txBody>
                    <a:bodyPr/>
                    <a:lstStyle/>
                    <a:p>
                      <a:pPr>
                        <a:lnSpc>
                          <a:spcPct val="107000"/>
                        </a:lnSpc>
                        <a:spcAft>
                          <a:spcPts val="1200"/>
                        </a:spcAft>
                      </a:pPr>
                      <a:r>
                        <a:rPr lang="en-IN" sz="1800" dirty="0">
                          <a:solidFill>
                            <a:srgbClr val="222222"/>
                          </a:solidFill>
                          <a:effectLst/>
                          <a:latin typeface="Arial" panose="020B0604020202020204" pitchFamily="34" charset="0"/>
                          <a:ea typeface="Calibri" panose="020F0502020204030204" pitchFamily="34" charset="0"/>
                          <a:cs typeface="Times New Roman" panose="02020603050405020304" pitchFamily="18" charset="0"/>
                        </a:rPr>
                        <a:t>Revenue Collection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gn="just">
                        <a:lnSpc>
                          <a:spcPct val="107000"/>
                        </a:lnSpc>
                        <a:spcAft>
                          <a:spcPts val="1200"/>
                        </a:spcAft>
                      </a:pPr>
                      <a:r>
                        <a:rPr lang="en-IN" sz="1600" dirty="0">
                          <a:solidFill>
                            <a:srgbClr val="222222"/>
                          </a:solidFill>
                          <a:effectLst/>
                          <a:latin typeface="Arial" panose="020B0604020202020204" pitchFamily="34" charset="0"/>
                          <a:ea typeface="Calibri" panose="020F0502020204030204" pitchFamily="34" charset="0"/>
                          <a:cs typeface="Times New Roman" panose="02020603050405020304" pitchFamily="18" charset="0"/>
                        </a:rPr>
                        <a:t>Seller state collects revenue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gn="just">
                        <a:lnSpc>
                          <a:spcPct val="107000"/>
                        </a:lnSpc>
                        <a:spcAft>
                          <a:spcPts val="1200"/>
                        </a:spcAft>
                      </a:pPr>
                      <a:r>
                        <a:rPr lang="en-IN" sz="1600" dirty="0">
                          <a:solidFill>
                            <a:srgbClr val="222222"/>
                          </a:solidFill>
                          <a:effectLst/>
                          <a:latin typeface="Arial" panose="020B0604020202020204" pitchFamily="34" charset="0"/>
                          <a:ea typeface="Calibri" panose="020F0502020204030204" pitchFamily="34" charset="0"/>
                          <a:cs typeface="Times New Roman" panose="02020603050405020304" pitchFamily="18" charset="0"/>
                        </a:rPr>
                        <a:t>Consumer state collects revenue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val="838839212"/>
                  </a:ext>
                </a:extLst>
              </a:tr>
              <a:tr h="357673">
                <a:tc>
                  <a:txBody>
                    <a:bodyPr/>
                    <a:lstStyle/>
                    <a:p>
                      <a:pPr>
                        <a:lnSpc>
                          <a:spcPct val="107000"/>
                        </a:lnSpc>
                        <a:spcAft>
                          <a:spcPts val="1200"/>
                        </a:spcAft>
                      </a:pPr>
                      <a:r>
                        <a:rPr lang="en-IN" sz="1800" dirty="0">
                          <a:solidFill>
                            <a:srgbClr val="222222"/>
                          </a:solidFill>
                          <a:effectLst/>
                          <a:latin typeface="Arial" panose="020B0604020202020204" pitchFamily="34" charset="0"/>
                          <a:ea typeface="Calibri" panose="020F0502020204030204" pitchFamily="34" charset="0"/>
                          <a:cs typeface="Times New Roman" panose="02020603050405020304" pitchFamily="18" charset="0"/>
                        </a:rPr>
                        <a:t>Excise Duty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gn="just">
                        <a:lnSpc>
                          <a:spcPct val="107000"/>
                        </a:lnSpc>
                        <a:spcAft>
                          <a:spcPts val="1200"/>
                        </a:spcAft>
                      </a:pPr>
                      <a:r>
                        <a:rPr lang="en-IN" sz="1600" dirty="0">
                          <a:solidFill>
                            <a:srgbClr val="222222"/>
                          </a:solidFill>
                          <a:effectLst/>
                          <a:latin typeface="Arial" panose="020B0604020202020204" pitchFamily="34" charset="0"/>
                          <a:ea typeface="Calibri" panose="020F0502020204030204" pitchFamily="34" charset="0"/>
                          <a:cs typeface="Times New Roman" panose="02020603050405020304" pitchFamily="18" charset="0"/>
                        </a:rPr>
                        <a:t>It is levied, on the manufacture of excisable goods.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gn="just">
                        <a:lnSpc>
                          <a:spcPct val="107000"/>
                        </a:lnSpc>
                        <a:spcAft>
                          <a:spcPts val="1200"/>
                        </a:spcAft>
                      </a:pPr>
                      <a:r>
                        <a:rPr lang="en-IN" sz="1600">
                          <a:solidFill>
                            <a:srgbClr val="222222"/>
                          </a:solidFill>
                          <a:effectLst/>
                          <a:latin typeface="Arial" panose="020B0604020202020204" pitchFamily="34" charset="0"/>
                          <a:ea typeface="Calibri" panose="020F0502020204030204" pitchFamily="34" charset="0"/>
                          <a:cs typeface="Times New Roman" panose="02020603050405020304" pitchFamily="18" charset="0"/>
                        </a:rPr>
                        <a:t>It is not levied.</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val="3799480547"/>
                  </a:ext>
                </a:extLst>
              </a:tr>
              <a:tr h="357673">
                <a:tc>
                  <a:txBody>
                    <a:bodyPr/>
                    <a:lstStyle/>
                    <a:p>
                      <a:pPr>
                        <a:lnSpc>
                          <a:spcPct val="107000"/>
                        </a:lnSpc>
                        <a:spcAft>
                          <a:spcPts val="1200"/>
                        </a:spcAft>
                      </a:pPr>
                      <a:r>
                        <a:rPr lang="en-IN" sz="1800" dirty="0">
                          <a:solidFill>
                            <a:srgbClr val="222222"/>
                          </a:solidFill>
                          <a:effectLst/>
                          <a:latin typeface="Arial" panose="020B0604020202020204" pitchFamily="34" charset="0"/>
                          <a:ea typeface="Calibri" panose="020F0502020204030204" pitchFamily="34" charset="0"/>
                          <a:cs typeface="Times New Roman" panose="02020603050405020304" pitchFamily="18" charset="0"/>
                        </a:rPr>
                        <a:t>Interstate sales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gn="just">
                        <a:lnSpc>
                          <a:spcPct val="107000"/>
                        </a:lnSpc>
                        <a:spcAft>
                          <a:spcPts val="1200"/>
                        </a:spcAft>
                      </a:pPr>
                      <a:r>
                        <a:rPr lang="en-IN" sz="1600" dirty="0">
                          <a:solidFill>
                            <a:srgbClr val="222222"/>
                          </a:solidFill>
                          <a:effectLst/>
                          <a:latin typeface="Arial" panose="020B0604020202020204" pitchFamily="34" charset="0"/>
                          <a:ea typeface="Calibri" panose="020F0502020204030204" pitchFamily="34" charset="0"/>
                          <a:cs typeface="Times New Roman" panose="02020603050405020304" pitchFamily="18" charset="0"/>
                        </a:rPr>
                        <a:t>Input credit is not possible in case of interstate sales.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gn="just">
                        <a:lnSpc>
                          <a:spcPct val="107000"/>
                        </a:lnSpc>
                        <a:spcAft>
                          <a:spcPts val="1200"/>
                        </a:spcAft>
                      </a:pPr>
                      <a:r>
                        <a:rPr lang="en-IN" sz="1600" dirty="0">
                          <a:solidFill>
                            <a:srgbClr val="222222"/>
                          </a:solidFill>
                          <a:effectLst/>
                          <a:latin typeface="Arial" panose="020B0604020202020204" pitchFamily="34" charset="0"/>
                          <a:ea typeface="Calibri" panose="020F0502020204030204" pitchFamily="34" charset="0"/>
                          <a:cs typeface="Times New Roman" panose="02020603050405020304" pitchFamily="18" charset="0"/>
                        </a:rPr>
                        <a:t>Input credit can be availed in case of interstate sales.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val="555790286"/>
                  </a:ext>
                </a:extLst>
              </a:tr>
            </a:tbl>
          </a:graphicData>
        </a:graphic>
      </p:graphicFrame>
    </p:spTree>
    <p:extLst>
      <p:ext uri="{BB962C8B-B14F-4D97-AF65-F5344CB8AC3E}">
        <p14:creationId xmlns:p14="http://schemas.microsoft.com/office/powerpoint/2010/main" val="1816006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sz="2800" dirty="0">
              <a:solidFill>
                <a:schemeClr val="tx1"/>
              </a:solidFill>
            </a:endParaRPr>
          </a:p>
          <a:p>
            <a:pPr marL="457200" indent="-457200">
              <a:buFont typeface="Wingdings" panose="05000000000000000000" pitchFamily="2" charset="2"/>
              <a:buChar char="Ø"/>
            </a:pPr>
            <a:endParaRPr lang="en-IN" sz="2800" dirty="0" smtClean="0">
              <a:solidFill>
                <a:schemeClr val="tx1"/>
              </a:solidFill>
            </a:endParaRPr>
          </a:p>
          <a:p>
            <a:pPr marL="457200" indent="-457200">
              <a:buFont typeface="Wingdings" panose="05000000000000000000" pitchFamily="2" charset="2"/>
              <a:buChar char="Ø"/>
            </a:pPr>
            <a:endParaRPr lang="en-IN" sz="2600" dirty="0">
              <a:solidFill>
                <a:schemeClr val="tx1"/>
              </a:solidFill>
            </a:endParaRPr>
          </a:p>
          <a:p>
            <a:pPr marL="457200" indent="-457200">
              <a:buFont typeface="Wingdings" panose="05000000000000000000" pitchFamily="2" charset="2"/>
              <a:buChar char="Ø"/>
            </a:pPr>
            <a:endParaRPr lang="en-US" sz="26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smtClean="0">
                <a:solidFill>
                  <a:schemeClr val="tx1"/>
                </a:solidFill>
                <a:latin typeface="Times New Roman" panose="02020603050405020304" pitchFamily="18" charset="0"/>
                <a:cs typeface="Times New Roman" panose="02020603050405020304" pitchFamily="18" charset="0"/>
              </a:rPr>
              <a:t> </a:t>
            </a:r>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2118360" y="72579"/>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1"/>
                </a:solidFill>
                <a:latin typeface="Times New Roman" panose="02020603050405020304" pitchFamily="18" charset="0"/>
                <a:cs typeface="Times New Roman" panose="02020603050405020304" pitchFamily="18" charset="0"/>
              </a:rPr>
              <a:t>Goods and Services Tax (GST)</a:t>
            </a:r>
          </a:p>
        </p:txBody>
      </p:sp>
      <p:pic>
        <p:nvPicPr>
          <p:cNvPr id="3" name="Picture 2"/>
          <p:cNvPicPr>
            <a:picLocks noChangeAspect="1"/>
          </p:cNvPicPr>
          <p:nvPr/>
        </p:nvPicPr>
        <p:blipFill>
          <a:blip r:embed="rId2"/>
          <a:stretch>
            <a:fillRect/>
          </a:stretch>
        </p:blipFill>
        <p:spPr>
          <a:xfrm>
            <a:off x="1082351" y="949794"/>
            <a:ext cx="9465641" cy="4928492"/>
          </a:xfrm>
          <a:prstGeom prst="rect">
            <a:avLst/>
          </a:prstGeom>
        </p:spPr>
      </p:pic>
      <p:sp>
        <p:nvSpPr>
          <p:cNvPr id="2" name="Rectangle 1"/>
          <p:cNvSpPr/>
          <p:nvPr/>
        </p:nvSpPr>
        <p:spPr>
          <a:xfrm>
            <a:off x="945329" y="5982869"/>
            <a:ext cx="8671092" cy="369332"/>
          </a:xfrm>
          <a:prstGeom prst="rect">
            <a:avLst/>
          </a:prstGeom>
        </p:spPr>
        <p:txBody>
          <a:bodyPr wrap="none">
            <a:spAutoFit/>
          </a:bodyPr>
          <a:lstStyle/>
          <a:p>
            <a:r>
              <a:rPr lang="en-IN" b="1" dirty="0">
                <a:solidFill>
                  <a:srgbClr val="202124"/>
                </a:solidFill>
                <a:latin typeface="arial" panose="020B0604020202020204" pitchFamily="34" charset="0"/>
              </a:rPr>
              <a:t>Service accounting </a:t>
            </a:r>
            <a:r>
              <a:rPr lang="en-IN" b="1" dirty="0" smtClean="0">
                <a:solidFill>
                  <a:srgbClr val="202124"/>
                </a:solidFill>
                <a:latin typeface="arial" panose="020B0604020202020204" pitchFamily="34" charset="0"/>
              </a:rPr>
              <a:t>code (SAC)           </a:t>
            </a:r>
            <a:r>
              <a:rPr lang="en-IN" b="1" dirty="0" smtClean="0"/>
              <a:t>Harmonized </a:t>
            </a:r>
            <a:r>
              <a:rPr lang="en-IN" b="1" dirty="0"/>
              <a:t>System of </a:t>
            </a:r>
            <a:r>
              <a:rPr lang="en-IN" b="1" dirty="0" smtClean="0"/>
              <a:t>Nomenclature (HSN)</a:t>
            </a:r>
            <a:endParaRPr lang="en-IN" dirty="0"/>
          </a:p>
        </p:txBody>
      </p:sp>
    </p:spTree>
    <p:extLst>
      <p:ext uri="{BB962C8B-B14F-4D97-AF65-F5344CB8AC3E}">
        <p14:creationId xmlns:p14="http://schemas.microsoft.com/office/powerpoint/2010/main" val="359227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sz="2800" dirty="0">
              <a:solidFill>
                <a:schemeClr val="tx1"/>
              </a:solidFill>
            </a:endParaRPr>
          </a:p>
          <a:p>
            <a:pPr marL="457200" indent="-457200">
              <a:buFont typeface="Wingdings" panose="05000000000000000000" pitchFamily="2" charset="2"/>
              <a:buChar char="Ø"/>
            </a:pPr>
            <a:endParaRPr lang="en-IN" sz="2800" dirty="0" smtClean="0">
              <a:solidFill>
                <a:schemeClr val="tx1"/>
              </a:solidFill>
            </a:endParaRPr>
          </a:p>
          <a:p>
            <a:pPr marL="457200" indent="-457200">
              <a:buFont typeface="Wingdings" panose="05000000000000000000" pitchFamily="2" charset="2"/>
              <a:buChar char="Ø"/>
            </a:pPr>
            <a:endParaRPr lang="en-IN" sz="2600" dirty="0">
              <a:solidFill>
                <a:schemeClr val="tx1"/>
              </a:solidFill>
            </a:endParaRPr>
          </a:p>
          <a:p>
            <a:pPr marL="457200" indent="-457200">
              <a:buFont typeface="Wingdings" panose="05000000000000000000" pitchFamily="2" charset="2"/>
              <a:buChar char="Ø"/>
            </a:pPr>
            <a:endParaRPr lang="en-US" sz="26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smtClean="0">
                <a:solidFill>
                  <a:schemeClr val="tx1"/>
                </a:solidFill>
                <a:latin typeface="Times New Roman" panose="02020603050405020304" pitchFamily="18" charset="0"/>
                <a:cs typeface="Times New Roman" panose="02020603050405020304" pitchFamily="18" charset="0"/>
              </a:rPr>
              <a:t> </a:t>
            </a:r>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2118360" y="72579"/>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1"/>
                </a:solidFill>
                <a:latin typeface="Times New Roman" panose="02020603050405020304" pitchFamily="18" charset="0"/>
                <a:cs typeface="Times New Roman" panose="02020603050405020304" pitchFamily="18" charset="0"/>
              </a:rPr>
              <a:t>Goods and Services Tax (GST)</a:t>
            </a:r>
          </a:p>
        </p:txBody>
      </p:sp>
      <p:pic>
        <p:nvPicPr>
          <p:cNvPr id="2" name="Picture 1"/>
          <p:cNvPicPr>
            <a:picLocks noChangeAspect="1"/>
          </p:cNvPicPr>
          <p:nvPr/>
        </p:nvPicPr>
        <p:blipFill>
          <a:blip r:embed="rId2"/>
          <a:stretch>
            <a:fillRect/>
          </a:stretch>
        </p:blipFill>
        <p:spPr>
          <a:xfrm>
            <a:off x="1418254" y="979516"/>
            <a:ext cx="9074613" cy="5274544"/>
          </a:xfrm>
          <a:prstGeom prst="rect">
            <a:avLst/>
          </a:prstGeom>
        </p:spPr>
      </p:pic>
    </p:spTree>
    <p:extLst>
      <p:ext uri="{BB962C8B-B14F-4D97-AF65-F5344CB8AC3E}">
        <p14:creationId xmlns:p14="http://schemas.microsoft.com/office/powerpoint/2010/main" val="4000879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sz="2800" dirty="0">
              <a:solidFill>
                <a:schemeClr val="tx1"/>
              </a:solidFill>
            </a:endParaRPr>
          </a:p>
          <a:p>
            <a:pPr marL="457200" indent="-457200">
              <a:buFont typeface="Wingdings" panose="05000000000000000000" pitchFamily="2" charset="2"/>
              <a:buChar char="Ø"/>
            </a:pPr>
            <a:endParaRPr lang="en-IN" sz="2800" dirty="0" smtClean="0">
              <a:solidFill>
                <a:schemeClr val="tx1"/>
              </a:solidFill>
            </a:endParaRPr>
          </a:p>
          <a:p>
            <a:pPr marL="457200" indent="-457200">
              <a:buFont typeface="Wingdings" panose="05000000000000000000" pitchFamily="2" charset="2"/>
              <a:buChar char="Ø"/>
            </a:pPr>
            <a:endParaRPr lang="en-IN" sz="2600" dirty="0">
              <a:solidFill>
                <a:schemeClr val="tx1"/>
              </a:solidFill>
            </a:endParaRPr>
          </a:p>
          <a:p>
            <a:pPr marL="457200" indent="-457200">
              <a:buFont typeface="Wingdings" panose="05000000000000000000" pitchFamily="2" charset="2"/>
              <a:buChar char="Ø"/>
            </a:pPr>
            <a:endParaRPr lang="en-US" sz="26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smtClean="0">
                <a:solidFill>
                  <a:schemeClr val="tx1"/>
                </a:solidFill>
                <a:latin typeface="Times New Roman" panose="02020603050405020304" pitchFamily="18" charset="0"/>
                <a:cs typeface="Times New Roman" panose="02020603050405020304" pitchFamily="18" charset="0"/>
              </a:rPr>
              <a:t> </a:t>
            </a:r>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2118360" y="72579"/>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1"/>
                </a:solidFill>
                <a:latin typeface="Times New Roman" panose="02020603050405020304" pitchFamily="18" charset="0"/>
                <a:cs typeface="Times New Roman" panose="02020603050405020304" pitchFamily="18" charset="0"/>
              </a:rPr>
              <a:t>Goods and Services Tax (GST)</a:t>
            </a:r>
          </a:p>
        </p:txBody>
      </p:sp>
      <p:pic>
        <p:nvPicPr>
          <p:cNvPr id="6" name="Picture 5"/>
          <p:cNvPicPr/>
          <p:nvPr/>
        </p:nvPicPr>
        <p:blipFill>
          <a:blip r:embed="rId2">
            <a:extLst>
              <a:ext uri="{28A0092B-C50C-407E-A947-70E740481C1C}">
                <a14:useLocalDpi xmlns:a14="http://schemas.microsoft.com/office/drawing/2010/main" val="0"/>
              </a:ext>
            </a:extLst>
          </a:blip>
          <a:srcRect/>
          <a:stretch>
            <a:fillRect/>
          </a:stretch>
        </p:blipFill>
        <p:spPr bwMode="auto">
          <a:xfrm>
            <a:off x="1119674" y="1996751"/>
            <a:ext cx="9130598" cy="2463281"/>
          </a:xfrm>
          <a:prstGeom prst="rect">
            <a:avLst/>
          </a:prstGeom>
          <a:noFill/>
          <a:ln>
            <a:noFill/>
          </a:ln>
        </p:spPr>
      </p:pic>
    </p:spTree>
    <p:extLst>
      <p:ext uri="{BB962C8B-B14F-4D97-AF65-F5344CB8AC3E}">
        <p14:creationId xmlns:p14="http://schemas.microsoft.com/office/powerpoint/2010/main" val="4000865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US" sz="2800" b="1" dirty="0" smtClean="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800" dirty="0" smtClean="0">
              <a:solidFill>
                <a:schemeClr val="tx1"/>
              </a:solidFill>
            </a:endParaRPr>
          </a:p>
          <a:p>
            <a:pPr marL="457200" indent="-457200">
              <a:buFont typeface="Wingdings" panose="05000000000000000000" pitchFamily="2" charset="2"/>
              <a:buChar char="Ø"/>
            </a:pPr>
            <a:endParaRPr lang="en-IN" sz="2600" dirty="0">
              <a:solidFill>
                <a:schemeClr val="tx1"/>
              </a:solidFill>
            </a:endParaRPr>
          </a:p>
          <a:p>
            <a:pPr marL="457200" indent="-457200">
              <a:buFont typeface="Wingdings" panose="05000000000000000000" pitchFamily="2" charset="2"/>
              <a:buChar char="Ø"/>
            </a:pPr>
            <a:endParaRPr lang="en-US" sz="26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smtClean="0">
                <a:solidFill>
                  <a:schemeClr val="tx1"/>
                </a:solidFill>
                <a:latin typeface="Times New Roman" panose="02020603050405020304" pitchFamily="18" charset="0"/>
                <a:cs typeface="Times New Roman" panose="02020603050405020304" pitchFamily="18" charset="0"/>
              </a:rPr>
              <a:t> </a:t>
            </a:r>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2118360" y="72579"/>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1"/>
                </a:solidFill>
                <a:latin typeface="Times New Roman" panose="02020603050405020304" pitchFamily="18" charset="0"/>
                <a:cs typeface="Times New Roman" panose="02020603050405020304" pitchFamily="18" charset="0"/>
              </a:rPr>
              <a:t>Goods and Services Tax (GST)</a:t>
            </a:r>
          </a:p>
        </p:txBody>
      </p:sp>
      <p:sp>
        <p:nvSpPr>
          <p:cNvPr id="2" name="Rectangle 1"/>
          <p:cNvSpPr/>
          <p:nvPr/>
        </p:nvSpPr>
        <p:spPr>
          <a:xfrm>
            <a:off x="765109" y="1233608"/>
            <a:ext cx="10189029" cy="5229893"/>
          </a:xfrm>
          <a:prstGeom prst="rect">
            <a:avLst/>
          </a:prstGeom>
        </p:spPr>
        <p:txBody>
          <a:bodyPr wrap="square">
            <a:spAutoFit/>
          </a:bodyPr>
          <a:lstStyle/>
          <a:p>
            <a:pPr>
              <a:lnSpc>
                <a:spcPct val="107000"/>
              </a:lnSpc>
              <a:spcAft>
                <a:spcPts val="0"/>
              </a:spcAft>
            </a:pPr>
            <a:r>
              <a:rPr lang="en-IN" sz="26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What is Input Tax Credit ? (ITC)</a:t>
            </a:r>
            <a:endParaRPr lang="en-IN" sz="2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IN" sz="2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GST is levied and collected at every stage of trading from manufacturer to consumer. </a:t>
            </a:r>
            <a:r>
              <a:rPr lang="en-IN" sz="26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When trader pays GST at the time of purchase, it is called </a:t>
            </a:r>
            <a:r>
              <a:rPr lang="en-IN" sz="26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'Input</a:t>
            </a:r>
            <a:r>
              <a:rPr lang="en-IN" sz="2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en-IN" sz="26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tax' </a:t>
            </a:r>
            <a:r>
              <a:rPr lang="en-IN" sz="26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and he collects GST at the time of sale which is called </a:t>
            </a:r>
            <a:r>
              <a:rPr lang="en-IN" sz="26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'Output tax'.</a:t>
            </a:r>
            <a:r>
              <a:rPr lang="en-IN" sz="2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endParaRPr lang="en-IN" sz="2600" dirty="0" smtClean="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en-IN" sz="2600" dirty="0" smtClean="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At </a:t>
            </a:r>
            <a:r>
              <a:rPr lang="en-IN" sz="2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the time of paying GST to the government a trader deducts the input tax from the output tax and pays the remaining tax. This deduction of input tax is called </a:t>
            </a:r>
            <a:r>
              <a:rPr lang="en-IN" sz="26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Input Tax Credit</a:t>
            </a:r>
            <a:r>
              <a:rPr lang="en-IN" sz="2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t>
            </a:r>
            <a:endParaRPr lang="en-IN" sz="2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IN" sz="2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GST payable = Output tax - ITC</a:t>
            </a:r>
            <a:endParaRPr lang="en-IN" sz="2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IN" sz="2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In short, while paying taxes to the government each trader in the trading chain subtracts the tax paid at the time of purchase from the tax collected at the time of sale and pays the remaining tax.</a:t>
            </a:r>
            <a:endParaRPr lang="en-IN" sz="2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03303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US" sz="2800" b="1" dirty="0" smtClean="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r>
              <a:rPr lang="en-IN" sz="2600" dirty="0" smtClean="0">
                <a:solidFill>
                  <a:schemeClr val="tx1"/>
                </a:solidFill>
              </a:rPr>
              <a:t>Suppose </a:t>
            </a:r>
            <a:r>
              <a:rPr lang="en-IN" sz="2600" dirty="0">
                <a:solidFill>
                  <a:schemeClr val="tx1"/>
                </a:solidFill>
              </a:rPr>
              <a:t>manufacturer of a watch has sold one watch for `200. (including profit) to the </a:t>
            </a:r>
            <a:r>
              <a:rPr lang="en-IN" sz="2600" dirty="0" err="1">
                <a:solidFill>
                  <a:schemeClr val="tx1"/>
                </a:solidFill>
              </a:rPr>
              <a:t>wholsaler</a:t>
            </a:r>
            <a:r>
              <a:rPr lang="en-IN" sz="2600" dirty="0">
                <a:solidFill>
                  <a:schemeClr val="tx1"/>
                </a:solidFill>
              </a:rPr>
              <a:t>. Wholesaler sold that watch for`300 to the retailer. Retailer sold it to the customer for ` 400. Rate of GST charged at every stage is 12%. Then how each trader pays GST and takes his </a:t>
            </a:r>
            <a:r>
              <a:rPr lang="en-IN" sz="2600" dirty="0">
                <a:solidFill>
                  <a:srgbClr val="FF0000"/>
                </a:solidFill>
              </a:rPr>
              <a:t>input tax credit (ITC) </a:t>
            </a:r>
            <a:r>
              <a:rPr lang="en-IN" sz="2600" dirty="0">
                <a:solidFill>
                  <a:schemeClr val="tx1"/>
                </a:solidFill>
              </a:rPr>
              <a:t>at every stage of transaction is shown in the following flow-chart. Observe and study it.</a:t>
            </a: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800" dirty="0" smtClean="0">
              <a:solidFill>
                <a:schemeClr val="tx1"/>
              </a:solidFill>
            </a:endParaRPr>
          </a:p>
          <a:p>
            <a:pPr marL="457200" indent="-457200">
              <a:buFont typeface="Wingdings" panose="05000000000000000000" pitchFamily="2" charset="2"/>
              <a:buChar char="Ø"/>
            </a:pPr>
            <a:endParaRPr lang="en-IN" sz="2600" dirty="0">
              <a:solidFill>
                <a:schemeClr val="tx1"/>
              </a:solidFill>
            </a:endParaRPr>
          </a:p>
          <a:p>
            <a:pPr marL="457200" indent="-457200">
              <a:buFont typeface="Wingdings" panose="05000000000000000000" pitchFamily="2" charset="2"/>
              <a:buChar char="Ø"/>
            </a:pPr>
            <a:endParaRPr lang="en-US" sz="26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smtClean="0">
                <a:solidFill>
                  <a:schemeClr val="tx1"/>
                </a:solidFill>
                <a:latin typeface="Times New Roman" panose="02020603050405020304" pitchFamily="18" charset="0"/>
                <a:cs typeface="Times New Roman" panose="02020603050405020304" pitchFamily="18" charset="0"/>
              </a:rPr>
              <a:t> </a:t>
            </a:r>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2118360" y="72579"/>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1"/>
                </a:solidFill>
                <a:latin typeface="Times New Roman" panose="02020603050405020304" pitchFamily="18" charset="0"/>
                <a:cs typeface="Times New Roman" panose="02020603050405020304" pitchFamily="18" charset="0"/>
              </a:rPr>
              <a:t>Goods and Services Tax (GST)</a:t>
            </a:r>
          </a:p>
        </p:txBody>
      </p:sp>
      <p:pic>
        <p:nvPicPr>
          <p:cNvPr id="2" name="Picture 1"/>
          <p:cNvPicPr>
            <a:picLocks noChangeAspect="1"/>
          </p:cNvPicPr>
          <p:nvPr/>
        </p:nvPicPr>
        <p:blipFill>
          <a:blip r:embed="rId2"/>
          <a:stretch>
            <a:fillRect/>
          </a:stretch>
        </p:blipFill>
        <p:spPr>
          <a:xfrm>
            <a:off x="2453951" y="2834795"/>
            <a:ext cx="6726575" cy="3808601"/>
          </a:xfrm>
          <a:prstGeom prst="rect">
            <a:avLst/>
          </a:prstGeom>
        </p:spPr>
      </p:pic>
    </p:spTree>
    <p:extLst>
      <p:ext uri="{BB962C8B-B14F-4D97-AF65-F5344CB8AC3E}">
        <p14:creationId xmlns:p14="http://schemas.microsoft.com/office/powerpoint/2010/main" val="2354572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US" sz="2800" b="1" dirty="0" smtClean="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800" dirty="0" smtClean="0">
              <a:solidFill>
                <a:schemeClr val="tx1"/>
              </a:solidFill>
            </a:endParaRPr>
          </a:p>
          <a:p>
            <a:pPr marL="457200" indent="-457200">
              <a:buFont typeface="Wingdings" panose="05000000000000000000" pitchFamily="2" charset="2"/>
              <a:buChar char="Ø"/>
            </a:pPr>
            <a:endParaRPr lang="en-IN" sz="2600" dirty="0">
              <a:solidFill>
                <a:schemeClr val="tx1"/>
              </a:solidFill>
            </a:endParaRPr>
          </a:p>
          <a:p>
            <a:pPr marL="457200" indent="-457200">
              <a:buFont typeface="Wingdings" panose="05000000000000000000" pitchFamily="2" charset="2"/>
              <a:buChar char="Ø"/>
            </a:pPr>
            <a:endParaRPr lang="en-US" sz="26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smtClean="0">
                <a:solidFill>
                  <a:schemeClr val="tx1"/>
                </a:solidFill>
                <a:latin typeface="Times New Roman" panose="02020603050405020304" pitchFamily="18" charset="0"/>
                <a:cs typeface="Times New Roman" panose="02020603050405020304" pitchFamily="18" charset="0"/>
              </a:rPr>
              <a:t> </a:t>
            </a:r>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1230924" y="72579"/>
            <a:ext cx="9671538"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1"/>
                </a:solidFill>
                <a:latin typeface="Times New Roman" panose="02020603050405020304" pitchFamily="18" charset="0"/>
                <a:cs typeface="Times New Roman" panose="02020603050405020304" pitchFamily="18" charset="0"/>
              </a:rPr>
              <a:t>Goods and Services Tax (GST)</a:t>
            </a:r>
          </a:p>
        </p:txBody>
      </p:sp>
      <p:pic>
        <p:nvPicPr>
          <p:cNvPr id="3" name="Picture 2"/>
          <p:cNvPicPr>
            <a:picLocks noChangeAspect="1"/>
          </p:cNvPicPr>
          <p:nvPr/>
        </p:nvPicPr>
        <p:blipFill>
          <a:blip r:embed="rId2"/>
          <a:stretch>
            <a:fillRect/>
          </a:stretch>
        </p:blipFill>
        <p:spPr>
          <a:xfrm>
            <a:off x="1230924" y="664612"/>
            <a:ext cx="9671538" cy="2841982"/>
          </a:xfrm>
          <a:prstGeom prst="rect">
            <a:avLst/>
          </a:prstGeom>
        </p:spPr>
      </p:pic>
      <p:pic>
        <p:nvPicPr>
          <p:cNvPr id="6" name="Picture 5"/>
          <p:cNvPicPr/>
          <p:nvPr/>
        </p:nvPicPr>
        <p:blipFill>
          <a:blip r:embed="rId3">
            <a:extLst>
              <a:ext uri="{28A0092B-C50C-407E-A947-70E740481C1C}">
                <a14:useLocalDpi xmlns:a14="http://schemas.microsoft.com/office/drawing/2010/main" val="0"/>
              </a:ext>
            </a:extLst>
          </a:blip>
          <a:srcRect/>
          <a:stretch>
            <a:fillRect/>
          </a:stretch>
        </p:blipFill>
        <p:spPr bwMode="auto">
          <a:xfrm>
            <a:off x="1230924" y="3506594"/>
            <a:ext cx="9671538" cy="2772908"/>
          </a:xfrm>
          <a:prstGeom prst="rect">
            <a:avLst/>
          </a:prstGeom>
          <a:noFill/>
          <a:ln>
            <a:noFill/>
          </a:ln>
        </p:spPr>
      </p:pic>
    </p:spTree>
    <p:extLst>
      <p:ext uri="{BB962C8B-B14F-4D97-AF65-F5344CB8AC3E}">
        <p14:creationId xmlns:p14="http://schemas.microsoft.com/office/powerpoint/2010/main" val="268340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US" sz="2800" b="1" dirty="0" smtClean="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800" dirty="0" smtClean="0">
              <a:solidFill>
                <a:schemeClr val="tx1"/>
              </a:solidFill>
            </a:endParaRPr>
          </a:p>
          <a:p>
            <a:pPr marL="457200" indent="-457200">
              <a:buFont typeface="Wingdings" panose="05000000000000000000" pitchFamily="2" charset="2"/>
              <a:buChar char="Ø"/>
            </a:pPr>
            <a:endParaRPr lang="en-IN" sz="2600" dirty="0">
              <a:solidFill>
                <a:schemeClr val="tx1"/>
              </a:solidFill>
            </a:endParaRPr>
          </a:p>
          <a:p>
            <a:pPr marL="457200" indent="-457200">
              <a:buFont typeface="Wingdings" panose="05000000000000000000" pitchFamily="2" charset="2"/>
              <a:buChar char="Ø"/>
            </a:pPr>
            <a:endParaRPr lang="en-US" sz="26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smtClean="0">
                <a:solidFill>
                  <a:schemeClr val="tx1"/>
                </a:solidFill>
                <a:latin typeface="Times New Roman" panose="02020603050405020304" pitchFamily="18" charset="0"/>
                <a:cs typeface="Times New Roman" panose="02020603050405020304" pitchFamily="18" charset="0"/>
              </a:rPr>
              <a:t> </a:t>
            </a:r>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2118360" y="72579"/>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1"/>
                </a:solidFill>
                <a:latin typeface="Times New Roman" panose="02020603050405020304" pitchFamily="18" charset="0"/>
                <a:cs typeface="Times New Roman" panose="02020603050405020304" pitchFamily="18" charset="0"/>
              </a:rPr>
              <a:t>Goods and Services Tax (GST)</a:t>
            </a:r>
          </a:p>
        </p:txBody>
      </p:sp>
      <p:sp>
        <p:nvSpPr>
          <p:cNvPr id="2" name="Rectangle 1"/>
          <p:cNvSpPr/>
          <p:nvPr/>
        </p:nvSpPr>
        <p:spPr>
          <a:xfrm>
            <a:off x="765109" y="1233608"/>
            <a:ext cx="10011747" cy="4093428"/>
          </a:xfrm>
          <a:prstGeom prst="rect">
            <a:avLst/>
          </a:prstGeom>
        </p:spPr>
        <p:txBody>
          <a:bodyPr wrap="square">
            <a:spAutoFit/>
          </a:bodyPr>
          <a:lstStyle/>
          <a:p>
            <a:r>
              <a:rPr lang="en-IN" sz="2600" b="1" dirty="0"/>
              <a:t>Who is covered by GST?</a:t>
            </a:r>
            <a:endParaRPr lang="en-IN" sz="2600" dirty="0"/>
          </a:p>
          <a:p>
            <a:r>
              <a:rPr lang="en-IN" sz="2600" dirty="0"/>
              <a:t>All the businesses </a:t>
            </a:r>
            <a:r>
              <a:rPr lang="en-IN" sz="2600" dirty="0">
                <a:solidFill>
                  <a:srgbClr val="FF0000"/>
                </a:solidFill>
              </a:rPr>
              <a:t>except agriculture </a:t>
            </a:r>
            <a:r>
              <a:rPr lang="en-IN" sz="2600" dirty="0"/>
              <a:t>and having aggregate turnover above Rs. 20 lakh in </a:t>
            </a:r>
            <a:r>
              <a:rPr lang="en-IN" sz="2600" dirty="0" smtClean="0"/>
              <a:t>a financial </a:t>
            </a:r>
            <a:r>
              <a:rPr lang="en-IN" sz="2600" dirty="0"/>
              <a:t>year are liable to pay GST. </a:t>
            </a:r>
            <a:endParaRPr lang="en-IN" sz="2600" dirty="0" smtClean="0"/>
          </a:p>
          <a:p>
            <a:r>
              <a:rPr lang="en-IN" sz="2600" dirty="0" smtClean="0"/>
              <a:t>For </a:t>
            </a:r>
            <a:r>
              <a:rPr lang="en-IN" sz="2600" dirty="0">
                <a:solidFill>
                  <a:srgbClr val="FF0000"/>
                </a:solidFill>
              </a:rPr>
              <a:t>NRI doing business in India</a:t>
            </a:r>
            <a:r>
              <a:rPr lang="en-IN" sz="2600" dirty="0"/>
              <a:t>, it is </a:t>
            </a:r>
            <a:r>
              <a:rPr lang="en-IN" sz="2600" dirty="0">
                <a:solidFill>
                  <a:srgbClr val="FF0000"/>
                </a:solidFill>
              </a:rPr>
              <a:t>mandatory to register </a:t>
            </a:r>
            <a:r>
              <a:rPr lang="en-IN" sz="2600" dirty="0"/>
              <a:t>under GST </a:t>
            </a:r>
            <a:r>
              <a:rPr lang="en-IN" sz="2600" dirty="0">
                <a:solidFill>
                  <a:srgbClr val="FF0000"/>
                </a:solidFill>
              </a:rPr>
              <a:t>irrespective of the turnover </a:t>
            </a:r>
            <a:r>
              <a:rPr lang="en-IN" sz="2600" dirty="0"/>
              <a:t>of his business.</a:t>
            </a:r>
          </a:p>
          <a:p>
            <a:r>
              <a:rPr lang="en-IN" sz="2600" dirty="0"/>
              <a:t> </a:t>
            </a:r>
          </a:p>
          <a:p>
            <a:r>
              <a:rPr lang="en-IN" sz="2600" b="1" dirty="0"/>
              <a:t>Who is exempted by GST?</a:t>
            </a:r>
            <a:endParaRPr lang="en-IN" sz="2600" dirty="0"/>
          </a:p>
          <a:p>
            <a:r>
              <a:rPr lang="en-IN" sz="2600" dirty="0"/>
              <a:t>Essential commodities like </a:t>
            </a:r>
            <a:r>
              <a:rPr lang="en-IN" sz="2600" dirty="0">
                <a:solidFill>
                  <a:srgbClr val="FF0000"/>
                </a:solidFill>
              </a:rPr>
              <a:t>food grain, fruits, vegetables, milk, salt </a:t>
            </a:r>
            <a:r>
              <a:rPr lang="en-IN" sz="2600" dirty="0"/>
              <a:t>etc. and </a:t>
            </a:r>
            <a:r>
              <a:rPr lang="en-IN" sz="2600" dirty="0">
                <a:solidFill>
                  <a:srgbClr val="FF0000"/>
                </a:solidFill>
              </a:rPr>
              <a:t>services</a:t>
            </a:r>
            <a:r>
              <a:rPr lang="en-IN" sz="2600" dirty="0"/>
              <a:t> </a:t>
            </a:r>
            <a:r>
              <a:rPr lang="en-IN" sz="2600" dirty="0" smtClean="0"/>
              <a:t>like </a:t>
            </a:r>
            <a:r>
              <a:rPr lang="en-IN" sz="2600" dirty="0" smtClean="0">
                <a:solidFill>
                  <a:srgbClr val="FF0000"/>
                </a:solidFill>
              </a:rPr>
              <a:t>charitable </a:t>
            </a:r>
            <a:r>
              <a:rPr lang="en-IN" sz="2600" dirty="0">
                <a:solidFill>
                  <a:srgbClr val="FF0000"/>
                </a:solidFill>
              </a:rPr>
              <a:t>trust activities, transport of water, agriculture related services, education and </a:t>
            </a:r>
            <a:r>
              <a:rPr lang="en-IN" sz="2600" dirty="0" smtClean="0">
                <a:solidFill>
                  <a:srgbClr val="FF0000"/>
                </a:solidFill>
              </a:rPr>
              <a:t>health care </a:t>
            </a:r>
            <a:r>
              <a:rPr lang="en-IN" sz="2600" dirty="0">
                <a:solidFill>
                  <a:srgbClr val="FF0000"/>
                </a:solidFill>
              </a:rPr>
              <a:t>services </a:t>
            </a:r>
            <a:r>
              <a:rPr lang="en-IN" sz="2600" dirty="0"/>
              <a:t>etc.</a:t>
            </a:r>
          </a:p>
        </p:txBody>
      </p:sp>
    </p:spTree>
    <p:extLst>
      <p:ext uri="{BB962C8B-B14F-4D97-AF65-F5344CB8AC3E}">
        <p14:creationId xmlns:p14="http://schemas.microsoft.com/office/powerpoint/2010/main" val="1012877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530133" y="1903"/>
            <a:ext cx="9135541" cy="6851656"/>
            <a:chOff x="1905" y="1905"/>
            <a:chExt cx="9144000" cy="6858000"/>
          </a:xfrm>
        </p:grpSpPr>
        <p:pic>
          <p:nvPicPr>
            <p:cNvPr id="3" name="object 3"/>
            <p:cNvPicPr/>
            <p:nvPr/>
          </p:nvPicPr>
          <p:blipFill>
            <a:blip r:embed="rId2" cstate="print"/>
            <a:stretch>
              <a:fillRect/>
            </a:stretch>
          </p:blipFill>
          <p:spPr>
            <a:xfrm>
              <a:off x="1905" y="1905"/>
              <a:ext cx="9144000" cy="6858000"/>
            </a:xfrm>
            <a:prstGeom prst="rect">
              <a:avLst/>
            </a:prstGeom>
          </p:spPr>
        </p:pic>
        <p:sp>
          <p:nvSpPr>
            <p:cNvPr id="4" name="object 4"/>
            <p:cNvSpPr/>
            <p:nvPr/>
          </p:nvSpPr>
          <p:spPr>
            <a:xfrm>
              <a:off x="611505" y="1568577"/>
              <a:ext cx="4655820" cy="109855"/>
            </a:xfrm>
            <a:custGeom>
              <a:avLst/>
              <a:gdLst/>
              <a:ahLst/>
              <a:cxnLst/>
              <a:rect l="l" t="t" r="r" b="b"/>
              <a:pathLst>
                <a:path w="4655820" h="109855">
                  <a:moveTo>
                    <a:pt x="4655820" y="109727"/>
                  </a:moveTo>
                  <a:lnTo>
                    <a:pt x="4655820" y="0"/>
                  </a:lnTo>
                  <a:lnTo>
                    <a:pt x="0" y="0"/>
                  </a:lnTo>
                  <a:lnTo>
                    <a:pt x="0" y="109727"/>
                  </a:lnTo>
                  <a:lnTo>
                    <a:pt x="4655820" y="109727"/>
                  </a:lnTo>
                  <a:close/>
                </a:path>
              </a:pathLst>
            </a:custGeom>
            <a:solidFill>
              <a:srgbClr val="CC0000"/>
            </a:solidFill>
          </p:spPr>
          <p:txBody>
            <a:bodyPr wrap="square" lIns="0" tIns="0" rIns="0" bIns="0" rtlCol="0"/>
            <a:lstStyle/>
            <a:p>
              <a:endParaRPr sz="1798"/>
            </a:p>
          </p:txBody>
        </p:sp>
        <p:sp>
          <p:nvSpPr>
            <p:cNvPr id="5" name="object 5"/>
            <p:cNvSpPr/>
            <p:nvPr/>
          </p:nvSpPr>
          <p:spPr>
            <a:xfrm>
              <a:off x="611505" y="1568577"/>
              <a:ext cx="7958455" cy="0"/>
            </a:xfrm>
            <a:custGeom>
              <a:avLst/>
              <a:gdLst/>
              <a:ahLst/>
              <a:cxnLst/>
              <a:rect l="l" t="t" r="r" b="b"/>
              <a:pathLst>
                <a:path w="7958455">
                  <a:moveTo>
                    <a:pt x="0" y="0"/>
                  </a:moveTo>
                  <a:lnTo>
                    <a:pt x="7958328" y="0"/>
                  </a:lnTo>
                </a:path>
              </a:pathLst>
            </a:custGeom>
            <a:ln w="9525">
              <a:solidFill>
                <a:srgbClr val="CC0000"/>
              </a:solidFill>
            </a:ln>
          </p:spPr>
          <p:txBody>
            <a:bodyPr wrap="square" lIns="0" tIns="0" rIns="0" bIns="0" rtlCol="0"/>
            <a:lstStyle/>
            <a:p>
              <a:endParaRPr sz="1798"/>
            </a:p>
          </p:txBody>
        </p:sp>
        <p:sp>
          <p:nvSpPr>
            <p:cNvPr id="6" name="object 6"/>
            <p:cNvSpPr/>
            <p:nvPr/>
          </p:nvSpPr>
          <p:spPr>
            <a:xfrm>
              <a:off x="611505" y="6174105"/>
              <a:ext cx="7924800" cy="0"/>
            </a:xfrm>
            <a:custGeom>
              <a:avLst/>
              <a:gdLst/>
              <a:ahLst/>
              <a:cxnLst/>
              <a:rect l="l" t="t" r="r" b="b"/>
              <a:pathLst>
                <a:path w="7924800">
                  <a:moveTo>
                    <a:pt x="0" y="0"/>
                  </a:moveTo>
                  <a:lnTo>
                    <a:pt x="7924800" y="0"/>
                  </a:lnTo>
                </a:path>
              </a:pathLst>
            </a:custGeom>
            <a:ln w="3175">
              <a:solidFill>
                <a:srgbClr val="CC0000"/>
              </a:solidFill>
            </a:ln>
          </p:spPr>
          <p:txBody>
            <a:bodyPr wrap="square" lIns="0" tIns="0" rIns="0" bIns="0" rtlCol="0"/>
            <a:lstStyle/>
            <a:p>
              <a:endParaRPr sz="1798"/>
            </a:p>
          </p:txBody>
        </p:sp>
      </p:grpSp>
      <p:sp>
        <p:nvSpPr>
          <p:cNvPr id="7" name="object 7"/>
          <p:cNvSpPr txBox="1">
            <a:spLocks noGrp="1"/>
          </p:cNvSpPr>
          <p:nvPr>
            <p:ph type="title"/>
          </p:nvPr>
        </p:nvSpPr>
        <p:spPr>
          <a:xfrm>
            <a:off x="3582076" y="835775"/>
            <a:ext cx="5038505" cy="573509"/>
          </a:xfrm>
          <a:prstGeom prst="rect">
            <a:avLst/>
          </a:prstGeom>
        </p:spPr>
        <p:txBody>
          <a:bodyPr vert="horz" wrap="square" lIns="0" tIns="12688" rIns="0" bIns="0" rtlCol="0" anchor="ctr">
            <a:spAutoFit/>
          </a:bodyPr>
          <a:lstStyle/>
          <a:p>
            <a:pPr marL="12689">
              <a:lnSpc>
                <a:spcPct val="100000"/>
              </a:lnSpc>
              <a:spcBef>
                <a:spcPts val="100"/>
              </a:spcBef>
            </a:pPr>
            <a:r>
              <a:rPr sz="3597" spc="-5" dirty="0"/>
              <a:t>Threshold</a:t>
            </a:r>
            <a:r>
              <a:rPr sz="3597" spc="-10" dirty="0"/>
              <a:t> </a:t>
            </a:r>
            <a:r>
              <a:rPr sz="3597" spc="-5" dirty="0"/>
              <a:t>Limits </a:t>
            </a:r>
            <a:r>
              <a:rPr sz="3597" dirty="0"/>
              <a:t>- </a:t>
            </a:r>
            <a:r>
              <a:rPr sz="3597" spc="-5" dirty="0"/>
              <a:t>Goods</a:t>
            </a:r>
            <a:endParaRPr sz="3597"/>
          </a:p>
        </p:txBody>
      </p:sp>
      <p:sp>
        <p:nvSpPr>
          <p:cNvPr id="9" name="object 9"/>
          <p:cNvSpPr txBox="1">
            <a:spLocks noGrp="1"/>
          </p:cNvSpPr>
          <p:nvPr>
            <p:ph type="sldNum" sz="quarter" idx="4294967295"/>
          </p:nvPr>
        </p:nvSpPr>
        <p:spPr>
          <a:xfrm>
            <a:off x="1528229" y="0"/>
            <a:ext cx="0" cy="290452"/>
          </a:xfrm>
          <a:prstGeom prst="rect">
            <a:avLst/>
          </a:prstGeom>
        </p:spPr>
        <p:txBody>
          <a:bodyPr vert="horz" wrap="square" lIns="0" tIns="13323" rIns="0" bIns="0" rtlCol="0">
            <a:spAutoFit/>
          </a:bodyPr>
          <a:lstStyle/>
          <a:p>
            <a:pPr marL="38066">
              <a:spcBef>
                <a:spcPts val="105"/>
              </a:spcBef>
            </a:pPr>
            <a:endParaRPr dirty="0"/>
          </a:p>
        </p:txBody>
      </p:sp>
      <p:graphicFrame>
        <p:nvGraphicFramePr>
          <p:cNvPr id="8" name="object 8"/>
          <p:cNvGraphicFramePr>
            <a:graphicFrameLocks noGrp="1"/>
          </p:cNvGraphicFramePr>
          <p:nvPr/>
        </p:nvGraphicFramePr>
        <p:xfrm>
          <a:off x="2133840" y="1978112"/>
          <a:ext cx="8018976" cy="3445877"/>
        </p:xfrm>
        <a:graphic>
          <a:graphicData uri="http://schemas.openxmlformats.org/drawingml/2006/table">
            <a:tbl>
              <a:tblPr firstRow="1" bandRow="1">
                <a:tableStyleId>{2D5ABB26-0587-4C30-8999-92F81FD0307C}</a:tableStyleId>
              </a:tblPr>
              <a:tblGrid>
                <a:gridCol w="4009488">
                  <a:extLst>
                    <a:ext uri="{9D8B030D-6E8A-4147-A177-3AD203B41FA5}">
                      <a16:colId xmlns:a16="http://schemas.microsoft.com/office/drawing/2014/main" val="20000"/>
                    </a:ext>
                  </a:extLst>
                </a:gridCol>
                <a:gridCol w="4009488">
                  <a:extLst>
                    <a:ext uri="{9D8B030D-6E8A-4147-A177-3AD203B41FA5}">
                      <a16:colId xmlns:a16="http://schemas.microsoft.com/office/drawing/2014/main" val="20001"/>
                    </a:ext>
                  </a:extLst>
                </a:gridCol>
              </a:tblGrid>
              <a:tr h="491603">
                <a:tc>
                  <a:txBody>
                    <a:bodyPr/>
                    <a:lstStyle/>
                    <a:p>
                      <a:pPr marL="127000">
                        <a:lnSpc>
                          <a:spcPct val="100000"/>
                        </a:lnSpc>
                        <a:spcBef>
                          <a:spcPts val="10"/>
                        </a:spcBef>
                      </a:pPr>
                      <a:r>
                        <a:rPr sz="2400" u="heavy" dirty="0">
                          <a:solidFill>
                            <a:srgbClr val="33659A"/>
                          </a:solidFill>
                          <a:uFill>
                            <a:solidFill>
                              <a:srgbClr val="33659A"/>
                            </a:solidFill>
                          </a:uFill>
                          <a:latin typeface="Verdana"/>
                          <a:cs typeface="Verdana"/>
                        </a:rPr>
                        <a:t>Turnover</a:t>
                      </a:r>
                      <a:r>
                        <a:rPr sz="2400" u="heavy" spc="-30" dirty="0">
                          <a:solidFill>
                            <a:srgbClr val="33659A"/>
                          </a:solidFill>
                          <a:uFill>
                            <a:solidFill>
                              <a:srgbClr val="33659A"/>
                            </a:solidFill>
                          </a:uFill>
                          <a:latin typeface="Verdana"/>
                          <a:cs typeface="Verdana"/>
                        </a:rPr>
                        <a:t> </a:t>
                      </a:r>
                      <a:r>
                        <a:rPr sz="2400" u="heavy" dirty="0">
                          <a:solidFill>
                            <a:srgbClr val="33659A"/>
                          </a:solidFill>
                          <a:uFill>
                            <a:solidFill>
                              <a:srgbClr val="33659A"/>
                            </a:solidFill>
                          </a:uFill>
                          <a:latin typeface="Verdana"/>
                          <a:cs typeface="Verdana"/>
                        </a:rPr>
                        <a:t>of</a:t>
                      </a:r>
                      <a:r>
                        <a:rPr sz="2400" u="heavy" spc="-30" dirty="0">
                          <a:solidFill>
                            <a:srgbClr val="33659A"/>
                          </a:solidFill>
                          <a:uFill>
                            <a:solidFill>
                              <a:srgbClr val="33659A"/>
                            </a:solidFill>
                          </a:uFill>
                          <a:latin typeface="Verdana"/>
                          <a:cs typeface="Verdana"/>
                        </a:rPr>
                        <a:t> </a:t>
                      </a:r>
                      <a:r>
                        <a:rPr sz="2400" u="heavy" dirty="0">
                          <a:solidFill>
                            <a:srgbClr val="33659A"/>
                          </a:solidFill>
                          <a:uFill>
                            <a:solidFill>
                              <a:srgbClr val="33659A"/>
                            </a:solidFill>
                          </a:uFill>
                          <a:latin typeface="Verdana"/>
                          <a:cs typeface="Verdana"/>
                        </a:rPr>
                        <a:t>Goods</a:t>
                      </a:r>
                      <a:endParaRPr sz="2400">
                        <a:latin typeface="Verdana"/>
                        <a:cs typeface="Verdana"/>
                      </a:endParaRPr>
                    </a:p>
                  </a:txBody>
                  <a:tcPr marL="0" marR="0" marT="1269" marB="0"/>
                </a:tc>
                <a:tc>
                  <a:txBody>
                    <a:bodyPr/>
                    <a:lstStyle/>
                    <a:p>
                      <a:pPr marL="92075">
                        <a:lnSpc>
                          <a:spcPct val="100000"/>
                        </a:lnSpc>
                        <a:spcBef>
                          <a:spcPts val="10"/>
                        </a:spcBef>
                      </a:pPr>
                      <a:r>
                        <a:rPr sz="2400" u="heavy" dirty="0">
                          <a:solidFill>
                            <a:srgbClr val="33659A"/>
                          </a:solidFill>
                          <a:uFill>
                            <a:solidFill>
                              <a:srgbClr val="33659A"/>
                            </a:solidFill>
                          </a:uFill>
                          <a:latin typeface="Verdana"/>
                          <a:cs typeface="Verdana"/>
                        </a:rPr>
                        <a:t>Applicable</a:t>
                      </a:r>
                      <a:r>
                        <a:rPr sz="2400" u="heavy" spc="-50" dirty="0">
                          <a:solidFill>
                            <a:srgbClr val="33659A"/>
                          </a:solidFill>
                          <a:uFill>
                            <a:solidFill>
                              <a:srgbClr val="33659A"/>
                            </a:solidFill>
                          </a:uFill>
                          <a:latin typeface="Verdana"/>
                          <a:cs typeface="Verdana"/>
                        </a:rPr>
                        <a:t> </a:t>
                      </a:r>
                      <a:r>
                        <a:rPr sz="2400" u="heavy" dirty="0">
                          <a:solidFill>
                            <a:srgbClr val="33659A"/>
                          </a:solidFill>
                          <a:uFill>
                            <a:solidFill>
                              <a:srgbClr val="33659A"/>
                            </a:solidFill>
                          </a:uFill>
                          <a:latin typeface="Verdana"/>
                          <a:cs typeface="Verdana"/>
                        </a:rPr>
                        <a:t>Taxes</a:t>
                      </a:r>
                      <a:endParaRPr sz="2400">
                        <a:latin typeface="Verdana"/>
                        <a:cs typeface="Verdana"/>
                      </a:endParaRPr>
                    </a:p>
                  </a:txBody>
                  <a:tcPr marL="0" marR="0" marT="1269" marB="0"/>
                </a:tc>
                <a:extLst>
                  <a:ext uri="{0D108BD9-81ED-4DB2-BD59-A6C34878D82A}">
                    <a16:rowId xmlns:a16="http://schemas.microsoft.com/office/drawing/2014/main" val="10000"/>
                  </a:ext>
                </a:extLst>
              </a:tr>
              <a:tr h="1020886">
                <a:tc>
                  <a:txBody>
                    <a:bodyPr/>
                    <a:lstStyle/>
                    <a:p>
                      <a:pPr marL="509905" indent="-383540">
                        <a:lnSpc>
                          <a:spcPct val="100000"/>
                        </a:lnSpc>
                        <a:spcBef>
                          <a:spcPts val="965"/>
                        </a:spcBef>
                        <a:buClr>
                          <a:srgbClr val="CC0000"/>
                        </a:buClr>
                        <a:buFont typeface="Wingdings"/>
                        <a:buChar char=""/>
                        <a:tabLst>
                          <a:tab pos="509905" algn="l"/>
                          <a:tab pos="510540" algn="l"/>
                        </a:tabLst>
                      </a:pPr>
                      <a:r>
                        <a:rPr sz="2000" spc="-5" dirty="0">
                          <a:solidFill>
                            <a:srgbClr val="003300"/>
                          </a:solidFill>
                          <a:latin typeface="Verdana"/>
                          <a:cs typeface="Verdana"/>
                        </a:rPr>
                        <a:t>Below</a:t>
                      </a:r>
                      <a:r>
                        <a:rPr sz="2000" spc="-15" dirty="0">
                          <a:solidFill>
                            <a:srgbClr val="003300"/>
                          </a:solidFill>
                          <a:latin typeface="Verdana"/>
                          <a:cs typeface="Verdana"/>
                        </a:rPr>
                        <a:t> </a:t>
                      </a:r>
                      <a:r>
                        <a:rPr sz="2000" spc="-5" dirty="0">
                          <a:solidFill>
                            <a:srgbClr val="003300"/>
                          </a:solidFill>
                          <a:latin typeface="Verdana"/>
                          <a:cs typeface="Verdana"/>
                        </a:rPr>
                        <a:t>Rs.</a:t>
                      </a:r>
                      <a:r>
                        <a:rPr sz="2000" spc="-15" dirty="0">
                          <a:solidFill>
                            <a:srgbClr val="003300"/>
                          </a:solidFill>
                          <a:latin typeface="Verdana"/>
                          <a:cs typeface="Verdana"/>
                        </a:rPr>
                        <a:t> </a:t>
                      </a:r>
                      <a:r>
                        <a:rPr sz="2000" spc="-5" dirty="0">
                          <a:solidFill>
                            <a:srgbClr val="003300"/>
                          </a:solidFill>
                          <a:latin typeface="Verdana"/>
                          <a:cs typeface="Verdana"/>
                        </a:rPr>
                        <a:t>10</a:t>
                      </a:r>
                      <a:r>
                        <a:rPr sz="2000" spc="-10" dirty="0">
                          <a:solidFill>
                            <a:srgbClr val="003300"/>
                          </a:solidFill>
                          <a:latin typeface="Verdana"/>
                          <a:cs typeface="Verdana"/>
                        </a:rPr>
                        <a:t> </a:t>
                      </a:r>
                      <a:r>
                        <a:rPr sz="2000" spc="-5" dirty="0">
                          <a:solidFill>
                            <a:srgbClr val="003300"/>
                          </a:solidFill>
                          <a:latin typeface="Verdana"/>
                          <a:cs typeface="Verdana"/>
                        </a:rPr>
                        <a:t>Lacs.</a:t>
                      </a:r>
                      <a:endParaRPr sz="2000">
                        <a:latin typeface="Verdana"/>
                        <a:cs typeface="Verdana"/>
                      </a:endParaRPr>
                    </a:p>
                  </a:txBody>
                  <a:tcPr marL="0" marR="0" marT="122442" marB="0"/>
                </a:tc>
                <a:tc>
                  <a:txBody>
                    <a:bodyPr/>
                    <a:lstStyle/>
                    <a:p>
                      <a:pPr marL="437515" marR="120014" indent="-346075">
                        <a:lnSpc>
                          <a:spcPts val="3600"/>
                        </a:lnSpc>
                        <a:spcBef>
                          <a:spcPts val="85"/>
                        </a:spcBef>
                        <a:buClr>
                          <a:srgbClr val="CC0000"/>
                        </a:buClr>
                        <a:buFont typeface="Wingdings"/>
                        <a:buChar char=""/>
                        <a:tabLst>
                          <a:tab pos="437515" algn="l"/>
                          <a:tab pos="438150" algn="l"/>
                          <a:tab pos="1664970" algn="l"/>
                          <a:tab pos="2639695" algn="l"/>
                          <a:tab pos="3462654" algn="l"/>
                        </a:tabLst>
                      </a:pPr>
                      <a:r>
                        <a:rPr sz="2000" spc="-5" dirty="0">
                          <a:solidFill>
                            <a:srgbClr val="003300"/>
                          </a:solidFill>
                          <a:latin typeface="Verdana"/>
                          <a:cs typeface="Verdana"/>
                        </a:rPr>
                        <a:t>Neithe</a:t>
                      </a:r>
                      <a:r>
                        <a:rPr sz="2000" dirty="0">
                          <a:solidFill>
                            <a:srgbClr val="003300"/>
                          </a:solidFill>
                          <a:latin typeface="Verdana"/>
                          <a:cs typeface="Verdana"/>
                        </a:rPr>
                        <a:t>r	State	</a:t>
                      </a:r>
                      <a:r>
                        <a:rPr sz="2000" spc="-5" dirty="0">
                          <a:solidFill>
                            <a:srgbClr val="003300"/>
                          </a:solidFill>
                          <a:latin typeface="Verdana"/>
                          <a:cs typeface="Verdana"/>
                        </a:rPr>
                        <a:t>GS</a:t>
                      </a:r>
                      <a:r>
                        <a:rPr sz="2000" dirty="0">
                          <a:solidFill>
                            <a:srgbClr val="003300"/>
                          </a:solidFill>
                          <a:latin typeface="Verdana"/>
                          <a:cs typeface="Verdana"/>
                        </a:rPr>
                        <a:t>T	nor  </a:t>
                      </a:r>
                      <a:r>
                        <a:rPr sz="2000" spc="-10" dirty="0">
                          <a:solidFill>
                            <a:srgbClr val="003300"/>
                          </a:solidFill>
                          <a:latin typeface="Verdana"/>
                          <a:cs typeface="Verdana"/>
                        </a:rPr>
                        <a:t>Central GST</a:t>
                      </a:r>
                      <a:endParaRPr sz="2000">
                        <a:latin typeface="Verdana"/>
                        <a:cs typeface="Verdana"/>
                      </a:endParaRPr>
                    </a:p>
                  </a:txBody>
                  <a:tcPr marL="0" marR="0" marT="10785" marB="0"/>
                </a:tc>
                <a:extLst>
                  <a:ext uri="{0D108BD9-81ED-4DB2-BD59-A6C34878D82A}">
                    <a16:rowId xmlns:a16="http://schemas.microsoft.com/office/drawing/2014/main" val="10001"/>
                  </a:ext>
                </a:extLst>
              </a:tr>
              <a:tr h="1018988">
                <a:tc>
                  <a:txBody>
                    <a:bodyPr/>
                    <a:lstStyle/>
                    <a:p>
                      <a:pPr marL="472440" marR="83820" indent="-346075">
                        <a:lnSpc>
                          <a:spcPts val="3600"/>
                        </a:lnSpc>
                        <a:spcBef>
                          <a:spcPts val="185"/>
                        </a:spcBef>
                        <a:buClr>
                          <a:srgbClr val="CC0000"/>
                        </a:buClr>
                        <a:buFont typeface="Wingdings"/>
                        <a:buChar char=""/>
                        <a:tabLst>
                          <a:tab pos="472440" algn="l"/>
                          <a:tab pos="473075" algn="l"/>
                          <a:tab pos="1925955" algn="l"/>
                          <a:tab pos="2682875" algn="l"/>
                          <a:tab pos="3362960" algn="l"/>
                        </a:tabLst>
                      </a:pPr>
                      <a:r>
                        <a:rPr sz="2000" dirty="0">
                          <a:solidFill>
                            <a:srgbClr val="003300"/>
                          </a:solidFill>
                          <a:latin typeface="Verdana"/>
                          <a:cs typeface="Verdana"/>
                        </a:rPr>
                        <a:t>Between	</a:t>
                      </a:r>
                      <a:r>
                        <a:rPr sz="2000" spc="-5" dirty="0">
                          <a:solidFill>
                            <a:srgbClr val="003300"/>
                          </a:solidFill>
                          <a:latin typeface="Verdana"/>
                          <a:cs typeface="Verdana"/>
                        </a:rPr>
                        <a:t>Rs</a:t>
                      </a:r>
                      <a:r>
                        <a:rPr sz="2000" dirty="0">
                          <a:solidFill>
                            <a:srgbClr val="003300"/>
                          </a:solidFill>
                          <a:latin typeface="Verdana"/>
                          <a:cs typeface="Verdana"/>
                        </a:rPr>
                        <a:t>.	</a:t>
                      </a:r>
                      <a:r>
                        <a:rPr sz="2000" spc="-5" dirty="0">
                          <a:solidFill>
                            <a:srgbClr val="003300"/>
                          </a:solidFill>
                          <a:latin typeface="Verdana"/>
                          <a:cs typeface="Verdana"/>
                        </a:rPr>
                        <a:t>1</a:t>
                      </a:r>
                      <a:r>
                        <a:rPr sz="2000" dirty="0">
                          <a:solidFill>
                            <a:srgbClr val="003300"/>
                          </a:solidFill>
                          <a:latin typeface="Verdana"/>
                          <a:cs typeface="Verdana"/>
                        </a:rPr>
                        <a:t>0	</a:t>
                      </a:r>
                      <a:r>
                        <a:rPr sz="2000" spc="-5" dirty="0">
                          <a:solidFill>
                            <a:srgbClr val="003300"/>
                          </a:solidFill>
                          <a:latin typeface="Verdana"/>
                          <a:cs typeface="Verdana"/>
                        </a:rPr>
                        <a:t>Lacs  and Rs.</a:t>
                      </a:r>
                      <a:r>
                        <a:rPr sz="2000" spc="-10" dirty="0">
                          <a:solidFill>
                            <a:srgbClr val="003300"/>
                          </a:solidFill>
                          <a:latin typeface="Verdana"/>
                          <a:cs typeface="Verdana"/>
                        </a:rPr>
                        <a:t> </a:t>
                      </a:r>
                      <a:r>
                        <a:rPr sz="2000" spc="-5" dirty="0">
                          <a:solidFill>
                            <a:srgbClr val="003300"/>
                          </a:solidFill>
                          <a:latin typeface="Verdana"/>
                          <a:cs typeface="Verdana"/>
                        </a:rPr>
                        <a:t>150 Lacs</a:t>
                      </a:r>
                      <a:endParaRPr sz="2000">
                        <a:latin typeface="Verdana"/>
                        <a:cs typeface="Verdana"/>
                      </a:endParaRPr>
                    </a:p>
                  </a:txBody>
                  <a:tcPr marL="0" marR="0" marT="23473" marB="0"/>
                </a:tc>
                <a:tc>
                  <a:txBody>
                    <a:bodyPr/>
                    <a:lstStyle/>
                    <a:p>
                      <a:pPr marL="296545" indent="-205740">
                        <a:lnSpc>
                          <a:spcPct val="100000"/>
                        </a:lnSpc>
                        <a:spcBef>
                          <a:spcPts val="1065"/>
                        </a:spcBef>
                        <a:buClr>
                          <a:srgbClr val="CC0000"/>
                        </a:buClr>
                        <a:buFont typeface="Wingdings"/>
                        <a:buChar char=""/>
                        <a:tabLst>
                          <a:tab pos="297180" algn="l"/>
                        </a:tabLst>
                      </a:pPr>
                      <a:r>
                        <a:rPr sz="2000" spc="-5" dirty="0">
                          <a:solidFill>
                            <a:srgbClr val="003300"/>
                          </a:solidFill>
                          <a:latin typeface="Verdana"/>
                          <a:cs typeface="Verdana"/>
                        </a:rPr>
                        <a:t>Only</a:t>
                      </a:r>
                      <a:r>
                        <a:rPr sz="2000" spc="-20" dirty="0">
                          <a:solidFill>
                            <a:srgbClr val="003300"/>
                          </a:solidFill>
                          <a:latin typeface="Verdana"/>
                          <a:cs typeface="Verdana"/>
                        </a:rPr>
                        <a:t> </a:t>
                      </a:r>
                      <a:r>
                        <a:rPr sz="2000" spc="-5" dirty="0">
                          <a:solidFill>
                            <a:srgbClr val="003300"/>
                          </a:solidFill>
                          <a:latin typeface="Verdana"/>
                          <a:cs typeface="Verdana"/>
                        </a:rPr>
                        <a:t>State</a:t>
                      </a:r>
                      <a:r>
                        <a:rPr sz="2000" spc="-30" dirty="0">
                          <a:solidFill>
                            <a:srgbClr val="003300"/>
                          </a:solidFill>
                          <a:latin typeface="Verdana"/>
                          <a:cs typeface="Verdana"/>
                        </a:rPr>
                        <a:t> </a:t>
                      </a:r>
                      <a:r>
                        <a:rPr sz="2000" spc="-10" dirty="0">
                          <a:solidFill>
                            <a:srgbClr val="003300"/>
                          </a:solidFill>
                          <a:latin typeface="Verdana"/>
                          <a:cs typeface="Verdana"/>
                        </a:rPr>
                        <a:t>GST</a:t>
                      </a:r>
                      <a:endParaRPr sz="2000">
                        <a:latin typeface="Verdana"/>
                        <a:cs typeface="Verdana"/>
                      </a:endParaRPr>
                    </a:p>
                  </a:txBody>
                  <a:tcPr marL="0" marR="0" marT="135130" marB="0"/>
                </a:tc>
                <a:extLst>
                  <a:ext uri="{0D108BD9-81ED-4DB2-BD59-A6C34878D82A}">
                    <a16:rowId xmlns:a16="http://schemas.microsoft.com/office/drawing/2014/main" val="10002"/>
                  </a:ext>
                </a:extLst>
              </a:tr>
              <a:tr h="913554">
                <a:tc>
                  <a:txBody>
                    <a:bodyPr/>
                    <a:lstStyle/>
                    <a:p>
                      <a:pPr marL="419734" indent="-293370">
                        <a:lnSpc>
                          <a:spcPct val="100000"/>
                        </a:lnSpc>
                        <a:spcBef>
                          <a:spcPts val="950"/>
                        </a:spcBef>
                        <a:buClr>
                          <a:srgbClr val="CC0000"/>
                        </a:buClr>
                        <a:buFont typeface="Wingdings"/>
                        <a:buChar char=""/>
                        <a:tabLst>
                          <a:tab pos="419734" algn="l"/>
                          <a:tab pos="420370" algn="l"/>
                        </a:tabLst>
                      </a:pPr>
                      <a:r>
                        <a:rPr sz="2000" spc="-5" dirty="0">
                          <a:solidFill>
                            <a:srgbClr val="003300"/>
                          </a:solidFill>
                          <a:latin typeface="Verdana"/>
                          <a:cs typeface="Verdana"/>
                        </a:rPr>
                        <a:t>Above</a:t>
                      </a:r>
                      <a:r>
                        <a:rPr sz="2000" spc="-15" dirty="0">
                          <a:solidFill>
                            <a:srgbClr val="003300"/>
                          </a:solidFill>
                          <a:latin typeface="Verdana"/>
                          <a:cs typeface="Verdana"/>
                        </a:rPr>
                        <a:t> </a:t>
                      </a:r>
                      <a:r>
                        <a:rPr sz="2000" spc="-5" dirty="0">
                          <a:solidFill>
                            <a:srgbClr val="003300"/>
                          </a:solidFill>
                          <a:latin typeface="Verdana"/>
                          <a:cs typeface="Verdana"/>
                        </a:rPr>
                        <a:t>Rs.</a:t>
                      </a:r>
                      <a:r>
                        <a:rPr sz="2000" spc="-15" dirty="0">
                          <a:solidFill>
                            <a:srgbClr val="003300"/>
                          </a:solidFill>
                          <a:latin typeface="Verdana"/>
                          <a:cs typeface="Verdana"/>
                        </a:rPr>
                        <a:t> </a:t>
                      </a:r>
                      <a:r>
                        <a:rPr sz="2000" spc="-5" dirty="0">
                          <a:solidFill>
                            <a:srgbClr val="003300"/>
                          </a:solidFill>
                          <a:latin typeface="Verdana"/>
                          <a:cs typeface="Verdana"/>
                        </a:rPr>
                        <a:t>150</a:t>
                      </a:r>
                      <a:r>
                        <a:rPr sz="2000" spc="-10" dirty="0">
                          <a:solidFill>
                            <a:srgbClr val="003300"/>
                          </a:solidFill>
                          <a:latin typeface="Verdana"/>
                          <a:cs typeface="Verdana"/>
                        </a:rPr>
                        <a:t> </a:t>
                      </a:r>
                      <a:r>
                        <a:rPr sz="2000" spc="-5" dirty="0">
                          <a:solidFill>
                            <a:srgbClr val="003300"/>
                          </a:solidFill>
                          <a:latin typeface="Verdana"/>
                          <a:cs typeface="Verdana"/>
                        </a:rPr>
                        <a:t>Lacs</a:t>
                      </a:r>
                      <a:endParaRPr sz="2000">
                        <a:latin typeface="Verdana"/>
                        <a:cs typeface="Verdana"/>
                      </a:endParaRPr>
                    </a:p>
                  </a:txBody>
                  <a:tcPr marL="0" marR="0" marT="120538" marB="0"/>
                </a:tc>
                <a:tc>
                  <a:txBody>
                    <a:bodyPr/>
                    <a:lstStyle/>
                    <a:p>
                      <a:pPr marL="437515" marR="119380" indent="-346075">
                        <a:lnSpc>
                          <a:spcPts val="3600"/>
                        </a:lnSpc>
                        <a:buClr>
                          <a:srgbClr val="CC0000"/>
                        </a:buClr>
                        <a:buFont typeface="Wingdings"/>
                        <a:buChar char=""/>
                        <a:tabLst>
                          <a:tab pos="437515" algn="l"/>
                          <a:tab pos="438150" algn="l"/>
                          <a:tab pos="1422400" algn="l"/>
                          <a:tab pos="2494280" algn="l"/>
                          <a:tab pos="3414395" algn="l"/>
                        </a:tabLst>
                      </a:pPr>
                      <a:r>
                        <a:rPr sz="2000" dirty="0">
                          <a:solidFill>
                            <a:srgbClr val="003300"/>
                          </a:solidFill>
                          <a:latin typeface="Verdana"/>
                          <a:cs typeface="Verdana"/>
                        </a:rPr>
                        <a:t>Both	State	</a:t>
                      </a:r>
                      <a:r>
                        <a:rPr sz="2000" spc="-5" dirty="0">
                          <a:solidFill>
                            <a:srgbClr val="003300"/>
                          </a:solidFill>
                          <a:latin typeface="Verdana"/>
                          <a:cs typeface="Verdana"/>
                        </a:rPr>
                        <a:t>GS</a:t>
                      </a:r>
                      <a:r>
                        <a:rPr sz="2000" dirty="0">
                          <a:solidFill>
                            <a:srgbClr val="003300"/>
                          </a:solidFill>
                          <a:latin typeface="Verdana"/>
                          <a:cs typeface="Verdana"/>
                        </a:rPr>
                        <a:t>T	and  </a:t>
                      </a:r>
                      <a:r>
                        <a:rPr sz="2000" spc="-10" dirty="0">
                          <a:solidFill>
                            <a:srgbClr val="003300"/>
                          </a:solidFill>
                          <a:latin typeface="Verdana"/>
                          <a:cs typeface="Verdana"/>
                        </a:rPr>
                        <a:t>Central GST</a:t>
                      </a:r>
                      <a:endParaRPr sz="2000">
                        <a:latin typeface="Verdana"/>
                        <a:cs typeface="Verdana"/>
                      </a:endParaRPr>
                    </a:p>
                  </a:txBody>
                  <a:tcPr marL="0" marR="0" marT="0" marB="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92032116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530133" y="1903"/>
            <a:ext cx="9135541" cy="6851656"/>
            <a:chOff x="1905" y="1905"/>
            <a:chExt cx="9144000" cy="6858000"/>
          </a:xfrm>
        </p:grpSpPr>
        <p:pic>
          <p:nvPicPr>
            <p:cNvPr id="3" name="object 3"/>
            <p:cNvPicPr/>
            <p:nvPr/>
          </p:nvPicPr>
          <p:blipFill>
            <a:blip r:embed="rId2" cstate="print"/>
            <a:stretch>
              <a:fillRect/>
            </a:stretch>
          </p:blipFill>
          <p:spPr>
            <a:xfrm>
              <a:off x="1905" y="1905"/>
              <a:ext cx="9144000" cy="6858000"/>
            </a:xfrm>
            <a:prstGeom prst="rect">
              <a:avLst/>
            </a:prstGeom>
          </p:spPr>
        </p:pic>
        <p:sp>
          <p:nvSpPr>
            <p:cNvPr id="4" name="object 4"/>
            <p:cNvSpPr/>
            <p:nvPr/>
          </p:nvSpPr>
          <p:spPr>
            <a:xfrm>
              <a:off x="611505" y="1568577"/>
              <a:ext cx="4655820" cy="109855"/>
            </a:xfrm>
            <a:custGeom>
              <a:avLst/>
              <a:gdLst/>
              <a:ahLst/>
              <a:cxnLst/>
              <a:rect l="l" t="t" r="r" b="b"/>
              <a:pathLst>
                <a:path w="4655820" h="109855">
                  <a:moveTo>
                    <a:pt x="4655820" y="109727"/>
                  </a:moveTo>
                  <a:lnTo>
                    <a:pt x="4655820" y="0"/>
                  </a:lnTo>
                  <a:lnTo>
                    <a:pt x="0" y="0"/>
                  </a:lnTo>
                  <a:lnTo>
                    <a:pt x="0" y="109727"/>
                  </a:lnTo>
                  <a:lnTo>
                    <a:pt x="4655820" y="109727"/>
                  </a:lnTo>
                  <a:close/>
                </a:path>
              </a:pathLst>
            </a:custGeom>
            <a:solidFill>
              <a:srgbClr val="CC0000"/>
            </a:solidFill>
          </p:spPr>
          <p:txBody>
            <a:bodyPr wrap="square" lIns="0" tIns="0" rIns="0" bIns="0" rtlCol="0"/>
            <a:lstStyle/>
            <a:p>
              <a:endParaRPr sz="1798"/>
            </a:p>
          </p:txBody>
        </p:sp>
        <p:sp>
          <p:nvSpPr>
            <p:cNvPr id="5" name="object 5"/>
            <p:cNvSpPr/>
            <p:nvPr/>
          </p:nvSpPr>
          <p:spPr>
            <a:xfrm>
              <a:off x="611505" y="1568577"/>
              <a:ext cx="7958455" cy="0"/>
            </a:xfrm>
            <a:custGeom>
              <a:avLst/>
              <a:gdLst/>
              <a:ahLst/>
              <a:cxnLst/>
              <a:rect l="l" t="t" r="r" b="b"/>
              <a:pathLst>
                <a:path w="7958455">
                  <a:moveTo>
                    <a:pt x="0" y="0"/>
                  </a:moveTo>
                  <a:lnTo>
                    <a:pt x="7958328" y="0"/>
                  </a:lnTo>
                </a:path>
              </a:pathLst>
            </a:custGeom>
            <a:ln w="9525">
              <a:solidFill>
                <a:srgbClr val="CC0000"/>
              </a:solidFill>
            </a:ln>
          </p:spPr>
          <p:txBody>
            <a:bodyPr wrap="square" lIns="0" tIns="0" rIns="0" bIns="0" rtlCol="0"/>
            <a:lstStyle/>
            <a:p>
              <a:endParaRPr sz="1798"/>
            </a:p>
          </p:txBody>
        </p:sp>
        <p:sp>
          <p:nvSpPr>
            <p:cNvPr id="6" name="object 6"/>
            <p:cNvSpPr/>
            <p:nvPr/>
          </p:nvSpPr>
          <p:spPr>
            <a:xfrm>
              <a:off x="611505" y="6174105"/>
              <a:ext cx="7924800" cy="0"/>
            </a:xfrm>
            <a:custGeom>
              <a:avLst/>
              <a:gdLst/>
              <a:ahLst/>
              <a:cxnLst/>
              <a:rect l="l" t="t" r="r" b="b"/>
              <a:pathLst>
                <a:path w="7924800">
                  <a:moveTo>
                    <a:pt x="0" y="0"/>
                  </a:moveTo>
                  <a:lnTo>
                    <a:pt x="7924800" y="0"/>
                  </a:lnTo>
                </a:path>
              </a:pathLst>
            </a:custGeom>
            <a:ln w="3175">
              <a:solidFill>
                <a:srgbClr val="CC0000"/>
              </a:solidFill>
            </a:ln>
          </p:spPr>
          <p:txBody>
            <a:bodyPr wrap="square" lIns="0" tIns="0" rIns="0" bIns="0" rtlCol="0"/>
            <a:lstStyle/>
            <a:p>
              <a:endParaRPr sz="1798"/>
            </a:p>
          </p:txBody>
        </p:sp>
      </p:grpSp>
      <p:sp>
        <p:nvSpPr>
          <p:cNvPr id="7" name="object 7"/>
          <p:cNvSpPr txBox="1">
            <a:spLocks noGrp="1"/>
          </p:cNvSpPr>
          <p:nvPr>
            <p:ph type="title"/>
          </p:nvPr>
        </p:nvSpPr>
        <p:spPr>
          <a:xfrm>
            <a:off x="2183578" y="847194"/>
            <a:ext cx="5393141" cy="573509"/>
          </a:xfrm>
          <a:prstGeom prst="rect">
            <a:avLst/>
          </a:prstGeom>
        </p:spPr>
        <p:txBody>
          <a:bodyPr vert="horz" wrap="square" lIns="0" tIns="12688" rIns="0" bIns="0" rtlCol="0" anchor="ctr">
            <a:spAutoFit/>
          </a:bodyPr>
          <a:lstStyle/>
          <a:p>
            <a:pPr marL="12689">
              <a:lnSpc>
                <a:spcPct val="100000"/>
              </a:lnSpc>
              <a:spcBef>
                <a:spcPts val="100"/>
              </a:spcBef>
            </a:pPr>
            <a:r>
              <a:rPr sz="3597" spc="-5" dirty="0"/>
              <a:t>Threshold</a:t>
            </a:r>
            <a:r>
              <a:rPr sz="3597" spc="-20" dirty="0"/>
              <a:t> </a:t>
            </a:r>
            <a:r>
              <a:rPr sz="3597" spc="-5" dirty="0"/>
              <a:t>Limits</a:t>
            </a:r>
            <a:r>
              <a:rPr sz="3597" spc="-15" dirty="0"/>
              <a:t> </a:t>
            </a:r>
            <a:r>
              <a:rPr sz="3597" dirty="0"/>
              <a:t>-</a:t>
            </a:r>
            <a:r>
              <a:rPr sz="3597" spc="-10" dirty="0"/>
              <a:t> </a:t>
            </a:r>
            <a:r>
              <a:rPr sz="3597" dirty="0"/>
              <a:t>Services</a:t>
            </a:r>
            <a:endParaRPr sz="3597"/>
          </a:p>
        </p:txBody>
      </p:sp>
      <p:sp>
        <p:nvSpPr>
          <p:cNvPr id="10" name="object 10"/>
          <p:cNvSpPr txBox="1">
            <a:spLocks noGrp="1"/>
          </p:cNvSpPr>
          <p:nvPr>
            <p:ph type="sldNum" sz="quarter" idx="4294967295"/>
          </p:nvPr>
        </p:nvSpPr>
        <p:spPr>
          <a:xfrm>
            <a:off x="1528229" y="0"/>
            <a:ext cx="0" cy="290452"/>
          </a:xfrm>
          <a:prstGeom prst="rect">
            <a:avLst/>
          </a:prstGeom>
        </p:spPr>
        <p:txBody>
          <a:bodyPr vert="horz" wrap="square" lIns="0" tIns="13323" rIns="0" bIns="0" rtlCol="0">
            <a:spAutoFit/>
          </a:bodyPr>
          <a:lstStyle/>
          <a:p>
            <a:pPr marL="38066">
              <a:spcBef>
                <a:spcPts val="105"/>
              </a:spcBef>
            </a:pPr>
            <a:endParaRPr dirty="0"/>
          </a:p>
        </p:txBody>
      </p:sp>
      <p:sp>
        <p:nvSpPr>
          <p:cNvPr id="8" name="object 8"/>
          <p:cNvSpPr txBox="1"/>
          <p:nvPr/>
        </p:nvSpPr>
        <p:spPr>
          <a:xfrm>
            <a:off x="2066338" y="5261868"/>
            <a:ext cx="8066556" cy="851381"/>
          </a:xfrm>
          <a:prstGeom prst="rect">
            <a:avLst/>
          </a:prstGeom>
        </p:spPr>
        <p:txBody>
          <a:bodyPr vert="horz" wrap="square" lIns="0" tIns="12688" rIns="0" bIns="0" rtlCol="0">
            <a:spAutoFit/>
          </a:bodyPr>
          <a:lstStyle/>
          <a:p>
            <a:pPr marL="482166" marR="5075" indent="-470111">
              <a:lnSpc>
                <a:spcPct val="150600"/>
              </a:lnSpc>
              <a:spcBef>
                <a:spcPts val="100"/>
              </a:spcBef>
            </a:pPr>
            <a:r>
              <a:rPr sz="1798" spc="-5" dirty="0">
                <a:solidFill>
                  <a:srgbClr val="0000FF"/>
                </a:solidFill>
                <a:latin typeface="Verdana"/>
                <a:cs typeface="Verdana"/>
              </a:rPr>
              <a:t>*Note:</a:t>
            </a:r>
            <a:r>
              <a:rPr sz="1798" spc="295" dirty="0">
                <a:solidFill>
                  <a:srgbClr val="0000FF"/>
                </a:solidFill>
                <a:latin typeface="Verdana"/>
                <a:cs typeface="Verdana"/>
              </a:rPr>
              <a:t> </a:t>
            </a:r>
            <a:r>
              <a:rPr sz="1798" spc="-5" dirty="0">
                <a:solidFill>
                  <a:srgbClr val="0000FF"/>
                </a:solidFill>
                <a:latin typeface="Verdana"/>
                <a:cs typeface="Verdana"/>
              </a:rPr>
              <a:t>Figure</a:t>
            </a:r>
            <a:r>
              <a:rPr sz="1798" spc="285" dirty="0">
                <a:solidFill>
                  <a:srgbClr val="0000FF"/>
                </a:solidFill>
                <a:latin typeface="Verdana"/>
                <a:cs typeface="Verdana"/>
              </a:rPr>
              <a:t> </a:t>
            </a:r>
            <a:r>
              <a:rPr sz="1798" dirty="0">
                <a:solidFill>
                  <a:srgbClr val="0000FF"/>
                </a:solidFill>
                <a:latin typeface="Verdana"/>
                <a:cs typeface="Verdana"/>
              </a:rPr>
              <a:t>β</a:t>
            </a:r>
            <a:r>
              <a:rPr sz="1798" spc="300" dirty="0">
                <a:solidFill>
                  <a:srgbClr val="0000FF"/>
                </a:solidFill>
                <a:latin typeface="Verdana"/>
                <a:cs typeface="Verdana"/>
              </a:rPr>
              <a:t> </a:t>
            </a:r>
            <a:r>
              <a:rPr sz="1798" dirty="0">
                <a:solidFill>
                  <a:srgbClr val="0000FF"/>
                </a:solidFill>
                <a:latin typeface="Verdana"/>
                <a:cs typeface="Verdana"/>
              </a:rPr>
              <a:t>would</a:t>
            </a:r>
            <a:r>
              <a:rPr sz="1798" spc="295" dirty="0">
                <a:solidFill>
                  <a:srgbClr val="0000FF"/>
                </a:solidFill>
                <a:latin typeface="Verdana"/>
                <a:cs typeface="Verdana"/>
              </a:rPr>
              <a:t> </a:t>
            </a:r>
            <a:r>
              <a:rPr sz="1798" dirty="0">
                <a:solidFill>
                  <a:srgbClr val="0000FF"/>
                </a:solidFill>
                <a:latin typeface="Verdana"/>
                <a:cs typeface="Verdana"/>
              </a:rPr>
              <a:t>be</a:t>
            </a:r>
            <a:r>
              <a:rPr sz="1798" spc="300" dirty="0">
                <a:solidFill>
                  <a:srgbClr val="0000FF"/>
                </a:solidFill>
                <a:latin typeface="Verdana"/>
                <a:cs typeface="Verdana"/>
              </a:rPr>
              <a:t> </a:t>
            </a:r>
            <a:r>
              <a:rPr sz="1798" dirty="0">
                <a:solidFill>
                  <a:srgbClr val="0000FF"/>
                </a:solidFill>
                <a:latin typeface="Verdana"/>
                <a:cs typeface="Verdana"/>
              </a:rPr>
              <a:t>appropriately</a:t>
            </a:r>
            <a:r>
              <a:rPr sz="1798" spc="295" dirty="0">
                <a:solidFill>
                  <a:srgbClr val="0000FF"/>
                </a:solidFill>
                <a:latin typeface="Verdana"/>
                <a:cs typeface="Verdana"/>
              </a:rPr>
              <a:t> </a:t>
            </a:r>
            <a:r>
              <a:rPr sz="1798" spc="-10" dirty="0">
                <a:solidFill>
                  <a:srgbClr val="0000FF"/>
                </a:solidFill>
                <a:latin typeface="Verdana"/>
                <a:cs typeface="Verdana"/>
              </a:rPr>
              <a:t>high,</a:t>
            </a:r>
            <a:r>
              <a:rPr sz="1798" spc="300" dirty="0">
                <a:solidFill>
                  <a:srgbClr val="0000FF"/>
                </a:solidFill>
                <a:latin typeface="Verdana"/>
                <a:cs typeface="Verdana"/>
              </a:rPr>
              <a:t> </a:t>
            </a:r>
            <a:r>
              <a:rPr sz="1798" dirty="0">
                <a:solidFill>
                  <a:srgbClr val="0000FF"/>
                </a:solidFill>
                <a:latin typeface="Verdana"/>
                <a:cs typeface="Verdana"/>
              </a:rPr>
              <a:t>may</a:t>
            </a:r>
            <a:r>
              <a:rPr sz="1798" spc="295" dirty="0">
                <a:solidFill>
                  <a:srgbClr val="0000FF"/>
                </a:solidFill>
                <a:latin typeface="Verdana"/>
                <a:cs typeface="Verdana"/>
              </a:rPr>
              <a:t> </a:t>
            </a:r>
            <a:r>
              <a:rPr sz="1798" dirty="0">
                <a:solidFill>
                  <a:srgbClr val="0000FF"/>
                </a:solidFill>
                <a:latin typeface="Verdana"/>
                <a:cs typeface="Verdana"/>
              </a:rPr>
              <a:t>be</a:t>
            </a:r>
            <a:r>
              <a:rPr sz="1798" spc="295" dirty="0">
                <a:solidFill>
                  <a:srgbClr val="0000FF"/>
                </a:solidFill>
                <a:latin typeface="Verdana"/>
                <a:cs typeface="Verdana"/>
              </a:rPr>
              <a:t> </a:t>
            </a:r>
            <a:r>
              <a:rPr sz="1798" dirty="0">
                <a:solidFill>
                  <a:srgbClr val="0000FF"/>
                </a:solidFill>
                <a:latin typeface="Verdana"/>
                <a:cs typeface="Verdana"/>
              </a:rPr>
              <a:t>at</a:t>
            </a:r>
            <a:r>
              <a:rPr sz="1798" spc="295" dirty="0">
                <a:solidFill>
                  <a:srgbClr val="0000FF"/>
                </a:solidFill>
                <a:latin typeface="Verdana"/>
                <a:cs typeface="Verdana"/>
              </a:rPr>
              <a:t> </a:t>
            </a:r>
            <a:r>
              <a:rPr sz="1798" dirty="0">
                <a:solidFill>
                  <a:srgbClr val="0000FF"/>
                </a:solidFill>
                <a:latin typeface="Verdana"/>
                <a:cs typeface="Verdana"/>
              </a:rPr>
              <a:t>or</a:t>
            </a:r>
            <a:r>
              <a:rPr sz="1798" spc="285" dirty="0">
                <a:solidFill>
                  <a:srgbClr val="0000FF"/>
                </a:solidFill>
                <a:latin typeface="Verdana"/>
                <a:cs typeface="Verdana"/>
              </a:rPr>
              <a:t> </a:t>
            </a:r>
            <a:r>
              <a:rPr sz="1798" dirty="0">
                <a:solidFill>
                  <a:srgbClr val="0000FF"/>
                </a:solidFill>
                <a:latin typeface="Verdana"/>
                <a:cs typeface="Verdana"/>
              </a:rPr>
              <a:t>around </a:t>
            </a:r>
            <a:r>
              <a:rPr sz="1798" spc="-619" dirty="0">
                <a:solidFill>
                  <a:srgbClr val="0000FF"/>
                </a:solidFill>
                <a:latin typeface="Verdana"/>
                <a:cs typeface="Verdana"/>
              </a:rPr>
              <a:t> </a:t>
            </a:r>
            <a:r>
              <a:rPr sz="1798" spc="-5" dirty="0">
                <a:solidFill>
                  <a:srgbClr val="0000FF"/>
                </a:solidFill>
                <a:latin typeface="Verdana"/>
                <a:cs typeface="Verdana"/>
              </a:rPr>
              <a:t>Rs. </a:t>
            </a:r>
            <a:r>
              <a:rPr sz="1798" dirty="0">
                <a:solidFill>
                  <a:srgbClr val="0000FF"/>
                </a:solidFill>
                <a:latin typeface="Verdana"/>
                <a:cs typeface="Verdana"/>
              </a:rPr>
              <a:t>150 </a:t>
            </a:r>
            <a:r>
              <a:rPr sz="1798" spc="-5" dirty="0">
                <a:solidFill>
                  <a:srgbClr val="0000FF"/>
                </a:solidFill>
                <a:latin typeface="Verdana"/>
                <a:cs typeface="Verdana"/>
              </a:rPr>
              <a:t>Lacs.</a:t>
            </a:r>
            <a:endParaRPr sz="1798">
              <a:latin typeface="Verdana"/>
              <a:cs typeface="Verdana"/>
            </a:endParaRPr>
          </a:p>
        </p:txBody>
      </p:sp>
      <p:graphicFrame>
        <p:nvGraphicFramePr>
          <p:cNvPr id="9" name="object 9"/>
          <p:cNvGraphicFramePr>
            <a:graphicFrameLocks noGrp="1"/>
          </p:cNvGraphicFramePr>
          <p:nvPr/>
        </p:nvGraphicFramePr>
        <p:xfrm>
          <a:off x="2134094" y="1770553"/>
          <a:ext cx="8019608" cy="3587996"/>
        </p:xfrm>
        <a:graphic>
          <a:graphicData uri="http://schemas.openxmlformats.org/drawingml/2006/table">
            <a:tbl>
              <a:tblPr firstRow="1" bandRow="1">
                <a:tableStyleId>{2D5ABB26-0587-4C30-8999-92F81FD0307C}</a:tableStyleId>
              </a:tblPr>
              <a:tblGrid>
                <a:gridCol w="4010756">
                  <a:extLst>
                    <a:ext uri="{9D8B030D-6E8A-4147-A177-3AD203B41FA5}">
                      <a16:colId xmlns:a16="http://schemas.microsoft.com/office/drawing/2014/main" val="20000"/>
                    </a:ext>
                  </a:extLst>
                </a:gridCol>
                <a:gridCol w="4008852">
                  <a:extLst>
                    <a:ext uri="{9D8B030D-6E8A-4147-A177-3AD203B41FA5}">
                      <a16:colId xmlns:a16="http://schemas.microsoft.com/office/drawing/2014/main" val="20001"/>
                    </a:ext>
                  </a:extLst>
                </a:gridCol>
              </a:tblGrid>
              <a:tr h="546878">
                <a:tc>
                  <a:txBody>
                    <a:bodyPr/>
                    <a:lstStyle/>
                    <a:p>
                      <a:pPr marL="127000">
                        <a:lnSpc>
                          <a:spcPct val="100000"/>
                        </a:lnSpc>
                        <a:spcBef>
                          <a:spcPts val="5"/>
                        </a:spcBef>
                        <a:tabLst>
                          <a:tab pos="1784350" algn="l"/>
                        </a:tabLst>
                      </a:pPr>
                      <a:r>
                        <a:rPr sz="2000" u="heavy" spc="-10" dirty="0">
                          <a:solidFill>
                            <a:srgbClr val="33659A"/>
                          </a:solidFill>
                          <a:uFill>
                            <a:solidFill>
                              <a:srgbClr val="33659A"/>
                            </a:solidFill>
                          </a:uFill>
                          <a:latin typeface="Verdana"/>
                          <a:cs typeface="Verdana"/>
                        </a:rPr>
                        <a:t>Turnover</a:t>
                      </a:r>
                      <a:r>
                        <a:rPr sz="2000" u="heavy" spc="5" dirty="0">
                          <a:solidFill>
                            <a:srgbClr val="33659A"/>
                          </a:solidFill>
                          <a:uFill>
                            <a:solidFill>
                              <a:srgbClr val="33659A"/>
                            </a:solidFill>
                          </a:uFill>
                          <a:latin typeface="Verdana"/>
                          <a:cs typeface="Verdana"/>
                        </a:rPr>
                        <a:t> </a:t>
                      </a:r>
                      <a:r>
                        <a:rPr sz="2000" u="heavy" spc="-5" dirty="0">
                          <a:solidFill>
                            <a:srgbClr val="33659A"/>
                          </a:solidFill>
                          <a:uFill>
                            <a:solidFill>
                              <a:srgbClr val="33659A"/>
                            </a:solidFill>
                          </a:uFill>
                          <a:latin typeface="Verdana"/>
                          <a:cs typeface="Verdana"/>
                        </a:rPr>
                        <a:t>of	</a:t>
                      </a:r>
                      <a:r>
                        <a:rPr sz="2000" u="heavy" spc="-10" dirty="0">
                          <a:solidFill>
                            <a:srgbClr val="33659A"/>
                          </a:solidFill>
                          <a:uFill>
                            <a:solidFill>
                              <a:srgbClr val="33659A"/>
                            </a:solidFill>
                          </a:uFill>
                          <a:latin typeface="Verdana"/>
                          <a:cs typeface="Verdana"/>
                        </a:rPr>
                        <a:t>Services</a:t>
                      </a:r>
                      <a:endParaRPr sz="2000">
                        <a:latin typeface="Verdana"/>
                        <a:cs typeface="Verdana"/>
                      </a:endParaRPr>
                    </a:p>
                  </a:txBody>
                  <a:tcPr marL="0" marR="0" marT="634" marB="0"/>
                </a:tc>
                <a:tc>
                  <a:txBody>
                    <a:bodyPr/>
                    <a:lstStyle/>
                    <a:p>
                      <a:pPr marL="90805">
                        <a:lnSpc>
                          <a:spcPct val="100000"/>
                        </a:lnSpc>
                        <a:spcBef>
                          <a:spcPts val="5"/>
                        </a:spcBef>
                      </a:pPr>
                      <a:r>
                        <a:rPr sz="2000" u="heavy" spc="-5" dirty="0">
                          <a:solidFill>
                            <a:srgbClr val="33659A"/>
                          </a:solidFill>
                          <a:uFill>
                            <a:solidFill>
                              <a:srgbClr val="33659A"/>
                            </a:solidFill>
                          </a:uFill>
                          <a:latin typeface="Verdana"/>
                          <a:cs typeface="Verdana"/>
                        </a:rPr>
                        <a:t>Applicable</a:t>
                      </a:r>
                      <a:r>
                        <a:rPr sz="2000" u="heavy" spc="-20" dirty="0">
                          <a:solidFill>
                            <a:srgbClr val="33659A"/>
                          </a:solidFill>
                          <a:uFill>
                            <a:solidFill>
                              <a:srgbClr val="33659A"/>
                            </a:solidFill>
                          </a:uFill>
                          <a:latin typeface="Verdana"/>
                          <a:cs typeface="Verdana"/>
                        </a:rPr>
                        <a:t> </a:t>
                      </a:r>
                      <a:r>
                        <a:rPr sz="2000" u="heavy" spc="-5" dirty="0">
                          <a:solidFill>
                            <a:srgbClr val="33659A"/>
                          </a:solidFill>
                          <a:uFill>
                            <a:solidFill>
                              <a:srgbClr val="33659A"/>
                            </a:solidFill>
                          </a:uFill>
                          <a:latin typeface="Verdana"/>
                          <a:cs typeface="Verdana"/>
                        </a:rPr>
                        <a:t>Taxes</a:t>
                      </a:r>
                      <a:endParaRPr sz="2000">
                        <a:latin typeface="Verdana"/>
                        <a:cs typeface="Verdana"/>
                      </a:endParaRPr>
                    </a:p>
                  </a:txBody>
                  <a:tcPr marL="0" marR="0" marT="634" marB="0"/>
                </a:tc>
                <a:extLst>
                  <a:ext uri="{0D108BD9-81ED-4DB2-BD59-A6C34878D82A}">
                    <a16:rowId xmlns:a16="http://schemas.microsoft.com/office/drawing/2014/main" val="10000"/>
                  </a:ext>
                </a:extLst>
              </a:tr>
              <a:tr h="1122940">
                <a:tc>
                  <a:txBody>
                    <a:bodyPr/>
                    <a:lstStyle/>
                    <a:p>
                      <a:pPr marL="509905" indent="-383540">
                        <a:lnSpc>
                          <a:spcPct val="100000"/>
                        </a:lnSpc>
                        <a:spcBef>
                          <a:spcPts val="1889"/>
                        </a:spcBef>
                        <a:buClr>
                          <a:srgbClr val="CC0000"/>
                        </a:buClr>
                        <a:buFont typeface="Wingdings"/>
                        <a:buChar char=""/>
                        <a:tabLst>
                          <a:tab pos="509905" algn="l"/>
                          <a:tab pos="510540" algn="l"/>
                        </a:tabLst>
                      </a:pPr>
                      <a:r>
                        <a:rPr sz="2000" spc="-5" dirty="0">
                          <a:solidFill>
                            <a:srgbClr val="003300"/>
                          </a:solidFill>
                          <a:latin typeface="Verdana"/>
                          <a:cs typeface="Verdana"/>
                        </a:rPr>
                        <a:t>Below</a:t>
                      </a:r>
                      <a:r>
                        <a:rPr sz="2000" spc="-15" dirty="0">
                          <a:solidFill>
                            <a:srgbClr val="003300"/>
                          </a:solidFill>
                          <a:latin typeface="Verdana"/>
                          <a:cs typeface="Verdana"/>
                        </a:rPr>
                        <a:t> </a:t>
                      </a:r>
                      <a:r>
                        <a:rPr sz="2000" spc="-5" dirty="0">
                          <a:solidFill>
                            <a:srgbClr val="003300"/>
                          </a:solidFill>
                          <a:latin typeface="Verdana"/>
                          <a:cs typeface="Verdana"/>
                        </a:rPr>
                        <a:t>Rs.</a:t>
                      </a:r>
                      <a:r>
                        <a:rPr sz="2000" spc="-15" dirty="0">
                          <a:solidFill>
                            <a:srgbClr val="003300"/>
                          </a:solidFill>
                          <a:latin typeface="Verdana"/>
                          <a:cs typeface="Verdana"/>
                        </a:rPr>
                        <a:t> </a:t>
                      </a:r>
                      <a:r>
                        <a:rPr sz="2000" spc="-5" dirty="0">
                          <a:solidFill>
                            <a:srgbClr val="003300"/>
                          </a:solidFill>
                          <a:latin typeface="Verdana"/>
                          <a:cs typeface="Verdana"/>
                        </a:rPr>
                        <a:t>10</a:t>
                      </a:r>
                      <a:r>
                        <a:rPr sz="2000" spc="-15" dirty="0">
                          <a:solidFill>
                            <a:srgbClr val="003300"/>
                          </a:solidFill>
                          <a:latin typeface="Verdana"/>
                          <a:cs typeface="Verdana"/>
                        </a:rPr>
                        <a:t> </a:t>
                      </a:r>
                      <a:r>
                        <a:rPr sz="2000" spc="-5" dirty="0">
                          <a:solidFill>
                            <a:srgbClr val="003300"/>
                          </a:solidFill>
                          <a:latin typeface="Verdana"/>
                          <a:cs typeface="Verdana"/>
                        </a:rPr>
                        <a:t>Lacs</a:t>
                      </a:r>
                      <a:endParaRPr sz="2000">
                        <a:latin typeface="Verdana"/>
                        <a:cs typeface="Verdana"/>
                      </a:endParaRPr>
                    </a:p>
                  </a:txBody>
                  <a:tcPr marL="0" marR="0" marT="239807" marB="0"/>
                </a:tc>
                <a:tc>
                  <a:txBody>
                    <a:bodyPr/>
                    <a:lstStyle/>
                    <a:p>
                      <a:pPr marL="484505" marR="120650" indent="-394335">
                        <a:lnSpc>
                          <a:spcPct val="150000"/>
                        </a:lnSpc>
                        <a:spcBef>
                          <a:spcPts val="690"/>
                        </a:spcBef>
                        <a:buClr>
                          <a:srgbClr val="CC0000"/>
                        </a:buClr>
                        <a:buFont typeface="Wingdings"/>
                        <a:buChar char=""/>
                        <a:tabLst>
                          <a:tab pos="484505" algn="l"/>
                          <a:tab pos="485140" algn="l"/>
                          <a:tab pos="1695450" algn="l"/>
                          <a:tab pos="2654300" algn="l"/>
                          <a:tab pos="3460750" algn="l"/>
                        </a:tabLst>
                      </a:pPr>
                      <a:r>
                        <a:rPr sz="2000" spc="-5" dirty="0">
                          <a:solidFill>
                            <a:srgbClr val="003300"/>
                          </a:solidFill>
                          <a:latin typeface="Verdana"/>
                          <a:cs typeface="Verdana"/>
                        </a:rPr>
                        <a:t>Neithe</a:t>
                      </a:r>
                      <a:r>
                        <a:rPr sz="2000" dirty="0">
                          <a:solidFill>
                            <a:srgbClr val="003300"/>
                          </a:solidFill>
                          <a:latin typeface="Verdana"/>
                          <a:cs typeface="Verdana"/>
                        </a:rPr>
                        <a:t>r	State	</a:t>
                      </a:r>
                      <a:r>
                        <a:rPr sz="2000" spc="-5" dirty="0">
                          <a:solidFill>
                            <a:srgbClr val="003300"/>
                          </a:solidFill>
                          <a:latin typeface="Verdana"/>
                          <a:cs typeface="Verdana"/>
                        </a:rPr>
                        <a:t>GS</a:t>
                      </a:r>
                      <a:r>
                        <a:rPr sz="2000" dirty="0">
                          <a:solidFill>
                            <a:srgbClr val="003300"/>
                          </a:solidFill>
                          <a:latin typeface="Verdana"/>
                          <a:cs typeface="Verdana"/>
                        </a:rPr>
                        <a:t>T	nor  </a:t>
                      </a:r>
                      <a:r>
                        <a:rPr sz="2000" spc="-10" dirty="0">
                          <a:solidFill>
                            <a:srgbClr val="003300"/>
                          </a:solidFill>
                          <a:latin typeface="Verdana"/>
                          <a:cs typeface="Verdana"/>
                        </a:rPr>
                        <a:t>Central GST</a:t>
                      </a:r>
                      <a:endParaRPr sz="2000">
                        <a:latin typeface="Verdana"/>
                        <a:cs typeface="Verdana"/>
                      </a:endParaRPr>
                    </a:p>
                  </a:txBody>
                  <a:tcPr marL="0" marR="0" marT="87549" marB="0"/>
                </a:tc>
                <a:extLst>
                  <a:ext uri="{0D108BD9-81ED-4DB2-BD59-A6C34878D82A}">
                    <a16:rowId xmlns:a16="http://schemas.microsoft.com/office/drawing/2014/main" val="10001"/>
                  </a:ext>
                </a:extLst>
              </a:tr>
              <a:tr h="1003778">
                <a:tc>
                  <a:txBody>
                    <a:bodyPr/>
                    <a:lstStyle/>
                    <a:p>
                      <a:pPr marL="472440" marR="82550" indent="-346075">
                        <a:lnSpc>
                          <a:spcPts val="3600"/>
                        </a:lnSpc>
                        <a:spcBef>
                          <a:spcPts val="65"/>
                        </a:spcBef>
                        <a:buClr>
                          <a:srgbClr val="CC0000"/>
                        </a:buClr>
                        <a:buFont typeface="Wingdings"/>
                        <a:buChar char=""/>
                        <a:tabLst>
                          <a:tab pos="472440" algn="l"/>
                          <a:tab pos="473075" algn="l"/>
                          <a:tab pos="3451860" algn="l"/>
                        </a:tabLst>
                      </a:pPr>
                      <a:r>
                        <a:rPr sz="2000" spc="-5" dirty="0">
                          <a:solidFill>
                            <a:srgbClr val="003300"/>
                          </a:solidFill>
                          <a:latin typeface="Verdana"/>
                          <a:cs typeface="Verdana"/>
                        </a:rPr>
                        <a:t>Bet</a:t>
                      </a:r>
                      <a:r>
                        <a:rPr sz="2000" spc="5" dirty="0">
                          <a:solidFill>
                            <a:srgbClr val="003300"/>
                          </a:solidFill>
                          <a:latin typeface="Verdana"/>
                          <a:cs typeface="Verdana"/>
                        </a:rPr>
                        <a:t>w</a:t>
                      </a:r>
                      <a:r>
                        <a:rPr sz="2000" spc="-5" dirty="0">
                          <a:solidFill>
                            <a:srgbClr val="003300"/>
                          </a:solidFill>
                          <a:latin typeface="Verdana"/>
                          <a:cs typeface="Verdana"/>
                        </a:rPr>
                        <a:t>ee</a:t>
                      </a:r>
                      <a:r>
                        <a:rPr sz="2000" dirty="0">
                          <a:solidFill>
                            <a:srgbClr val="003300"/>
                          </a:solidFill>
                          <a:latin typeface="Verdana"/>
                          <a:cs typeface="Verdana"/>
                        </a:rPr>
                        <a:t>n</a:t>
                      </a:r>
                      <a:r>
                        <a:rPr sz="2000" spc="229" dirty="0">
                          <a:solidFill>
                            <a:srgbClr val="003300"/>
                          </a:solidFill>
                          <a:latin typeface="Verdana"/>
                          <a:cs typeface="Verdana"/>
                        </a:rPr>
                        <a:t> </a:t>
                      </a:r>
                      <a:r>
                        <a:rPr sz="2000" spc="-5" dirty="0">
                          <a:solidFill>
                            <a:srgbClr val="003300"/>
                          </a:solidFill>
                          <a:latin typeface="Verdana"/>
                          <a:cs typeface="Verdana"/>
                        </a:rPr>
                        <a:t>Rs</a:t>
                      </a:r>
                      <a:r>
                        <a:rPr sz="2000" dirty="0">
                          <a:solidFill>
                            <a:srgbClr val="003300"/>
                          </a:solidFill>
                          <a:latin typeface="Verdana"/>
                          <a:cs typeface="Verdana"/>
                        </a:rPr>
                        <a:t>.</a:t>
                      </a:r>
                      <a:r>
                        <a:rPr sz="2000" spc="235" dirty="0">
                          <a:solidFill>
                            <a:srgbClr val="003300"/>
                          </a:solidFill>
                          <a:latin typeface="Verdana"/>
                          <a:cs typeface="Verdana"/>
                        </a:rPr>
                        <a:t> </a:t>
                      </a:r>
                      <a:r>
                        <a:rPr sz="2000" spc="-5" dirty="0">
                          <a:solidFill>
                            <a:srgbClr val="003300"/>
                          </a:solidFill>
                          <a:latin typeface="Verdana"/>
                          <a:cs typeface="Verdana"/>
                        </a:rPr>
                        <a:t>1</a:t>
                      </a:r>
                      <a:r>
                        <a:rPr sz="2000" dirty="0">
                          <a:solidFill>
                            <a:srgbClr val="003300"/>
                          </a:solidFill>
                          <a:latin typeface="Verdana"/>
                          <a:cs typeface="Verdana"/>
                        </a:rPr>
                        <a:t>0</a:t>
                      </a:r>
                      <a:r>
                        <a:rPr sz="2000" spc="250" dirty="0">
                          <a:solidFill>
                            <a:srgbClr val="003300"/>
                          </a:solidFill>
                          <a:latin typeface="Verdana"/>
                          <a:cs typeface="Verdana"/>
                        </a:rPr>
                        <a:t> </a:t>
                      </a:r>
                      <a:r>
                        <a:rPr sz="2000" dirty="0">
                          <a:solidFill>
                            <a:srgbClr val="003300"/>
                          </a:solidFill>
                          <a:latin typeface="Verdana"/>
                          <a:cs typeface="Verdana"/>
                        </a:rPr>
                        <a:t>Lacs	and  </a:t>
                      </a:r>
                      <a:r>
                        <a:rPr sz="2000" spc="-5" dirty="0">
                          <a:solidFill>
                            <a:srgbClr val="003300"/>
                          </a:solidFill>
                          <a:latin typeface="Verdana"/>
                          <a:cs typeface="Verdana"/>
                        </a:rPr>
                        <a:t>(β</a:t>
                      </a:r>
                      <a:r>
                        <a:rPr sz="2000" spc="-10" dirty="0">
                          <a:solidFill>
                            <a:srgbClr val="003300"/>
                          </a:solidFill>
                          <a:latin typeface="Verdana"/>
                          <a:cs typeface="Verdana"/>
                        </a:rPr>
                        <a:t> </a:t>
                      </a:r>
                      <a:r>
                        <a:rPr sz="2000" spc="-5" dirty="0">
                          <a:solidFill>
                            <a:srgbClr val="003300"/>
                          </a:solidFill>
                          <a:latin typeface="Verdana"/>
                          <a:cs typeface="Verdana"/>
                        </a:rPr>
                        <a:t>figure)</a:t>
                      </a:r>
                      <a:endParaRPr sz="2000">
                        <a:latin typeface="Verdana"/>
                        <a:cs typeface="Verdana"/>
                      </a:endParaRPr>
                    </a:p>
                  </a:txBody>
                  <a:tcPr marL="0" marR="0" marT="8247" marB="0"/>
                </a:tc>
                <a:tc>
                  <a:txBody>
                    <a:bodyPr/>
                    <a:lstStyle/>
                    <a:p>
                      <a:pPr marL="384810" indent="-294640">
                        <a:lnSpc>
                          <a:spcPct val="100000"/>
                        </a:lnSpc>
                        <a:spcBef>
                          <a:spcPts val="944"/>
                        </a:spcBef>
                        <a:buClr>
                          <a:srgbClr val="CC0000"/>
                        </a:buClr>
                        <a:buFont typeface="Wingdings"/>
                        <a:buChar char=""/>
                        <a:tabLst>
                          <a:tab pos="384810" algn="l"/>
                          <a:tab pos="385445" algn="l"/>
                        </a:tabLst>
                      </a:pPr>
                      <a:r>
                        <a:rPr sz="2000" spc="-5" dirty="0">
                          <a:solidFill>
                            <a:srgbClr val="003300"/>
                          </a:solidFill>
                          <a:latin typeface="Verdana"/>
                          <a:cs typeface="Verdana"/>
                        </a:rPr>
                        <a:t>Only</a:t>
                      </a:r>
                      <a:r>
                        <a:rPr sz="2000" spc="-30" dirty="0">
                          <a:solidFill>
                            <a:srgbClr val="003300"/>
                          </a:solidFill>
                          <a:latin typeface="Verdana"/>
                          <a:cs typeface="Verdana"/>
                        </a:rPr>
                        <a:t> </a:t>
                      </a:r>
                      <a:r>
                        <a:rPr sz="2000" spc="-5" dirty="0">
                          <a:solidFill>
                            <a:srgbClr val="003300"/>
                          </a:solidFill>
                          <a:latin typeface="Verdana"/>
                          <a:cs typeface="Verdana"/>
                        </a:rPr>
                        <a:t>State</a:t>
                      </a:r>
                      <a:r>
                        <a:rPr sz="2000" spc="-25" dirty="0">
                          <a:solidFill>
                            <a:srgbClr val="003300"/>
                          </a:solidFill>
                          <a:latin typeface="Verdana"/>
                          <a:cs typeface="Verdana"/>
                        </a:rPr>
                        <a:t> </a:t>
                      </a:r>
                      <a:r>
                        <a:rPr sz="2000" spc="-10" dirty="0">
                          <a:solidFill>
                            <a:srgbClr val="003300"/>
                          </a:solidFill>
                          <a:latin typeface="Verdana"/>
                          <a:cs typeface="Verdana"/>
                        </a:rPr>
                        <a:t>GST</a:t>
                      </a:r>
                      <a:endParaRPr sz="2000">
                        <a:latin typeface="Verdana"/>
                        <a:cs typeface="Verdana"/>
                      </a:endParaRPr>
                    </a:p>
                  </a:txBody>
                  <a:tcPr marL="0" marR="0" marT="119903" marB="0"/>
                </a:tc>
                <a:extLst>
                  <a:ext uri="{0D108BD9-81ED-4DB2-BD59-A6C34878D82A}">
                    <a16:rowId xmlns:a16="http://schemas.microsoft.com/office/drawing/2014/main" val="10002"/>
                  </a:ext>
                </a:extLst>
              </a:tr>
              <a:tr h="913554">
                <a:tc>
                  <a:txBody>
                    <a:bodyPr/>
                    <a:lstStyle/>
                    <a:p>
                      <a:pPr marL="419734" indent="-293370">
                        <a:lnSpc>
                          <a:spcPct val="100000"/>
                        </a:lnSpc>
                        <a:spcBef>
                          <a:spcPts val="950"/>
                        </a:spcBef>
                        <a:buClr>
                          <a:srgbClr val="CC0000"/>
                        </a:buClr>
                        <a:buFont typeface="Wingdings"/>
                        <a:buChar char=""/>
                        <a:tabLst>
                          <a:tab pos="419734" algn="l"/>
                          <a:tab pos="420370" algn="l"/>
                        </a:tabLst>
                      </a:pPr>
                      <a:r>
                        <a:rPr sz="2000" spc="-5" dirty="0">
                          <a:solidFill>
                            <a:srgbClr val="003300"/>
                          </a:solidFill>
                          <a:latin typeface="Verdana"/>
                          <a:cs typeface="Verdana"/>
                        </a:rPr>
                        <a:t>Above</a:t>
                      </a:r>
                      <a:r>
                        <a:rPr sz="2000" spc="-25" dirty="0">
                          <a:solidFill>
                            <a:srgbClr val="003300"/>
                          </a:solidFill>
                          <a:latin typeface="Verdana"/>
                          <a:cs typeface="Verdana"/>
                        </a:rPr>
                        <a:t> </a:t>
                      </a:r>
                      <a:r>
                        <a:rPr sz="2000" spc="-5" dirty="0">
                          <a:solidFill>
                            <a:srgbClr val="003300"/>
                          </a:solidFill>
                          <a:latin typeface="Verdana"/>
                          <a:cs typeface="Verdana"/>
                        </a:rPr>
                        <a:t>β</a:t>
                      </a:r>
                      <a:r>
                        <a:rPr sz="2000" spc="-25" dirty="0">
                          <a:solidFill>
                            <a:srgbClr val="003300"/>
                          </a:solidFill>
                          <a:latin typeface="Verdana"/>
                          <a:cs typeface="Verdana"/>
                        </a:rPr>
                        <a:t> </a:t>
                      </a:r>
                      <a:r>
                        <a:rPr sz="2000" spc="-5" dirty="0">
                          <a:solidFill>
                            <a:srgbClr val="003300"/>
                          </a:solidFill>
                          <a:latin typeface="Verdana"/>
                          <a:cs typeface="Verdana"/>
                        </a:rPr>
                        <a:t>figure</a:t>
                      </a:r>
                      <a:endParaRPr sz="2000">
                        <a:latin typeface="Verdana"/>
                        <a:cs typeface="Verdana"/>
                      </a:endParaRPr>
                    </a:p>
                  </a:txBody>
                  <a:tcPr marL="0" marR="0" marT="120538" marB="0"/>
                </a:tc>
                <a:tc>
                  <a:txBody>
                    <a:bodyPr/>
                    <a:lstStyle/>
                    <a:p>
                      <a:pPr marL="436880" marR="119380" indent="-346075">
                        <a:lnSpc>
                          <a:spcPts val="3600"/>
                        </a:lnSpc>
                        <a:buClr>
                          <a:srgbClr val="CC0000"/>
                        </a:buClr>
                        <a:buFont typeface="Wingdings"/>
                        <a:buChar char=""/>
                        <a:tabLst>
                          <a:tab pos="436245" algn="l"/>
                          <a:tab pos="437515" algn="l"/>
                          <a:tab pos="1421765" algn="l"/>
                          <a:tab pos="2493645" algn="l"/>
                          <a:tab pos="3413760" algn="l"/>
                        </a:tabLst>
                      </a:pPr>
                      <a:r>
                        <a:rPr sz="2000" dirty="0">
                          <a:solidFill>
                            <a:srgbClr val="003300"/>
                          </a:solidFill>
                          <a:latin typeface="Verdana"/>
                          <a:cs typeface="Verdana"/>
                        </a:rPr>
                        <a:t>Both	State	</a:t>
                      </a:r>
                      <a:r>
                        <a:rPr sz="2000" spc="-5" dirty="0">
                          <a:solidFill>
                            <a:srgbClr val="003300"/>
                          </a:solidFill>
                          <a:latin typeface="Verdana"/>
                          <a:cs typeface="Verdana"/>
                        </a:rPr>
                        <a:t>GS</a:t>
                      </a:r>
                      <a:r>
                        <a:rPr sz="2000" dirty="0">
                          <a:solidFill>
                            <a:srgbClr val="003300"/>
                          </a:solidFill>
                          <a:latin typeface="Verdana"/>
                          <a:cs typeface="Verdana"/>
                        </a:rPr>
                        <a:t>T	and  </a:t>
                      </a:r>
                      <a:r>
                        <a:rPr sz="2000" spc="-10" dirty="0">
                          <a:solidFill>
                            <a:srgbClr val="003300"/>
                          </a:solidFill>
                          <a:latin typeface="Verdana"/>
                          <a:cs typeface="Verdana"/>
                        </a:rPr>
                        <a:t>Central GST</a:t>
                      </a:r>
                      <a:endParaRPr sz="2000">
                        <a:latin typeface="Verdana"/>
                        <a:cs typeface="Verdana"/>
                      </a:endParaRPr>
                    </a:p>
                  </a:txBody>
                  <a:tcPr marL="0" marR="0" marT="0" marB="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79202299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530133" y="1903"/>
            <a:ext cx="9135541" cy="6851656"/>
            <a:chOff x="1905" y="1905"/>
            <a:chExt cx="9144000" cy="6858000"/>
          </a:xfrm>
        </p:grpSpPr>
        <p:pic>
          <p:nvPicPr>
            <p:cNvPr id="3" name="object 3"/>
            <p:cNvPicPr/>
            <p:nvPr/>
          </p:nvPicPr>
          <p:blipFill>
            <a:blip r:embed="rId2" cstate="print"/>
            <a:stretch>
              <a:fillRect/>
            </a:stretch>
          </p:blipFill>
          <p:spPr>
            <a:xfrm>
              <a:off x="1905" y="1905"/>
              <a:ext cx="9144000" cy="6858000"/>
            </a:xfrm>
            <a:prstGeom prst="rect">
              <a:avLst/>
            </a:prstGeom>
          </p:spPr>
        </p:pic>
        <p:sp>
          <p:nvSpPr>
            <p:cNvPr id="4" name="object 4"/>
            <p:cNvSpPr/>
            <p:nvPr/>
          </p:nvSpPr>
          <p:spPr>
            <a:xfrm>
              <a:off x="611505" y="1568577"/>
              <a:ext cx="4655820" cy="109855"/>
            </a:xfrm>
            <a:custGeom>
              <a:avLst/>
              <a:gdLst/>
              <a:ahLst/>
              <a:cxnLst/>
              <a:rect l="l" t="t" r="r" b="b"/>
              <a:pathLst>
                <a:path w="4655820" h="109855">
                  <a:moveTo>
                    <a:pt x="4655820" y="109727"/>
                  </a:moveTo>
                  <a:lnTo>
                    <a:pt x="4655820" y="0"/>
                  </a:lnTo>
                  <a:lnTo>
                    <a:pt x="0" y="0"/>
                  </a:lnTo>
                  <a:lnTo>
                    <a:pt x="0" y="109727"/>
                  </a:lnTo>
                  <a:lnTo>
                    <a:pt x="4655820" y="109727"/>
                  </a:lnTo>
                  <a:close/>
                </a:path>
              </a:pathLst>
            </a:custGeom>
            <a:solidFill>
              <a:srgbClr val="CC0000"/>
            </a:solidFill>
          </p:spPr>
          <p:txBody>
            <a:bodyPr wrap="square" lIns="0" tIns="0" rIns="0" bIns="0" rtlCol="0"/>
            <a:lstStyle/>
            <a:p>
              <a:endParaRPr sz="1798"/>
            </a:p>
          </p:txBody>
        </p:sp>
        <p:sp>
          <p:nvSpPr>
            <p:cNvPr id="5" name="object 5"/>
            <p:cNvSpPr/>
            <p:nvPr/>
          </p:nvSpPr>
          <p:spPr>
            <a:xfrm>
              <a:off x="611505" y="1568577"/>
              <a:ext cx="7958455" cy="0"/>
            </a:xfrm>
            <a:custGeom>
              <a:avLst/>
              <a:gdLst/>
              <a:ahLst/>
              <a:cxnLst/>
              <a:rect l="l" t="t" r="r" b="b"/>
              <a:pathLst>
                <a:path w="7958455">
                  <a:moveTo>
                    <a:pt x="0" y="0"/>
                  </a:moveTo>
                  <a:lnTo>
                    <a:pt x="7958328" y="0"/>
                  </a:lnTo>
                </a:path>
              </a:pathLst>
            </a:custGeom>
            <a:ln w="9525">
              <a:solidFill>
                <a:srgbClr val="CC0000"/>
              </a:solidFill>
            </a:ln>
          </p:spPr>
          <p:txBody>
            <a:bodyPr wrap="square" lIns="0" tIns="0" rIns="0" bIns="0" rtlCol="0"/>
            <a:lstStyle/>
            <a:p>
              <a:endParaRPr sz="1798"/>
            </a:p>
          </p:txBody>
        </p:sp>
        <p:sp>
          <p:nvSpPr>
            <p:cNvPr id="6" name="object 6"/>
            <p:cNvSpPr/>
            <p:nvPr/>
          </p:nvSpPr>
          <p:spPr>
            <a:xfrm>
              <a:off x="611505" y="6174105"/>
              <a:ext cx="7924800" cy="0"/>
            </a:xfrm>
            <a:custGeom>
              <a:avLst/>
              <a:gdLst/>
              <a:ahLst/>
              <a:cxnLst/>
              <a:rect l="l" t="t" r="r" b="b"/>
              <a:pathLst>
                <a:path w="7924800">
                  <a:moveTo>
                    <a:pt x="0" y="0"/>
                  </a:moveTo>
                  <a:lnTo>
                    <a:pt x="7924800" y="0"/>
                  </a:lnTo>
                </a:path>
              </a:pathLst>
            </a:custGeom>
            <a:ln w="3175">
              <a:solidFill>
                <a:srgbClr val="CC0000"/>
              </a:solidFill>
            </a:ln>
          </p:spPr>
          <p:txBody>
            <a:bodyPr wrap="square" lIns="0" tIns="0" rIns="0" bIns="0" rtlCol="0"/>
            <a:lstStyle/>
            <a:p>
              <a:endParaRPr sz="1798"/>
            </a:p>
          </p:txBody>
        </p:sp>
      </p:grpSp>
      <p:sp>
        <p:nvSpPr>
          <p:cNvPr id="7" name="object 7"/>
          <p:cNvSpPr txBox="1">
            <a:spLocks noGrp="1"/>
          </p:cNvSpPr>
          <p:nvPr>
            <p:ph type="title"/>
          </p:nvPr>
        </p:nvSpPr>
        <p:spPr>
          <a:xfrm>
            <a:off x="2183578" y="810652"/>
            <a:ext cx="5367130" cy="603961"/>
          </a:xfrm>
          <a:prstGeom prst="rect">
            <a:avLst/>
          </a:prstGeom>
        </p:spPr>
        <p:txBody>
          <a:bodyPr vert="horz" wrap="square" lIns="0" tIns="12054" rIns="0" bIns="0" rtlCol="0" anchor="ctr">
            <a:spAutoFit/>
          </a:bodyPr>
          <a:lstStyle/>
          <a:p>
            <a:pPr marL="12689">
              <a:lnSpc>
                <a:spcPct val="100000"/>
              </a:lnSpc>
              <a:spcBef>
                <a:spcPts val="95"/>
              </a:spcBef>
            </a:pPr>
            <a:r>
              <a:rPr sz="3797" spc="-5" dirty="0"/>
              <a:t>Illustration</a:t>
            </a:r>
            <a:r>
              <a:rPr sz="3797" spc="-10" dirty="0"/>
              <a:t> </a:t>
            </a:r>
            <a:r>
              <a:rPr sz="3797" spc="-5" dirty="0"/>
              <a:t>on</a:t>
            </a:r>
            <a:r>
              <a:rPr sz="3797" spc="-10" dirty="0"/>
              <a:t> </a:t>
            </a:r>
            <a:r>
              <a:rPr sz="3797" spc="-5" dirty="0"/>
              <a:t>Tax Credit</a:t>
            </a:r>
            <a:endParaRPr sz="3797"/>
          </a:p>
        </p:txBody>
      </p:sp>
      <p:sp>
        <p:nvSpPr>
          <p:cNvPr id="9" name="object 9"/>
          <p:cNvSpPr txBox="1">
            <a:spLocks noGrp="1"/>
          </p:cNvSpPr>
          <p:nvPr>
            <p:ph type="sldNum" sz="quarter" idx="4294967295"/>
          </p:nvPr>
        </p:nvSpPr>
        <p:spPr>
          <a:xfrm>
            <a:off x="1528229" y="0"/>
            <a:ext cx="0" cy="290452"/>
          </a:xfrm>
          <a:prstGeom prst="rect">
            <a:avLst/>
          </a:prstGeom>
        </p:spPr>
        <p:txBody>
          <a:bodyPr vert="horz" wrap="square" lIns="0" tIns="13323" rIns="0" bIns="0" rtlCol="0">
            <a:spAutoFit/>
          </a:bodyPr>
          <a:lstStyle/>
          <a:p>
            <a:pPr marL="38066">
              <a:spcBef>
                <a:spcPts val="105"/>
              </a:spcBef>
            </a:pPr>
            <a:endParaRPr dirty="0"/>
          </a:p>
        </p:txBody>
      </p:sp>
      <p:graphicFrame>
        <p:nvGraphicFramePr>
          <p:cNvPr id="8" name="object 8"/>
          <p:cNvGraphicFramePr>
            <a:graphicFrameLocks noGrp="1"/>
          </p:cNvGraphicFramePr>
          <p:nvPr/>
        </p:nvGraphicFramePr>
        <p:xfrm>
          <a:off x="2072681" y="1776990"/>
          <a:ext cx="8221985" cy="3779068"/>
        </p:xfrm>
        <a:graphic>
          <a:graphicData uri="http://schemas.openxmlformats.org/drawingml/2006/table">
            <a:tbl>
              <a:tblPr firstRow="1" bandRow="1">
                <a:tableStyleId>{2D5ABB26-0587-4C30-8999-92F81FD0307C}</a:tableStyleId>
              </a:tblPr>
              <a:tblGrid>
                <a:gridCol w="1278341">
                  <a:extLst>
                    <a:ext uri="{9D8B030D-6E8A-4147-A177-3AD203B41FA5}">
                      <a16:colId xmlns:a16="http://schemas.microsoft.com/office/drawing/2014/main" val="20000"/>
                    </a:ext>
                  </a:extLst>
                </a:gridCol>
                <a:gridCol w="1005544">
                  <a:extLst>
                    <a:ext uri="{9D8B030D-6E8A-4147-A177-3AD203B41FA5}">
                      <a16:colId xmlns:a16="http://schemas.microsoft.com/office/drawing/2014/main" val="20001"/>
                    </a:ext>
                  </a:extLst>
                </a:gridCol>
                <a:gridCol w="1004274">
                  <a:extLst>
                    <a:ext uri="{9D8B030D-6E8A-4147-A177-3AD203B41FA5}">
                      <a16:colId xmlns:a16="http://schemas.microsoft.com/office/drawing/2014/main" val="20002"/>
                    </a:ext>
                  </a:extLst>
                </a:gridCol>
                <a:gridCol w="822833">
                  <a:extLst>
                    <a:ext uri="{9D8B030D-6E8A-4147-A177-3AD203B41FA5}">
                      <a16:colId xmlns:a16="http://schemas.microsoft.com/office/drawing/2014/main" val="20003"/>
                    </a:ext>
                  </a:extLst>
                </a:gridCol>
                <a:gridCol w="1004274">
                  <a:extLst>
                    <a:ext uri="{9D8B030D-6E8A-4147-A177-3AD203B41FA5}">
                      <a16:colId xmlns:a16="http://schemas.microsoft.com/office/drawing/2014/main" val="20004"/>
                    </a:ext>
                  </a:extLst>
                </a:gridCol>
                <a:gridCol w="1095631">
                  <a:extLst>
                    <a:ext uri="{9D8B030D-6E8A-4147-A177-3AD203B41FA5}">
                      <a16:colId xmlns:a16="http://schemas.microsoft.com/office/drawing/2014/main" val="20005"/>
                    </a:ext>
                  </a:extLst>
                </a:gridCol>
                <a:gridCol w="913554">
                  <a:extLst>
                    <a:ext uri="{9D8B030D-6E8A-4147-A177-3AD203B41FA5}">
                      <a16:colId xmlns:a16="http://schemas.microsoft.com/office/drawing/2014/main" val="20006"/>
                    </a:ext>
                  </a:extLst>
                </a:gridCol>
                <a:gridCol w="1097534">
                  <a:extLst>
                    <a:ext uri="{9D8B030D-6E8A-4147-A177-3AD203B41FA5}">
                      <a16:colId xmlns:a16="http://schemas.microsoft.com/office/drawing/2014/main" val="20007"/>
                    </a:ext>
                  </a:extLst>
                </a:gridCol>
              </a:tblGrid>
              <a:tr h="1065813">
                <a:tc>
                  <a:txBody>
                    <a:bodyPr/>
                    <a:lstStyle/>
                    <a:p>
                      <a:pPr marL="92075">
                        <a:lnSpc>
                          <a:spcPct val="100000"/>
                        </a:lnSpc>
                        <a:spcBef>
                          <a:spcPts val="340"/>
                        </a:spcBef>
                      </a:pPr>
                      <a:r>
                        <a:rPr sz="1800" u="heavy" dirty="0">
                          <a:solidFill>
                            <a:srgbClr val="003300"/>
                          </a:solidFill>
                          <a:uFill>
                            <a:solidFill>
                              <a:srgbClr val="003300"/>
                            </a:solidFill>
                          </a:uFill>
                          <a:latin typeface="Verdana"/>
                          <a:cs typeface="Verdana"/>
                        </a:rPr>
                        <a:t>Supplier</a:t>
                      </a:r>
                      <a:endParaRPr sz="1800">
                        <a:latin typeface="Verdana"/>
                        <a:cs typeface="Verdana"/>
                      </a:endParaRPr>
                    </a:p>
                  </a:txBody>
                  <a:tcPr marL="0" marR="0" marT="43140" marB="0">
                    <a:lnL w="1905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marR="286385">
                        <a:lnSpc>
                          <a:spcPct val="100000"/>
                        </a:lnSpc>
                        <a:spcBef>
                          <a:spcPts val="340"/>
                        </a:spcBef>
                      </a:pPr>
                      <a:r>
                        <a:rPr sz="1800" u="heavy" dirty="0">
                          <a:solidFill>
                            <a:srgbClr val="003300"/>
                          </a:solidFill>
                          <a:uFill>
                            <a:solidFill>
                              <a:srgbClr val="003300"/>
                            </a:solidFill>
                          </a:uFill>
                          <a:latin typeface="Verdana"/>
                          <a:cs typeface="Verdana"/>
                        </a:rPr>
                        <a:t>Input </a:t>
                      </a:r>
                      <a:r>
                        <a:rPr sz="1800" dirty="0">
                          <a:solidFill>
                            <a:srgbClr val="003300"/>
                          </a:solidFill>
                          <a:latin typeface="Verdana"/>
                          <a:cs typeface="Verdana"/>
                        </a:rPr>
                        <a:t> </a:t>
                      </a:r>
                      <a:r>
                        <a:rPr sz="1800" u="heavy" dirty="0">
                          <a:solidFill>
                            <a:srgbClr val="003300"/>
                          </a:solidFill>
                          <a:uFill>
                            <a:solidFill>
                              <a:srgbClr val="003300"/>
                            </a:solidFill>
                          </a:uFill>
                          <a:latin typeface="Verdana"/>
                          <a:cs typeface="Verdana"/>
                        </a:rPr>
                        <a:t>Cost</a:t>
                      </a:r>
                      <a:endParaRPr sz="1800">
                        <a:latin typeface="Verdana"/>
                        <a:cs typeface="Verdana"/>
                      </a:endParaRPr>
                    </a:p>
                  </a:txBody>
                  <a:tcPr marL="0" marR="0" marT="4314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tcPr>
                </a:tc>
                <a:tc>
                  <a:txBody>
                    <a:bodyPr/>
                    <a:lstStyle/>
                    <a:p>
                      <a:pPr marL="92075" marR="203200">
                        <a:lnSpc>
                          <a:spcPct val="100000"/>
                        </a:lnSpc>
                        <a:spcBef>
                          <a:spcPts val="340"/>
                        </a:spcBef>
                      </a:pPr>
                      <a:r>
                        <a:rPr sz="1800" u="heavy" spc="-5" dirty="0">
                          <a:solidFill>
                            <a:srgbClr val="003300"/>
                          </a:solidFill>
                          <a:uFill>
                            <a:solidFill>
                              <a:srgbClr val="003300"/>
                            </a:solidFill>
                          </a:uFill>
                          <a:latin typeface="Verdana"/>
                          <a:cs typeface="Verdana"/>
                        </a:rPr>
                        <a:t>Value </a:t>
                      </a:r>
                      <a:r>
                        <a:rPr sz="1800" spc="-620" dirty="0">
                          <a:solidFill>
                            <a:srgbClr val="003300"/>
                          </a:solidFill>
                          <a:latin typeface="Verdana"/>
                          <a:cs typeface="Verdana"/>
                        </a:rPr>
                        <a:t> </a:t>
                      </a:r>
                      <a:r>
                        <a:rPr sz="1800" u="heavy" dirty="0">
                          <a:solidFill>
                            <a:srgbClr val="003300"/>
                          </a:solidFill>
                          <a:uFill>
                            <a:solidFill>
                              <a:srgbClr val="003300"/>
                            </a:solidFill>
                          </a:uFill>
                          <a:latin typeface="Verdana"/>
                          <a:cs typeface="Verdana"/>
                        </a:rPr>
                        <a:t>added</a:t>
                      </a:r>
                      <a:endParaRPr sz="1800">
                        <a:latin typeface="Verdana"/>
                        <a:cs typeface="Verdana"/>
                      </a:endParaRPr>
                    </a:p>
                  </a:txBody>
                  <a:tcPr marL="0" marR="0" marT="4314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tcPr>
                </a:tc>
                <a:tc>
                  <a:txBody>
                    <a:bodyPr/>
                    <a:lstStyle/>
                    <a:p>
                      <a:pPr marL="91440" marR="167005">
                        <a:lnSpc>
                          <a:spcPct val="100000"/>
                        </a:lnSpc>
                        <a:spcBef>
                          <a:spcPts val="340"/>
                        </a:spcBef>
                      </a:pPr>
                      <a:r>
                        <a:rPr sz="1800" u="heavy" spc="-5" dirty="0">
                          <a:solidFill>
                            <a:srgbClr val="003300"/>
                          </a:solidFill>
                          <a:uFill>
                            <a:solidFill>
                              <a:srgbClr val="003300"/>
                            </a:solidFill>
                          </a:uFill>
                          <a:latin typeface="Verdana"/>
                          <a:cs typeface="Verdana"/>
                        </a:rPr>
                        <a:t>Sale </a:t>
                      </a:r>
                      <a:r>
                        <a:rPr sz="1800" spc="-620" dirty="0">
                          <a:solidFill>
                            <a:srgbClr val="003300"/>
                          </a:solidFill>
                          <a:latin typeface="Verdana"/>
                          <a:cs typeface="Verdana"/>
                        </a:rPr>
                        <a:t> </a:t>
                      </a:r>
                      <a:r>
                        <a:rPr sz="1800" u="heavy" spc="-5" dirty="0">
                          <a:solidFill>
                            <a:srgbClr val="003300"/>
                          </a:solidFill>
                          <a:uFill>
                            <a:solidFill>
                              <a:srgbClr val="003300"/>
                            </a:solidFill>
                          </a:uFill>
                          <a:latin typeface="Verdana"/>
                          <a:cs typeface="Verdana"/>
                        </a:rPr>
                        <a:t>price</a:t>
                      </a:r>
                      <a:endParaRPr sz="1800">
                        <a:latin typeface="Verdana"/>
                        <a:cs typeface="Verdana"/>
                      </a:endParaRPr>
                    </a:p>
                  </a:txBody>
                  <a:tcPr marL="0" marR="0" marT="4314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tcPr>
                </a:tc>
                <a:tc>
                  <a:txBody>
                    <a:bodyPr/>
                    <a:lstStyle/>
                    <a:p>
                      <a:pPr marL="92075" marR="130175">
                        <a:lnSpc>
                          <a:spcPct val="100000"/>
                        </a:lnSpc>
                        <a:spcBef>
                          <a:spcPts val="340"/>
                        </a:spcBef>
                      </a:pPr>
                      <a:r>
                        <a:rPr sz="1800" u="heavy" spc="-5" dirty="0">
                          <a:solidFill>
                            <a:srgbClr val="003300"/>
                          </a:solidFill>
                          <a:uFill>
                            <a:solidFill>
                              <a:srgbClr val="003300"/>
                            </a:solidFill>
                          </a:uFill>
                          <a:latin typeface="Verdana"/>
                          <a:cs typeface="Verdana"/>
                        </a:rPr>
                        <a:t>Rate </a:t>
                      </a:r>
                      <a:r>
                        <a:rPr sz="1800" dirty="0">
                          <a:solidFill>
                            <a:srgbClr val="003300"/>
                          </a:solidFill>
                          <a:latin typeface="Verdana"/>
                          <a:cs typeface="Verdana"/>
                        </a:rPr>
                        <a:t> </a:t>
                      </a:r>
                      <a:r>
                        <a:rPr sz="1800" u="heavy" dirty="0">
                          <a:solidFill>
                            <a:srgbClr val="003300"/>
                          </a:solidFill>
                          <a:uFill>
                            <a:solidFill>
                              <a:srgbClr val="003300"/>
                            </a:solidFill>
                          </a:uFill>
                          <a:latin typeface="Verdana"/>
                          <a:cs typeface="Verdana"/>
                        </a:rPr>
                        <a:t>of</a:t>
                      </a:r>
                      <a:r>
                        <a:rPr sz="1800" u="heavy" spc="-100" dirty="0">
                          <a:solidFill>
                            <a:srgbClr val="003300"/>
                          </a:solidFill>
                          <a:uFill>
                            <a:solidFill>
                              <a:srgbClr val="003300"/>
                            </a:solidFill>
                          </a:uFill>
                          <a:latin typeface="Verdana"/>
                          <a:cs typeface="Verdana"/>
                        </a:rPr>
                        <a:t> </a:t>
                      </a:r>
                      <a:r>
                        <a:rPr sz="1800" u="heavy" dirty="0">
                          <a:solidFill>
                            <a:srgbClr val="003300"/>
                          </a:solidFill>
                          <a:uFill>
                            <a:solidFill>
                              <a:srgbClr val="003300"/>
                            </a:solidFill>
                          </a:uFill>
                          <a:latin typeface="Verdana"/>
                          <a:cs typeface="Verdana"/>
                        </a:rPr>
                        <a:t>GST</a:t>
                      </a:r>
                      <a:endParaRPr sz="1800">
                        <a:latin typeface="Verdana"/>
                        <a:cs typeface="Verdana"/>
                      </a:endParaRPr>
                    </a:p>
                  </a:txBody>
                  <a:tcPr marL="0" marR="0" marT="4314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tcPr>
                </a:tc>
                <a:tc>
                  <a:txBody>
                    <a:bodyPr/>
                    <a:lstStyle/>
                    <a:p>
                      <a:pPr marL="91440">
                        <a:lnSpc>
                          <a:spcPct val="100000"/>
                        </a:lnSpc>
                        <a:spcBef>
                          <a:spcPts val="340"/>
                        </a:spcBef>
                      </a:pPr>
                      <a:r>
                        <a:rPr sz="1800" u="heavy" spc="-5" dirty="0">
                          <a:solidFill>
                            <a:srgbClr val="003300"/>
                          </a:solidFill>
                          <a:uFill>
                            <a:solidFill>
                              <a:srgbClr val="003300"/>
                            </a:solidFill>
                          </a:uFill>
                          <a:latin typeface="Verdana"/>
                          <a:cs typeface="Verdana"/>
                        </a:rPr>
                        <a:t>GST</a:t>
                      </a:r>
                      <a:r>
                        <a:rPr sz="1800" u="heavy" spc="-55" dirty="0">
                          <a:solidFill>
                            <a:srgbClr val="003300"/>
                          </a:solidFill>
                          <a:uFill>
                            <a:solidFill>
                              <a:srgbClr val="003300"/>
                            </a:solidFill>
                          </a:uFill>
                          <a:latin typeface="Verdana"/>
                          <a:cs typeface="Verdana"/>
                        </a:rPr>
                        <a:t> </a:t>
                      </a:r>
                      <a:r>
                        <a:rPr sz="1800" u="heavy" dirty="0">
                          <a:solidFill>
                            <a:srgbClr val="003300"/>
                          </a:solidFill>
                          <a:uFill>
                            <a:solidFill>
                              <a:srgbClr val="003300"/>
                            </a:solidFill>
                          </a:uFill>
                          <a:latin typeface="Verdana"/>
                          <a:cs typeface="Verdana"/>
                        </a:rPr>
                        <a:t>-</a:t>
                      </a:r>
                      <a:endParaRPr sz="1800">
                        <a:latin typeface="Verdana"/>
                        <a:cs typeface="Verdana"/>
                      </a:endParaRPr>
                    </a:p>
                    <a:p>
                      <a:pPr marL="91440">
                        <a:lnSpc>
                          <a:spcPct val="100000"/>
                        </a:lnSpc>
                        <a:spcBef>
                          <a:spcPts val="5"/>
                        </a:spcBef>
                      </a:pPr>
                      <a:r>
                        <a:rPr sz="1800" u="heavy" dirty="0">
                          <a:solidFill>
                            <a:srgbClr val="003300"/>
                          </a:solidFill>
                          <a:uFill>
                            <a:solidFill>
                              <a:srgbClr val="003300"/>
                            </a:solidFill>
                          </a:uFill>
                          <a:latin typeface="Verdana"/>
                          <a:cs typeface="Verdana"/>
                        </a:rPr>
                        <a:t>output</a:t>
                      </a:r>
                      <a:endParaRPr sz="1800">
                        <a:latin typeface="Verdana"/>
                        <a:cs typeface="Verdana"/>
                      </a:endParaRPr>
                    </a:p>
                  </a:txBody>
                  <a:tcPr marL="0" marR="0" marT="4314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tcPr>
                </a:tc>
                <a:tc>
                  <a:txBody>
                    <a:bodyPr/>
                    <a:lstStyle/>
                    <a:p>
                      <a:pPr marL="92075" marR="165100">
                        <a:lnSpc>
                          <a:spcPct val="100000"/>
                        </a:lnSpc>
                        <a:spcBef>
                          <a:spcPts val="340"/>
                        </a:spcBef>
                      </a:pPr>
                      <a:r>
                        <a:rPr sz="1800" u="heavy" dirty="0">
                          <a:solidFill>
                            <a:srgbClr val="003300"/>
                          </a:solidFill>
                          <a:uFill>
                            <a:solidFill>
                              <a:srgbClr val="003300"/>
                            </a:solidFill>
                          </a:uFill>
                          <a:latin typeface="Verdana"/>
                          <a:cs typeface="Verdana"/>
                        </a:rPr>
                        <a:t>Tax </a:t>
                      </a:r>
                      <a:r>
                        <a:rPr sz="1800" spc="5" dirty="0">
                          <a:solidFill>
                            <a:srgbClr val="003300"/>
                          </a:solidFill>
                          <a:latin typeface="Verdana"/>
                          <a:cs typeface="Verdana"/>
                        </a:rPr>
                        <a:t> </a:t>
                      </a:r>
                      <a:r>
                        <a:rPr sz="1800" u="heavy" dirty="0">
                          <a:solidFill>
                            <a:srgbClr val="003300"/>
                          </a:solidFill>
                          <a:uFill>
                            <a:solidFill>
                              <a:srgbClr val="003300"/>
                            </a:solidFill>
                          </a:uFill>
                          <a:latin typeface="Verdana"/>
                          <a:cs typeface="Verdana"/>
                        </a:rPr>
                        <a:t>credit</a:t>
                      </a:r>
                      <a:endParaRPr sz="1800">
                        <a:latin typeface="Verdana"/>
                        <a:cs typeface="Verdana"/>
                      </a:endParaRPr>
                    </a:p>
                  </a:txBody>
                  <a:tcPr marL="0" marR="0" marT="4314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tcPr>
                </a:tc>
                <a:tc>
                  <a:txBody>
                    <a:bodyPr/>
                    <a:lstStyle/>
                    <a:p>
                      <a:pPr marL="92075" marR="524510">
                        <a:lnSpc>
                          <a:spcPct val="100000"/>
                        </a:lnSpc>
                        <a:spcBef>
                          <a:spcPts val="340"/>
                        </a:spcBef>
                      </a:pPr>
                      <a:r>
                        <a:rPr sz="1800" u="heavy" dirty="0">
                          <a:solidFill>
                            <a:srgbClr val="003300"/>
                          </a:solidFill>
                          <a:uFill>
                            <a:solidFill>
                              <a:srgbClr val="003300"/>
                            </a:solidFill>
                          </a:uFill>
                          <a:latin typeface="Verdana"/>
                          <a:cs typeface="Verdana"/>
                        </a:rPr>
                        <a:t>Net </a:t>
                      </a:r>
                      <a:r>
                        <a:rPr sz="1800" spc="-620" dirty="0">
                          <a:solidFill>
                            <a:srgbClr val="003300"/>
                          </a:solidFill>
                          <a:latin typeface="Verdana"/>
                          <a:cs typeface="Verdana"/>
                        </a:rPr>
                        <a:t> </a:t>
                      </a:r>
                      <a:r>
                        <a:rPr sz="1800" u="heavy" spc="-5" dirty="0">
                          <a:solidFill>
                            <a:srgbClr val="003300"/>
                          </a:solidFill>
                          <a:uFill>
                            <a:solidFill>
                              <a:srgbClr val="003300"/>
                            </a:solidFill>
                          </a:uFill>
                          <a:latin typeface="Verdana"/>
                          <a:cs typeface="Verdana"/>
                        </a:rPr>
                        <a:t>GST</a:t>
                      </a:r>
                      <a:endParaRPr sz="1800">
                        <a:latin typeface="Verdana"/>
                        <a:cs typeface="Verdana"/>
                      </a:endParaRPr>
                    </a:p>
                    <a:p>
                      <a:pPr marL="92075">
                        <a:lnSpc>
                          <a:spcPct val="100000"/>
                        </a:lnSpc>
                        <a:spcBef>
                          <a:spcPts val="5"/>
                        </a:spcBef>
                      </a:pPr>
                      <a:r>
                        <a:rPr sz="1800" u="heavy" spc="-5" dirty="0">
                          <a:solidFill>
                            <a:srgbClr val="003300"/>
                          </a:solidFill>
                          <a:uFill>
                            <a:solidFill>
                              <a:srgbClr val="003300"/>
                            </a:solidFill>
                          </a:uFill>
                          <a:latin typeface="Verdana"/>
                          <a:cs typeface="Verdana"/>
                        </a:rPr>
                        <a:t>payable</a:t>
                      </a:r>
                      <a:endParaRPr sz="1800">
                        <a:latin typeface="Verdana"/>
                        <a:cs typeface="Verdana"/>
                      </a:endParaRPr>
                    </a:p>
                  </a:txBody>
                  <a:tcPr marL="0" marR="0" marT="4314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0"/>
                  </a:ext>
                </a:extLst>
              </a:tr>
              <a:tr h="978264">
                <a:tc>
                  <a:txBody>
                    <a:bodyPr/>
                    <a:lstStyle/>
                    <a:p>
                      <a:pPr marL="92075" marR="120014">
                        <a:lnSpc>
                          <a:spcPct val="100000"/>
                        </a:lnSpc>
                        <a:spcBef>
                          <a:spcPts val="350"/>
                        </a:spcBef>
                      </a:pPr>
                      <a:r>
                        <a:rPr sz="1600" spc="-5" dirty="0">
                          <a:solidFill>
                            <a:srgbClr val="003300"/>
                          </a:solidFill>
                          <a:latin typeface="Verdana"/>
                          <a:cs typeface="Verdana"/>
                        </a:rPr>
                        <a:t>Manufactu  </a:t>
                      </a:r>
                      <a:r>
                        <a:rPr sz="1600" dirty="0">
                          <a:solidFill>
                            <a:srgbClr val="003300"/>
                          </a:solidFill>
                          <a:latin typeface="Verdana"/>
                          <a:cs typeface="Verdana"/>
                        </a:rPr>
                        <a:t>rer</a:t>
                      </a:r>
                      <a:endParaRPr sz="1600">
                        <a:latin typeface="Verdana"/>
                        <a:cs typeface="Verdana"/>
                      </a:endParaRPr>
                    </a:p>
                  </a:txBody>
                  <a:tcPr marL="0" marR="0" marT="44409" marB="0">
                    <a:lnL w="1905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45"/>
                        </a:spcBef>
                      </a:pPr>
                      <a:r>
                        <a:rPr sz="2000" spc="-5" dirty="0">
                          <a:solidFill>
                            <a:srgbClr val="003300"/>
                          </a:solidFill>
                          <a:latin typeface="Verdana"/>
                          <a:cs typeface="Verdana"/>
                        </a:rPr>
                        <a:t>100</a:t>
                      </a:r>
                      <a:endParaRPr sz="2000">
                        <a:latin typeface="Verdana"/>
                        <a:cs typeface="Verdana"/>
                      </a:endParaRPr>
                    </a:p>
                  </a:txBody>
                  <a:tcPr marL="0" marR="0" marT="43774"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ct val="100000"/>
                        </a:lnSpc>
                        <a:spcBef>
                          <a:spcPts val="345"/>
                        </a:spcBef>
                      </a:pPr>
                      <a:r>
                        <a:rPr sz="2000" spc="-5" dirty="0">
                          <a:solidFill>
                            <a:srgbClr val="003300"/>
                          </a:solidFill>
                          <a:latin typeface="Verdana"/>
                          <a:cs typeface="Verdana"/>
                        </a:rPr>
                        <a:t>30</a:t>
                      </a:r>
                      <a:endParaRPr sz="2000">
                        <a:latin typeface="Verdana"/>
                        <a:cs typeface="Verdana"/>
                      </a:endParaRPr>
                    </a:p>
                  </a:txBody>
                  <a:tcPr marL="0" marR="0" marT="43774"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ct val="100000"/>
                        </a:lnSpc>
                        <a:spcBef>
                          <a:spcPts val="345"/>
                        </a:spcBef>
                      </a:pPr>
                      <a:r>
                        <a:rPr sz="2000" spc="-5" dirty="0">
                          <a:solidFill>
                            <a:srgbClr val="003300"/>
                          </a:solidFill>
                          <a:latin typeface="Verdana"/>
                          <a:cs typeface="Verdana"/>
                        </a:rPr>
                        <a:t>130</a:t>
                      </a:r>
                      <a:endParaRPr sz="2000">
                        <a:latin typeface="Verdana"/>
                        <a:cs typeface="Verdana"/>
                      </a:endParaRPr>
                    </a:p>
                  </a:txBody>
                  <a:tcPr marL="0" marR="0" marT="43774"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ct val="100000"/>
                        </a:lnSpc>
                        <a:spcBef>
                          <a:spcPts val="345"/>
                        </a:spcBef>
                      </a:pPr>
                      <a:r>
                        <a:rPr sz="2000" spc="-5" dirty="0">
                          <a:solidFill>
                            <a:srgbClr val="003300"/>
                          </a:solidFill>
                          <a:latin typeface="Verdana"/>
                          <a:cs typeface="Verdana"/>
                        </a:rPr>
                        <a:t>10%</a:t>
                      </a:r>
                      <a:endParaRPr sz="2000">
                        <a:latin typeface="Verdana"/>
                        <a:cs typeface="Verdana"/>
                      </a:endParaRPr>
                    </a:p>
                  </a:txBody>
                  <a:tcPr marL="0" marR="0" marT="43774"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ct val="100000"/>
                        </a:lnSpc>
                        <a:spcBef>
                          <a:spcPts val="345"/>
                        </a:spcBef>
                      </a:pPr>
                      <a:r>
                        <a:rPr sz="2000" spc="-5" dirty="0">
                          <a:solidFill>
                            <a:srgbClr val="003300"/>
                          </a:solidFill>
                          <a:latin typeface="Verdana"/>
                          <a:cs typeface="Verdana"/>
                        </a:rPr>
                        <a:t>13</a:t>
                      </a:r>
                      <a:endParaRPr sz="2000">
                        <a:latin typeface="Verdana"/>
                        <a:cs typeface="Verdana"/>
                      </a:endParaRPr>
                    </a:p>
                  </a:txBody>
                  <a:tcPr marL="0" marR="0" marT="43774"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ct val="100000"/>
                        </a:lnSpc>
                        <a:spcBef>
                          <a:spcPts val="345"/>
                        </a:spcBef>
                      </a:pPr>
                      <a:r>
                        <a:rPr sz="2000" spc="-5" dirty="0">
                          <a:solidFill>
                            <a:srgbClr val="003300"/>
                          </a:solidFill>
                          <a:latin typeface="Verdana"/>
                          <a:cs typeface="Verdana"/>
                        </a:rPr>
                        <a:t>10</a:t>
                      </a:r>
                      <a:endParaRPr sz="2000">
                        <a:latin typeface="Verdana"/>
                        <a:cs typeface="Verdana"/>
                      </a:endParaRPr>
                    </a:p>
                  </a:txBody>
                  <a:tcPr marL="0" marR="0" marT="43774"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tcPr>
                </a:tc>
                <a:tc>
                  <a:txBody>
                    <a:bodyPr/>
                    <a:lstStyle/>
                    <a:p>
                      <a:pPr marL="167005">
                        <a:lnSpc>
                          <a:spcPct val="100000"/>
                        </a:lnSpc>
                        <a:spcBef>
                          <a:spcPts val="345"/>
                        </a:spcBef>
                      </a:pPr>
                      <a:r>
                        <a:rPr sz="2000" dirty="0">
                          <a:solidFill>
                            <a:srgbClr val="003300"/>
                          </a:solidFill>
                          <a:latin typeface="Verdana"/>
                          <a:cs typeface="Verdana"/>
                        </a:rPr>
                        <a:t>13-10</a:t>
                      </a:r>
                      <a:endParaRPr sz="2000">
                        <a:latin typeface="Verdana"/>
                        <a:cs typeface="Verdana"/>
                      </a:endParaRPr>
                    </a:p>
                    <a:p>
                      <a:pPr marL="319405">
                        <a:lnSpc>
                          <a:spcPct val="100000"/>
                        </a:lnSpc>
                      </a:pPr>
                      <a:r>
                        <a:rPr sz="2000" spc="-5" dirty="0">
                          <a:solidFill>
                            <a:srgbClr val="003300"/>
                          </a:solidFill>
                          <a:latin typeface="Verdana"/>
                          <a:cs typeface="Verdana"/>
                        </a:rPr>
                        <a:t>=</a:t>
                      </a:r>
                      <a:r>
                        <a:rPr sz="2000" spc="-50" dirty="0">
                          <a:solidFill>
                            <a:srgbClr val="003300"/>
                          </a:solidFill>
                          <a:latin typeface="Verdana"/>
                          <a:cs typeface="Verdana"/>
                        </a:rPr>
                        <a:t> </a:t>
                      </a:r>
                      <a:r>
                        <a:rPr sz="2000" spc="-5" dirty="0">
                          <a:solidFill>
                            <a:srgbClr val="003300"/>
                          </a:solidFill>
                          <a:latin typeface="Verdana"/>
                          <a:cs typeface="Verdana"/>
                        </a:rPr>
                        <a:t>3</a:t>
                      </a:r>
                      <a:endParaRPr sz="2000">
                        <a:latin typeface="Verdana"/>
                        <a:cs typeface="Verdana"/>
                      </a:endParaRPr>
                    </a:p>
                  </a:txBody>
                  <a:tcPr marL="0" marR="0" marT="43774"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1"/>
                  </a:ext>
                </a:extLst>
              </a:tr>
              <a:tr h="913554">
                <a:tc>
                  <a:txBody>
                    <a:bodyPr/>
                    <a:lstStyle/>
                    <a:p>
                      <a:pPr marL="92075" marR="548640">
                        <a:lnSpc>
                          <a:spcPct val="100000"/>
                        </a:lnSpc>
                        <a:spcBef>
                          <a:spcPts val="350"/>
                        </a:spcBef>
                      </a:pPr>
                      <a:r>
                        <a:rPr sz="1600" dirty="0">
                          <a:solidFill>
                            <a:srgbClr val="003300"/>
                          </a:solidFill>
                          <a:latin typeface="Verdana"/>
                          <a:cs typeface="Verdana"/>
                        </a:rPr>
                        <a:t>Whole  </a:t>
                      </a:r>
                      <a:r>
                        <a:rPr sz="1600" spc="-5" dirty="0">
                          <a:solidFill>
                            <a:srgbClr val="003300"/>
                          </a:solidFill>
                          <a:latin typeface="Verdana"/>
                          <a:cs typeface="Verdana"/>
                        </a:rPr>
                        <a:t>seller</a:t>
                      </a:r>
                      <a:endParaRPr sz="1600">
                        <a:latin typeface="Verdana"/>
                        <a:cs typeface="Verdana"/>
                      </a:endParaRPr>
                    </a:p>
                  </a:txBody>
                  <a:tcPr marL="0" marR="0" marT="44409" marB="0">
                    <a:lnL w="1905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45"/>
                        </a:spcBef>
                      </a:pPr>
                      <a:r>
                        <a:rPr sz="2000" spc="-5" dirty="0">
                          <a:solidFill>
                            <a:srgbClr val="003300"/>
                          </a:solidFill>
                          <a:latin typeface="Verdana"/>
                          <a:cs typeface="Verdana"/>
                        </a:rPr>
                        <a:t>130</a:t>
                      </a:r>
                      <a:endParaRPr sz="2000">
                        <a:latin typeface="Verdana"/>
                        <a:cs typeface="Verdana"/>
                      </a:endParaRPr>
                    </a:p>
                  </a:txBody>
                  <a:tcPr marL="0" marR="0" marT="43774"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ct val="100000"/>
                        </a:lnSpc>
                        <a:spcBef>
                          <a:spcPts val="345"/>
                        </a:spcBef>
                      </a:pPr>
                      <a:r>
                        <a:rPr sz="2000" spc="-5" dirty="0">
                          <a:solidFill>
                            <a:srgbClr val="003300"/>
                          </a:solidFill>
                          <a:latin typeface="Verdana"/>
                          <a:cs typeface="Verdana"/>
                        </a:rPr>
                        <a:t>20</a:t>
                      </a:r>
                      <a:endParaRPr sz="2000">
                        <a:latin typeface="Verdana"/>
                        <a:cs typeface="Verdana"/>
                      </a:endParaRPr>
                    </a:p>
                  </a:txBody>
                  <a:tcPr marL="0" marR="0" marT="43774"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ct val="100000"/>
                        </a:lnSpc>
                        <a:spcBef>
                          <a:spcPts val="345"/>
                        </a:spcBef>
                      </a:pPr>
                      <a:r>
                        <a:rPr sz="2000" spc="-5" dirty="0">
                          <a:solidFill>
                            <a:srgbClr val="003300"/>
                          </a:solidFill>
                          <a:latin typeface="Verdana"/>
                          <a:cs typeface="Verdana"/>
                        </a:rPr>
                        <a:t>150</a:t>
                      </a:r>
                      <a:endParaRPr sz="2000">
                        <a:latin typeface="Verdana"/>
                        <a:cs typeface="Verdana"/>
                      </a:endParaRPr>
                    </a:p>
                  </a:txBody>
                  <a:tcPr marL="0" marR="0" marT="43774"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ct val="100000"/>
                        </a:lnSpc>
                        <a:spcBef>
                          <a:spcPts val="345"/>
                        </a:spcBef>
                      </a:pPr>
                      <a:r>
                        <a:rPr sz="2000" spc="-5" dirty="0">
                          <a:solidFill>
                            <a:srgbClr val="003300"/>
                          </a:solidFill>
                          <a:latin typeface="Verdana"/>
                          <a:cs typeface="Verdana"/>
                        </a:rPr>
                        <a:t>10%</a:t>
                      </a:r>
                      <a:endParaRPr sz="2000">
                        <a:latin typeface="Verdana"/>
                        <a:cs typeface="Verdana"/>
                      </a:endParaRPr>
                    </a:p>
                  </a:txBody>
                  <a:tcPr marL="0" marR="0" marT="43774"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ct val="100000"/>
                        </a:lnSpc>
                        <a:spcBef>
                          <a:spcPts val="345"/>
                        </a:spcBef>
                      </a:pPr>
                      <a:r>
                        <a:rPr sz="2000" spc="-5" dirty="0">
                          <a:solidFill>
                            <a:srgbClr val="003300"/>
                          </a:solidFill>
                          <a:latin typeface="Verdana"/>
                          <a:cs typeface="Verdana"/>
                        </a:rPr>
                        <a:t>15</a:t>
                      </a:r>
                      <a:endParaRPr sz="2000">
                        <a:latin typeface="Verdana"/>
                        <a:cs typeface="Verdana"/>
                      </a:endParaRPr>
                    </a:p>
                  </a:txBody>
                  <a:tcPr marL="0" marR="0" marT="43774"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ct val="100000"/>
                        </a:lnSpc>
                        <a:spcBef>
                          <a:spcPts val="345"/>
                        </a:spcBef>
                      </a:pPr>
                      <a:r>
                        <a:rPr sz="2000" spc="-5" dirty="0">
                          <a:solidFill>
                            <a:srgbClr val="003300"/>
                          </a:solidFill>
                          <a:latin typeface="Verdana"/>
                          <a:cs typeface="Verdana"/>
                        </a:rPr>
                        <a:t>13</a:t>
                      </a:r>
                      <a:endParaRPr sz="2000">
                        <a:latin typeface="Verdana"/>
                        <a:cs typeface="Verdana"/>
                      </a:endParaRPr>
                    </a:p>
                  </a:txBody>
                  <a:tcPr marL="0" marR="0" marT="43774"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tcPr>
                </a:tc>
                <a:tc>
                  <a:txBody>
                    <a:bodyPr/>
                    <a:lstStyle/>
                    <a:p>
                      <a:pPr marL="167005">
                        <a:lnSpc>
                          <a:spcPct val="100000"/>
                        </a:lnSpc>
                        <a:spcBef>
                          <a:spcPts val="345"/>
                        </a:spcBef>
                      </a:pPr>
                      <a:r>
                        <a:rPr sz="2000" dirty="0">
                          <a:solidFill>
                            <a:srgbClr val="003300"/>
                          </a:solidFill>
                          <a:latin typeface="Verdana"/>
                          <a:cs typeface="Verdana"/>
                        </a:rPr>
                        <a:t>15-13</a:t>
                      </a:r>
                      <a:endParaRPr sz="2000">
                        <a:latin typeface="Verdana"/>
                        <a:cs typeface="Verdana"/>
                      </a:endParaRPr>
                    </a:p>
                    <a:p>
                      <a:pPr marL="319405">
                        <a:lnSpc>
                          <a:spcPct val="100000"/>
                        </a:lnSpc>
                      </a:pPr>
                      <a:r>
                        <a:rPr sz="2000" spc="-5" dirty="0">
                          <a:solidFill>
                            <a:srgbClr val="003300"/>
                          </a:solidFill>
                          <a:latin typeface="Verdana"/>
                          <a:cs typeface="Verdana"/>
                        </a:rPr>
                        <a:t>=</a:t>
                      </a:r>
                      <a:r>
                        <a:rPr sz="2000" spc="-50" dirty="0">
                          <a:solidFill>
                            <a:srgbClr val="003300"/>
                          </a:solidFill>
                          <a:latin typeface="Verdana"/>
                          <a:cs typeface="Verdana"/>
                        </a:rPr>
                        <a:t> </a:t>
                      </a:r>
                      <a:r>
                        <a:rPr sz="2000" spc="-5" dirty="0">
                          <a:solidFill>
                            <a:srgbClr val="003300"/>
                          </a:solidFill>
                          <a:latin typeface="Verdana"/>
                          <a:cs typeface="Verdana"/>
                        </a:rPr>
                        <a:t>2</a:t>
                      </a:r>
                      <a:endParaRPr sz="2000">
                        <a:latin typeface="Verdana"/>
                        <a:cs typeface="Verdana"/>
                      </a:endParaRPr>
                    </a:p>
                  </a:txBody>
                  <a:tcPr marL="0" marR="0" marT="43774"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2"/>
                  </a:ext>
                </a:extLst>
              </a:tr>
              <a:tr h="821437">
                <a:tc>
                  <a:txBody>
                    <a:bodyPr/>
                    <a:lstStyle/>
                    <a:p>
                      <a:pPr marL="92075" marR="598805">
                        <a:lnSpc>
                          <a:spcPct val="100000"/>
                        </a:lnSpc>
                        <a:spcBef>
                          <a:spcPts val="350"/>
                        </a:spcBef>
                      </a:pPr>
                      <a:r>
                        <a:rPr sz="1600" spc="-5" dirty="0">
                          <a:solidFill>
                            <a:srgbClr val="003300"/>
                          </a:solidFill>
                          <a:latin typeface="Verdana"/>
                          <a:cs typeface="Verdana"/>
                        </a:rPr>
                        <a:t>Retail  </a:t>
                      </a:r>
                      <a:r>
                        <a:rPr sz="1600" dirty="0">
                          <a:solidFill>
                            <a:srgbClr val="003300"/>
                          </a:solidFill>
                          <a:latin typeface="Verdana"/>
                          <a:cs typeface="Verdana"/>
                        </a:rPr>
                        <a:t>Seller</a:t>
                      </a:r>
                      <a:endParaRPr sz="1600">
                        <a:latin typeface="Verdana"/>
                        <a:cs typeface="Verdana"/>
                      </a:endParaRPr>
                    </a:p>
                  </a:txBody>
                  <a:tcPr marL="0" marR="0" marT="44409" marB="0">
                    <a:lnL w="1905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45"/>
                        </a:spcBef>
                      </a:pPr>
                      <a:r>
                        <a:rPr sz="2000" spc="-5" dirty="0">
                          <a:solidFill>
                            <a:srgbClr val="003300"/>
                          </a:solidFill>
                          <a:latin typeface="Verdana"/>
                          <a:cs typeface="Verdana"/>
                        </a:rPr>
                        <a:t>150</a:t>
                      </a:r>
                      <a:endParaRPr sz="2000">
                        <a:latin typeface="Verdana"/>
                        <a:cs typeface="Verdana"/>
                      </a:endParaRPr>
                    </a:p>
                  </a:txBody>
                  <a:tcPr marL="0" marR="0" marT="43774"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ct val="100000"/>
                        </a:lnSpc>
                        <a:spcBef>
                          <a:spcPts val="345"/>
                        </a:spcBef>
                      </a:pPr>
                      <a:r>
                        <a:rPr sz="2000" spc="-5" dirty="0">
                          <a:solidFill>
                            <a:srgbClr val="003300"/>
                          </a:solidFill>
                          <a:latin typeface="Verdana"/>
                          <a:cs typeface="Verdana"/>
                        </a:rPr>
                        <a:t>10</a:t>
                      </a:r>
                      <a:endParaRPr sz="2000">
                        <a:latin typeface="Verdana"/>
                        <a:cs typeface="Verdana"/>
                      </a:endParaRPr>
                    </a:p>
                  </a:txBody>
                  <a:tcPr marL="0" marR="0" marT="43774"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ct val="100000"/>
                        </a:lnSpc>
                        <a:spcBef>
                          <a:spcPts val="345"/>
                        </a:spcBef>
                      </a:pPr>
                      <a:r>
                        <a:rPr sz="2000" spc="-5" dirty="0">
                          <a:solidFill>
                            <a:srgbClr val="003300"/>
                          </a:solidFill>
                          <a:latin typeface="Verdana"/>
                          <a:cs typeface="Verdana"/>
                        </a:rPr>
                        <a:t>160</a:t>
                      </a:r>
                      <a:endParaRPr sz="2000">
                        <a:latin typeface="Verdana"/>
                        <a:cs typeface="Verdana"/>
                      </a:endParaRPr>
                    </a:p>
                  </a:txBody>
                  <a:tcPr marL="0" marR="0" marT="43774"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ct val="100000"/>
                        </a:lnSpc>
                        <a:spcBef>
                          <a:spcPts val="345"/>
                        </a:spcBef>
                      </a:pPr>
                      <a:r>
                        <a:rPr sz="2000" spc="-5" dirty="0">
                          <a:solidFill>
                            <a:srgbClr val="003300"/>
                          </a:solidFill>
                          <a:latin typeface="Verdana"/>
                          <a:cs typeface="Verdana"/>
                        </a:rPr>
                        <a:t>10%</a:t>
                      </a:r>
                      <a:endParaRPr sz="2000">
                        <a:latin typeface="Verdana"/>
                        <a:cs typeface="Verdana"/>
                      </a:endParaRPr>
                    </a:p>
                  </a:txBody>
                  <a:tcPr marL="0" marR="0" marT="43774"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ct val="100000"/>
                        </a:lnSpc>
                        <a:spcBef>
                          <a:spcPts val="345"/>
                        </a:spcBef>
                      </a:pPr>
                      <a:r>
                        <a:rPr sz="2000" spc="-5" dirty="0">
                          <a:solidFill>
                            <a:srgbClr val="003300"/>
                          </a:solidFill>
                          <a:latin typeface="Verdana"/>
                          <a:cs typeface="Verdana"/>
                        </a:rPr>
                        <a:t>16</a:t>
                      </a:r>
                      <a:endParaRPr sz="2000">
                        <a:latin typeface="Verdana"/>
                        <a:cs typeface="Verdana"/>
                      </a:endParaRPr>
                    </a:p>
                  </a:txBody>
                  <a:tcPr marL="0" marR="0" marT="43774"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tcPr>
                </a:tc>
                <a:tc>
                  <a:txBody>
                    <a:bodyPr/>
                    <a:lstStyle/>
                    <a:p>
                      <a:pPr algn="ctr">
                        <a:lnSpc>
                          <a:spcPct val="100000"/>
                        </a:lnSpc>
                        <a:spcBef>
                          <a:spcPts val="345"/>
                        </a:spcBef>
                      </a:pPr>
                      <a:r>
                        <a:rPr sz="2000" spc="-5" dirty="0">
                          <a:solidFill>
                            <a:srgbClr val="003300"/>
                          </a:solidFill>
                          <a:latin typeface="Verdana"/>
                          <a:cs typeface="Verdana"/>
                        </a:rPr>
                        <a:t>15</a:t>
                      </a:r>
                      <a:endParaRPr sz="2000">
                        <a:latin typeface="Verdana"/>
                        <a:cs typeface="Verdana"/>
                      </a:endParaRPr>
                    </a:p>
                  </a:txBody>
                  <a:tcPr marL="0" marR="0" marT="43774"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tcPr>
                </a:tc>
                <a:tc>
                  <a:txBody>
                    <a:bodyPr/>
                    <a:lstStyle/>
                    <a:p>
                      <a:pPr marL="167005">
                        <a:lnSpc>
                          <a:spcPct val="100000"/>
                        </a:lnSpc>
                        <a:spcBef>
                          <a:spcPts val="345"/>
                        </a:spcBef>
                      </a:pPr>
                      <a:r>
                        <a:rPr sz="2000" dirty="0">
                          <a:solidFill>
                            <a:srgbClr val="003300"/>
                          </a:solidFill>
                          <a:latin typeface="Verdana"/>
                          <a:cs typeface="Verdana"/>
                        </a:rPr>
                        <a:t>16-15</a:t>
                      </a:r>
                      <a:endParaRPr sz="2000">
                        <a:latin typeface="Verdana"/>
                        <a:cs typeface="Verdana"/>
                      </a:endParaRPr>
                    </a:p>
                    <a:p>
                      <a:pPr marL="319405">
                        <a:lnSpc>
                          <a:spcPct val="100000"/>
                        </a:lnSpc>
                      </a:pPr>
                      <a:r>
                        <a:rPr sz="2000" spc="-5" dirty="0">
                          <a:solidFill>
                            <a:srgbClr val="003300"/>
                          </a:solidFill>
                          <a:latin typeface="Verdana"/>
                          <a:cs typeface="Verdana"/>
                        </a:rPr>
                        <a:t>=</a:t>
                      </a:r>
                      <a:r>
                        <a:rPr sz="2000" spc="-50" dirty="0">
                          <a:solidFill>
                            <a:srgbClr val="003300"/>
                          </a:solidFill>
                          <a:latin typeface="Verdana"/>
                          <a:cs typeface="Verdana"/>
                        </a:rPr>
                        <a:t> </a:t>
                      </a:r>
                      <a:r>
                        <a:rPr sz="2000" spc="-5" dirty="0">
                          <a:solidFill>
                            <a:srgbClr val="003300"/>
                          </a:solidFill>
                          <a:latin typeface="Verdana"/>
                          <a:cs typeface="Verdana"/>
                        </a:rPr>
                        <a:t>1</a:t>
                      </a:r>
                      <a:endParaRPr sz="2000">
                        <a:latin typeface="Verdana"/>
                        <a:cs typeface="Verdana"/>
                      </a:endParaRPr>
                    </a:p>
                  </a:txBody>
                  <a:tcPr marL="0" marR="0" marT="43774"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86574613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US" sz="2800" b="1" dirty="0" smtClean="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800" dirty="0" smtClean="0">
              <a:solidFill>
                <a:schemeClr val="tx1"/>
              </a:solidFill>
            </a:endParaRPr>
          </a:p>
          <a:p>
            <a:pPr marL="457200" indent="-457200">
              <a:buFont typeface="Wingdings" panose="05000000000000000000" pitchFamily="2" charset="2"/>
              <a:buChar char="Ø"/>
            </a:pPr>
            <a:endParaRPr lang="en-IN" sz="2600" dirty="0">
              <a:solidFill>
                <a:schemeClr val="tx1"/>
              </a:solidFill>
            </a:endParaRPr>
          </a:p>
          <a:p>
            <a:pPr marL="457200" indent="-457200">
              <a:buFont typeface="Wingdings" panose="05000000000000000000" pitchFamily="2" charset="2"/>
              <a:buChar char="Ø"/>
            </a:pPr>
            <a:endParaRPr lang="en-US" sz="26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smtClean="0">
                <a:solidFill>
                  <a:schemeClr val="tx1"/>
                </a:solidFill>
                <a:latin typeface="Times New Roman" panose="02020603050405020304" pitchFamily="18" charset="0"/>
                <a:cs typeface="Times New Roman" panose="02020603050405020304" pitchFamily="18" charset="0"/>
              </a:rPr>
              <a:t> </a:t>
            </a:r>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2118360" y="72579"/>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1"/>
                </a:solidFill>
                <a:latin typeface="Times New Roman" panose="02020603050405020304" pitchFamily="18" charset="0"/>
                <a:cs typeface="Times New Roman" panose="02020603050405020304" pitchFamily="18" charset="0"/>
              </a:rPr>
              <a:t>Goods and Services Tax (GST)</a:t>
            </a:r>
          </a:p>
        </p:txBody>
      </p:sp>
      <p:pic>
        <p:nvPicPr>
          <p:cNvPr id="6" name="Picture 5"/>
          <p:cNvPicPr/>
          <p:nvPr/>
        </p:nvPicPr>
        <p:blipFill>
          <a:blip r:embed="rId2">
            <a:extLst>
              <a:ext uri="{28A0092B-C50C-407E-A947-70E740481C1C}">
                <a14:useLocalDpi xmlns:a14="http://schemas.microsoft.com/office/drawing/2010/main" val="0"/>
              </a:ext>
            </a:extLst>
          </a:blip>
          <a:srcRect/>
          <a:stretch>
            <a:fillRect/>
          </a:stretch>
        </p:blipFill>
        <p:spPr bwMode="auto">
          <a:xfrm>
            <a:off x="1554303" y="1222312"/>
            <a:ext cx="8606733" cy="4376056"/>
          </a:xfrm>
          <a:prstGeom prst="rect">
            <a:avLst/>
          </a:prstGeom>
          <a:noFill/>
          <a:ln>
            <a:noFill/>
          </a:ln>
        </p:spPr>
      </p:pic>
    </p:spTree>
    <p:extLst>
      <p:ext uri="{BB962C8B-B14F-4D97-AF65-F5344CB8AC3E}">
        <p14:creationId xmlns:p14="http://schemas.microsoft.com/office/powerpoint/2010/main" val="3584190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US" sz="2800" b="1" dirty="0" smtClean="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800" dirty="0" smtClean="0">
              <a:solidFill>
                <a:schemeClr val="tx1"/>
              </a:solidFill>
            </a:endParaRPr>
          </a:p>
          <a:p>
            <a:pPr marL="457200" indent="-457200">
              <a:buFont typeface="Wingdings" panose="05000000000000000000" pitchFamily="2" charset="2"/>
              <a:buChar char="Ø"/>
            </a:pPr>
            <a:endParaRPr lang="en-IN" sz="2600" dirty="0">
              <a:solidFill>
                <a:schemeClr val="tx1"/>
              </a:solidFill>
            </a:endParaRPr>
          </a:p>
          <a:p>
            <a:pPr marL="457200" indent="-457200">
              <a:buFont typeface="Wingdings" panose="05000000000000000000" pitchFamily="2" charset="2"/>
              <a:buChar char="Ø"/>
            </a:pPr>
            <a:endParaRPr lang="en-US" sz="26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smtClean="0">
                <a:solidFill>
                  <a:schemeClr val="tx1"/>
                </a:solidFill>
                <a:latin typeface="Times New Roman" panose="02020603050405020304" pitchFamily="18" charset="0"/>
                <a:cs typeface="Times New Roman" panose="02020603050405020304" pitchFamily="18" charset="0"/>
              </a:rPr>
              <a:t> </a:t>
            </a:r>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2118360" y="72579"/>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1"/>
                </a:solidFill>
                <a:latin typeface="Times New Roman" panose="02020603050405020304" pitchFamily="18" charset="0"/>
                <a:cs typeface="Times New Roman" panose="02020603050405020304" pitchFamily="18" charset="0"/>
              </a:rPr>
              <a:t>Goods and Services Tax (GST)</a:t>
            </a:r>
          </a:p>
        </p:txBody>
      </p:sp>
      <p:pic>
        <p:nvPicPr>
          <p:cNvPr id="3" name="Picture 2"/>
          <p:cNvPicPr>
            <a:picLocks noChangeAspect="1"/>
          </p:cNvPicPr>
          <p:nvPr/>
        </p:nvPicPr>
        <p:blipFill>
          <a:blip r:embed="rId2"/>
          <a:stretch>
            <a:fillRect/>
          </a:stretch>
        </p:blipFill>
        <p:spPr>
          <a:xfrm>
            <a:off x="1730984" y="1138336"/>
            <a:ext cx="8035573" cy="4599991"/>
          </a:xfrm>
          <a:prstGeom prst="rect">
            <a:avLst/>
          </a:prstGeom>
        </p:spPr>
      </p:pic>
    </p:spTree>
    <p:extLst>
      <p:ext uri="{BB962C8B-B14F-4D97-AF65-F5344CB8AC3E}">
        <p14:creationId xmlns:p14="http://schemas.microsoft.com/office/powerpoint/2010/main" val="2848917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US" sz="2800" b="1" dirty="0" smtClean="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800" dirty="0" smtClean="0">
              <a:solidFill>
                <a:schemeClr val="tx1"/>
              </a:solidFill>
            </a:endParaRPr>
          </a:p>
          <a:p>
            <a:pPr marL="457200" indent="-457200">
              <a:buFont typeface="Wingdings" panose="05000000000000000000" pitchFamily="2" charset="2"/>
              <a:buChar char="Ø"/>
            </a:pPr>
            <a:endParaRPr lang="en-IN" sz="2600" dirty="0">
              <a:solidFill>
                <a:schemeClr val="tx1"/>
              </a:solidFill>
            </a:endParaRPr>
          </a:p>
          <a:p>
            <a:pPr marL="457200" indent="-457200">
              <a:buFont typeface="Wingdings" panose="05000000000000000000" pitchFamily="2" charset="2"/>
              <a:buChar char="Ø"/>
            </a:pPr>
            <a:endParaRPr lang="en-US" sz="26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smtClean="0">
                <a:solidFill>
                  <a:schemeClr val="tx1"/>
                </a:solidFill>
                <a:latin typeface="Times New Roman" panose="02020603050405020304" pitchFamily="18" charset="0"/>
                <a:cs typeface="Times New Roman" panose="02020603050405020304" pitchFamily="18" charset="0"/>
              </a:rPr>
              <a:t> </a:t>
            </a:r>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2118360" y="72579"/>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1"/>
                </a:solidFill>
                <a:latin typeface="Times New Roman" panose="02020603050405020304" pitchFamily="18" charset="0"/>
                <a:cs typeface="Times New Roman" panose="02020603050405020304" pitchFamily="18" charset="0"/>
              </a:rPr>
              <a:t>Goods and Services Tax (GST)</a:t>
            </a:r>
          </a:p>
        </p:txBody>
      </p:sp>
      <p:pic>
        <p:nvPicPr>
          <p:cNvPr id="6" name="Picture 5"/>
          <p:cNvPicPr>
            <a:picLocks noChangeAspect="1"/>
          </p:cNvPicPr>
          <p:nvPr/>
        </p:nvPicPr>
        <p:blipFill>
          <a:blip r:embed="rId2"/>
          <a:stretch>
            <a:fillRect/>
          </a:stretch>
        </p:blipFill>
        <p:spPr>
          <a:xfrm>
            <a:off x="1913085" y="1071801"/>
            <a:ext cx="7990836" cy="4918452"/>
          </a:xfrm>
          <a:prstGeom prst="rect">
            <a:avLst/>
          </a:prstGeom>
        </p:spPr>
      </p:pic>
    </p:spTree>
    <p:extLst>
      <p:ext uri="{BB962C8B-B14F-4D97-AF65-F5344CB8AC3E}">
        <p14:creationId xmlns:p14="http://schemas.microsoft.com/office/powerpoint/2010/main" val="1950064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US" sz="2800" b="1" dirty="0" smtClean="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800" dirty="0" smtClean="0">
              <a:solidFill>
                <a:schemeClr val="tx1"/>
              </a:solidFill>
            </a:endParaRPr>
          </a:p>
          <a:p>
            <a:pPr marL="457200" indent="-457200">
              <a:buFont typeface="Wingdings" panose="05000000000000000000" pitchFamily="2" charset="2"/>
              <a:buChar char="Ø"/>
            </a:pPr>
            <a:endParaRPr lang="en-IN" sz="2600" dirty="0">
              <a:solidFill>
                <a:schemeClr val="tx1"/>
              </a:solidFill>
            </a:endParaRPr>
          </a:p>
          <a:p>
            <a:pPr marL="457200" indent="-457200">
              <a:buFont typeface="Wingdings" panose="05000000000000000000" pitchFamily="2" charset="2"/>
              <a:buChar char="Ø"/>
            </a:pPr>
            <a:endParaRPr lang="en-US" sz="26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smtClean="0">
                <a:solidFill>
                  <a:schemeClr val="tx1"/>
                </a:solidFill>
                <a:latin typeface="Times New Roman" panose="02020603050405020304" pitchFamily="18" charset="0"/>
                <a:cs typeface="Times New Roman" panose="02020603050405020304" pitchFamily="18" charset="0"/>
              </a:rPr>
              <a:t> </a:t>
            </a:r>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2118360" y="72579"/>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1"/>
                </a:solidFill>
                <a:latin typeface="Times New Roman" panose="02020603050405020304" pitchFamily="18" charset="0"/>
                <a:cs typeface="Times New Roman" panose="02020603050405020304" pitchFamily="18" charset="0"/>
              </a:rPr>
              <a:t>Goods and Services Tax (GST)</a:t>
            </a:r>
          </a:p>
        </p:txBody>
      </p:sp>
      <p:pic>
        <p:nvPicPr>
          <p:cNvPr id="3" name="Picture 2"/>
          <p:cNvPicPr>
            <a:picLocks noChangeAspect="1"/>
          </p:cNvPicPr>
          <p:nvPr/>
        </p:nvPicPr>
        <p:blipFill>
          <a:blip r:embed="rId2"/>
          <a:stretch>
            <a:fillRect/>
          </a:stretch>
        </p:blipFill>
        <p:spPr>
          <a:xfrm>
            <a:off x="1177699" y="1296956"/>
            <a:ext cx="8590803" cy="4478693"/>
          </a:xfrm>
          <a:prstGeom prst="rect">
            <a:avLst/>
          </a:prstGeom>
        </p:spPr>
      </p:pic>
    </p:spTree>
    <p:extLst>
      <p:ext uri="{BB962C8B-B14F-4D97-AF65-F5344CB8AC3E}">
        <p14:creationId xmlns:p14="http://schemas.microsoft.com/office/powerpoint/2010/main" val="3379554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US" sz="2800" b="1" dirty="0" smtClean="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800" dirty="0" smtClean="0">
              <a:solidFill>
                <a:schemeClr val="tx1"/>
              </a:solidFill>
            </a:endParaRPr>
          </a:p>
          <a:p>
            <a:pPr marL="457200" indent="-457200">
              <a:buFont typeface="Wingdings" panose="05000000000000000000" pitchFamily="2" charset="2"/>
              <a:buChar char="Ø"/>
            </a:pPr>
            <a:endParaRPr lang="en-IN" sz="2600" dirty="0">
              <a:solidFill>
                <a:schemeClr val="tx1"/>
              </a:solidFill>
            </a:endParaRPr>
          </a:p>
          <a:p>
            <a:pPr marL="457200" indent="-457200">
              <a:buFont typeface="Wingdings" panose="05000000000000000000" pitchFamily="2" charset="2"/>
              <a:buChar char="Ø"/>
            </a:pPr>
            <a:endParaRPr lang="en-US" sz="26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smtClean="0">
                <a:solidFill>
                  <a:schemeClr val="tx1"/>
                </a:solidFill>
                <a:latin typeface="Times New Roman" panose="02020603050405020304" pitchFamily="18" charset="0"/>
                <a:cs typeface="Times New Roman" panose="02020603050405020304" pitchFamily="18" charset="0"/>
              </a:rPr>
              <a:t> </a:t>
            </a:r>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2118360" y="72579"/>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1"/>
                </a:solidFill>
                <a:latin typeface="Times New Roman" panose="02020603050405020304" pitchFamily="18" charset="0"/>
                <a:cs typeface="Times New Roman" panose="02020603050405020304" pitchFamily="18" charset="0"/>
              </a:rPr>
              <a:t>Goods and Services Tax (GST)</a:t>
            </a:r>
          </a:p>
        </p:txBody>
      </p:sp>
      <p:pic>
        <p:nvPicPr>
          <p:cNvPr id="6" name="Picture 5"/>
          <p:cNvPicPr>
            <a:picLocks noChangeAspect="1"/>
          </p:cNvPicPr>
          <p:nvPr/>
        </p:nvPicPr>
        <p:blipFill>
          <a:blip r:embed="rId2"/>
          <a:stretch>
            <a:fillRect/>
          </a:stretch>
        </p:blipFill>
        <p:spPr>
          <a:xfrm>
            <a:off x="1073020" y="919949"/>
            <a:ext cx="9526555" cy="5426585"/>
          </a:xfrm>
          <a:prstGeom prst="rect">
            <a:avLst/>
          </a:prstGeom>
        </p:spPr>
      </p:pic>
    </p:spTree>
    <p:extLst>
      <p:ext uri="{BB962C8B-B14F-4D97-AF65-F5344CB8AC3E}">
        <p14:creationId xmlns:p14="http://schemas.microsoft.com/office/powerpoint/2010/main" val="3767829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US" sz="2800" b="1" dirty="0" smtClean="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IN" sz="2800" dirty="0">
              <a:solidFill>
                <a:schemeClr val="tx1"/>
              </a:solidFill>
            </a:endParaRPr>
          </a:p>
          <a:p>
            <a:pPr marL="457200" indent="-457200">
              <a:buFont typeface="Wingdings" panose="05000000000000000000" pitchFamily="2" charset="2"/>
              <a:buChar char="Ø"/>
            </a:pPr>
            <a:endParaRPr lang="en-IN" sz="2800" dirty="0" smtClean="0">
              <a:solidFill>
                <a:schemeClr val="tx1"/>
              </a:solidFill>
            </a:endParaRPr>
          </a:p>
          <a:p>
            <a:pPr marL="457200" indent="-457200">
              <a:buFont typeface="Wingdings" panose="05000000000000000000" pitchFamily="2" charset="2"/>
              <a:buChar char="Ø"/>
            </a:pPr>
            <a:endParaRPr lang="en-IN" sz="2600" dirty="0">
              <a:solidFill>
                <a:schemeClr val="tx1"/>
              </a:solidFill>
            </a:endParaRPr>
          </a:p>
          <a:p>
            <a:pPr marL="457200" indent="-457200">
              <a:buFont typeface="Wingdings" panose="05000000000000000000" pitchFamily="2" charset="2"/>
              <a:buChar char="Ø"/>
            </a:pPr>
            <a:endParaRPr lang="en-US" sz="26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smtClean="0">
                <a:solidFill>
                  <a:schemeClr val="tx1"/>
                </a:solidFill>
                <a:latin typeface="Times New Roman" panose="02020603050405020304" pitchFamily="18" charset="0"/>
                <a:cs typeface="Times New Roman" panose="02020603050405020304" pitchFamily="18" charset="0"/>
              </a:rPr>
              <a:t> </a:t>
            </a:r>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2118360" y="72579"/>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1"/>
                </a:solidFill>
                <a:latin typeface="Times New Roman" panose="02020603050405020304" pitchFamily="18" charset="0"/>
                <a:cs typeface="Times New Roman" panose="02020603050405020304" pitchFamily="18" charset="0"/>
              </a:rPr>
              <a:t>Goods and Services Tax (GST)</a:t>
            </a:r>
          </a:p>
        </p:txBody>
      </p:sp>
      <p:pic>
        <p:nvPicPr>
          <p:cNvPr id="2" name="Picture 1"/>
          <p:cNvPicPr>
            <a:picLocks noChangeAspect="1"/>
          </p:cNvPicPr>
          <p:nvPr/>
        </p:nvPicPr>
        <p:blipFill>
          <a:blip r:embed="rId2"/>
          <a:stretch>
            <a:fillRect/>
          </a:stretch>
        </p:blipFill>
        <p:spPr>
          <a:xfrm>
            <a:off x="942392" y="965328"/>
            <a:ext cx="9741159" cy="5286182"/>
          </a:xfrm>
          <a:prstGeom prst="rect">
            <a:avLst/>
          </a:prstGeom>
        </p:spPr>
      </p:pic>
    </p:spTree>
    <p:extLst>
      <p:ext uri="{BB962C8B-B14F-4D97-AF65-F5344CB8AC3E}">
        <p14:creationId xmlns:p14="http://schemas.microsoft.com/office/powerpoint/2010/main" val="4018598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24001" y="321250"/>
            <a:ext cx="10515600" cy="716400"/>
          </a:xfrm>
          <a:prstGeom prst="rect">
            <a:avLst/>
          </a:prstGeom>
        </p:spPr>
        <p:txBody>
          <a:bodyPr vert="horz" wrap="square" lIns="0" tIns="99872" rIns="0" bIns="0" rtlCol="0">
            <a:spAutoFit/>
          </a:bodyPr>
          <a:lstStyle/>
          <a:p>
            <a:pPr marL="2559050">
              <a:lnSpc>
                <a:spcPct val="100000"/>
              </a:lnSpc>
              <a:spcBef>
                <a:spcPts val="100"/>
              </a:spcBef>
            </a:pPr>
            <a:r>
              <a:rPr sz="4000" b="1" dirty="0">
                <a:latin typeface="Times New Roman" panose="02020603050405020304" pitchFamily="18" charset="0"/>
                <a:cs typeface="Times New Roman" panose="02020603050405020304" pitchFamily="18" charset="0"/>
              </a:rPr>
              <a:t>Levy</a:t>
            </a:r>
            <a:r>
              <a:rPr sz="4000" b="1" spc="-35" dirty="0">
                <a:latin typeface="Times New Roman" panose="02020603050405020304" pitchFamily="18" charset="0"/>
                <a:cs typeface="Times New Roman" panose="02020603050405020304" pitchFamily="18" charset="0"/>
              </a:rPr>
              <a:t> </a:t>
            </a:r>
            <a:r>
              <a:rPr sz="4000" b="1" dirty="0">
                <a:latin typeface="Times New Roman" panose="02020603050405020304" pitchFamily="18" charset="0"/>
                <a:cs typeface="Times New Roman" panose="02020603050405020304" pitchFamily="18" charset="0"/>
              </a:rPr>
              <a:t>&amp;</a:t>
            </a:r>
            <a:r>
              <a:rPr sz="4000" b="1" spc="-5" dirty="0">
                <a:latin typeface="Times New Roman" panose="02020603050405020304" pitchFamily="18" charset="0"/>
                <a:cs typeface="Times New Roman" panose="02020603050405020304" pitchFamily="18" charset="0"/>
              </a:rPr>
              <a:t> </a:t>
            </a:r>
            <a:r>
              <a:rPr sz="4000" b="1" spc="-10" dirty="0">
                <a:latin typeface="Times New Roman" panose="02020603050405020304" pitchFamily="18" charset="0"/>
                <a:cs typeface="Times New Roman" panose="02020603050405020304" pitchFamily="18" charset="0"/>
              </a:rPr>
              <a:t>Collection</a:t>
            </a:r>
            <a:endParaRPr sz="4000" dirty="0">
              <a:latin typeface="Times New Roman" panose="02020603050405020304" pitchFamily="18" charset="0"/>
              <a:cs typeface="Times New Roman" panose="02020603050405020304" pitchFamily="18" charset="0"/>
            </a:endParaRPr>
          </a:p>
        </p:txBody>
      </p:sp>
      <p:grpSp>
        <p:nvGrpSpPr>
          <p:cNvPr id="4" name="object 4"/>
          <p:cNvGrpSpPr/>
          <p:nvPr/>
        </p:nvGrpSpPr>
        <p:grpSpPr>
          <a:xfrm>
            <a:off x="647445" y="1348486"/>
            <a:ext cx="2282190" cy="1113155"/>
            <a:chOff x="647445" y="1348486"/>
            <a:chExt cx="2282190" cy="1113155"/>
          </a:xfrm>
        </p:grpSpPr>
        <p:sp>
          <p:nvSpPr>
            <p:cNvPr id="5" name="object 5"/>
            <p:cNvSpPr/>
            <p:nvPr/>
          </p:nvSpPr>
          <p:spPr>
            <a:xfrm>
              <a:off x="657605" y="1358646"/>
              <a:ext cx="2261870" cy="1092835"/>
            </a:xfrm>
            <a:custGeom>
              <a:avLst/>
              <a:gdLst/>
              <a:ahLst/>
              <a:cxnLst/>
              <a:rect l="l" t="t" r="r" b="b"/>
              <a:pathLst>
                <a:path w="2261870" h="1092835">
                  <a:moveTo>
                    <a:pt x="2075052" y="0"/>
                  </a:moveTo>
                  <a:lnTo>
                    <a:pt x="186537" y="0"/>
                  </a:lnTo>
                  <a:lnTo>
                    <a:pt x="127577" y="5567"/>
                  </a:lnTo>
                  <a:lnTo>
                    <a:pt x="76370" y="21071"/>
                  </a:lnTo>
                  <a:lnTo>
                    <a:pt x="35990" y="44714"/>
                  </a:lnTo>
                  <a:lnTo>
                    <a:pt x="9509" y="74696"/>
                  </a:lnTo>
                  <a:lnTo>
                    <a:pt x="0" y="109219"/>
                  </a:lnTo>
                  <a:lnTo>
                    <a:pt x="0" y="983488"/>
                  </a:lnTo>
                  <a:lnTo>
                    <a:pt x="35990" y="1047993"/>
                  </a:lnTo>
                  <a:lnTo>
                    <a:pt x="76370" y="1071636"/>
                  </a:lnTo>
                  <a:lnTo>
                    <a:pt x="127577" y="1087140"/>
                  </a:lnTo>
                  <a:lnTo>
                    <a:pt x="186537" y="1092707"/>
                  </a:lnTo>
                  <a:lnTo>
                    <a:pt x="2075052" y="1092707"/>
                  </a:lnTo>
                  <a:lnTo>
                    <a:pt x="2134006" y="1087140"/>
                  </a:lnTo>
                  <a:lnTo>
                    <a:pt x="2185217" y="1071636"/>
                  </a:lnTo>
                  <a:lnTo>
                    <a:pt x="2225608" y="1047993"/>
                  </a:lnTo>
                  <a:lnTo>
                    <a:pt x="2252101" y="1018011"/>
                  </a:lnTo>
                  <a:lnTo>
                    <a:pt x="2261616" y="983488"/>
                  </a:lnTo>
                  <a:lnTo>
                    <a:pt x="2261616" y="109219"/>
                  </a:lnTo>
                  <a:lnTo>
                    <a:pt x="2225608" y="44714"/>
                  </a:lnTo>
                  <a:lnTo>
                    <a:pt x="2185217" y="21071"/>
                  </a:lnTo>
                  <a:lnTo>
                    <a:pt x="2134006" y="5567"/>
                  </a:lnTo>
                  <a:lnTo>
                    <a:pt x="2075052" y="0"/>
                  </a:lnTo>
                  <a:close/>
                </a:path>
              </a:pathLst>
            </a:custGeom>
            <a:solidFill>
              <a:srgbClr val="EBEBEB"/>
            </a:solidFill>
          </p:spPr>
          <p:txBody>
            <a:bodyPr wrap="square" lIns="0" tIns="0" rIns="0" bIns="0" rtlCol="0"/>
            <a:lstStyle/>
            <a:p>
              <a:endParaRPr/>
            </a:p>
          </p:txBody>
        </p:sp>
        <p:sp>
          <p:nvSpPr>
            <p:cNvPr id="6" name="object 6"/>
            <p:cNvSpPr/>
            <p:nvPr/>
          </p:nvSpPr>
          <p:spPr>
            <a:xfrm>
              <a:off x="657605" y="1358646"/>
              <a:ext cx="2261870" cy="1092835"/>
            </a:xfrm>
            <a:custGeom>
              <a:avLst/>
              <a:gdLst/>
              <a:ahLst/>
              <a:cxnLst/>
              <a:rect l="l" t="t" r="r" b="b"/>
              <a:pathLst>
                <a:path w="2261870" h="1092835">
                  <a:moveTo>
                    <a:pt x="0" y="109219"/>
                  </a:moveTo>
                  <a:lnTo>
                    <a:pt x="35990" y="44714"/>
                  </a:lnTo>
                  <a:lnTo>
                    <a:pt x="76370" y="21071"/>
                  </a:lnTo>
                  <a:lnTo>
                    <a:pt x="127577" y="5567"/>
                  </a:lnTo>
                  <a:lnTo>
                    <a:pt x="186537" y="0"/>
                  </a:lnTo>
                  <a:lnTo>
                    <a:pt x="2075052" y="0"/>
                  </a:lnTo>
                  <a:lnTo>
                    <a:pt x="2134006" y="5567"/>
                  </a:lnTo>
                  <a:lnTo>
                    <a:pt x="2185217" y="21071"/>
                  </a:lnTo>
                  <a:lnTo>
                    <a:pt x="2225608" y="44714"/>
                  </a:lnTo>
                  <a:lnTo>
                    <a:pt x="2252101" y="74696"/>
                  </a:lnTo>
                  <a:lnTo>
                    <a:pt x="2261616" y="109219"/>
                  </a:lnTo>
                  <a:lnTo>
                    <a:pt x="2261616" y="160653"/>
                  </a:lnTo>
                  <a:lnTo>
                    <a:pt x="2261616" y="212085"/>
                  </a:lnTo>
                  <a:lnTo>
                    <a:pt x="2261616" y="983488"/>
                  </a:lnTo>
                  <a:lnTo>
                    <a:pt x="2252101" y="1018011"/>
                  </a:lnTo>
                  <a:lnTo>
                    <a:pt x="2225608" y="1047993"/>
                  </a:lnTo>
                  <a:lnTo>
                    <a:pt x="2185217" y="1071636"/>
                  </a:lnTo>
                  <a:lnTo>
                    <a:pt x="2134006" y="1087140"/>
                  </a:lnTo>
                  <a:lnTo>
                    <a:pt x="2075052" y="1092707"/>
                  </a:lnTo>
                  <a:lnTo>
                    <a:pt x="186537" y="1092707"/>
                  </a:lnTo>
                  <a:lnTo>
                    <a:pt x="127577" y="1087140"/>
                  </a:lnTo>
                  <a:lnTo>
                    <a:pt x="76370" y="1071636"/>
                  </a:lnTo>
                  <a:lnTo>
                    <a:pt x="35990" y="1047993"/>
                  </a:lnTo>
                  <a:lnTo>
                    <a:pt x="9509" y="1018011"/>
                  </a:lnTo>
                  <a:lnTo>
                    <a:pt x="0" y="983488"/>
                  </a:lnTo>
                  <a:lnTo>
                    <a:pt x="0" y="109219"/>
                  </a:lnTo>
                  <a:close/>
                </a:path>
              </a:pathLst>
            </a:custGeom>
            <a:ln w="19811">
              <a:solidFill>
                <a:srgbClr val="0A405F"/>
              </a:solidFill>
            </a:ln>
          </p:spPr>
          <p:txBody>
            <a:bodyPr wrap="square" lIns="0" tIns="0" rIns="0" bIns="0" rtlCol="0"/>
            <a:lstStyle/>
            <a:p>
              <a:endParaRPr/>
            </a:p>
          </p:txBody>
        </p:sp>
      </p:grpSp>
      <p:sp>
        <p:nvSpPr>
          <p:cNvPr id="7" name="object 7"/>
          <p:cNvSpPr txBox="1"/>
          <p:nvPr/>
        </p:nvSpPr>
        <p:spPr>
          <a:xfrm>
            <a:off x="724001" y="1385443"/>
            <a:ext cx="1060450" cy="650875"/>
          </a:xfrm>
          <a:prstGeom prst="rect">
            <a:avLst/>
          </a:prstGeom>
        </p:spPr>
        <p:txBody>
          <a:bodyPr vert="horz" wrap="square" lIns="0" tIns="13335" rIns="0" bIns="0" rtlCol="0">
            <a:spAutoFit/>
          </a:bodyPr>
          <a:lstStyle/>
          <a:p>
            <a:pPr marL="184150" indent="-171450">
              <a:lnSpc>
                <a:spcPct val="100000"/>
              </a:lnSpc>
              <a:spcBef>
                <a:spcPts val="105"/>
              </a:spcBef>
              <a:buChar char="•"/>
              <a:tabLst>
                <a:tab pos="184150" algn="l"/>
              </a:tabLst>
            </a:pPr>
            <a:r>
              <a:rPr sz="2000" spc="-10" dirty="0">
                <a:latin typeface="Times New Roman"/>
                <a:cs typeface="Times New Roman"/>
              </a:rPr>
              <a:t>Services</a:t>
            </a:r>
            <a:endParaRPr sz="2000">
              <a:latin typeface="Times New Roman"/>
              <a:cs typeface="Times New Roman"/>
            </a:endParaRPr>
          </a:p>
          <a:p>
            <a:pPr marL="184150" indent="-171450">
              <a:lnSpc>
                <a:spcPct val="100000"/>
              </a:lnSpc>
              <a:spcBef>
                <a:spcPts val="114"/>
              </a:spcBef>
              <a:buChar char="•"/>
              <a:tabLst>
                <a:tab pos="184150" algn="l"/>
              </a:tabLst>
            </a:pPr>
            <a:r>
              <a:rPr sz="2000" spc="-10" dirty="0">
                <a:latin typeface="Times New Roman"/>
                <a:cs typeface="Times New Roman"/>
              </a:rPr>
              <a:t>Goods</a:t>
            </a:r>
            <a:endParaRPr sz="2000">
              <a:latin typeface="Times New Roman"/>
              <a:cs typeface="Times New Roman"/>
            </a:endParaRPr>
          </a:p>
        </p:txBody>
      </p:sp>
      <p:sp>
        <p:nvSpPr>
          <p:cNvPr id="8" name="object 8"/>
          <p:cNvSpPr txBox="1"/>
          <p:nvPr/>
        </p:nvSpPr>
        <p:spPr>
          <a:xfrm>
            <a:off x="724001" y="2025523"/>
            <a:ext cx="2018664" cy="330835"/>
          </a:xfrm>
          <a:prstGeom prst="rect">
            <a:avLst/>
          </a:prstGeom>
        </p:spPr>
        <p:txBody>
          <a:bodyPr vert="horz" wrap="square" lIns="0" tIns="13335" rIns="0" bIns="0" rtlCol="0">
            <a:spAutoFit/>
          </a:bodyPr>
          <a:lstStyle/>
          <a:p>
            <a:pPr marL="184150" indent="-171450">
              <a:lnSpc>
                <a:spcPct val="100000"/>
              </a:lnSpc>
              <a:spcBef>
                <a:spcPts val="105"/>
              </a:spcBef>
              <a:buChar char="•"/>
              <a:tabLst>
                <a:tab pos="184150" algn="l"/>
              </a:tabLst>
            </a:pPr>
            <a:r>
              <a:rPr sz="2000" dirty="0">
                <a:latin typeface="Times New Roman"/>
                <a:cs typeface="Times New Roman"/>
              </a:rPr>
              <a:t>Goods</a:t>
            </a:r>
            <a:r>
              <a:rPr sz="2000" spc="-40" dirty="0">
                <a:latin typeface="Times New Roman"/>
                <a:cs typeface="Times New Roman"/>
              </a:rPr>
              <a:t> </a:t>
            </a:r>
            <a:r>
              <a:rPr sz="2000" dirty="0">
                <a:latin typeface="Times New Roman"/>
                <a:cs typeface="Times New Roman"/>
              </a:rPr>
              <a:t>as</a:t>
            </a:r>
            <a:r>
              <a:rPr sz="2000" spc="-10" dirty="0">
                <a:latin typeface="Times New Roman"/>
                <a:cs typeface="Times New Roman"/>
              </a:rPr>
              <a:t> services</a:t>
            </a:r>
            <a:endParaRPr sz="2000">
              <a:latin typeface="Times New Roman"/>
              <a:cs typeface="Times New Roman"/>
            </a:endParaRPr>
          </a:p>
        </p:txBody>
      </p:sp>
      <p:grpSp>
        <p:nvGrpSpPr>
          <p:cNvPr id="9" name="object 9"/>
          <p:cNvGrpSpPr/>
          <p:nvPr/>
        </p:nvGrpSpPr>
        <p:grpSpPr>
          <a:xfrm>
            <a:off x="2186685" y="1217422"/>
            <a:ext cx="2030730" cy="819150"/>
            <a:chOff x="2186685" y="1217422"/>
            <a:chExt cx="2030730" cy="819150"/>
          </a:xfrm>
        </p:grpSpPr>
        <p:sp>
          <p:nvSpPr>
            <p:cNvPr id="10" name="object 10"/>
            <p:cNvSpPr/>
            <p:nvPr/>
          </p:nvSpPr>
          <p:spPr>
            <a:xfrm>
              <a:off x="2196845" y="1227582"/>
              <a:ext cx="2010410" cy="798830"/>
            </a:xfrm>
            <a:custGeom>
              <a:avLst/>
              <a:gdLst/>
              <a:ahLst/>
              <a:cxnLst/>
              <a:rect l="l" t="t" r="r" b="b"/>
              <a:pathLst>
                <a:path w="2010410" h="798830">
                  <a:moveTo>
                    <a:pt x="1930273" y="0"/>
                  </a:moveTo>
                  <a:lnTo>
                    <a:pt x="79883" y="0"/>
                  </a:lnTo>
                  <a:lnTo>
                    <a:pt x="48809" y="6284"/>
                  </a:lnTo>
                  <a:lnTo>
                    <a:pt x="23415" y="23415"/>
                  </a:lnTo>
                  <a:lnTo>
                    <a:pt x="6284" y="48809"/>
                  </a:lnTo>
                  <a:lnTo>
                    <a:pt x="0" y="79882"/>
                  </a:lnTo>
                  <a:lnTo>
                    <a:pt x="0" y="718692"/>
                  </a:lnTo>
                  <a:lnTo>
                    <a:pt x="6284" y="749766"/>
                  </a:lnTo>
                  <a:lnTo>
                    <a:pt x="23415" y="775160"/>
                  </a:lnTo>
                  <a:lnTo>
                    <a:pt x="48809" y="792291"/>
                  </a:lnTo>
                  <a:lnTo>
                    <a:pt x="79883" y="798576"/>
                  </a:lnTo>
                  <a:lnTo>
                    <a:pt x="1930273" y="798576"/>
                  </a:lnTo>
                  <a:lnTo>
                    <a:pt x="1961346" y="792291"/>
                  </a:lnTo>
                  <a:lnTo>
                    <a:pt x="1986740" y="775160"/>
                  </a:lnTo>
                  <a:lnTo>
                    <a:pt x="2003871" y="749766"/>
                  </a:lnTo>
                  <a:lnTo>
                    <a:pt x="2010156" y="718692"/>
                  </a:lnTo>
                  <a:lnTo>
                    <a:pt x="2010156" y="79882"/>
                  </a:lnTo>
                  <a:lnTo>
                    <a:pt x="2003871" y="48809"/>
                  </a:lnTo>
                  <a:lnTo>
                    <a:pt x="1986740" y="23415"/>
                  </a:lnTo>
                  <a:lnTo>
                    <a:pt x="1961346" y="6284"/>
                  </a:lnTo>
                  <a:lnTo>
                    <a:pt x="1930273" y="0"/>
                  </a:lnTo>
                  <a:close/>
                </a:path>
              </a:pathLst>
            </a:custGeom>
            <a:solidFill>
              <a:srgbClr val="FFFFFF"/>
            </a:solidFill>
          </p:spPr>
          <p:txBody>
            <a:bodyPr wrap="square" lIns="0" tIns="0" rIns="0" bIns="0" rtlCol="0"/>
            <a:lstStyle/>
            <a:p>
              <a:endParaRPr/>
            </a:p>
          </p:txBody>
        </p:sp>
        <p:sp>
          <p:nvSpPr>
            <p:cNvPr id="11" name="object 11"/>
            <p:cNvSpPr/>
            <p:nvPr/>
          </p:nvSpPr>
          <p:spPr>
            <a:xfrm>
              <a:off x="2196845" y="1227582"/>
              <a:ext cx="2010410" cy="798830"/>
            </a:xfrm>
            <a:custGeom>
              <a:avLst/>
              <a:gdLst/>
              <a:ahLst/>
              <a:cxnLst/>
              <a:rect l="l" t="t" r="r" b="b"/>
              <a:pathLst>
                <a:path w="2010410" h="798830">
                  <a:moveTo>
                    <a:pt x="0" y="79882"/>
                  </a:moveTo>
                  <a:lnTo>
                    <a:pt x="6284" y="48809"/>
                  </a:lnTo>
                  <a:lnTo>
                    <a:pt x="23415" y="23415"/>
                  </a:lnTo>
                  <a:lnTo>
                    <a:pt x="48809" y="6284"/>
                  </a:lnTo>
                  <a:lnTo>
                    <a:pt x="79883" y="0"/>
                  </a:lnTo>
                  <a:lnTo>
                    <a:pt x="1930273" y="0"/>
                  </a:lnTo>
                  <a:lnTo>
                    <a:pt x="1961346" y="6284"/>
                  </a:lnTo>
                  <a:lnTo>
                    <a:pt x="1986740" y="23415"/>
                  </a:lnTo>
                  <a:lnTo>
                    <a:pt x="2003871" y="48809"/>
                  </a:lnTo>
                  <a:lnTo>
                    <a:pt x="2010156" y="79882"/>
                  </a:lnTo>
                  <a:lnTo>
                    <a:pt x="2010156" y="718692"/>
                  </a:lnTo>
                  <a:lnTo>
                    <a:pt x="2003871" y="749766"/>
                  </a:lnTo>
                  <a:lnTo>
                    <a:pt x="1986740" y="775160"/>
                  </a:lnTo>
                  <a:lnTo>
                    <a:pt x="1961346" y="792291"/>
                  </a:lnTo>
                  <a:lnTo>
                    <a:pt x="1930273" y="798576"/>
                  </a:lnTo>
                  <a:lnTo>
                    <a:pt x="79883" y="798576"/>
                  </a:lnTo>
                  <a:lnTo>
                    <a:pt x="48809" y="792291"/>
                  </a:lnTo>
                  <a:lnTo>
                    <a:pt x="23415" y="775160"/>
                  </a:lnTo>
                  <a:lnTo>
                    <a:pt x="6284" y="749766"/>
                  </a:lnTo>
                  <a:lnTo>
                    <a:pt x="0" y="718692"/>
                  </a:lnTo>
                  <a:lnTo>
                    <a:pt x="0" y="79882"/>
                  </a:lnTo>
                  <a:close/>
                </a:path>
              </a:pathLst>
            </a:custGeom>
            <a:ln w="19812">
              <a:solidFill>
                <a:srgbClr val="0A405F"/>
              </a:solidFill>
            </a:ln>
          </p:spPr>
          <p:txBody>
            <a:bodyPr wrap="square" lIns="0" tIns="0" rIns="0" bIns="0" rtlCol="0"/>
            <a:lstStyle/>
            <a:p>
              <a:endParaRPr/>
            </a:p>
          </p:txBody>
        </p:sp>
      </p:grpSp>
      <p:sp>
        <p:nvSpPr>
          <p:cNvPr id="12" name="object 12"/>
          <p:cNvSpPr txBox="1"/>
          <p:nvPr/>
        </p:nvSpPr>
        <p:spPr>
          <a:xfrm>
            <a:off x="2674747" y="1436624"/>
            <a:ext cx="1051560" cy="330835"/>
          </a:xfrm>
          <a:prstGeom prst="rect">
            <a:avLst/>
          </a:prstGeom>
        </p:spPr>
        <p:txBody>
          <a:bodyPr vert="horz" wrap="square" lIns="0" tIns="13335" rIns="0" bIns="0" rtlCol="0">
            <a:spAutoFit/>
          </a:bodyPr>
          <a:lstStyle/>
          <a:p>
            <a:pPr marL="12700">
              <a:lnSpc>
                <a:spcPct val="100000"/>
              </a:lnSpc>
              <a:spcBef>
                <a:spcPts val="105"/>
              </a:spcBef>
            </a:pPr>
            <a:r>
              <a:rPr sz="2000" dirty="0">
                <a:latin typeface="Times New Roman"/>
                <a:cs typeface="Times New Roman"/>
              </a:rPr>
              <a:t>1:</a:t>
            </a:r>
            <a:r>
              <a:rPr sz="2000" spc="-20" dirty="0">
                <a:latin typeface="Times New Roman"/>
                <a:cs typeface="Times New Roman"/>
              </a:rPr>
              <a:t> </a:t>
            </a:r>
            <a:r>
              <a:rPr sz="2000" spc="-10" dirty="0">
                <a:latin typeface="Times New Roman"/>
                <a:cs typeface="Times New Roman"/>
              </a:rPr>
              <a:t>Subject</a:t>
            </a:r>
            <a:endParaRPr sz="2000">
              <a:latin typeface="Times New Roman"/>
              <a:cs typeface="Times New Roman"/>
            </a:endParaRPr>
          </a:p>
        </p:txBody>
      </p:sp>
      <p:grpSp>
        <p:nvGrpSpPr>
          <p:cNvPr id="13" name="object 13"/>
          <p:cNvGrpSpPr/>
          <p:nvPr/>
        </p:nvGrpSpPr>
        <p:grpSpPr>
          <a:xfrm>
            <a:off x="2802382" y="2756661"/>
            <a:ext cx="2593340" cy="1136015"/>
            <a:chOff x="2802382" y="2756661"/>
            <a:chExt cx="2593340" cy="1136015"/>
          </a:xfrm>
        </p:grpSpPr>
        <p:sp>
          <p:nvSpPr>
            <p:cNvPr id="14" name="object 14"/>
            <p:cNvSpPr/>
            <p:nvPr/>
          </p:nvSpPr>
          <p:spPr>
            <a:xfrm>
              <a:off x="2812542" y="2766821"/>
              <a:ext cx="2573020" cy="1115695"/>
            </a:xfrm>
            <a:custGeom>
              <a:avLst/>
              <a:gdLst/>
              <a:ahLst/>
              <a:cxnLst/>
              <a:rect l="l" t="t" r="r" b="b"/>
              <a:pathLst>
                <a:path w="2573020" h="1115695">
                  <a:moveTo>
                    <a:pt x="2360295" y="0"/>
                  </a:moveTo>
                  <a:lnTo>
                    <a:pt x="212216" y="0"/>
                  </a:lnTo>
                  <a:lnTo>
                    <a:pt x="155795" y="3982"/>
                  </a:lnTo>
                  <a:lnTo>
                    <a:pt x="105099" y="15221"/>
                  </a:lnTo>
                  <a:lnTo>
                    <a:pt x="62150" y="32654"/>
                  </a:lnTo>
                  <a:lnTo>
                    <a:pt x="28970" y="55221"/>
                  </a:lnTo>
                  <a:lnTo>
                    <a:pt x="0" y="111505"/>
                  </a:lnTo>
                  <a:lnTo>
                    <a:pt x="0" y="1004061"/>
                  </a:lnTo>
                  <a:lnTo>
                    <a:pt x="28970" y="1060346"/>
                  </a:lnTo>
                  <a:lnTo>
                    <a:pt x="62150" y="1082913"/>
                  </a:lnTo>
                  <a:lnTo>
                    <a:pt x="105099" y="1100346"/>
                  </a:lnTo>
                  <a:lnTo>
                    <a:pt x="155795" y="1111585"/>
                  </a:lnTo>
                  <a:lnTo>
                    <a:pt x="212216" y="1115567"/>
                  </a:lnTo>
                  <a:lnTo>
                    <a:pt x="2360295" y="1115567"/>
                  </a:lnTo>
                  <a:lnTo>
                    <a:pt x="2416716" y="1111585"/>
                  </a:lnTo>
                  <a:lnTo>
                    <a:pt x="2467412" y="1100346"/>
                  </a:lnTo>
                  <a:lnTo>
                    <a:pt x="2510361" y="1082913"/>
                  </a:lnTo>
                  <a:lnTo>
                    <a:pt x="2543541" y="1060346"/>
                  </a:lnTo>
                  <a:lnTo>
                    <a:pt x="2572511" y="1004061"/>
                  </a:lnTo>
                  <a:lnTo>
                    <a:pt x="2572511" y="111505"/>
                  </a:lnTo>
                  <a:lnTo>
                    <a:pt x="2543541" y="55221"/>
                  </a:lnTo>
                  <a:lnTo>
                    <a:pt x="2510361" y="32654"/>
                  </a:lnTo>
                  <a:lnTo>
                    <a:pt x="2467412" y="15221"/>
                  </a:lnTo>
                  <a:lnTo>
                    <a:pt x="2416716" y="3982"/>
                  </a:lnTo>
                  <a:lnTo>
                    <a:pt x="2360295" y="0"/>
                  </a:lnTo>
                  <a:close/>
                </a:path>
              </a:pathLst>
            </a:custGeom>
            <a:solidFill>
              <a:srgbClr val="EBEBEB"/>
            </a:solidFill>
          </p:spPr>
          <p:txBody>
            <a:bodyPr wrap="square" lIns="0" tIns="0" rIns="0" bIns="0" rtlCol="0"/>
            <a:lstStyle/>
            <a:p>
              <a:endParaRPr/>
            </a:p>
          </p:txBody>
        </p:sp>
        <p:sp>
          <p:nvSpPr>
            <p:cNvPr id="15" name="object 15"/>
            <p:cNvSpPr/>
            <p:nvPr/>
          </p:nvSpPr>
          <p:spPr>
            <a:xfrm>
              <a:off x="2812542" y="2766821"/>
              <a:ext cx="2573020" cy="1115695"/>
            </a:xfrm>
            <a:custGeom>
              <a:avLst/>
              <a:gdLst/>
              <a:ahLst/>
              <a:cxnLst/>
              <a:rect l="l" t="t" r="r" b="b"/>
              <a:pathLst>
                <a:path w="2573020" h="1115695">
                  <a:moveTo>
                    <a:pt x="0" y="111505"/>
                  </a:moveTo>
                  <a:lnTo>
                    <a:pt x="28970" y="55221"/>
                  </a:lnTo>
                  <a:lnTo>
                    <a:pt x="62150" y="32654"/>
                  </a:lnTo>
                  <a:lnTo>
                    <a:pt x="105099" y="15221"/>
                  </a:lnTo>
                  <a:lnTo>
                    <a:pt x="155795" y="3982"/>
                  </a:lnTo>
                  <a:lnTo>
                    <a:pt x="212216" y="0"/>
                  </a:lnTo>
                  <a:lnTo>
                    <a:pt x="2360295" y="0"/>
                  </a:lnTo>
                  <a:lnTo>
                    <a:pt x="2416716" y="3982"/>
                  </a:lnTo>
                  <a:lnTo>
                    <a:pt x="2467412" y="15221"/>
                  </a:lnTo>
                  <a:lnTo>
                    <a:pt x="2510361" y="32654"/>
                  </a:lnTo>
                  <a:lnTo>
                    <a:pt x="2543541" y="55221"/>
                  </a:lnTo>
                  <a:lnTo>
                    <a:pt x="2572511" y="111505"/>
                  </a:lnTo>
                  <a:lnTo>
                    <a:pt x="2572511" y="161098"/>
                  </a:lnTo>
                  <a:lnTo>
                    <a:pt x="2572511" y="210688"/>
                  </a:lnTo>
                  <a:lnTo>
                    <a:pt x="2572511" y="1004061"/>
                  </a:lnTo>
                  <a:lnTo>
                    <a:pt x="2564932" y="1033708"/>
                  </a:lnTo>
                  <a:lnTo>
                    <a:pt x="2510361" y="1082913"/>
                  </a:lnTo>
                  <a:lnTo>
                    <a:pt x="2467412" y="1100346"/>
                  </a:lnTo>
                  <a:lnTo>
                    <a:pt x="2416716" y="1111585"/>
                  </a:lnTo>
                  <a:lnTo>
                    <a:pt x="2360295" y="1115567"/>
                  </a:lnTo>
                  <a:lnTo>
                    <a:pt x="212216" y="1115567"/>
                  </a:lnTo>
                  <a:lnTo>
                    <a:pt x="155795" y="1111585"/>
                  </a:lnTo>
                  <a:lnTo>
                    <a:pt x="105099" y="1100346"/>
                  </a:lnTo>
                  <a:lnTo>
                    <a:pt x="62150" y="1082913"/>
                  </a:lnTo>
                  <a:lnTo>
                    <a:pt x="28970" y="1060346"/>
                  </a:lnTo>
                  <a:lnTo>
                    <a:pt x="0" y="1004061"/>
                  </a:lnTo>
                  <a:lnTo>
                    <a:pt x="0" y="111505"/>
                  </a:lnTo>
                  <a:close/>
                </a:path>
              </a:pathLst>
            </a:custGeom>
            <a:ln w="19812">
              <a:solidFill>
                <a:srgbClr val="0A405F"/>
              </a:solidFill>
            </a:ln>
          </p:spPr>
          <p:txBody>
            <a:bodyPr wrap="square" lIns="0" tIns="0" rIns="0" bIns="0" rtlCol="0"/>
            <a:lstStyle/>
            <a:p>
              <a:endParaRPr/>
            </a:p>
          </p:txBody>
        </p:sp>
      </p:grpSp>
      <p:sp>
        <p:nvSpPr>
          <p:cNvPr id="16" name="object 16"/>
          <p:cNvSpPr txBox="1"/>
          <p:nvPr/>
        </p:nvSpPr>
        <p:spPr>
          <a:xfrm>
            <a:off x="2878963" y="3462273"/>
            <a:ext cx="1160145" cy="330835"/>
          </a:xfrm>
          <a:prstGeom prst="rect">
            <a:avLst/>
          </a:prstGeom>
        </p:spPr>
        <p:txBody>
          <a:bodyPr vert="horz" wrap="square" lIns="0" tIns="13335" rIns="0" bIns="0" rtlCol="0">
            <a:spAutoFit/>
          </a:bodyPr>
          <a:lstStyle/>
          <a:p>
            <a:pPr marL="184150" indent="-171450">
              <a:lnSpc>
                <a:spcPct val="100000"/>
              </a:lnSpc>
              <a:spcBef>
                <a:spcPts val="105"/>
              </a:spcBef>
              <a:buChar char="•"/>
              <a:tabLst>
                <a:tab pos="184150" algn="l"/>
              </a:tabLst>
            </a:pPr>
            <a:r>
              <a:rPr sz="2000" spc="-10" dirty="0">
                <a:latin typeface="Times New Roman"/>
                <a:cs typeface="Times New Roman"/>
              </a:rPr>
              <a:t>Excluded</a:t>
            </a:r>
            <a:endParaRPr sz="2000">
              <a:latin typeface="Times New Roman"/>
              <a:cs typeface="Times New Roman"/>
            </a:endParaRPr>
          </a:p>
        </p:txBody>
      </p:sp>
      <p:grpSp>
        <p:nvGrpSpPr>
          <p:cNvPr id="17" name="object 17"/>
          <p:cNvGrpSpPr/>
          <p:nvPr/>
        </p:nvGrpSpPr>
        <p:grpSpPr>
          <a:xfrm>
            <a:off x="4116070" y="2332989"/>
            <a:ext cx="2030730" cy="819150"/>
            <a:chOff x="4116070" y="2332989"/>
            <a:chExt cx="2030730" cy="819150"/>
          </a:xfrm>
        </p:grpSpPr>
        <p:sp>
          <p:nvSpPr>
            <p:cNvPr id="18" name="object 18"/>
            <p:cNvSpPr/>
            <p:nvPr/>
          </p:nvSpPr>
          <p:spPr>
            <a:xfrm>
              <a:off x="4126230" y="2343149"/>
              <a:ext cx="2010410" cy="798830"/>
            </a:xfrm>
            <a:custGeom>
              <a:avLst/>
              <a:gdLst/>
              <a:ahLst/>
              <a:cxnLst/>
              <a:rect l="l" t="t" r="r" b="b"/>
              <a:pathLst>
                <a:path w="2010410" h="798830">
                  <a:moveTo>
                    <a:pt x="1930273" y="0"/>
                  </a:moveTo>
                  <a:lnTo>
                    <a:pt x="79883" y="0"/>
                  </a:lnTo>
                  <a:lnTo>
                    <a:pt x="48809" y="6284"/>
                  </a:lnTo>
                  <a:lnTo>
                    <a:pt x="23415" y="23415"/>
                  </a:lnTo>
                  <a:lnTo>
                    <a:pt x="6284" y="48809"/>
                  </a:lnTo>
                  <a:lnTo>
                    <a:pt x="0" y="79883"/>
                  </a:lnTo>
                  <a:lnTo>
                    <a:pt x="0" y="718692"/>
                  </a:lnTo>
                  <a:lnTo>
                    <a:pt x="6284" y="749766"/>
                  </a:lnTo>
                  <a:lnTo>
                    <a:pt x="23415" y="775160"/>
                  </a:lnTo>
                  <a:lnTo>
                    <a:pt x="48809" y="792291"/>
                  </a:lnTo>
                  <a:lnTo>
                    <a:pt x="79883" y="798576"/>
                  </a:lnTo>
                  <a:lnTo>
                    <a:pt x="1930273" y="798576"/>
                  </a:lnTo>
                  <a:lnTo>
                    <a:pt x="1961346" y="792291"/>
                  </a:lnTo>
                  <a:lnTo>
                    <a:pt x="1986740" y="775160"/>
                  </a:lnTo>
                  <a:lnTo>
                    <a:pt x="2003871" y="749766"/>
                  </a:lnTo>
                  <a:lnTo>
                    <a:pt x="2010156" y="718692"/>
                  </a:lnTo>
                  <a:lnTo>
                    <a:pt x="2010156" y="79883"/>
                  </a:lnTo>
                  <a:lnTo>
                    <a:pt x="2003871" y="48809"/>
                  </a:lnTo>
                  <a:lnTo>
                    <a:pt x="1986740" y="23415"/>
                  </a:lnTo>
                  <a:lnTo>
                    <a:pt x="1961346" y="6284"/>
                  </a:lnTo>
                  <a:lnTo>
                    <a:pt x="1930273" y="0"/>
                  </a:lnTo>
                  <a:close/>
                </a:path>
              </a:pathLst>
            </a:custGeom>
            <a:solidFill>
              <a:srgbClr val="FFFFFF"/>
            </a:solidFill>
          </p:spPr>
          <p:txBody>
            <a:bodyPr wrap="square" lIns="0" tIns="0" rIns="0" bIns="0" rtlCol="0"/>
            <a:lstStyle/>
            <a:p>
              <a:endParaRPr/>
            </a:p>
          </p:txBody>
        </p:sp>
        <p:sp>
          <p:nvSpPr>
            <p:cNvPr id="19" name="object 19"/>
            <p:cNvSpPr/>
            <p:nvPr/>
          </p:nvSpPr>
          <p:spPr>
            <a:xfrm>
              <a:off x="4126230" y="2343149"/>
              <a:ext cx="2010410" cy="798830"/>
            </a:xfrm>
            <a:custGeom>
              <a:avLst/>
              <a:gdLst/>
              <a:ahLst/>
              <a:cxnLst/>
              <a:rect l="l" t="t" r="r" b="b"/>
              <a:pathLst>
                <a:path w="2010410" h="798830">
                  <a:moveTo>
                    <a:pt x="0" y="79883"/>
                  </a:moveTo>
                  <a:lnTo>
                    <a:pt x="6284" y="48809"/>
                  </a:lnTo>
                  <a:lnTo>
                    <a:pt x="23415" y="23415"/>
                  </a:lnTo>
                  <a:lnTo>
                    <a:pt x="48809" y="6284"/>
                  </a:lnTo>
                  <a:lnTo>
                    <a:pt x="79883" y="0"/>
                  </a:lnTo>
                  <a:lnTo>
                    <a:pt x="1930273" y="0"/>
                  </a:lnTo>
                  <a:lnTo>
                    <a:pt x="1961346" y="6284"/>
                  </a:lnTo>
                  <a:lnTo>
                    <a:pt x="1986740" y="23415"/>
                  </a:lnTo>
                  <a:lnTo>
                    <a:pt x="2003871" y="48809"/>
                  </a:lnTo>
                  <a:lnTo>
                    <a:pt x="2010156" y="79883"/>
                  </a:lnTo>
                  <a:lnTo>
                    <a:pt x="2010156" y="718692"/>
                  </a:lnTo>
                  <a:lnTo>
                    <a:pt x="2003871" y="749766"/>
                  </a:lnTo>
                  <a:lnTo>
                    <a:pt x="1986740" y="775160"/>
                  </a:lnTo>
                  <a:lnTo>
                    <a:pt x="1961346" y="792291"/>
                  </a:lnTo>
                  <a:lnTo>
                    <a:pt x="1930273" y="798576"/>
                  </a:lnTo>
                  <a:lnTo>
                    <a:pt x="79883" y="798576"/>
                  </a:lnTo>
                  <a:lnTo>
                    <a:pt x="48809" y="792291"/>
                  </a:lnTo>
                  <a:lnTo>
                    <a:pt x="23415" y="775160"/>
                  </a:lnTo>
                  <a:lnTo>
                    <a:pt x="6284" y="749766"/>
                  </a:lnTo>
                  <a:lnTo>
                    <a:pt x="0" y="718692"/>
                  </a:lnTo>
                  <a:lnTo>
                    <a:pt x="0" y="79883"/>
                  </a:lnTo>
                  <a:close/>
                </a:path>
              </a:pathLst>
            </a:custGeom>
            <a:ln w="19812">
              <a:solidFill>
                <a:srgbClr val="0A405F"/>
              </a:solidFill>
            </a:ln>
          </p:spPr>
          <p:txBody>
            <a:bodyPr wrap="square" lIns="0" tIns="0" rIns="0" bIns="0" rtlCol="0"/>
            <a:lstStyle/>
            <a:p>
              <a:endParaRPr/>
            </a:p>
          </p:txBody>
        </p:sp>
      </p:grpSp>
      <p:sp>
        <p:nvSpPr>
          <p:cNvPr id="20" name="object 20"/>
          <p:cNvSpPr txBox="1"/>
          <p:nvPr/>
        </p:nvSpPr>
        <p:spPr>
          <a:xfrm>
            <a:off x="2878963" y="2552445"/>
            <a:ext cx="2757170" cy="920750"/>
          </a:xfrm>
          <a:prstGeom prst="rect">
            <a:avLst/>
          </a:prstGeom>
        </p:spPr>
        <p:txBody>
          <a:bodyPr vert="horz" wrap="square" lIns="0" tIns="13335" rIns="0" bIns="0" rtlCol="0">
            <a:spAutoFit/>
          </a:bodyPr>
          <a:lstStyle/>
          <a:p>
            <a:pPr marL="1760220">
              <a:lnSpc>
                <a:spcPts val="2260"/>
              </a:lnSpc>
              <a:spcBef>
                <a:spcPts val="105"/>
              </a:spcBef>
            </a:pPr>
            <a:r>
              <a:rPr sz="2000" dirty="0">
                <a:latin typeface="Times New Roman"/>
                <a:cs typeface="Times New Roman"/>
              </a:rPr>
              <a:t>2:</a:t>
            </a:r>
            <a:r>
              <a:rPr sz="2000" spc="-20" dirty="0">
                <a:latin typeface="Times New Roman"/>
                <a:cs typeface="Times New Roman"/>
              </a:rPr>
              <a:t> </a:t>
            </a:r>
            <a:r>
              <a:rPr sz="2000" spc="-10" dirty="0">
                <a:latin typeface="Times New Roman"/>
                <a:cs typeface="Times New Roman"/>
              </a:rPr>
              <a:t>Supply</a:t>
            </a:r>
            <a:endParaRPr sz="2000">
              <a:latin typeface="Times New Roman"/>
              <a:cs typeface="Times New Roman"/>
            </a:endParaRPr>
          </a:p>
          <a:p>
            <a:pPr marL="184150" indent="-171450">
              <a:lnSpc>
                <a:spcPts val="2260"/>
              </a:lnSpc>
              <a:buChar char="•"/>
              <a:tabLst>
                <a:tab pos="184150" algn="l"/>
              </a:tabLst>
            </a:pPr>
            <a:r>
              <a:rPr sz="2000" spc="-10" dirty="0">
                <a:latin typeface="Times New Roman"/>
                <a:cs typeface="Times New Roman"/>
              </a:rPr>
              <a:t>Included</a:t>
            </a:r>
            <a:endParaRPr sz="2000">
              <a:latin typeface="Times New Roman"/>
              <a:cs typeface="Times New Roman"/>
            </a:endParaRPr>
          </a:p>
          <a:p>
            <a:pPr marL="184150" indent="-171450">
              <a:lnSpc>
                <a:spcPct val="100000"/>
              </a:lnSpc>
              <a:spcBef>
                <a:spcPts val="114"/>
              </a:spcBef>
              <a:buChar char="•"/>
              <a:tabLst>
                <a:tab pos="184150" algn="l"/>
              </a:tabLst>
            </a:pPr>
            <a:r>
              <a:rPr sz="2000" spc="-10" dirty="0">
                <a:latin typeface="Times New Roman"/>
                <a:cs typeface="Times New Roman"/>
              </a:rPr>
              <a:t>Implied</a:t>
            </a:r>
            <a:endParaRPr sz="2000">
              <a:latin typeface="Times New Roman"/>
              <a:cs typeface="Times New Roman"/>
            </a:endParaRPr>
          </a:p>
        </p:txBody>
      </p:sp>
      <p:grpSp>
        <p:nvGrpSpPr>
          <p:cNvPr id="21" name="object 21"/>
          <p:cNvGrpSpPr/>
          <p:nvPr/>
        </p:nvGrpSpPr>
        <p:grpSpPr>
          <a:xfrm>
            <a:off x="8311895" y="4640579"/>
            <a:ext cx="3075940" cy="1609725"/>
            <a:chOff x="8311895" y="4640579"/>
            <a:chExt cx="3075940" cy="1609725"/>
          </a:xfrm>
        </p:grpSpPr>
        <p:sp>
          <p:nvSpPr>
            <p:cNvPr id="22" name="object 22"/>
            <p:cNvSpPr/>
            <p:nvPr/>
          </p:nvSpPr>
          <p:spPr>
            <a:xfrm>
              <a:off x="8321801" y="5097017"/>
              <a:ext cx="2799715" cy="1143000"/>
            </a:xfrm>
            <a:custGeom>
              <a:avLst/>
              <a:gdLst/>
              <a:ahLst/>
              <a:cxnLst/>
              <a:rect l="l" t="t" r="r" b="b"/>
              <a:pathLst>
                <a:path w="2799715" h="1143000">
                  <a:moveTo>
                    <a:pt x="2568702" y="0"/>
                  </a:moveTo>
                  <a:lnTo>
                    <a:pt x="230886" y="0"/>
                  </a:lnTo>
                  <a:lnTo>
                    <a:pt x="169509" y="4083"/>
                  </a:lnTo>
                  <a:lnTo>
                    <a:pt x="114356" y="15606"/>
                  </a:lnTo>
                  <a:lnTo>
                    <a:pt x="67627" y="33480"/>
                  </a:lnTo>
                  <a:lnTo>
                    <a:pt x="31524" y="56613"/>
                  </a:lnTo>
                  <a:lnTo>
                    <a:pt x="0" y="114299"/>
                  </a:lnTo>
                  <a:lnTo>
                    <a:pt x="0" y="1028699"/>
                  </a:lnTo>
                  <a:lnTo>
                    <a:pt x="31524" y="1086391"/>
                  </a:lnTo>
                  <a:lnTo>
                    <a:pt x="67627" y="1109524"/>
                  </a:lnTo>
                  <a:lnTo>
                    <a:pt x="114356" y="1127395"/>
                  </a:lnTo>
                  <a:lnTo>
                    <a:pt x="169509" y="1138917"/>
                  </a:lnTo>
                  <a:lnTo>
                    <a:pt x="230886" y="1142999"/>
                  </a:lnTo>
                  <a:lnTo>
                    <a:pt x="2568702" y="1142999"/>
                  </a:lnTo>
                  <a:lnTo>
                    <a:pt x="2630078" y="1138917"/>
                  </a:lnTo>
                  <a:lnTo>
                    <a:pt x="2685231" y="1127395"/>
                  </a:lnTo>
                  <a:lnTo>
                    <a:pt x="2731960" y="1109524"/>
                  </a:lnTo>
                  <a:lnTo>
                    <a:pt x="2768063" y="1086391"/>
                  </a:lnTo>
                  <a:lnTo>
                    <a:pt x="2799588" y="1028699"/>
                  </a:lnTo>
                  <a:lnTo>
                    <a:pt x="2799588" y="114299"/>
                  </a:lnTo>
                  <a:lnTo>
                    <a:pt x="2768063" y="56613"/>
                  </a:lnTo>
                  <a:lnTo>
                    <a:pt x="2731960" y="33480"/>
                  </a:lnTo>
                  <a:lnTo>
                    <a:pt x="2685231" y="15606"/>
                  </a:lnTo>
                  <a:lnTo>
                    <a:pt x="2630078" y="4083"/>
                  </a:lnTo>
                  <a:lnTo>
                    <a:pt x="2568702" y="0"/>
                  </a:lnTo>
                  <a:close/>
                </a:path>
              </a:pathLst>
            </a:custGeom>
            <a:solidFill>
              <a:srgbClr val="EBEBEB"/>
            </a:solidFill>
          </p:spPr>
          <p:txBody>
            <a:bodyPr wrap="square" lIns="0" tIns="0" rIns="0" bIns="0" rtlCol="0"/>
            <a:lstStyle/>
            <a:p>
              <a:endParaRPr/>
            </a:p>
          </p:txBody>
        </p:sp>
        <p:sp>
          <p:nvSpPr>
            <p:cNvPr id="23" name="object 23"/>
            <p:cNvSpPr/>
            <p:nvPr/>
          </p:nvSpPr>
          <p:spPr>
            <a:xfrm>
              <a:off x="8321801" y="5097017"/>
              <a:ext cx="2799715" cy="1143000"/>
            </a:xfrm>
            <a:custGeom>
              <a:avLst/>
              <a:gdLst/>
              <a:ahLst/>
              <a:cxnLst/>
              <a:rect l="l" t="t" r="r" b="b"/>
              <a:pathLst>
                <a:path w="2799715" h="1143000">
                  <a:moveTo>
                    <a:pt x="0" y="114299"/>
                  </a:moveTo>
                  <a:lnTo>
                    <a:pt x="31524" y="56613"/>
                  </a:lnTo>
                  <a:lnTo>
                    <a:pt x="67627" y="33480"/>
                  </a:lnTo>
                  <a:lnTo>
                    <a:pt x="114356" y="15606"/>
                  </a:lnTo>
                  <a:lnTo>
                    <a:pt x="169509" y="4083"/>
                  </a:lnTo>
                  <a:lnTo>
                    <a:pt x="230886" y="0"/>
                  </a:lnTo>
                  <a:lnTo>
                    <a:pt x="2568702" y="0"/>
                  </a:lnTo>
                  <a:lnTo>
                    <a:pt x="2630078" y="4083"/>
                  </a:lnTo>
                  <a:lnTo>
                    <a:pt x="2685231" y="15606"/>
                  </a:lnTo>
                  <a:lnTo>
                    <a:pt x="2731960" y="33480"/>
                  </a:lnTo>
                  <a:lnTo>
                    <a:pt x="2768063" y="56613"/>
                  </a:lnTo>
                  <a:lnTo>
                    <a:pt x="2799588" y="114299"/>
                  </a:lnTo>
                  <a:lnTo>
                    <a:pt x="2799588" y="165099"/>
                  </a:lnTo>
                  <a:lnTo>
                    <a:pt x="2799588" y="215899"/>
                  </a:lnTo>
                  <a:lnTo>
                    <a:pt x="2799588" y="1028699"/>
                  </a:lnTo>
                  <a:lnTo>
                    <a:pt x="2791340" y="1059087"/>
                  </a:lnTo>
                  <a:lnTo>
                    <a:pt x="2731960" y="1109524"/>
                  </a:lnTo>
                  <a:lnTo>
                    <a:pt x="2685231" y="1127395"/>
                  </a:lnTo>
                  <a:lnTo>
                    <a:pt x="2630078" y="1138917"/>
                  </a:lnTo>
                  <a:lnTo>
                    <a:pt x="2568702" y="1142999"/>
                  </a:lnTo>
                  <a:lnTo>
                    <a:pt x="230886" y="1142999"/>
                  </a:lnTo>
                  <a:lnTo>
                    <a:pt x="169509" y="1138917"/>
                  </a:lnTo>
                  <a:lnTo>
                    <a:pt x="114356" y="1127395"/>
                  </a:lnTo>
                  <a:lnTo>
                    <a:pt x="67627" y="1109524"/>
                  </a:lnTo>
                  <a:lnTo>
                    <a:pt x="31524" y="1086391"/>
                  </a:lnTo>
                  <a:lnTo>
                    <a:pt x="0" y="1028699"/>
                  </a:lnTo>
                  <a:lnTo>
                    <a:pt x="0" y="114299"/>
                  </a:lnTo>
                  <a:close/>
                </a:path>
              </a:pathLst>
            </a:custGeom>
            <a:ln w="19812">
              <a:solidFill>
                <a:srgbClr val="0A405F"/>
              </a:solidFill>
            </a:ln>
          </p:spPr>
          <p:txBody>
            <a:bodyPr wrap="square" lIns="0" tIns="0" rIns="0" bIns="0" rtlCol="0"/>
            <a:lstStyle/>
            <a:p>
              <a:endParaRPr/>
            </a:p>
          </p:txBody>
        </p:sp>
        <p:sp>
          <p:nvSpPr>
            <p:cNvPr id="24" name="object 24"/>
            <p:cNvSpPr/>
            <p:nvPr/>
          </p:nvSpPr>
          <p:spPr>
            <a:xfrm>
              <a:off x="9367265" y="4650485"/>
              <a:ext cx="2010410" cy="798830"/>
            </a:xfrm>
            <a:custGeom>
              <a:avLst/>
              <a:gdLst/>
              <a:ahLst/>
              <a:cxnLst/>
              <a:rect l="l" t="t" r="r" b="b"/>
              <a:pathLst>
                <a:path w="2010409" h="798829">
                  <a:moveTo>
                    <a:pt x="1930273" y="0"/>
                  </a:moveTo>
                  <a:lnTo>
                    <a:pt x="79882" y="0"/>
                  </a:lnTo>
                  <a:lnTo>
                    <a:pt x="48809" y="6284"/>
                  </a:lnTo>
                  <a:lnTo>
                    <a:pt x="23415" y="23415"/>
                  </a:lnTo>
                  <a:lnTo>
                    <a:pt x="6284" y="48809"/>
                  </a:lnTo>
                  <a:lnTo>
                    <a:pt x="0" y="79882"/>
                  </a:lnTo>
                  <a:lnTo>
                    <a:pt x="0" y="718692"/>
                  </a:lnTo>
                  <a:lnTo>
                    <a:pt x="6284" y="749766"/>
                  </a:lnTo>
                  <a:lnTo>
                    <a:pt x="23415" y="775160"/>
                  </a:lnTo>
                  <a:lnTo>
                    <a:pt x="48809" y="792291"/>
                  </a:lnTo>
                  <a:lnTo>
                    <a:pt x="79882" y="798576"/>
                  </a:lnTo>
                  <a:lnTo>
                    <a:pt x="1930273" y="798576"/>
                  </a:lnTo>
                  <a:lnTo>
                    <a:pt x="1961346" y="792291"/>
                  </a:lnTo>
                  <a:lnTo>
                    <a:pt x="1986740" y="775160"/>
                  </a:lnTo>
                  <a:lnTo>
                    <a:pt x="2003871" y="749766"/>
                  </a:lnTo>
                  <a:lnTo>
                    <a:pt x="2010155" y="718692"/>
                  </a:lnTo>
                  <a:lnTo>
                    <a:pt x="2010155" y="79882"/>
                  </a:lnTo>
                  <a:lnTo>
                    <a:pt x="2003871" y="48809"/>
                  </a:lnTo>
                  <a:lnTo>
                    <a:pt x="1986740" y="23415"/>
                  </a:lnTo>
                  <a:lnTo>
                    <a:pt x="1961346" y="6284"/>
                  </a:lnTo>
                  <a:lnTo>
                    <a:pt x="1930273" y="0"/>
                  </a:lnTo>
                  <a:close/>
                </a:path>
              </a:pathLst>
            </a:custGeom>
            <a:solidFill>
              <a:srgbClr val="FFFFFF"/>
            </a:solidFill>
          </p:spPr>
          <p:txBody>
            <a:bodyPr wrap="square" lIns="0" tIns="0" rIns="0" bIns="0" rtlCol="0"/>
            <a:lstStyle/>
            <a:p>
              <a:endParaRPr/>
            </a:p>
          </p:txBody>
        </p:sp>
        <p:sp>
          <p:nvSpPr>
            <p:cNvPr id="25" name="object 25"/>
            <p:cNvSpPr/>
            <p:nvPr/>
          </p:nvSpPr>
          <p:spPr>
            <a:xfrm>
              <a:off x="9367265" y="4650485"/>
              <a:ext cx="2010410" cy="798830"/>
            </a:xfrm>
            <a:custGeom>
              <a:avLst/>
              <a:gdLst/>
              <a:ahLst/>
              <a:cxnLst/>
              <a:rect l="l" t="t" r="r" b="b"/>
              <a:pathLst>
                <a:path w="2010409" h="798829">
                  <a:moveTo>
                    <a:pt x="0" y="79882"/>
                  </a:moveTo>
                  <a:lnTo>
                    <a:pt x="6284" y="48809"/>
                  </a:lnTo>
                  <a:lnTo>
                    <a:pt x="23415" y="23415"/>
                  </a:lnTo>
                  <a:lnTo>
                    <a:pt x="48809" y="6284"/>
                  </a:lnTo>
                  <a:lnTo>
                    <a:pt x="79882" y="0"/>
                  </a:lnTo>
                  <a:lnTo>
                    <a:pt x="1930273" y="0"/>
                  </a:lnTo>
                  <a:lnTo>
                    <a:pt x="1961346" y="6284"/>
                  </a:lnTo>
                  <a:lnTo>
                    <a:pt x="1986740" y="23415"/>
                  </a:lnTo>
                  <a:lnTo>
                    <a:pt x="2003871" y="48809"/>
                  </a:lnTo>
                  <a:lnTo>
                    <a:pt x="2010155" y="79882"/>
                  </a:lnTo>
                  <a:lnTo>
                    <a:pt x="2010155" y="718692"/>
                  </a:lnTo>
                  <a:lnTo>
                    <a:pt x="2003871" y="749766"/>
                  </a:lnTo>
                  <a:lnTo>
                    <a:pt x="1986740" y="775160"/>
                  </a:lnTo>
                  <a:lnTo>
                    <a:pt x="1961346" y="792291"/>
                  </a:lnTo>
                  <a:lnTo>
                    <a:pt x="1930273" y="798576"/>
                  </a:lnTo>
                  <a:lnTo>
                    <a:pt x="79882" y="798576"/>
                  </a:lnTo>
                  <a:lnTo>
                    <a:pt x="48809" y="792291"/>
                  </a:lnTo>
                  <a:lnTo>
                    <a:pt x="23415" y="775160"/>
                  </a:lnTo>
                  <a:lnTo>
                    <a:pt x="6284" y="749766"/>
                  </a:lnTo>
                  <a:lnTo>
                    <a:pt x="0" y="718692"/>
                  </a:lnTo>
                  <a:lnTo>
                    <a:pt x="0" y="79882"/>
                  </a:lnTo>
                  <a:close/>
                </a:path>
              </a:pathLst>
            </a:custGeom>
            <a:ln w="19812">
              <a:solidFill>
                <a:srgbClr val="0A405F"/>
              </a:solidFill>
            </a:ln>
          </p:spPr>
          <p:txBody>
            <a:bodyPr wrap="square" lIns="0" tIns="0" rIns="0" bIns="0" rtlCol="0"/>
            <a:lstStyle/>
            <a:p>
              <a:endParaRPr/>
            </a:p>
          </p:txBody>
        </p:sp>
      </p:grpSp>
      <p:sp>
        <p:nvSpPr>
          <p:cNvPr id="26" name="object 26"/>
          <p:cNvSpPr txBox="1"/>
          <p:nvPr/>
        </p:nvSpPr>
        <p:spPr>
          <a:xfrm>
            <a:off x="8388222" y="4860416"/>
            <a:ext cx="2396490" cy="1234440"/>
          </a:xfrm>
          <a:prstGeom prst="rect">
            <a:avLst/>
          </a:prstGeom>
        </p:spPr>
        <p:txBody>
          <a:bodyPr vert="horz" wrap="square" lIns="0" tIns="12700" rIns="0" bIns="0" rtlCol="0">
            <a:spAutoFit/>
          </a:bodyPr>
          <a:lstStyle/>
          <a:p>
            <a:pPr marL="1594485">
              <a:lnSpc>
                <a:spcPct val="100000"/>
              </a:lnSpc>
              <a:spcBef>
                <a:spcPts val="100"/>
              </a:spcBef>
            </a:pPr>
            <a:r>
              <a:rPr sz="2000" dirty="0">
                <a:latin typeface="Times New Roman"/>
                <a:cs typeface="Times New Roman"/>
              </a:rPr>
              <a:t>4:</a:t>
            </a:r>
            <a:r>
              <a:rPr sz="2000" spc="-45" dirty="0">
                <a:latin typeface="Times New Roman"/>
                <a:cs typeface="Times New Roman"/>
              </a:rPr>
              <a:t> </a:t>
            </a:r>
            <a:r>
              <a:rPr sz="2000" spc="-20" dirty="0">
                <a:latin typeface="Times New Roman"/>
                <a:cs typeface="Times New Roman"/>
              </a:rPr>
              <a:t>Time</a:t>
            </a:r>
            <a:endParaRPr sz="2000">
              <a:latin typeface="Times New Roman"/>
              <a:cs typeface="Times New Roman"/>
            </a:endParaRPr>
          </a:p>
          <a:p>
            <a:pPr marL="184150" indent="-171450">
              <a:lnSpc>
                <a:spcPct val="100000"/>
              </a:lnSpc>
              <a:spcBef>
                <a:spcPts val="2195"/>
              </a:spcBef>
              <a:buChar char="•"/>
              <a:tabLst>
                <a:tab pos="184150" algn="l"/>
              </a:tabLst>
            </a:pPr>
            <a:r>
              <a:rPr sz="2000" dirty="0">
                <a:latin typeface="Times New Roman"/>
                <a:cs typeface="Times New Roman"/>
              </a:rPr>
              <a:t>Specified</a:t>
            </a:r>
            <a:r>
              <a:rPr sz="2000" spc="-40" dirty="0">
                <a:latin typeface="Times New Roman"/>
                <a:cs typeface="Times New Roman"/>
              </a:rPr>
              <a:t> </a:t>
            </a:r>
            <a:r>
              <a:rPr sz="2000" dirty="0">
                <a:latin typeface="Times New Roman"/>
                <a:cs typeface="Times New Roman"/>
              </a:rPr>
              <a:t>for</a:t>
            </a:r>
            <a:r>
              <a:rPr sz="2000" spc="-30" dirty="0">
                <a:latin typeface="Times New Roman"/>
                <a:cs typeface="Times New Roman"/>
              </a:rPr>
              <a:t> </a:t>
            </a:r>
            <a:r>
              <a:rPr sz="2000" spc="-20" dirty="0">
                <a:latin typeface="Times New Roman"/>
                <a:cs typeface="Times New Roman"/>
              </a:rPr>
              <a:t>goods</a:t>
            </a:r>
            <a:endParaRPr sz="2000">
              <a:latin typeface="Times New Roman"/>
              <a:cs typeface="Times New Roman"/>
            </a:endParaRPr>
          </a:p>
          <a:p>
            <a:pPr marL="184150" indent="-171450">
              <a:lnSpc>
                <a:spcPct val="100000"/>
              </a:lnSpc>
              <a:spcBef>
                <a:spcPts val="120"/>
              </a:spcBef>
              <a:buChar char="•"/>
              <a:tabLst>
                <a:tab pos="184150" algn="l"/>
              </a:tabLst>
            </a:pPr>
            <a:r>
              <a:rPr sz="2000" dirty="0">
                <a:latin typeface="Times New Roman"/>
                <a:cs typeface="Times New Roman"/>
              </a:rPr>
              <a:t>Specified</a:t>
            </a:r>
            <a:r>
              <a:rPr sz="2000" spc="-30" dirty="0">
                <a:latin typeface="Times New Roman"/>
                <a:cs typeface="Times New Roman"/>
              </a:rPr>
              <a:t> </a:t>
            </a:r>
            <a:r>
              <a:rPr sz="2000" dirty="0">
                <a:latin typeface="Times New Roman"/>
                <a:cs typeface="Times New Roman"/>
              </a:rPr>
              <a:t>for</a:t>
            </a:r>
            <a:r>
              <a:rPr sz="2000" spc="-30" dirty="0">
                <a:latin typeface="Times New Roman"/>
                <a:cs typeface="Times New Roman"/>
              </a:rPr>
              <a:t> </a:t>
            </a:r>
            <a:r>
              <a:rPr sz="2000" spc="-10" dirty="0">
                <a:latin typeface="Times New Roman"/>
                <a:cs typeface="Times New Roman"/>
              </a:rPr>
              <a:t>services</a:t>
            </a:r>
            <a:endParaRPr sz="2000">
              <a:latin typeface="Times New Roman"/>
              <a:cs typeface="Times New Roman"/>
            </a:endParaRPr>
          </a:p>
        </p:txBody>
      </p:sp>
      <p:grpSp>
        <p:nvGrpSpPr>
          <p:cNvPr id="27" name="object 27"/>
          <p:cNvGrpSpPr/>
          <p:nvPr/>
        </p:nvGrpSpPr>
        <p:grpSpPr>
          <a:xfrm>
            <a:off x="1534413" y="2505201"/>
            <a:ext cx="6729095" cy="3352165"/>
            <a:chOff x="1534413" y="2505201"/>
            <a:chExt cx="6729095" cy="3352165"/>
          </a:xfrm>
        </p:grpSpPr>
        <p:sp>
          <p:nvSpPr>
            <p:cNvPr id="28" name="object 28"/>
            <p:cNvSpPr/>
            <p:nvPr/>
          </p:nvSpPr>
          <p:spPr>
            <a:xfrm>
              <a:off x="1544573" y="2515361"/>
              <a:ext cx="1242060" cy="741045"/>
            </a:xfrm>
            <a:custGeom>
              <a:avLst/>
              <a:gdLst/>
              <a:ahLst/>
              <a:cxnLst/>
              <a:rect l="l" t="t" r="r" b="b"/>
              <a:pathLst>
                <a:path w="1242060" h="741045">
                  <a:moveTo>
                    <a:pt x="185165" y="0"/>
                  </a:moveTo>
                  <a:lnTo>
                    <a:pt x="0" y="0"/>
                  </a:lnTo>
                  <a:lnTo>
                    <a:pt x="0" y="648080"/>
                  </a:lnTo>
                  <a:lnTo>
                    <a:pt x="1056894" y="648080"/>
                  </a:lnTo>
                  <a:lnTo>
                    <a:pt x="1056894" y="740663"/>
                  </a:lnTo>
                  <a:lnTo>
                    <a:pt x="1242059" y="555498"/>
                  </a:lnTo>
                  <a:lnTo>
                    <a:pt x="1056894" y="370332"/>
                  </a:lnTo>
                  <a:lnTo>
                    <a:pt x="1056894" y="462914"/>
                  </a:lnTo>
                  <a:lnTo>
                    <a:pt x="185165" y="462914"/>
                  </a:lnTo>
                  <a:lnTo>
                    <a:pt x="185165" y="0"/>
                  </a:lnTo>
                  <a:close/>
                </a:path>
              </a:pathLst>
            </a:custGeom>
            <a:solidFill>
              <a:srgbClr val="0A405F"/>
            </a:solidFill>
          </p:spPr>
          <p:txBody>
            <a:bodyPr wrap="square" lIns="0" tIns="0" rIns="0" bIns="0" rtlCol="0"/>
            <a:lstStyle/>
            <a:p>
              <a:endParaRPr/>
            </a:p>
          </p:txBody>
        </p:sp>
        <p:sp>
          <p:nvSpPr>
            <p:cNvPr id="29" name="object 29"/>
            <p:cNvSpPr/>
            <p:nvPr/>
          </p:nvSpPr>
          <p:spPr>
            <a:xfrm>
              <a:off x="1544573" y="2515361"/>
              <a:ext cx="1242060" cy="741045"/>
            </a:xfrm>
            <a:custGeom>
              <a:avLst/>
              <a:gdLst/>
              <a:ahLst/>
              <a:cxnLst/>
              <a:rect l="l" t="t" r="r" b="b"/>
              <a:pathLst>
                <a:path w="1242060" h="741045">
                  <a:moveTo>
                    <a:pt x="185165" y="0"/>
                  </a:moveTo>
                  <a:lnTo>
                    <a:pt x="185165" y="462914"/>
                  </a:lnTo>
                  <a:lnTo>
                    <a:pt x="1056894" y="462914"/>
                  </a:lnTo>
                  <a:lnTo>
                    <a:pt x="1056894" y="370332"/>
                  </a:lnTo>
                  <a:lnTo>
                    <a:pt x="1242059" y="555498"/>
                  </a:lnTo>
                  <a:lnTo>
                    <a:pt x="1056894" y="740663"/>
                  </a:lnTo>
                  <a:lnTo>
                    <a:pt x="1056894" y="648080"/>
                  </a:lnTo>
                  <a:lnTo>
                    <a:pt x="0" y="648080"/>
                  </a:lnTo>
                  <a:lnTo>
                    <a:pt x="0" y="0"/>
                  </a:lnTo>
                  <a:lnTo>
                    <a:pt x="185165" y="0"/>
                  </a:lnTo>
                  <a:close/>
                </a:path>
              </a:pathLst>
            </a:custGeom>
            <a:ln w="19812">
              <a:solidFill>
                <a:srgbClr val="0A405F"/>
              </a:solidFill>
            </a:ln>
          </p:spPr>
          <p:txBody>
            <a:bodyPr wrap="square" lIns="0" tIns="0" rIns="0" bIns="0" rtlCol="0"/>
            <a:lstStyle/>
            <a:p>
              <a:endParaRPr/>
            </a:p>
          </p:txBody>
        </p:sp>
        <p:sp>
          <p:nvSpPr>
            <p:cNvPr id="30" name="object 30"/>
            <p:cNvSpPr/>
            <p:nvPr/>
          </p:nvSpPr>
          <p:spPr>
            <a:xfrm>
              <a:off x="7011161" y="5106161"/>
              <a:ext cx="1242060" cy="741045"/>
            </a:xfrm>
            <a:custGeom>
              <a:avLst/>
              <a:gdLst/>
              <a:ahLst/>
              <a:cxnLst/>
              <a:rect l="l" t="t" r="r" b="b"/>
              <a:pathLst>
                <a:path w="1242059" h="741045">
                  <a:moveTo>
                    <a:pt x="185166" y="0"/>
                  </a:moveTo>
                  <a:lnTo>
                    <a:pt x="0" y="0"/>
                  </a:lnTo>
                  <a:lnTo>
                    <a:pt x="0" y="648081"/>
                  </a:lnTo>
                  <a:lnTo>
                    <a:pt x="1056894" y="648081"/>
                  </a:lnTo>
                  <a:lnTo>
                    <a:pt x="1056894" y="740663"/>
                  </a:lnTo>
                  <a:lnTo>
                    <a:pt x="1242060" y="555497"/>
                  </a:lnTo>
                  <a:lnTo>
                    <a:pt x="1056894" y="370331"/>
                  </a:lnTo>
                  <a:lnTo>
                    <a:pt x="1056894" y="462915"/>
                  </a:lnTo>
                  <a:lnTo>
                    <a:pt x="185166" y="462915"/>
                  </a:lnTo>
                  <a:lnTo>
                    <a:pt x="185166" y="0"/>
                  </a:lnTo>
                  <a:close/>
                </a:path>
              </a:pathLst>
            </a:custGeom>
            <a:solidFill>
              <a:srgbClr val="0A405F"/>
            </a:solidFill>
          </p:spPr>
          <p:txBody>
            <a:bodyPr wrap="square" lIns="0" tIns="0" rIns="0" bIns="0" rtlCol="0"/>
            <a:lstStyle/>
            <a:p>
              <a:endParaRPr/>
            </a:p>
          </p:txBody>
        </p:sp>
        <p:sp>
          <p:nvSpPr>
            <p:cNvPr id="31" name="object 31"/>
            <p:cNvSpPr/>
            <p:nvPr/>
          </p:nvSpPr>
          <p:spPr>
            <a:xfrm>
              <a:off x="7011161" y="5106161"/>
              <a:ext cx="1242060" cy="741045"/>
            </a:xfrm>
            <a:custGeom>
              <a:avLst/>
              <a:gdLst/>
              <a:ahLst/>
              <a:cxnLst/>
              <a:rect l="l" t="t" r="r" b="b"/>
              <a:pathLst>
                <a:path w="1242059" h="741045">
                  <a:moveTo>
                    <a:pt x="185166" y="0"/>
                  </a:moveTo>
                  <a:lnTo>
                    <a:pt x="185166" y="462915"/>
                  </a:lnTo>
                  <a:lnTo>
                    <a:pt x="1056894" y="462915"/>
                  </a:lnTo>
                  <a:lnTo>
                    <a:pt x="1056894" y="370331"/>
                  </a:lnTo>
                  <a:lnTo>
                    <a:pt x="1242060" y="555497"/>
                  </a:lnTo>
                  <a:lnTo>
                    <a:pt x="1056894" y="740663"/>
                  </a:lnTo>
                  <a:lnTo>
                    <a:pt x="1056894" y="648081"/>
                  </a:lnTo>
                  <a:lnTo>
                    <a:pt x="0" y="648081"/>
                  </a:lnTo>
                  <a:lnTo>
                    <a:pt x="0" y="0"/>
                  </a:lnTo>
                  <a:lnTo>
                    <a:pt x="185166" y="0"/>
                  </a:lnTo>
                  <a:close/>
                </a:path>
              </a:pathLst>
            </a:custGeom>
            <a:ln w="19812">
              <a:solidFill>
                <a:srgbClr val="0A405F"/>
              </a:solidFill>
            </a:ln>
          </p:spPr>
          <p:txBody>
            <a:bodyPr wrap="square" lIns="0" tIns="0" rIns="0" bIns="0" rtlCol="0"/>
            <a:lstStyle/>
            <a:p>
              <a:endParaRPr/>
            </a:p>
          </p:txBody>
        </p:sp>
        <p:sp>
          <p:nvSpPr>
            <p:cNvPr id="32" name="object 32"/>
            <p:cNvSpPr/>
            <p:nvPr/>
          </p:nvSpPr>
          <p:spPr>
            <a:xfrm>
              <a:off x="5193029" y="3899153"/>
              <a:ext cx="2801620" cy="1143000"/>
            </a:xfrm>
            <a:custGeom>
              <a:avLst/>
              <a:gdLst/>
              <a:ahLst/>
              <a:cxnLst/>
              <a:rect l="l" t="t" r="r" b="b"/>
              <a:pathLst>
                <a:path w="2801620" h="1143000">
                  <a:moveTo>
                    <a:pt x="2570099" y="0"/>
                  </a:moveTo>
                  <a:lnTo>
                    <a:pt x="231012" y="0"/>
                  </a:lnTo>
                  <a:lnTo>
                    <a:pt x="169583" y="4083"/>
                  </a:lnTo>
                  <a:lnTo>
                    <a:pt x="114394" y="15606"/>
                  </a:lnTo>
                  <a:lnTo>
                    <a:pt x="67643" y="33480"/>
                  </a:lnTo>
                  <a:lnTo>
                    <a:pt x="31528" y="56613"/>
                  </a:lnTo>
                  <a:lnTo>
                    <a:pt x="0" y="114300"/>
                  </a:lnTo>
                  <a:lnTo>
                    <a:pt x="0" y="1028700"/>
                  </a:lnTo>
                  <a:lnTo>
                    <a:pt x="31528" y="1086386"/>
                  </a:lnTo>
                  <a:lnTo>
                    <a:pt x="67643" y="1109519"/>
                  </a:lnTo>
                  <a:lnTo>
                    <a:pt x="114394" y="1127393"/>
                  </a:lnTo>
                  <a:lnTo>
                    <a:pt x="169583" y="1138916"/>
                  </a:lnTo>
                  <a:lnTo>
                    <a:pt x="231012" y="1143000"/>
                  </a:lnTo>
                  <a:lnTo>
                    <a:pt x="2570099" y="1143000"/>
                  </a:lnTo>
                  <a:lnTo>
                    <a:pt x="2631528" y="1138916"/>
                  </a:lnTo>
                  <a:lnTo>
                    <a:pt x="2686717" y="1127393"/>
                  </a:lnTo>
                  <a:lnTo>
                    <a:pt x="2733468" y="1109519"/>
                  </a:lnTo>
                  <a:lnTo>
                    <a:pt x="2769583" y="1086386"/>
                  </a:lnTo>
                  <a:lnTo>
                    <a:pt x="2801112" y="1028700"/>
                  </a:lnTo>
                  <a:lnTo>
                    <a:pt x="2801112" y="114300"/>
                  </a:lnTo>
                  <a:lnTo>
                    <a:pt x="2769583" y="56613"/>
                  </a:lnTo>
                  <a:lnTo>
                    <a:pt x="2733468" y="33480"/>
                  </a:lnTo>
                  <a:lnTo>
                    <a:pt x="2686717" y="15606"/>
                  </a:lnTo>
                  <a:lnTo>
                    <a:pt x="2631528" y="4083"/>
                  </a:lnTo>
                  <a:lnTo>
                    <a:pt x="2570099" y="0"/>
                  </a:lnTo>
                  <a:close/>
                </a:path>
              </a:pathLst>
            </a:custGeom>
            <a:solidFill>
              <a:srgbClr val="EBEBEB"/>
            </a:solidFill>
          </p:spPr>
          <p:txBody>
            <a:bodyPr wrap="square" lIns="0" tIns="0" rIns="0" bIns="0" rtlCol="0"/>
            <a:lstStyle/>
            <a:p>
              <a:endParaRPr/>
            </a:p>
          </p:txBody>
        </p:sp>
        <p:sp>
          <p:nvSpPr>
            <p:cNvPr id="33" name="object 33"/>
            <p:cNvSpPr/>
            <p:nvPr/>
          </p:nvSpPr>
          <p:spPr>
            <a:xfrm>
              <a:off x="5193029" y="3899153"/>
              <a:ext cx="2801620" cy="1143000"/>
            </a:xfrm>
            <a:custGeom>
              <a:avLst/>
              <a:gdLst/>
              <a:ahLst/>
              <a:cxnLst/>
              <a:rect l="l" t="t" r="r" b="b"/>
              <a:pathLst>
                <a:path w="2801620" h="1143000">
                  <a:moveTo>
                    <a:pt x="0" y="114300"/>
                  </a:moveTo>
                  <a:lnTo>
                    <a:pt x="31528" y="56613"/>
                  </a:lnTo>
                  <a:lnTo>
                    <a:pt x="67643" y="33480"/>
                  </a:lnTo>
                  <a:lnTo>
                    <a:pt x="114394" y="15606"/>
                  </a:lnTo>
                  <a:lnTo>
                    <a:pt x="169583" y="4083"/>
                  </a:lnTo>
                  <a:lnTo>
                    <a:pt x="231012" y="0"/>
                  </a:lnTo>
                  <a:lnTo>
                    <a:pt x="2570099" y="0"/>
                  </a:lnTo>
                  <a:lnTo>
                    <a:pt x="2631528" y="4083"/>
                  </a:lnTo>
                  <a:lnTo>
                    <a:pt x="2686717" y="15606"/>
                  </a:lnTo>
                  <a:lnTo>
                    <a:pt x="2733468" y="33480"/>
                  </a:lnTo>
                  <a:lnTo>
                    <a:pt x="2769583" y="56613"/>
                  </a:lnTo>
                  <a:lnTo>
                    <a:pt x="2801112" y="114300"/>
                  </a:lnTo>
                  <a:lnTo>
                    <a:pt x="2801112" y="165100"/>
                  </a:lnTo>
                  <a:lnTo>
                    <a:pt x="2801112" y="215900"/>
                  </a:lnTo>
                  <a:lnTo>
                    <a:pt x="2801112" y="1028700"/>
                  </a:lnTo>
                  <a:lnTo>
                    <a:pt x="2792863" y="1059082"/>
                  </a:lnTo>
                  <a:lnTo>
                    <a:pt x="2733468" y="1109519"/>
                  </a:lnTo>
                  <a:lnTo>
                    <a:pt x="2686717" y="1127393"/>
                  </a:lnTo>
                  <a:lnTo>
                    <a:pt x="2631528" y="1138916"/>
                  </a:lnTo>
                  <a:lnTo>
                    <a:pt x="2570099" y="1143000"/>
                  </a:lnTo>
                  <a:lnTo>
                    <a:pt x="231012" y="1143000"/>
                  </a:lnTo>
                  <a:lnTo>
                    <a:pt x="169583" y="1138916"/>
                  </a:lnTo>
                  <a:lnTo>
                    <a:pt x="114394" y="1127393"/>
                  </a:lnTo>
                  <a:lnTo>
                    <a:pt x="67643" y="1109519"/>
                  </a:lnTo>
                  <a:lnTo>
                    <a:pt x="31528" y="1086386"/>
                  </a:lnTo>
                  <a:lnTo>
                    <a:pt x="0" y="1028700"/>
                  </a:lnTo>
                  <a:lnTo>
                    <a:pt x="0" y="114300"/>
                  </a:lnTo>
                  <a:close/>
                </a:path>
              </a:pathLst>
            </a:custGeom>
            <a:ln w="19812">
              <a:solidFill>
                <a:srgbClr val="0A405F"/>
              </a:solidFill>
            </a:ln>
          </p:spPr>
          <p:txBody>
            <a:bodyPr wrap="square" lIns="0" tIns="0" rIns="0" bIns="0" rtlCol="0"/>
            <a:lstStyle/>
            <a:p>
              <a:endParaRPr/>
            </a:p>
          </p:txBody>
        </p:sp>
      </p:grpSp>
      <p:sp>
        <p:nvSpPr>
          <p:cNvPr id="34" name="object 34"/>
          <p:cNvSpPr txBox="1"/>
          <p:nvPr/>
        </p:nvSpPr>
        <p:spPr>
          <a:xfrm>
            <a:off x="5259704" y="4245990"/>
            <a:ext cx="1271905" cy="650875"/>
          </a:xfrm>
          <a:prstGeom prst="rect">
            <a:avLst/>
          </a:prstGeom>
        </p:spPr>
        <p:txBody>
          <a:bodyPr vert="horz" wrap="square" lIns="0" tIns="12700" rIns="0" bIns="0" rtlCol="0">
            <a:spAutoFit/>
          </a:bodyPr>
          <a:lstStyle/>
          <a:p>
            <a:pPr marL="184150" indent="-171450">
              <a:lnSpc>
                <a:spcPct val="100000"/>
              </a:lnSpc>
              <a:spcBef>
                <a:spcPts val="100"/>
              </a:spcBef>
              <a:buChar char="•"/>
              <a:tabLst>
                <a:tab pos="184150" algn="l"/>
              </a:tabLst>
            </a:pPr>
            <a:r>
              <a:rPr sz="2000" spc="-10" dirty="0">
                <a:latin typeface="Times New Roman"/>
                <a:cs typeface="Times New Roman"/>
              </a:rPr>
              <a:t>Inter-State</a:t>
            </a:r>
            <a:endParaRPr sz="2000">
              <a:latin typeface="Times New Roman"/>
              <a:cs typeface="Times New Roman"/>
            </a:endParaRPr>
          </a:p>
          <a:p>
            <a:pPr marL="184150" indent="-171450">
              <a:lnSpc>
                <a:spcPct val="100000"/>
              </a:lnSpc>
              <a:spcBef>
                <a:spcPts val="125"/>
              </a:spcBef>
              <a:buChar char="•"/>
              <a:tabLst>
                <a:tab pos="184150" algn="l"/>
              </a:tabLst>
            </a:pPr>
            <a:r>
              <a:rPr sz="2000" dirty="0">
                <a:latin typeface="Times New Roman"/>
                <a:cs typeface="Times New Roman"/>
              </a:rPr>
              <a:t>Intra-</a:t>
            </a:r>
            <a:r>
              <a:rPr sz="2000" spc="-10" dirty="0">
                <a:latin typeface="Times New Roman"/>
                <a:cs typeface="Times New Roman"/>
              </a:rPr>
              <a:t>State</a:t>
            </a:r>
            <a:endParaRPr sz="2000">
              <a:latin typeface="Times New Roman"/>
              <a:cs typeface="Times New Roman"/>
            </a:endParaRPr>
          </a:p>
        </p:txBody>
      </p:sp>
      <p:grpSp>
        <p:nvGrpSpPr>
          <p:cNvPr id="35" name="object 35"/>
          <p:cNvGrpSpPr/>
          <p:nvPr/>
        </p:nvGrpSpPr>
        <p:grpSpPr>
          <a:xfrm>
            <a:off x="6229858" y="3442461"/>
            <a:ext cx="2029460" cy="819150"/>
            <a:chOff x="6229858" y="3442461"/>
            <a:chExt cx="2029460" cy="819150"/>
          </a:xfrm>
        </p:grpSpPr>
        <p:sp>
          <p:nvSpPr>
            <p:cNvPr id="36" name="object 36"/>
            <p:cNvSpPr/>
            <p:nvPr/>
          </p:nvSpPr>
          <p:spPr>
            <a:xfrm>
              <a:off x="6240018" y="3452621"/>
              <a:ext cx="2009139" cy="798830"/>
            </a:xfrm>
            <a:custGeom>
              <a:avLst/>
              <a:gdLst/>
              <a:ahLst/>
              <a:cxnLst/>
              <a:rect l="l" t="t" r="r" b="b"/>
              <a:pathLst>
                <a:path w="2009140" h="798829">
                  <a:moveTo>
                    <a:pt x="1928749" y="0"/>
                  </a:moveTo>
                  <a:lnTo>
                    <a:pt x="79883" y="0"/>
                  </a:lnTo>
                  <a:lnTo>
                    <a:pt x="48809" y="6284"/>
                  </a:lnTo>
                  <a:lnTo>
                    <a:pt x="23415" y="23415"/>
                  </a:lnTo>
                  <a:lnTo>
                    <a:pt x="6284" y="48809"/>
                  </a:lnTo>
                  <a:lnTo>
                    <a:pt x="0" y="79882"/>
                  </a:lnTo>
                  <a:lnTo>
                    <a:pt x="0" y="718692"/>
                  </a:lnTo>
                  <a:lnTo>
                    <a:pt x="6284" y="749766"/>
                  </a:lnTo>
                  <a:lnTo>
                    <a:pt x="23415" y="775160"/>
                  </a:lnTo>
                  <a:lnTo>
                    <a:pt x="48809" y="792291"/>
                  </a:lnTo>
                  <a:lnTo>
                    <a:pt x="79883" y="798576"/>
                  </a:lnTo>
                  <a:lnTo>
                    <a:pt x="1928749" y="798576"/>
                  </a:lnTo>
                  <a:lnTo>
                    <a:pt x="1959822" y="792291"/>
                  </a:lnTo>
                  <a:lnTo>
                    <a:pt x="1985216" y="775160"/>
                  </a:lnTo>
                  <a:lnTo>
                    <a:pt x="2002347" y="749766"/>
                  </a:lnTo>
                  <a:lnTo>
                    <a:pt x="2008632" y="718692"/>
                  </a:lnTo>
                  <a:lnTo>
                    <a:pt x="2008632" y="79882"/>
                  </a:lnTo>
                  <a:lnTo>
                    <a:pt x="2002347" y="48809"/>
                  </a:lnTo>
                  <a:lnTo>
                    <a:pt x="1985216" y="23415"/>
                  </a:lnTo>
                  <a:lnTo>
                    <a:pt x="1959822" y="6284"/>
                  </a:lnTo>
                  <a:lnTo>
                    <a:pt x="1928749" y="0"/>
                  </a:lnTo>
                  <a:close/>
                </a:path>
              </a:pathLst>
            </a:custGeom>
            <a:solidFill>
              <a:srgbClr val="FFFFFF"/>
            </a:solidFill>
          </p:spPr>
          <p:txBody>
            <a:bodyPr wrap="square" lIns="0" tIns="0" rIns="0" bIns="0" rtlCol="0"/>
            <a:lstStyle/>
            <a:p>
              <a:endParaRPr/>
            </a:p>
          </p:txBody>
        </p:sp>
        <p:sp>
          <p:nvSpPr>
            <p:cNvPr id="37" name="object 37"/>
            <p:cNvSpPr/>
            <p:nvPr/>
          </p:nvSpPr>
          <p:spPr>
            <a:xfrm>
              <a:off x="6240018" y="3452621"/>
              <a:ext cx="2009139" cy="798830"/>
            </a:xfrm>
            <a:custGeom>
              <a:avLst/>
              <a:gdLst/>
              <a:ahLst/>
              <a:cxnLst/>
              <a:rect l="l" t="t" r="r" b="b"/>
              <a:pathLst>
                <a:path w="2009140" h="798829">
                  <a:moveTo>
                    <a:pt x="0" y="79882"/>
                  </a:moveTo>
                  <a:lnTo>
                    <a:pt x="6284" y="48809"/>
                  </a:lnTo>
                  <a:lnTo>
                    <a:pt x="23415" y="23415"/>
                  </a:lnTo>
                  <a:lnTo>
                    <a:pt x="48809" y="6284"/>
                  </a:lnTo>
                  <a:lnTo>
                    <a:pt x="79883" y="0"/>
                  </a:lnTo>
                  <a:lnTo>
                    <a:pt x="1928749" y="0"/>
                  </a:lnTo>
                  <a:lnTo>
                    <a:pt x="1959822" y="6284"/>
                  </a:lnTo>
                  <a:lnTo>
                    <a:pt x="1985216" y="23415"/>
                  </a:lnTo>
                  <a:lnTo>
                    <a:pt x="2002347" y="48809"/>
                  </a:lnTo>
                  <a:lnTo>
                    <a:pt x="2008632" y="79882"/>
                  </a:lnTo>
                  <a:lnTo>
                    <a:pt x="2008632" y="718692"/>
                  </a:lnTo>
                  <a:lnTo>
                    <a:pt x="2002347" y="749766"/>
                  </a:lnTo>
                  <a:lnTo>
                    <a:pt x="1985216" y="775160"/>
                  </a:lnTo>
                  <a:lnTo>
                    <a:pt x="1959822" y="792291"/>
                  </a:lnTo>
                  <a:lnTo>
                    <a:pt x="1928749" y="798576"/>
                  </a:lnTo>
                  <a:lnTo>
                    <a:pt x="79883" y="798576"/>
                  </a:lnTo>
                  <a:lnTo>
                    <a:pt x="48809" y="792291"/>
                  </a:lnTo>
                  <a:lnTo>
                    <a:pt x="23415" y="775160"/>
                  </a:lnTo>
                  <a:lnTo>
                    <a:pt x="6284" y="749766"/>
                  </a:lnTo>
                  <a:lnTo>
                    <a:pt x="0" y="718692"/>
                  </a:lnTo>
                  <a:lnTo>
                    <a:pt x="0" y="79882"/>
                  </a:lnTo>
                  <a:close/>
                </a:path>
              </a:pathLst>
            </a:custGeom>
            <a:ln w="19811">
              <a:solidFill>
                <a:srgbClr val="0A405F"/>
              </a:solidFill>
            </a:ln>
          </p:spPr>
          <p:txBody>
            <a:bodyPr wrap="square" lIns="0" tIns="0" rIns="0" bIns="0" rtlCol="0"/>
            <a:lstStyle/>
            <a:p>
              <a:endParaRPr/>
            </a:p>
          </p:txBody>
        </p:sp>
      </p:grpSp>
      <p:sp>
        <p:nvSpPr>
          <p:cNvPr id="38" name="object 38"/>
          <p:cNvSpPr txBox="1"/>
          <p:nvPr/>
        </p:nvSpPr>
        <p:spPr>
          <a:xfrm>
            <a:off x="6826757" y="3662248"/>
            <a:ext cx="836930" cy="331470"/>
          </a:xfrm>
          <a:prstGeom prst="rect">
            <a:avLst/>
          </a:prstGeom>
        </p:spPr>
        <p:txBody>
          <a:bodyPr vert="horz" wrap="square" lIns="0" tIns="13335" rIns="0" bIns="0" rtlCol="0">
            <a:spAutoFit/>
          </a:bodyPr>
          <a:lstStyle/>
          <a:p>
            <a:pPr marL="12700">
              <a:lnSpc>
                <a:spcPct val="100000"/>
              </a:lnSpc>
              <a:spcBef>
                <a:spcPts val="105"/>
              </a:spcBef>
            </a:pPr>
            <a:r>
              <a:rPr sz="2000" dirty="0">
                <a:latin typeface="Times New Roman"/>
                <a:cs typeface="Times New Roman"/>
              </a:rPr>
              <a:t>3:</a:t>
            </a:r>
            <a:r>
              <a:rPr sz="2000" spc="-10" dirty="0">
                <a:latin typeface="Times New Roman"/>
                <a:cs typeface="Times New Roman"/>
              </a:rPr>
              <a:t> </a:t>
            </a:r>
            <a:r>
              <a:rPr sz="2000" spc="-20" dirty="0">
                <a:latin typeface="Times New Roman"/>
                <a:cs typeface="Times New Roman"/>
              </a:rPr>
              <a:t>Place</a:t>
            </a:r>
            <a:endParaRPr sz="2000">
              <a:latin typeface="Times New Roman"/>
              <a:cs typeface="Times New Roman"/>
            </a:endParaRPr>
          </a:p>
        </p:txBody>
      </p:sp>
      <p:grpSp>
        <p:nvGrpSpPr>
          <p:cNvPr id="39" name="object 39"/>
          <p:cNvGrpSpPr/>
          <p:nvPr/>
        </p:nvGrpSpPr>
        <p:grpSpPr>
          <a:xfrm>
            <a:off x="3902964" y="3884676"/>
            <a:ext cx="1260475" cy="760730"/>
            <a:chOff x="3902964" y="3884676"/>
            <a:chExt cx="1260475" cy="760730"/>
          </a:xfrm>
        </p:grpSpPr>
        <p:sp>
          <p:nvSpPr>
            <p:cNvPr id="40" name="object 40"/>
            <p:cNvSpPr/>
            <p:nvPr/>
          </p:nvSpPr>
          <p:spPr>
            <a:xfrm>
              <a:off x="3912870" y="3894582"/>
              <a:ext cx="1240790" cy="741045"/>
            </a:xfrm>
            <a:custGeom>
              <a:avLst/>
              <a:gdLst/>
              <a:ahLst/>
              <a:cxnLst/>
              <a:rect l="l" t="t" r="r" b="b"/>
              <a:pathLst>
                <a:path w="1240789" h="741045">
                  <a:moveTo>
                    <a:pt x="185165" y="0"/>
                  </a:moveTo>
                  <a:lnTo>
                    <a:pt x="0" y="0"/>
                  </a:lnTo>
                  <a:lnTo>
                    <a:pt x="0" y="648081"/>
                  </a:lnTo>
                  <a:lnTo>
                    <a:pt x="1055369" y="648081"/>
                  </a:lnTo>
                  <a:lnTo>
                    <a:pt x="1055369" y="740664"/>
                  </a:lnTo>
                  <a:lnTo>
                    <a:pt x="1240535" y="555498"/>
                  </a:lnTo>
                  <a:lnTo>
                    <a:pt x="1055369" y="370332"/>
                  </a:lnTo>
                  <a:lnTo>
                    <a:pt x="1055369" y="462915"/>
                  </a:lnTo>
                  <a:lnTo>
                    <a:pt x="185165" y="462915"/>
                  </a:lnTo>
                  <a:lnTo>
                    <a:pt x="185165" y="0"/>
                  </a:lnTo>
                  <a:close/>
                </a:path>
              </a:pathLst>
            </a:custGeom>
            <a:solidFill>
              <a:srgbClr val="0A405F"/>
            </a:solidFill>
          </p:spPr>
          <p:txBody>
            <a:bodyPr wrap="square" lIns="0" tIns="0" rIns="0" bIns="0" rtlCol="0"/>
            <a:lstStyle/>
            <a:p>
              <a:endParaRPr/>
            </a:p>
          </p:txBody>
        </p:sp>
        <p:sp>
          <p:nvSpPr>
            <p:cNvPr id="41" name="object 41"/>
            <p:cNvSpPr/>
            <p:nvPr/>
          </p:nvSpPr>
          <p:spPr>
            <a:xfrm>
              <a:off x="3912870" y="3894582"/>
              <a:ext cx="1240790" cy="741045"/>
            </a:xfrm>
            <a:custGeom>
              <a:avLst/>
              <a:gdLst/>
              <a:ahLst/>
              <a:cxnLst/>
              <a:rect l="l" t="t" r="r" b="b"/>
              <a:pathLst>
                <a:path w="1240789" h="741045">
                  <a:moveTo>
                    <a:pt x="185165" y="0"/>
                  </a:moveTo>
                  <a:lnTo>
                    <a:pt x="185165" y="462915"/>
                  </a:lnTo>
                  <a:lnTo>
                    <a:pt x="1055369" y="462915"/>
                  </a:lnTo>
                  <a:lnTo>
                    <a:pt x="1055369" y="370332"/>
                  </a:lnTo>
                  <a:lnTo>
                    <a:pt x="1240535" y="555498"/>
                  </a:lnTo>
                  <a:lnTo>
                    <a:pt x="1055369" y="740664"/>
                  </a:lnTo>
                  <a:lnTo>
                    <a:pt x="1055369" y="648081"/>
                  </a:lnTo>
                  <a:lnTo>
                    <a:pt x="0" y="648081"/>
                  </a:lnTo>
                  <a:lnTo>
                    <a:pt x="0" y="0"/>
                  </a:lnTo>
                  <a:lnTo>
                    <a:pt x="185165" y="0"/>
                  </a:lnTo>
                  <a:close/>
                </a:path>
              </a:pathLst>
            </a:custGeom>
            <a:ln w="19812">
              <a:solidFill>
                <a:srgbClr val="0A405F"/>
              </a:solidFill>
            </a:ln>
          </p:spPr>
          <p:txBody>
            <a:bodyPr wrap="square" lIns="0" tIns="0" rIns="0" bIns="0" rtlCol="0"/>
            <a:lstStyle/>
            <a:p>
              <a:endParaRPr/>
            </a:p>
          </p:txBody>
        </p:sp>
      </p:grpSp>
    </p:spTree>
    <p:extLst>
      <p:ext uri="{BB962C8B-B14F-4D97-AF65-F5344CB8AC3E}">
        <p14:creationId xmlns:p14="http://schemas.microsoft.com/office/powerpoint/2010/main" val="182195343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US" sz="2800" b="1" dirty="0" smtClean="0">
              <a:solidFill>
                <a:schemeClr val="tx1"/>
              </a:solidFill>
              <a:latin typeface="Times New Roman" panose="02020603050405020304" pitchFamily="18" charset="0"/>
              <a:cs typeface="Times New Roman" panose="02020603050405020304" pitchFamily="18" charset="0"/>
            </a:endParaRPr>
          </a:p>
          <a:p>
            <a:endParaRPr lang="en-US" sz="2800" b="1" dirty="0" smtClean="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IN" sz="2800" dirty="0" smtClean="0">
              <a:solidFill>
                <a:schemeClr val="tx1"/>
              </a:solidFill>
            </a:endParaRPr>
          </a:p>
          <a:p>
            <a:pPr marL="457200" indent="-457200">
              <a:buFont typeface="Wingdings" panose="05000000000000000000" pitchFamily="2" charset="2"/>
              <a:buChar char="Ø"/>
            </a:pPr>
            <a:endParaRPr lang="en-IN" sz="2800" dirty="0" smtClean="0">
              <a:solidFill>
                <a:schemeClr val="tx1"/>
              </a:solidFill>
            </a:endParaRPr>
          </a:p>
          <a:p>
            <a:pPr marL="457200" indent="-457200">
              <a:buFont typeface="Wingdings" panose="05000000000000000000" pitchFamily="2" charset="2"/>
              <a:buChar char="Ø"/>
            </a:pPr>
            <a:endParaRPr lang="en-IN" sz="2600" dirty="0" smtClean="0">
              <a:solidFill>
                <a:schemeClr val="tx1"/>
              </a:solidFill>
            </a:endParaRPr>
          </a:p>
          <a:p>
            <a:pPr marL="457200" indent="-457200">
              <a:buFont typeface="Wingdings" panose="05000000000000000000" pitchFamily="2" charset="2"/>
              <a:buChar char="Ø"/>
            </a:pPr>
            <a:endParaRPr lang="en-US" sz="26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r>
              <a:rPr lang="en-US" sz="2800" dirty="0" smtClean="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1791788" y="240530"/>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t>Levy and Collection of GST</a:t>
            </a:r>
            <a:endParaRPr lang="en-IN" sz="3600" dirty="0"/>
          </a:p>
        </p:txBody>
      </p:sp>
      <p:sp>
        <p:nvSpPr>
          <p:cNvPr id="3" name="TextBox 2"/>
          <p:cNvSpPr txBox="1"/>
          <p:nvPr/>
        </p:nvSpPr>
        <p:spPr>
          <a:xfrm>
            <a:off x="737118" y="1194318"/>
            <a:ext cx="10011747" cy="5262979"/>
          </a:xfrm>
          <a:prstGeom prst="rect">
            <a:avLst/>
          </a:prstGeom>
          <a:noFill/>
        </p:spPr>
        <p:txBody>
          <a:bodyPr wrap="square" rtlCol="0">
            <a:spAutoFit/>
          </a:bodyPr>
          <a:lstStyle/>
          <a:p>
            <a:pPr marL="342900" indent="-342900">
              <a:buFont typeface="Arial" panose="020B0604020202020204" pitchFamily="34" charset="0"/>
              <a:buChar char="•"/>
            </a:pPr>
            <a:r>
              <a:rPr lang="en-IN" sz="2400" dirty="0">
                <a:solidFill>
                  <a:srgbClr val="7030A0"/>
                </a:solidFill>
              </a:rPr>
              <a:t>Taxable event</a:t>
            </a:r>
            <a:r>
              <a:rPr lang="en-IN" sz="2400" dirty="0"/>
              <a:t>: Taxable event is very important matter in every tax law. Its determination is most crucial for the proper implementation of any tax law. </a:t>
            </a:r>
            <a:r>
              <a:rPr lang="en-IN" sz="2400" dirty="0">
                <a:solidFill>
                  <a:srgbClr val="FF0000"/>
                </a:solidFill>
              </a:rPr>
              <a:t>Taxable event is that on the happening of which the charge is fixed</a:t>
            </a:r>
            <a:r>
              <a:rPr lang="en-IN" sz="2400" dirty="0"/>
              <a:t>. It is that event which on its occurrence creates or attracts the </a:t>
            </a:r>
            <a:r>
              <a:rPr lang="en-IN" sz="2400" dirty="0">
                <a:solidFill>
                  <a:srgbClr val="FF0000"/>
                </a:solidFill>
              </a:rPr>
              <a:t>liability to tax. </a:t>
            </a:r>
            <a:r>
              <a:rPr lang="en-IN" sz="2400" dirty="0" smtClean="0">
                <a:solidFill>
                  <a:srgbClr val="FF0000"/>
                </a:solidFill>
              </a:rPr>
              <a:t>Sales</a:t>
            </a:r>
            <a:r>
              <a:rPr lang="en-IN" sz="2400" dirty="0">
                <a:solidFill>
                  <a:srgbClr val="FF0000"/>
                </a:solidFill>
              </a:rPr>
              <a:t>, purchase, removal of goods, services, luxury, entertainment and so on</a:t>
            </a:r>
            <a:r>
              <a:rPr lang="en-IN" sz="2400" dirty="0"/>
              <a:t>, the list goes </a:t>
            </a:r>
            <a:r>
              <a:rPr lang="en-IN" sz="2400" dirty="0" smtClean="0"/>
              <a:t>on.</a:t>
            </a:r>
          </a:p>
          <a:p>
            <a:pPr marL="342900" indent="-342900">
              <a:buFont typeface="Arial" panose="020B0604020202020204" pitchFamily="34" charset="0"/>
              <a:buChar char="•"/>
            </a:pPr>
            <a:endParaRPr lang="en-IN" sz="2400" dirty="0" smtClean="0"/>
          </a:p>
          <a:p>
            <a:pPr marL="342900" indent="-342900">
              <a:buFont typeface="Arial" panose="020B0604020202020204" pitchFamily="34" charset="0"/>
              <a:buChar char="•"/>
            </a:pPr>
            <a:r>
              <a:rPr lang="en-IN" sz="2400" dirty="0">
                <a:solidFill>
                  <a:srgbClr val="7030A0"/>
                </a:solidFill>
              </a:rPr>
              <a:t>Taxable event under GST</a:t>
            </a:r>
            <a:r>
              <a:rPr lang="en-IN" sz="2400" dirty="0"/>
              <a:t>:  One of the very important feature of the regime of GST is the complete change in the taxable event different altogether from the taxable events witnessed in the indirect taxes as yet. The taxable event in the  GST would be supply of goods and/or services. </a:t>
            </a:r>
            <a:endParaRPr lang="en-IN" sz="2400" dirty="0" smtClean="0"/>
          </a:p>
          <a:p>
            <a:r>
              <a:rPr lang="en-IN" sz="2400" dirty="0"/>
              <a:t>	</a:t>
            </a:r>
            <a:r>
              <a:rPr lang="en-IN" sz="2400" dirty="0" smtClean="0"/>
              <a:t>As </a:t>
            </a:r>
            <a:r>
              <a:rPr lang="en-IN" sz="2400" dirty="0"/>
              <a:t>per Article 366(1A) of Constitution of </a:t>
            </a:r>
            <a:r>
              <a:rPr lang="en-IN" sz="2400" dirty="0" smtClean="0"/>
              <a:t>India, </a:t>
            </a:r>
            <a:r>
              <a:rPr lang="en-IN" sz="2400" dirty="0"/>
              <a:t>Goods and Services Tax </a:t>
            </a:r>
            <a:r>
              <a:rPr lang="en-IN" sz="2400" dirty="0" smtClean="0"/>
              <a:t>	means </a:t>
            </a:r>
            <a:r>
              <a:rPr lang="en-IN" sz="2400" dirty="0"/>
              <a:t>a tax on supply of goods or services or both except taxes on </a:t>
            </a:r>
            <a:r>
              <a:rPr lang="en-IN" sz="2400" dirty="0" smtClean="0"/>
              <a:t>	supply </a:t>
            </a:r>
            <a:r>
              <a:rPr lang="en-IN" sz="2400" dirty="0"/>
              <a:t>of alcoholic liquor for human consumption. </a:t>
            </a:r>
          </a:p>
        </p:txBody>
      </p:sp>
    </p:spTree>
    <p:extLst>
      <p:ext uri="{BB962C8B-B14F-4D97-AF65-F5344CB8AC3E}">
        <p14:creationId xmlns:p14="http://schemas.microsoft.com/office/powerpoint/2010/main" val="829690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29210"/>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US" sz="2800" b="1" dirty="0" smtClean="0">
              <a:solidFill>
                <a:schemeClr val="tx1"/>
              </a:solidFill>
              <a:latin typeface="Times New Roman" panose="02020603050405020304" pitchFamily="18" charset="0"/>
              <a:cs typeface="Times New Roman" panose="02020603050405020304" pitchFamily="18" charset="0"/>
            </a:endParaRPr>
          </a:p>
          <a:p>
            <a:endParaRPr lang="en-US" sz="2800" b="1" dirty="0" smtClean="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IN" sz="2800" dirty="0" smtClean="0">
              <a:solidFill>
                <a:schemeClr val="tx1"/>
              </a:solidFill>
            </a:endParaRPr>
          </a:p>
          <a:p>
            <a:pPr marL="457200" indent="-457200">
              <a:buFont typeface="Wingdings" panose="05000000000000000000" pitchFamily="2" charset="2"/>
              <a:buChar char="Ø"/>
            </a:pPr>
            <a:endParaRPr lang="en-IN" sz="2800" dirty="0" smtClean="0">
              <a:solidFill>
                <a:schemeClr val="tx1"/>
              </a:solidFill>
            </a:endParaRPr>
          </a:p>
          <a:p>
            <a:pPr marL="457200" indent="-457200">
              <a:buFont typeface="Wingdings" panose="05000000000000000000" pitchFamily="2" charset="2"/>
              <a:buChar char="Ø"/>
            </a:pPr>
            <a:endParaRPr lang="en-IN" sz="2600" dirty="0" smtClean="0">
              <a:solidFill>
                <a:schemeClr val="tx1"/>
              </a:solidFill>
            </a:endParaRPr>
          </a:p>
          <a:p>
            <a:pPr marL="457200" indent="-457200">
              <a:buFont typeface="Wingdings" panose="05000000000000000000" pitchFamily="2" charset="2"/>
              <a:buChar char="Ø"/>
            </a:pPr>
            <a:endParaRPr lang="en-US" sz="26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r>
              <a:rPr lang="en-US" sz="2800" dirty="0" smtClean="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1791788" y="240530"/>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600" b="1" dirty="0"/>
              <a:t>Time, Place and Value of Supply</a:t>
            </a:r>
            <a:endParaRPr lang="en-IN" sz="3600" dirty="0"/>
          </a:p>
        </p:txBody>
      </p:sp>
      <p:sp>
        <p:nvSpPr>
          <p:cNvPr id="3" name="TextBox 2"/>
          <p:cNvSpPr txBox="1"/>
          <p:nvPr/>
        </p:nvSpPr>
        <p:spPr>
          <a:xfrm>
            <a:off x="737118" y="1194318"/>
            <a:ext cx="10011747" cy="4093428"/>
          </a:xfrm>
          <a:prstGeom prst="rect">
            <a:avLst/>
          </a:prstGeom>
          <a:noFill/>
        </p:spPr>
        <p:txBody>
          <a:bodyPr wrap="square" rtlCol="0">
            <a:spAutoFit/>
          </a:bodyPr>
          <a:lstStyle/>
          <a:p>
            <a:pPr marL="457200" lvl="0" indent="-457200">
              <a:buFont typeface="Arial" panose="020B0604020202020204" pitchFamily="34" charset="0"/>
              <a:buChar char="•"/>
            </a:pPr>
            <a:r>
              <a:rPr lang="en-IN" sz="2600" b="1" dirty="0"/>
              <a:t>Time of supply</a:t>
            </a:r>
            <a:r>
              <a:rPr lang="en-IN" sz="2600" dirty="0"/>
              <a:t> means </a:t>
            </a:r>
            <a:r>
              <a:rPr lang="en-IN" sz="2600" dirty="0">
                <a:solidFill>
                  <a:srgbClr val="FF0000"/>
                </a:solidFill>
              </a:rPr>
              <a:t>the point in time when goods/services are considered supplied’</a:t>
            </a:r>
            <a:r>
              <a:rPr lang="en-IN" sz="2600" dirty="0"/>
              <a:t>. When the seller knows the </a:t>
            </a:r>
            <a:r>
              <a:rPr lang="en-IN" sz="2600" dirty="0">
                <a:solidFill>
                  <a:srgbClr val="FF0000"/>
                </a:solidFill>
              </a:rPr>
              <a:t>‘time’, </a:t>
            </a:r>
            <a:r>
              <a:rPr lang="en-IN" sz="2600" dirty="0"/>
              <a:t>it helps him identify due date for payment of taxes</a:t>
            </a:r>
            <a:r>
              <a:rPr lang="en-IN" sz="2600" dirty="0" smtClean="0"/>
              <a:t>.</a:t>
            </a:r>
          </a:p>
          <a:p>
            <a:pPr lvl="0"/>
            <a:endParaRPr lang="en-IN" sz="2600" dirty="0"/>
          </a:p>
          <a:p>
            <a:pPr marL="457200" lvl="0" indent="-457200">
              <a:buFont typeface="Arial" panose="020B0604020202020204" pitchFamily="34" charset="0"/>
              <a:buChar char="•"/>
            </a:pPr>
            <a:r>
              <a:rPr lang="en-IN" sz="2600" b="1" dirty="0"/>
              <a:t>Place of supply</a:t>
            </a:r>
            <a:r>
              <a:rPr lang="en-IN" sz="2600" dirty="0"/>
              <a:t> is required for </a:t>
            </a:r>
            <a:r>
              <a:rPr lang="en-IN" sz="2600" dirty="0">
                <a:solidFill>
                  <a:srgbClr val="FF0000"/>
                </a:solidFill>
              </a:rPr>
              <a:t>determining the right tax to be charged on the invoice</a:t>
            </a:r>
            <a:r>
              <a:rPr lang="en-IN" sz="2600" dirty="0"/>
              <a:t>, whether IGST or CGST/SGST will apply</a:t>
            </a:r>
            <a:r>
              <a:rPr lang="en-IN" sz="2600" dirty="0" smtClean="0"/>
              <a:t>.</a:t>
            </a:r>
          </a:p>
          <a:p>
            <a:pPr lvl="0"/>
            <a:endParaRPr lang="en-IN" sz="2600" dirty="0"/>
          </a:p>
          <a:p>
            <a:pPr marL="457200" lvl="0" indent="-457200">
              <a:buFont typeface="Arial" panose="020B0604020202020204" pitchFamily="34" charset="0"/>
              <a:buChar char="•"/>
            </a:pPr>
            <a:r>
              <a:rPr lang="en-IN" sz="2600" b="1" dirty="0"/>
              <a:t>Value of supply</a:t>
            </a:r>
            <a:r>
              <a:rPr lang="en-IN" sz="2600" dirty="0"/>
              <a:t> is important because </a:t>
            </a:r>
            <a:r>
              <a:rPr lang="en-IN" sz="2600" dirty="0">
                <a:solidFill>
                  <a:srgbClr val="FF0000"/>
                </a:solidFill>
              </a:rPr>
              <a:t>GST is calculated on the value of the sale.</a:t>
            </a:r>
            <a:r>
              <a:rPr lang="en-IN" sz="2600" dirty="0"/>
              <a:t> If the value is calculated incorrectly, then the amount of GST charged is also incorrect  </a:t>
            </a:r>
          </a:p>
        </p:txBody>
      </p:sp>
    </p:spTree>
    <p:extLst>
      <p:ext uri="{BB962C8B-B14F-4D97-AF65-F5344CB8AC3E}">
        <p14:creationId xmlns:p14="http://schemas.microsoft.com/office/powerpoint/2010/main" val="3760894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US" sz="2800" b="1" dirty="0" smtClean="0">
              <a:solidFill>
                <a:schemeClr val="tx1"/>
              </a:solidFill>
              <a:latin typeface="Times New Roman" panose="02020603050405020304" pitchFamily="18" charset="0"/>
              <a:cs typeface="Times New Roman" panose="02020603050405020304" pitchFamily="18" charset="0"/>
            </a:endParaRPr>
          </a:p>
          <a:p>
            <a:endParaRPr lang="en-US" sz="2800" b="1" dirty="0" smtClean="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IN" sz="2800" dirty="0" smtClean="0">
              <a:solidFill>
                <a:schemeClr val="tx1"/>
              </a:solidFill>
            </a:endParaRPr>
          </a:p>
          <a:p>
            <a:pPr marL="457200" indent="-457200">
              <a:buFont typeface="Wingdings" panose="05000000000000000000" pitchFamily="2" charset="2"/>
              <a:buChar char="Ø"/>
            </a:pPr>
            <a:endParaRPr lang="en-IN" sz="2800" dirty="0" smtClean="0">
              <a:solidFill>
                <a:schemeClr val="tx1"/>
              </a:solidFill>
            </a:endParaRPr>
          </a:p>
          <a:p>
            <a:pPr marL="457200" indent="-457200">
              <a:buFont typeface="Wingdings" panose="05000000000000000000" pitchFamily="2" charset="2"/>
              <a:buChar char="Ø"/>
            </a:pPr>
            <a:endParaRPr lang="en-IN" sz="2600" dirty="0" smtClean="0">
              <a:solidFill>
                <a:schemeClr val="tx1"/>
              </a:solidFill>
            </a:endParaRPr>
          </a:p>
          <a:p>
            <a:pPr marL="457200" indent="-457200">
              <a:buFont typeface="Wingdings" panose="05000000000000000000" pitchFamily="2" charset="2"/>
              <a:buChar char="Ø"/>
            </a:pPr>
            <a:endParaRPr lang="en-US" sz="26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r>
              <a:rPr lang="en-US" sz="2800" dirty="0" smtClean="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1791788" y="240530"/>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600" b="1" dirty="0"/>
              <a:t>Time of Supply of Goods</a:t>
            </a:r>
            <a:endParaRPr lang="en-IN" sz="3600" dirty="0"/>
          </a:p>
        </p:txBody>
      </p:sp>
      <p:sp>
        <p:nvSpPr>
          <p:cNvPr id="3" name="TextBox 2"/>
          <p:cNvSpPr txBox="1"/>
          <p:nvPr/>
        </p:nvSpPr>
        <p:spPr>
          <a:xfrm>
            <a:off x="634483" y="1222311"/>
            <a:ext cx="10170366" cy="4031873"/>
          </a:xfrm>
          <a:prstGeom prst="rect">
            <a:avLst/>
          </a:prstGeom>
          <a:noFill/>
        </p:spPr>
        <p:txBody>
          <a:bodyPr wrap="square" rtlCol="0">
            <a:spAutoFit/>
          </a:bodyPr>
          <a:lstStyle/>
          <a:p>
            <a:r>
              <a:rPr lang="en-IN" sz="3200" dirty="0">
                <a:hlinkClick r:id="rId2"/>
              </a:rPr>
              <a:t>Time of supply of goods</a:t>
            </a:r>
            <a:r>
              <a:rPr lang="en-IN" sz="3200" dirty="0"/>
              <a:t> is earliest of:</a:t>
            </a:r>
          </a:p>
          <a:p>
            <a:r>
              <a:rPr lang="en-IN" sz="3200" dirty="0"/>
              <a:t>1. Date of issue of invoice</a:t>
            </a:r>
          </a:p>
          <a:p>
            <a:r>
              <a:rPr lang="en-IN" sz="3200" dirty="0"/>
              <a:t>2. Last date on which invoice should have been issued</a:t>
            </a:r>
          </a:p>
          <a:p>
            <a:r>
              <a:rPr lang="en-IN" sz="3200" dirty="0"/>
              <a:t>3. Date of receipt of advance/ payment*.</a:t>
            </a:r>
          </a:p>
          <a:p>
            <a:r>
              <a:rPr lang="en-IN" sz="3200" dirty="0"/>
              <a:t>For example:</a:t>
            </a:r>
          </a:p>
          <a:p>
            <a:r>
              <a:rPr lang="en-IN" sz="3200" dirty="0"/>
              <a:t>Mr. X sold goods to Mr. Y worth Rs 1,00,000. The invoice was issued on 15th January. The payment was received on 31st January. The goods were supplied on 20th January.</a:t>
            </a:r>
          </a:p>
        </p:txBody>
      </p:sp>
    </p:spTree>
    <p:extLst>
      <p:ext uri="{BB962C8B-B14F-4D97-AF65-F5344CB8AC3E}">
        <p14:creationId xmlns:p14="http://schemas.microsoft.com/office/powerpoint/2010/main" val="1570805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US" sz="2800" b="1" dirty="0" smtClean="0">
              <a:solidFill>
                <a:schemeClr val="tx1"/>
              </a:solidFill>
              <a:latin typeface="Times New Roman" panose="02020603050405020304" pitchFamily="18" charset="0"/>
              <a:cs typeface="Times New Roman" panose="02020603050405020304" pitchFamily="18" charset="0"/>
            </a:endParaRPr>
          </a:p>
          <a:p>
            <a:endParaRPr lang="en-US" sz="2800" b="1" dirty="0" smtClean="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IN" sz="2800" dirty="0" smtClean="0">
              <a:solidFill>
                <a:schemeClr val="tx1"/>
              </a:solidFill>
            </a:endParaRPr>
          </a:p>
          <a:p>
            <a:pPr marL="457200" indent="-457200">
              <a:buFont typeface="Wingdings" panose="05000000000000000000" pitchFamily="2" charset="2"/>
              <a:buChar char="Ø"/>
            </a:pPr>
            <a:endParaRPr lang="en-IN" sz="2800" dirty="0" smtClean="0">
              <a:solidFill>
                <a:schemeClr val="tx1"/>
              </a:solidFill>
            </a:endParaRPr>
          </a:p>
          <a:p>
            <a:pPr marL="457200" indent="-457200">
              <a:buFont typeface="Wingdings" panose="05000000000000000000" pitchFamily="2" charset="2"/>
              <a:buChar char="Ø"/>
            </a:pPr>
            <a:endParaRPr lang="en-IN" sz="2600" dirty="0" smtClean="0">
              <a:solidFill>
                <a:schemeClr val="tx1"/>
              </a:solidFill>
            </a:endParaRPr>
          </a:p>
          <a:p>
            <a:pPr marL="457200" indent="-457200">
              <a:buFont typeface="Wingdings" panose="05000000000000000000" pitchFamily="2" charset="2"/>
              <a:buChar char="Ø"/>
            </a:pPr>
            <a:endParaRPr lang="en-US" sz="26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r>
              <a:rPr lang="en-US" sz="2800" dirty="0" smtClean="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1791788" y="240530"/>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600" b="1" dirty="0"/>
              <a:t>Time of Supply of Goods</a:t>
            </a:r>
            <a:endParaRPr lang="en-IN" sz="3600" dirty="0"/>
          </a:p>
        </p:txBody>
      </p:sp>
      <p:sp>
        <p:nvSpPr>
          <p:cNvPr id="3" name="TextBox 2"/>
          <p:cNvSpPr txBox="1"/>
          <p:nvPr/>
        </p:nvSpPr>
        <p:spPr>
          <a:xfrm>
            <a:off x="737118" y="1194318"/>
            <a:ext cx="10011747" cy="4832092"/>
          </a:xfrm>
          <a:prstGeom prst="rect">
            <a:avLst/>
          </a:prstGeom>
          <a:noFill/>
        </p:spPr>
        <p:txBody>
          <a:bodyPr wrap="square" rtlCol="0">
            <a:spAutoFit/>
          </a:bodyPr>
          <a:lstStyle/>
          <a:p>
            <a:r>
              <a:rPr lang="en-IN" sz="2800" dirty="0"/>
              <a:t>Let us analyze and arrive at the time of supply in this case.</a:t>
            </a:r>
          </a:p>
          <a:p>
            <a:r>
              <a:rPr lang="en-IN" sz="2800" dirty="0"/>
              <a:t>Time of supply is earliest of –</a:t>
            </a:r>
          </a:p>
          <a:p>
            <a:r>
              <a:rPr lang="en-IN" sz="2800" dirty="0"/>
              <a:t>Date of issue of invoice – 15th January</a:t>
            </a:r>
          </a:p>
          <a:p>
            <a:r>
              <a:rPr lang="en-IN" sz="2800" dirty="0"/>
              <a:t>Last date on which invoice should have been issued  – 20th January.</a:t>
            </a:r>
          </a:p>
          <a:p>
            <a:r>
              <a:rPr lang="en-IN" sz="2800" dirty="0"/>
              <a:t>Thus the time of supply is 15th January.</a:t>
            </a:r>
          </a:p>
          <a:p>
            <a:endParaRPr lang="en-IN" sz="2800" dirty="0" smtClean="0">
              <a:solidFill>
                <a:srgbClr val="7030A0"/>
              </a:solidFill>
            </a:endParaRPr>
          </a:p>
          <a:p>
            <a:r>
              <a:rPr lang="en-IN" sz="2800" dirty="0" smtClean="0">
                <a:solidFill>
                  <a:srgbClr val="7030A0"/>
                </a:solidFill>
              </a:rPr>
              <a:t>What </a:t>
            </a:r>
            <a:r>
              <a:rPr lang="en-IN" sz="2800" dirty="0">
                <a:solidFill>
                  <a:srgbClr val="7030A0"/>
                </a:solidFill>
              </a:rPr>
              <a:t>will happen if, in the same example an advance of Rs 50,000 is received by Mr. X on 1st January?</a:t>
            </a:r>
          </a:p>
          <a:p>
            <a:r>
              <a:rPr lang="en-IN" sz="2800" dirty="0"/>
              <a:t>The time of supply for the advance of Rs 50,000 will be 1st </a:t>
            </a:r>
            <a:r>
              <a:rPr lang="en-IN" sz="2800" dirty="0" smtClean="0"/>
              <a:t>January (</a:t>
            </a:r>
            <a:r>
              <a:rPr lang="en-IN" sz="2800" dirty="0"/>
              <a:t>since the date of receipt of advance is before the invoice is issued). For the balance Rs 50,000, the time of supply will be 15th January</a:t>
            </a:r>
            <a:r>
              <a:rPr lang="en-IN" sz="2800" dirty="0" smtClean="0"/>
              <a:t>.</a:t>
            </a:r>
            <a:endParaRPr lang="en-IN" sz="2800" dirty="0"/>
          </a:p>
        </p:txBody>
      </p:sp>
    </p:spTree>
    <p:extLst>
      <p:ext uri="{BB962C8B-B14F-4D97-AF65-F5344CB8AC3E}">
        <p14:creationId xmlns:p14="http://schemas.microsoft.com/office/powerpoint/2010/main" val="1402138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US" sz="2800" b="1" dirty="0" smtClean="0">
              <a:solidFill>
                <a:schemeClr val="tx1"/>
              </a:solidFill>
              <a:latin typeface="Times New Roman" panose="02020603050405020304" pitchFamily="18" charset="0"/>
              <a:cs typeface="Times New Roman" panose="02020603050405020304" pitchFamily="18" charset="0"/>
            </a:endParaRPr>
          </a:p>
          <a:p>
            <a:endParaRPr lang="en-US" sz="2800" b="1" dirty="0" smtClean="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IN" sz="2800" dirty="0" smtClean="0">
              <a:solidFill>
                <a:schemeClr val="tx1"/>
              </a:solidFill>
            </a:endParaRPr>
          </a:p>
          <a:p>
            <a:pPr marL="457200" indent="-457200">
              <a:buFont typeface="Wingdings" panose="05000000000000000000" pitchFamily="2" charset="2"/>
              <a:buChar char="Ø"/>
            </a:pPr>
            <a:endParaRPr lang="en-IN" sz="2800" dirty="0" smtClean="0">
              <a:solidFill>
                <a:schemeClr val="tx1"/>
              </a:solidFill>
            </a:endParaRPr>
          </a:p>
          <a:p>
            <a:pPr marL="457200" indent="-457200">
              <a:buFont typeface="Wingdings" panose="05000000000000000000" pitchFamily="2" charset="2"/>
              <a:buChar char="Ø"/>
            </a:pPr>
            <a:endParaRPr lang="en-IN" sz="2600" dirty="0" smtClean="0">
              <a:solidFill>
                <a:schemeClr val="tx1"/>
              </a:solidFill>
            </a:endParaRPr>
          </a:p>
          <a:p>
            <a:pPr marL="457200" indent="-457200">
              <a:buFont typeface="Wingdings" panose="05000000000000000000" pitchFamily="2" charset="2"/>
              <a:buChar char="Ø"/>
            </a:pPr>
            <a:endParaRPr lang="en-US" sz="26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r>
              <a:rPr lang="en-US" sz="2800" dirty="0" smtClean="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1791788" y="240530"/>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600" b="1" dirty="0"/>
              <a:t>Time of Supply for Services</a:t>
            </a:r>
            <a:endParaRPr lang="en-IN" sz="3600" dirty="0"/>
          </a:p>
        </p:txBody>
      </p:sp>
      <p:sp>
        <p:nvSpPr>
          <p:cNvPr id="3" name="TextBox 2"/>
          <p:cNvSpPr txBox="1"/>
          <p:nvPr/>
        </p:nvSpPr>
        <p:spPr>
          <a:xfrm>
            <a:off x="737118" y="1194318"/>
            <a:ext cx="10011747" cy="5416868"/>
          </a:xfrm>
          <a:prstGeom prst="rect">
            <a:avLst/>
          </a:prstGeom>
          <a:noFill/>
        </p:spPr>
        <p:txBody>
          <a:bodyPr wrap="square" rtlCol="0">
            <a:spAutoFit/>
          </a:bodyPr>
          <a:lstStyle/>
          <a:p>
            <a:r>
              <a:rPr lang="en-IN" sz="3200" dirty="0" smtClean="0">
                <a:hlinkClick r:id="rId2"/>
              </a:rPr>
              <a:t>Time of supply of services</a:t>
            </a:r>
            <a:r>
              <a:rPr lang="en-IN" sz="3200" dirty="0" smtClean="0"/>
              <a:t> is earliest of:</a:t>
            </a:r>
          </a:p>
          <a:p>
            <a:r>
              <a:rPr lang="en-IN" sz="3200" dirty="0" smtClean="0"/>
              <a:t>Date of issue of invoice</a:t>
            </a:r>
          </a:p>
          <a:p>
            <a:r>
              <a:rPr lang="en-IN" sz="3200" dirty="0" smtClean="0"/>
              <a:t>Date of receipt of advance/ payment.</a:t>
            </a:r>
          </a:p>
          <a:p>
            <a:r>
              <a:rPr lang="en-IN" sz="3200" dirty="0" smtClean="0"/>
              <a:t>Date of provision of services (if invoice is not issued within prescribed period)</a:t>
            </a:r>
          </a:p>
          <a:p>
            <a:r>
              <a:rPr lang="en-IN" sz="3200" dirty="0" smtClean="0"/>
              <a:t>Let us understand this using an example:</a:t>
            </a:r>
          </a:p>
          <a:p>
            <a:r>
              <a:rPr lang="en-IN" sz="3200" dirty="0" smtClean="0"/>
              <a:t>Mr. A provides services worth Rs 20000 to Mr. B on 1st January. The invoice was issued on 20th January and the payment for the same was received on 1st February.</a:t>
            </a:r>
          </a:p>
          <a:p>
            <a:r>
              <a:rPr lang="en-IN" sz="3200" dirty="0"/>
              <a:t> </a:t>
            </a:r>
          </a:p>
          <a:p>
            <a:pPr lvl="0"/>
            <a:r>
              <a:rPr lang="en-IN" sz="2600" dirty="0"/>
              <a:t> </a:t>
            </a:r>
          </a:p>
        </p:txBody>
      </p:sp>
    </p:spTree>
    <p:extLst>
      <p:ext uri="{BB962C8B-B14F-4D97-AF65-F5344CB8AC3E}">
        <p14:creationId xmlns:p14="http://schemas.microsoft.com/office/powerpoint/2010/main" val="2681134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US" sz="2800" b="1" dirty="0" smtClean="0">
              <a:solidFill>
                <a:schemeClr val="tx1"/>
              </a:solidFill>
              <a:latin typeface="Times New Roman" panose="02020603050405020304" pitchFamily="18" charset="0"/>
              <a:cs typeface="Times New Roman" panose="02020603050405020304" pitchFamily="18" charset="0"/>
            </a:endParaRPr>
          </a:p>
          <a:p>
            <a:endParaRPr lang="en-US" sz="2800" b="1" dirty="0" smtClean="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IN" sz="2800" dirty="0" smtClean="0">
              <a:solidFill>
                <a:schemeClr val="tx1"/>
              </a:solidFill>
            </a:endParaRPr>
          </a:p>
          <a:p>
            <a:pPr marL="457200" indent="-457200">
              <a:buFont typeface="Wingdings" panose="05000000000000000000" pitchFamily="2" charset="2"/>
              <a:buChar char="Ø"/>
            </a:pPr>
            <a:endParaRPr lang="en-IN" sz="2800" dirty="0" smtClean="0">
              <a:solidFill>
                <a:schemeClr val="tx1"/>
              </a:solidFill>
            </a:endParaRPr>
          </a:p>
          <a:p>
            <a:pPr marL="457200" indent="-457200">
              <a:buFont typeface="Wingdings" panose="05000000000000000000" pitchFamily="2" charset="2"/>
              <a:buChar char="Ø"/>
            </a:pPr>
            <a:endParaRPr lang="en-IN" sz="2600" dirty="0" smtClean="0">
              <a:solidFill>
                <a:schemeClr val="tx1"/>
              </a:solidFill>
            </a:endParaRPr>
          </a:p>
          <a:p>
            <a:pPr marL="457200" indent="-457200">
              <a:buFont typeface="Wingdings" panose="05000000000000000000" pitchFamily="2" charset="2"/>
              <a:buChar char="Ø"/>
            </a:pPr>
            <a:endParaRPr lang="en-US" sz="26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r>
              <a:rPr lang="en-US" sz="2800" dirty="0" smtClean="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1791788" y="240530"/>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600" b="1" dirty="0"/>
              <a:t>Time of Supply for Services</a:t>
            </a:r>
            <a:endParaRPr lang="en-IN" sz="3600" dirty="0"/>
          </a:p>
        </p:txBody>
      </p:sp>
      <p:sp>
        <p:nvSpPr>
          <p:cNvPr id="3" name="TextBox 2"/>
          <p:cNvSpPr txBox="1"/>
          <p:nvPr/>
        </p:nvSpPr>
        <p:spPr>
          <a:xfrm>
            <a:off x="737118" y="953286"/>
            <a:ext cx="10310327" cy="5509200"/>
          </a:xfrm>
          <a:prstGeom prst="rect">
            <a:avLst/>
          </a:prstGeom>
          <a:noFill/>
        </p:spPr>
        <p:txBody>
          <a:bodyPr wrap="square" rtlCol="0">
            <a:spAutoFit/>
          </a:bodyPr>
          <a:lstStyle/>
          <a:p>
            <a:r>
              <a:rPr lang="en-IN" sz="3200" dirty="0"/>
              <a:t>In the present case, </a:t>
            </a:r>
            <a:r>
              <a:rPr lang="en-IN" sz="3200" dirty="0">
                <a:solidFill>
                  <a:srgbClr val="FF0000"/>
                </a:solidFill>
              </a:rPr>
              <a:t>we need to 1st check if the invoice was issued within the prescribed time</a:t>
            </a:r>
            <a:r>
              <a:rPr lang="en-IN" sz="3200" dirty="0"/>
              <a:t>. </a:t>
            </a:r>
            <a:endParaRPr lang="en-IN" sz="3200" dirty="0" smtClean="0"/>
          </a:p>
          <a:p>
            <a:r>
              <a:rPr lang="en-IN" sz="3200" dirty="0" smtClean="0"/>
              <a:t>The </a:t>
            </a:r>
            <a:r>
              <a:rPr lang="en-IN" sz="3200" dirty="0"/>
              <a:t>prescribed time is 30 days from the date of supply i.e. 31st January. The invoice was issued on 20th January. This means that the invoice was issued within a prescribed time limit.</a:t>
            </a:r>
          </a:p>
          <a:p>
            <a:r>
              <a:rPr lang="en-IN" sz="3200" dirty="0"/>
              <a:t>The time of supply will be earliest of –</a:t>
            </a:r>
          </a:p>
          <a:p>
            <a:pPr lvl="0"/>
            <a:r>
              <a:rPr lang="en-IN" sz="3200" dirty="0"/>
              <a:t>Date of issue of invoice – 20th January</a:t>
            </a:r>
          </a:p>
          <a:p>
            <a:pPr lvl="0"/>
            <a:r>
              <a:rPr lang="en-IN" sz="3200" dirty="0"/>
              <a:t>Date of payment = 1st February</a:t>
            </a:r>
          </a:p>
          <a:p>
            <a:r>
              <a:rPr lang="en-IN" sz="3200" dirty="0"/>
              <a:t>This means that the time of supply of services will be 20th January</a:t>
            </a:r>
            <a:r>
              <a:rPr lang="en-IN" sz="3200" dirty="0" smtClean="0"/>
              <a:t>.</a:t>
            </a:r>
            <a:endParaRPr lang="en-IN" sz="3200" dirty="0"/>
          </a:p>
        </p:txBody>
      </p:sp>
    </p:spTree>
    <p:extLst>
      <p:ext uri="{BB962C8B-B14F-4D97-AF65-F5344CB8AC3E}">
        <p14:creationId xmlns:p14="http://schemas.microsoft.com/office/powerpoint/2010/main" val="2889915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US" sz="2800" b="1" dirty="0" smtClean="0">
              <a:solidFill>
                <a:schemeClr val="tx1"/>
              </a:solidFill>
              <a:latin typeface="Times New Roman" panose="02020603050405020304" pitchFamily="18" charset="0"/>
              <a:cs typeface="Times New Roman" panose="02020603050405020304" pitchFamily="18" charset="0"/>
            </a:endParaRPr>
          </a:p>
          <a:p>
            <a:endParaRPr lang="en-US" sz="2800" b="1" dirty="0" smtClean="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IN" sz="2800" dirty="0" smtClean="0">
              <a:solidFill>
                <a:schemeClr val="tx1"/>
              </a:solidFill>
            </a:endParaRPr>
          </a:p>
          <a:p>
            <a:pPr marL="457200" indent="-457200">
              <a:buFont typeface="Wingdings" panose="05000000000000000000" pitchFamily="2" charset="2"/>
              <a:buChar char="Ø"/>
            </a:pPr>
            <a:endParaRPr lang="en-IN" sz="2800" dirty="0" smtClean="0">
              <a:solidFill>
                <a:schemeClr val="tx1"/>
              </a:solidFill>
            </a:endParaRPr>
          </a:p>
          <a:p>
            <a:pPr marL="457200" indent="-457200">
              <a:buFont typeface="Wingdings" panose="05000000000000000000" pitchFamily="2" charset="2"/>
              <a:buChar char="Ø"/>
            </a:pPr>
            <a:endParaRPr lang="en-IN" sz="2600" dirty="0" smtClean="0">
              <a:solidFill>
                <a:schemeClr val="tx1"/>
              </a:solidFill>
            </a:endParaRPr>
          </a:p>
          <a:p>
            <a:pPr marL="457200" indent="-457200">
              <a:buFont typeface="Wingdings" panose="05000000000000000000" pitchFamily="2" charset="2"/>
              <a:buChar char="Ø"/>
            </a:pPr>
            <a:endParaRPr lang="en-US" sz="26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r>
              <a:rPr lang="en-US" sz="2800" dirty="0" smtClean="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1567854" y="231200"/>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400" b="1" dirty="0" smtClean="0"/>
              <a:t>Time </a:t>
            </a:r>
            <a:r>
              <a:rPr lang="en-IN" sz="3400" b="1" dirty="0"/>
              <a:t>of Supply under Reverse </a:t>
            </a:r>
            <a:r>
              <a:rPr lang="en-IN" sz="3400" b="1" dirty="0" smtClean="0"/>
              <a:t>Charge</a:t>
            </a:r>
            <a:endParaRPr lang="en-IN" sz="3400" dirty="0"/>
          </a:p>
        </p:txBody>
      </p:sp>
      <p:sp>
        <p:nvSpPr>
          <p:cNvPr id="3" name="TextBox 2"/>
          <p:cNvSpPr txBox="1"/>
          <p:nvPr/>
        </p:nvSpPr>
        <p:spPr>
          <a:xfrm>
            <a:off x="737118" y="1194318"/>
            <a:ext cx="10011747" cy="5693866"/>
          </a:xfrm>
          <a:prstGeom prst="rect">
            <a:avLst/>
          </a:prstGeom>
          <a:noFill/>
        </p:spPr>
        <p:txBody>
          <a:bodyPr wrap="square" rtlCol="0">
            <a:spAutoFit/>
          </a:bodyPr>
          <a:lstStyle/>
          <a:p>
            <a:r>
              <a:rPr lang="en-IN" sz="2600" dirty="0"/>
              <a:t>In case of reverse charge the time of supply for service receiver is earliest of:</a:t>
            </a:r>
          </a:p>
          <a:p>
            <a:r>
              <a:rPr lang="en-IN" sz="2600" dirty="0"/>
              <a:t>Date of payment*</a:t>
            </a:r>
          </a:p>
          <a:p>
            <a:r>
              <a:rPr lang="en-IN" sz="2600" dirty="0">
                <a:solidFill>
                  <a:srgbClr val="7030A0"/>
                </a:solidFill>
              </a:rPr>
              <a:t>30 days from date of issue of invoice for goods (60 days for services)</a:t>
            </a:r>
          </a:p>
          <a:p>
            <a:r>
              <a:rPr lang="en-IN" sz="2600" dirty="0" smtClean="0"/>
              <a:t>For </a:t>
            </a:r>
            <a:r>
              <a:rPr lang="en-IN" sz="2600" dirty="0"/>
              <a:t>example:</a:t>
            </a:r>
          </a:p>
          <a:p>
            <a:r>
              <a:rPr lang="en-IN" sz="2600" dirty="0"/>
              <a:t>M/s ABC Pvt. Ltd undertook service of a director Mr. X worth Rs. 50,000 on 15th January. The invoice was raised on 1st February. M/s ABC Pvt Ltd made the payment on 1st May.</a:t>
            </a:r>
          </a:p>
          <a:p>
            <a:r>
              <a:rPr lang="en-IN" sz="2600" dirty="0"/>
              <a:t>The time of supply, in this case, will be earliest of –</a:t>
            </a:r>
          </a:p>
          <a:p>
            <a:pPr lvl="0"/>
            <a:r>
              <a:rPr lang="en-IN" sz="2600" dirty="0"/>
              <a:t>Date of payment = 1st May</a:t>
            </a:r>
          </a:p>
          <a:p>
            <a:pPr lvl="0"/>
            <a:r>
              <a:rPr lang="en-IN" sz="2600" dirty="0"/>
              <a:t>60 days from date of </a:t>
            </a:r>
            <a:r>
              <a:rPr lang="en-IN" sz="2600" dirty="0" smtClean="0"/>
              <a:t>issue </a:t>
            </a:r>
            <a:r>
              <a:rPr lang="en-IN" sz="2600" dirty="0"/>
              <a:t>of invoice – 2nd April</a:t>
            </a:r>
          </a:p>
          <a:p>
            <a:r>
              <a:rPr lang="en-IN" sz="2600" dirty="0"/>
              <a:t>Thus, the time of supply of services is 2nd April.</a:t>
            </a:r>
          </a:p>
          <a:p>
            <a:r>
              <a:rPr lang="en-IN" sz="2600" dirty="0"/>
              <a:t> </a:t>
            </a:r>
          </a:p>
          <a:p>
            <a:pPr lvl="0"/>
            <a:r>
              <a:rPr lang="en-IN" sz="2600" dirty="0"/>
              <a:t> </a:t>
            </a:r>
          </a:p>
        </p:txBody>
      </p:sp>
    </p:spTree>
    <p:extLst>
      <p:ext uri="{BB962C8B-B14F-4D97-AF65-F5344CB8AC3E}">
        <p14:creationId xmlns:p14="http://schemas.microsoft.com/office/powerpoint/2010/main" val="4066892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US" sz="2800" b="1" dirty="0" smtClean="0">
              <a:solidFill>
                <a:schemeClr val="tx1"/>
              </a:solidFill>
              <a:latin typeface="Times New Roman" panose="02020603050405020304" pitchFamily="18" charset="0"/>
              <a:cs typeface="Times New Roman" panose="02020603050405020304" pitchFamily="18" charset="0"/>
            </a:endParaRPr>
          </a:p>
          <a:p>
            <a:endParaRPr lang="en-US" sz="2800" b="1" dirty="0" smtClean="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IN" sz="2800" dirty="0" smtClean="0">
              <a:solidFill>
                <a:schemeClr val="tx1"/>
              </a:solidFill>
            </a:endParaRPr>
          </a:p>
          <a:p>
            <a:pPr marL="457200" indent="-457200">
              <a:buFont typeface="Wingdings" panose="05000000000000000000" pitchFamily="2" charset="2"/>
              <a:buChar char="Ø"/>
            </a:pPr>
            <a:endParaRPr lang="en-IN" sz="2800" dirty="0" smtClean="0">
              <a:solidFill>
                <a:schemeClr val="tx1"/>
              </a:solidFill>
            </a:endParaRPr>
          </a:p>
          <a:p>
            <a:pPr marL="457200" indent="-457200">
              <a:buFont typeface="Wingdings" panose="05000000000000000000" pitchFamily="2" charset="2"/>
              <a:buChar char="Ø"/>
            </a:pPr>
            <a:endParaRPr lang="en-IN" sz="2600" dirty="0" smtClean="0">
              <a:solidFill>
                <a:schemeClr val="tx1"/>
              </a:solidFill>
            </a:endParaRPr>
          </a:p>
          <a:p>
            <a:pPr marL="457200" indent="-457200">
              <a:buFont typeface="Wingdings" panose="05000000000000000000" pitchFamily="2" charset="2"/>
              <a:buChar char="Ø"/>
            </a:pPr>
            <a:endParaRPr lang="en-US" sz="26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r>
              <a:rPr lang="en-US" sz="2800" dirty="0" smtClean="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1567854" y="231200"/>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400" b="1" dirty="0"/>
              <a:t>Place of </a:t>
            </a:r>
            <a:r>
              <a:rPr lang="en-IN" sz="3400" b="1" dirty="0" smtClean="0"/>
              <a:t>Supply</a:t>
            </a:r>
            <a:endParaRPr lang="en-IN" sz="3400" dirty="0"/>
          </a:p>
        </p:txBody>
      </p:sp>
      <p:sp>
        <p:nvSpPr>
          <p:cNvPr id="3" name="TextBox 2"/>
          <p:cNvSpPr txBox="1"/>
          <p:nvPr/>
        </p:nvSpPr>
        <p:spPr>
          <a:xfrm>
            <a:off x="737118" y="1194318"/>
            <a:ext cx="10011747" cy="1969770"/>
          </a:xfrm>
          <a:prstGeom prst="rect">
            <a:avLst/>
          </a:prstGeom>
          <a:noFill/>
        </p:spPr>
        <p:txBody>
          <a:bodyPr wrap="square" rtlCol="0">
            <a:spAutoFit/>
          </a:bodyPr>
          <a:lstStyle/>
          <a:p>
            <a:r>
              <a:rPr lang="en-IN" sz="2400" dirty="0"/>
              <a:t>It is very important to understand the term ‘</a:t>
            </a:r>
            <a:r>
              <a:rPr lang="en-IN" sz="2400" dirty="0">
                <a:hlinkClick r:id="rId2"/>
              </a:rPr>
              <a:t>place of supply</a:t>
            </a:r>
            <a:r>
              <a:rPr lang="en-IN" sz="2400" dirty="0"/>
              <a:t>’ for determining the right tax to be charged on the invoice.   </a:t>
            </a:r>
          </a:p>
          <a:p>
            <a:r>
              <a:rPr lang="en-IN" sz="2400" dirty="0"/>
              <a:t>Here is an example</a:t>
            </a:r>
            <a:r>
              <a:rPr lang="en-IN" sz="2400" dirty="0" smtClean="0"/>
              <a:t>:</a:t>
            </a:r>
          </a:p>
          <a:p>
            <a:endParaRPr lang="en-IN" sz="2400" dirty="0"/>
          </a:p>
          <a:p>
            <a:pPr lvl="0"/>
            <a:r>
              <a:rPr lang="en-IN" sz="2600" dirty="0"/>
              <a:t> </a:t>
            </a:r>
          </a:p>
        </p:txBody>
      </p:sp>
      <p:graphicFrame>
        <p:nvGraphicFramePr>
          <p:cNvPr id="7" name="Table 6"/>
          <p:cNvGraphicFramePr>
            <a:graphicFrameLocks noGrp="1"/>
          </p:cNvGraphicFramePr>
          <p:nvPr>
            <p:extLst/>
          </p:nvPr>
        </p:nvGraphicFramePr>
        <p:xfrm>
          <a:off x="1129004" y="2715208"/>
          <a:ext cx="8556172" cy="2099388"/>
        </p:xfrm>
        <a:graphic>
          <a:graphicData uri="http://schemas.openxmlformats.org/drawingml/2006/table">
            <a:tbl>
              <a:tblPr firstRow="1" firstCol="1" bandRow="1">
                <a:tableStyleId>{5C22544A-7EE6-4342-B048-85BDC9FD1C3A}</a:tableStyleId>
              </a:tblPr>
              <a:tblGrid>
                <a:gridCol w="2383125">
                  <a:extLst>
                    <a:ext uri="{9D8B030D-6E8A-4147-A177-3AD203B41FA5}">
                      <a16:colId xmlns:a16="http://schemas.microsoft.com/office/drawing/2014/main" val="2334456445"/>
                    </a:ext>
                  </a:extLst>
                </a:gridCol>
                <a:gridCol w="2000582">
                  <a:extLst>
                    <a:ext uri="{9D8B030D-6E8A-4147-A177-3AD203B41FA5}">
                      <a16:colId xmlns:a16="http://schemas.microsoft.com/office/drawing/2014/main" val="663995743"/>
                    </a:ext>
                  </a:extLst>
                </a:gridCol>
                <a:gridCol w="2000582">
                  <a:extLst>
                    <a:ext uri="{9D8B030D-6E8A-4147-A177-3AD203B41FA5}">
                      <a16:colId xmlns:a16="http://schemas.microsoft.com/office/drawing/2014/main" val="3239522926"/>
                    </a:ext>
                  </a:extLst>
                </a:gridCol>
                <a:gridCol w="2171883">
                  <a:extLst>
                    <a:ext uri="{9D8B030D-6E8A-4147-A177-3AD203B41FA5}">
                      <a16:colId xmlns:a16="http://schemas.microsoft.com/office/drawing/2014/main" val="3451897959"/>
                    </a:ext>
                  </a:extLst>
                </a:gridCol>
              </a:tblGrid>
              <a:tr h="1061700">
                <a:tc>
                  <a:txBody>
                    <a:bodyPr/>
                    <a:lstStyle/>
                    <a:p>
                      <a:pPr algn="just">
                        <a:lnSpc>
                          <a:spcPct val="107000"/>
                        </a:lnSpc>
                        <a:spcAft>
                          <a:spcPts val="800"/>
                        </a:spcAft>
                        <a:tabLst>
                          <a:tab pos="1654175" algn="l"/>
                        </a:tabLst>
                      </a:pPr>
                      <a:r>
                        <a:rPr lang="en-IN" sz="2000">
                          <a:effectLst/>
                        </a:rPr>
                        <a:t>Location of Service Receiver</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tabLst>
                          <a:tab pos="1654175" algn="l"/>
                        </a:tabLst>
                      </a:pPr>
                      <a:r>
                        <a:rPr lang="en-IN" sz="2000">
                          <a:effectLst/>
                        </a:rPr>
                        <a:t>Place of supply</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tabLst>
                          <a:tab pos="1654175" algn="l"/>
                        </a:tabLst>
                      </a:pPr>
                      <a:r>
                        <a:rPr lang="en-IN" sz="2000">
                          <a:effectLst/>
                        </a:rPr>
                        <a:t>Nature of Supply</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tabLst>
                          <a:tab pos="1654175" algn="l"/>
                        </a:tabLst>
                      </a:pPr>
                      <a:r>
                        <a:rPr lang="en-IN" sz="2000">
                          <a:effectLst/>
                        </a:rPr>
                        <a:t>GST Applicable</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42583120"/>
                  </a:ext>
                </a:extLst>
              </a:tr>
              <a:tr h="518844">
                <a:tc>
                  <a:txBody>
                    <a:bodyPr/>
                    <a:lstStyle/>
                    <a:p>
                      <a:pPr algn="just">
                        <a:lnSpc>
                          <a:spcPct val="107000"/>
                        </a:lnSpc>
                        <a:spcAft>
                          <a:spcPts val="800"/>
                        </a:spcAft>
                        <a:tabLst>
                          <a:tab pos="1654175" algn="l"/>
                        </a:tabLst>
                      </a:pPr>
                      <a:r>
                        <a:rPr lang="en-IN" sz="2000">
                          <a:effectLst/>
                        </a:rPr>
                        <a:t>Maharashtra</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tabLst>
                          <a:tab pos="1654175" algn="l"/>
                        </a:tabLst>
                      </a:pPr>
                      <a:r>
                        <a:rPr lang="en-IN" sz="2000">
                          <a:effectLst/>
                        </a:rPr>
                        <a:t>Maharashtra</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tabLst>
                          <a:tab pos="1654175" algn="l"/>
                        </a:tabLst>
                      </a:pPr>
                      <a:r>
                        <a:rPr lang="en-IN" sz="2000">
                          <a:effectLst/>
                        </a:rPr>
                        <a:t>Intra-state</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tabLst>
                          <a:tab pos="1654175" algn="l"/>
                        </a:tabLst>
                      </a:pPr>
                      <a:r>
                        <a:rPr lang="en-IN" sz="2000">
                          <a:effectLst/>
                        </a:rPr>
                        <a:t>CGST + SGST</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07784700"/>
                  </a:ext>
                </a:extLst>
              </a:tr>
              <a:tr h="518844">
                <a:tc>
                  <a:txBody>
                    <a:bodyPr/>
                    <a:lstStyle/>
                    <a:p>
                      <a:pPr algn="just">
                        <a:lnSpc>
                          <a:spcPct val="107000"/>
                        </a:lnSpc>
                        <a:spcAft>
                          <a:spcPts val="800"/>
                        </a:spcAft>
                        <a:tabLst>
                          <a:tab pos="1654175" algn="l"/>
                        </a:tabLst>
                      </a:pPr>
                      <a:r>
                        <a:rPr lang="en-IN" sz="2000">
                          <a:effectLst/>
                        </a:rPr>
                        <a:t>Maharashtra</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tabLst>
                          <a:tab pos="1654175" algn="l"/>
                        </a:tabLst>
                      </a:pPr>
                      <a:r>
                        <a:rPr lang="en-IN" sz="2000">
                          <a:effectLst/>
                        </a:rPr>
                        <a:t>Kerala</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tabLst>
                          <a:tab pos="1654175" algn="l"/>
                        </a:tabLst>
                      </a:pPr>
                      <a:r>
                        <a:rPr lang="en-IN" sz="2000">
                          <a:effectLst/>
                        </a:rPr>
                        <a:t>Inter-state</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tabLst>
                          <a:tab pos="1654175" algn="l"/>
                        </a:tabLst>
                      </a:pPr>
                      <a:r>
                        <a:rPr lang="en-IN" sz="2000" dirty="0">
                          <a:effectLst/>
                        </a:rPr>
                        <a:t>IGST</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21623863"/>
                  </a:ext>
                </a:extLst>
              </a:tr>
            </a:tbl>
          </a:graphicData>
        </a:graphic>
      </p:graphicFrame>
    </p:spTree>
    <p:extLst>
      <p:ext uri="{BB962C8B-B14F-4D97-AF65-F5344CB8AC3E}">
        <p14:creationId xmlns:p14="http://schemas.microsoft.com/office/powerpoint/2010/main" val="3532069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US" sz="2800" b="1" dirty="0" smtClean="0">
              <a:solidFill>
                <a:schemeClr val="tx1"/>
              </a:solidFill>
              <a:latin typeface="Times New Roman" panose="02020603050405020304" pitchFamily="18" charset="0"/>
              <a:cs typeface="Times New Roman" panose="02020603050405020304" pitchFamily="18" charset="0"/>
            </a:endParaRPr>
          </a:p>
          <a:p>
            <a:endParaRPr lang="en-US" sz="2800" b="1" dirty="0" smtClean="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IN" sz="2800" dirty="0" smtClean="0">
              <a:solidFill>
                <a:schemeClr val="tx1"/>
              </a:solidFill>
            </a:endParaRPr>
          </a:p>
          <a:p>
            <a:pPr marL="457200" indent="-457200">
              <a:buFont typeface="Wingdings" panose="05000000000000000000" pitchFamily="2" charset="2"/>
              <a:buChar char="Ø"/>
            </a:pPr>
            <a:endParaRPr lang="en-IN" sz="2800" dirty="0" smtClean="0">
              <a:solidFill>
                <a:schemeClr val="tx1"/>
              </a:solidFill>
            </a:endParaRPr>
          </a:p>
          <a:p>
            <a:pPr marL="457200" indent="-457200">
              <a:buFont typeface="Wingdings" panose="05000000000000000000" pitchFamily="2" charset="2"/>
              <a:buChar char="Ø"/>
            </a:pPr>
            <a:endParaRPr lang="en-IN" sz="2600" dirty="0" smtClean="0">
              <a:solidFill>
                <a:schemeClr val="tx1"/>
              </a:solidFill>
            </a:endParaRPr>
          </a:p>
          <a:p>
            <a:pPr marL="457200" indent="-457200">
              <a:buFont typeface="Wingdings" panose="05000000000000000000" pitchFamily="2" charset="2"/>
              <a:buChar char="Ø"/>
            </a:pPr>
            <a:endParaRPr lang="en-US" sz="26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r>
              <a:rPr lang="en-US" sz="2800" dirty="0" smtClean="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1567854" y="231200"/>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400" b="1" dirty="0"/>
              <a:t>Place of Supply of Goods</a:t>
            </a:r>
            <a:endParaRPr lang="en-IN" sz="3400" dirty="0"/>
          </a:p>
        </p:txBody>
      </p:sp>
      <p:sp>
        <p:nvSpPr>
          <p:cNvPr id="3" name="TextBox 2"/>
          <p:cNvSpPr txBox="1"/>
          <p:nvPr/>
        </p:nvSpPr>
        <p:spPr>
          <a:xfrm>
            <a:off x="772560" y="1351707"/>
            <a:ext cx="10011747" cy="5293757"/>
          </a:xfrm>
          <a:prstGeom prst="rect">
            <a:avLst/>
          </a:prstGeom>
          <a:noFill/>
        </p:spPr>
        <p:txBody>
          <a:bodyPr wrap="square" rtlCol="0">
            <a:spAutoFit/>
          </a:bodyPr>
          <a:lstStyle/>
          <a:p>
            <a:r>
              <a:rPr lang="en-IN" sz="2400" dirty="0"/>
              <a:t>Usually, in case of </a:t>
            </a:r>
            <a:r>
              <a:rPr lang="en-IN" sz="2400" dirty="0">
                <a:solidFill>
                  <a:srgbClr val="FF0000"/>
                </a:solidFill>
              </a:rPr>
              <a:t>goods,</a:t>
            </a:r>
            <a:r>
              <a:rPr lang="en-IN" sz="2400" dirty="0"/>
              <a:t> the </a:t>
            </a:r>
            <a:r>
              <a:rPr lang="en-IN" sz="2400" dirty="0">
                <a:solidFill>
                  <a:srgbClr val="FF0000"/>
                </a:solidFill>
              </a:rPr>
              <a:t>place of supply </a:t>
            </a:r>
            <a:r>
              <a:rPr lang="en-IN" sz="2400" dirty="0"/>
              <a:t>is where the </a:t>
            </a:r>
            <a:r>
              <a:rPr lang="en-IN" sz="2400" dirty="0">
                <a:solidFill>
                  <a:srgbClr val="FF0000"/>
                </a:solidFill>
              </a:rPr>
              <a:t>goods are delivered</a:t>
            </a:r>
            <a:r>
              <a:rPr lang="en-IN" sz="2400" dirty="0"/>
              <a:t>.</a:t>
            </a:r>
          </a:p>
          <a:p>
            <a:r>
              <a:rPr lang="en-IN" sz="2400" dirty="0"/>
              <a:t>So,  the </a:t>
            </a:r>
            <a:r>
              <a:rPr lang="en-IN" sz="2400" dirty="0">
                <a:hlinkClick r:id="rId3"/>
              </a:rPr>
              <a:t>place of supply of goods</a:t>
            </a:r>
            <a:r>
              <a:rPr lang="en-IN" sz="2400" dirty="0"/>
              <a:t> is the place where the ownership of goods changes.</a:t>
            </a:r>
          </a:p>
          <a:p>
            <a:r>
              <a:rPr lang="en-IN" sz="2400" dirty="0">
                <a:solidFill>
                  <a:srgbClr val="FF0000"/>
                </a:solidFill>
              </a:rPr>
              <a:t>What if there is no movement of goods</a:t>
            </a:r>
            <a:r>
              <a:rPr lang="en-IN" sz="2400" dirty="0"/>
              <a:t>. In this case, the </a:t>
            </a:r>
            <a:r>
              <a:rPr lang="en-IN" sz="2400" dirty="0">
                <a:solidFill>
                  <a:srgbClr val="FF0000"/>
                </a:solidFill>
              </a:rPr>
              <a:t>place of supply </a:t>
            </a:r>
            <a:r>
              <a:rPr lang="en-IN" sz="2400" dirty="0"/>
              <a:t>is the </a:t>
            </a:r>
            <a:r>
              <a:rPr lang="en-IN" sz="2400" dirty="0">
                <a:solidFill>
                  <a:srgbClr val="FF0000"/>
                </a:solidFill>
              </a:rPr>
              <a:t>location of goods at the time of delivery </a:t>
            </a:r>
            <a:r>
              <a:rPr lang="en-IN" sz="2400" dirty="0"/>
              <a:t>to </a:t>
            </a:r>
            <a:r>
              <a:rPr lang="en-IN" sz="2400" dirty="0">
                <a:solidFill>
                  <a:srgbClr val="FF0000"/>
                </a:solidFill>
              </a:rPr>
              <a:t>the recipient</a:t>
            </a:r>
            <a:r>
              <a:rPr lang="en-IN" sz="2400" dirty="0"/>
              <a:t>.</a:t>
            </a:r>
          </a:p>
          <a:p>
            <a:r>
              <a:rPr lang="en-IN" sz="2400" dirty="0">
                <a:solidFill>
                  <a:srgbClr val="7030A0"/>
                </a:solidFill>
              </a:rPr>
              <a:t>For example</a:t>
            </a:r>
            <a:r>
              <a:rPr lang="en-IN" sz="2400" dirty="0"/>
              <a:t>: In case of sales in a supermarket, the place of supply is the supermarket itself.</a:t>
            </a:r>
          </a:p>
          <a:p>
            <a:r>
              <a:rPr lang="en-IN" sz="2400" dirty="0">
                <a:solidFill>
                  <a:srgbClr val="FF0000"/>
                </a:solidFill>
              </a:rPr>
              <a:t>Place of supply in cases where goods that are assembled and installed</a:t>
            </a:r>
            <a:r>
              <a:rPr lang="en-IN" sz="2400" dirty="0"/>
              <a:t> will be the </a:t>
            </a:r>
            <a:r>
              <a:rPr lang="en-IN" sz="2400" dirty="0">
                <a:solidFill>
                  <a:srgbClr val="FF0000"/>
                </a:solidFill>
              </a:rPr>
              <a:t>location where the installation is done</a:t>
            </a:r>
            <a:r>
              <a:rPr lang="en-IN" sz="2400" dirty="0"/>
              <a:t>.</a:t>
            </a:r>
          </a:p>
          <a:p>
            <a:r>
              <a:rPr lang="en-IN" sz="2400" b="1" dirty="0"/>
              <a:t>For example</a:t>
            </a:r>
            <a:r>
              <a:rPr lang="en-IN" sz="2400" dirty="0"/>
              <a:t>, </a:t>
            </a:r>
            <a:r>
              <a:rPr lang="en-IN" sz="2400" dirty="0">
                <a:solidFill>
                  <a:srgbClr val="FF0000"/>
                </a:solidFill>
              </a:rPr>
              <a:t>A supplier located in Kolkata supplies machinery to the recipient in Delhi. The machinery is installed in the factory of the recipient in Kanpur. In this case, the place of supply of machinery will be Kanpur.</a:t>
            </a:r>
          </a:p>
          <a:p>
            <a:endParaRPr lang="en-IN" sz="2400" dirty="0"/>
          </a:p>
          <a:p>
            <a:pPr lvl="0"/>
            <a:r>
              <a:rPr lang="en-IN" sz="2600" dirty="0"/>
              <a:t> </a:t>
            </a:r>
          </a:p>
        </p:txBody>
      </p:sp>
    </p:spTree>
    <p:extLst>
      <p:ext uri="{BB962C8B-B14F-4D97-AF65-F5344CB8AC3E}">
        <p14:creationId xmlns:p14="http://schemas.microsoft.com/office/powerpoint/2010/main" val="1872299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US" sz="2800" b="1" dirty="0" smtClean="0">
              <a:solidFill>
                <a:schemeClr val="tx1"/>
              </a:solidFill>
              <a:latin typeface="Times New Roman" panose="02020603050405020304" pitchFamily="18" charset="0"/>
              <a:cs typeface="Times New Roman" panose="02020603050405020304" pitchFamily="18" charset="0"/>
            </a:endParaRPr>
          </a:p>
          <a:p>
            <a:endParaRPr lang="en-US" sz="2800" b="1" dirty="0" smtClean="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IN" sz="2800" dirty="0" smtClean="0">
              <a:solidFill>
                <a:schemeClr val="tx1"/>
              </a:solidFill>
            </a:endParaRPr>
          </a:p>
          <a:p>
            <a:pPr marL="457200" indent="-457200">
              <a:buFont typeface="Wingdings" panose="05000000000000000000" pitchFamily="2" charset="2"/>
              <a:buChar char="Ø"/>
            </a:pPr>
            <a:endParaRPr lang="en-IN" sz="2800" dirty="0" smtClean="0">
              <a:solidFill>
                <a:schemeClr val="tx1"/>
              </a:solidFill>
            </a:endParaRPr>
          </a:p>
          <a:p>
            <a:pPr marL="457200" indent="-457200">
              <a:buFont typeface="Wingdings" panose="05000000000000000000" pitchFamily="2" charset="2"/>
              <a:buChar char="Ø"/>
            </a:pPr>
            <a:endParaRPr lang="en-IN" sz="2600" dirty="0" smtClean="0">
              <a:solidFill>
                <a:schemeClr val="tx1"/>
              </a:solidFill>
            </a:endParaRPr>
          </a:p>
          <a:p>
            <a:pPr marL="457200" indent="-457200">
              <a:buFont typeface="Wingdings" panose="05000000000000000000" pitchFamily="2" charset="2"/>
              <a:buChar char="Ø"/>
            </a:pPr>
            <a:endParaRPr lang="en-US" sz="26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r>
              <a:rPr lang="en-US" sz="2800" dirty="0" smtClean="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1567854" y="231200"/>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400" dirty="0"/>
              <a:t>Place of Supply for Services</a:t>
            </a:r>
          </a:p>
        </p:txBody>
      </p:sp>
      <p:sp>
        <p:nvSpPr>
          <p:cNvPr id="3" name="TextBox 2"/>
          <p:cNvSpPr txBox="1"/>
          <p:nvPr/>
        </p:nvSpPr>
        <p:spPr>
          <a:xfrm>
            <a:off x="737118" y="1194318"/>
            <a:ext cx="10011747" cy="5262979"/>
          </a:xfrm>
          <a:prstGeom prst="rect">
            <a:avLst/>
          </a:prstGeom>
          <a:noFill/>
        </p:spPr>
        <p:txBody>
          <a:bodyPr wrap="square" rtlCol="0">
            <a:spAutoFit/>
          </a:bodyPr>
          <a:lstStyle/>
          <a:p>
            <a:r>
              <a:rPr lang="en-IN" sz="2400" dirty="0"/>
              <a:t>Generally, the </a:t>
            </a:r>
            <a:r>
              <a:rPr lang="en-IN" sz="2400" dirty="0">
                <a:hlinkClick r:id="rId2"/>
              </a:rPr>
              <a:t>place of supply of services</a:t>
            </a:r>
            <a:r>
              <a:rPr lang="en-IN" sz="2400" dirty="0"/>
              <a:t> is the </a:t>
            </a:r>
            <a:r>
              <a:rPr lang="en-IN" sz="2400" dirty="0">
                <a:solidFill>
                  <a:srgbClr val="FF0000"/>
                </a:solidFill>
              </a:rPr>
              <a:t>location of the service recipient</a:t>
            </a:r>
            <a:r>
              <a:rPr lang="en-IN" sz="2400" dirty="0"/>
              <a:t>.</a:t>
            </a:r>
          </a:p>
          <a:p>
            <a:r>
              <a:rPr lang="en-IN" sz="2400" dirty="0"/>
              <a:t>In cases where the services are provided to an unregistered dealer and their location is not available the location of service provider will be the place of provision of service.</a:t>
            </a:r>
          </a:p>
          <a:p>
            <a:r>
              <a:rPr lang="en-IN" sz="2400" dirty="0">
                <a:hlinkClick r:id="rId3"/>
              </a:rPr>
              <a:t>Special provisions</a:t>
            </a:r>
            <a:r>
              <a:rPr lang="en-IN" sz="2400" dirty="0"/>
              <a:t> have been made to determine the place of supply for the following services:</a:t>
            </a:r>
          </a:p>
          <a:p>
            <a:r>
              <a:rPr lang="en-IN" sz="2400" dirty="0">
                <a:hlinkClick r:id="rId4"/>
              </a:rPr>
              <a:t>Services related to immovable property</a:t>
            </a:r>
            <a:endParaRPr lang="en-IN" sz="2400" dirty="0"/>
          </a:p>
          <a:p>
            <a:r>
              <a:rPr lang="en-IN" sz="2400" dirty="0"/>
              <a:t>Restaurant services</a:t>
            </a:r>
          </a:p>
          <a:p>
            <a:r>
              <a:rPr lang="en-IN" sz="2400" dirty="0"/>
              <a:t>Admission to events</a:t>
            </a:r>
          </a:p>
          <a:p>
            <a:r>
              <a:rPr lang="en-IN" sz="2400" dirty="0">
                <a:hlinkClick r:id="rId5"/>
              </a:rPr>
              <a:t>Transportation of goods and passengers</a:t>
            </a:r>
            <a:endParaRPr lang="en-IN" sz="2400" dirty="0"/>
          </a:p>
          <a:p>
            <a:r>
              <a:rPr lang="en-IN" sz="2400" dirty="0"/>
              <a:t>Telecom services</a:t>
            </a:r>
          </a:p>
          <a:p>
            <a:r>
              <a:rPr lang="en-IN" sz="2400" dirty="0">
                <a:hlinkClick r:id="rId6"/>
              </a:rPr>
              <a:t>Banking, Financial and Insurance services.</a:t>
            </a:r>
            <a:endParaRPr lang="en-IN" sz="2400" dirty="0"/>
          </a:p>
          <a:p>
            <a:r>
              <a:rPr lang="en-IN" sz="2400" dirty="0"/>
              <a:t>In case of services related to immovable property, the location of the property is the place of provision of services</a:t>
            </a:r>
            <a:r>
              <a:rPr lang="en-IN" sz="2400" dirty="0" smtClean="0"/>
              <a:t>.</a:t>
            </a:r>
            <a:endParaRPr lang="en-IN" sz="2400" dirty="0"/>
          </a:p>
        </p:txBody>
      </p:sp>
    </p:spTree>
    <p:extLst>
      <p:ext uri="{BB962C8B-B14F-4D97-AF65-F5344CB8AC3E}">
        <p14:creationId xmlns:p14="http://schemas.microsoft.com/office/powerpoint/2010/main" val="377502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US" sz="2800" b="1" dirty="0" smtClean="0">
              <a:solidFill>
                <a:schemeClr val="tx1"/>
              </a:solidFill>
              <a:latin typeface="Times New Roman" panose="02020603050405020304" pitchFamily="18" charset="0"/>
              <a:cs typeface="Times New Roman" panose="02020603050405020304" pitchFamily="18" charset="0"/>
            </a:endParaRPr>
          </a:p>
          <a:p>
            <a:endParaRPr lang="en-US" sz="2800" b="1" dirty="0" smtClean="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IN" sz="2800" dirty="0" smtClean="0">
              <a:solidFill>
                <a:schemeClr val="tx1"/>
              </a:solidFill>
            </a:endParaRPr>
          </a:p>
          <a:p>
            <a:pPr marL="457200" indent="-457200">
              <a:buFont typeface="Wingdings" panose="05000000000000000000" pitchFamily="2" charset="2"/>
              <a:buChar char="Ø"/>
            </a:pPr>
            <a:endParaRPr lang="en-IN" sz="2800" dirty="0" smtClean="0">
              <a:solidFill>
                <a:schemeClr val="tx1"/>
              </a:solidFill>
            </a:endParaRPr>
          </a:p>
          <a:p>
            <a:pPr marL="457200" indent="-457200">
              <a:buFont typeface="Wingdings" panose="05000000000000000000" pitchFamily="2" charset="2"/>
              <a:buChar char="Ø"/>
            </a:pPr>
            <a:endParaRPr lang="en-IN" sz="2600" dirty="0" smtClean="0">
              <a:solidFill>
                <a:schemeClr val="tx1"/>
              </a:solidFill>
            </a:endParaRPr>
          </a:p>
          <a:p>
            <a:pPr marL="457200" indent="-457200">
              <a:buFont typeface="Wingdings" panose="05000000000000000000" pitchFamily="2" charset="2"/>
              <a:buChar char="Ø"/>
            </a:pPr>
            <a:endParaRPr lang="en-US" sz="26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r>
              <a:rPr lang="en-US" sz="2800" dirty="0" smtClean="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1567854" y="231200"/>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400" dirty="0"/>
              <a:t>Place of Supply for Services</a:t>
            </a:r>
          </a:p>
        </p:txBody>
      </p:sp>
      <p:sp>
        <p:nvSpPr>
          <p:cNvPr id="3" name="TextBox 2"/>
          <p:cNvSpPr txBox="1"/>
          <p:nvPr/>
        </p:nvSpPr>
        <p:spPr>
          <a:xfrm>
            <a:off x="737118" y="1194318"/>
            <a:ext cx="10011747" cy="5293757"/>
          </a:xfrm>
          <a:prstGeom prst="rect">
            <a:avLst/>
          </a:prstGeom>
          <a:noFill/>
        </p:spPr>
        <p:txBody>
          <a:bodyPr wrap="square" rtlCol="0">
            <a:spAutoFit/>
          </a:bodyPr>
          <a:lstStyle/>
          <a:p>
            <a:r>
              <a:rPr lang="en-IN" sz="2400" dirty="0">
                <a:solidFill>
                  <a:srgbClr val="FF0000"/>
                </a:solidFill>
              </a:rPr>
              <a:t>Example 1:</a:t>
            </a:r>
          </a:p>
          <a:p>
            <a:r>
              <a:rPr lang="en-IN" sz="2400" dirty="0"/>
              <a:t>Mr. Anil from Delhi provides interior designing services to Mr. Ajay(Mumbai). The property is located in </a:t>
            </a:r>
            <a:r>
              <a:rPr lang="en-IN" sz="2400" dirty="0" err="1"/>
              <a:t>Ooty</a:t>
            </a:r>
            <a:r>
              <a:rPr lang="en-IN" sz="2400" dirty="0"/>
              <a:t>(Tamil Nadu).</a:t>
            </a:r>
          </a:p>
          <a:p>
            <a:r>
              <a:rPr lang="en-IN" sz="2400" dirty="0"/>
              <a:t>In this case, place of supply will be the location of the immovable property i.e. </a:t>
            </a:r>
            <a:r>
              <a:rPr lang="en-IN" sz="2400" dirty="0" err="1"/>
              <a:t>Ooty</a:t>
            </a:r>
            <a:r>
              <a:rPr lang="en-IN" sz="2400" dirty="0"/>
              <a:t>, Tamil Nadu</a:t>
            </a:r>
            <a:r>
              <a:rPr lang="en-IN" sz="2400" dirty="0" smtClean="0"/>
              <a:t>.</a:t>
            </a:r>
          </a:p>
          <a:p>
            <a:endParaRPr lang="en-IN" sz="2400" dirty="0"/>
          </a:p>
          <a:p>
            <a:r>
              <a:rPr lang="en-IN" sz="2400" dirty="0">
                <a:solidFill>
                  <a:srgbClr val="FF0000"/>
                </a:solidFill>
              </a:rPr>
              <a:t>Example 2:</a:t>
            </a:r>
          </a:p>
          <a:p>
            <a:r>
              <a:rPr lang="en-IN" sz="2400" dirty="0"/>
              <a:t>A registered taxpayer offers passenger transport services from Bangalore to </a:t>
            </a:r>
            <a:r>
              <a:rPr lang="en-IN" sz="2400" dirty="0" err="1"/>
              <a:t>Hampi</a:t>
            </a:r>
            <a:r>
              <a:rPr lang="en-IN" sz="2400" dirty="0"/>
              <a:t>. The passengers do not have GST registration. What will be the place of supply in this case?</a:t>
            </a:r>
          </a:p>
          <a:p>
            <a:r>
              <a:rPr lang="en-IN" sz="2400" dirty="0"/>
              <a:t>The place of supply is the place from where the departure takes place i.e. Bangalore in this case.</a:t>
            </a:r>
          </a:p>
          <a:p>
            <a:endParaRPr lang="en-IN" sz="2400" dirty="0"/>
          </a:p>
          <a:p>
            <a:pPr lvl="0"/>
            <a:r>
              <a:rPr lang="en-IN" sz="2600" dirty="0"/>
              <a:t> </a:t>
            </a:r>
          </a:p>
        </p:txBody>
      </p:sp>
    </p:spTree>
    <p:extLst>
      <p:ext uri="{BB962C8B-B14F-4D97-AF65-F5344CB8AC3E}">
        <p14:creationId xmlns:p14="http://schemas.microsoft.com/office/powerpoint/2010/main" val="1585378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67616" cy="3393948"/>
          </a:xfrm>
          <a:prstGeom prst="rect">
            <a:avLst/>
          </a:prstGeom>
        </p:spPr>
      </p:pic>
      <p:pic>
        <p:nvPicPr>
          <p:cNvPr id="3" name="object 3"/>
          <p:cNvPicPr/>
          <p:nvPr/>
        </p:nvPicPr>
        <p:blipFill>
          <a:blip r:embed="rId3" cstate="print"/>
          <a:stretch>
            <a:fillRect/>
          </a:stretch>
        </p:blipFill>
        <p:spPr>
          <a:xfrm>
            <a:off x="1523" y="1495044"/>
            <a:ext cx="4192524" cy="2581655"/>
          </a:xfrm>
          <a:prstGeom prst="rect">
            <a:avLst/>
          </a:prstGeom>
        </p:spPr>
      </p:pic>
      <p:pic>
        <p:nvPicPr>
          <p:cNvPr id="4" name="object 4"/>
          <p:cNvPicPr/>
          <p:nvPr/>
        </p:nvPicPr>
        <p:blipFill>
          <a:blip r:embed="rId4" cstate="print"/>
          <a:stretch>
            <a:fillRect/>
          </a:stretch>
        </p:blipFill>
        <p:spPr>
          <a:xfrm>
            <a:off x="7994904" y="0"/>
            <a:ext cx="3433572" cy="2621279"/>
          </a:xfrm>
          <a:prstGeom prst="rect">
            <a:avLst/>
          </a:prstGeom>
        </p:spPr>
      </p:pic>
      <p:pic>
        <p:nvPicPr>
          <p:cNvPr id="5" name="object 5"/>
          <p:cNvPicPr/>
          <p:nvPr/>
        </p:nvPicPr>
        <p:blipFill>
          <a:blip r:embed="rId5" cstate="print"/>
          <a:stretch>
            <a:fillRect/>
          </a:stretch>
        </p:blipFill>
        <p:spPr>
          <a:xfrm>
            <a:off x="8609076" y="3471671"/>
            <a:ext cx="990600" cy="609600"/>
          </a:xfrm>
          <a:prstGeom prst="rect">
            <a:avLst/>
          </a:prstGeom>
        </p:spPr>
      </p:pic>
      <p:grpSp>
        <p:nvGrpSpPr>
          <p:cNvPr id="6" name="object 6"/>
          <p:cNvGrpSpPr/>
          <p:nvPr/>
        </p:nvGrpSpPr>
        <p:grpSpPr>
          <a:xfrm>
            <a:off x="0" y="0"/>
            <a:ext cx="12192000" cy="4076700"/>
            <a:chOff x="0" y="0"/>
            <a:chExt cx="12192000" cy="4076700"/>
          </a:xfrm>
        </p:grpSpPr>
        <p:sp>
          <p:nvSpPr>
            <p:cNvPr id="7" name="object 7"/>
            <p:cNvSpPr/>
            <p:nvPr/>
          </p:nvSpPr>
          <p:spPr>
            <a:xfrm>
              <a:off x="8507094" y="678815"/>
              <a:ext cx="3268979" cy="687070"/>
            </a:xfrm>
            <a:custGeom>
              <a:avLst/>
              <a:gdLst/>
              <a:ahLst/>
              <a:cxnLst/>
              <a:rect l="l" t="t" r="r" b="b"/>
              <a:pathLst>
                <a:path w="3268979" h="687069">
                  <a:moveTo>
                    <a:pt x="3235832" y="0"/>
                  </a:moveTo>
                  <a:lnTo>
                    <a:pt x="3129406" y="29083"/>
                  </a:lnTo>
                  <a:lnTo>
                    <a:pt x="3022854" y="57785"/>
                  </a:lnTo>
                  <a:lnTo>
                    <a:pt x="2916174" y="86106"/>
                  </a:lnTo>
                  <a:lnTo>
                    <a:pt x="2701925" y="140335"/>
                  </a:lnTo>
                  <a:lnTo>
                    <a:pt x="2594736" y="167005"/>
                  </a:lnTo>
                  <a:lnTo>
                    <a:pt x="2488564" y="192150"/>
                  </a:lnTo>
                  <a:lnTo>
                    <a:pt x="2380360" y="217297"/>
                  </a:lnTo>
                  <a:lnTo>
                    <a:pt x="2273173" y="241935"/>
                  </a:lnTo>
                  <a:lnTo>
                    <a:pt x="2060321" y="289051"/>
                  </a:lnTo>
                  <a:lnTo>
                    <a:pt x="1954783" y="311658"/>
                  </a:lnTo>
                  <a:lnTo>
                    <a:pt x="1743328" y="355092"/>
                  </a:lnTo>
                  <a:lnTo>
                    <a:pt x="1638807" y="376174"/>
                  </a:lnTo>
                  <a:lnTo>
                    <a:pt x="1535429" y="396239"/>
                  </a:lnTo>
                  <a:lnTo>
                    <a:pt x="1328547" y="435483"/>
                  </a:lnTo>
                  <a:lnTo>
                    <a:pt x="1125727" y="472313"/>
                  </a:lnTo>
                  <a:lnTo>
                    <a:pt x="1025271" y="490093"/>
                  </a:lnTo>
                  <a:lnTo>
                    <a:pt x="925829" y="506984"/>
                  </a:lnTo>
                  <a:lnTo>
                    <a:pt x="827531" y="524001"/>
                  </a:lnTo>
                  <a:lnTo>
                    <a:pt x="730250" y="540004"/>
                  </a:lnTo>
                  <a:lnTo>
                    <a:pt x="446785" y="585343"/>
                  </a:lnTo>
                  <a:lnTo>
                    <a:pt x="174244" y="626110"/>
                  </a:lnTo>
                  <a:lnTo>
                    <a:pt x="0" y="650748"/>
                  </a:lnTo>
                  <a:lnTo>
                    <a:pt x="34671" y="686815"/>
                  </a:lnTo>
                  <a:lnTo>
                    <a:pt x="89995" y="683966"/>
                  </a:lnTo>
                  <a:lnTo>
                    <a:pt x="152751" y="679817"/>
                  </a:lnTo>
                  <a:lnTo>
                    <a:pt x="222492" y="674434"/>
                  </a:lnTo>
                  <a:lnTo>
                    <a:pt x="298769" y="667880"/>
                  </a:lnTo>
                  <a:lnTo>
                    <a:pt x="381134" y="660220"/>
                  </a:lnTo>
                  <a:lnTo>
                    <a:pt x="515115" y="646796"/>
                  </a:lnTo>
                  <a:lnTo>
                    <a:pt x="660272" y="631245"/>
                  </a:lnTo>
                  <a:lnTo>
                    <a:pt x="815094" y="613784"/>
                  </a:lnTo>
                  <a:lnTo>
                    <a:pt x="1033943" y="587905"/>
                  </a:lnTo>
                  <a:lnTo>
                    <a:pt x="1263697" y="559530"/>
                  </a:lnTo>
                  <a:lnTo>
                    <a:pt x="1560766" y="521335"/>
                  </a:lnTo>
                  <a:lnTo>
                    <a:pt x="1862272" y="481046"/>
                  </a:lnTo>
                  <a:lnTo>
                    <a:pt x="2161212" y="439668"/>
                  </a:lnTo>
                  <a:lnTo>
                    <a:pt x="2450584" y="398207"/>
                  </a:lnTo>
                  <a:lnTo>
                    <a:pt x="2723385" y="357665"/>
                  </a:lnTo>
                  <a:lnTo>
                    <a:pt x="2924990" y="326569"/>
                  </a:lnTo>
                  <a:lnTo>
                    <a:pt x="3107923" y="297219"/>
                  </a:lnTo>
                  <a:lnTo>
                    <a:pt x="3230712" y="276661"/>
                  </a:lnTo>
                  <a:lnTo>
                    <a:pt x="3268599" y="270129"/>
                  </a:lnTo>
                  <a:lnTo>
                    <a:pt x="3258085" y="179986"/>
                  </a:lnTo>
                  <a:lnTo>
                    <a:pt x="3246346" y="90142"/>
                  </a:lnTo>
                  <a:lnTo>
                    <a:pt x="3235832" y="0"/>
                  </a:lnTo>
                  <a:close/>
                </a:path>
              </a:pathLst>
            </a:custGeom>
            <a:solidFill>
              <a:srgbClr val="FFFFFF">
                <a:alpha val="19999"/>
              </a:srgbClr>
            </a:solidFill>
          </p:spPr>
          <p:txBody>
            <a:bodyPr wrap="square" lIns="0" tIns="0" rIns="0" bIns="0" rtlCol="0"/>
            <a:lstStyle/>
            <a:p>
              <a:endParaRPr/>
            </a:p>
          </p:txBody>
        </p:sp>
        <p:sp>
          <p:nvSpPr>
            <p:cNvPr id="8" name="object 8"/>
            <p:cNvSpPr/>
            <p:nvPr/>
          </p:nvSpPr>
          <p:spPr>
            <a:xfrm>
              <a:off x="0" y="0"/>
              <a:ext cx="12192000" cy="4076700"/>
            </a:xfrm>
            <a:custGeom>
              <a:avLst/>
              <a:gdLst/>
              <a:ahLst/>
              <a:cxnLst/>
              <a:rect l="l" t="t" r="r" b="b"/>
              <a:pathLst>
                <a:path w="12192000" h="4076700">
                  <a:moveTo>
                    <a:pt x="12192000" y="0"/>
                  </a:moveTo>
                  <a:lnTo>
                    <a:pt x="11709273" y="0"/>
                  </a:lnTo>
                  <a:lnTo>
                    <a:pt x="11709273" y="142240"/>
                  </a:lnTo>
                  <a:lnTo>
                    <a:pt x="11709273" y="1005014"/>
                  </a:lnTo>
                  <a:lnTo>
                    <a:pt x="11482197" y="1026668"/>
                  </a:lnTo>
                  <a:lnTo>
                    <a:pt x="11226673" y="1050163"/>
                  </a:lnTo>
                  <a:lnTo>
                    <a:pt x="10971022" y="1072642"/>
                  </a:lnTo>
                  <a:lnTo>
                    <a:pt x="10458323" y="1111758"/>
                  </a:lnTo>
                  <a:lnTo>
                    <a:pt x="10201148" y="1130427"/>
                  </a:lnTo>
                  <a:lnTo>
                    <a:pt x="9947148" y="1146048"/>
                  </a:lnTo>
                  <a:lnTo>
                    <a:pt x="9689973" y="1160653"/>
                  </a:lnTo>
                  <a:lnTo>
                    <a:pt x="9434322" y="1174369"/>
                  </a:lnTo>
                  <a:lnTo>
                    <a:pt x="8927973" y="1197864"/>
                  </a:lnTo>
                  <a:lnTo>
                    <a:pt x="8675497" y="1207643"/>
                  </a:lnTo>
                  <a:lnTo>
                    <a:pt x="8173847" y="1223264"/>
                  </a:lnTo>
                  <a:lnTo>
                    <a:pt x="7926197" y="1230122"/>
                  </a:lnTo>
                  <a:lnTo>
                    <a:pt x="7680198" y="1235075"/>
                  </a:lnTo>
                  <a:lnTo>
                    <a:pt x="7191248" y="1242822"/>
                  </a:lnTo>
                  <a:lnTo>
                    <a:pt x="6710172" y="1246759"/>
                  </a:lnTo>
                  <a:lnTo>
                    <a:pt x="6473698" y="1247775"/>
                  </a:lnTo>
                  <a:lnTo>
                    <a:pt x="6238748" y="1246759"/>
                  </a:lnTo>
                  <a:lnTo>
                    <a:pt x="6006973" y="1246759"/>
                  </a:lnTo>
                  <a:lnTo>
                    <a:pt x="5776722" y="1244854"/>
                  </a:lnTo>
                  <a:lnTo>
                    <a:pt x="5327523" y="1239012"/>
                  </a:lnTo>
                  <a:lnTo>
                    <a:pt x="5108448" y="1235964"/>
                  </a:lnTo>
                  <a:lnTo>
                    <a:pt x="4467098" y="1221359"/>
                  </a:lnTo>
                  <a:lnTo>
                    <a:pt x="4057523" y="1208659"/>
                  </a:lnTo>
                  <a:lnTo>
                    <a:pt x="3665347" y="1194943"/>
                  </a:lnTo>
                  <a:lnTo>
                    <a:pt x="3289173" y="1180211"/>
                  </a:lnTo>
                  <a:lnTo>
                    <a:pt x="2931922" y="1164590"/>
                  </a:lnTo>
                  <a:lnTo>
                    <a:pt x="2592197" y="1147953"/>
                  </a:lnTo>
                  <a:lnTo>
                    <a:pt x="2276348" y="1130427"/>
                  </a:lnTo>
                  <a:lnTo>
                    <a:pt x="1979422" y="1112774"/>
                  </a:lnTo>
                  <a:lnTo>
                    <a:pt x="1706372" y="1095121"/>
                  </a:lnTo>
                  <a:lnTo>
                    <a:pt x="1455547" y="1078484"/>
                  </a:lnTo>
                  <a:lnTo>
                    <a:pt x="1233360" y="1062863"/>
                  </a:lnTo>
                  <a:lnTo>
                    <a:pt x="1033335" y="1048258"/>
                  </a:lnTo>
                  <a:lnTo>
                    <a:pt x="863473" y="1035558"/>
                  </a:lnTo>
                  <a:lnTo>
                    <a:pt x="722185" y="1023747"/>
                  </a:lnTo>
                  <a:lnTo>
                    <a:pt x="476377" y="1002652"/>
                  </a:lnTo>
                  <a:lnTo>
                    <a:pt x="476377" y="142240"/>
                  </a:lnTo>
                  <a:lnTo>
                    <a:pt x="11709273" y="142240"/>
                  </a:lnTo>
                  <a:lnTo>
                    <a:pt x="11709273" y="0"/>
                  </a:lnTo>
                  <a:lnTo>
                    <a:pt x="0" y="0"/>
                  </a:lnTo>
                  <a:lnTo>
                    <a:pt x="0" y="142240"/>
                  </a:lnTo>
                  <a:lnTo>
                    <a:pt x="0" y="3783330"/>
                  </a:lnTo>
                  <a:lnTo>
                    <a:pt x="460248" y="3783330"/>
                  </a:lnTo>
                  <a:lnTo>
                    <a:pt x="460248" y="3794760"/>
                  </a:lnTo>
                  <a:lnTo>
                    <a:pt x="11190211" y="3794760"/>
                  </a:lnTo>
                  <a:lnTo>
                    <a:pt x="11190211" y="4076700"/>
                  </a:lnTo>
                  <a:lnTo>
                    <a:pt x="12192000" y="4076700"/>
                  </a:lnTo>
                  <a:lnTo>
                    <a:pt x="12192000" y="3783330"/>
                  </a:lnTo>
                  <a:lnTo>
                    <a:pt x="11737848" y="3783330"/>
                  </a:lnTo>
                  <a:lnTo>
                    <a:pt x="11737848" y="3783203"/>
                  </a:lnTo>
                  <a:lnTo>
                    <a:pt x="12192000" y="3783203"/>
                  </a:lnTo>
                  <a:lnTo>
                    <a:pt x="12192000" y="142240"/>
                  </a:lnTo>
                  <a:lnTo>
                    <a:pt x="12192000" y="141732"/>
                  </a:lnTo>
                  <a:lnTo>
                    <a:pt x="12192000" y="0"/>
                  </a:lnTo>
                  <a:close/>
                </a:path>
              </a:pathLst>
            </a:custGeom>
            <a:solidFill>
              <a:srgbClr val="FFFFFF"/>
            </a:solidFill>
          </p:spPr>
          <p:txBody>
            <a:bodyPr wrap="square" lIns="0" tIns="0" rIns="0" bIns="0" rtlCol="0"/>
            <a:lstStyle/>
            <a:p>
              <a:endParaRPr/>
            </a:p>
          </p:txBody>
        </p:sp>
        <p:pic>
          <p:nvPicPr>
            <p:cNvPr id="9" name="object 9"/>
            <p:cNvPicPr/>
            <p:nvPr/>
          </p:nvPicPr>
          <p:blipFill>
            <a:blip r:embed="rId6" cstate="print"/>
            <a:stretch>
              <a:fillRect/>
            </a:stretch>
          </p:blipFill>
          <p:spPr>
            <a:xfrm>
              <a:off x="10398252" y="0"/>
              <a:ext cx="760488" cy="1203960"/>
            </a:xfrm>
            <a:prstGeom prst="rect">
              <a:avLst/>
            </a:prstGeom>
          </p:spPr>
        </p:pic>
        <p:pic>
          <p:nvPicPr>
            <p:cNvPr id="10" name="object 10"/>
            <p:cNvPicPr/>
            <p:nvPr/>
          </p:nvPicPr>
          <p:blipFill>
            <a:blip r:embed="rId7" cstate="print"/>
            <a:stretch>
              <a:fillRect/>
            </a:stretch>
          </p:blipFill>
          <p:spPr>
            <a:xfrm>
              <a:off x="458723" y="210311"/>
              <a:ext cx="761250" cy="723138"/>
            </a:xfrm>
            <a:prstGeom prst="rect">
              <a:avLst/>
            </a:prstGeom>
          </p:spPr>
        </p:pic>
      </p:grpSp>
      <p:sp>
        <p:nvSpPr>
          <p:cNvPr id="11" name="object 11"/>
          <p:cNvSpPr txBox="1">
            <a:spLocks noGrp="1"/>
          </p:cNvSpPr>
          <p:nvPr>
            <p:ph type="title"/>
          </p:nvPr>
        </p:nvSpPr>
        <p:spPr>
          <a:prstGeom prst="rect">
            <a:avLst/>
          </a:prstGeom>
        </p:spPr>
        <p:txBody>
          <a:bodyPr vert="horz" wrap="square" lIns="0" tIns="212648" rIns="0" bIns="0" rtlCol="0">
            <a:spAutoFit/>
          </a:bodyPr>
          <a:lstStyle/>
          <a:p>
            <a:pPr marL="3154045">
              <a:lnSpc>
                <a:spcPct val="100000"/>
              </a:lnSpc>
              <a:spcBef>
                <a:spcPts val="105"/>
              </a:spcBef>
            </a:pPr>
            <a:r>
              <a:rPr sz="3200" spc="-10" dirty="0"/>
              <a:t>Illustrations</a:t>
            </a:r>
            <a:endParaRPr sz="3200"/>
          </a:p>
        </p:txBody>
      </p:sp>
      <p:graphicFrame>
        <p:nvGraphicFramePr>
          <p:cNvPr id="13" name="object 13"/>
          <p:cNvGraphicFramePr>
            <a:graphicFrameLocks noGrp="1"/>
          </p:cNvGraphicFramePr>
          <p:nvPr>
            <p:extLst>
              <p:ext uri="{D42A27DB-BD31-4B8C-83A1-F6EECF244321}">
                <p14:modId xmlns:p14="http://schemas.microsoft.com/office/powerpoint/2010/main" val="40329112"/>
              </p:ext>
            </p:extLst>
          </p:nvPr>
        </p:nvGraphicFramePr>
        <p:xfrm>
          <a:off x="0" y="1372488"/>
          <a:ext cx="11189970" cy="3712845"/>
        </p:xfrm>
        <a:graphic>
          <a:graphicData uri="http://schemas.openxmlformats.org/drawingml/2006/table">
            <a:tbl>
              <a:tblPr firstRow="1" bandRow="1">
                <a:tableStyleId>{2D5ABB26-0587-4C30-8999-92F81FD0307C}</a:tableStyleId>
              </a:tblPr>
              <a:tblGrid>
                <a:gridCol w="762000">
                  <a:extLst>
                    <a:ext uri="{9D8B030D-6E8A-4147-A177-3AD203B41FA5}">
                      <a16:colId xmlns:a16="http://schemas.microsoft.com/office/drawing/2014/main" val="20000"/>
                    </a:ext>
                  </a:extLst>
                </a:gridCol>
                <a:gridCol w="1979930">
                  <a:extLst>
                    <a:ext uri="{9D8B030D-6E8A-4147-A177-3AD203B41FA5}">
                      <a16:colId xmlns:a16="http://schemas.microsoft.com/office/drawing/2014/main" val="20001"/>
                    </a:ext>
                  </a:extLst>
                </a:gridCol>
                <a:gridCol w="2191385">
                  <a:extLst>
                    <a:ext uri="{9D8B030D-6E8A-4147-A177-3AD203B41FA5}">
                      <a16:colId xmlns:a16="http://schemas.microsoft.com/office/drawing/2014/main" val="20002"/>
                    </a:ext>
                  </a:extLst>
                </a:gridCol>
                <a:gridCol w="2085340">
                  <a:extLst>
                    <a:ext uri="{9D8B030D-6E8A-4147-A177-3AD203B41FA5}">
                      <a16:colId xmlns:a16="http://schemas.microsoft.com/office/drawing/2014/main" val="20003"/>
                    </a:ext>
                  </a:extLst>
                </a:gridCol>
                <a:gridCol w="4171315">
                  <a:extLst>
                    <a:ext uri="{9D8B030D-6E8A-4147-A177-3AD203B41FA5}">
                      <a16:colId xmlns:a16="http://schemas.microsoft.com/office/drawing/2014/main" val="20004"/>
                    </a:ext>
                  </a:extLst>
                </a:gridCol>
              </a:tblGrid>
              <a:tr h="455930">
                <a:tc rowSpan="6">
                  <a:txBody>
                    <a:bodyPr/>
                    <a:lstStyle/>
                    <a:p>
                      <a:pPr>
                        <a:lnSpc>
                          <a:spcPct val="100000"/>
                        </a:lnSpc>
                      </a:pPr>
                      <a:endParaRPr sz="1900" dirty="0">
                        <a:latin typeface="Times New Roman"/>
                        <a:cs typeface="Times New Roman"/>
                      </a:endParaRPr>
                    </a:p>
                  </a:txBody>
                  <a:tcPr marL="0" marR="0" marT="0" marB="0">
                    <a:lnR w="12700">
                      <a:solidFill>
                        <a:srgbClr val="FFFFFF"/>
                      </a:solidFill>
                      <a:prstDash val="solid"/>
                    </a:lnR>
                  </a:tcPr>
                </a:tc>
                <a:tc>
                  <a:txBody>
                    <a:bodyPr/>
                    <a:lstStyle/>
                    <a:p>
                      <a:pPr marL="91440">
                        <a:lnSpc>
                          <a:spcPct val="100000"/>
                        </a:lnSpc>
                        <a:spcBef>
                          <a:spcPts val="295"/>
                        </a:spcBef>
                      </a:pPr>
                      <a:r>
                        <a:rPr sz="2000" b="1" spc="-10" dirty="0">
                          <a:solidFill>
                            <a:srgbClr val="FFFFFF"/>
                          </a:solidFill>
                          <a:latin typeface="Times New Roman"/>
                          <a:cs typeface="Times New Roman"/>
                        </a:rPr>
                        <a:t>Supply</a:t>
                      </a:r>
                      <a:endParaRPr sz="2000">
                        <a:latin typeface="Times New Roman"/>
                        <a:cs typeface="Times New Roman"/>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ACD333"/>
                    </a:solidFill>
                  </a:tcPr>
                </a:tc>
                <a:tc>
                  <a:txBody>
                    <a:bodyPr/>
                    <a:lstStyle/>
                    <a:p>
                      <a:pPr marL="91440">
                        <a:lnSpc>
                          <a:spcPct val="100000"/>
                        </a:lnSpc>
                        <a:spcBef>
                          <a:spcPts val="295"/>
                        </a:spcBef>
                      </a:pPr>
                      <a:r>
                        <a:rPr sz="2000" b="1" spc="-10" dirty="0">
                          <a:solidFill>
                            <a:srgbClr val="FFFFFF"/>
                          </a:solidFill>
                          <a:latin typeface="Times New Roman"/>
                          <a:cs typeface="Times New Roman"/>
                        </a:rPr>
                        <a:t>Supplier</a:t>
                      </a:r>
                      <a:endParaRPr sz="2000">
                        <a:latin typeface="Times New Roman"/>
                        <a:cs typeface="Times New Roman"/>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ACD333"/>
                    </a:solidFill>
                  </a:tcPr>
                </a:tc>
                <a:tc>
                  <a:txBody>
                    <a:bodyPr/>
                    <a:lstStyle/>
                    <a:p>
                      <a:pPr marL="92075">
                        <a:lnSpc>
                          <a:spcPct val="100000"/>
                        </a:lnSpc>
                        <a:spcBef>
                          <a:spcPts val="295"/>
                        </a:spcBef>
                      </a:pPr>
                      <a:r>
                        <a:rPr sz="2000" b="1" dirty="0">
                          <a:solidFill>
                            <a:srgbClr val="FFFFFF"/>
                          </a:solidFill>
                          <a:latin typeface="Times New Roman"/>
                          <a:cs typeface="Times New Roman"/>
                        </a:rPr>
                        <a:t>Place</a:t>
                      </a:r>
                      <a:r>
                        <a:rPr sz="2000" b="1" spc="-10" dirty="0">
                          <a:solidFill>
                            <a:srgbClr val="FFFFFF"/>
                          </a:solidFill>
                          <a:latin typeface="Times New Roman"/>
                          <a:cs typeface="Times New Roman"/>
                        </a:rPr>
                        <a:t> </a:t>
                      </a:r>
                      <a:r>
                        <a:rPr sz="2000" b="1" dirty="0">
                          <a:solidFill>
                            <a:srgbClr val="FFFFFF"/>
                          </a:solidFill>
                          <a:latin typeface="Times New Roman"/>
                          <a:cs typeface="Times New Roman"/>
                        </a:rPr>
                        <a:t>of</a:t>
                      </a:r>
                      <a:r>
                        <a:rPr sz="2000" b="1" spc="-15" dirty="0">
                          <a:solidFill>
                            <a:srgbClr val="FFFFFF"/>
                          </a:solidFill>
                          <a:latin typeface="Times New Roman"/>
                          <a:cs typeface="Times New Roman"/>
                        </a:rPr>
                        <a:t> </a:t>
                      </a:r>
                      <a:r>
                        <a:rPr sz="2000" b="1" spc="-10" dirty="0">
                          <a:solidFill>
                            <a:srgbClr val="FFFFFF"/>
                          </a:solidFill>
                          <a:latin typeface="Times New Roman"/>
                          <a:cs typeface="Times New Roman"/>
                        </a:rPr>
                        <a:t>Supply</a:t>
                      </a:r>
                      <a:endParaRPr sz="2000">
                        <a:latin typeface="Times New Roman"/>
                        <a:cs typeface="Times New Roman"/>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ACD333"/>
                    </a:solidFill>
                  </a:tcPr>
                </a:tc>
                <a:tc>
                  <a:txBody>
                    <a:bodyPr/>
                    <a:lstStyle/>
                    <a:p>
                      <a:pPr marL="92075">
                        <a:lnSpc>
                          <a:spcPct val="100000"/>
                        </a:lnSpc>
                        <a:spcBef>
                          <a:spcPts val="295"/>
                        </a:spcBef>
                      </a:pPr>
                      <a:r>
                        <a:rPr sz="2000" b="1" spc="-10" dirty="0">
                          <a:solidFill>
                            <a:srgbClr val="FFFFFF"/>
                          </a:solidFill>
                          <a:latin typeface="Times New Roman"/>
                          <a:cs typeface="Times New Roman"/>
                        </a:rPr>
                        <a:t>Result</a:t>
                      </a:r>
                      <a:endParaRPr sz="2000">
                        <a:latin typeface="Times New Roman"/>
                        <a:cs typeface="Times New Roman"/>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ACD333"/>
                    </a:solidFill>
                  </a:tcPr>
                </a:tc>
                <a:extLst>
                  <a:ext uri="{0D108BD9-81ED-4DB2-BD59-A6C34878D82A}">
                    <a16:rowId xmlns:a16="http://schemas.microsoft.com/office/drawing/2014/main" val="10000"/>
                  </a:ext>
                </a:extLst>
              </a:tr>
              <a:tr h="447040">
                <a:tc vMerge="1">
                  <a:txBody>
                    <a:bodyPr/>
                    <a:lstStyle/>
                    <a:p>
                      <a:endParaRPr/>
                    </a:p>
                  </a:txBody>
                  <a:tcPr marL="0" marR="0" marT="0" marB="0">
                    <a:lnR w="12700">
                      <a:solidFill>
                        <a:srgbClr val="FFFFFF"/>
                      </a:solidFill>
                      <a:prstDash val="solid"/>
                    </a:lnR>
                  </a:tcPr>
                </a:tc>
                <a:tc>
                  <a:txBody>
                    <a:bodyPr/>
                    <a:lstStyle/>
                    <a:p>
                      <a:pPr marL="91440">
                        <a:lnSpc>
                          <a:spcPct val="100000"/>
                        </a:lnSpc>
                        <a:spcBef>
                          <a:spcPts val="295"/>
                        </a:spcBef>
                      </a:pPr>
                      <a:r>
                        <a:rPr sz="2000" spc="-10" dirty="0">
                          <a:latin typeface="Times New Roman"/>
                          <a:cs typeface="Times New Roman"/>
                        </a:rPr>
                        <a:t>Goods</a:t>
                      </a:r>
                      <a:endParaRPr sz="2000">
                        <a:latin typeface="Times New Roman"/>
                        <a:cs typeface="Times New Roman"/>
                      </a:endParaRPr>
                    </a:p>
                  </a:txBody>
                  <a:tcPr marL="0" marR="0" marT="3746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2EECD"/>
                    </a:solidFill>
                  </a:tcPr>
                </a:tc>
                <a:tc>
                  <a:txBody>
                    <a:bodyPr/>
                    <a:lstStyle/>
                    <a:p>
                      <a:pPr marL="91440">
                        <a:lnSpc>
                          <a:spcPct val="100000"/>
                        </a:lnSpc>
                        <a:spcBef>
                          <a:spcPts val="295"/>
                        </a:spcBef>
                      </a:pPr>
                      <a:r>
                        <a:rPr sz="2000" spc="-10" dirty="0">
                          <a:latin typeface="Times New Roman"/>
                          <a:cs typeface="Times New Roman"/>
                        </a:rPr>
                        <a:t>Karnataka</a:t>
                      </a:r>
                      <a:endParaRPr sz="2000">
                        <a:latin typeface="Times New Roman"/>
                        <a:cs typeface="Times New Roman"/>
                      </a:endParaRPr>
                    </a:p>
                  </a:txBody>
                  <a:tcPr marL="0" marR="0" marT="3746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2EECD"/>
                    </a:solidFill>
                  </a:tcPr>
                </a:tc>
                <a:tc>
                  <a:txBody>
                    <a:bodyPr/>
                    <a:lstStyle/>
                    <a:p>
                      <a:pPr marL="92075">
                        <a:lnSpc>
                          <a:spcPct val="100000"/>
                        </a:lnSpc>
                        <a:spcBef>
                          <a:spcPts val="295"/>
                        </a:spcBef>
                      </a:pPr>
                      <a:r>
                        <a:rPr sz="2000" spc="-20" dirty="0">
                          <a:latin typeface="Times New Roman"/>
                          <a:cs typeface="Times New Roman"/>
                        </a:rPr>
                        <a:t>Tamil</a:t>
                      </a:r>
                      <a:r>
                        <a:rPr sz="2000" spc="-75" dirty="0">
                          <a:latin typeface="Times New Roman"/>
                          <a:cs typeface="Times New Roman"/>
                        </a:rPr>
                        <a:t> </a:t>
                      </a:r>
                      <a:r>
                        <a:rPr sz="2000" spc="-20" dirty="0">
                          <a:latin typeface="Times New Roman"/>
                          <a:cs typeface="Times New Roman"/>
                        </a:rPr>
                        <a:t>Nadu</a:t>
                      </a:r>
                      <a:endParaRPr sz="2000">
                        <a:latin typeface="Times New Roman"/>
                        <a:cs typeface="Times New Roman"/>
                      </a:endParaRPr>
                    </a:p>
                  </a:txBody>
                  <a:tcPr marL="0" marR="0" marT="3746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2EECD"/>
                    </a:solidFill>
                  </a:tcPr>
                </a:tc>
                <a:tc>
                  <a:txBody>
                    <a:bodyPr/>
                    <a:lstStyle/>
                    <a:p>
                      <a:pPr marL="92075">
                        <a:lnSpc>
                          <a:spcPct val="100000"/>
                        </a:lnSpc>
                        <a:spcBef>
                          <a:spcPts val="295"/>
                        </a:spcBef>
                      </a:pPr>
                      <a:r>
                        <a:rPr sz="2000" spc="-10" dirty="0">
                          <a:latin typeface="Times New Roman"/>
                          <a:cs typeface="Times New Roman"/>
                        </a:rPr>
                        <a:t>Inter-</a:t>
                      </a:r>
                      <a:r>
                        <a:rPr sz="2000" dirty="0">
                          <a:latin typeface="Times New Roman"/>
                          <a:cs typeface="Times New Roman"/>
                        </a:rPr>
                        <a:t>State</a:t>
                      </a:r>
                      <a:r>
                        <a:rPr sz="2000" spc="-45" dirty="0">
                          <a:latin typeface="Times New Roman"/>
                          <a:cs typeface="Times New Roman"/>
                        </a:rPr>
                        <a:t> </a:t>
                      </a:r>
                      <a:r>
                        <a:rPr sz="2000" spc="-10" dirty="0">
                          <a:latin typeface="Times New Roman"/>
                          <a:cs typeface="Times New Roman"/>
                        </a:rPr>
                        <a:t>(IGST)</a:t>
                      </a:r>
                      <a:endParaRPr sz="2000">
                        <a:latin typeface="Times New Roman"/>
                        <a:cs typeface="Times New Roman"/>
                      </a:endParaRPr>
                    </a:p>
                  </a:txBody>
                  <a:tcPr marL="0" marR="0" marT="3746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E2EECD"/>
                    </a:solidFill>
                  </a:tcPr>
                </a:tc>
                <a:extLst>
                  <a:ext uri="{0D108BD9-81ED-4DB2-BD59-A6C34878D82A}">
                    <a16:rowId xmlns:a16="http://schemas.microsoft.com/office/drawing/2014/main" val="10001"/>
                  </a:ext>
                </a:extLst>
              </a:tr>
              <a:tr h="461645">
                <a:tc vMerge="1">
                  <a:txBody>
                    <a:bodyPr/>
                    <a:lstStyle/>
                    <a:p>
                      <a:endParaRPr/>
                    </a:p>
                  </a:txBody>
                  <a:tcPr marL="0" marR="0" marT="0" marB="0">
                    <a:lnR w="12700">
                      <a:solidFill>
                        <a:srgbClr val="FFFFFF"/>
                      </a:solidFill>
                      <a:prstDash val="solid"/>
                    </a:lnR>
                  </a:tcPr>
                </a:tc>
                <a:tc>
                  <a:txBody>
                    <a:bodyPr/>
                    <a:lstStyle/>
                    <a:p>
                      <a:pPr marL="91440">
                        <a:lnSpc>
                          <a:spcPct val="100000"/>
                        </a:lnSpc>
                        <a:spcBef>
                          <a:spcPts val="295"/>
                        </a:spcBef>
                      </a:pPr>
                      <a:r>
                        <a:rPr sz="2000" spc="-10" dirty="0">
                          <a:latin typeface="Times New Roman"/>
                          <a:cs typeface="Times New Roman"/>
                        </a:rPr>
                        <a:t>Services</a:t>
                      </a:r>
                      <a:endParaRPr sz="2000">
                        <a:latin typeface="Times New Roman"/>
                        <a:cs typeface="Times New Roman"/>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F7E8"/>
                    </a:solidFill>
                  </a:tcPr>
                </a:tc>
                <a:tc>
                  <a:txBody>
                    <a:bodyPr/>
                    <a:lstStyle/>
                    <a:p>
                      <a:pPr marL="91440">
                        <a:lnSpc>
                          <a:spcPct val="100000"/>
                        </a:lnSpc>
                        <a:spcBef>
                          <a:spcPts val="295"/>
                        </a:spcBef>
                      </a:pPr>
                      <a:r>
                        <a:rPr sz="2000" spc="-10" dirty="0">
                          <a:latin typeface="Times New Roman"/>
                          <a:cs typeface="Times New Roman"/>
                        </a:rPr>
                        <a:t>Pondicherry</a:t>
                      </a:r>
                      <a:endParaRPr sz="2000">
                        <a:latin typeface="Times New Roman"/>
                        <a:cs typeface="Times New Roman"/>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F7E8"/>
                    </a:solidFill>
                  </a:tcPr>
                </a:tc>
                <a:tc>
                  <a:txBody>
                    <a:bodyPr/>
                    <a:lstStyle/>
                    <a:p>
                      <a:pPr marL="92075">
                        <a:lnSpc>
                          <a:spcPct val="100000"/>
                        </a:lnSpc>
                        <a:spcBef>
                          <a:spcPts val="295"/>
                        </a:spcBef>
                      </a:pPr>
                      <a:r>
                        <a:rPr sz="2000" spc="-10" dirty="0">
                          <a:latin typeface="Times New Roman"/>
                          <a:cs typeface="Times New Roman"/>
                        </a:rPr>
                        <a:t>Kerala</a:t>
                      </a:r>
                      <a:endParaRPr sz="2000">
                        <a:latin typeface="Times New Roman"/>
                        <a:cs typeface="Times New Roman"/>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F7E8"/>
                    </a:solidFill>
                  </a:tcPr>
                </a:tc>
                <a:tc>
                  <a:txBody>
                    <a:bodyPr/>
                    <a:lstStyle/>
                    <a:p>
                      <a:pPr marL="92075">
                        <a:lnSpc>
                          <a:spcPct val="100000"/>
                        </a:lnSpc>
                        <a:spcBef>
                          <a:spcPts val="295"/>
                        </a:spcBef>
                      </a:pPr>
                      <a:r>
                        <a:rPr sz="2000" spc="-10" dirty="0">
                          <a:latin typeface="Times New Roman"/>
                          <a:cs typeface="Times New Roman"/>
                        </a:rPr>
                        <a:t>Inter-</a:t>
                      </a:r>
                      <a:r>
                        <a:rPr sz="2000" dirty="0">
                          <a:latin typeface="Times New Roman"/>
                          <a:cs typeface="Times New Roman"/>
                        </a:rPr>
                        <a:t>State</a:t>
                      </a:r>
                      <a:r>
                        <a:rPr sz="2000" spc="-40" dirty="0">
                          <a:latin typeface="Times New Roman"/>
                          <a:cs typeface="Times New Roman"/>
                        </a:rPr>
                        <a:t> </a:t>
                      </a:r>
                      <a:r>
                        <a:rPr sz="2000" spc="-10" dirty="0">
                          <a:latin typeface="Times New Roman"/>
                          <a:cs typeface="Times New Roman"/>
                        </a:rPr>
                        <a:t>(IGST)</a:t>
                      </a:r>
                      <a:endParaRPr sz="2000">
                        <a:latin typeface="Times New Roman"/>
                        <a:cs typeface="Times New Roman"/>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F7E8"/>
                    </a:solidFill>
                  </a:tcPr>
                </a:tc>
                <a:extLst>
                  <a:ext uri="{0D108BD9-81ED-4DB2-BD59-A6C34878D82A}">
                    <a16:rowId xmlns:a16="http://schemas.microsoft.com/office/drawing/2014/main" val="10002"/>
                  </a:ext>
                </a:extLst>
              </a:tr>
              <a:tr h="462280">
                <a:tc vMerge="1">
                  <a:txBody>
                    <a:bodyPr/>
                    <a:lstStyle/>
                    <a:p>
                      <a:endParaRPr/>
                    </a:p>
                  </a:txBody>
                  <a:tcPr marL="0" marR="0" marT="0" marB="0">
                    <a:lnR w="12700">
                      <a:solidFill>
                        <a:srgbClr val="FFFFFF"/>
                      </a:solidFill>
                      <a:prstDash val="solid"/>
                    </a:lnR>
                  </a:tcPr>
                </a:tc>
                <a:tc>
                  <a:txBody>
                    <a:bodyPr/>
                    <a:lstStyle/>
                    <a:p>
                      <a:pPr marL="91440">
                        <a:lnSpc>
                          <a:spcPct val="100000"/>
                        </a:lnSpc>
                        <a:spcBef>
                          <a:spcPts val="295"/>
                        </a:spcBef>
                      </a:pPr>
                      <a:r>
                        <a:rPr sz="2000" spc="-10" dirty="0">
                          <a:latin typeface="Times New Roman"/>
                          <a:cs typeface="Times New Roman"/>
                        </a:rPr>
                        <a:t>Goods</a:t>
                      </a:r>
                      <a:endParaRPr sz="2000">
                        <a:latin typeface="Times New Roman"/>
                        <a:cs typeface="Times New Roman"/>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2EECD"/>
                    </a:solidFill>
                  </a:tcPr>
                </a:tc>
                <a:tc>
                  <a:txBody>
                    <a:bodyPr/>
                    <a:lstStyle/>
                    <a:p>
                      <a:pPr marL="91440">
                        <a:lnSpc>
                          <a:spcPct val="100000"/>
                        </a:lnSpc>
                        <a:spcBef>
                          <a:spcPts val="295"/>
                        </a:spcBef>
                      </a:pPr>
                      <a:r>
                        <a:rPr sz="2000" spc="-10" dirty="0">
                          <a:latin typeface="Times New Roman"/>
                          <a:cs typeface="Times New Roman"/>
                        </a:rPr>
                        <a:t>Chandigarh*</a:t>
                      </a:r>
                      <a:endParaRPr sz="2000">
                        <a:latin typeface="Times New Roman"/>
                        <a:cs typeface="Times New Roman"/>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2EECD"/>
                    </a:solidFill>
                  </a:tcPr>
                </a:tc>
                <a:tc>
                  <a:txBody>
                    <a:bodyPr/>
                    <a:lstStyle/>
                    <a:p>
                      <a:pPr marL="92075">
                        <a:lnSpc>
                          <a:spcPct val="100000"/>
                        </a:lnSpc>
                        <a:spcBef>
                          <a:spcPts val="295"/>
                        </a:spcBef>
                      </a:pPr>
                      <a:r>
                        <a:rPr sz="2000" spc="-10" dirty="0">
                          <a:latin typeface="Times New Roman"/>
                          <a:cs typeface="Times New Roman"/>
                        </a:rPr>
                        <a:t>Chandigarh*</a:t>
                      </a:r>
                      <a:endParaRPr sz="2000">
                        <a:latin typeface="Times New Roman"/>
                        <a:cs typeface="Times New Roman"/>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2EECD"/>
                    </a:solidFill>
                  </a:tcPr>
                </a:tc>
                <a:tc>
                  <a:txBody>
                    <a:bodyPr/>
                    <a:lstStyle/>
                    <a:p>
                      <a:pPr marL="92075">
                        <a:lnSpc>
                          <a:spcPct val="100000"/>
                        </a:lnSpc>
                        <a:spcBef>
                          <a:spcPts val="295"/>
                        </a:spcBef>
                      </a:pPr>
                      <a:r>
                        <a:rPr sz="2000" spc="-10" dirty="0">
                          <a:latin typeface="Times New Roman"/>
                          <a:cs typeface="Times New Roman"/>
                        </a:rPr>
                        <a:t>Inter-</a:t>
                      </a:r>
                      <a:r>
                        <a:rPr sz="2000" dirty="0">
                          <a:latin typeface="Times New Roman"/>
                          <a:cs typeface="Times New Roman"/>
                        </a:rPr>
                        <a:t>State</a:t>
                      </a:r>
                      <a:r>
                        <a:rPr sz="2000" spc="-40" dirty="0">
                          <a:latin typeface="Times New Roman"/>
                          <a:cs typeface="Times New Roman"/>
                        </a:rPr>
                        <a:t> </a:t>
                      </a:r>
                      <a:r>
                        <a:rPr sz="2000" spc="-10" dirty="0">
                          <a:latin typeface="Times New Roman"/>
                          <a:cs typeface="Times New Roman"/>
                        </a:rPr>
                        <a:t>(IGST)</a:t>
                      </a:r>
                      <a:endParaRPr sz="2000">
                        <a:latin typeface="Times New Roman"/>
                        <a:cs typeface="Times New Roman"/>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2EECD"/>
                    </a:solidFill>
                  </a:tcPr>
                </a:tc>
                <a:extLst>
                  <a:ext uri="{0D108BD9-81ED-4DB2-BD59-A6C34878D82A}">
                    <a16:rowId xmlns:a16="http://schemas.microsoft.com/office/drawing/2014/main" val="10003"/>
                  </a:ext>
                </a:extLst>
              </a:tr>
              <a:tr h="461645">
                <a:tc vMerge="1">
                  <a:txBody>
                    <a:bodyPr/>
                    <a:lstStyle/>
                    <a:p>
                      <a:endParaRPr/>
                    </a:p>
                  </a:txBody>
                  <a:tcPr marL="0" marR="0" marT="0" marB="0">
                    <a:lnR w="12700">
                      <a:solidFill>
                        <a:srgbClr val="FFFFFF"/>
                      </a:solidFill>
                      <a:prstDash val="solid"/>
                    </a:lnR>
                  </a:tcPr>
                </a:tc>
                <a:tc>
                  <a:txBody>
                    <a:bodyPr/>
                    <a:lstStyle/>
                    <a:p>
                      <a:pPr marL="91440">
                        <a:lnSpc>
                          <a:spcPct val="100000"/>
                        </a:lnSpc>
                        <a:spcBef>
                          <a:spcPts val="295"/>
                        </a:spcBef>
                      </a:pPr>
                      <a:r>
                        <a:rPr sz="2000" spc="-10" dirty="0">
                          <a:latin typeface="Times New Roman"/>
                          <a:cs typeface="Times New Roman"/>
                        </a:rPr>
                        <a:t>Services</a:t>
                      </a:r>
                      <a:endParaRPr sz="2000">
                        <a:latin typeface="Times New Roman"/>
                        <a:cs typeface="Times New Roman"/>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F7E8"/>
                    </a:solidFill>
                  </a:tcPr>
                </a:tc>
                <a:tc>
                  <a:txBody>
                    <a:bodyPr/>
                    <a:lstStyle/>
                    <a:p>
                      <a:pPr marL="91440">
                        <a:lnSpc>
                          <a:spcPct val="100000"/>
                        </a:lnSpc>
                        <a:spcBef>
                          <a:spcPts val="295"/>
                        </a:spcBef>
                      </a:pPr>
                      <a:r>
                        <a:rPr sz="2000" spc="-10" dirty="0">
                          <a:latin typeface="Times New Roman"/>
                          <a:cs typeface="Times New Roman"/>
                        </a:rPr>
                        <a:t>Chandigarh*</a:t>
                      </a:r>
                      <a:endParaRPr sz="2000">
                        <a:latin typeface="Times New Roman"/>
                        <a:cs typeface="Times New Roman"/>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F7E8"/>
                    </a:solidFill>
                  </a:tcPr>
                </a:tc>
                <a:tc>
                  <a:txBody>
                    <a:bodyPr/>
                    <a:lstStyle/>
                    <a:p>
                      <a:pPr marL="92075">
                        <a:lnSpc>
                          <a:spcPct val="100000"/>
                        </a:lnSpc>
                        <a:spcBef>
                          <a:spcPts val="295"/>
                        </a:spcBef>
                      </a:pPr>
                      <a:r>
                        <a:rPr sz="2000" spc="-10" dirty="0">
                          <a:latin typeface="Times New Roman"/>
                          <a:cs typeface="Times New Roman"/>
                        </a:rPr>
                        <a:t>Punjab</a:t>
                      </a:r>
                      <a:endParaRPr sz="2000">
                        <a:latin typeface="Times New Roman"/>
                        <a:cs typeface="Times New Roman"/>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F7E8"/>
                    </a:solidFill>
                  </a:tcPr>
                </a:tc>
                <a:tc>
                  <a:txBody>
                    <a:bodyPr/>
                    <a:lstStyle/>
                    <a:p>
                      <a:pPr marL="92075">
                        <a:lnSpc>
                          <a:spcPct val="100000"/>
                        </a:lnSpc>
                        <a:spcBef>
                          <a:spcPts val="295"/>
                        </a:spcBef>
                      </a:pPr>
                      <a:r>
                        <a:rPr sz="2000" spc="-10" dirty="0">
                          <a:latin typeface="Times New Roman"/>
                          <a:cs typeface="Times New Roman"/>
                        </a:rPr>
                        <a:t>Inter-</a:t>
                      </a:r>
                      <a:r>
                        <a:rPr sz="2000" dirty="0">
                          <a:latin typeface="Times New Roman"/>
                          <a:cs typeface="Times New Roman"/>
                        </a:rPr>
                        <a:t>State</a:t>
                      </a:r>
                      <a:r>
                        <a:rPr sz="2000" spc="-40" dirty="0">
                          <a:latin typeface="Times New Roman"/>
                          <a:cs typeface="Times New Roman"/>
                        </a:rPr>
                        <a:t> </a:t>
                      </a:r>
                      <a:r>
                        <a:rPr sz="2000" spc="-10" dirty="0">
                          <a:latin typeface="Times New Roman"/>
                          <a:cs typeface="Times New Roman"/>
                        </a:rPr>
                        <a:t>(IGST)</a:t>
                      </a:r>
                      <a:endParaRPr sz="2000">
                        <a:latin typeface="Times New Roman"/>
                        <a:cs typeface="Times New Roman"/>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F7E8"/>
                    </a:solidFill>
                  </a:tcPr>
                </a:tc>
                <a:extLst>
                  <a:ext uri="{0D108BD9-81ED-4DB2-BD59-A6C34878D82A}">
                    <a16:rowId xmlns:a16="http://schemas.microsoft.com/office/drawing/2014/main" val="10004"/>
                  </a:ext>
                </a:extLst>
              </a:tr>
              <a:tr h="114300">
                <a:tc vMerge="1">
                  <a:txBody>
                    <a:bodyPr/>
                    <a:lstStyle/>
                    <a:p>
                      <a:endParaRPr/>
                    </a:p>
                  </a:txBody>
                  <a:tcPr marL="0" marR="0" marT="0" marB="0">
                    <a:lnR w="12700">
                      <a:solidFill>
                        <a:srgbClr val="FFFFFF"/>
                      </a:solidFill>
                      <a:prstDash val="solid"/>
                    </a:lnR>
                  </a:tcPr>
                </a:tc>
                <a:tc rowSpan="3">
                  <a:txBody>
                    <a:bodyPr/>
                    <a:lstStyle/>
                    <a:p>
                      <a:pPr marL="91440">
                        <a:lnSpc>
                          <a:spcPct val="100000"/>
                        </a:lnSpc>
                        <a:spcBef>
                          <a:spcPts val="295"/>
                        </a:spcBef>
                      </a:pPr>
                      <a:r>
                        <a:rPr sz="2000" spc="-10" dirty="0">
                          <a:latin typeface="Times New Roman"/>
                          <a:cs typeface="Times New Roman"/>
                        </a:rPr>
                        <a:t>Goods</a:t>
                      </a:r>
                      <a:endParaRPr sz="2000">
                        <a:latin typeface="Times New Roman"/>
                        <a:cs typeface="Times New Roman"/>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2EECD"/>
                    </a:solidFill>
                  </a:tcPr>
                </a:tc>
                <a:tc rowSpan="3">
                  <a:txBody>
                    <a:bodyPr/>
                    <a:lstStyle/>
                    <a:p>
                      <a:pPr marL="91440">
                        <a:lnSpc>
                          <a:spcPct val="100000"/>
                        </a:lnSpc>
                        <a:spcBef>
                          <a:spcPts val="295"/>
                        </a:spcBef>
                      </a:pPr>
                      <a:r>
                        <a:rPr sz="2000" spc="-10" dirty="0">
                          <a:latin typeface="Times New Roman"/>
                          <a:cs typeface="Times New Roman"/>
                        </a:rPr>
                        <a:t>Punjab</a:t>
                      </a:r>
                      <a:endParaRPr sz="2000">
                        <a:latin typeface="Times New Roman"/>
                        <a:cs typeface="Times New Roman"/>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2EECD"/>
                    </a:solidFill>
                  </a:tcPr>
                </a:tc>
                <a:tc rowSpan="3">
                  <a:txBody>
                    <a:bodyPr/>
                    <a:lstStyle/>
                    <a:p>
                      <a:pPr marL="92075">
                        <a:lnSpc>
                          <a:spcPct val="100000"/>
                        </a:lnSpc>
                        <a:spcBef>
                          <a:spcPts val="295"/>
                        </a:spcBef>
                      </a:pPr>
                      <a:r>
                        <a:rPr sz="2000" spc="-10" dirty="0">
                          <a:latin typeface="Times New Roman"/>
                          <a:cs typeface="Times New Roman"/>
                        </a:rPr>
                        <a:t>Chandigarh*</a:t>
                      </a:r>
                      <a:endParaRPr sz="2000">
                        <a:latin typeface="Times New Roman"/>
                        <a:cs typeface="Times New Roman"/>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2EECD"/>
                    </a:solidFill>
                  </a:tcPr>
                </a:tc>
                <a:tc rowSpan="3">
                  <a:txBody>
                    <a:bodyPr/>
                    <a:lstStyle/>
                    <a:p>
                      <a:pPr marL="92075">
                        <a:lnSpc>
                          <a:spcPct val="100000"/>
                        </a:lnSpc>
                        <a:spcBef>
                          <a:spcPts val="295"/>
                        </a:spcBef>
                      </a:pPr>
                      <a:r>
                        <a:rPr sz="2000" spc="-10" dirty="0">
                          <a:latin typeface="Times New Roman"/>
                          <a:cs typeface="Times New Roman"/>
                        </a:rPr>
                        <a:t>Inter-</a:t>
                      </a:r>
                      <a:r>
                        <a:rPr sz="2000" dirty="0">
                          <a:latin typeface="Times New Roman"/>
                          <a:cs typeface="Times New Roman"/>
                        </a:rPr>
                        <a:t>State</a:t>
                      </a:r>
                      <a:r>
                        <a:rPr sz="2000" spc="-50" dirty="0">
                          <a:latin typeface="Times New Roman"/>
                          <a:cs typeface="Times New Roman"/>
                        </a:rPr>
                        <a:t> </a:t>
                      </a:r>
                      <a:r>
                        <a:rPr sz="2000" spc="-10" dirty="0">
                          <a:latin typeface="Times New Roman"/>
                          <a:cs typeface="Times New Roman"/>
                        </a:rPr>
                        <a:t>(IGST)</a:t>
                      </a:r>
                      <a:endParaRPr sz="2000">
                        <a:latin typeface="Times New Roman"/>
                        <a:cs typeface="Times New Roman"/>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2EECD"/>
                    </a:solidFill>
                  </a:tcPr>
                </a:tc>
                <a:extLst>
                  <a:ext uri="{0D108BD9-81ED-4DB2-BD59-A6C34878D82A}">
                    <a16:rowId xmlns:a16="http://schemas.microsoft.com/office/drawing/2014/main" val="10005"/>
                  </a:ext>
                </a:extLst>
              </a:tr>
              <a:tr h="293370">
                <a:tc>
                  <a:txBody>
                    <a:bodyPr/>
                    <a:lstStyle/>
                    <a:p>
                      <a:pPr>
                        <a:lnSpc>
                          <a:spcPct val="100000"/>
                        </a:lnSpc>
                      </a:pPr>
                      <a:endParaRPr sz="1800">
                        <a:latin typeface="Times New Roman"/>
                        <a:cs typeface="Times New Roman"/>
                      </a:endParaRPr>
                    </a:p>
                  </a:txBody>
                  <a:tcPr marL="0" marR="0" marT="0" marB="0">
                    <a:lnR w="12700">
                      <a:solidFill>
                        <a:srgbClr val="FFFFFF"/>
                      </a:solidFill>
                      <a:prstDash val="solid"/>
                    </a:lnR>
                    <a:solidFill>
                      <a:srgbClr val="FFFFFF"/>
                    </a:solidFill>
                  </a:tcPr>
                </a:tc>
                <a:tc vMerge="1">
                  <a:txBody>
                    <a:bodyPr/>
                    <a:lstStyle/>
                    <a:p>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2EECD"/>
                    </a:solidFill>
                  </a:tcPr>
                </a:tc>
                <a:tc vMerge="1">
                  <a:txBody>
                    <a:bodyPr/>
                    <a:lstStyle/>
                    <a:p>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2EECD"/>
                    </a:solidFill>
                  </a:tcPr>
                </a:tc>
                <a:tc vMerge="1">
                  <a:txBody>
                    <a:bodyPr/>
                    <a:lstStyle/>
                    <a:p>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2EECD"/>
                    </a:solidFill>
                  </a:tcPr>
                </a:tc>
                <a:tc vMerge="1">
                  <a:txBody>
                    <a:bodyPr/>
                    <a:lstStyle/>
                    <a:p>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2EECD"/>
                    </a:solidFill>
                  </a:tcPr>
                </a:tc>
                <a:extLst>
                  <a:ext uri="{0D108BD9-81ED-4DB2-BD59-A6C34878D82A}">
                    <a16:rowId xmlns:a16="http://schemas.microsoft.com/office/drawing/2014/main" val="10006"/>
                  </a:ext>
                </a:extLst>
              </a:tr>
              <a:tr h="53975">
                <a:tc rowSpan="3">
                  <a:txBody>
                    <a:bodyPr/>
                    <a:lstStyle/>
                    <a:p>
                      <a:pPr>
                        <a:lnSpc>
                          <a:spcPct val="100000"/>
                        </a:lnSpc>
                      </a:pPr>
                      <a:endParaRPr sz="1900" dirty="0">
                        <a:latin typeface="Times New Roman"/>
                        <a:cs typeface="Times New Roman"/>
                      </a:endParaRPr>
                    </a:p>
                  </a:txBody>
                  <a:tcPr marL="0" marR="0" marT="0" marB="0">
                    <a:lnR w="12700">
                      <a:solidFill>
                        <a:srgbClr val="FFFFFF"/>
                      </a:solidFill>
                      <a:prstDash val="solid"/>
                    </a:lnR>
                  </a:tcPr>
                </a:tc>
                <a:tc vMerge="1">
                  <a:txBody>
                    <a:bodyPr/>
                    <a:lstStyle/>
                    <a:p>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2EECD"/>
                    </a:solidFill>
                  </a:tcPr>
                </a:tc>
                <a:tc vMerge="1">
                  <a:txBody>
                    <a:bodyPr/>
                    <a:lstStyle/>
                    <a:p>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2EECD"/>
                    </a:solidFill>
                  </a:tcPr>
                </a:tc>
                <a:tc vMerge="1">
                  <a:txBody>
                    <a:bodyPr/>
                    <a:lstStyle/>
                    <a:p>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2EECD"/>
                    </a:solidFill>
                  </a:tcPr>
                </a:tc>
                <a:tc vMerge="1">
                  <a:txBody>
                    <a:bodyPr/>
                    <a:lstStyle/>
                    <a:p>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2EECD"/>
                    </a:solidFill>
                  </a:tcPr>
                </a:tc>
                <a:extLst>
                  <a:ext uri="{0D108BD9-81ED-4DB2-BD59-A6C34878D82A}">
                    <a16:rowId xmlns:a16="http://schemas.microsoft.com/office/drawing/2014/main" val="10007"/>
                  </a:ext>
                </a:extLst>
              </a:tr>
              <a:tr h="461645">
                <a:tc vMerge="1">
                  <a:txBody>
                    <a:bodyPr/>
                    <a:lstStyle/>
                    <a:p>
                      <a:endParaRPr/>
                    </a:p>
                  </a:txBody>
                  <a:tcPr marL="0" marR="0" marT="0" marB="0">
                    <a:lnR w="12700">
                      <a:solidFill>
                        <a:srgbClr val="FFFFFF"/>
                      </a:solidFill>
                      <a:prstDash val="solid"/>
                    </a:lnR>
                  </a:tcPr>
                </a:tc>
                <a:tc>
                  <a:txBody>
                    <a:bodyPr/>
                    <a:lstStyle/>
                    <a:p>
                      <a:pPr marL="91440">
                        <a:lnSpc>
                          <a:spcPct val="100000"/>
                        </a:lnSpc>
                        <a:spcBef>
                          <a:spcPts val="295"/>
                        </a:spcBef>
                      </a:pPr>
                      <a:r>
                        <a:rPr sz="2000" spc="-10" dirty="0">
                          <a:latin typeface="Times New Roman"/>
                          <a:cs typeface="Times New Roman"/>
                        </a:rPr>
                        <a:t>Goods</a:t>
                      </a:r>
                      <a:endParaRPr sz="2000">
                        <a:latin typeface="Times New Roman"/>
                        <a:cs typeface="Times New Roman"/>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F7E8"/>
                    </a:solidFill>
                  </a:tcPr>
                </a:tc>
                <a:tc>
                  <a:txBody>
                    <a:bodyPr/>
                    <a:lstStyle/>
                    <a:p>
                      <a:pPr marL="91440">
                        <a:lnSpc>
                          <a:spcPct val="100000"/>
                        </a:lnSpc>
                        <a:spcBef>
                          <a:spcPts val="295"/>
                        </a:spcBef>
                      </a:pPr>
                      <a:r>
                        <a:rPr sz="2000" spc="-10" dirty="0">
                          <a:latin typeface="Times New Roman"/>
                          <a:cs typeface="Times New Roman"/>
                        </a:rPr>
                        <a:t>Delhi</a:t>
                      </a:r>
                      <a:endParaRPr sz="2000">
                        <a:latin typeface="Times New Roman"/>
                        <a:cs typeface="Times New Roman"/>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F7E8"/>
                    </a:solidFill>
                  </a:tcPr>
                </a:tc>
                <a:tc>
                  <a:txBody>
                    <a:bodyPr/>
                    <a:lstStyle/>
                    <a:p>
                      <a:pPr marL="92075">
                        <a:lnSpc>
                          <a:spcPct val="100000"/>
                        </a:lnSpc>
                        <a:spcBef>
                          <a:spcPts val="295"/>
                        </a:spcBef>
                      </a:pPr>
                      <a:r>
                        <a:rPr sz="2000" spc="-10" dirty="0">
                          <a:latin typeface="Times New Roman"/>
                          <a:cs typeface="Times New Roman"/>
                        </a:rPr>
                        <a:t>Delhi</a:t>
                      </a:r>
                      <a:endParaRPr sz="2000">
                        <a:latin typeface="Times New Roman"/>
                        <a:cs typeface="Times New Roman"/>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F7E8"/>
                    </a:solidFill>
                  </a:tcPr>
                </a:tc>
                <a:tc>
                  <a:txBody>
                    <a:bodyPr/>
                    <a:lstStyle/>
                    <a:p>
                      <a:pPr marL="92075">
                        <a:lnSpc>
                          <a:spcPct val="100000"/>
                        </a:lnSpc>
                        <a:spcBef>
                          <a:spcPts val="295"/>
                        </a:spcBef>
                      </a:pPr>
                      <a:r>
                        <a:rPr sz="2000" dirty="0">
                          <a:latin typeface="Times New Roman"/>
                          <a:cs typeface="Times New Roman"/>
                        </a:rPr>
                        <a:t>Intra-State</a:t>
                      </a:r>
                      <a:r>
                        <a:rPr sz="2000" spc="445" dirty="0">
                          <a:latin typeface="Times New Roman"/>
                          <a:cs typeface="Times New Roman"/>
                        </a:rPr>
                        <a:t> </a:t>
                      </a:r>
                      <a:r>
                        <a:rPr sz="2000" spc="-10" dirty="0">
                          <a:latin typeface="Times New Roman"/>
                          <a:cs typeface="Times New Roman"/>
                        </a:rPr>
                        <a:t>(CGST/SGST)</a:t>
                      </a:r>
                      <a:endParaRPr sz="2000">
                        <a:latin typeface="Times New Roman"/>
                        <a:cs typeface="Times New Roman"/>
                      </a:endParaRPr>
                    </a:p>
                  </a:txBody>
                  <a:tcPr marL="0" marR="0" marT="374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F0F7E8"/>
                    </a:solidFill>
                  </a:tcPr>
                </a:tc>
                <a:extLst>
                  <a:ext uri="{0D108BD9-81ED-4DB2-BD59-A6C34878D82A}">
                    <a16:rowId xmlns:a16="http://schemas.microsoft.com/office/drawing/2014/main" val="10008"/>
                  </a:ext>
                </a:extLst>
              </a:tr>
              <a:tr h="501015">
                <a:tc vMerge="1">
                  <a:txBody>
                    <a:bodyPr/>
                    <a:lstStyle/>
                    <a:p>
                      <a:endParaRPr/>
                    </a:p>
                  </a:txBody>
                  <a:tcPr marL="0" marR="0" marT="0" marB="0">
                    <a:lnR w="12700">
                      <a:solidFill>
                        <a:srgbClr val="FFFFFF"/>
                      </a:solidFill>
                      <a:prstDash val="solid"/>
                    </a:lnR>
                  </a:tcPr>
                </a:tc>
                <a:tc>
                  <a:txBody>
                    <a:bodyPr/>
                    <a:lstStyle/>
                    <a:p>
                      <a:pPr marL="91440">
                        <a:lnSpc>
                          <a:spcPct val="100000"/>
                        </a:lnSpc>
                        <a:spcBef>
                          <a:spcPts val="300"/>
                        </a:spcBef>
                      </a:pPr>
                      <a:r>
                        <a:rPr sz="2000" spc="-10" dirty="0">
                          <a:latin typeface="Times New Roman"/>
                          <a:cs typeface="Times New Roman"/>
                        </a:rPr>
                        <a:t>Services</a:t>
                      </a:r>
                      <a:endParaRPr sz="2000">
                        <a:latin typeface="Times New Roman"/>
                        <a:cs typeface="Times New Roman"/>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2EECD"/>
                    </a:solidFill>
                  </a:tcPr>
                </a:tc>
                <a:tc>
                  <a:txBody>
                    <a:bodyPr/>
                    <a:lstStyle/>
                    <a:p>
                      <a:pPr marL="91440">
                        <a:lnSpc>
                          <a:spcPct val="100000"/>
                        </a:lnSpc>
                        <a:spcBef>
                          <a:spcPts val="300"/>
                        </a:spcBef>
                      </a:pPr>
                      <a:r>
                        <a:rPr sz="2000" spc="-10" dirty="0">
                          <a:latin typeface="Times New Roman"/>
                          <a:cs typeface="Times New Roman"/>
                        </a:rPr>
                        <a:t>Rajasthan</a:t>
                      </a:r>
                      <a:endParaRPr sz="2000">
                        <a:latin typeface="Times New Roman"/>
                        <a:cs typeface="Times New Roman"/>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2EECD"/>
                    </a:solidFill>
                  </a:tcPr>
                </a:tc>
                <a:tc>
                  <a:txBody>
                    <a:bodyPr/>
                    <a:lstStyle/>
                    <a:p>
                      <a:pPr marL="92075">
                        <a:lnSpc>
                          <a:spcPct val="100000"/>
                        </a:lnSpc>
                        <a:spcBef>
                          <a:spcPts val="300"/>
                        </a:spcBef>
                      </a:pPr>
                      <a:r>
                        <a:rPr sz="2000" spc="-10" dirty="0">
                          <a:latin typeface="Times New Roman"/>
                          <a:cs typeface="Times New Roman"/>
                        </a:rPr>
                        <a:t>Rajasthan</a:t>
                      </a:r>
                      <a:endParaRPr sz="2000">
                        <a:latin typeface="Times New Roman"/>
                        <a:cs typeface="Times New Roman"/>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2EECD"/>
                    </a:solidFill>
                  </a:tcPr>
                </a:tc>
                <a:tc>
                  <a:txBody>
                    <a:bodyPr/>
                    <a:lstStyle/>
                    <a:p>
                      <a:pPr marL="92075">
                        <a:lnSpc>
                          <a:spcPct val="100000"/>
                        </a:lnSpc>
                        <a:spcBef>
                          <a:spcPts val="300"/>
                        </a:spcBef>
                      </a:pPr>
                      <a:r>
                        <a:rPr sz="2000" dirty="0">
                          <a:latin typeface="Times New Roman"/>
                          <a:cs typeface="Times New Roman"/>
                        </a:rPr>
                        <a:t>Intra-State</a:t>
                      </a:r>
                      <a:r>
                        <a:rPr sz="2000" spc="-55" dirty="0">
                          <a:latin typeface="Times New Roman"/>
                          <a:cs typeface="Times New Roman"/>
                        </a:rPr>
                        <a:t> </a:t>
                      </a:r>
                      <a:r>
                        <a:rPr sz="2000" spc="-10" dirty="0">
                          <a:latin typeface="Times New Roman"/>
                          <a:cs typeface="Times New Roman"/>
                        </a:rPr>
                        <a:t>(CGST/SGST)</a:t>
                      </a:r>
                      <a:endParaRPr sz="2000" dirty="0">
                        <a:latin typeface="Times New Roman"/>
                        <a:cs typeface="Times New Roman"/>
                      </a:endParaRPr>
                    </a:p>
                  </a:txBody>
                  <a:tcPr marL="0" marR="0" marT="381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2EECD"/>
                    </a:solidFill>
                  </a:tcPr>
                </a:tc>
                <a:extLst>
                  <a:ext uri="{0D108BD9-81ED-4DB2-BD59-A6C34878D82A}">
                    <a16:rowId xmlns:a16="http://schemas.microsoft.com/office/drawing/2014/main" val="10009"/>
                  </a:ext>
                </a:extLst>
              </a:tr>
            </a:tbl>
          </a:graphicData>
        </a:graphic>
      </p:graphicFrame>
      <p:sp>
        <p:nvSpPr>
          <p:cNvPr id="14" name="object 14"/>
          <p:cNvSpPr txBox="1"/>
          <p:nvPr/>
        </p:nvSpPr>
        <p:spPr>
          <a:xfrm>
            <a:off x="840739" y="5206746"/>
            <a:ext cx="10203815" cy="1245235"/>
          </a:xfrm>
          <a:prstGeom prst="rect">
            <a:avLst/>
          </a:prstGeom>
        </p:spPr>
        <p:txBody>
          <a:bodyPr vert="horz" wrap="square" lIns="0" tIns="12700" rIns="0" bIns="0" rtlCol="0">
            <a:spAutoFit/>
          </a:bodyPr>
          <a:lstStyle/>
          <a:p>
            <a:pPr marL="12700">
              <a:lnSpc>
                <a:spcPct val="100000"/>
              </a:lnSpc>
              <a:spcBef>
                <a:spcPts val="100"/>
              </a:spcBef>
            </a:pPr>
            <a:r>
              <a:rPr sz="2000" b="1" dirty="0">
                <a:latin typeface="Times New Roman"/>
                <a:cs typeface="Times New Roman"/>
              </a:rPr>
              <a:t>Note:</a:t>
            </a:r>
            <a:r>
              <a:rPr sz="2000" b="1" spc="-45" dirty="0">
                <a:latin typeface="Times New Roman"/>
                <a:cs typeface="Times New Roman"/>
              </a:rPr>
              <a:t> </a:t>
            </a:r>
            <a:r>
              <a:rPr sz="2000" b="1" dirty="0">
                <a:latin typeface="Times New Roman"/>
                <a:cs typeface="Times New Roman"/>
              </a:rPr>
              <a:t>Chandigarh</a:t>
            </a:r>
            <a:r>
              <a:rPr sz="2000" b="1" spc="-55" dirty="0">
                <a:latin typeface="Times New Roman"/>
                <a:cs typeface="Times New Roman"/>
              </a:rPr>
              <a:t> </a:t>
            </a:r>
            <a:r>
              <a:rPr sz="2000" b="1" dirty="0">
                <a:latin typeface="Times New Roman"/>
                <a:cs typeface="Times New Roman"/>
              </a:rPr>
              <a:t>is</a:t>
            </a:r>
            <a:r>
              <a:rPr sz="2000" b="1" spc="-25" dirty="0">
                <a:latin typeface="Times New Roman"/>
                <a:cs typeface="Times New Roman"/>
              </a:rPr>
              <a:t> </a:t>
            </a:r>
            <a:r>
              <a:rPr sz="2000" b="1" dirty="0">
                <a:latin typeface="Times New Roman"/>
                <a:cs typeface="Times New Roman"/>
              </a:rPr>
              <a:t>a</a:t>
            </a:r>
            <a:r>
              <a:rPr sz="2000" b="1" spc="-10" dirty="0">
                <a:latin typeface="Times New Roman"/>
                <a:cs typeface="Times New Roman"/>
              </a:rPr>
              <a:t> </a:t>
            </a:r>
            <a:r>
              <a:rPr sz="2000" b="1" dirty="0">
                <a:latin typeface="Times New Roman"/>
                <a:cs typeface="Times New Roman"/>
              </a:rPr>
              <a:t>UT</a:t>
            </a:r>
            <a:r>
              <a:rPr sz="2000" b="1" spc="-50" dirty="0">
                <a:latin typeface="Times New Roman"/>
                <a:cs typeface="Times New Roman"/>
              </a:rPr>
              <a:t> </a:t>
            </a:r>
            <a:r>
              <a:rPr sz="2000" b="1" dirty="0">
                <a:latin typeface="Times New Roman"/>
                <a:cs typeface="Times New Roman"/>
              </a:rPr>
              <a:t>without</a:t>
            </a:r>
            <a:r>
              <a:rPr sz="2000" b="1" spc="-25" dirty="0">
                <a:latin typeface="Times New Roman"/>
                <a:cs typeface="Times New Roman"/>
              </a:rPr>
              <a:t> </a:t>
            </a:r>
            <a:r>
              <a:rPr sz="2000" b="1" spc="-10" dirty="0">
                <a:latin typeface="Times New Roman"/>
                <a:cs typeface="Times New Roman"/>
              </a:rPr>
              <a:t>Legislature;</a:t>
            </a:r>
            <a:endParaRPr sz="2000">
              <a:latin typeface="Times New Roman"/>
              <a:cs typeface="Times New Roman"/>
            </a:endParaRPr>
          </a:p>
          <a:p>
            <a:pPr marL="12700" marR="5080">
              <a:lnSpc>
                <a:spcPct val="100000"/>
              </a:lnSpc>
            </a:pPr>
            <a:r>
              <a:rPr sz="2000" i="1" dirty="0">
                <a:latin typeface="Times New Roman"/>
                <a:cs typeface="Times New Roman"/>
              </a:rPr>
              <a:t>Explanation</a:t>
            </a:r>
            <a:r>
              <a:rPr sz="2000" i="1" spc="-50" dirty="0">
                <a:latin typeface="Times New Roman"/>
                <a:cs typeface="Times New Roman"/>
              </a:rPr>
              <a:t> </a:t>
            </a:r>
            <a:r>
              <a:rPr sz="2000" i="1" dirty="0">
                <a:latin typeface="Times New Roman"/>
                <a:cs typeface="Times New Roman"/>
              </a:rPr>
              <a:t>to</a:t>
            </a:r>
            <a:r>
              <a:rPr sz="2000" i="1" spc="-20" dirty="0">
                <a:latin typeface="Times New Roman"/>
                <a:cs typeface="Times New Roman"/>
              </a:rPr>
              <a:t> </a:t>
            </a:r>
            <a:r>
              <a:rPr sz="2000" i="1" dirty="0">
                <a:latin typeface="Times New Roman"/>
                <a:cs typeface="Times New Roman"/>
              </a:rPr>
              <a:t>Section</a:t>
            </a:r>
            <a:r>
              <a:rPr sz="2000" i="1" spc="-35" dirty="0">
                <a:latin typeface="Times New Roman"/>
                <a:cs typeface="Times New Roman"/>
              </a:rPr>
              <a:t> </a:t>
            </a:r>
            <a:r>
              <a:rPr sz="2000" i="1" dirty="0">
                <a:latin typeface="Times New Roman"/>
                <a:cs typeface="Times New Roman"/>
              </a:rPr>
              <a:t>2(2)</a:t>
            </a:r>
            <a:r>
              <a:rPr sz="2000" i="1" spc="-25" dirty="0">
                <a:latin typeface="Times New Roman"/>
                <a:cs typeface="Times New Roman"/>
              </a:rPr>
              <a:t> </a:t>
            </a:r>
            <a:r>
              <a:rPr sz="2000" i="1" dirty="0">
                <a:latin typeface="Times New Roman"/>
                <a:cs typeface="Times New Roman"/>
              </a:rPr>
              <a:t>provides</a:t>
            </a:r>
            <a:r>
              <a:rPr sz="2000" i="1" spc="-55" dirty="0">
                <a:latin typeface="Times New Roman"/>
                <a:cs typeface="Times New Roman"/>
              </a:rPr>
              <a:t> </a:t>
            </a:r>
            <a:r>
              <a:rPr sz="2000" i="1" dirty="0">
                <a:latin typeface="Times New Roman"/>
                <a:cs typeface="Times New Roman"/>
              </a:rPr>
              <a:t>that</a:t>
            </a:r>
            <a:r>
              <a:rPr sz="2000" i="1" spc="-40" dirty="0">
                <a:latin typeface="Times New Roman"/>
                <a:cs typeface="Times New Roman"/>
              </a:rPr>
              <a:t> </a:t>
            </a:r>
            <a:r>
              <a:rPr sz="2000" i="1" dirty="0">
                <a:latin typeface="Times New Roman"/>
                <a:cs typeface="Times New Roman"/>
              </a:rPr>
              <a:t>the</a:t>
            </a:r>
            <a:r>
              <a:rPr sz="2000" i="1" spc="-20" dirty="0">
                <a:latin typeface="Times New Roman"/>
                <a:cs typeface="Times New Roman"/>
              </a:rPr>
              <a:t> </a:t>
            </a:r>
            <a:r>
              <a:rPr sz="2000" i="1" dirty="0">
                <a:latin typeface="Times New Roman"/>
                <a:cs typeface="Times New Roman"/>
              </a:rPr>
              <a:t>term </a:t>
            </a:r>
            <a:r>
              <a:rPr sz="2000" b="1" i="1" dirty="0">
                <a:latin typeface="Times New Roman"/>
                <a:cs typeface="Times New Roman"/>
              </a:rPr>
              <a:t>“State”</a:t>
            </a:r>
            <a:r>
              <a:rPr sz="2000" b="1" i="1" spc="-40" dirty="0">
                <a:latin typeface="Times New Roman"/>
                <a:cs typeface="Times New Roman"/>
              </a:rPr>
              <a:t> </a:t>
            </a:r>
            <a:r>
              <a:rPr sz="2000" b="1" i="1" dirty="0">
                <a:latin typeface="Times New Roman"/>
                <a:cs typeface="Times New Roman"/>
              </a:rPr>
              <a:t>includes</a:t>
            </a:r>
            <a:r>
              <a:rPr sz="2000" b="1" i="1" spc="-35" dirty="0">
                <a:latin typeface="Times New Roman"/>
                <a:cs typeface="Times New Roman"/>
              </a:rPr>
              <a:t> </a:t>
            </a:r>
            <a:r>
              <a:rPr sz="2000" b="1" i="1" dirty="0">
                <a:latin typeface="Times New Roman"/>
                <a:cs typeface="Times New Roman"/>
              </a:rPr>
              <a:t>a</a:t>
            </a:r>
            <a:r>
              <a:rPr sz="2000" b="1" i="1" spc="-15" dirty="0">
                <a:latin typeface="Times New Roman"/>
                <a:cs typeface="Times New Roman"/>
              </a:rPr>
              <a:t> </a:t>
            </a:r>
            <a:r>
              <a:rPr sz="2000" b="1" i="1" dirty="0">
                <a:latin typeface="Times New Roman"/>
                <a:cs typeface="Times New Roman"/>
              </a:rPr>
              <a:t>UT</a:t>
            </a:r>
            <a:r>
              <a:rPr sz="2000" b="1" i="1" spc="-20" dirty="0">
                <a:latin typeface="Times New Roman"/>
                <a:cs typeface="Times New Roman"/>
              </a:rPr>
              <a:t> </a:t>
            </a:r>
            <a:r>
              <a:rPr sz="2000" b="1" i="1" dirty="0">
                <a:latin typeface="Times New Roman"/>
                <a:cs typeface="Times New Roman"/>
              </a:rPr>
              <a:t>with</a:t>
            </a:r>
            <a:r>
              <a:rPr sz="2000" b="1" i="1" spc="-10" dirty="0">
                <a:latin typeface="Times New Roman"/>
                <a:cs typeface="Times New Roman"/>
              </a:rPr>
              <a:t> </a:t>
            </a:r>
            <a:r>
              <a:rPr sz="2000" b="1" i="1" dirty="0">
                <a:latin typeface="Times New Roman"/>
                <a:cs typeface="Times New Roman"/>
              </a:rPr>
              <a:t>Legislature</a:t>
            </a:r>
            <a:r>
              <a:rPr sz="2000" b="1" i="1" spc="-35" dirty="0">
                <a:latin typeface="Times New Roman"/>
                <a:cs typeface="Times New Roman"/>
              </a:rPr>
              <a:t> </a:t>
            </a:r>
            <a:r>
              <a:rPr sz="2000" i="1" dirty="0">
                <a:latin typeface="Times New Roman"/>
                <a:cs typeface="Times New Roman"/>
              </a:rPr>
              <a:t>(Of</a:t>
            </a:r>
            <a:r>
              <a:rPr sz="2000" i="1" spc="-20" dirty="0">
                <a:latin typeface="Times New Roman"/>
                <a:cs typeface="Times New Roman"/>
              </a:rPr>
              <a:t> </a:t>
            </a:r>
            <a:r>
              <a:rPr sz="2000" i="1" dirty="0">
                <a:latin typeface="Times New Roman"/>
                <a:cs typeface="Times New Roman"/>
              </a:rPr>
              <a:t>the</a:t>
            </a:r>
            <a:r>
              <a:rPr sz="2000" i="1" spc="-20" dirty="0">
                <a:latin typeface="Times New Roman"/>
                <a:cs typeface="Times New Roman"/>
              </a:rPr>
              <a:t> </a:t>
            </a:r>
            <a:r>
              <a:rPr sz="2000" i="1" spc="-50" dirty="0">
                <a:latin typeface="Times New Roman"/>
                <a:cs typeface="Times New Roman"/>
              </a:rPr>
              <a:t>7 </a:t>
            </a:r>
            <a:r>
              <a:rPr sz="2000" i="1" spc="-30" dirty="0">
                <a:latin typeface="Times New Roman"/>
                <a:cs typeface="Times New Roman"/>
              </a:rPr>
              <a:t>UTs,</a:t>
            </a:r>
            <a:r>
              <a:rPr sz="2000" i="1" spc="-35" dirty="0">
                <a:latin typeface="Times New Roman"/>
                <a:cs typeface="Times New Roman"/>
              </a:rPr>
              <a:t> </a:t>
            </a:r>
            <a:r>
              <a:rPr sz="2000" i="1" dirty="0">
                <a:latin typeface="Times New Roman"/>
                <a:cs typeface="Times New Roman"/>
              </a:rPr>
              <a:t>Delhi</a:t>
            </a:r>
            <a:r>
              <a:rPr sz="2000" i="1" spc="-20" dirty="0">
                <a:latin typeface="Times New Roman"/>
                <a:cs typeface="Times New Roman"/>
              </a:rPr>
              <a:t> </a:t>
            </a:r>
            <a:r>
              <a:rPr sz="2000" i="1" dirty="0">
                <a:latin typeface="Times New Roman"/>
                <a:cs typeface="Times New Roman"/>
              </a:rPr>
              <a:t>and</a:t>
            </a:r>
            <a:r>
              <a:rPr sz="2000" i="1" spc="-40" dirty="0">
                <a:latin typeface="Times New Roman"/>
                <a:cs typeface="Times New Roman"/>
              </a:rPr>
              <a:t> </a:t>
            </a:r>
            <a:r>
              <a:rPr sz="2000" i="1" dirty="0">
                <a:latin typeface="Times New Roman"/>
                <a:cs typeface="Times New Roman"/>
              </a:rPr>
              <a:t>Pondicherry</a:t>
            </a:r>
            <a:r>
              <a:rPr sz="2000" i="1" spc="-50" dirty="0">
                <a:latin typeface="Times New Roman"/>
                <a:cs typeface="Times New Roman"/>
              </a:rPr>
              <a:t> </a:t>
            </a:r>
            <a:r>
              <a:rPr sz="2000" i="1" dirty="0">
                <a:latin typeface="Times New Roman"/>
                <a:cs typeface="Times New Roman"/>
              </a:rPr>
              <a:t>are</a:t>
            </a:r>
            <a:r>
              <a:rPr sz="2000" i="1" spc="-25" dirty="0">
                <a:latin typeface="Times New Roman"/>
                <a:cs typeface="Times New Roman"/>
              </a:rPr>
              <a:t> </a:t>
            </a:r>
            <a:r>
              <a:rPr sz="2000" i="1" dirty="0">
                <a:latin typeface="Times New Roman"/>
                <a:cs typeface="Times New Roman"/>
              </a:rPr>
              <a:t>the</a:t>
            </a:r>
            <a:r>
              <a:rPr sz="2000" i="1" spc="-35" dirty="0">
                <a:latin typeface="Times New Roman"/>
                <a:cs typeface="Times New Roman"/>
              </a:rPr>
              <a:t> </a:t>
            </a:r>
            <a:r>
              <a:rPr sz="2000" i="1" dirty="0">
                <a:latin typeface="Times New Roman"/>
                <a:cs typeface="Times New Roman"/>
              </a:rPr>
              <a:t>only</a:t>
            </a:r>
            <a:r>
              <a:rPr sz="2000" i="1" spc="-25" dirty="0">
                <a:latin typeface="Times New Roman"/>
                <a:cs typeface="Times New Roman"/>
              </a:rPr>
              <a:t> </a:t>
            </a:r>
            <a:r>
              <a:rPr sz="2000" i="1" dirty="0">
                <a:latin typeface="Times New Roman"/>
                <a:cs typeface="Times New Roman"/>
              </a:rPr>
              <a:t>2</a:t>
            </a:r>
            <a:r>
              <a:rPr sz="2000" i="1" spc="-10" dirty="0">
                <a:latin typeface="Times New Roman"/>
                <a:cs typeface="Times New Roman"/>
              </a:rPr>
              <a:t> </a:t>
            </a:r>
            <a:r>
              <a:rPr sz="2000" i="1" spc="-45" dirty="0">
                <a:latin typeface="Times New Roman"/>
                <a:cs typeface="Times New Roman"/>
              </a:rPr>
              <a:t>UTs</a:t>
            </a:r>
            <a:r>
              <a:rPr sz="2000" i="1" spc="-30" dirty="0">
                <a:latin typeface="Times New Roman"/>
                <a:cs typeface="Times New Roman"/>
              </a:rPr>
              <a:t> </a:t>
            </a:r>
            <a:r>
              <a:rPr sz="2000" i="1" dirty="0">
                <a:latin typeface="Times New Roman"/>
                <a:cs typeface="Times New Roman"/>
              </a:rPr>
              <a:t>with</a:t>
            </a:r>
            <a:r>
              <a:rPr sz="2000" i="1" spc="-20" dirty="0">
                <a:latin typeface="Times New Roman"/>
                <a:cs typeface="Times New Roman"/>
              </a:rPr>
              <a:t> </a:t>
            </a:r>
            <a:r>
              <a:rPr sz="2000" i="1" spc="-10" dirty="0">
                <a:latin typeface="Times New Roman"/>
                <a:cs typeface="Times New Roman"/>
              </a:rPr>
              <a:t>Legislature).</a:t>
            </a:r>
            <a:r>
              <a:rPr sz="2000" i="1" spc="-30" dirty="0">
                <a:latin typeface="Times New Roman"/>
                <a:cs typeface="Times New Roman"/>
              </a:rPr>
              <a:t> </a:t>
            </a:r>
            <a:r>
              <a:rPr sz="2000" i="1" dirty="0">
                <a:latin typeface="Times New Roman"/>
                <a:cs typeface="Times New Roman"/>
              </a:rPr>
              <a:t>In</a:t>
            </a:r>
            <a:r>
              <a:rPr sz="2000" i="1" spc="-25" dirty="0">
                <a:latin typeface="Times New Roman"/>
                <a:cs typeface="Times New Roman"/>
              </a:rPr>
              <a:t> </a:t>
            </a:r>
            <a:r>
              <a:rPr sz="2000" i="1" dirty="0">
                <a:latin typeface="Times New Roman"/>
                <a:cs typeface="Times New Roman"/>
              </a:rPr>
              <a:t>case</a:t>
            </a:r>
            <a:r>
              <a:rPr sz="2000" i="1" spc="-15" dirty="0">
                <a:latin typeface="Times New Roman"/>
                <a:cs typeface="Times New Roman"/>
              </a:rPr>
              <a:t> </a:t>
            </a:r>
            <a:r>
              <a:rPr sz="2000" i="1" dirty="0">
                <a:latin typeface="Times New Roman"/>
                <a:cs typeface="Times New Roman"/>
              </a:rPr>
              <a:t>of</a:t>
            </a:r>
            <a:r>
              <a:rPr sz="2000" i="1" spc="-30" dirty="0">
                <a:latin typeface="Times New Roman"/>
                <a:cs typeface="Times New Roman"/>
              </a:rPr>
              <a:t> </a:t>
            </a:r>
            <a:r>
              <a:rPr sz="2000" i="1" dirty="0">
                <a:latin typeface="Times New Roman"/>
                <a:cs typeface="Times New Roman"/>
              </a:rPr>
              <a:t>a</a:t>
            </a:r>
            <a:r>
              <a:rPr sz="2000" i="1" spc="-10" dirty="0">
                <a:latin typeface="Times New Roman"/>
                <a:cs typeface="Times New Roman"/>
              </a:rPr>
              <a:t> </a:t>
            </a:r>
            <a:r>
              <a:rPr sz="2000" i="1" dirty="0">
                <a:latin typeface="Times New Roman"/>
                <a:cs typeface="Times New Roman"/>
              </a:rPr>
              <a:t>Union</a:t>
            </a:r>
            <a:r>
              <a:rPr sz="2000" i="1" spc="-25" dirty="0">
                <a:latin typeface="Times New Roman"/>
                <a:cs typeface="Times New Roman"/>
              </a:rPr>
              <a:t> </a:t>
            </a:r>
            <a:r>
              <a:rPr sz="2000" i="1" spc="-20" dirty="0">
                <a:latin typeface="Times New Roman"/>
                <a:cs typeface="Times New Roman"/>
              </a:rPr>
              <a:t>Territory</a:t>
            </a:r>
            <a:r>
              <a:rPr sz="2000" i="1" spc="-60" dirty="0">
                <a:latin typeface="Times New Roman"/>
                <a:cs typeface="Times New Roman"/>
              </a:rPr>
              <a:t> </a:t>
            </a:r>
            <a:r>
              <a:rPr sz="2000" i="1" dirty="0">
                <a:latin typeface="Times New Roman"/>
                <a:cs typeface="Times New Roman"/>
              </a:rPr>
              <a:t>if</a:t>
            </a:r>
            <a:r>
              <a:rPr sz="2000" i="1" spc="-20" dirty="0">
                <a:latin typeface="Times New Roman"/>
                <a:cs typeface="Times New Roman"/>
              </a:rPr>
              <a:t> </a:t>
            </a:r>
            <a:r>
              <a:rPr sz="2000" i="1" spc="-25" dirty="0">
                <a:latin typeface="Times New Roman"/>
                <a:cs typeface="Times New Roman"/>
              </a:rPr>
              <a:t>it </a:t>
            </a:r>
            <a:r>
              <a:rPr sz="2000" i="1" dirty="0">
                <a:latin typeface="Times New Roman"/>
                <a:cs typeface="Times New Roman"/>
              </a:rPr>
              <a:t>adopts</a:t>
            </a:r>
            <a:r>
              <a:rPr sz="2000" i="1" spc="-50" dirty="0">
                <a:latin typeface="Times New Roman"/>
                <a:cs typeface="Times New Roman"/>
              </a:rPr>
              <a:t> </a:t>
            </a:r>
            <a:r>
              <a:rPr sz="2000" i="1" dirty="0">
                <a:latin typeface="Times New Roman"/>
                <a:cs typeface="Times New Roman"/>
              </a:rPr>
              <a:t>the</a:t>
            </a:r>
            <a:r>
              <a:rPr sz="2000" i="1" spc="-5" dirty="0">
                <a:latin typeface="Times New Roman"/>
                <a:cs typeface="Times New Roman"/>
              </a:rPr>
              <a:t> </a:t>
            </a:r>
            <a:r>
              <a:rPr sz="2000" i="1" spc="-10" dirty="0">
                <a:latin typeface="Times New Roman"/>
                <a:cs typeface="Times New Roman"/>
              </a:rPr>
              <a:t>legislature</a:t>
            </a:r>
            <a:r>
              <a:rPr sz="2000" i="1" spc="-45" dirty="0">
                <a:latin typeface="Times New Roman"/>
                <a:cs typeface="Times New Roman"/>
              </a:rPr>
              <a:t> </a:t>
            </a:r>
            <a:r>
              <a:rPr sz="2000" i="1" dirty="0">
                <a:latin typeface="Times New Roman"/>
                <a:cs typeface="Times New Roman"/>
              </a:rPr>
              <a:t>of</a:t>
            </a:r>
            <a:r>
              <a:rPr sz="2000" i="1" spc="-5" dirty="0">
                <a:latin typeface="Times New Roman"/>
                <a:cs typeface="Times New Roman"/>
              </a:rPr>
              <a:t> </a:t>
            </a:r>
            <a:r>
              <a:rPr sz="2000" i="1" dirty="0">
                <a:latin typeface="Times New Roman"/>
                <a:cs typeface="Times New Roman"/>
              </a:rPr>
              <a:t>a</a:t>
            </a:r>
            <a:r>
              <a:rPr sz="2000" i="1" spc="5" dirty="0">
                <a:latin typeface="Times New Roman"/>
                <a:cs typeface="Times New Roman"/>
              </a:rPr>
              <a:t> </a:t>
            </a:r>
            <a:r>
              <a:rPr sz="2000" i="1" dirty="0">
                <a:latin typeface="Times New Roman"/>
                <a:cs typeface="Times New Roman"/>
              </a:rPr>
              <a:t>particular</a:t>
            </a:r>
            <a:r>
              <a:rPr sz="2000" i="1" spc="-30" dirty="0">
                <a:latin typeface="Times New Roman"/>
                <a:cs typeface="Times New Roman"/>
              </a:rPr>
              <a:t> </a:t>
            </a:r>
            <a:r>
              <a:rPr sz="2000" i="1" dirty="0">
                <a:latin typeface="Times New Roman"/>
                <a:cs typeface="Times New Roman"/>
              </a:rPr>
              <a:t>State</a:t>
            </a:r>
            <a:r>
              <a:rPr sz="2000" i="1" spc="-25" dirty="0">
                <a:latin typeface="Times New Roman"/>
                <a:cs typeface="Times New Roman"/>
              </a:rPr>
              <a:t> </a:t>
            </a:r>
            <a:r>
              <a:rPr sz="2000" i="1" dirty="0">
                <a:latin typeface="Times New Roman"/>
                <a:cs typeface="Times New Roman"/>
              </a:rPr>
              <a:t>say</a:t>
            </a:r>
            <a:r>
              <a:rPr sz="2000" i="1" spc="-20" dirty="0">
                <a:latin typeface="Times New Roman"/>
                <a:cs typeface="Times New Roman"/>
              </a:rPr>
              <a:t> </a:t>
            </a:r>
            <a:r>
              <a:rPr sz="2000" i="1" dirty="0">
                <a:latin typeface="Times New Roman"/>
                <a:cs typeface="Times New Roman"/>
              </a:rPr>
              <a:t>Punjab,</a:t>
            </a:r>
            <a:r>
              <a:rPr sz="2000" i="1" spc="-30" dirty="0">
                <a:latin typeface="Times New Roman"/>
                <a:cs typeface="Times New Roman"/>
              </a:rPr>
              <a:t> </a:t>
            </a:r>
            <a:r>
              <a:rPr sz="2000" i="1" dirty="0">
                <a:latin typeface="Times New Roman"/>
                <a:cs typeface="Times New Roman"/>
              </a:rPr>
              <a:t>then</a:t>
            </a:r>
            <a:r>
              <a:rPr sz="2000" i="1" spc="-10" dirty="0">
                <a:latin typeface="Times New Roman"/>
                <a:cs typeface="Times New Roman"/>
              </a:rPr>
              <a:t> </a:t>
            </a:r>
            <a:r>
              <a:rPr sz="2000" i="1" dirty="0">
                <a:latin typeface="Times New Roman"/>
                <a:cs typeface="Times New Roman"/>
              </a:rPr>
              <a:t>it</a:t>
            </a:r>
            <a:r>
              <a:rPr sz="2000" i="1" spc="-15" dirty="0">
                <a:latin typeface="Times New Roman"/>
                <a:cs typeface="Times New Roman"/>
              </a:rPr>
              <a:t> </a:t>
            </a:r>
            <a:r>
              <a:rPr sz="2000" i="1" dirty="0">
                <a:latin typeface="Times New Roman"/>
                <a:cs typeface="Times New Roman"/>
              </a:rPr>
              <a:t>will</a:t>
            </a:r>
            <a:r>
              <a:rPr sz="2000" i="1" spc="-5" dirty="0">
                <a:latin typeface="Times New Roman"/>
                <a:cs typeface="Times New Roman"/>
              </a:rPr>
              <a:t> </a:t>
            </a:r>
            <a:r>
              <a:rPr sz="2000" i="1" dirty="0">
                <a:latin typeface="Times New Roman"/>
                <a:cs typeface="Times New Roman"/>
              </a:rPr>
              <a:t>be</a:t>
            </a:r>
            <a:r>
              <a:rPr sz="2000" i="1" spc="-5" dirty="0">
                <a:latin typeface="Times New Roman"/>
                <a:cs typeface="Times New Roman"/>
              </a:rPr>
              <a:t> </a:t>
            </a:r>
            <a:r>
              <a:rPr sz="2000" i="1" dirty="0">
                <a:latin typeface="Times New Roman"/>
                <a:cs typeface="Times New Roman"/>
              </a:rPr>
              <a:t>intra-State</a:t>
            </a:r>
            <a:r>
              <a:rPr sz="2000" i="1" spc="-30" dirty="0">
                <a:latin typeface="Times New Roman"/>
                <a:cs typeface="Times New Roman"/>
              </a:rPr>
              <a:t> </a:t>
            </a:r>
            <a:r>
              <a:rPr sz="2000" i="1" spc="-10" dirty="0">
                <a:latin typeface="Times New Roman"/>
                <a:cs typeface="Times New Roman"/>
              </a:rPr>
              <a:t>supply.</a:t>
            </a:r>
            <a:endParaRPr sz="2000">
              <a:latin typeface="Times New Roman"/>
              <a:cs typeface="Times New Roman"/>
            </a:endParaRPr>
          </a:p>
        </p:txBody>
      </p:sp>
    </p:spTree>
    <p:extLst>
      <p:ext uri="{BB962C8B-B14F-4D97-AF65-F5344CB8AC3E}">
        <p14:creationId xmlns:p14="http://schemas.microsoft.com/office/powerpoint/2010/main" val="273311788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US" sz="2800" b="1" dirty="0" smtClean="0">
              <a:solidFill>
                <a:schemeClr val="tx1"/>
              </a:solidFill>
              <a:latin typeface="Times New Roman" panose="02020603050405020304" pitchFamily="18" charset="0"/>
              <a:cs typeface="Times New Roman" panose="02020603050405020304" pitchFamily="18" charset="0"/>
            </a:endParaRPr>
          </a:p>
          <a:p>
            <a:endParaRPr lang="en-US" sz="2800" b="1" dirty="0" smtClean="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IN" sz="2800" dirty="0" smtClean="0">
              <a:solidFill>
                <a:schemeClr val="tx1"/>
              </a:solidFill>
            </a:endParaRPr>
          </a:p>
          <a:p>
            <a:pPr marL="457200" indent="-457200">
              <a:buFont typeface="Wingdings" panose="05000000000000000000" pitchFamily="2" charset="2"/>
              <a:buChar char="Ø"/>
            </a:pPr>
            <a:endParaRPr lang="en-IN" sz="2800" dirty="0" smtClean="0">
              <a:solidFill>
                <a:schemeClr val="tx1"/>
              </a:solidFill>
            </a:endParaRPr>
          </a:p>
          <a:p>
            <a:pPr marL="457200" indent="-457200">
              <a:buFont typeface="Wingdings" panose="05000000000000000000" pitchFamily="2" charset="2"/>
              <a:buChar char="Ø"/>
            </a:pPr>
            <a:endParaRPr lang="en-IN" sz="2600" dirty="0" smtClean="0">
              <a:solidFill>
                <a:schemeClr val="tx1"/>
              </a:solidFill>
            </a:endParaRPr>
          </a:p>
          <a:p>
            <a:pPr marL="457200" indent="-457200">
              <a:buFont typeface="Wingdings" panose="05000000000000000000" pitchFamily="2" charset="2"/>
              <a:buChar char="Ø"/>
            </a:pPr>
            <a:endParaRPr lang="en-US" sz="26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r>
              <a:rPr lang="en-US" sz="2800" dirty="0" smtClean="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1567854" y="231200"/>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800" dirty="0"/>
              <a:t>Place of Supply When There is Movement of Goods</a:t>
            </a:r>
          </a:p>
        </p:txBody>
      </p:sp>
      <p:sp>
        <p:nvSpPr>
          <p:cNvPr id="3" name="TextBox 2"/>
          <p:cNvSpPr txBox="1"/>
          <p:nvPr/>
        </p:nvSpPr>
        <p:spPr>
          <a:xfrm>
            <a:off x="737118" y="1194318"/>
            <a:ext cx="10011747" cy="861774"/>
          </a:xfrm>
          <a:prstGeom prst="rect">
            <a:avLst/>
          </a:prstGeom>
          <a:noFill/>
        </p:spPr>
        <p:txBody>
          <a:bodyPr wrap="square" rtlCol="0">
            <a:spAutoFit/>
          </a:bodyPr>
          <a:lstStyle/>
          <a:p>
            <a:endParaRPr lang="en-IN" sz="2400" dirty="0"/>
          </a:p>
          <a:p>
            <a:pPr lvl="0"/>
            <a:r>
              <a:rPr lang="en-IN" sz="2600" dirty="0"/>
              <a:t> </a:t>
            </a:r>
          </a:p>
        </p:txBody>
      </p:sp>
      <p:graphicFrame>
        <p:nvGraphicFramePr>
          <p:cNvPr id="2" name="Table 1"/>
          <p:cNvGraphicFramePr>
            <a:graphicFrameLocks noGrp="1"/>
          </p:cNvGraphicFramePr>
          <p:nvPr>
            <p:extLst>
              <p:ext uri="{D42A27DB-BD31-4B8C-83A1-F6EECF244321}">
                <p14:modId xmlns:p14="http://schemas.microsoft.com/office/powerpoint/2010/main" val="2484264257"/>
              </p:ext>
            </p:extLst>
          </p:nvPr>
        </p:nvGraphicFramePr>
        <p:xfrm>
          <a:off x="737116" y="1138336"/>
          <a:ext cx="10133046" cy="5141166"/>
        </p:xfrm>
        <a:graphic>
          <a:graphicData uri="http://schemas.openxmlformats.org/drawingml/2006/table">
            <a:tbl>
              <a:tblPr firstRow="1" firstCol="1" bandRow="1">
                <a:tableStyleId>{5C22544A-7EE6-4342-B048-85BDC9FD1C3A}</a:tableStyleId>
              </a:tblPr>
              <a:tblGrid>
                <a:gridCol w="5066523">
                  <a:extLst>
                    <a:ext uri="{9D8B030D-6E8A-4147-A177-3AD203B41FA5}">
                      <a16:colId xmlns:a16="http://schemas.microsoft.com/office/drawing/2014/main" val="3885851085"/>
                    </a:ext>
                  </a:extLst>
                </a:gridCol>
                <a:gridCol w="5066523">
                  <a:extLst>
                    <a:ext uri="{9D8B030D-6E8A-4147-A177-3AD203B41FA5}">
                      <a16:colId xmlns:a16="http://schemas.microsoft.com/office/drawing/2014/main" val="1961051945"/>
                    </a:ext>
                  </a:extLst>
                </a:gridCol>
              </a:tblGrid>
              <a:tr h="452162">
                <a:tc>
                  <a:txBody>
                    <a:bodyPr/>
                    <a:lstStyle/>
                    <a:p>
                      <a:pPr algn="just">
                        <a:lnSpc>
                          <a:spcPct val="107000"/>
                        </a:lnSpc>
                        <a:spcAft>
                          <a:spcPts val="800"/>
                        </a:spcAft>
                        <a:tabLst>
                          <a:tab pos="1654175" algn="l"/>
                        </a:tabLst>
                      </a:pPr>
                      <a:r>
                        <a:rPr lang="en-IN" sz="2200">
                          <a:effectLst/>
                        </a:rPr>
                        <a:t>Supply Type</a:t>
                      </a:r>
                      <a:endParaRPr lang="en-IN"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tabLst>
                          <a:tab pos="1654175" algn="l"/>
                        </a:tabLst>
                      </a:pPr>
                      <a:r>
                        <a:rPr lang="en-IN" sz="2200">
                          <a:effectLst/>
                        </a:rPr>
                        <a:t>Place of supply</a:t>
                      </a:r>
                      <a:endParaRPr lang="en-IN"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68361278"/>
                  </a:ext>
                </a:extLst>
              </a:tr>
              <a:tr h="1398331">
                <a:tc>
                  <a:txBody>
                    <a:bodyPr/>
                    <a:lstStyle/>
                    <a:p>
                      <a:pPr algn="just">
                        <a:lnSpc>
                          <a:spcPct val="107000"/>
                        </a:lnSpc>
                        <a:spcAft>
                          <a:spcPts val="0"/>
                        </a:spcAft>
                        <a:tabLst>
                          <a:tab pos="1654175" algn="l"/>
                        </a:tabLst>
                      </a:pPr>
                      <a:r>
                        <a:rPr lang="en-IN" sz="2600" dirty="0">
                          <a:effectLst/>
                        </a:rPr>
                        <a:t>Involves movement of goods, whether by supplier, or buyer or by any other person</a:t>
                      </a:r>
                      <a:endParaRPr lang="en-IN" sz="2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tabLst>
                          <a:tab pos="1654175" algn="l"/>
                        </a:tabLst>
                      </a:pPr>
                      <a:r>
                        <a:rPr lang="en-IN" sz="2600" dirty="0">
                          <a:effectLst/>
                        </a:rPr>
                        <a:t>Location of the goods when the movement of goods terminates for delivery to the recipient.</a:t>
                      </a:r>
                      <a:endParaRPr lang="en-IN" sz="2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15524064"/>
                  </a:ext>
                </a:extLst>
              </a:tr>
              <a:tr h="3290673">
                <a:tc>
                  <a:txBody>
                    <a:bodyPr/>
                    <a:lstStyle/>
                    <a:p>
                      <a:pPr algn="just">
                        <a:lnSpc>
                          <a:spcPct val="107000"/>
                        </a:lnSpc>
                        <a:spcAft>
                          <a:spcPts val="0"/>
                        </a:spcAft>
                        <a:tabLst>
                          <a:tab pos="1654175" algn="l"/>
                        </a:tabLst>
                      </a:pPr>
                      <a:r>
                        <a:rPr lang="en-IN" sz="2600" dirty="0">
                          <a:effectLst/>
                        </a:rPr>
                        <a:t>Goods are delivered by the seller to the buyer on the directions of a third party (whether or not an agent), before or during the movement of goods, by the way of transfer of title in goods or the documents or some other way</a:t>
                      </a:r>
                      <a:endParaRPr lang="en-IN" sz="2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tabLst>
                          <a:tab pos="1654175" algn="l"/>
                        </a:tabLst>
                      </a:pPr>
                      <a:r>
                        <a:rPr lang="en-IN" sz="2600" dirty="0">
                          <a:effectLst/>
                        </a:rPr>
                        <a:t>It is assumed that the third person has received the goods and therefore, the place of supply of the goods will be the principal place of business of the third party.</a:t>
                      </a:r>
                      <a:endParaRPr lang="en-IN" sz="2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50967630"/>
                  </a:ext>
                </a:extLst>
              </a:tr>
            </a:tbl>
          </a:graphicData>
        </a:graphic>
      </p:graphicFrame>
    </p:spTree>
    <p:extLst>
      <p:ext uri="{BB962C8B-B14F-4D97-AF65-F5344CB8AC3E}">
        <p14:creationId xmlns:p14="http://schemas.microsoft.com/office/powerpoint/2010/main" val="87277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US" sz="2800" b="1" dirty="0" smtClean="0">
              <a:solidFill>
                <a:schemeClr val="tx1"/>
              </a:solidFill>
              <a:latin typeface="Times New Roman" panose="02020603050405020304" pitchFamily="18" charset="0"/>
              <a:cs typeface="Times New Roman" panose="02020603050405020304" pitchFamily="18" charset="0"/>
            </a:endParaRPr>
          </a:p>
          <a:p>
            <a:endParaRPr lang="en-US" sz="2800" b="1" dirty="0" smtClean="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IN" sz="2800" dirty="0" smtClean="0">
              <a:solidFill>
                <a:schemeClr val="tx1"/>
              </a:solidFill>
            </a:endParaRPr>
          </a:p>
          <a:p>
            <a:pPr marL="457200" indent="-457200">
              <a:buFont typeface="Wingdings" panose="05000000000000000000" pitchFamily="2" charset="2"/>
              <a:buChar char="Ø"/>
            </a:pPr>
            <a:endParaRPr lang="en-IN" sz="2800" dirty="0" smtClean="0">
              <a:solidFill>
                <a:schemeClr val="tx1"/>
              </a:solidFill>
            </a:endParaRPr>
          </a:p>
          <a:p>
            <a:pPr marL="457200" indent="-457200">
              <a:buFont typeface="Wingdings" panose="05000000000000000000" pitchFamily="2" charset="2"/>
              <a:buChar char="Ø"/>
            </a:pPr>
            <a:endParaRPr lang="en-IN" sz="2600" dirty="0" smtClean="0">
              <a:solidFill>
                <a:schemeClr val="tx1"/>
              </a:solidFill>
            </a:endParaRPr>
          </a:p>
          <a:p>
            <a:pPr marL="457200" indent="-457200">
              <a:buFont typeface="Wingdings" panose="05000000000000000000" pitchFamily="2" charset="2"/>
              <a:buChar char="Ø"/>
            </a:pPr>
            <a:endParaRPr lang="en-US" sz="26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r>
              <a:rPr lang="en-US" sz="2800" dirty="0" smtClean="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1567854" y="231200"/>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800" dirty="0"/>
              <a:t>Place of Supply When There is Movement of Goods</a:t>
            </a:r>
          </a:p>
        </p:txBody>
      </p:sp>
      <p:sp>
        <p:nvSpPr>
          <p:cNvPr id="3" name="TextBox 2"/>
          <p:cNvSpPr txBox="1"/>
          <p:nvPr/>
        </p:nvSpPr>
        <p:spPr>
          <a:xfrm>
            <a:off x="737118" y="1194318"/>
            <a:ext cx="10011747" cy="3970318"/>
          </a:xfrm>
          <a:prstGeom prst="rect">
            <a:avLst/>
          </a:prstGeom>
          <a:noFill/>
        </p:spPr>
        <p:txBody>
          <a:bodyPr wrap="square" rtlCol="0">
            <a:spAutoFit/>
          </a:bodyPr>
          <a:lstStyle/>
          <a:p>
            <a:r>
              <a:rPr lang="en-IN" sz="2800" b="1" dirty="0"/>
              <a:t>Example 1- Intra-state sales</a:t>
            </a:r>
            <a:r>
              <a:rPr lang="en-IN" sz="2800" dirty="0"/>
              <a:t> </a:t>
            </a:r>
            <a:r>
              <a:rPr lang="en-IN" sz="2800" b="1" dirty="0"/>
              <a:t>Mr. Raj of Mumbai, Maharashtra sells 10 TV sets to Mr. Vijay of Nagpur, Maharashtra</a:t>
            </a:r>
            <a:r>
              <a:rPr lang="en-IN" sz="2800" dirty="0"/>
              <a:t> </a:t>
            </a:r>
          </a:p>
          <a:p>
            <a:r>
              <a:rPr lang="en-IN" sz="2800" dirty="0"/>
              <a:t>The place of supply is Nagpur in Maharashtra. Since it is the same state CGST &amp; SGST will be charged. </a:t>
            </a:r>
            <a:endParaRPr lang="en-IN" sz="2800" dirty="0" smtClean="0"/>
          </a:p>
          <a:p>
            <a:endParaRPr lang="en-IN" sz="2800" dirty="0"/>
          </a:p>
          <a:p>
            <a:r>
              <a:rPr lang="en-IN" sz="2800" b="1" dirty="0"/>
              <a:t>Example 2-Inter-State sales</a:t>
            </a:r>
            <a:r>
              <a:rPr lang="en-IN" sz="2800" dirty="0"/>
              <a:t> </a:t>
            </a:r>
            <a:r>
              <a:rPr lang="en-IN" sz="2800" b="1" dirty="0"/>
              <a:t>Mr. Raj of Mumbai, Maharashtra sells 30 TV sets to Mr. Vinod of Bangalore, Karnataka</a:t>
            </a:r>
            <a:r>
              <a:rPr lang="en-IN" sz="2800" dirty="0"/>
              <a:t> </a:t>
            </a:r>
          </a:p>
          <a:p>
            <a:r>
              <a:rPr lang="en-IN" sz="2800" dirty="0"/>
              <a:t>The place of supply is Bangalore in Karnataka. Since it is a different state IGST will be charged. </a:t>
            </a:r>
          </a:p>
        </p:txBody>
      </p:sp>
    </p:spTree>
    <p:extLst>
      <p:ext uri="{BB962C8B-B14F-4D97-AF65-F5344CB8AC3E}">
        <p14:creationId xmlns:p14="http://schemas.microsoft.com/office/powerpoint/2010/main" val="1371897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US" sz="2800" b="1" dirty="0" smtClean="0">
              <a:solidFill>
                <a:schemeClr val="tx1"/>
              </a:solidFill>
              <a:latin typeface="Times New Roman" panose="02020603050405020304" pitchFamily="18" charset="0"/>
              <a:cs typeface="Times New Roman" panose="02020603050405020304" pitchFamily="18" charset="0"/>
            </a:endParaRPr>
          </a:p>
          <a:p>
            <a:endParaRPr lang="en-US" sz="2800" b="1" dirty="0" smtClean="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endParaRPr lang="en-IN" sz="2800" dirty="0" smtClean="0">
              <a:solidFill>
                <a:schemeClr val="tx1"/>
              </a:solidFill>
            </a:endParaRPr>
          </a:p>
          <a:p>
            <a:pPr marL="457200" indent="-457200">
              <a:buFont typeface="Wingdings" panose="05000000000000000000" pitchFamily="2" charset="2"/>
              <a:buChar char="Ø"/>
            </a:pPr>
            <a:endParaRPr lang="en-IN" sz="2800" dirty="0" smtClean="0">
              <a:solidFill>
                <a:schemeClr val="tx1"/>
              </a:solidFill>
            </a:endParaRPr>
          </a:p>
          <a:p>
            <a:pPr marL="457200" indent="-457200">
              <a:buFont typeface="Wingdings" panose="05000000000000000000" pitchFamily="2" charset="2"/>
              <a:buChar char="Ø"/>
            </a:pPr>
            <a:endParaRPr lang="en-IN" sz="2600" dirty="0" smtClean="0">
              <a:solidFill>
                <a:schemeClr val="tx1"/>
              </a:solidFill>
            </a:endParaRPr>
          </a:p>
          <a:p>
            <a:pPr marL="457200" indent="-457200">
              <a:buFont typeface="Wingdings" panose="05000000000000000000" pitchFamily="2" charset="2"/>
              <a:buChar char="Ø"/>
            </a:pPr>
            <a:endParaRPr lang="en-US" sz="26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endParaRPr lang="en-US" sz="2800" dirty="0" smtClean="0">
              <a:solidFill>
                <a:schemeClr val="tx1"/>
              </a:solidFill>
              <a:latin typeface="Times New Roman" panose="02020603050405020304" pitchFamily="18" charset="0"/>
              <a:cs typeface="Times New Roman" panose="02020603050405020304" pitchFamily="18" charset="0"/>
            </a:endParaRPr>
          </a:p>
          <a:p>
            <a:r>
              <a:rPr lang="en-US" sz="2800" dirty="0" smtClean="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1567854" y="231200"/>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800" dirty="0"/>
              <a:t>Place of Supply When There is Movement of Goods</a:t>
            </a:r>
          </a:p>
        </p:txBody>
      </p:sp>
      <p:sp>
        <p:nvSpPr>
          <p:cNvPr id="3" name="TextBox 2"/>
          <p:cNvSpPr txBox="1"/>
          <p:nvPr/>
        </p:nvSpPr>
        <p:spPr>
          <a:xfrm>
            <a:off x="737118" y="1194318"/>
            <a:ext cx="10011747" cy="1785104"/>
          </a:xfrm>
          <a:prstGeom prst="rect">
            <a:avLst/>
          </a:prstGeom>
          <a:noFill/>
        </p:spPr>
        <p:txBody>
          <a:bodyPr wrap="square" rtlCol="0">
            <a:spAutoFit/>
          </a:bodyPr>
          <a:lstStyle/>
          <a:p>
            <a:r>
              <a:rPr lang="en-IN" sz="2200" b="1" dirty="0"/>
              <a:t>Example 3- Deliver to a 3rd party as per instructions</a:t>
            </a:r>
            <a:r>
              <a:rPr lang="en-IN" sz="2200" dirty="0"/>
              <a:t> </a:t>
            </a:r>
            <a:r>
              <a:rPr lang="en-IN" sz="2200" b="1" dirty="0" err="1"/>
              <a:t>Anand</a:t>
            </a:r>
            <a:r>
              <a:rPr lang="en-IN" sz="2200" b="1" dirty="0"/>
              <a:t> in Lucknow buys goods from Mr. Raj in Mumbai (Maharashtra). The buyer requests the seller to send the goods to Nagpur (Maharashtra)</a:t>
            </a:r>
            <a:r>
              <a:rPr lang="en-IN" sz="2200" dirty="0"/>
              <a:t> </a:t>
            </a:r>
          </a:p>
          <a:p>
            <a:r>
              <a:rPr lang="en-IN" sz="2200" dirty="0"/>
              <a:t>In this case, it will be assumed that the buyer in Lucknow has received the goods &amp; IGST will be charged. Place of supply: Lucknow (UP) GST: IGST</a:t>
            </a:r>
          </a:p>
        </p:txBody>
      </p:sp>
      <p:pic>
        <p:nvPicPr>
          <p:cNvPr id="6" name="Picture 5"/>
          <p:cNvPicPr/>
          <p:nvPr/>
        </p:nvPicPr>
        <p:blipFill>
          <a:blip r:embed="rId2">
            <a:extLst>
              <a:ext uri="{28A0092B-C50C-407E-A947-70E740481C1C}">
                <a14:useLocalDpi xmlns:a14="http://schemas.microsoft.com/office/drawing/2010/main" val="0"/>
              </a:ext>
            </a:extLst>
          </a:blip>
          <a:srcRect/>
          <a:stretch>
            <a:fillRect/>
          </a:stretch>
        </p:blipFill>
        <p:spPr bwMode="auto">
          <a:xfrm>
            <a:off x="2556587" y="2979422"/>
            <a:ext cx="5990253" cy="3722024"/>
          </a:xfrm>
          <a:prstGeom prst="rect">
            <a:avLst/>
          </a:prstGeom>
          <a:noFill/>
          <a:ln>
            <a:noFill/>
          </a:ln>
        </p:spPr>
      </p:pic>
    </p:spTree>
    <p:extLst>
      <p:ext uri="{BB962C8B-B14F-4D97-AF65-F5344CB8AC3E}">
        <p14:creationId xmlns:p14="http://schemas.microsoft.com/office/powerpoint/2010/main" val="1331620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20436" y="419879"/>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dirty="0" smtClean="0"/>
          </a:p>
          <a:p>
            <a:endParaRPr lang="en-IN" dirty="0"/>
          </a:p>
          <a:p>
            <a:endParaRPr lang="en-IN" dirty="0" smtClean="0"/>
          </a:p>
          <a:p>
            <a:endParaRPr lang="en-IN" dirty="0"/>
          </a:p>
          <a:p>
            <a:endParaRPr lang="en-IN" dirty="0" smtClean="0"/>
          </a:p>
          <a:p>
            <a:endParaRPr lang="en-IN" dirty="0"/>
          </a:p>
          <a:p>
            <a:endParaRPr lang="en-IN" dirty="0" smtClean="0"/>
          </a:p>
          <a:p>
            <a:endParaRPr lang="en-IN" dirty="0" smtClean="0"/>
          </a:p>
          <a:p>
            <a:endParaRPr lang="en-IN" dirty="0"/>
          </a:p>
          <a:p>
            <a:r>
              <a:rPr lang="en-IN" sz="2200" dirty="0" smtClean="0">
                <a:solidFill>
                  <a:schemeClr val="tx1"/>
                </a:solidFill>
              </a:rPr>
              <a:t>Example </a:t>
            </a:r>
            <a:r>
              <a:rPr lang="en-IN" sz="2200" dirty="0">
                <a:solidFill>
                  <a:schemeClr val="tx1"/>
                </a:solidFill>
              </a:rPr>
              <a:t>1- No movement of goods</a:t>
            </a:r>
            <a:r>
              <a:rPr lang="en-IN" sz="2200" b="1" dirty="0">
                <a:solidFill>
                  <a:schemeClr val="tx1"/>
                </a:solidFill>
              </a:rPr>
              <a:t> </a:t>
            </a:r>
            <a:r>
              <a:rPr lang="en-IN" sz="2200" dirty="0">
                <a:solidFill>
                  <a:schemeClr val="tx1"/>
                </a:solidFill>
              </a:rPr>
              <a:t>Sales Heaven Ltd. (Chennai) opens a new showroom in Bangalore. It purchases a building for showroom from ABC Realtors (Bangalore) along with pre-installed workstations</a:t>
            </a:r>
          </a:p>
          <a:p>
            <a:r>
              <a:rPr lang="en-IN" sz="2200" b="1" dirty="0">
                <a:solidFill>
                  <a:schemeClr val="tx1"/>
                </a:solidFill>
              </a:rPr>
              <a:t>Place of supply: Bangalore GST: CGST &amp; SGST There is no movement of goods (work stations), so the place of supply will be the location of such goods at the time of delivery (handing over) to the receiver.</a:t>
            </a:r>
            <a:r>
              <a:rPr lang="en-IN" b="1" dirty="0"/>
              <a:t> </a:t>
            </a:r>
            <a:endParaRPr lang="en-IN" dirty="0"/>
          </a:p>
        </p:txBody>
      </p:sp>
      <p:sp>
        <p:nvSpPr>
          <p:cNvPr id="4" name="Rounded Rectangle 3"/>
          <p:cNvSpPr/>
          <p:nvPr/>
        </p:nvSpPr>
        <p:spPr>
          <a:xfrm>
            <a:off x="1567854" y="231200"/>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400" dirty="0"/>
              <a:t>Place of Supply – No Movement of Goods</a:t>
            </a:r>
          </a:p>
        </p:txBody>
      </p:sp>
      <p:graphicFrame>
        <p:nvGraphicFramePr>
          <p:cNvPr id="2" name="Table 1"/>
          <p:cNvGraphicFramePr>
            <a:graphicFrameLocks noGrp="1"/>
          </p:cNvGraphicFramePr>
          <p:nvPr>
            <p:extLst/>
          </p:nvPr>
        </p:nvGraphicFramePr>
        <p:xfrm>
          <a:off x="2027085" y="1091683"/>
          <a:ext cx="6659716" cy="2454459"/>
        </p:xfrm>
        <a:graphic>
          <a:graphicData uri="http://schemas.openxmlformats.org/drawingml/2006/table">
            <a:tbl>
              <a:tblPr firstRow="1" firstCol="1" bandRow="1">
                <a:tableStyleId>{5C22544A-7EE6-4342-B048-85BDC9FD1C3A}</a:tableStyleId>
              </a:tblPr>
              <a:tblGrid>
                <a:gridCol w="3329858">
                  <a:extLst>
                    <a:ext uri="{9D8B030D-6E8A-4147-A177-3AD203B41FA5}">
                      <a16:colId xmlns:a16="http://schemas.microsoft.com/office/drawing/2014/main" val="772443154"/>
                    </a:ext>
                  </a:extLst>
                </a:gridCol>
                <a:gridCol w="3329858">
                  <a:extLst>
                    <a:ext uri="{9D8B030D-6E8A-4147-A177-3AD203B41FA5}">
                      <a16:colId xmlns:a16="http://schemas.microsoft.com/office/drawing/2014/main" val="1237998407"/>
                    </a:ext>
                  </a:extLst>
                </a:gridCol>
              </a:tblGrid>
              <a:tr h="301809">
                <a:tc>
                  <a:txBody>
                    <a:bodyPr/>
                    <a:lstStyle/>
                    <a:p>
                      <a:pPr algn="just">
                        <a:lnSpc>
                          <a:spcPct val="107000"/>
                        </a:lnSpc>
                        <a:spcAft>
                          <a:spcPts val="800"/>
                        </a:spcAft>
                        <a:tabLst>
                          <a:tab pos="1654175" algn="l"/>
                        </a:tabLst>
                      </a:pPr>
                      <a:r>
                        <a:rPr lang="en-IN" sz="1400">
                          <a:effectLst/>
                        </a:rPr>
                        <a:t>Supply Type</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tabLst>
                          <a:tab pos="1654175" algn="l"/>
                        </a:tabLst>
                      </a:pPr>
                      <a:r>
                        <a:rPr lang="en-IN" sz="1400">
                          <a:effectLst/>
                        </a:rPr>
                        <a:t>Place of Supply</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11199098"/>
                  </a:ext>
                </a:extLst>
              </a:tr>
              <a:tr h="1021374">
                <a:tc>
                  <a:txBody>
                    <a:bodyPr/>
                    <a:lstStyle/>
                    <a:p>
                      <a:pPr algn="just">
                        <a:lnSpc>
                          <a:spcPct val="107000"/>
                        </a:lnSpc>
                        <a:spcAft>
                          <a:spcPts val="0"/>
                        </a:spcAft>
                        <a:tabLst>
                          <a:tab pos="1654175" algn="l"/>
                        </a:tabLst>
                      </a:pPr>
                      <a:r>
                        <a:rPr lang="en-IN" sz="2200" dirty="0">
                          <a:effectLst/>
                        </a:rPr>
                        <a:t>No movement of goods, either by the supplier or by the recipient</a:t>
                      </a:r>
                      <a:endParaRPr lang="en-IN" sz="2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tabLst>
                          <a:tab pos="1654175" algn="l"/>
                        </a:tabLst>
                      </a:pPr>
                      <a:r>
                        <a:rPr lang="en-IN" sz="2200" dirty="0">
                          <a:effectLst/>
                        </a:rPr>
                        <a:t>Location of those goods at the time of delivery to the recipient (at the time of ownership transfer)</a:t>
                      </a:r>
                      <a:endParaRPr lang="en-IN" sz="2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5728230"/>
                  </a:ext>
                </a:extLst>
              </a:tr>
              <a:tr h="617585">
                <a:tc>
                  <a:txBody>
                    <a:bodyPr/>
                    <a:lstStyle/>
                    <a:p>
                      <a:pPr algn="just">
                        <a:lnSpc>
                          <a:spcPct val="107000"/>
                        </a:lnSpc>
                        <a:spcAft>
                          <a:spcPts val="0"/>
                        </a:spcAft>
                        <a:tabLst>
                          <a:tab pos="1654175" algn="l"/>
                        </a:tabLst>
                      </a:pPr>
                      <a:r>
                        <a:rPr lang="en-IN" sz="2200">
                          <a:effectLst/>
                        </a:rPr>
                        <a:t>Goods are assembled or installed at site</a:t>
                      </a:r>
                      <a:endParaRPr lang="en-IN"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0"/>
                        </a:spcAft>
                        <a:tabLst>
                          <a:tab pos="1654175" algn="l"/>
                        </a:tabLst>
                      </a:pPr>
                      <a:r>
                        <a:rPr lang="en-IN" sz="2200" dirty="0">
                          <a:effectLst/>
                        </a:rPr>
                        <a:t>Place of installation or assembly</a:t>
                      </a:r>
                      <a:endParaRPr lang="en-IN" sz="2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08000577"/>
                  </a:ext>
                </a:extLst>
              </a:tr>
            </a:tbl>
          </a:graphicData>
        </a:graphic>
      </p:graphicFrame>
    </p:spTree>
    <p:extLst>
      <p:ext uri="{BB962C8B-B14F-4D97-AF65-F5344CB8AC3E}">
        <p14:creationId xmlns:p14="http://schemas.microsoft.com/office/powerpoint/2010/main" val="1701987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11105" y="391887"/>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dirty="0"/>
          </a:p>
        </p:txBody>
      </p:sp>
      <p:sp>
        <p:nvSpPr>
          <p:cNvPr id="4" name="Rounded Rectangle 3"/>
          <p:cNvSpPr/>
          <p:nvPr/>
        </p:nvSpPr>
        <p:spPr>
          <a:xfrm>
            <a:off x="1567854" y="231200"/>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400" dirty="0"/>
              <a:t>Place of Supply – No Movement of Goods</a:t>
            </a:r>
          </a:p>
        </p:txBody>
      </p:sp>
      <p:sp>
        <p:nvSpPr>
          <p:cNvPr id="3" name="TextBox 2"/>
          <p:cNvSpPr txBox="1"/>
          <p:nvPr/>
        </p:nvSpPr>
        <p:spPr>
          <a:xfrm>
            <a:off x="485193" y="1184988"/>
            <a:ext cx="10543592" cy="1661993"/>
          </a:xfrm>
          <a:prstGeom prst="rect">
            <a:avLst/>
          </a:prstGeom>
          <a:noFill/>
        </p:spPr>
        <p:txBody>
          <a:bodyPr wrap="square" rtlCol="0">
            <a:spAutoFit/>
          </a:bodyPr>
          <a:lstStyle/>
          <a:p>
            <a:r>
              <a:rPr lang="en-IN" sz="2000" dirty="0">
                <a:solidFill>
                  <a:srgbClr val="FF0000"/>
                </a:solidFill>
              </a:rPr>
              <a:t>Example 2- </a:t>
            </a:r>
            <a:r>
              <a:rPr lang="en-IN" sz="2000" dirty="0"/>
              <a:t>Installing goods Strong Iron &amp; Steel Ltd. (Jharkhand) asks M/s SAAS Constructions (West Bengal) to build a blast furnace in their Jharkhand steel plant </a:t>
            </a:r>
          </a:p>
          <a:p>
            <a:r>
              <a:rPr lang="en-IN" sz="2000" b="1" dirty="0"/>
              <a:t>Place of supply: Jharkhand GST: CGST &amp; SGST Although M/s SAAS is in West Bengal, the goods (blast furnace) is being installed at site in Jharkhand which will be the place of supply.</a:t>
            </a:r>
            <a:r>
              <a:rPr lang="en-IN" sz="2400" b="1" dirty="0"/>
              <a:t>   </a:t>
            </a:r>
            <a:endParaRPr lang="en-IN" sz="2400" dirty="0"/>
          </a:p>
          <a:p>
            <a:endParaRPr lang="en-IN" dirty="0"/>
          </a:p>
        </p:txBody>
      </p:sp>
      <p:graphicFrame>
        <p:nvGraphicFramePr>
          <p:cNvPr id="6" name="Table 5"/>
          <p:cNvGraphicFramePr>
            <a:graphicFrameLocks noGrp="1"/>
          </p:cNvGraphicFramePr>
          <p:nvPr>
            <p:extLst/>
          </p:nvPr>
        </p:nvGraphicFramePr>
        <p:xfrm>
          <a:off x="2272006" y="2576392"/>
          <a:ext cx="6969966" cy="3657600"/>
        </p:xfrm>
        <a:graphic>
          <a:graphicData uri="http://schemas.openxmlformats.org/drawingml/2006/table">
            <a:tbl>
              <a:tblPr firstRow="1" firstCol="1" bandRow="1">
                <a:tableStyleId>{5C22544A-7EE6-4342-B048-85BDC9FD1C3A}</a:tableStyleId>
              </a:tblPr>
              <a:tblGrid>
                <a:gridCol w="1052191">
                  <a:extLst>
                    <a:ext uri="{9D8B030D-6E8A-4147-A177-3AD203B41FA5}">
                      <a16:colId xmlns:a16="http://schemas.microsoft.com/office/drawing/2014/main" val="1617113515"/>
                    </a:ext>
                  </a:extLst>
                </a:gridCol>
                <a:gridCol w="1052191">
                  <a:extLst>
                    <a:ext uri="{9D8B030D-6E8A-4147-A177-3AD203B41FA5}">
                      <a16:colId xmlns:a16="http://schemas.microsoft.com/office/drawing/2014/main" val="1332633354"/>
                    </a:ext>
                  </a:extLst>
                </a:gridCol>
                <a:gridCol w="1052191">
                  <a:extLst>
                    <a:ext uri="{9D8B030D-6E8A-4147-A177-3AD203B41FA5}">
                      <a16:colId xmlns:a16="http://schemas.microsoft.com/office/drawing/2014/main" val="1620417401"/>
                    </a:ext>
                  </a:extLst>
                </a:gridCol>
                <a:gridCol w="1052191">
                  <a:extLst>
                    <a:ext uri="{9D8B030D-6E8A-4147-A177-3AD203B41FA5}">
                      <a16:colId xmlns:a16="http://schemas.microsoft.com/office/drawing/2014/main" val="1941372628"/>
                    </a:ext>
                  </a:extLst>
                </a:gridCol>
                <a:gridCol w="1380601">
                  <a:extLst>
                    <a:ext uri="{9D8B030D-6E8A-4147-A177-3AD203B41FA5}">
                      <a16:colId xmlns:a16="http://schemas.microsoft.com/office/drawing/2014/main" val="793955122"/>
                    </a:ext>
                  </a:extLst>
                </a:gridCol>
                <a:gridCol w="1380601">
                  <a:extLst>
                    <a:ext uri="{9D8B030D-6E8A-4147-A177-3AD203B41FA5}">
                      <a16:colId xmlns:a16="http://schemas.microsoft.com/office/drawing/2014/main" val="3043584366"/>
                    </a:ext>
                  </a:extLst>
                </a:gridCol>
              </a:tblGrid>
              <a:tr h="1177510">
                <a:tc>
                  <a:txBody>
                    <a:bodyPr/>
                    <a:lstStyle/>
                    <a:p>
                      <a:pPr>
                        <a:spcAft>
                          <a:spcPts val="0"/>
                        </a:spcAft>
                      </a:pPr>
                      <a:r>
                        <a:rPr lang="en-IN" sz="1600" dirty="0">
                          <a:effectLst/>
                        </a:rPr>
                        <a:t>Particulars</a:t>
                      </a:r>
                      <a:endParaRPr lang="en-IN" sz="1600" dirty="0">
                        <a:effectLst/>
                        <a:latin typeface="Calibri" panose="020F0502020204030204" pitchFamily="34" charset="0"/>
                        <a:cs typeface="Times New Roman" panose="02020603050405020304" pitchFamily="18" charset="0"/>
                      </a:endParaRPr>
                    </a:p>
                  </a:txBody>
                  <a:tcPr marL="68580" marR="68580" marT="0" marB="0" anchor="b"/>
                </a:tc>
                <a:tc>
                  <a:txBody>
                    <a:bodyPr/>
                    <a:lstStyle/>
                    <a:p>
                      <a:pPr>
                        <a:spcAft>
                          <a:spcPts val="0"/>
                        </a:spcAft>
                      </a:pPr>
                      <a:r>
                        <a:rPr lang="en-IN" sz="1600" dirty="0">
                          <a:effectLst/>
                        </a:rPr>
                        <a:t>Location of the supplier</a:t>
                      </a:r>
                      <a:endParaRPr lang="en-IN" sz="1600" dirty="0">
                        <a:effectLst/>
                        <a:latin typeface="Calibri" panose="020F0502020204030204" pitchFamily="34" charset="0"/>
                        <a:cs typeface="Times New Roman" panose="02020603050405020304" pitchFamily="18" charset="0"/>
                      </a:endParaRPr>
                    </a:p>
                  </a:txBody>
                  <a:tcPr marL="68580" marR="68580" marT="0" marB="0" anchor="b"/>
                </a:tc>
                <a:tc>
                  <a:txBody>
                    <a:bodyPr/>
                    <a:lstStyle/>
                    <a:p>
                      <a:pPr>
                        <a:spcAft>
                          <a:spcPts val="0"/>
                        </a:spcAft>
                      </a:pPr>
                      <a:r>
                        <a:rPr lang="en-IN" sz="1600" dirty="0">
                          <a:effectLst/>
                        </a:rPr>
                        <a:t>Location of the recipient ( Registered office)</a:t>
                      </a:r>
                      <a:endParaRPr lang="en-IN" sz="1600" dirty="0">
                        <a:effectLst/>
                        <a:latin typeface="Calibri" panose="020F0502020204030204" pitchFamily="34" charset="0"/>
                        <a:cs typeface="Times New Roman" panose="02020603050405020304" pitchFamily="18" charset="0"/>
                      </a:endParaRPr>
                    </a:p>
                  </a:txBody>
                  <a:tcPr marL="68580" marR="68580" marT="0" marB="0" anchor="b"/>
                </a:tc>
                <a:tc>
                  <a:txBody>
                    <a:bodyPr/>
                    <a:lstStyle/>
                    <a:p>
                      <a:pPr>
                        <a:spcAft>
                          <a:spcPts val="0"/>
                        </a:spcAft>
                      </a:pPr>
                      <a:r>
                        <a:rPr lang="en-IN" sz="1600">
                          <a:effectLst/>
                        </a:rPr>
                        <a:t>Site of the assembly /installation</a:t>
                      </a:r>
                      <a:endParaRPr lang="en-IN" sz="1600">
                        <a:effectLst/>
                        <a:latin typeface="Calibri" panose="020F0502020204030204" pitchFamily="34" charset="0"/>
                        <a:cs typeface="Times New Roman" panose="02020603050405020304" pitchFamily="18" charset="0"/>
                      </a:endParaRPr>
                    </a:p>
                  </a:txBody>
                  <a:tcPr marL="68580" marR="68580" marT="0" marB="0" anchor="b"/>
                </a:tc>
                <a:tc>
                  <a:txBody>
                    <a:bodyPr/>
                    <a:lstStyle/>
                    <a:p>
                      <a:pPr>
                        <a:spcAft>
                          <a:spcPts val="0"/>
                        </a:spcAft>
                      </a:pPr>
                      <a:r>
                        <a:rPr lang="en-IN" sz="1600">
                          <a:effectLst/>
                        </a:rPr>
                        <a:t>Place of supply</a:t>
                      </a:r>
                      <a:endParaRPr lang="en-IN" sz="1600">
                        <a:effectLst/>
                        <a:latin typeface="Calibri" panose="020F0502020204030204" pitchFamily="34" charset="0"/>
                        <a:cs typeface="Times New Roman" panose="02020603050405020304" pitchFamily="18" charset="0"/>
                      </a:endParaRPr>
                    </a:p>
                  </a:txBody>
                  <a:tcPr marL="68580" marR="68580" marT="0" marB="0" anchor="b"/>
                </a:tc>
                <a:tc>
                  <a:txBody>
                    <a:bodyPr/>
                    <a:lstStyle/>
                    <a:p>
                      <a:pPr>
                        <a:spcAft>
                          <a:spcPts val="0"/>
                        </a:spcAft>
                      </a:pPr>
                      <a:r>
                        <a:rPr lang="en-IN" sz="1600">
                          <a:effectLst/>
                        </a:rPr>
                        <a:t>GST</a:t>
                      </a:r>
                      <a:endParaRPr lang="en-IN" sz="1600">
                        <a:effectLst/>
                        <a:latin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573211083"/>
                  </a:ext>
                </a:extLst>
              </a:tr>
              <a:tr h="471004">
                <a:tc rowSpan="5">
                  <a:txBody>
                    <a:bodyPr/>
                    <a:lstStyle/>
                    <a:p>
                      <a:pPr>
                        <a:spcAft>
                          <a:spcPts val="0"/>
                        </a:spcAft>
                      </a:pPr>
                      <a:r>
                        <a:rPr lang="en-IN" sz="1600">
                          <a:effectLst/>
                        </a:rPr>
                        <a:t>Goods are assembled or installed at site</a:t>
                      </a:r>
                      <a:endParaRPr lang="en-IN" sz="1600">
                        <a:effectLst/>
                        <a:latin typeface="Calibri" panose="020F0502020204030204" pitchFamily="34" charset="0"/>
                        <a:cs typeface="Times New Roman" panose="02020603050405020304" pitchFamily="18" charset="0"/>
                      </a:endParaRPr>
                    </a:p>
                  </a:txBody>
                  <a:tcPr marL="68580" marR="68580" marT="0" marB="0" anchor="ctr"/>
                </a:tc>
                <a:tc>
                  <a:txBody>
                    <a:bodyPr/>
                    <a:lstStyle/>
                    <a:p>
                      <a:pPr>
                        <a:spcAft>
                          <a:spcPts val="0"/>
                        </a:spcAft>
                      </a:pPr>
                      <a:r>
                        <a:rPr lang="en-IN" sz="1600" dirty="0">
                          <a:effectLst/>
                        </a:rPr>
                        <a:t>West Bengal</a:t>
                      </a:r>
                      <a:endParaRPr lang="en-IN" sz="1600" dirty="0">
                        <a:effectLst/>
                        <a:latin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600" dirty="0">
                          <a:effectLst/>
                        </a:rPr>
                        <a:t>Orissa</a:t>
                      </a:r>
                      <a:endParaRPr lang="en-IN" sz="1600" dirty="0">
                        <a:effectLst/>
                        <a:latin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600">
                          <a:effectLst/>
                        </a:rPr>
                        <a:t>Jharkhand</a:t>
                      </a:r>
                      <a:endParaRPr lang="en-IN" sz="1600">
                        <a:effectLst/>
                        <a:latin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600">
                          <a:effectLst/>
                        </a:rPr>
                        <a:t>Jharkhand</a:t>
                      </a:r>
                      <a:endParaRPr lang="en-IN" sz="1600">
                        <a:effectLst/>
                        <a:latin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600">
                          <a:effectLst/>
                        </a:rPr>
                        <a:t>CGST+SGST</a:t>
                      </a:r>
                      <a:br>
                        <a:rPr lang="en-IN" sz="1600">
                          <a:effectLst/>
                        </a:rPr>
                      </a:br>
                      <a:r>
                        <a:rPr lang="en-IN" sz="1600">
                          <a:effectLst/>
                        </a:rPr>
                        <a:t>(Jharkhand)</a:t>
                      </a:r>
                      <a:endParaRPr lang="en-IN" sz="1600">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40611855"/>
                  </a:ext>
                </a:extLst>
              </a:tr>
              <a:tr h="471004">
                <a:tc vMerge="1">
                  <a:txBody>
                    <a:bodyPr/>
                    <a:lstStyle/>
                    <a:p>
                      <a:endParaRPr lang="en-IN"/>
                    </a:p>
                  </a:txBody>
                  <a:tcPr/>
                </a:tc>
                <a:tc>
                  <a:txBody>
                    <a:bodyPr/>
                    <a:lstStyle/>
                    <a:p>
                      <a:pPr>
                        <a:spcAft>
                          <a:spcPts val="0"/>
                        </a:spcAft>
                      </a:pPr>
                      <a:r>
                        <a:rPr lang="en-IN" sz="1600" dirty="0">
                          <a:effectLst/>
                        </a:rPr>
                        <a:t>Jharkhand</a:t>
                      </a:r>
                      <a:endParaRPr lang="en-IN" sz="1600" dirty="0">
                        <a:effectLst/>
                        <a:latin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600">
                          <a:effectLst/>
                        </a:rPr>
                        <a:t>Jharkhand</a:t>
                      </a:r>
                      <a:endParaRPr lang="en-IN" sz="1600">
                        <a:effectLst/>
                        <a:latin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600" dirty="0">
                          <a:effectLst/>
                        </a:rPr>
                        <a:t>Jharkhand</a:t>
                      </a:r>
                      <a:endParaRPr lang="en-IN" sz="1600" dirty="0">
                        <a:effectLst/>
                        <a:latin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600" dirty="0">
                          <a:effectLst/>
                        </a:rPr>
                        <a:t>Jharkhand</a:t>
                      </a:r>
                      <a:endParaRPr lang="en-IN" sz="1600" dirty="0">
                        <a:effectLst/>
                        <a:latin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600">
                          <a:effectLst/>
                        </a:rPr>
                        <a:t>CGST+SGST</a:t>
                      </a:r>
                      <a:br>
                        <a:rPr lang="en-IN" sz="1600">
                          <a:effectLst/>
                        </a:rPr>
                      </a:br>
                      <a:r>
                        <a:rPr lang="en-IN" sz="1600">
                          <a:effectLst/>
                        </a:rPr>
                        <a:t>(Jharkhand)</a:t>
                      </a:r>
                      <a:endParaRPr lang="en-IN" sz="1600">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22824632"/>
                  </a:ext>
                </a:extLst>
              </a:tr>
              <a:tr h="471004">
                <a:tc vMerge="1">
                  <a:txBody>
                    <a:bodyPr/>
                    <a:lstStyle/>
                    <a:p>
                      <a:endParaRPr lang="en-IN"/>
                    </a:p>
                  </a:txBody>
                  <a:tcPr/>
                </a:tc>
                <a:tc>
                  <a:txBody>
                    <a:bodyPr/>
                    <a:lstStyle/>
                    <a:p>
                      <a:pPr>
                        <a:spcAft>
                          <a:spcPts val="0"/>
                        </a:spcAft>
                      </a:pPr>
                      <a:r>
                        <a:rPr lang="en-IN" sz="1600" dirty="0">
                          <a:effectLst/>
                        </a:rPr>
                        <a:t>Jharkhand</a:t>
                      </a:r>
                      <a:endParaRPr lang="en-IN" sz="1600" dirty="0">
                        <a:effectLst/>
                        <a:latin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600">
                          <a:effectLst/>
                        </a:rPr>
                        <a:t>Jharkhand</a:t>
                      </a:r>
                      <a:endParaRPr lang="en-IN" sz="1600">
                        <a:effectLst/>
                        <a:latin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600">
                          <a:effectLst/>
                        </a:rPr>
                        <a:t>Orissa</a:t>
                      </a:r>
                      <a:endParaRPr lang="en-IN" sz="1600">
                        <a:effectLst/>
                        <a:latin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600" dirty="0">
                          <a:effectLst/>
                        </a:rPr>
                        <a:t>Orissa</a:t>
                      </a:r>
                      <a:endParaRPr lang="en-IN" sz="1600" dirty="0">
                        <a:effectLst/>
                        <a:latin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600" dirty="0">
                          <a:effectLst/>
                        </a:rPr>
                        <a:t>CGST+SGST</a:t>
                      </a:r>
                      <a:br>
                        <a:rPr lang="en-IN" sz="1600" dirty="0">
                          <a:effectLst/>
                        </a:rPr>
                      </a:br>
                      <a:r>
                        <a:rPr lang="en-IN" sz="1600" dirty="0">
                          <a:effectLst/>
                        </a:rPr>
                        <a:t>(Orissa)</a:t>
                      </a:r>
                      <a:endParaRPr lang="en-IN" sz="1600" dirty="0">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78811823"/>
                  </a:ext>
                </a:extLst>
              </a:tr>
              <a:tr h="471004">
                <a:tc vMerge="1">
                  <a:txBody>
                    <a:bodyPr/>
                    <a:lstStyle/>
                    <a:p>
                      <a:endParaRPr lang="en-IN"/>
                    </a:p>
                  </a:txBody>
                  <a:tcPr/>
                </a:tc>
                <a:tc>
                  <a:txBody>
                    <a:bodyPr/>
                    <a:lstStyle/>
                    <a:p>
                      <a:pPr>
                        <a:spcAft>
                          <a:spcPts val="0"/>
                        </a:spcAft>
                      </a:pPr>
                      <a:r>
                        <a:rPr lang="en-IN" sz="1600" dirty="0">
                          <a:effectLst/>
                        </a:rPr>
                        <a:t>Jharkhand</a:t>
                      </a:r>
                      <a:endParaRPr lang="en-IN" sz="1600" dirty="0">
                        <a:effectLst/>
                        <a:latin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600">
                          <a:effectLst/>
                        </a:rPr>
                        <a:t>Jharkhand</a:t>
                      </a:r>
                      <a:endParaRPr lang="en-IN" sz="1600">
                        <a:effectLst/>
                        <a:latin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600">
                          <a:effectLst/>
                        </a:rPr>
                        <a:t>Tamil Nadu</a:t>
                      </a:r>
                      <a:endParaRPr lang="en-IN" sz="1600">
                        <a:effectLst/>
                        <a:latin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600">
                          <a:effectLst/>
                        </a:rPr>
                        <a:t>Tamil Nadu</a:t>
                      </a:r>
                      <a:endParaRPr lang="en-IN" sz="1600">
                        <a:effectLst/>
                        <a:latin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600" dirty="0">
                          <a:effectLst/>
                        </a:rPr>
                        <a:t>CGST+SGST</a:t>
                      </a:r>
                      <a:br>
                        <a:rPr lang="en-IN" sz="1600" dirty="0">
                          <a:effectLst/>
                        </a:rPr>
                      </a:br>
                      <a:r>
                        <a:rPr lang="en-IN" sz="1600" dirty="0">
                          <a:effectLst/>
                        </a:rPr>
                        <a:t>(Tamil Nadu)</a:t>
                      </a:r>
                      <a:endParaRPr lang="en-IN" sz="1600" dirty="0">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98375278"/>
                  </a:ext>
                </a:extLst>
              </a:tr>
              <a:tr h="471004">
                <a:tc vMerge="1">
                  <a:txBody>
                    <a:bodyPr/>
                    <a:lstStyle/>
                    <a:p>
                      <a:endParaRPr lang="en-IN"/>
                    </a:p>
                  </a:txBody>
                  <a:tcPr/>
                </a:tc>
                <a:tc>
                  <a:txBody>
                    <a:bodyPr/>
                    <a:lstStyle/>
                    <a:p>
                      <a:pPr>
                        <a:spcAft>
                          <a:spcPts val="0"/>
                        </a:spcAft>
                      </a:pPr>
                      <a:r>
                        <a:rPr lang="en-IN" sz="1600" dirty="0">
                          <a:effectLst/>
                        </a:rPr>
                        <a:t>Jharkhand</a:t>
                      </a:r>
                      <a:endParaRPr lang="en-IN" sz="1600" dirty="0">
                        <a:effectLst/>
                        <a:latin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600">
                          <a:effectLst/>
                        </a:rPr>
                        <a:t>Tamil Nadu</a:t>
                      </a:r>
                      <a:endParaRPr lang="en-IN" sz="1600">
                        <a:effectLst/>
                        <a:latin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600">
                          <a:effectLst/>
                        </a:rPr>
                        <a:t>Jharkhand</a:t>
                      </a:r>
                      <a:endParaRPr lang="en-IN" sz="1600">
                        <a:effectLst/>
                        <a:latin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600">
                          <a:effectLst/>
                        </a:rPr>
                        <a:t>Jharkhand</a:t>
                      </a:r>
                      <a:endParaRPr lang="en-IN" sz="1600">
                        <a:effectLst/>
                        <a:latin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600" dirty="0">
                          <a:effectLst/>
                        </a:rPr>
                        <a:t>CGST+SGST</a:t>
                      </a:r>
                      <a:br>
                        <a:rPr lang="en-IN" sz="1600" dirty="0">
                          <a:effectLst/>
                        </a:rPr>
                      </a:br>
                      <a:r>
                        <a:rPr lang="en-IN" sz="1600" dirty="0">
                          <a:effectLst/>
                        </a:rPr>
                        <a:t>(Jharkhand)</a:t>
                      </a:r>
                      <a:endParaRPr lang="en-IN" sz="1600" dirty="0">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7499462"/>
                  </a:ext>
                </a:extLst>
              </a:tr>
            </a:tbl>
          </a:graphicData>
        </a:graphic>
      </p:graphicFrame>
    </p:spTree>
    <p:extLst>
      <p:ext uri="{BB962C8B-B14F-4D97-AF65-F5344CB8AC3E}">
        <p14:creationId xmlns:p14="http://schemas.microsoft.com/office/powerpoint/2010/main" val="2806643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311105" y="391887"/>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b="1" dirty="0" smtClean="0"/>
          </a:p>
          <a:p>
            <a:endParaRPr lang="en-IN" sz="2200" b="1" dirty="0"/>
          </a:p>
          <a:p>
            <a:endParaRPr lang="en-IN" sz="2200" b="1" dirty="0" smtClean="0">
              <a:solidFill>
                <a:schemeClr val="tx1"/>
              </a:solidFill>
            </a:endParaRPr>
          </a:p>
          <a:p>
            <a:endParaRPr lang="en-IN" sz="2200" b="1" dirty="0" smtClean="0">
              <a:solidFill>
                <a:schemeClr val="tx1"/>
              </a:solidFill>
            </a:endParaRPr>
          </a:p>
          <a:p>
            <a:endParaRPr lang="en-IN" sz="2200" b="1" dirty="0">
              <a:solidFill>
                <a:schemeClr val="tx1"/>
              </a:solidFill>
            </a:endParaRPr>
          </a:p>
          <a:p>
            <a:r>
              <a:rPr lang="en-IN" sz="2100" b="1" dirty="0" smtClean="0">
                <a:solidFill>
                  <a:schemeClr val="tx1"/>
                </a:solidFill>
              </a:rPr>
              <a:t>Example </a:t>
            </a:r>
            <a:r>
              <a:rPr lang="en-IN" sz="2100" b="1" dirty="0">
                <a:solidFill>
                  <a:schemeClr val="tx1"/>
                </a:solidFill>
              </a:rPr>
              <a:t>1- Plane</a:t>
            </a:r>
            <a:r>
              <a:rPr lang="en-IN" sz="2100" dirty="0">
                <a:solidFill>
                  <a:schemeClr val="tx1"/>
                </a:solidFill>
              </a:rPr>
              <a:t> </a:t>
            </a:r>
            <a:r>
              <a:rPr lang="en-IN" sz="2100" b="1" dirty="0">
                <a:solidFill>
                  <a:schemeClr val="tx1"/>
                </a:solidFill>
              </a:rPr>
              <a:t>Mr. Ajay is travelling from Mumbai to Delhi by air. He purchases coffee and snacks while on the plane. The airline is registered in both Mumbai and Delhi.</a:t>
            </a:r>
            <a:r>
              <a:rPr lang="en-IN" sz="2100" dirty="0">
                <a:solidFill>
                  <a:schemeClr val="tx1"/>
                </a:solidFill>
              </a:rPr>
              <a:t> </a:t>
            </a:r>
          </a:p>
          <a:p>
            <a:r>
              <a:rPr lang="en-IN" sz="2100" dirty="0">
                <a:solidFill>
                  <a:schemeClr val="tx1"/>
                </a:solidFill>
              </a:rPr>
              <a:t>Place of supply: Mumbai GST: CGST &amp; SGST The food items were loaded into the plane at Mumbai. So, the place of supply becomes Mumbai. </a:t>
            </a:r>
            <a:endParaRPr lang="en-IN" sz="2100" dirty="0" smtClean="0">
              <a:solidFill>
                <a:schemeClr val="tx1"/>
              </a:solidFill>
            </a:endParaRPr>
          </a:p>
          <a:p>
            <a:endParaRPr lang="en-IN" sz="2100" dirty="0">
              <a:solidFill>
                <a:schemeClr val="tx1"/>
              </a:solidFill>
            </a:endParaRPr>
          </a:p>
          <a:p>
            <a:r>
              <a:rPr lang="en-IN" sz="2100" b="1" dirty="0">
                <a:solidFill>
                  <a:schemeClr val="tx1"/>
                </a:solidFill>
              </a:rPr>
              <a:t>Example 2- Plane- Business travel</a:t>
            </a:r>
            <a:r>
              <a:rPr lang="en-IN" sz="2100" dirty="0">
                <a:solidFill>
                  <a:schemeClr val="tx1"/>
                </a:solidFill>
              </a:rPr>
              <a:t> </a:t>
            </a:r>
            <a:r>
              <a:rPr lang="en-IN" sz="2100" b="1" dirty="0">
                <a:solidFill>
                  <a:schemeClr val="tx1"/>
                </a:solidFill>
              </a:rPr>
              <a:t>Mr. Ajay is travelling from Mumbai to Chennai by air on behalf of his company Ram Gopal and Sons (registered in Bangalore). In the plane he purchases lunch. The airline is registered in Mumbai &amp; Chennai.</a:t>
            </a:r>
            <a:r>
              <a:rPr lang="en-IN" sz="2100" dirty="0">
                <a:solidFill>
                  <a:schemeClr val="tx1"/>
                </a:solidFill>
              </a:rPr>
              <a:t> </a:t>
            </a:r>
          </a:p>
          <a:p>
            <a:r>
              <a:rPr lang="en-IN" sz="2100" dirty="0">
                <a:solidFill>
                  <a:schemeClr val="tx1"/>
                </a:solidFill>
              </a:rPr>
              <a:t>Place of supply: Mumbai GST: CGST &amp; SGST The food items were loaded into the plane at Mumbai. So, the place of supply becomes Mumbai. It does not matter where the buyer is registered.</a:t>
            </a:r>
          </a:p>
        </p:txBody>
      </p:sp>
      <p:sp>
        <p:nvSpPr>
          <p:cNvPr id="4" name="Rounded Rectangle 3"/>
          <p:cNvSpPr/>
          <p:nvPr/>
        </p:nvSpPr>
        <p:spPr>
          <a:xfrm>
            <a:off x="1567854" y="231200"/>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600" dirty="0"/>
              <a:t>Place of Supply- Goods Supplied on a Vessel/Conveyance</a:t>
            </a:r>
          </a:p>
        </p:txBody>
      </p:sp>
      <p:sp>
        <p:nvSpPr>
          <p:cNvPr id="3" name="TextBox 2"/>
          <p:cNvSpPr txBox="1"/>
          <p:nvPr/>
        </p:nvSpPr>
        <p:spPr>
          <a:xfrm>
            <a:off x="485193" y="1184988"/>
            <a:ext cx="10543592" cy="738664"/>
          </a:xfrm>
          <a:prstGeom prst="rect">
            <a:avLst/>
          </a:prstGeom>
          <a:noFill/>
        </p:spPr>
        <p:txBody>
          <a:bodyPr wrap="square" rtlCol="0">
            <a:spAutoFit/>
          </a:bodyPr>
          <a:lstStyle/>
          <a:p>
            <a:r>
              <a:rPr lang="en-IN" sz="2400" b="1" dirty="0"/>
              <a:t> </a:t>
            </a:r>
            <a:endParaRPr lang="en-IN" sz="2400" dirty="0"/>
          </a:p>
          <a:p>
            <a:endParaRPr lang="en-IN" dirty="0"/>
          </a:p>
        </p:txBody>
      </p:sp>
      <p:graphicFrame>
        <p:nvGraphicFramePr>
          <p:cNvPr id="2" name="Table 1"/>
          <p:cNvGraphicFramePr>
            <a:graphicFrameLocks noGrp="1"/>
          </p:cNvGraphicFramePr>
          <p:nvPr>
            <p:extLst/>
          </p:nvPr>
        </p:nvGraphicFramePr>
        <p:xfrm>
          <a:off x="1022065" y="1091683"/>
          <a:ext cx="9241608" cy="1110343"/>
        </p:xfrm>
        <a:graphic>
          <a:graphicData uri="http://schemas.openxmlformats.org/drawingml/2006/table">
            <a:tbl>
              <a:tblPr firstRow="1" firstCol="1" bandRow="1">
                <a:tableStyleId>{5C22544A-7EE6-4342-B048-85BDC9FD1C3A}</a:tableStyleId>
              </a:tblPr>
              <a:tblGrid>
                <a:gridCol w="4620804">
                  <a:extLst>
                    <a:ext uri="{9D8B030D-6E8A-4147-A177-3AD203B41FA5}">
                      <a16:colId xmlns:a16="http://schemas.microsoft.com/office/drawing/2014/main" val="261042720"/>
                    </a:ext>
                  </a:extLst>
                </a:gridCol>
                <a:gridCol w="4620804">
                  <a:extLst>
                    <a:ext uri="{9D8B030D-6E8A-4147-A177-3AD203B41FA5}">
                      <a16:colId xmlns:a16="http://schemas.microsoft.com/office/drawing/2014/main" val="73674750"/>
                    </a:ext>
                  </a:extLst>
                </a:gridCol>
              </a:tblGrid>
              <a:tr h="309673">
                <a:tc>
                  <a:txBody>
                    <a:bodyPr/>
                    <a:lstStyle/>
                    <a:p>
                      <a:pPr>
                        <a:spcAft>
                          <a:spcPts val="0"/>
                        </a:spcAft>
                      </a:pPr>
                      <a:r>
                        <a:rPr lang="en-IN" sz="1800" dirty="0">
                          <a:effectLst/>
                        </a:rPr>
                        <a:t>Supply Type</a:t>
                      </a:r>
                      <a:endParaRPr lang="en-IN" sz="1800" dirty="0">
                        <a:effectLst/>
                        <a:latin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800">
                          <a:effectLst/>
                        </a:rPr>
                        <a:t>Place of Supply</a:t>
                      </a:r>
                      <a:endParaRPr lang="en-IN" sz="1800">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00227413"/>
                  </a:ext>
                </a:extLst>
              </a:tr>
              <a:tr h="800670">
                <a:tc>
                  <a:txBody>
                    <a:bodyPr/>
                    <a:lstStyle/>
                    <a:p>
                      <a:pPr>
                        <a:spcAft>
                          <a:spcPts val="0"/>
                        </a:spcAft>
                      </a:pPr>
                      <a:r>
                        <a:rPr lang="en-IN" sz="1800" dirty="0">
                          <a:effectLst/>
                        </a:rPr>
                        <a:t>Goods are on board of a conveyance or vessel or train or aircraft or a motor vehicle</a:t>
                      </a:r>
                      <a:endParaRPr lang="en-IN" sz="1800" dirty="0">
                        <a:effectLst/>
                        <a:latin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800" dirty="0">
                          <a:effectLst/>
                        </a:rPr>
                        <a:t>Location at which such goods are taken on board.</a:t>
                      </a:r>
                      <a:endParaRPr lang="en-IN" sz="1800" dirty="0">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10164643"/>
                  </a:ext>
                </a:extLst>
              </a:tr>
            </a:tbl>
          </a:graphicData>
        </a:graphic>
      </p:graphicFrame>
    </p:spTree>
    <p:extLst>
      <p:ext uri="{BB962C8B-B14F-4D97-AF65-F5344CB8AC3E}">
        <p14:creationId xmlns:p14="http://schemas.microsoft.com/office/powerpoint/2010/main" val="1267546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298991" y="354564"/>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dirty="0" smtClean="0"/>
          </a:p>
          <a:p>
            <a:endParaRPr lang="en-IN" dirty="0"/>
          </a:p>
          <a:p>
            <a:endParaRPr lang="en-IN" dirty="0" smtClean="0"/>
          </a:p>
          <a:p>
            <a:endParaRPr lang="en-IN" dirty="0"/>
          </a:p>
          <a:p>
            <a:endParaRPr lang="en-IN" dirty="0" smtClean="0"/>
          </a:p>
          <a:p>
            <a:endParaRPr lang="en-IN" dirty="0"/>
          </a:p>
          <a:p>
            <a:endParaRPr lang="en-IN" dirty="0" smtClean="0"/>
          </a:p>
          <a:p>
            <a:endParaRPr lang="en-IN" dirty="0"/>
          </a:p>
          <a:p>
            <a:endParaRPr lang="en-IN" dirty="0" smtClean="0"/>
          </a:p>
          <a:p>
            <a:endParaRPr lang="en-IN" dirty="0"/>
          </a:p>
          <a:p>
            <a:endParaRPr lang="en-IN" dirty="0" smtClean="0"/>
          </a:p>
          <a:p>
            <a:endParaRPr lang="en-IN" sz="2200" dirty="0" smtClean="0">
              <a:solidFill>
                <a:schemeClr val="tx1"/>
              </a:solidFill>
            </a:endParaRPr>
          </a:p>
          <a:p>
            <a:r>
              <a:rPr lang="en-IN" sz="2200" dirty="0">
                <a:solidFill>
                  <a:srgbClr val="FF0000"/>
                </a:solidFill>
              </a:rPr>
              <a:t> </a:t>
            </a:r>
            <a:r>
              <a:rPr lang="en-IN" sz="2200" dirty="0" smtClean="0">
                <a:solidFill>
                  <a:srgbClr val="FF0000"/>
                </a:solidFill>
              </a:rPr>
              <a:t>Example </a:t>
            </a:r>
            <a:r>
              <a:rPr lang="en-IN" sz="2200" dirty="0">
                <a:solidFill>
                  <a:srgbClr val="FF0000"/>
                </a:solidFill>
              </a:rPr>
              <a:t>1- </a:t>
            </a:r>
            <a:r>
              <a:rPr lang="en-IN" sz="2200" dirty="0">
                <a:solidFill>
                  <a:schemeClr val="tx1"/>
                </a:solidFill>
              </a:rPr>
              <a:t>Import </a:t>
            </a:r>
          </a:p>
          <a:p>
            <a:r>
              <a:rPr lang="en-IN" sz="2200" dirty="0" smtClean="0">
                <a:solidFill>
                  <a:schemeClr val="tx1"/>
                </a:solidFill>
              </a:rPr>
              <a:t> Ms</a:t>
            </a:r>
            <a:r>
              <a:rPr lang="en-IN" sz="2200" dirty="0">
                <a:solidFill>
                  <a:schemeClr val="tx1"/>
                </a:solidFill>
              </a:rPr>
              <a:t>. Malini imports school bags from China for her shop (registered in Mumbai) </a:t>
            </a:r>
          </a:p>
          <a:p>
            <a:r>
              <a:rPr lang="en-IN" sz="2200" b="1" dirty="0" smtClean="0">
                <a:solidFill>
                  <a:schemeClr val="tx1"/>
                </a:solidFill>
              </a:rPr>
              <a:t> Place </a:t>
            </a:r>
            <a:r>
              <a:rPr lang="en-IN" sz="2200" b="1" dirty="0">
                <a:solidFill>
                  <a:schemeClr val="tx1"/>
                </a:solidFill>
              </a:rPr>
              <a:t>of supply: Mumbai GST: IGST </a:t>
            </a:r>
            <a:endParaRPr lang="en-IN" sz="2200" dirty="0">
              <a:solidFill>
                <a:schemeClr val="tx1"/>
              </a:solidFill>
            </a:endParaRPr>
          </a:p>
          <a:p>
            <a:r>
              <a:rPr lang="en-IN" sz="2200" dirty="0" smtClean="0">
                <a:solidFill>
                  <a:srgbClr val="FF0000"/>
                </a:solidFill>
              </a:rPr>
              <a:t> Example </a:t>
            </a:r>
            <a:r>
              <a:rPr lang="en-IN" sz="2200" dirty="0">
                <a:solidFill>
                  <a:srgbClr val="FF0000"/>
                </a:solidFill>
              </a:rPr>
              <a:t>2- </a:t>
            </a:r>
            <a:r>
              <a:rPr lang="en-IN" sz="2200" dirty="0">
                <a:solidFill>
                  <a:schemeClr val="tx1"/>
                </a:solidFill>
              </a:rPr>
              <a:t>Export </a:t>
            </a:r>
          </a:p>
          <a:p>
            <a:r>
              <a:rPr lang="en-IN" sz="2200" dirty="0" smtClean="0">
                <a:solidFill>
                  <a:schemeClr val="tx1"/>
                </a:solidFill>
              </a:rPr>
              <a:t> Ms</a:t>
            </a:r>
            <a:r>
              <a:rPr lang="en-IN" sz="2200" dirty="0">
                <a:solidFill>
                  <a:schemeClr val="tx1"/>
                </a:solidFill>
              </a:rPr>
              <a:t>. Anita (Kolkata) exports Indian perfumes to UK </a:t>
            </a:r>
          </a:p>
          <a:p>
            <a:r>
              <a:rPr lang="en-IN" sz="2200" b="1" dirty="0" smtClean="0">
                <a:solidFill>
                  <a:schemeClr val="tx1"/>
                </a:solidFill>
              </a:rPr>
              <a:t> Place </a:t>
            </a:r>
            <a:r>
              <a:rPr lang="en-IN" sz="2200" b="1" dirty="0">
                <a:solidFill>
                  <a:schemeClr val="tx1"/>
                </a:solidFill>
              </a:rPr>
              <a:t>of supply: Kolkata GST: Exempted</a:t>
            </a:r>
            <a:endParaRPr lang="en-IN" sz="2200" dirty="0">
              <a:solidFill>
                <a:schemeClr val="tx1"/>
              </a:solidFill>
            </a:endParaRPr>
          </a:p>
        </p:txBody>
      </p:sp>
      <p:sp>
        <p:nvSpPr>
          <p:cNvPr id="4" name="Rounded Rectangle 3"/>
          <p:cNvSpPr/>
          <p:nvPr/>
        </p:nvSpPr>
        <p:spPr>
          <a:xfrm>
            <a:off x="1567854" y="231200"/>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400" b="1" dirty="0"/>
              <a:t>Place of Supply – Imports and Exports</a:t>
            </a:r>
            <a:endParaRPr lang="en-IN" sz="3400" dirty="0"/>
          </a:p>
        </p:txBody>
      </p:sp>
      <p:sp>
        <p:nvSpPr>
          <p:cNvPr id="7" name="TextBox 6"/>
          <p:cNvSpPr txBox="1"/>
          <p:nvPr/>
        </p:nvSpPr>
        <p:spPr>
          <a:xfrm>
            <a:off x="718457" y="1352939"/>
            <a:ext cx="9797143" cy="1477328"/>
          </a:xfrm>
          <a:prstGeom prst="rect">
            <a:avLst/>
          </a:prstGeom>
          <a:noFill/>
        </p:spPr>
        <p:txBody>
          <a:bodyPr wrap="square" rtlCol="0">
            <a:spAutoFit/>
          </a:bodyPr>
          <a:lstStyle/>
          <a:p>
            <a:r>
              <a:rPr lang="en-IN" sz="2400" dirty="0"/>
              <a:t>The place of supply of goods:</a:t>
            </a:r>
          </a:p>
          <a:p>
            <a:pPr lvl="0"/>
            <a:r>
              <a:rPr lang="en-IN" sz="2400" dirty="0"/>
              <a:t>imported into India will be the location of the importer.</a:t>
            </a:r>
          </a:p>
          <a:p>
            <a:pPr lvl="0"/>
            <a:r>
              <a:rPr lang="en-IN" sz="2400" dirty="0"/>
              <a:t>exported from India shall be the location outside India.</a:t>
            </a:r>
          </a:p>
          <a:p>
            <a:endParaRPr lang="en-IN" dirty="0"/>
          </a:p>
        </p:txBody>
      </p:sp>
      <p:graphicFrame>
        <p:nvGraphicFramePr>
          <p:cNvPr id="8" name="Table 7"/>
          <p:cNvGraphicFramePr>
            <a:graphicFrameLocks noGrp="1"/>
          </p:cNvGraphicFramePr>
          <p:nvPr>
            <p:extLst/>
          </p:nvPr>
        </p:nvGraphicFramePr>
        <p:xfrm>
          <a:off x="818068" y="2547981"/>
          <a:ext cx="9231000" cy="1370875"/>
        </p:xfrm>
        <a:graphic>
          <a:graphicData uri="http://schemas.openxmlformats.org/drawingml/2006/table">
            <a:tbl>
              <a:tblPr firstRow="1" firstCol="1" bandRow="1">
                <a:tableStyleId>{5C22544A-7EE6-4342-B048-85BDC9FD1C3A}</a:tableStyleId>
              </a:tblPr>
              <a:tblGrid>
                <a:gridCol w="3064287">
                  <a:extLst>
                    <a:ext uri="{9D8B030D-6E8A-4147-A177-3AD203B41FA5}">
                      <a16:colId xmlns:a16="http://schemas.microsoft.com/office/drawing/2014/main" val="2629966417"/>
                    </a:ext>
                  </a:extLst>
                </a:gridCol>
                <a:gridCol w="2795440">
                  <a:extLst>
                    <a:ext uri="{9D8B030D-6E8A-4147-A177-3AD203B41FA5}">
                      <a16:colId xmlns:a16="http://schemas.microsoft.com/office/drawing/2014/main" val="3021815845"/>
                    </a:ext>
                  </a:extLst>
                </a:gridCol>
                <a:gridCol w="3371273">
                  <a:extLst>
                    <a:ext uri="{9D8B030D-6E8A-4147-A177-3AD203B41FA5}">
                      <a16:colId xmlns:a16="http://schemas.microsoft.com/office/drawing/2014/main" val="4091440768"/>
                    </a:ext>
                  </a:extLst>
                </a:gridCol>
              </a:tblGrid>
              <a:tr h="306130">
                <a:tc>
                  <a:txBody>
                    <a:bodyPr/>
                    <a:lstStyle/>
                    <a:p>
                      <a:pPr>
                        <a:spcAft>
                          <a:spcPts val="0"/>
                        </a:spcAft>
                      </a:pPr>
                      <a:r>
                        <a:rPr lang="en-IN" sz="1800">
                          <a:effectLst/>
                        </a:rPr>
                        <a:t>Supply Type</a:t>
                      </a:r>
                      <a:endParaRPr lang="en-IN" sz="1800">
                        <a:effectLst/>
                        <a:latin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800">
                          <a:effectLst/>
                        </a:rPr>
                        <a:t>Place of Supply</a:t>
                      </a:r>
                      <a:endParaRPr lang="en-IN" sz="1800">
                        <a:effectLst/>
                        <a:latin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IN" sz="1800">
                          <a:effectLst/>
                        </a:rPr>
                        <a:t>GST</a:t>
                      </a:r>
                      <a:endParaRPr lang="en-IN" sz="1800">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9839667"/>
                  </a:ext>
                </a:extLst>
              </a:tr>
              <a:tr h="424149">
                <a:tc>
                  <a:txBody>
                    <a:bodyPr/>
                    <a:lstStyle/>
                    <a:p>
                      <a:pPr>
                        <a:lnSpc>
                          <a:spcPct val="107000"/>
                        </a:lnSpc>
                        <a:spcBef>
                          <a:spcPts val="750"/>
                        </a:spcBef>
                        <a:spcAft>
                          <a:spcPts val="750"/>
                        </a:spcAft>
                      </a:pPr>
                      <a:r>
                        <a:rPr lang="en-IN" sz="1800" dirty="0">
                          <a:effectLst/>
                        </a:rPr>
                        <a:t>Goods imported into India</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Bef>
                          <a:spcPts val="750"/>
                        </a:spcBef>
                        <a:spcAft>
                          <a:spcPts val="750"/>
                        </a:spcAft>
                      </a:pPr>
                      <a:r>
                        <a:rPr lang="en-IN" sz="1800">
                          <a:effectLst/>
                        </a:rPr>
                        <a:t>Location of the importer</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Bef>
                          <a:spcPts val="750"/>
                        </a:spcBef>
                        <a:spcAft>
                          <a:spcPts val="750"/>
                        </a:spcAft>
                      </a:pPr>
                      <a:r>
                        <a:rPr lang="en-IN" sz="1800">
                          <a:effectLst/>
                        </a:rPr>
                        <a:t>Always IGST is charged for imports</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7932822"/>
                  </a:ext>
                </a:extLst>
              </a:tr>
              <a:tr h="640596">
                <a:tc>
                  <a:txBody>
                    <a:bodyPr/>
                    <a:lstStyle/>
                    <a:p>
                      <a:pPr>
                        <a:lnSpc>
                          <a:spcPct val="107000"/>
                        </a:lnSpc>
                        <a:spcBef>
                          <a:spcPts val="750"/>
                        </a:spcBef>
                        <a:spcAft>
                          <a:spcPts val="750"/>
                        </a:spcAft>
                      </a:pPr>
                      <a:r>
                        <a:rPr lang="en-IN" sz="1800">
                          <a:effectLst/>
                        </a:rPr>
                        <a:t>Exported from India</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Bef>
                          <a:spcPts val="750"/>
                        </a:spcBef>
                        <a:spcAft>
                          <a:spcPts val="750"/>
                        </a:spcAft>
                      </a:pPr>
                      <a:r>
                        <a:rPr lang="en-IN" sz="1800">
                          <a:effectLst/>
                        </a:rPr>
                        <a:t>Location outside India</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Bef>
                          <a:spcPts val="750"/>
                        </a:spcBef>
                        <a:spcAft>
                          <a:spcPts val="750"/>
                        </a:spcAft>
                      </a:pPr>
                      <a:r>
                        <a:rPr lang="en-IN" sz="1800" dirty="0">
                          <a:effectLst/>
                        </a:rPr>
                        <a:t>GST on exports are eligible for refund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35351474"/>
                  </a:ext>
                </a:extLst>
              </a:tr>
            </a:tbl>
          </a:graphicData>
        </a:graphic>
      </p:graphicFrame>
    </p:spTree>
    <p:extLst>
      <p:ext uri="{BB962C8B-B14F-4D97-AF65-F5344CB8AC3E}">
        <p14:creationId xmlns:p14="http://schemas.microsoft.com/office/powerpoint/2010/main" val="1757004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298991" y="354564"/>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dirty="0" smtClean="0"/>
          </a:p>
          <a:p>
            <a:endParaRPr lang="en-IN" dirty="0"/>
          </a:p>
          <a:p>
            <a:endParaRPr lang="en-IN" dirty="0" smtClean="0"/>
          </a:p>
          <a:p>
            <a:endParaRPr lang="en-IN" dirty="0"/>
          </a:p>
          <a:p>
            <a:endParaRPr lang="en-IN" dirty="0" smtClean="0"/>
          </a:p>
          <a:p>
            <a:endParaRPr lang="en-IN" dirty="0"/>
          </a:p>
          <a:p>
            <a:endParaRPr lang="en-IN" dirty="0" smtClean="0"/>
          </a:p>
          <a:p>
            <a:endParaRPr lang="en-IN" dirty="0"/>
          </a:p>
          <a:p>
            <a:endParaRPr lang="en-IN" dirty="0" smtClean="0"/>
          </a:p>
          <a:p>
            <a:endParaRPr lang="en-IN" dirty="0"/>
          </a:p>
          <a:p>
            <a:endParaRPr lang="en-IN" dirty="0" smtClean="0"/>
          </a:p>
          <a:p>
            <a:endParaRPr lang="en-IN" sz="2200" dirty="0" smtClean="0">
              <a:solidFill>
                <a:schemeClr val="tx1"/>
              </a:solidFill>
            </a:endParaRPr>
          </a:p>
          <a:p>
            <a:r>
              <a:rPr lang="en-IN" sz="2200" dirty="0">
                <a:solidFill>
                  <a:srgbClr val="FF0000"/>
                </a:solidFill>
              </a:rPr>
              <a:t> </a:t>
            </a:r>
            <a:endParaRPr lang="en-IN" sz="2200" dirty="0">
              <a:solidFill>
                <a:schemeClr val="tx1"/>
              </a:solidFill>
            </a:endParaRPr>
          </a:p>
        </p:txBody>
      </p:sp>
      <p:sp>
        <p:nvSpPr>
          <p:cNvPr id="4" name="Rounded Rectangle 3"/>
          <p:cNvSpPr/>
          <p:nvPr/>
        </p:nvSpPr>
        <p:spPr>
          <a:xfrm>
            <a:off x="1567854" y="231200"/>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600" b="1" dirty="0"/>
              <a:t>Valuation Rule for Supply Under Goods and Services Tax</a:t>
            </a:r>
            <a:endParaRPr lang="en-IN" sz="2600" dirty="0"/>
          </a:p>
        </p:txBody>
      </p:sp>
      <p:sp>
        <p:nvSpPr>
          <p:cNvPr id="7" name="TextBox 6"/>
          <p:cNvSpPr txBox="1"/>
          <p:nvPr/>
        </p:nvSpPr>
        <p:spPr>
          <a:xfrm>
            <a:off x="655927" y="949657"/>
            <a:ext cx="9797143" cy="5878532"/>
          </a:xfrm>
          <a:prstGeom prst="rect">
            <a:avLst/>
          </a:prstGeom>
          <a:noFill/>
        </p:spPr>
        <p:txBody>
          <a:bodyPr wrap="square" rtlCol="0">
            <a:spAutoFit/>
          </a:bodyPr>
          <a:lstStyle/>
          <a:p>
            <a:pPr lvl="0"/>
            <a:r>
              <a:rPr lang="en-IN" sz="2000" dirty="0" smtClean="0">
                <a:solidFill>
                  <a:srgbClr val="FF0000"/>
                </a:solidFill>
              </a:rPr>
              <a:t>1.Value </a:t>
            </a:r>
            <a:r>
              <a:rPr lang="en-IN" sz="2000" dirty="0">
                <a:solidFill>
                  <a:srgbClr val="FF0000"/>
                </a:solidFill>
              </a:rPr>
              <a:t>of supply of goods or services </a:t>
            </a:r>
            <a:r>
              <a:rPr lang="en-IN" sz="2000" dirty="0"/>
              <a:t>where the consideration is not wholly in money             </a:t>
            </a:r>
          </a:p>
          <a:p>
            <a:r>
              <a:rPr lang="en-IN" sz="2000" dirty="0"/>
              <a:t>Where the supply of goods or services is for a consideration not wholly in money, the value of the supply </a:t>
            </a:r>
            <a:r>
              <a:rPr lang="en-IN" sz="2000" dirty="0" smtClean="0"/>
              <a:t>shall </a:t>
            </a:r>
            <a:r>
              <a:rPr lang="en-IN" sz="2000" dirty="0"/>
              <a:t>be the open market value of such supply;</a:t>
            </a:r>
          </a:p>
          <a:p>
            <a:pPr marL="400050" lvl="0" indent="-400050">
              <a:buFont typeface="+mj-lt"/>
              <a:buAutoNum type="romanLcPeriod"/>
            </a:pPr>
            <a:r>
              <a:rPr lang="en-IN" sz="2000" dirty="0">
                <a:solidFill>
                  <a:srgbClr val="FF0000"/>
                </a:solidFill>
              </a:rPr>
              <a:t>if open market value is not available</a:t>
            </a:r>
            <a:r>
              <a:rPr lang="en-IN" sz="2000" dirty="0"/>
              <a:t>, be the sum total of consideration in money and any such further amount in money as is equivalent to the consideration not in money if such amount is known at the time of supply; </a:t>
            </a:r>
          </a:p>
          <a:p>
            <a:pPr marL="400050" lvl="0" indent="-400050">
              <a:buFont typeface="+mj-lt"/>
              <a:buAutoNum type="romanLcPeriod"/>
            </a:pPr>
            <a:r>
              <a:rPr lang="en-IN" sz="2000" dirty="0" smtClean="0">
                <a:solidFill>
                  <a:srgbClr val="FF0000"/>
                </a:solidFill>
              </a:rPr>
              <a:t>if </a:t>
            </a:r>
            <a:r>
              <a:rPr lang="en-IN" sz="2000" dirty="0">
                <a:solidFill>
                  <a:srgbClr val="FF0000"/>
                </a:solidFill>
              </a:rPr>
              <a:t>the value of supply is not determinable under clause (a) or clause (b)</a:t>
            </a:r>
            <a:r>
              <a:rPr lang="en-IN" sz="2000" dirty="0"/>
              <a:t>, be the value of supply of goods or services or both of like kind and quality;</a:t>
            </a:r>
          </a:p>
          <a:p>
            <a:pPr marL="400050" lvl="0" indent="-400050">
              <a:buFont typeface="+mj-lt"/>
              <a:buAutoNum type="romanLcPeriod"/>
            </a:pPr>
            <a:r>
              <a:rPr lang="en-IN" sz="2000" dirty="0">
                <a:solidFill>
                  <a:srgbClr val="FF0000"/>
                </a:solidFill>
              </a:rPr>
              <a:t>  if value is not determinable under clause (a) or clause (b) or clause (c), </a:t>
            </a:r>
            <a:r>
              <a:rPr lang="en-IN" sz="2000" dirty="0"/>
              <a:t>be the sum total of consideration in money</a:t>
            </a:r>
            <a:r>
              <a:rPr lang="en-IN" sz="2000" dirty="0" smtClean="0"/>
              <a:t>.</a:t>
            </a:r>
          </a:p>
          <a:p>
            <a:r>
              <a:rPr lang="en-IN" sz="2000" dirty="0">
                <a:solidFill>
                  <a:srgbClr val="FF0000"/>
                </a:solidFill>
              </a:rPr>
              <a:t>For Example</a:t>
            </a:r>
            <a:r>
              <a:rPr lang="en-IN" sz="2000" dirty="0"/>
              <a:t>: (i) Where a new phone is supplied for Rs. </a:t>
            </a:r>
            <a:r>
              <a:rPr lang="en-IN" sz="2000" dirty="0" smtClean="0"/>
              <a:t>20,000 </a:t>
            </a:r>
            <a:r>
              <a:rPr lang="en-IN" sz="2000" dirty="0"/>
              <a:t>along with the exchange of an old phone and if the price of the new phone without exchange is Rs. </a:t>
            </a:r>
            <a:r>
              <a:rPr lang="en-IN" sz="2000" dirty="0" smtClean="0"/>
              <a:t>24,000</a:t>
            </a:r>
            <a:r>
              <a:rPr lang="en-IN" sz="2000" dirty="0"/>
              <a:t>, the open market value of the new phone is Rs. </a:t>
            </a:r>
            <a:r>
              <a:rPr lang="en-IN" sz="2000" dirty="0" smtClean="0"/>
              <a:t>24,000</a:t>
            </a:r>
            <a:r>
              <a:rPr lang="en-IN" sz="2000" dirty="0"/>
              <a:t>. </a:t>
            </a:r>
          </a:p>
          <a:p>
            <a:r>
              <a:rPr lang="en-IN" sz="2000" dirty="0"/>
              <a:t>(ii) Where a laptop is supplied for Rs. </a:t>
            </a:r>
            <a:r>
              <a:rPr lang="en-IN" sz="2000" dirty="0" smtClean="0"/>
              <a:t>40,000 </a:t>
            </a:r>
            <a:r>
              <a:rPr lang="en-IN" sz="2000" dirty="0"/>
              <a:t>along with a barter of printer that is manufactured by the recipient and the value of the printer known at the time of supply is Rs. </a:t>
            </a:r>
            <a:r>
              <a:rPr lang="en-IN" sz="2000" dirty="0" smtClean="0"/>
              <a:t>4,000 </a:t>
            </a:r>
            <a:r>
              <a:rPr lang="en-IN" sz="2000" dirty="0"/>
              <a:t>but the open market value of the laptop is not known, the value of the supply of laptop is Rs. </a:t>
            </a:r>
            <a:r>
              <a:rPr lang="en-IN" sz="2000" dirty="0" smtClean="0"/>
              <a:t>44,000</a:t>
            </a:r>
            <a:endParaRPr lang="en-IN" sz="2000" dirty="0"/>
          </a:p>
          <a:p>
            <a:endParaRPr lang="en-IN" dirty="0"/>
          </a:p>
          <a:p>
            <a:endParaRPr lang="en-IN" dirty="0"/>
          </a:p>
        </p:txBody>
      </p:sp>
    </p:spTree>
    <p:extLst>
      <p:ext uri="{BB962C8B-B14F-4D97-AF65-F5344CB8AC3E}">
        <p14:creationId xmlns:p14="http://schemas.microsoft.com/office/powerpoint/2010/main" val="247069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298991" y="354564"/>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dirty="0" smtClean="0"/>
          </a:p>
          <a:p>
            <a:endParaRPr lang="en-IN" dirty="0"/>
          </a:p>
          <a:p>
            <a:endParaRPr lang="en-IN" dirty="0" smtClean="0"/>
          </a:p>
          <a:p>
            <a:endParaRPr lang="en-IN" dirty="0"/>
          </a:p>
          <a:p>
            <a:endParaRPr lang="en-IN" dirty="0" smtClean="0"/>
          </a:p>
          <a:p>
            <a:endParaRPr lang="en-IN" dirty="0"/>
          </a:p>
          <a:p>
            <a:endParaRPr lang="en-IN" dirty="0" smtClean="0"/>
          </a:p>
          <a:p>
            <a:endParaRPr lang="en-IN" dirty="0"/>
          </a:p>
          <a:p>
            <a:endParaRPr lang="en-IN" dirty="0" smtClean="0"/>
          </a:p>
          <a:p>
            <a:endParaRPr lang="en-IN" dirty="0"/>
          </a:p>
          <a:p>
            <a:endParaRPr lang="en-IN" dirty="0" smtClean="0"/>
          </a:p>
          <a:p>
            <a:endParaRPr lang="en-IN" sz="2200" dirty="0" smtClean="0">
              <a:solidFill>
                <a:schemeClr val="tx1"/>
              </a:solidFill>
            </a:endParaRPr>
          </a:p>
          <a:p>
            <a:r>
              <a:rPr lang="en-IN" sz="2200" dirty="0">
                <a:solidFill>
                  <a:srgbClr val="FF0000"/>
                </a:solidFill>
              </a:rPr>
              <a:t> </a:t>
            </a:r>
            <a:endParaRPr lang="en-IN" sz="2200" dirty="0">
              <a:solidFill>
                <a:schemeClr val="tx1"/>
              </a:solidFill>
            </a:endParaRPr>
          </a:p>
        </p:txBody>
      </p:sp>
      <p:sp>
        <p:nvSpPr>
          <p:cNvPr id="4" name="Rounded Rectangle 3"/>
          <p:cNvSpPr/>
          <p:nvPr/>
        </p:nvSpPr>
        <p:spPr>
          <a:xfrm>
            <a:off x="1567854" y="231200"/>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600" b="1" dirty="0"/>
              <a:t>Valuation Rule for Supply Under Goods and Services Tax</a:t>
            </a:r>
            <a:endParaRPr lang="en-IN" sz="2600" dirty="0"/>
          </a:p>
        </p:txBody>
      </p:sp>
      <p:sp>
        <p:nvSpPr>
          <p:cNvPr id="7" name="TextBox 6"/>
          <p:cNvSpPr txBox="1"/>
          <p:nvPr/>
        </p:nvSpPr>
        <p:spPr>
          <a:xfrm>
            <a:off x="655927" y="949657"/>
            <a:ext cx="9797143" cy="5447645"/>
          </a:xfrm>
          <a:prstGeom prst="rect">
            <a:avLst/>
          </a:prstGeom>
          <a:noFill/>
        </p:spPr>
        <p:txBody>
          <a:bodyPr wrap="square" rtlCol="0">
            <a:spAutoFit/>
          </a:bodyPr>
          <a:lstStyle/>
          <a:p>
            <a:r>
              <a:rPr lang="en-IN" sz="2400" dirty="0">
                <a:solidFill>
                  <a:srgbClr val="FF0000"/>
                </a:solidFill>
              </a:rPr>
              <a:t>2.Value of supply of goods or services </a:t>
            </a:r>
            <a:r>
              <a:rPr lang="en-IN" sz="2400" dirty="0"/>
              <a:t>or both between distinct or related persons, other than through an agent The value of the supply of goods or services or both between distinct persons as specified in sub-section (4) and (5) of section 25 or where the supplier and recipient are related, other than where the supply is made through an agent, </a:t>
            </a:r>
            <a:r>
              <a:rPr lang="en-IN" sz="2400" dirty="0" smtClean="0"/>
              <a:t>shall be </a:t>
            </a:r>
            <a:r>
              <a:rPr lang="en-IN" sz="2400" dirty="0"/>
              <a:t>the open market value of such supply; </a:t>
            </a:r>
          </a:p>
          <a:p>
            <a:pPr lvl="0"/>
            <a:r>
              <a:rPr lang="en-IN" sz="2400" dirty="0"/>
              <a:t>if open market value is not available, be the value of supply of goods or services of like kind and quality;</a:t>
            </a:r>
          </a:p>
          <a:p>
            <a:pPr lvl="0"/>
            <a:r>
              <a:rPr lang="en-IN" sz="2400" dirty="0"/>
              <a:t>if value is not determinable under clause (a) or (b), be the value as determined by application of rule 4 or rule 5, in that order: </a:t>
            </a:r>
          </a:p>
          <a:p>
            <a:r>
              <a:rPr lang="en-IN" sz="2400" dirty="0"/>
              <a:t>Provided where the recipient is eligible for full input tax credit, the value declared in the invoice shall be deemed to be the open market value of goods or services.</a:t>
            </a:r>
          </a:p>
          <a:p>
            <a:endParaRPr lang="en-IN" dirty="0"/>
          </a:p>
          <a:p>
            <a:endParaRPr lang="en-IN" dirty="0"/>
          </a:p>
        </p:txBody>
      </p:sp>
    </p:spTree>
    <p:extLst>
      <p:ext uri="{BB962C8B-B14F-4D97-AF65-F5344CB8AC3E}">
        <p14:creationId xmlns:p14="http://schemas.microsoft.com/office/powerpoint/2010/main" val="2006593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298991" y="354564"/>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dirty="0" smtClean="0"/>
          </a:p>
          <a:p>
            <a:endParaRPr lang="en-IN" dirty="0"/>
          </a:p>
          <a:p>
            <a:endParaRPr lang="en-IN" dirty="0" smtClean="0"/>
          </a:p>
          <a:p>
            <a:endParaRPr lang="en-IN" dirty="0"/>
          </a:p>
          <a:p>
            <a:endParaRPr lang="en-IN" dirty="0" smtClean="0"/>
          </a:p>
          <a:p>
            <a:endParaRPr lang="en-IN" dirty="0"/>
          </a:p>
          <a:p>
            <a:endParaRPr lang="en-IN" dirty="0" smtClean="0"/>
          </a:p>
          <a:p>
            <a:endParaRPr lang="en-IN" dirty="0"/>
          </a:p>
          <a:p>
            <a:endParaRPr lang="en-IN" dirty="0" smtClean="0"/>
          </a:p>
          <a:p>
            <a:endParaRPr lang="en-IN" dirty="0"/>
          </a:p>
          <a:p>
            <a:endParaRPr lang="en-IN" dirty="0" smtClean="0"/>
          </a:p>
          <a:p>
            <a:endParaRPr lang="en-IN" sz="2200" dirty="0" smtClean="0">
              <a:solidFill>
                <a:schemeClr val="tx1"/>
              </a:solidFill>
            </a:endParaRPr>
          </a:p>
          <a:p>
            <a:r>
              <a:rPr lang="en-IN" sz="2200" dirty="0">
                <a:solidFill>
                  <a:srgbClr val="FF0000"/>
                </a:solidFill>
              </a:rPr>
              <a:t> </a:t>
            </a:r>
            <a:endParaRPr lang="en-IN" sz="2200" dirty="0">
              <a:solidFill>
                <a:schemeClr val="tx1"/>
              </a:solidFill>
            </a:endParaRPr>
          </a:p>
        </p:txBody>
      </p:sp>
      <p:sp>
        <p:nvSpPr>
          <p:cNvPr id="4" name="Rounded Rectangle 3"/>
          <p:cNvSpPr/>
          <p:nvPr/>
        </p:nvSpPr>
        <p:spPr>
          <a:xfrm>
            <a:off x="1567854" y="231200"/>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600" b="1" dirty="0"/>
              <a:t>Valuation Rule for Supply Under Goods and Services Tax</a:t>
            </a:r>
            <a:endParaRPr lang="en-IN" sz="2600" dirty="0"/>
          </a:p>
        </p:txBody>
      </p:sp>
      <p:sp>
        <p:nvSpPr>
          <p:cNvPr id="7" name="TextBox 6"/>
          <p:cNvSpPr txBox="1"/>
          <p:nvPr/>
        </p:nvSpPr>
        <p:spPr>
          <a:xfrm>
            <a:off x="655927" y="949657"/>
            <a:ext cx="9797143" cy="5816977"/>
          </a:xfrm>
          <a:prstGeom prst="rect">
            <a:avLst/>
          </a:prstGeom>
          <a:noFill/>
        </p:spPr>
        <p:txBody>
          <a:bodyPr wrap="square" rtlCol="0">
            <a:spAutoFit/>
          </a:bodyPr>
          <a:lstStyle/>
          <a:p>
            <a:r>
              <a:rPr lang="en-IN" sz="2400" dirty="0" smtClean="0">
                <a:solidFill>
                  <a:srgbClr val="FF0000"/>
                </a:solidFill>
              </a:rPr>
              <a:t>3. Value </a:t>
            </a:r>
            <a:r>
              <a:rPr lang="en-IN" sz="2400" dirty="0">
                <a:solidFill>
                  <a:srgbClr val="FF0000"/>
                </a:solidFill>
              </a:rPr>
              <a:t>of supply of goods made or received through an agent </a:t>
            </a:r>
            <a:r>
              <a:rPr lang="en-IN" sz="2400" dirty="0"/>
              <a:t>The value of supply of goods between the principal and his agent </a:t>
            </a:r>
            <a:r>
              <a:rPr lang="en-IN" sz="2400" dirty="0" smtClean="0"/>
              <a:t>shall be </a:t>
            </a:r>
            <a:r>
              <a:rPr lang="en-IN" sz="2400" dirty="0"/>
              <a:t>the open market value of the goods being supplied, or at the option of the supplier, be 90% of the price charged for the supply of goods of like kind and quality by the recipient to his customer not being a related person, where the goods are intended for further supply by the said recipient; </a:t>
            </a:r>
          </a:p>
          <a:p>
            <a:r>
              <a:rPr lang="en-IN" sz="2400" dirty="0">
                <a:solidFill>
                  <a:srgbClr val="FF0000"/>
                </a:solidFill>
              </a:rPr>
              <a:t>For Example:</a:t>
            </a:r>
          </a:p>
          <a:p>
            <a:r>
              <a:rPr lang="en-IN" sz="2400" dirty="0"/>
              <a:t>Where a principal supplies groundnut to his agent and the agent is supplying groundnuts of like kind and quality in subsequent supplies at a price of Rs. 5000 per quintal on the day of supply. Another independent supplier is supplying groundnuts of like kind and quality to the said agent at the price of Rs. 4550 per quintal. The value of the supply made by the principal shall be Rs. 4550 per quintal or where he exercises the option the value shall be 90% of the Rs. 5000 i.e. is Rs. 4500 per quintal.</a:t>
            </a:r>
          </a:p>
          <a:p>
            <a:endParaRPr lang="en-IN" dirty="0"/>
          </a:p>
          <a:p>
            <a:endParaRPr lang="en-IN" dirty="0"/>
          </a:p>
        </p:txBody>
      </p:sp>
    </p:spTree>
    <p:extLst>
      <p:ext uri="{BB962C8B-B14F-4D97-AF65-F5344CB8AC3E}">
        <p14:creationId xmlns:p14="http://schemas.microsoft.com/office/powerpoint/2010/main" val="3814520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298991" y="354564"/>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dirty="0" smtClean="0"/>
          </a:p>
          <a:p>
            <a:endParaRPr lang="en-IN" dirty="0"/>
          </a:p>
          <a:p>
            <a:endParaRPr lang="en-IN" dirty="0" smtClean="0"/>
          </a:p>
          <a:p>
            <a:endParaRPr lang="en-IN" dirty="0"/>
          </a:p>
          <a:p>
            <a:endParaRPr lang="en-IN" dirty="0" smtClean="0"/>
          </a:p>
          <a:p>
            <a:endParaRPr lang="en-IN" dirty="0"/>
          </a:p>
          <a:p>
            <a:endParaRPr lang="en-IN" dirty="0" smtClean="0"/>
          </a:p>
          <a:p>
            <a:endParaRPr lang="en-IN" dirty="0"/>
          </a:p>
          <a:p>
            <a:endParaRPr lang="en-IN" dirty="0" smtClean="0"/>
          </a:p>
          <a:p>
            <a:endParaRPr lang="en-IN" dirty="0"/>
          </a:p>
          <a:p>
            <a:endParaRPr lang="en-IN" dirty="0" smtClean="0"/>
          </a:p>
          <a:p>
            <a:endParaRPr lang="en-IN" sz="2200" dirty="0" smtClean="0">
              <a:solidFill>
                <a:schemeClr val="tx1"/>
              </a:solidFill>
            </a:endParaRPr>
          </a:p>
          <a:p>
            <a:r>
              <a:rPr lang="en-IN" sz="2200" dirty="0">
                <a:solidFill>
                  <a:srgbClr val="FF0000"/>
                </a:solidFill>
              </a:rPr>
              <a:t> </a:t>
            </a:r>
            <a:endParaRPr lang="en-IN" sz="2200" dirty="0">
              <a:solidFill>
                <a:schemeClr val="tx1"/>
              </a:solidFill>
            </a:endParaRPr>
          </a:p>
        </p:txBody>
      </p:sp>
      <p:sp>
        <p:nvSpPr>
          <p:cNvPr id="4" name="Rounded Rectangle 3"/>
          <p:cNvSpPr/>
          <p:nvPr/>
        </p:nvSpPr>
        <p:spPr>
          <a:xfrm>
            <a:off x="1567854" y="231200"/>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600" b="1" dirty="0"/>
              <a:t>Valuation Rule for Supply Under Goods and Services Tax</a:t>
            </a:r>
            <a:endParaRPr lang="en-IN" sz="2600" dirty="0"/>
          </a:p>
        </p:txBody>
      </p:sp>
      <p:sp>
        <p:nvSpPr>
          <p:cNvPr id="7" name="TextBox 6"/>
          <p:cNvSpPr txBox="1"/>
          <p:nvPr/>
        </p:nvSpPr>
        <p:spPr>
          <a:xfrm>
            <a:off x="655927" y="949657"/>
            <a:ext cx="9797143" cy="5816977"/>
          </a:xfrm>
          <a:prstGeom prst="rect">
            <a:avLst/>
          </a:prstGeom>
          <a:noFill/>
        </p:spPr>
        <p:txBody>
          <a:bodyPr wrap="square" rtlCol="0">
            <a:spAutoFit/>
          </a:bodyPr>
          <a:lstStyle/>
          <a:p>
            <a:r>
              <a:rPr lang="en-IN" sz="2400" dirty="0">
                <a:solidFill>
                  <a:srgbClr val="FF0000"/>
                </a:solidFill>
              </a:rPr>
              <a:t>4.Value of supply of goods or services or both based on cost</a:t>
            </a:r>
          </a:p>
          <a:p>
            <a:r>
              <a:rPr lang="en-IN" sz="2400" dirty="0"/>
              <a:t>Where the value of a supply of goods or services or both is not determinable by any of the preceding rules, the value shall be one hundred and ten percent of the cost of production or manufacture or cost of acquisition of such goods or cost of provision of such services.</a:t>
            </a:r>
          </a:p>
          <a:p>
            <a:r>
              <a:rPr lang="en-IN" sz="2400" dirty="0">
                <a:solidFill>
                  <a:srgbClr val="FF0000"/>
                </a:solidFill>
              </a:rPr>
              <a:t>5. Residual method for determination of value of supply of goods or services or both</a:t>
            </a:r>
          </a:p>
          <a:p>
            <a:r>
              <a:rPr lang="en-IN" sz="2400" dirty="0"/>
              <a:t>Where the value of supply of goods or services or both cannot be determined under rules 1 to 4, the same shall be determined using reasonable means consistent with the principles and general provisions of section 15 and these rules. Provided that in case of supply of services, the supplier may opt for this rule, disregarding rule 4. This is a general residual rule, to be used as a last resort. This is again open ended and refers to principles and general provisions as per law and other rules.</a:t>
            </a:r>
          </a:p>
          <a:p>
            <a:endParaRPr lang="en-IN" dirty="0"/>
          </a:p>
          <a:p>
            <a:endParaRPr lang="en-IN" dirty="0"/>
          </a:p>
        </p:txBody>
      </p:sp>
    </p:spTree>
    <p:extLst>
      <p:ext uri="{BB962C8B-B14F-4D97-AF65-F5344CB8AC3E}">
        <p14:creationId xmlns:p14="http://schemas.microsoft.com/office/powerpoint/2010/main" val="2831809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298991" y="354564"/>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dirty="0" smtClean="0"/>
          </a:p>
          <a:p>
            <a:endParaRPr lang="en-IN" dirty="0"/>
          </a:p>
          <a:p>
            <a:endParaRPr lang="en-IN" dirty="0" smtClean="0"/>
          </a:p>
          <a:p>
            <a:endParaRPr lang="en-IN" dirty="0"/>
          </a:p>
          <a:p>
            <a:endParaRPr lang="en-IN" dirty="0" smtClean="0"/>
          </a:p>
          <a:p>
            <a:endParaRPr lang="en-IN" dirty="0"/>
          </a:p>
          <a:p>
            <a:endParaRPr lang="en-IN" dirty="0" smtClean="0"/>
          </a:p>
          <a:p>
            <a:endParaRPr lang="en-IN" dirty="0"/>
          </a:p>
          <a:p>
            <a:endParaRPr lang="en-IN" dirty="0" smtClean="0"/>
          </a:p>
          <a:p>
            <a:endParaRPr lang="en-IN" dirty="0"/>
          </a:p>
          <a:p>
            <a:endParaRPr lang="en-IN" dirty="0" smtClean="0"/>
          </a:p>
          <a:p>
            <a:endParaRPr lang="en-IN" sz="2200" dirty="0" smtClean="0">
              <a:solidFill>
                <a:schemeClr val="tx1"/>
              </a:solidFill>
            </a:endParaRPr>
          </a:p>
          <a:p>
            <a:r>
              <a:rPr lang="en-IN" sz="2200" dirty="0">
                <a:solidFill>
                  <a:srgbClr val="FF0000"/>
                </a:solidFill>
              </a:rPr>
              <a:t> </a:t>
            </a:r>
            <a:endParaRPr lang="en-IN" sz="2200" dirty="0">
              <a:solidFill>
                <a:schemeClr val="tx1"/>
              </a:solidFill>
            </a:endParaRPr>
          </a:p>
        </p:txBody>
      </p:sp>
      <p:sp>
        <p:nvSpPr>
          <p:cNvPr id="4" name="Rounded Rectangle 3"/>
          <p:cNvSpPr/>
          <p:nvPr/>
        </p:nvSpPr>
        <p:spPr>
          <a:xfrm>
            <a:off x="1567854" y="231200"/>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600" b="1" dirty="0"/>
              <a:t>Valuation Rule for Supply Under Goods and Services Tax</a:t>
            </a:r>
            <a:endParaRPr lang="en-IN" sz="2600" dirty="0"/>
          </a:p>
        </p:txBody>
      </p:sp>
      <p:sp>
        <p:nvSpPr>
          <p:cNvPr id="7" name="TextBox 6"/>
          <p:cNvSpPr txBox="1"/>
          <p:nvPr/>
        </p:nvSpPr>
        <p:spPr>
          <a:xfrm>
            <a:off x="655927" y="949657"/>
            <a:ext cx="9797143" cy="5447645"/>
          </a:xfrm>
          <a:prstGeom prst="rect">
            <a:avLst/>
          </a:prstGeom>
          <a:noFill/>
        </p:spPr>
        <p:txBody>
          <a:bodyPr wrap="square" rtlCol="0">
            <a:spAutoFit/>
          </a:bodyPr>
          <a:lstStyle/>
          <a:p>
            <a:r>
              <a:rPr lang="en-IN" sz="2400" dirty="0">
                <a:solidFill>
                  <a:srgbClr val="FF0000"/>
                </a:solidFill>
              </a:rPr>
              <a:t>6.Determination of value in respect of certain supplies</a:t>
            </a:r>
          </a:p>
          <a:p>
            <a:r>
              <a:rPr lang="en-IN" sz="2400" b="1" dirty="0"/>
              <a:t/>
            </a:r>
            <a:br>
              <a:rPr lang="en-IN" sz="2400" b="1" dirty="0"/>
            </a:br>
            <a:r>
              <a:rPr lang="en-IN" sz="2400" dirty="0"/>
              <a:t>The value in respect of supplies specified below shall be determined in the manner provided hereinafter. Rule-32(2) Purchase/ Sale of Foreign Currency – The value of supply of services in relation to purchase or sale of foreign currency, including money changing, shall be determined by the supplier of service in the following manner:-</a:t>
            </a:r>
          </a:p>
          <a:p>
            <a:r>
              <a:rPr lang="en-IN" sz="2400" dirty="0"/>
              <a:t>(i) For a currency, when exchanged from, or to, Indian Rupees (INR), the value shall be equal to the difference in the buying rate or the selling rate, as the case may be, and the Reserve Bank of India (RBI) reference rate for that currency at that time, multiplied by the total units of currency.</a:t>
            </a:r>
          </a:p>
          <a:p>
            <a:r>
              <a:rPr lang="en-IN" sz="2400" dirty="0"/>
              <a:t> (ii) At the option of supplier of services, the value in relation to supply of foreign currency, including money changing, shall be deemed to be</a:t>
            </a:r>
          </a:p>
          <a:p>
            <a:endParaRPr lang="en-IN" dirty="0"/>
          </a:p>
          <a:p>
            <a:endParaRPr lang="en-IN" dirty="0"/>
          </a:p>
        </p:txBody>
      </p:sp>
    </p:spTree>
    <p:extLst>
      <p:ext uri="{BB962C8B-B14F-4D97-AF65-F5344CB8AC3E}">
        <p14:creationId xmlns:p14="http://schemas.microsoft.com/office/powerpoint/2010/main" val="76274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298991" y="354564"/>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dirty="0" smtClean="0"/>
          </a:p>
          <a:p>
            <a:endParaRPr lang="en-IN" dirty="0"/>
          </a:p>
          <a:p>
            <a:endParaRPr lang="en-IN" dirty="0" smtClean="0"/>
          </a:p>
          <a:p>
            <a:endParaRPr lang="en-IN" dirty="0"/>
          </a:p>
          <a:p>
            <a:endParaRPr lang="en-IN" dirty="0" smtClean="0"/>
          </a:p>
          <a:p>
            <a:endParaRPr lang="en-IN" dirty="0"/>
          </a:p>
          <a:p>
            <a:endParaRPr lang="en-IN" dirty="0" smtClean="0"/>
          </a:p>
          <a:p>
            <a:endParaRPr lang="en-IN" dirty="0"/>
          </a:p>
          <a:p>
            <a:endParaRPr lang="en-IN" dirty="0" smtClean="0"/>
          </a:p>
          <a:p>
            <a:endParaRPr lang="en-IN" dirty="0"/>
          </a:p>
          <a:p>
            <a:endParaRPr lang="en-IN" dirty="0" smtClean="0"/>
          </a:p>
          <a:p>
            <a:endParaRPr lang="en-IN" sz="2200" dirty="0" smtClean="0">
              <a:solidFill>
                <a:schemeClr val="tx1"/>
              </a:solidFill>
            </a:endParaRPr>
          </a:p>
          <a:p>
            <a:r>
              <a:rPr lang="en-IN" sz="2200" dirty="0">
                <a:solidFill>
                  <a:srgbClr val="FF0000"/>
                </a:solidFill>
              </a:rPr>
              <a:t> </a:t>
            </a:r>
            <a:endParaRPr lang="en-IN" sz="2200" dirty="0">
              <a:solidFill>
                <a:schemeClr val="tx1"/>
              </a:solidFill>
            </a:endParaRPr>
          </a:p>
        </p:txBody>
      </p:sp>
      <p:sp>
        <p:nvSpPr>
          <p:cNvPr id="4" name="Rounded Rectangle 3"/>
          <p:cNvSpPr/>
          <p:nvPr/>
        </p:nvSpPr>
        <p:spPr>
          <a:xfrm>
            <a:off x="1567854" y="231200"/>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600" b="1" dirty="0"/>
              <a:t>Valuation Rule for Supply Under Goods and Services Tax</a:t>
            </a:r>
            <a:endParaRPr lang="en-IN" sz="2600" dirty="0"/>
          </a:p>
        </p:txBody>
      </p:sp>
      <p:sp>
        <p:nvSpPr>
          <p:cNvPr id="7" name="TextBox 6"/>
          <p:cNvSpPr txBox="1"/>
          <p:nvPr/>
        </p:nvSpPr>
        <p:spPr>
          <a:xfrm>
            <a:off x="655927" y="949657"/>
            <a:ext cx="9797143" cy="6063198"/>
          </a:xfrm>
          <a:prstGeom prst="rect">
            <a:avLst/>
          </a:prstGeom>
          <a:noFill/>
        </p:spPr>
        <p:txBody>
          <a:bodyPr wrap="square" rtlCol="0">
            <a:spAutoFit/>
          </a:bodyPr>
          <a:lstStyle/>
          <a:p>
            <a:pPr lvl="0"/>
            <a:r>
              <a:rPr lang="en-IN" sz="2200" dirty="0"/>
              <a:t>1 % of the gross amount of currency exchanged for an amount up to one lakh rupees, subject to a minimum amount of two hundred and fifty rupees; </a:t>
            </a:r>
          </a:p>
          <a:p>
            <a:pPr lvl="0"/>
            <a:r>
              <a:rPr lang="en-IN" sz="2200" dirty="0"/>
              <a:t>(ii) one thousand rupees(1,000) and half of a per cent (0.5%) of the gross amount of currency exchanged for an amount exceeding one lakh rupees and up to ten lakh rupees; and </a:t>
            </a:r>
          </a:p>
          <a:p>
            <a:pPr lvl="0"/>
            <a:r>
              <a:rPr lang="en-IN" sz="2200" dirty="0"/>
              <a:t>(iii) five thousand rupees (5,000) and one tenth of a per cent (0.10%) of the gross amount of currency exchanged for an amount exceeding ten lakh rupees, subject to maximum amount of sixty thousand rupees</a:t>
            </a:r>
            <a:r>
              <a:rPr lang="en-IN" sz="2200" dirty="0" smtClean="0"/>
              <a:t>.</a:t>
            </a:r>
            <a:endParaRPr lang="en-IN" sz="2200" dirty="0"/>
          </a:p>
          <a:p>
            <a:r>
              <a:rPr lang="en-IN" sz="2200" dirty="0">
                <a:solidFill>
                  <a:srgbClr val="FF0000"/>
                </a:solidFill>
              </a:rPr>
              <a:t>7. Value of supply of services in case of pure agent </a:t>
            </a:r>
            <a:r>
              <a:rPr lang="en-IN" sz="2200" dirty="0"/>
              <a:t>Notwithstanding anything contained in these rules, the expenditure or costs incurred by the supplier as a pure agent of the recipient of supply of services shall be excluded from the value of supply, if all the following conditions are satisfied, namely: - </a:t>
            </a:r>
          </a:p>
          <a:p>
            <a:pPr marL="285750" lvl="0" indent="-285750">
              <a:buFont typeface="Arial" panose="020B0604020202020204" pitchFamily="34" charset="0"/>
              <a:buChar char="•"/>
            </a:pPr>
            <a:r>
              <a:rPr lang="en-IN" sz="2200" dirty="0"/>
              <a:t>the supplier acts as a pure agent of the recipient of the supply, when he makes payment to the third party for the services procured; </a:t>
            </a:r>
          </a:p>
          <a:p>
            <a:pPr marL="285750" lvl="0" indent="-285750">
              <a:buFont typeface="Arial" panose="020B0604020202020204" pitchFamily="34" charset="0"/>
              <a:buChar char="•"/>
            </a:pPr>
            <a:r>
              <a:rPr lang="en-IN" sz="2200" dirty="0"/>
              <a:t>the recipient of supply uses the services so procured by the supplier service provider in his capacity as pure agent of the recipient of supply; </a:t>
            </a:r>
          </a:p>
          <a:p>
            <a:endParaRPr lang="en-IN" dirty="0"/>
          </a:p>
          <a:p>
            <a:endParaRPr lang="en-IN" dirty="0"/>
          </a:p>
        </p:txBody>
      </p:sp>
    </p:spTree>
    <p:extLst>
      <p:ext uri="{BB962C8B-B14F-4D97-AF65-F5344CB8AC3E}">
        <p14:creationId xmlns:p14="http://schemas.microsoft.com/office/powerpoint/2010/main" val="141263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298991" y="354564"/>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dirty="0" smtClean="0"/>
          </a:p>
          <a:p>
            <a:endParaRPr lang="en-IN" dirty="0"/>
          </a:p>
          <a:p>
            <a:endParaRPr lang="en-IN" dirty="0" smtClean="0"/>
          </a:p>
          <a:p>
            <a:endParaRPr lang="en-IN" dirty="0"/>
          </a:p>
          <a:p>
            <a:endParaRPr lang="en-IN" dirty="0" smtClean="0"/>
          </a:p>
          <a:p>
            <a:endParaRPr lang="en-IN" dirty="0"/>
          </a:p>
          <a:p>
            <a:endParaRPr lang="en-IN" dirty="0" smtClean="0"/>
          </a:p>
          <a:p>
            <a:endParaRPr lang="en-IN" dirty="0"/>
          </a:p>
          <a:p>
            <a:endParaRPr lang="en-IN" dirty="0" smtClean="0"/>
          </a:p>
          <a:p>
            <a:endParaRPr lang="en-IN" dirty="0"/>
          </a:p>
          <a:p>
            <a:endParaRPr lang="en-IN" dirty="0" smtClean="0"/>
          </a:p>
          <a:p>
            <a:endParaRPr lang="en-IN" sz="2200" dirty="0" smtClean="0">
              <a:solidFill>
                <a:schemeClr val="tx1"/>
              </a:solidFill>
            </a:endParaRPr>
          </a:p>
          <a:p>
            <a:r>
              <a:rPr lang="en-IN" sz="2200" dirty="0">
                <a:solidFill>
                  <a:srgbClr val="FF0000"/>
                </a:solidFill>
              </a:rPr>
              <a:t> </a:t>
            </a:r>
            <a:endParaRPr lang="en-IN" sz="2200" dirty="0">
              <a:solidFill>
                <a:schemeClr val="tx1"/>
              </a:solidFill>
            </a:endParaRPr>
          </a:p>
        </p:txBody>
      </p:sp>
      <p:sp>
        <p:nvSpPr>
          <p:cNvPr id="4" name="Rounded Rectangle 3"/>
          <p:cNvSpPr/>
          <p:nvPr/>
        </p:nvSpPr>
        <p:spPr>
          <a:xfrm>
            <a:off x="1567854" y="231200"/>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600" b="1" dirty="0"/>
              <a:t>Valuation Rule for Supply Under Goods and Services Tax</a:t>
            </a:r>
            <a:endParaRPr lang="en-IN" sz="2600" dirty="0"/>
          </a:p>
        </p:txBody>
      </p:sp>
      <p:sp>
        <p:nvSpPr>
          <p:cNvPr id="7" name="TextBox 6"/>
          <p:cNvSpPr txBox="1"/>
          <p:nvPr/>
        </p:nvSpPr>
        <p:spPr>
          <a:xfrm>
            <a:off x="655927" y="949657"/>
            <a:ext cx="9797143" cy="5078313"/>
          </a:xfrm>
          <a:prstGeom prst="rect">
            <a:avLst/>
          </a:prstGeom>
          <a:noFill/>
        </p:spPr>
        <p:txBody>
          <a:bodyPr wrap="square" rtlCol="0">
            <a:spAutoFit/>
          </a:bodyPr>
          <a:lstStyle/>
          <a:p>
            <a:pPr marL="342900" lvl="0" indent="-342900">
              <a:buFont typeface="Arial" panose="020B0604020202020204" pitchFamily="34" charset="0"/>
              <a:buChar char="•"/>
            </a:pPr>
            <a:r>
              <a:rPr lang="en-IN" sz="2400" dirty="0"/>
              <a:t>the recipient of supply is liable to make payment to the third party; the recipient of supply authorizes the supplier to make payment on his behalf;</a:t>
            </a:r>
          </a:p>
          <a:p>
            <a:pPr marL="342900" lvl="0" indent="-342900">
              <a:buFont typeface="Arial" panose="020B0604020202020204" pitchFamily="34" charset="0"/>
              <a:buChar char="•"/>
            </a:pPr>
            <a:r>
              <a:rPr lang="en-IN" sz="2400" dirty="0"/>
              <a:t>the recipient of supply knows that the services for which payment has been made by the supplier shall be provided by the third party; </a:t>
            </a:r>
          </a:p>
          <a:p>
            <a:pPr marL="342900" lvl="0" indent="-342900">
              <a:buFont typeface="Arial" panose="020B0604020202020204" pitchFamily="34" charset="0"/>
              <a:buChar char="•"/>
            </a:pPr>
            <a:r>
              <a:rPr lang="en-IN" sz="2400" dirty="0"/>
              <a:t>the payment made by the supplier on behalf of the recipient of supply has been separately indicated in the invoice issued by the supplier to the recipient of service; </a:t>
            </a:r>
          </a:p>
          <a:p>
            <a:pPr marL="342900" lvl="0" indent="-342900">
              <a:buFont typeface="Arial" panose="020B0604020202020204" pitchFamily="34" charset="0"/>
              <a:buChar char="•"/>
            </a:pPr>
            <a:r>
              <a:rPr lang="en-IN" sz="2400" dirty="0"/>
              <a:t>the supplier recovers from the recipient of supply only such amount as has been paid by him to the third party; and </a:t>
            </a:r>
          </a:p>
          <a:p>
            <a:pPr marL="342900" lvl="0" indent="-342900">
              <a:buFont typeface="Arial" panose="020B0604020202020204" pitchFamily="34" charset="0"/>
              <a:buChar char="•"/>
            </a:pPr>
            <a:r>
              <a:rPr lang="en-IN" sz="2400" dirty="0"/>
              <a:t>the services procured by the supplier from the third party as a pure agent of the recipient of supply are in addition to the supply he provides on his own account.</a:t>
            </a:r>
          </a:p>
          <a:p>
            <a:endParaRPr lang="en-IN" dirty="0"/>
          </a:p>
          <a:p>
            <a:endParaRPr lang="en-IN" dirty="0"/>
          </a:p>
        </p:txBody>
      </p:sp>
    </p:spTree>
    <p:extLst>
      <p:ext uri="{BB962C8B-B14F-4D97-AF65-F5344CB8AC3E}">
        <p14:creationId xmlns:p14="http://schemas.microsoft.com/office/powerpoint/2010/main" val="1993395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298991" y="354564"/>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dirty="0" smtClean="0"/>
          </a:p>
          <a:p>
            <a:endParaRPr lang="en-IN" dirty="0"/>
          </a:p>
          <a:p>
            <a:endParaRPr lang="en-IN" dirty="0" smtClean="0"/>
          </a:p>
          <a:p>
            <a:endParaRPr lang="en-IN" dirty="0"/>
          </a:p>
          <a:p>
            <a:endParaRPr lang="en-IN" dirty="0" smtClean="0"/>
          </a:p>
          <a:p>
            <a:endParaRPr lang="en-IN" dirty="0"/>
          </a:p>
          <a:p>
            <a:endParaRPr lang="en-IN" dirty="0" smtClean="0"/>
          </a:p>
          <a:p>
            <a:endParaRPr lang="en-IN" dirty="0"/>
          </a:p>
          <a:p>
            <a:endParaRPr lang="en-IN" dirty="0" smtClean="0"/>
          </a:p>
          <a:p>
            <a:endParaRPr lang="en-IN" dirty="0"/>
          </a:p>
          <a:p>
            <a:endParaRPr lang="en-IN" dirty="0" smtClean="0"/>
          </a:p>
          <a:p>
            <a:endParaRPr lang="en-IN" sz="2200" dirty="0" smtClean="0">
              <a:solidFill>
                <a:schemeClr val="tx1"/>
              </a:solidFill>
            </a:endParaRPr>
          </a:p>
          <a:p>
            <a:r>
              <a:rPr lang="en-IN" sz="2200" dirty="0">
                <a:solidFill>
                  <a:srgbClr val="FF0000"/>
                </a:solidFill>
              </a:rPr>
              <a:t> </a:t>
            </a:r>
            <a:endParaRPr lang="en-IN" sz="2200" dirty="0">
              <a:solidFill>
                <a:schemeClr val="tx1"/>
              </a:solidFill>
            </a:endParaRPr>
          </a:p>
        </p:txBody>
      </p:sp>
      <p:sp>
        <p:nvSpPr>
          <p:cNvPr id="4" name="Rounded Rectangle 3"/>
          <p:cNvSpPr/>
          <p:nvPr/>
        </p:nvSpPr>
        <p:spPr>
          <a:xfrm>
            <a:off x="1567854" y="231200"/>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600" b="1" dirty="0"/>
              <a:t>Valuation Rule for Supply Under Goods and Services Tax</a:t>
            </a:r>
            <a:endParaRPr lang="en-IN" sz="2600" dirty="0"/>
          </a:p>
        </p:txBody>
      </p:sp>
      <p:sp>
        <p:nvSpPr>
          <p:cNvPr id="7" name="TextBox 6"/>
          <p:cNvSpPr txBox="1"/>
          <p:nvPr/>
        </p:nvSpPr>
        <p:spPr>
          <a:xfrm>
            <a:off x="655927" y="949657"/>
            <a:ext cx="9797143" cy="2492990"/>
          </a:xfrm>
          <a:prstGeom prst="rect">
            <a:avLst/>
          </a:prstGeom>
          <a:noFill/>
        </p:spPr>
        <p:txBody>
          <a:bodyPr wrap="square" rtlCol="0">
            <a:spAutoFit/>
          </a:bodyPr>
          <a:lstStyle/>
          <a:p>
            <a:r>
              <a:rPr lang="en-IN" sz="2400" dirty="0">
                <a:solidFill>
                  <a:srgbClr val="FF0000"/>
                </a:solidFill>
              </a:rPr>
              <a:t>8. Rate of exchange of currency, other than Indian rupees, for determination of value </a:t>
            </a:r>
          </a:p>
          <a:p>
            <a:r>
              <a:rPr lang="en-IN" sz="2400" dirty="0"/>
              <a:t>The rate of exchange for determination of value of taxable goods or services or both shall be the applicable reference rate for that currency as determined by the Reserve Bank of India on the date when point of taxation arises.</a:t>
            </a:r>
          </a:p>
          <a:p>
            <a:endParaRPr lang="en-IN" dirty="0"/>
          </a:p>
          <a:p>
            <a:endParaRPr lang="en-IN" dirty="0"/>
          </a:p>
        </p:txBody>
      </p:sp>
    </p:spTree>
    <p:extLst>
      <p:ext uri="{BB962C8B-B14F-4D97-AF65-F5344CB8AC3E}">
        <p14:creationId xmlns:p14="http://schemas.microsoft.com/office/powerpoint/2010/main" val="1845070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298991" y="354564"/>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dirty="0" smtClean="0"/>
          </a:p>
          <a:p>
            <a:endParaRPr lang="en-IN" dirty="0"/>
          </a:p>
          <a:p>
            <a:endParaRPr lang="en-IN" dirty="0" smtClean="0"/>
          </a:p>
          <a:p>
            <a:endParaRPr lang="en-IN" dirty="0"/>
          </a:p>
          <a:p>
            <a:endParaRPr lang="en-IN" dirty="0" smtClean="0"/>
          </a:p>
          <a:p>
            <a:endParaRPr lang="en-IN" dirty="0"/>
          </a:p>
          <a:p>
            <a:endParaRPr lang="en-IN" dirty="0" smtClean="0"/>
          </a:p>
          <a:p>
            <a:endParaRPr lang="en-IN" dirty="0"/>
          </a:p>
          <a:p>
            <a:endParaRPr lang="en-IN" dirty="0" smtClean="0"/>
          </a:p>
          <a:p>
            <a:endParaRPr lang="en-IN" dirty="0"/>
          </a:p>
          <a:p>
            <a:endParaRPr lang="en-IN" dirty="0" smtClean="0"/>
          </a:p>
          <a:p>
            <a:endParaRPr lang="en-IN" sz="2200" dirty="0" smtClean="0">
              <a:solidFill>
                <a:schemeClr val="tx1"/>
              </a:solidFill>
            </a:endParaRPr>
          </a:p>
          <a:p>
            <a:r>
              <a:rPr lang="en-IN" sz="2200" dirty="0">
                <a:solidFill>
                  <a:srgbClr val="FF0000"/>
                </a:solidFill>
              </a:rPr>
              <a:t> </a:t>
            </a:r>
            <a:endParaRPr lang="en-IN" sz="2200" dirty="0">
              <a:solidFill>
                <a:schemeClr val="tx1"/>
              </a:solidFill>
            </a:endParaRPr>
          </a:p>
        </p:txBody>
      </p:sp>
      <p:sp>
        <p:nvSpPr>
          <p:cNvPr id="4" name="Rounded Rectangle 3"/>
          <p:cNvSpPr/>
          <p:nvPr/>
        </p:nvSpPr>
        <p:spPr>
          <a:xfrm>
            <a:off x="1567854" y="231200"/>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800" b="1" dirty="0"/>
              <a:t>GST exemption</a:t>
            </a:r>
            <a:endParaRPr lang="en-IN" sz="2600" dirty="0"/>
          </a:p>
        </p:txBody>
      </p:sp>
      <p:sp>
        <p:nvSpPr>
          <p:cNvPr id="7" name="TextBox 6"/>
          <p:cNvSpPr txBox="1"/>
          <p:nvPr/>
        </p:nvSpPr>
        <p:spPr>
          <a:xfrm>
            <a:off x="655927" y="949657"/>
            <a:ext cx="9797143" cy="5078313"/>
          </a:xfrm>
          <a:prstGeom prst="rect">
            <a:avLst/>
          </a:prstGeom>
          <a:noFill/>
        </p:spPr>
        <p:txBody>
          <a:bodyPr wrap="square" rtlCol="0">
            <a:spAutoFit/>
          </a:bodyPr>
          <a:lstStyle/>
          <a:p>
            <a:pPr fontAlgn="base"/>
            <a:r>
              <a:rPr lang="en-IN" sz="2400" b="1" dirty="0"/>
              <a:t>What is a GST exemption?</a:t>
            </a:r>
          </a:p>
          <a:p>
            <a:pPr fontAlgn="base"/>
            <a:r>
              <a:rPr lang="en-IN" sz="2400" dirty="0"/>
              <a:t>Understanding the taxability of goods and services also includes knowing whether a good or service is exempted from GST registration. Upon knowing this, applicants can get clarity on several other factors. Essentially, the GST exemption limit for businesses depends on their annual aggregate turnover. </a:t>
            </a:r>
          </a:p>
          <a:p>
            <a:pPr fontAlgn="base"/>
            <a:r>
              <a:rPr lang="en-IN" sz="2400" dirty="0"/>
              <a:t>Previously, businesses with an annual turnover of up to Rs.20 lakhs did not need to register for GST. The amount was Rs.10 lakhs for North-eastern or hilly states like Meghalaya, Sikkim, Mizoram, Arunachal Pradesh, Nagaland, Himachal Pradesh, Manipur, Assam, Tripura, </a:t>
            </a:r>
            <a:r>
              <a:rPr lang="en-IN" sz="2400" dirty="0" err="1"/>
              <a:t>Uttarakhand</a:t>
            </a:r>
            <a:r>
              <a:rPr lang="en-IN" sz="2400" dirty="0"/>
              <a:t>, and Jammu &amp; Kashmir. </a:t>
            </a:r>
          </a:p>
          <a:p>
            <a:pPr fontAlgn="base"/>
            <a:r>
              <a:rPr lang="en-IN" sz="2400" dirty="0" smtClean="0"/>
              <a:t> </a:t>
            </a:r>
            <a:r>
              <a:rPr lang="en-IN" sz="2400" dirty="0"/>
              <a:t>A</a:t>
            </a:r>
            <a:r>
              <a:rPr lang="en-IN" sz="2400" dirty="0" smtClean="0"/>
              <a:t>s </a:t>
            </a:r>
            <a:r>
              <a:rPr lang="en-IN" sz="2400" dirty="0"/>
              <a:t>per the GST council meeting on 10th January 2019, the values doubled for Micro, Small, and Medium Enterprises (MSMEs) in both cases. </a:t>
            </a:r>
          </a:p>
          <a:p>
            <a:endParaRPr lang="en-IN" dirty="0"/>
          </a:p>
          <a:p>
            <a:endParaRPr lang="en-IN" dirty="0"/>
          </a:p>
        </p:txBody>
      </p:sp>
    </p:spTree>
    <p:extLst>
      <p:ext uri="{BB962C8B-B14F-4D97-AF65-F5344CB8AC3E}">
        <p14:creationId xmlns:p14="http://schemas.microsoft.com/office/powerpoint/2010/main" val="362773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298991" y="354564"/>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dirty="0" smtClean="0"/>
          </a:p>
          <a:p>
            <a:endParaRPr lang="en-IN" dirty="0"/>
          </a:p>
          <a:p>
            <a:endParaRPr lang="en-IN" dirty="0" smtClean="0"/>
          </a:p>
          <a:p>
            <a:endParaRPr lang="en-IN" dirty="0"/>
          </a:p>
          <a:p>
            <a:endParaRPr lang="en-IN" dirty="0" smtClean="0"/>
          </a:p>
          <a:p>
            <a:endParaRPr lang="en-IN" dirty="0"/>
          </a:p>
          <a:p>
            <a:endParaRPr lang="en-IN" dirty="0" smtClean="0"/>
          </a:p>
          <a:p>
            <a:endParaRPr lang="en-IN" dirty="0"/>
          </a:p>
          <a:p>
            <a:endParaRPr lang="en-IN" dirty="0" smtClean="0"/>
          </a:p>
          <a:p>
            <a:endParaRPr lang="en-IN" dirty="0"/>
          </a:p>
          <a:p>
            <a:endParaRPr lang="en-IN" dirty="0" smtClean="0"/>
          </a:p>
          <a:p>
            <a:endParaRPr lang="en-IN" sz="2200" dirty="0" smtClean="0">
              <a:solidFill>
                <a:schemeClr val="tx1"/>
              </a:solidFill>
            </a:endParaRPr>
          </a:p>
          <a:p>
            <a:r>
              <a:rPr lang="en-IN" sz="2200" dirty="0">
                <a:solidFill>
                  <a:srgbClr val="FF0000"/>
                </a:solidFill>
              </a:rPr>
              <a:t> </a:t>
            </a:r>
            <a:endParaRPr lang="en-IN" sz="2200" dirty="0">
              <a:solidFill>
                <a:schemeClr val="tx1"/>
              </a:solidFill>
            </a:endParaRPr>
          </a:p>
        </p:txBody>
      </p:sp>
      <p:sp>
        <p:nvSpPr>
          <p:cNvPr id="4" name="Rounded Rectangle 3"/>
          <p:cNvSpPr/>
          <p:nvPr/>
        </p:nvSpPr>
        <p:spPr>
          <a:xfrm>
            <a:off x="1567854" y="231200"/>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800" b="1" dirty="0"/>
              <a:t>GST exemption</a:t>
            </a:r>
            <a:endParaRPr lang="en-IN" sz="2600" dirty="0"/>
          </a:p>
        </p:txBody>
      </p:sp>
      <p:sp>
        <p:nvSpPr>
          <p:cNvPr id="7" name="TextBox 6"/>
          <p:cNvSpPr txBox="1"/>
          <p:nvPr/>
        </p:nvSpPr>
        <p:spPr>
          <a:xfrm>
            <a:off x="655927" y="949657"/>
            <a:ext cx="9797143" cy="1015663"/>
          </a:xfrm>
          <a:prstGeom prst="rect">
            <a:avLst/>
          </a:prstGeom>
          <a:noFill/>
        </p:spPr>
        <p:txBody>
          <a:bodyPr wrap="square" rtlCol="0">
            <a:spAutoFit/>
          </a:bodyPr>
          <a:lstStyle/>
          <a:p>
            <a:pPr fontAlgn="base"/>
            <a:r>
              <a:rPr lang="en-IN" sz="2400" b="1" dirty="0"/>
              <a:t>What is an exempt supply under GST?</a:t>
            </a:r>
          </a:p>
          <a:p>
            <a:endParaRPr lang="en-IN" dirty="0"/>
          </a:p>
          <a:p>
            <a:endParaRPr lang="en-IN" dirty="0"/>
          </a:p>
        </p:txBody>
      </p:sp>
      <p:graphicFrame>
        <p:nvGraphicFramePr>
          <p:cNvPr id="2" name="Table 1"/>
          <p:cNvGraphicFramePr>
            <a:graphicFrameLocks noGrp="1"/>
          </p:cNvGraphicFramePr>
          <p:nvPr>
            <p:extLst>
              <p:ext uri="{D42A27DB-BD31-4B8C-83A1-F6EECF244321}">
                <p14:modId xmlns:p14="http://schemas.microsoft.com/office/powerpoint/2010/main" val="1869989471"/>
              </p:ext>
            </p:extLst>
          </p:nvPr>
        </p:nvGraphicFramePr>
        <p:xfrm>
          <a:off x="1567854" y="1544750"/>
          <a:ext cx="8677158" cy="4437394"/>
        </p:xfrm>
        <a:graphic>
          <a:graphicData uri="http://schemas.openxmlformats.org/drawingml/2006/table">
            <a:tbl>
              <a:tblPr firstRow="1" firstCol="1" bandRow="1">
                <a:tableStyleId>{5C22544A-7EE6-4342-B048-85BDC9FD1C3A}</a:tableStyleId>
              </a:tblPr>
              <a:tblGrid>
                <a:gridCol w="1766824">
                  <a:extLst>
                    <a:ext uri="{9D8B030D-6E8A-4147-A177-3AD203B41FA5}">
                      <a16:colId xmlns:a16="http://schemas.microsoft.com/office/drawing/2014/main" val="3824317450"/>
                    </a:ext>
                  </a:extLst>
                </a:gridCol>
                <a:gridCol w="6910334">
                  <a:extLst>
                    <a:ext uri="{9D8B030D-6E8A-4147-A177-3AD203B41FA5}">
                      <a16:colId xmlns:a16="http://schemas.microsoft.com/office/drawing/2014/main" val="4198717123"/>
                    </a:ext>
                  </a:extLst>
                </a:gridCol>
              </a:tblGrid>
              <a:tr h="449942">
                <a:tc>
                  <a:txBody>
                    <a:bodyPr/>
                    <a:lstStyle/>
                    <a:p>
                      <a:pPr fontAlgn="base">
                        <a:spcAft>
                          <a:spcPts val="0"/>
                        </a:spcAft>
                      </a:pPr>
                      <a:r>
                        <a:rPr lang="en-IN" sz="2800" dirty="0">
                          <a:effectLst/>
                        </a:rPr>
                        <a:t>Supplies</a:t>
                      </a:r>
                      <a:endParaRPr lang="en-IN" sz="2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fontAlgn="base">
                        <a:spcAft>
                          <a:spcPts val="0"/>
                        </a:spcAft>
                      </a:pPr>
                      <a:r>
                        <a:rPr lang="en-IN" sz="2800">
                          <a:effectLst/>
                        </a:rPr>
                        <a:t>Meaning</a:t>
                      </a:r>
                      <a:endParaRPr lang="en-IN" sz="28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4071832964"/>
                  </a:ext>
                </a:extLst>
              </a:tr>
              <a:tr h="535027">
                <a:tc>
                  <a:txBody>
                    <a:bodyPr/>
                    <a:lstStyle/>
                    <a:p>
                      <a:pPr fontAlgn="base">
                        <a:spcBef>
                          <a:spcPts val="375"/>
                        </a:spcBef>
                        <a:spcAft>
                          <a:spcPts val="375"/>
                        </a:spcAft>
                      </a:pPr>
                      <a:r>
                        <a:rPr lang="en-IN" sz="2800" dirty="0">
                          <a:effectLst/>
                        </a:rPr>
                        <a:t>Nil-rated</a:t>
                      </a:r>
                      <a:endParaRPr lang="en-IN" sz="2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fontAlgn="base">
                        <a:spcBef>
                          <a:spcPts val="375"/>
                        </a:spcBef>
                        <a:spcAft>
                          <a:spcPts val="375"/>
                        </a:spcAft>
                      </a:pPr>
                      <a:r>
                        <a:rPr lang="en-IN" sz="2800">
                          <a:effectLst/>
                        </a:rPr>
                        <a:t>Supplies that have 0% tax rate. Example: Salt.</a:t>
                      </a:r>
                      <a:endParaRPr lang="en-IN" sz="28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1499806278"/>
                  </a:ext>
                </a:extLst>
              </a:tr>
              <a:tr h="937149">
                <a:tc>
                  <a:txBody>
                    <a:bodyPr/>
                    <a:lstStyle/>
                    <a:p>
                      <a:pPr fontAlgn="base">
                        <a:spcBef>
                          <a:spcPts val="375"/>
                        </a:spcBef>
                        <a:spcAft>
                          <a:spcPts val="375"/>
                        </a:spcAft>
                      </a:pPr>
                      <a:r>
                        <a:rPr lang="en-IN" sz="2800" dirty="0">
                          <a:effectLst/>
                        </a:rPr>
                        <a:t>Non-GST</a:t>
                      </a:r>
                      <a:endParaRPr lang="en-IN" sz="2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fontAlgn="base">
                        <a:spcBef>
                          <a:spcPts val="375"/>
                        </a:spcBef>
                        <a:spcAft>
                          <a:spcPts val="375"/>
                        </a:spcAft>
                      </a:pPr>
                      <a:r>
                        <a:rPr lang="en-IN" sz="2800" dirty="0">
                          <a:effectLst/>
                        </a:rPr>
                        <a:t>Ones that do not come under the purview of GST law include alcohol for human consumption.</a:t>
                      </a:r>
                      <a:endParaRPr lang="en-IN" sz="2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3470691332"/>
                  </a:ext>
                </a:extLst>
              </a:tr>
              <a:tr h="687244">
                <a:tc>
                  <a:txBody>
                    <a:bodyPr/>
                    <a:lstStyle/>
                    <a:p>
                      <a:pPr fontAlgn="base">
                        <a:spcBef>
                          <a:spcPts val="375"/>
                        </a:spcBef>
                        <a:spcAft>
                          <a:spcPts val="375"/>
                        </a:spcAft>
                      </a:pPr>
                      <a:r>
                        <a:rPr lang="en-IN" sz="2800" dirty="0">
                          <a:effectLst/>
                        </a:rPr>
                        <a:t>Zero-rated</a:t>
                      </a:r>
                      <a:endParaRPr lang="en-IN" sz="2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fontAlgn="base">
                        <a:spcBef>
                          <a:spcPts val="375"/>
                        </a:spcBef>
                        <a:spcAft>
                          <a:spcPts val="375"/>
                        </a:spcAft>
                      </a:pPr>
                      <a:r>
                        <a:rPr lang="en-IN" sz="2800" dirty="0">
                          <a:effectLst/>
                        </a:rPr>
                        <a:t>Export supplies to SEZ (Special Economic Zone) developers.</a:t>
                      </a:r>
                      <a:endParaRPr lang="en-IN" sz="2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224516516"/>
                  </a:ext>
                </a:extLst>
              </a:tr>
              <a:tr h="1318825">
                <a:tc>
                  <a:txBody>
                    <a:bodyPr/>
                    <a:lstStyle/>
                    <a:p>
                      <a:pPr fontAlgn="base">
                        <a:spcBef>
                          <a:spcPts val="375"/>
                        </a:spcBef>
                        <a:spcAft>
                          <a:spcPts val="375"/>
                        </a:spcAft>
                      </a:pPr>
                      <a:r>
                        <a:rPr lang="en-IN" sz="2800">
                          <a:effectLst/>
                        </a:rPr>
                        <a:t>Exempt</a:t>
                      </a:r>
                      <a:endParaRPr lang="en-IN" sz="28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fontAlgn="base">
                        <a:spcBef>
                          <a:spcPts val="375"/>
                        </a:spcBef>
                        <a:spcAft>
                          <a:spcPts val="375"/>
                        </a:spcAft>
                      </a:pPr>
                      <a:r>
                        <a:rPr lang="en-IN" sz="2800" dirty="0">
                          <a:effectLst/>
                        </a:rPr>
                        <a:t>Taxable supplies that do not attract GST. Curd, fruits are among some of the supplies.</a:t>
                      </a:r>
                      <a:endParaRPr lang="en-IN" sz="28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1419423013"/>
                  </a:ext>
                </a:extLst>
              </a:tr>
            </a:tbl>
          </a:graphicData>
        </a:graphic>
      </p:graphicFrame>
    </p:spTree>
    <p:extLst>
      <p:ext uri="{BB962C8B-B14F-4D97-AF65-F5344CB8AC3E}">
        <p14:creationId xmlns:p14="http://schemas.microsoft.com/office/powerpoint/2010/main" val="3167756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298991" y="354564"/>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dirty="0" smtClean="0"/>
          </a:p>
          <a:p>
            <a:endParaRPr lang="en-IN" dirty="0"/>
          </a:p>
          <a:p>
            <a:endParaRPr lang="en-IN" dirty="0" smtClean="0"/>
          </a:p>
          <a:p>
            <a:endParaRPr lang="en-IN" dirty="0"/>
          </a:p>
          <a:p>
            <a:endParaRPr lang="en-IN" dirty="0" smtClean="0"/>
          </a:p>
          <a:p>
            <a:endParaRPr lang="en-IN" dirty="0"/>
          </a:p>
          <a:p>
            <a:endParaRPr lang="en-IN" dirty="0" smtClean="0"/>
          </a:p>
          <a:p>
            <a:endParaRPr lang="en-IN" dirty="0"/>
          </a:p>
          <a:p>
            <a:endParaRPr lang="en-IN" dirty="0" smtClean="0"/>
          </a:p>
          <a:p>
            <a:endParaRPr lang="en-IN" dirty="0"/>
          </a:p>
          <a:p>
            <a:endParaRPr lang="en-IN" dirty="0" smtClean="0"/>
          </a:p>
          <a:p>
            <a:endParaRPr lang="en-IN" sz="2200" dirty="0" smtClean="0">
              <a:solidFill>
                <a:schemeClr val="tx1"/>
              </a:solidFill>
            </a:endParaRPr>
          </a:p>
          <a:p>
            <a:r>
              <a:rPr lang="en-IN" sz="2200" dirty="0">
                <a:solidFill>
                  <a:srgbClr val="FF0000"/>
                </a:solidFill>
              </a:rPr>
              <a:t> </a:t>
            </a:r>
            <a:endParaRPr lang="en-IN" sz="2200" dirty="0">
              <a:solidFill>
                <a:schemeClr val="tx1"/>
              </a:solidFill>
            </a:endParaRPr>
          </a:p>
        </p:txBody>
      </p:sp>
      <p:sp>
        <p:nvSpPr>
          <p:cNvPr id="4" name="Rounded Rectangle 3"/>
          <p:cNvSpPr/>
          <p:nvPr/>
        </p:nvSpPr>
        <p:spPr>
          <a:xfrm>
            <a:off x="1481403" y="157588"/>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IN" sz="2400" b="1" dirty="0"/>
              <a:t>Types of exemption in GST</a:t>
            </a:r>
          </a:p>
        </p:txBody>
      </p:sp>
      <p:sp>
        <p:nvSpPr>
          <p:cNvPr id="7" name="TextBox 6"/>
          <p:cNvSpPr txBox="1"/>
          <p:nvPr/>
        </p:nvSpPr>
        <p:spPr>
          <a:xfrm>
            <a:off x="569476" y="949657"/>
            <a:ext cx="9797143" cy="3600986"/>
          </a:xfrm>
          <a:prstGeom prst="rect">
            <a:avLst/>
          </a:prstGeom>
          <a:noFill/>
        </p:spPr>
        <p:txBody>
          <a:bodyPr wrap="square" rtlCol="0">
            <a:spAutoFit/>
          </a:bodyPr>
          <a:lstStyle/>
          <a:p>
            <a:pPr marL="285750" lvl="0" indent="-285750" fontAlgn="base">
              <a:buFont typeface="Arial" panose="020B0604020202020204" pitchFamily="34" charset="0"/>
              <a:buChar char="•"/>
            </a:pPr>
            <a:r>
              <a:rPr lang="en-IN" sz="2400" dirty="0"/>
              <a:t>Absolute: Exemptions without any conditions are an absolute exemption. For example, services by the RBI.</a:t>
            </a:r>
          </a:p>
          <a:p>
            <a:pPr marL="285750" lvl="0" indent="-285750" fontAlgn="base">
              <a:buFont typeface="Arial" panose="020B0604020202020204" pitchFamily="34" charset="0"/>
              <a:buChar char="•"/>
            </a:pPr>
            <a:r>
              <a:rPr lang="en-IN" sz="2400" dirty="0"/>
              <a:t>Conditional: Certain conditions are applicable to some exemptions. Services by hotels, clubs, etc., with a statement of accommodation unit less than Rs.1000 per day, fall under a conditional exemption.</a:t>
            </a:r>
          </a:p>
          <a:p>
            <a:pPr marL="285750" lvl="0" indent="-285750" fontAlgn="base">
              <a:buFont typeface="Arial" panose="020B0604020202020204" pitchFamily="34" charset="0"/>
              <a:buChar char="•"/>
            </a:pPr>
            <a:r>
              <a:rPr lang="en-IN" sz="2400" dirty="0"/>
              <a:t>Partial: Unregistered persons supplying goods within states (intrastate) to a registered individual can enjoy tax exemption under reverse charge only if the aggregate value of a supply does not exceed Rs.5000 per day.</a:t>
            </a:r>
          </a:p>
          <a:p>
            <a:endParaRPr lang="en-IN" dirty="0"/>
          </a:p>
          <a:p>
            <a:endParaRPr lang="en-IN" dirty="0"/>
          </a:p>
        </p:txBody>
      </p:sp>
    </p:spTree>
    <p:extLst>
      <p:ext uri="{BB962C8B-B14F-4D97-AF65-F5344CB8AC3E}">
        <p14:creationId xmlns:p14="http://schemas.microsoft.com/office/powerpoint/2010/main" val="2205310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298991" y="354564"/>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dirty="0" smtClean="0"/>
          </a:p>
          <a:p>
            <a:endParaRPr lang="en-IN" dirty="0"/>
          </a:p>
          <a:p>
            <a:endParaRPr lang="en-IN" dirty="0" smtClean="0"/>
          </a:p>
          <a:p>
            <a:endParaRPr lang="en-IN" dirty="0"/>
          </a:p>
          <a:p>
            <a:endParaRPr lang="en-IN" dirty="0" smtClean="0"/>
          </a:p>
          <a:p>
            <a:endParaRPr lang="en-IN" dirty="0"/>
          </a:p>
          <a:p>
            <a:endParaRPr lang="en-IN" dirty="0" smtClean="0"/>
          </a:p>
          <a:p>
            <a:endParaRPr lang="en-IN" dirty="0"/>
          </a:p>
          <a:p>
            <a:endParaRPr lang="en-IN" dirty="0" smtClean="0"/>
          </a:p>
          <a:p>
            <a:endParaRPr lang="en-IN" dirty="0"/>
          </a:p>
          <a:p>
            <a:endParaRPr lang="en-IN" dirty="0" smtClean="0"/>
          </a:p>
          <a:p>
            <a:endParaRPr lang="en-IN" sz="2200" dirty="0" smtClean="0">
              <a:solidFill>
                <a:schemeClr val="tx1"/>
              </a:solidFill>
            </a:endParaRPr>
          </a:p>
          <a:p>
            <a:r>
              <a:rPr lang="en-IN" sz="2200" dirty="0">
                <a:solidFill>
                  <a:srgbClr val="FF0000"/>
                </a:solidFill>
              </a:rPr>
              <a:t> </a:t>
            </a:r>
            <a:endParaRPr lang="en-IN" sz="2200" dirty="0">
              <a:solidFill>
                <a:schemeClr val="tx1"/>
              </a:solidFill>
            </a:endParaRPr>
          </a:p>
        </p:txBody>
      </p:sp>
      <p:sp>
        <p:nvSpPr>
          <p:cNvPr id="4" name="Rounded Rectangle 3"/>
          <p:cNvSpPr/>
          <p:nvPr/>
        </p:nvSpPr>
        <p:spPr>
          <a:xfrm>
            <a:off x="1453411" y="157588"/>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IN" sz="2400" b="1" dirty="0"/>
              <a:t>GST exemption from registration</a:t>
            </a:r>
          </a:p>
        </p:txBody>
      </p:sp>
      <p:sp>
        <p:nvSpPr>
          <p:cNvPr id="7" name="TextBox 6"/>
          <p:cNvSpPr txBox="1"/>
          <p:nvPr/>
        </p:nvSpPr>
        <p:spPr>
          <a:xfrm>
            <a:off x="690774" y="1229576"/>
            <a:ext cx="9797143" cy="3231654"/>
          </a:xfrm>
          <a:prstGeom prst="rect">
            <a:avLst/>
          </a:prstGeom>
          <a:noFill/>
        </p:spPr>
        <p:txBody>
          <a:bodyPr wrap="square" rtlCol="0">
            <a:spAutoFit/>
          </a:bodyPr>
          <a:lstStyle/>
          <a:p>
            <a:pPr fontAlgn="base"/>
            <a:r>
              <a:rPr lang="en-IN" sz="2400" dirty="0"/>
              <a:t>The following category of taxpayers need not register for GST:</a:t>
            </a:r>
          </a:p>
          <a:p>
            <a:pPr marL="285750" lvl="0" indent="-285750" fontAlgn="base">
              <a:buFont typeface="Arial" panose="020B0604020202020204" pitchFamily="34" charset="0"/>
              <a:buChar char="•"/>
            </a:pPr>
            <a:r>
              <a:rPr lang="en-IN" sz="2400" dirty="0"/>
              <a:t>Individuals belonging to the threshold exemption limit.</a:t>
            </a:r>
          </a:p>
          <a:p>
            <a:pPr marL="285750" lvl="0" indent="-285750" fontAlgn="base">
              <a:buFont typeface="Arial" panose="020B0604020202020204" pitchFamily="34" charset="0"/>
              <a:buChar char="•"/>
            </a:pPr>
            <a:r>
              <a:rPr lang="en-IN" sz="2400" dirty="0"/>
              <a:t>Exempt suppliers of goods and services.</a:t>
            </a:r>
          </a:p>
          <a:p>
            <a:pPr marL="285750" lvl="0" indent="-285750" fontAlgn="base">
              <a:buFont typeface="Arial" panose="020B0604020202020204" pitchFamily="34" charset="0"/>
              <a:buChar char="•"/>
            </a:pPr>
            <a:r>
              <a:rPr lang="en-IN" sz="2400" dirty="0"/>
              <a:t>A person supplying non-GST goods and services.</a:t>
            </a:r>
          </a:p>
          <a:p>
            <a:pPr marL="285750" lvl="0" indent="-285750" fontAlgn="base">
              <a:buFont typeface="Arial" panose="020B0604020202020204" pitchFamily="34" charset="0"/>
              <a:buChar char="•"/>
            </a:pPr>
            <a:r>
              <a:rPr lang="en-IN" sz="2400" dirty="0"/>
              <a:t>Taxpayers engaging in activities other than the supply of goods or services.</a:t>
            </a:r>
          </a:p>
          <a:p>
            <a:pPr marL="285750" lvl="0" indent="-285750" fontAlgn="base">
              <a:buFont typeface="Arial" panose="020B0604020202020204" pitchFamily="34" charset="0"/>
              <a:buChar char="•"/>
            </a:pPr>
            <a:r>
              <a:rPr lang="en-IN" sz="2400" dirty="0"/>
              <a:t>Agriculturists.</a:t>
            </a:r>
          </a:p>
          <a:p>
            <a:pPr marL="285750" lvl="0" indent="-285750" fontAlgn="base">
              <a:buFont typeface="Arial" panose="020B0604020202020204" pitchFamily="34" charset="0"/>
              <a:buChar char="•"/>
            </a:pPr>
            <a:r>
              <a:rPr lang="en-IN" sz="2400" dirty="0"/>
              <a:t>Ones supplying goods covered under reverse charge.</a:t>
            </a:r>
          </a:p>
          <a:p>
            <a:endParaRPr lang="en-IN" dirty="0"/>
          </a:p>
          <a:p>
            <a:endParaRPr lang="en-IN" dirty="0"/>
          </a:p>
        </p:txBody>
      </p:sp>
    </p:spTree>
    <p:extLst>
      <p:ext uri="{BB962C8B-B14F-4D97-AF65-F5344CB8AC3E}">
        <p14:creationId xmlns:p14="http://schemas.microsoft.com/office/powerpoint/2010/main" val="2790132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298991" y="354564"/>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dirty="0" smtClean="0"/>
          </a:p>
          <a:p>
            <a:endParaRPr lang="en-IN" dirty="0"/>
          </a:p>
          <a:p>
            <a:endParaRPr lang="en-IN" dirty="0" smtClean="0"/>
          </a:p>
          <a:p>
            <a:endParaRPr lang="en-IN" dirty="0"/>
          </a:p>
          <a:p>
            <a:endParaRPr lang="en-IN" dirty="0" smtClean="0"/>
          </a:p>
          <a:p>
            <a:endParaRPr lang="en-IN" dirty="0"/>
          </a:p>
          <a:p>
            <a:endParaRPr lang="en-IN" dirty="0" smtClean="0"/>
          </a:p>
          <a:p>
            <a:endParaRPr lang="en-IN" dirty="0"/>
          </a:p>
          <a:p>
            <a:endParaRPr lang="en-IN" dirty="0" smtClean="0"/>
          </a:p>
          <a:p>
            <a:endParaRPr lang="en-IN" dirty="0"/>
          </a:p>
          <a:p>
            <a:endParaRPr lang="en-IN" dirty="0" smtClean="0"/>
          </a:p>
          <a:p>
            <a:endParaRPr lang="en-IN" sz="2200" dirty="0" smtClean="0">
              <a:solidFill>
                <a:schemeClr val="tx1"/>
              </a:solidFill>
            </a:endParaRPr>
          </a:p>
          <a:p>
            <a:r>
              <a:rPr lang="en-IN" sz="2200" dirty="0">
                <a:solidFill>
                  <a:srgbClr val="FF0000"/>
                </a:solidFill>
              </a:rPr>
              <a:t> </a:t>
            </a:r>
            <a:endParaRPr lang="en-IN" sz="2200" dirty="0">
              <a:solidFill>
                <a:schemeClr val="tx1"/>
              </a:solidFill>
            </a:endParaRPr>
          </a:p>
        </p:txBody>
      </p:sp>
      <p:sp>
        <p:nvSpPr>
          <p:cNvPr id="4" name="Rounded Rectangle 3"/>
          <p:cNvSpPr/>
          <p:nvPr/>
        </p:nvSpPr>
        <p:spPr>
          <a:xfrm>
            <a:off x="1453411" y="157588"/>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IN" sz="3400" b="1" dirty="0"/>
              <a:t>Exempted goods under GST</a:t>
            </a:r>
          </a:p>
        </p:txBody>
      </p:sp>
      <p:sp>
        <p:nvSpPr>
          <p:cNvPr id="7" name="TextBox 6"/>
          <p:cNvSpPr txBox="1"/>
          <p:nvPr/>
        </p:nvSpPr>
        <p:spPr>
          <a:xfrm>
            <a:off x="690774" y="1229576"/>
            <a:ext cx="9797143" cy="4801314"/>
          </a:xfrm>
          <a:prstGeom prst="rect">
            <a:avLst/>
          </a:prstGeom>
          <a:noFill/>
        </p:spPr>
        <p:txBody>
          <a:bodyPr wrap="square" rtlCol="0">
            <a:spAutoFit/>
          </a:bodyPr>
          <a:lstStyle/>
          <a:p>
            <a:pPr fontAlgn="base"/>
            <a:r>
              <a:rPr lang="en-IN" sz="2400" dirty="0"/>
              <a:t>In the following section, you will find a list of the GST exempted goods in India:</a:t>
            </a:r>
          </a:p>
          <a:p>
            <a:pPr marL="342900" lvl="0" indent="-342900" fontAlgn="base">
              <a:buFont typeface="Arial" panose="020B0604020202020204" pitchFamily="34" charset="0"/>
              <a:buChar char="•"/>
            </a:pPr>
            <a:r>
              <a:rPr lang="en-IN" sz="2400" dirty="0"/>
              <a:t>Fresh and dry vegetables like potatoes, onions, and other leguminous vegetables.</a:t>
            </a:r>
          </a:p>
          <a:p>
            <a:pPr marL="342900" lvl="0" indent="-342900" fontAlgn="base">
              <a:buFont typeface="Arial" panose="020B0604020202020204" pitchFamily="34" charset="0"/>
              <a:buChar char="•"/>
            </a:pPr>
            <a:r>
              <a:rPr lang="en-IN" sz="2400" dirty="0"/>
              <a:t>Non-GST goods include fish, egg, fresh milk, etc.</a:t>
            </a:r>
          </a:p>
          <a:p>
            <a:pPr marL="342900" lvl="0" indent="-342900" fontAlgn="base">
              <a:buFont typeface="Arial" panose="020B0604020202020204" pitchFamily="34" charset="0"/>
              <a:buChar char="•"/>
            </a:pPr>
            <a:r>
              <a:rPr lang="en-IN" sz="2400" dirty="0"/>
              <a:t>Grapes, melons, ginger, garlic, unroasted coffee beans, green tea leaves that are not processed, and more.</a:t>
            </a:r>
          </a:p>
          <a:p>
            <a:pPr marL="342900" lvl="0" indent="-342900" fontAlgn="base">
              <a:buFont typeface="Arial" panose="020B0604020202020204" pitchFamily="34" charset="0"/>
              <a:buChar char="•"/>
            </a:pPr>
            <a:r>
              <a:rPr lang="en-IN" sz="2400" dirty="0"/>
              <a:t>Food items that are not put into branded containers like rice, hulled cereal grains, wheat, corn, etc.</a:t>
            </a:r>
          </a:p>
          <a:p>
            <a:pPr marL="342900" lvl="0" indent="-342900" fontAlgn="base">
              <a:buFont typeface="Arial" panose="020B0604020202020204" pitchFamily="34" charset="0"/>
              <a:buChar char="•"/>
            </a:pPr>
            <a:r>
              <a:rPr lang="en-IN" sz="2400" dirty="0"/>
              <a:t>Components like human blood.</a:t>
            </a:r>
          </a:p>
          <a:p>
            <a:pPr marL="342900" lvl="0" indent="-342900" fontAlgn="base">
              <a:buFont typeface="Arial" panose="020B0604020202020204" pitchFamily="34" charset="0"/>
              <a:buChar char="•"/>
            </a:pPr>
            <a:r>
              <a:rPr lang="en-IN" sz="2400" dirty="0"/>
              <a:t>Unspun jute fibres, raw silk, </a:t>
            </a:r>
            <a:r>
              <a:rPr lang="en-IN" sz="2400" dirty="0" err="1"/>
              <a:t>khadi</a:t>
            </a:r>
            <a:r>
              <a:rPr lang="en-IN" sz="2400" dirty="0"/>
              <a:t> fibre, etc.</a:t>
            </a:r>
          </a:p>
          <a:p>
            <a:pPr marL="342900" lvl="0" indent="-342900" fontAlgn="base">
              <a:buFont typeface="Arial" panose="020B0604020202020204" pitchFamily="34" charset="0"/>
              <a:buChar char="•"/>
            </a:pPr>
            <a:r>
              <a:rPr lang="en-IN" sz="2400" dirty="0"/>
              <a:t>Hearing aid manufacturing parts, chalks, slates, handloom, etc.</a:t>
            </a:r>
          </a:p>
          <a:p>
            <a:endParaRPr lang="en-IN" dirty="0"/>
          </a:p>
        </p:txBody>
      </p:sp>
    </p:spTree>
    <p:extLst>
      <p:ext uri="{BB962C8B-B14F-4D97-AF65-F5344CB8AC3E}">
        <p14:creationId xmlns:p14="http://schemas.microsoft.com/office/powerpoint/2010/main" val="194324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298991" y="354564"/>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dirty="0" smtClean="0"/>
          </a:p>
          <a:p>
            <a:endParaRPr lang="en-IN" dirty="0"/>
          </a:p>
          <a:p>
            <a:endParaRPr lang="en-IN" dirty="0" smtClean="0"/>
          </a:p>
          <a:p>
            <a:endParaRPr lang="en-IN" dirty="0"/>
          </a:p>
          <a:p>
            <a:endParaRPr lang="en-IN" dirty="0" smtClean="0"/>
          </a:p>
          <a:p>
            <a:endParaRPr lang="en-IN" dirty="0"/>
          </a:p>
          <a:p>
            <a:endParaRPr lang="en-IN" dirty="0" smtClean="0"/>
          </a:p>
          <a:p>
            <a:endParaRPr lang="en-IN" dirty="0"/>
          </a:p>
          <a:p>
            <a:endParaRPr lang="en-IN" dirty="0" smtClean="0"/>
          </a:p>
          <a:p>
            <a:endParaRPr lang="en-IN" dirty="0"/>
          </a:p>
          <a:p>
            <a:endParaRPr lang="en-IN" dirty="0" smtClean="0"/>
          </a:p>
          <a:p>
            <a:endParaRPr lang="en-IN" sz="2200" dirty="0" smtClean="0">
              <a:solidFill>
                <a:schemeClr val="tx1"/>
              </a:solidFill>
            </a:endParaRPr>
          </a:p>
          <a:p>
            <a:r>
              <a:rPr lang="en-IN" sz="2200" dirty="0">
                <a:solidFill>
                  <a:srgbClr val="FF0000"/>
                </a:solidFill>
              </a:rPr>
              <a:t> </a:t>
            </a:r>
            <a:endParaRPr lang="en-IN" sz="2200" dirty="0">
              <a:solidFill>
                <a:schemeClr val="tx1"/>
              </a:solidFill>
            </a:endParaRPr>
          </a:p>
        </p:txBody>
      </p:sp>
      <p:sp>
        <p:nvSpPr>
          <p:cNvPr id="4" name="Rounded Rectangle 3"/>
          <p:cNvSpPr/>
          <p:nvPr/>
        </p:nvSpPr>
        <p:spPr>
          <a:xfrm>
            <a:off x="1453411" y="157588"/>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IN" sz="3400" b="1" dirty="0"/>
              <a:t>Exempted services under GST</a:t>
            </a:r>
          </a:p>
        </p:txBody>
      </p:sp>
      <p:sp>
        <p:nvSpPr>
          <p:cNvPr id="7" name="TextBox 6"/>
          <p:cNvSpPr txBox="1"/>
          <p:nvPr/>
        </p:nvSpPr>
        <p:spPr>
          <a:xfrm>
            <a:off x="672113" y="995177"/>
            <a:ext cx="9797143" cy="5293757"/>
          </a:xfrm>
          <a:prstGeom prst="rect">
            <a:avLst/>
          </a:prstGeom>
          <a:noFill/>
        </p:spPr>
        <p:txBody>
          <a:bodyPr wrap="square" rtlCol="0">
            <a:spAutoFit/>
          </a:bodyPr>
          <a:lstStyle/>
          <a:p>
            <a:pPr fontAlgn="base"/>
            <a:r>
              <a:rPr lang="en-IN" sz="2000" dirty="0"/>
              <a:t>A number of services qualify for GST exemption. Here is a GST exemption list of services for your reference:</a:t>
            </a:r>
          </a:p>
          <a:p>
            <a:pPr lvl="0" fontAlgn="base"/>
            <a:r>
              <a:rPr lang="en-IN" sz="2000" dirty="0"/>
              <a:t>Agricultural services, including harvesting, packaging, warehouse, cultivation, supply, leasing of machinery, are essentially GST exempt services. An exception to these exempted services includes the rearing of horses.</a:t>
            </a:r>
          </a:p>
          <a:p>
            <a:pPr lvl="0" fontAlgn="base"/>
            <a:r>
              <a:rPr lang="en-IN" sz="2000" dirty="0"/>
              <a:t>Public transportation services, auto-rickshaws, metered cabs, metro, etc.</a:t>
            </a:r>
          </a:p>
          <a:p>
            <a:pPr lvl="0" fontAlgn="base"/>
            <a:r>
              <a:rPr lang="en-IN" sz="2000" dirty="0"/>
              <a:t>Transportation of agricultural products and goods outside of India.</a:t>
            </a:r>
          </a:p>
          <a:p>
            <a:pPr lvl="0" fontAlgn="base"/>
            <a:r>
              <a:rPr lang="en-IN" sz="2000" dirty="0"/>
              <a:t>Labour supply for farms.</a:t>
            </a:r>
          </a:p>
          <a:p>
            <a:pPr lvl="0" fontAlgn="base"/>
            <a:r>
              <a:rPr lang="en-IN" sz="2000" dirty="0"/>
              <a:t>Goods transportation where the charges are less than Rs.1500.</a:t>
            </a:r>
          </a:p>
          <a:p>
            <a:pPr lvl="0" fontAlgn="base"/>
            <a:r>
              <a:rPr lang="en-IN" sz="2000" dirty="0"/>
              <a:t>Services like retail packing, pre-conditioning, waxing, etc.</a:t>
            </a:r>
          </a:p>
          <a:p>
            <a:pPr lvl="0" fontAlgn="base"/>
            <a:r>
              <a:rPr lang="en-IN" sz="2000" dirty="0"/>
              <a:t>Foreign diplomatic and government services.</a:t>
            </a:r>
          </a:p>
          <a:p>
            <a:pPr lvl="0" fontAlgn="base"/>
            <a:r>
              <a:rPr lang="en-IN" sz="2000" dirty="0"/>
              <a:t>Healthcare and educational services like mid-day meal catering, VET clinics, paramedics, etc. Ambulance and charity services also qualify for exemption under GST.</a:t>
            </a:r>
          </a:p>
          <a:p>
            <a:pPr lvl="0" fontAlgn="base"/>
            <a:r>
              <a:rPr lang="en-IN" sz="2000" dirty="0"/>
              <a:t>Services offered by RBI, IRDAI, Central and State Government, NPS and more.</a:t>
            </a:r>
          </a:p>
          <a:p>
            <a:pPr lvl="0" fontAlgn="base"/>
            <a:r>
              <a:rPr lang="en-IN" sz="2000" dirty="0"/>
              <a:t>Banking services like Basic Saving Bank Deposit (BSBD) account operable under the Pradhan Mantri Jan-</a:t>
            </a:r>
            <a:r>
              <a:rPr lang="en-IN" sz="2000" dirty="0" err="1"/>
              <a:t>Dhan</a:t>
            </a:r>
            <a:r>
              <a:rPr lang="en-IN" sz="2000" dirty="0"/>
              <a:t> </a:t>
            </a:r>
            <a:r>
              <a:rPr lang="en-IN" sz="2000" dirty="0" err="1"/>
              <a:t>Yojana</a:t>
            </a:r>
            <a:r>
              <a:rPr lang="en-IN" sz="2000" dirty="0"/>
              <a:t> (PMJDY).</a:t>
            </a:r>
          </a:p>
          <a:p>
            <a:endParaRPr lang="en-IN" dirty="0"/>
          </a:p>
        </p:txBody>
      </p:sp>
    </p:spTree>
    <p:extLst>
      <p:ext uri="{BB962C8B-B14F-4D97-AF65-F5344CB8AC3E}">
        <p14:creationId xmlns:p14="http://schemas.microsoft.com/office/powerpoint/2010/main" val="364549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298991" y="354564"/>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dirty="0" smtClean="0"/>
          </a:p>
          <a:p>
            <a:endParaRPr lang="en-IN" dirty="0"/>
          </a:p>
          <a:p>
            <a:endParaRPr lang="en-IN" dirty="0" smtClean="0"/>
          </a:p>
          <a:p>
            <a:endParaRPr lang="en-IN" dirty="0"/>
          </a:p>
          <a:p>
            <a:endParaRPr lang="en-IN" dirty="0" smtClean="0"/>
          </a:p>
          <a:p>
            <a:endParaRPr lang="en-IN" dirty="0"/>
          </a:p>
          <a:p>
            <a:endParaRPr lang="en-IN" dirty="0" smtClean="0"/>
          </a:p>
          <a:p>
            <a:endParaRPr lang="en-IN" dirty="0"/>
          </a:p>
          <a:p>
            <a:endParaRPr lang="en-IN" dirty="0" smtClean="0"/>
          </a:p>
          <a:p>
            <a:endParaRPr lang="en-IN" dirty="0"/>
          </a:p>
          <a:p>
            <a:endParaRPr lang="en-IN" dirty="0" smtClean="0"/>
          </a:p>
          <a:p>
            <a:endParaRPr lang="en-IN" sz="2200" dirty="0" smtClean="0">
              <a:solidFill>
                <a:schemeClr val="tx1"/>
              </a:solidFill>
            </a:endParaRPr>
          </a:p>
          <a:p>
            <a:r>
              <a:rPr lang="en-IN" sz="2200" dirty="0">
                <a:solidFill>
                  <a:srgbClr val="FF0000"/>
                </a:solidFill>
              </a:rPr>
              <a:t> </a:t>
            </a:r>
            <a:endParaRPr lang="en-IN" sz="2200" dirty="0">
              <a:solidFill>
                <a:schemeClr val="tx1"/>
              </a:solidFill>
            </a:endParaRPr>
          </a:p>
        </p:txBody>
      </p:sp>
      <p:sp>
        <p:nvSpPr>
          <p:cNvPr id="4" name="Rounded Rectangle 3"/>
          <p:cNvSpPr/>
          <p:nvPr/>
        </p:nvSpPr>
        <p:spPr>
          <a:xfrm>
            <a:off x="1453411" y="157588"/>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IN" sz="3400" b="1" dirty="0"/>
              <a:t>Reasons for exemption under GST</a:t>
            </a:r>
            <a:endParaRPr lang="en-IN" sz="3400" dirty="0"/>
          </a:p>
        </p:txBody>
      </p:sp>
      <p:sp>
        <p:nvSpPr>
          <p:cNvPr id="7" name="TextBox 6"/>
          <p:cNvSpPr txBox="1"/>
          <p:nvPr/>
        </p:nvSpPr>
        <p:spPr>
          <a:xfrm>
            <a:off x="672113" y="995177"/>
            <a:ext cx="9797143" cy="5170646"/>
          </a:xfrm>
          <a:prstGeom prst="rect">
            <a:avLst/>
          </a:prstGeom>
          <a:noFill/>
        </p:spPr>
        <p:txBody>
          <a:bodyPr wrap="square" rtlCol="0">
            <a:spAutoFit/>
          </a:bodyPr>
          <a:lstStyle/>
          <a:p>
            <a:pPr fontAlgn="base"/>
            <a:r>
              <a:rPr lang="en-IN" sz="2400" dirty="0"/>
              <a:t>The government decides on exempting goods from registering under GST in the following cases:</a:t>
            </a:r>
          </a:p>
          <a:p>
            <a:pPr marL="342900" lvl="0" indent="-342900" fontAlgn="base">
              <a:buFont typeface="Arial" panose="020B0604020202020204" pitchFamily="34" charset="0"/>
              <a:buChar char="•"/>
            </a:pPr>
            <a:r>
              <a:rPr lang="en-IN" sz="2400" dirty="0"/>
              <a:t>In case the GST council recommends the exemption.</a:t>
            </a:r>
          </a:p>
          <a:p>
            <a:pPr marL="342900" lvl="0" indent="-342900" fontAlgn="base">
              <a:buFont typeface="Arial" panose="020B0604020202020204" pitchFamily="34" charset="0"/>
              <a:buChar char="•"/>
            </a:pPr>
            <a:r>
              <a:rPr lang="en-IN" sz="2400" dirty="0"/>
              <a:t>The government might find certain exemptions from GST registration to be beneficial for the public.</a:t>
            </a:r>
          </a:p>
          <a:p>
            <a:pPr marL="342900" lvl="0" indent="-342900" fontAlgn="base">
              <a:buFont typeface="Arial" panose="020B0604020202020204" pitchFamily="34" charset="0"/>
              <a:buChar char="•"/>
            </a:pPr>
            <a:r>
              <a:rPr lang="en-IN" sz="2400" dirty="0"/>
              <a:t>Under exceptional or unforeseen situations, the government might grant exemption by special order.</a:t>
            </a:r>
          </a:p>
          <a:p>
            <a:pPr marL="342900" lvl="0" indent="-342900" fontAlgn="base">
              <a:buFont typeface="Arial" panose="020B0604020202020204" pitchFamily="34" charset="0"/>
              <a:buChar char="•"/>
            </a:pPr>
            <a:r>
              <a:rPr lang="en-IN" sz="2400" dirty="0"/>
              <a:t>Upon providing official notification, one can supply specific goods under a full exemption.</a:t>
            </a:r>
          </a:p>
          <a:p>
            <a:pPr marL="342900" indent="-342900" fontAlgn="base">
              <a:buFont typeface="Arial" panose="020B0604020202020204" pitchFamily="34" charset="0"/>
              <a:buChar char="•"/>
            </a:pPr>
            <a:r>
              <a:rPr lang="en-IN" sz="2400" dirty="0"/>
              <a:t>Therefore, from the points mentioned above, it is evident that several sectors can qualify for a GST exemption provided they fulfil some prerequisites. Knowing those </a:t>
            </a:r>
            <a:r>
              <a:rPr lang="en-IN" sz="2400" dirty="0" err="1"/>
              <a:t>criterias</a:t>
            </a:r>
            <a:r>
              <a:rPr lang="en-IN" sz="2400" dirty="0"/>
              <a:t> in detail will help a taxpayer to register under GST without any hassle.</a:t>
            </a:r>
          </a:p>
          <a:p>
            <a:endParaRPr lang="en-IN" dirty="0"/>
          </a:p>
        </p:txBody>
      </p:sp>
    </p:spTree>
    <p:extLst>
      <p:ext uri="{BB962C8B-B14F-4D97-AF65-F5344CB8AC3E}">
        <p14:creationId xmlns:p14="http://schemas.microsoft.com/office/powerpoint/2010/main" val="3777110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298991" y="354564"/>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dirty="0" smtClean="0"/>
          </a:p>
          <a:p>
            <a:endParaRPr lang="en-IN" dirty="0"/>
          </a:p>
          <a:p>
            <a:endParaRPr lang="en-IN" dirty="0" smtClean="0"/>
          </a:p>
          <a:p>
            <a:endParaRPr lang="en-IN" dirty="0"/>
          </a:p>
          <a:p>
            <a:endParaRPr lang="en-IN" dirty="0" smtClean="0"/>
          </a:p>
          <a:p>
            <a:endParaRPr lang="en-IN" dirty="0"/>
          </a:p>
          <a:p>
            <a:endParaRPr lang="en-IN" dirty="0" smtClean="0"/>
          </a:p>
          <a:p>
            <a:endParaRPr lang="en-IN" dirty="0"/>
          </a:p>
          <a:p>
            <a:endParaRPr lang="en-IN" dirty="0" smtClean="0"/>
          </a:p>
          <a:p>
            <a:endParaRPr lang="en-IN" dirty="0"/>
          </a:p>
          <a:p>
            <a:endParaRPr lang="en-IN" dirty="0" smtClean="0"/>
          </a:p>
          <a:p>
            <a:endParaRPr lang="en-IN" sz="2200" dirty="0" smtClean="0">
              <a:solidFill>
                <a:schemeClr val="tx1"/>
              </a:solidFill>
            </a:endParaRPr>
          </a:p>
          <a:p>
            <a:r>
              <a:rPr lang="en-IN" sz="2200" dirty="0">
                <a:solidFill>
                  <a:srgbClr val="FF0000"/>
                </a:solidFill>
              </a:rPr>
              <a:t> </a:t>
            </a:r>
            <a:endParaRPr lang="en-IN" sz="2200" dirty="0">
              <a:solidFill>
                <a:schemeClr val="tx1"/>
              </a:solidFill>
            </a:endParaRPr>
          </a:p>
        </p:txBody>
      </p:sp>
      <p:sp>
        <p:nvSpPr>
          <p:cNvPr id="4" name="Rounded Rectangle 3"/>
          <p:cNvSpPr/>
          <p:nvPr/>
        </p:nvSpPr>
        <p:spPr>
          <a:xfrm>
            <a:off x="1453411" y="157588"/>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IN" sz="2800" b="1" dirty="0"/>
              <a:t>GST exemption for start-ups and small businesses</a:t>
            </a:r>
          </a:p>
        </p:txBody>
      </p:sp>
      <p:sp>
        <p:nvSpPr>
          <p:cNvPr id="7" name="TextBox 6"/>
          <p:cNvSpPr txBox="1"/>
          <p:nvPr/>
        </p:nvSpPr>
        <p:spPr>
          <a:xfrm>
            <a:off x="672113" y="995177"/>
            <a:ext cx="9797143" cy="5539978"/>
          </a:xfrm>
          <a:prstGeom prst="rect">
            <a:avLst/>
          </a:prstGeom>
          <a:noFill/>
        </p:spPr>
        <p:txBody>
          <a:bodyPr wrap="square" rtlCol="0">
            <a:spAutoFit/>
          </a:bodyPr>
          <a:lstStyle/>
          <a:p>
            <a:pPr fontAlgn="base"/>
            <a:r>
              <a:rPr lang="en-IN" sz="2400" dirty="0"/>
              <a:t>Individuals aspiring to start a business can benefit greatly from the latest regulations of the GST scheme. Here are a few pointers to keep in mind regarding GST exemption for start-ups.</a:t>
            </a:r>
          </a:p>
          <a:p>
            <a:pPr marL="285750" lvl="0" indent="-285750" fontAlgn="base">
              <a:buFont typeface="Arial" panose="020B0604020202020204" pitchFamily="34" charset="0"/>
              <a:buChar char="•"/>
            </a:pPr>
            <a:r>
              <a:rPr lang="en-IN" sz="2400" dirty="0"/>
              <a:t>Any business with a turnover of less than Rs.40 lakhs is recognised as a GST-exempt business.</a:t>
            </a:r>
          </a:p>
          <a:p>
            <a:pPr marL="285750" lvl="0" indent="-285750" fontAlgn="base">
              <a:buFont typeface="Arial" panose="020B0604020202020204" pitchFamily="34" charset="0"/>
              <a:buChar char="•"/>
            </a:pPr>
            <a:r>
              <a:rPr lang="en-IN" sz="2400" dirty="0"/>
              <a:t>Businesses that have a lower annual aggregate turnover than Rs.1.5 crores can avail of a composition scheme under GST. The scheme allows individuals to pay taxes at a fixed rate depending on the turnover amount. The rate may vary between 1-6%.</a:t>
            </a:r>
          </a:p>
          <a:p>
            <a:pPr marL="285750" lvl="0" indent="-285750" fontAlgn="base">
              <a:buFont typeface="Arial" panose="020B0604020202020204" pitchFamily="34" charset="0"/>
              <a:buChar char="•"/>
            </a:pPr>
            <a:r>
              <a:rPr lang="en-IN" sz="2400" dirty="0"/>
              <a:t>Also, small businesses are exempted from e-invoicing under GST. However, businesses with a turnover of more than Rs.50 crores have to apply for e-invoicing mandatorily.</a:t>
            </a:r>
          </a:p>
          <a:p>
            <a:pPr marL="285750" lvl="0" indent="-285750" fontAlgn="base">
              <a:buFont typeface="Arial" panose="020B0604020202020204" pitchFamily="34" charset="0"/>
              <a:buChar char="•"/>
            </a:pPr>
            <a:r>
              <a:rPr lang="en-IN" sz="2400" dirty="0"/>
              <a:t>Small businesses with an income below Rs.5 crores can opt for a quarterly filing system.</a:t>
            </a:r>
          </a:p>
          <a:p>
            <a:endParaRPr lang="en-IN" dirty="0"/>
          </a:p>
        </p:txBody>
      </p:sp>
    </p:spTree>
    <p:extLst>
      <p:ext uri="{BB962C8B-B14F-4D97-AF65-F5344CB8AC3E}">
        <p14:creationId xmlns:p14="http://schemas.microsoft.com/office/powerpoint/2010/main" val="1700650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298991" y="354564"/>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dirty="0" smtClean="0"/>
          </a:p>
          <a:p>
            <a:endParaRPr lang="en-IN" dirty="0"/>
          </a:p>
          <a:p>
            <a:endParaRPr lang="en-IN" dirty="0" smtClean="0"/>
          </a:p>
          <a:p>
            <a:endParaRPr lang="en-IN" dirty="0"/>
          </a:p>
          <a:p>
            <a:endParaRPr lang="en-IN" dirty="0" smtClean="0"/>
          </a:p>
          <a:p>
            <a:endParaRPr lang="en-IN" dirty="0"/>
          </a:p>
          <a:p>
            <a:endParaRPr lang="en-IN" dirty="0" smtClean="0"/>
          </a:p>
          <a:p>
            <a:endParaRPr lang="en-IN" dirty="0"/>
          </a:p>
          <a:p>
            <a:endParaRPr lang="en-IN" dirty="0" smtClean="0"/>
          </a:p>
          <a:p>
            <a:endParaRPr lang="en-IN" dirty="0"/>
          </a:p>
          <a:p>
            <a:endParaRPr lang="en-IN" dirty="0" smtClean="0"/>
          </a:p>
          <a:p>
            <a:endParaRPr lang="en-IN" sz="2200" dirty="0" smtClean="0">
              <a:solidFill>
                <a:schemeClr val="tx1"/>
              </a:solidFill>
            </a:endParaRPr>
          </a:p>
          <a:p>
            <a:r>
              <a:rPr lang="en-IN" sz="2200" dirty="0">
                <a:solidFill>
                  <a:srgbClr val="FF0000"/>
                </a:solidFill>
              </a:rPr>
              <a:t> </a:t>
            </a:r>
            <a:endParaRPr lang="en-IN" sz="2200" dirty="0">
              <a:solidFill>
                <a:schemeClr val="tx1"/>
              </a:solidFill>
            </a:endParaRPr>
          </a:p>
        </p:txBody>
      </p:sp>
      <p:sp>
        <p:nvSpPr>
          <p:cNvPr id="4" name="Rounded Rectangle 3"/>
          <p:cNvSpPr/>
          <p:nvPr/>
        </p:nvSpPr>
        <p:spPr>
          <a:xfrm>
            <a:off x="1453411" y="157588"/>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IN" sz="3400" dirty="0"/>
              <a:t>GST Composition Scheme</a:t>
            </a:r>
            <a:endParaRPr lang="en-IN" sz="3400" b="1" dirty="0"/>
          </a:p>
        </p:txBody>
      </p:sp>
      <p:sp>
        <p:nvSpPr>
          <p:cNvPr id="7" name="TextBox 6"/>
          <p:cNvSpPr txBox="1"/>
          <p:nvPr/>
        </p:nvSpPr>
        <p:spPr>
          <a:xfrm>
            <a:off x="672113" y="995177"/>
            <a:ext cx="9797143" cy="4062651"/>
          </a:xfrm>
          <a:prstGeom prst="rect">
            <a:avLst/>
          </a:prstGeom>
          <a:noFill/>
        </p:spPr>
        <p:txBody>
          <a:bodyPr wrap="square" rtlCol="0">
            <a:spAutoFit/>
          </a:bodyPr>
          <a:lstStyle/>
          <a:p>
            <a:r>
              <a:rPr lang="en-IN" sz="2400" dirty="0"/>
              <a:t>Composition Scheme is a simple and easy scheme under GST for taxpayers. Small taxpayers can get rid of tedious GST formalities and pay GST at a fixed rate of turnover. This scheme can be opted by any taxpayer whose turnover is less than Rs. 1.5 crore*.</a:t>
            </a:r>
          </a:p>
          <a:p>
            <a:r>
              <a:rPr lang="en-IN" sz="2400" dirty="0"/>
              <a:t>Who cannot opt for Composition Scheme</a:t>
            </a:r>
          </a:p>
          <a:p>
            <a:r>
              <a:rPr lang="en-IN" sz="2400" dirty="0"/>
              <a:t>The following people cannot opt for the scheme-</a:t>
            </a:r>
          </a:p>
          <a:p>
            <a:pPr lvl="0"/>
            <a:r>
              <a:rPr lang="en-IN" sz="2400" dirty="0"/>
              <a:t>Manufacturer of ice cream, pan masala, or tobacco</a:t>
            </a:r>
          </a:p>
          <a:p>
            <a:pPr lvl="0"/>
            <a:r>
              <a:rPr lang="en-IN" sz="2400" dirty="0"/>
              <a:t>A person making inter-state supplies</a:t>
            </a:r>
          </a:p>
          <a:p>
            <a:pPr lvl="0"/>
            <a:r>
              <a:rPr lang="en-IN" sz="2400" dirty="0"/>
              <a:t>A casual taxable person or a non-resident taxable person</a:t>
            </a:r>
          </a:p>
          <a:p>
            <a:pPr lvl="0"/>
            <a:r>
              <a:rPr lang="en-IN" sz="2400" dirty="0"/>
              <a:t>Businesses which supply goods through an e-commerce operator</a:t>
            </a:r>
          </a:p>
          <a:p>
            <a:endParaRPr lang="en-IN" dirty="0"/>
          </a:p>
        </p:txBody>
      </p:sp>
    </p:spTree>
    <p:extLst>
      <p:ext uri="{BB962C8B-B14F-4D97-AF65-F5344CB8AC3E}">
        <p14:creationId xmlns:p14="http://schemas.microsoft.com/office/powerpoint/2010/main" val="2304915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298991" y="354564"/>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dirty="0" smtClean="0"/>
          </a:p>
          <a:p>
            <a:endParaRPr lang="en-IN" dirty="0"/>
          </a:p>
          <a:p>
            <a:endParaRPr lang="en-IN" dirty="0" smtClean="0"/>
          </a:p>
          <a:p>
            <a:endParaRPr lang="en-IN" dirty="0"/>
          </a:p>
          <a:p>
            <a:endParaRPr lang="en-IN" dirty="0" smtClean="0"/>
          </a:p>
          <a:p>
            <a:endParaRPr lang="en-IN" dirty="0"/>
          </a:p>
          <a:p>
            <a:endParaRPr lang="en-IN" dirty="0" smtClean="0"/>
          </a:p>
          <a:p>
            <a:endParaRPr lang="en-IN" dirty="0"/>
          </a:p>
          <a:p>
            <a:endParaRPr lang="en-IN" dirty="0" smtClean="0"/>
          </a:p>
          <a:p>
            <a:endParaRPr lang="en-IN" dirty="0"/>
          </a:p>
          <a:p>
            <a:endParaRPr lang="en-IN" dirty="0" smtClean="0"/>
          </a:p>
          <a:p>
            <a:endParaRPr lang="en-IN" sz="2200" dirty="0" smtClean="0">
              <a:solidFill>
                <a:schemeClr val="tx1"/>
              </a:solidFill>
            </a:endParaRPr>
          </a:p>
          <a:p>
            <a:r>
              <a:rPr lang="en-IN" sz="2200" dirty="0">
                <a:solidFill>
                  <a:srgbClr val="FF0000"/>
                </a:solidFill>
              </a:rPr>
              <a:t> </a:t>
            </a:r>
            <a:endParaRPr lang="en-IN" sz="2200" dirty="0">
              <a:solidFill>
                <a:schemeClr val="tx1"/>
              </a:solidFill>
            </a:endParaRPr>
          </a:p>
        </p:txBody>
      </p:sp>
      <p:sp>
        <p:nvSpPr>
          <p:cNvPr id="4" name="Rounded Rectangle 3"/>
          <p:cNvSpPr/>
          <p:nvPr/>
        </p:nvSpPr>
        <p:spPr>
          <a:xfrm>
            <a:off x="1453411" y="157588"/>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IN" sz="3400" dirty="0"/>
              <a:t>GST Composition Scheme</a:t>
            </a:r>
            <a:endParaRPr lang="en-IN" sz="3400" b="1" dirty="0"/>
          </a:p>
        </p:txBody>
      </p:sp>
      <p:sp>
        <p:nvSpPr>
          <p:cNvPr id="7" name="TextBox 6"/>
          <p:cNvSpPr txBox="1"/>
          <p:nvPr/>
        </p:nvSpPr>
        <p:spPr>
          <a:xfrm>
            <a:off x="672113" y="995177"/>
            <a:ext cx="9797143" cy="5816977"/>
          </a:xfrm>
          <a:prstGeom prst="rect">
            <a:avLst/>
          </a:prstGeom>
          <a:noFill/>
        </p:spPr>
        <p:txBody>
          <a:bodyPr wrap="square" rtlCol="0">
            <a:spAutoFit/>
          </a:bodyPr>
          <a:lstStyle/>
          <a:p>
            <a:r>
              <a:rPr lang="en-IN" sz="2100" dirty="0"/>
              <a:t>What are the conditions for availing Composition Scheme?</a:t>
            </a:r>
          </a:p>
          <a:p>
            <a:pPr marL="285750" indent="-285750">
              <a:buFont typeface="Arial" panose="020B0604020202020204" pitchFamily="34" charset="0"/>
              <a:buChar char="•"/>
            </a:pPr>
            <a:r>
              <a:rPr lang="en-IN" sz="2100" dirty="0"/>
              <a:t>The following </a:t>
            </a:r>
            <a:r>
              <a:rPr lang="en-IN" sz="2100" dirty="0">
                <a:solidFill>
                  <a:srgbClr val="FF0000"/>
                </a:solidFill>
              </a:rPr>
              <a:t>conditions</a:t>
            </a:r>
            <a:r>
              <a:rPr lang="en-IN" sz="2100" dirty="0"/>
              <a:t> must be satisfied in order to opt for composition scheme:</a:t>
            </a:r>
          </a:p>
          <a:p>
            <a:pPr marL="285750" lvl="0" indent="-285750">
              <a:buFont typeface="Arial" panose="020B0604020202020204" pitchFamily="34" charset="0"/>
              <a:buChar char="•"/>
            </a:pPr>
            <a:r>
              <a:rPr lang="en-IN" sz="2100" dirty="0"/>
              <a:t>No Input Tax Credit can be claimed by a dealer opting for composition scheme</a:t>
            </a:r>
          </a:p>
          <a:p>
            <a:pPr marL="285750" lvl="0" indent="-285750">
              <a:buFont typeface="Arial" panose="020B0604020202020204" pitchFamily="34" charset="0"/>
              <a:buChar char="•"/>
            </a:pPr>
            <a:r>
              <a:rPr lang="en-IN" sz="2100" dirty="0"/>
              <a:t>The dealer cannot supply goods not taxable under GST such as alcohol.</a:t>
            </a:r>
          </a:p>
          <a:p>
            <a:pPr marL="285750" lvl="0" indent="-285750">
              <a:buFont typeface="Arial" panose="020B0604020202020204" pitchFamily="34" charset="0"/>
              <a:buChar char="•"/>
            </a:pPr>
            <a:r>
              <a:rPr lang="en-IN" sz="2100" dirty="0"/>
              <a:t>The taxpayer has to pay tax at normal rates for transactions under the Reverse Charge Mechanism</a:t>
            </a:r>
          </a:p>
          <a:p>
            <a:pPr marL="285750" lvl="0" indent="-285750">
              <a:buFont typeface="Arial" panose="020B0604020202020204" pitchFamily="34" charset="0"/>
              <a:buChar char="•"/>
            </a:pPr>
            <a:r>
              <a:rPr lang="en-IN" sz="2100" dirty="0"/>
              <a:t>If a taxable person has different segments of businesses (such as textile, electronic accessories, groceries, etc.) under the same PAN, they must register all such businesses under the scheme collectively or opt out of the scheme</a:t>
            </a:r>
            <a:r>
              <a:rPr lang="en-IN" sz="2100" dirty="0" smtClean="0"/>
              <a:t>.</a:t>
            </a:r>
          </a:p>
          <a:p>
            <a:pPr marL="285750" lvl="0" indent="-285750">
              <a:buFont typeface="Arial" panose="020B0604020202020204" pitchFamily="34" charset="0"/>
              <a:buChar char="•"/>
            </a:pPr>
            <a:r>
              <a:rPr lang="en-IN" sz="2100" dirty="0"/>
              <a:t>The taxpayer has to mention the words ‘composition taxable person’ on every notice or signboard displayed prominently at their place of business.</a:t>
            </a:r>
          </a:p>
          <a:p>
            <a:pPr marL="285750" lvl="0" indent="-285750">
              <a:buFont typeface="Arial" panose="020B0604020202020204" pitchFamily="34" charset="0"/>
              <a:buChar char="•"/>
            </a:pPr>
            <a:r>
              <a:rPr lang="en-IN" sz="2100" dirty="0"/>
              <a:t>The taxpayer has to mention the words ‘composition taxable person’ on every bill of supply issued by him.</a:t>
            </a:r>
          </a:p>
          <a:p>
            <a:pPr marL="285750" lvl="0" indent="-285750">
              <a:buFont typeface="Arial" panose="020B0604020202020204" pitchFamily="34" charset="0"/>
              <a:buChar char="•"/>
            </a:pPr>
            <a:r>
              <a:rPr lang="en-IN" sz="2100" dirty="0"/>
              <a:t>As per the CGST (Amendment) Act, 2018, a manufacturer or trader can now also supply services to an extent of ten percent of turnover, or Rs.5 lakhs, whichever is higher. This amendment will be applicable from the 1st of Feb, 2019.</a:t>
            </a:r>
          </a:p>
          <a:p>
            <a:pPr lvl="0"/>
            <a:endParaRPr lang="en-IN" dirty="0"/>
          </a:p>
          <a:p>
            <a:endParaRPr lang="en-IN" dirty="0"/>
          </a:p>
        </p:txBody>
      </p:sp>
    </p:spTree>
    <p:extLst>
      <p:ext uri="{BB962C8B-B14F-4D97-AF65-F5344CB8AC3E}">
        <p14:creationId xmlns:p14="http://schemas.microsoft.com/office/powerpoint/2010/main" val="3017478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298991" y="354564"/>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dirty="0" smtClean="0"/>
          </a:p>
          <a:p>
            <a:endParaRPr lang="en-IN" dirty="0"/>
          </a:p>
          <a:p>
            <a:endParaRPr lang="en-IN" dirty="0" smtClean="0"/>
          </a:p>
          <a:p>
            <a:endParaRPr lang="en-IN" dirty="0"/>
          </a:p>
          <a:p>
            <a:endParaRPr lang="en-IN" dirty="0" smtClean="0"/>
          </a:p>
          <a:p>
            <a:endParaRPr lang="en-IN" dirty="0"/>
          </a:p>
          <a:p>
            <a:endParaRPr lang="en-IN" dirty="0" smtClean="0"/>
          </a:p>
          <a:p>
            <a:endParaRPr lang="en-IN" dirty="0"/>
          </a:p>
          <a:p>
            <a:endParaRPr lang="en-IN" dirty="0" smtClean="0"/>
          </a:p>
          <a:p>
            <a:endParaRPr lang="en-IN" dirty="0"/>
          </a:p>
          <a:p>
            <a:endParaRPr lang="en-IN" dirty="0" smtClean="0"/>
          </a:p>
          <a:p>
            <a:endParaRPr lang="en-IN" sz="2200" dirty="0" smtClean="0">
              <a:solidFill>
                <a:schemeClr val="tx1"/>
              </a:solidFill>
            </a:endParaRPr>
          </a:p>
          <a:p>
            <a:r>
              <a:rPr lang="en-IN" sz="2200" dirty="0">
                <a:solidFill>
                  <a:srgbClr val="FF0000"/>
                </a:solidFill>
              </a:rPr>
              <a:t> </a:t>
            </a:r>
            <a:endParaRPr lang="en-IN" sz="2200" dirty="0">
              <a:solidFill>
                <a:schemeClr val="tx1"/>
              </a:solidFill>
            </a:endParaRPr>
          </a:p>
        </p:txBody>
      </p:sp>
      <p:sp>
        <p:nvSpPr>
          <p:cNvPr id="4" name="Rounded Rectangle 3"/>
          <p:cNvSpPr/>
          <p:nvPr/>
        </p:nvSpPr>
        <p:spPr>
          <a:xfrm>
            <a:off x="1453411" y="157588"/>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IN" sz="3400" dirty="0"/>
              <a:t>GST Composition Scheme</a:t>
            </a:r>
            <a:endParaRPr lang="en-IN" sz="3400" b="1" dirty="0"/>
          </a:p>
        </p:txBody>
      </p:sp>
      <p:sp>
        <p:nvSpPr>
          <p:cNvPr id="7" name="TextBox 6"/>
          <p:cNvSpPr txBox="1"/>
          <p:nvPr/>
        </p:nvSpPr>
        <p:spPr>
          <a:xfrm>
            <a:off x="672113" y="995177"/>
            <a:ext cx="9797143" cy="646331"/>
          </a:xfrm>
          <a:prstGeom prst="rect">
            <a:avLst/>
          </a:prstGeom>
          <a:noFill/>
        </p:spPr>
        <p:txBody>
          <a:bodyPr wrap="square" rtlCol="0">
            <a:spAutoFit/>
          </a:bodyPr>
          <a:lstStyle/>
          <a:p>
            <a:pPr lvl="0"/>
            <a:endParaRPr lang="en-IN" dirty="0"/>
          </a:p>
          <a:p>
            <a:endParaRPr lang="en-IN" dirty="0"/>
          </a:p>
        </p:txBody>
      </p:sp>
      <p:pic>
        <p:nvPicPr>
          <p:cNvPr id="6" name="Picture 5" descr="https://2.bp.blogspot.com/-hTfLI3sSLgY/W6Cg82eMo2I/AAAAAAAAE6g/2RBsEUCuo6MC_7gUEHrY2X9iIP4QXJqwACLcBGAs/s1600/Composition%2BLevy%2BScheme%2Bin%2BGST.png"/>
          <p:cNvPicPr/>
          <p:nvPr/>
        </p:nvPicPr>
        <p:blipFill>
          <a:blip r:embed="rId3">
            <a:extLst>
              <a:ext uri="{28A0092B-C50C-407E-A947-70E740481C1C}">
                <a14:useLocalDpi xmlns:a14="http://schemas.microsoft.com/office/drawing/2010/main" val="0"/>
              </a:ext>
            </a:extLst>
          </a:blip>
          <a:srcRect/>
          <a:stretch>
            <a:fillRect/>
          </a:stretch>
        </p:blipFill>
        <p:spPr bwMode="auto">
          <a:xfrm>
            <a:off x="951723" y="1147665"/>
            <a:ext cx="9321282" cy="4711959"/>
          </a:xfrm>
          <a:prstGeom prst="rect">
            <a:avLst/>
          </a:prstGeom>
          <a:noFill/>
          <a:ln>
            <a:noFill/>
          </a:ln>
        </p:spPr>
      </p:pic>
    </p:spTree>
    <p:extLst>
      <p:ext uri="{BB962C8B-B14F-4D97-AF65-F5344CB8AC3E}">
        <p14:creationId xmlns:p14="http://schemas.microsoft.com/office/powerpoint/2010/main" val="831514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298991" y="354564"/>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n-IN" sz="2400" dirty="0">
                <a:solidFill>
                  <a:schemeClr val="tx1"/>
                </a:solidFill>
              </a:rPr>
              <a:t>What are the advantages of Composition Scheme?</a:t>
            </a:r>
          </a:p>
          <a:p>
            <a:r>
              <a:rPr lang="en-IN" sz="2400" dirty="0">
                <a:solidFill>
                  <a:schemeClr val="tx1"/>
                </a:solidFill>
              </a:rPr>
              <a:t>The following are the </a:t>
            </a:r>
            <a:r>
              <a:rPr lang="en-IN" sz="2400" dirty="0">
                <a:solidFill>
                  <a:srgbClr val="FF0000"/>
                </a:solidFill>
              </a:rPr>
              <a:t>advantages</a:t>
            </a:r>
            <a:r>
              <a:rPr lang="en-IN" sz="2400" dirty="0">
                <a:solidFill>
                  <a:schemeClr val="tx1"/>
                </a:solidFill>
              </a:rPr>
              <a:t> of registering under composition scheme:</a:t>
            </a:r>
          </a:p>
          <a:p>
            <a:pPr lvl="0"/>
            <a:r>
              <a:rPr lang="en-IN" sz="2400" dirty="0">
                <a:solidFill>
                  <a:schemeClr val="tx1"/>
                </a:solidFill>
              </a:rPr>
              <a:t>Lesser compliance (returns, maintaining books of record, issuance of invoices)</a:t>
            </a:r>
          </a:p>
          <a:p>
            <a:pPr lvl="0"/>
            <a:r>
              <a:rPr lang="en-IN" sz="2400" dirty="0">
                <a:solidFill>
                  <a:schemeClr val="tx1"/>
                </a:solidFill>
              </a:rPr>
              <a:t>Limited tax liability</a:t>
            </a:r>
          </a:p>
          <a:p>
            <a:pPr lvl="0"/>
            <a:r>
              <a:rPr lang="en-IN" sz="2400" dirty="0">
                <a:solidFill>
                  <a:schemeClr val="tx1"/>
                </a:solidFill>
              </a:rPr>
              <a:t>High liquidity as taxes are at a lower rate</a:t>
            </a:r>
          </a:p>
          <a:p>
            <a:r>
              <a:rPr lang="en-IN" sz="2400" dirty="0">
                <a:solidFill>
                  <a:schemeClr val="tx1"/>
                </a:solidFill>
              </a:rPr>
              <a:t>What are the disadvantages of Composition Scheme?</a:t>
            </a:r>
          </a:p>
          <a:p>
            <a:r>
              <a:rPr lang="en-IN" sz="2400" dirty="0">
                <a:solidFill>
                  <a:srgbClr val="FF0000"/>
                </a:solidFill>
              </a:rPr>
              <a:t> </a:t>
            </a:r>
            <a:r>
              <a:rPr lang="en-IN" sz="2400" dirty="0" smtClean="0">
                <a:solidFill>
                  <a:srgbClr val="FF0000"/>
                </a:solidFill>
              </a:rPr>
              <a:t>Disadvantages</a:t>
            </a:r>
            <a:r>
              <a:rPr lang="en-IN" sz="2400" dirty="0">
                <a:solidFill>
                  <a:srgbClr val="FF0000"/>
                </a:solidFill>
              </a:rPr>
              <a:t> </a:t>
            </a:r>
            <a:r>
              <a:rPr lang="en-IN" sz="2400" dirty="0" smtClean="0">
                <a:solidFill>
                  <a:schemeClr val="tx1"/>
                </a:solidFill>
              </a:rPr>
              <a:t>of </a:t>
            </a:r>
            <a:r>
              <a:rPr lang="en-IN" sz="2400" dirty="0">
                <a:solidFill>
                  <a:schemeClr val="tx1"/>
                </a:solidFill>
              </a:rPr>
              <a:t>registering under GST composition scheme:</a:t>
            </a:r>
          </a:p>
          <a:p>
            <a:pPr lvl="0"/>
            <a:r>
              <a:rPr lang="en-IN" sz="2400" dirty="0">
                <a:solidFill>
                  <a:schemeClr val="tx1"/>
                </a:solidFill>
              </a:rPr>
              <a:t>A limited territory of business. The dealer is barred from carrying out inter-state transactions</a:t>
            </a:r>
          </a:p>
          <a:p>
            <a:pPr lvl="0"/>
            <a:r>
              <a:rPr lang="en-IN" sz="2400" dirty="0">
                <a:solidFill>
                  <a:schemeClr val="tx1"/>
                </a:solidFill>
              </a:rPr>
              <a:t>No Input Tax Credit available to composition dealers</a:t>
            </a:r>
          </a:p>
          <a:p>
            <a:pPr lvl="0"/>
            <a:r>
              <a:rPr lang="en-IN" sz="2400" dirty="0">
                <a:solidFill>
                  <a:schemeClr val="tx1"/>
                </a:solidFill>
              </a:rPr>
              <a:t>The taxpayer will not be eligible to supply non-taxable goods under GST such as alcohol and goods through an e-commerce portal.</a:t>
            </a:r>
          </a:p>
          <a:p>
            <a:r>
              <a:rPr lang="en-IN" dirty="0"/>
              <a:t> </a:t>
            </a:r>
          </a:p>
        </p:txBody>
      </p:sp>
      <p:sp>
        <p:nvSpPr>
          <p:cNvPr id="4" name="Rounded Rectangle 3"/>
          <p:cNvSpPr/>
          <p:nvPr/>
        </p:nvSpPr>
        <p:spPr>
          <a:xfrm>
            <a:off x="1453411" y="157588"/>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IN" sz="3400" dirty="0"/>
              <a:t>GST Composition Scheme</a:t>
            </a:r>
            <a:endParaRPr lang="en-IN" sz="3400" b="1" dirty="0"/>
          </a:p>
        </p:txBody>
      </p:sp>
    </p:spTree>
    <p:extLst>
      <p:ext uri="{BB962C8B-B14F-4D97-AF65-F5344CB8AC3E}">
        <p14:creationId xmlns:p14="http://schemas.microsoft.com/office/powerpoint/2010/main" val="2311678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CAF94F30A80A547A0A9DF8D665C8EAD" ma:contentTypeVersion="0" ma:contentTypeDescription="Create a new document." ma:contentTypeScope="" ma:versionID="f5358fe23d2c29799d73875960a891d0">
  <xsd:schema xmlns:xsd="http://www.w3.org/2001/XMLSchema" xmlns:xs="http://www.w3.org/2001/XMLSchema" xmlns:p="http://schemas.microsoft.com/office/2006/metadata/properties" targetNamespace="http://schemas.microsoft.com/office/2006/metadata/properties" ma:root="true" ma:fieldsID="31d5eec3c12ee2e8127422d567928f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ECE9DD6-C3B4-43F2-82FD-7DEE64C93DBE}"/>
</file>

<file path=customXml/itemProps2.xml><?xml version="1.0" encoding="utf-8"?>
<ds:datastoreItem xmlns:ds="http://schemas.openxmlformats.org/officeDocument/2006/customXml" ds:itemID="{2F8FFD51-96DA-4DCF-9FDC-46FA4DE67A24}"/>
</file>

<file path=customXml/itemProps3.xml><?xml version="1.0" encoding="utf-8"?>
<ds:datastoreItem xmlns:ds="http://schemas.openxmlformats.org/officeDocument/2006/customXml" ds:itemID="{BA3BC37F-9333-4F30-823C-EB48DC769F20}"/>
</file>

<file path=docProps/app.xml><?xml version="1.0" encoding="utf-8"?>
<Properties xmlns="http://schemas.openxmlformats.org/officeDocument/2006/extended-properties" xmlns:vt="http://schemas.openxmlformats.org/officeDocument/2006/docPropsVTypes">
  <TotalTime>3582</TotalTime>
  <Words>6720</Words>
  <Application>Microsoft Office PowerPoint</Application>
  <PresentationFormat>Widescreen</PresentationFormat>
  <Paragraphs>1755</Paragraphs>
  <Slides>103</Slides>
  <Notes>27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103</vt:i4>
      </vt:variant>
    </vt:vector>
  </HeadingPairs>
  <TitlesOfParts>
    <vt:vector size="112" baseType="lpstr">
      <vt:lpstr>arial</vt:lpstr>
      <vt:lpstr>arial</vt:lpstr>
      <vt:lpstr>Calibri</vt:lpstr>
      <vt:lpstr>Calibri Light</vt:lpstr>
      <vt:lpstr>Microsoft Sans Serif</vt:lpstr>
      <vt:lpstr>Times New Roman</vt:lpstr>
      <vt:lpstr>Verdana</vt:lpstr>
      <vt:lpstr>Wingdings</vt:lpstr>
      <vt:lpstr>Office Theme</vt:lpstr>
      <vt:lpstr>PowerPoint Presentation</vt:lpstr>
      <vt:lpstr>Pre-gst Tax structure in India</vt:lpstr>
      <vt:lpstr>Subsuming of Existing Taxes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Journey to GST</vt:lpstr>
      <vt:lpstr>GST Law from a Constitutional Perspective </vt:lpstr>
      <vt:lpstr>GST Law from a Constitutional Perspective</vt:lpstr>
      <vt:lpstr>Why GST ?</vt:lpstr>
      <vt:lpstr>IMPORTANCE OF GST </vt:lpstr>
      <vt:lpstr>WHY GST BETTER THAN EARLIER LAWS ?</vt:lpstr>
      <vt:lpstr>Purpose of GST as per constitution</vt:lpstr>
      <vt:lpstr>Unique Concepts/Features:-</vt:lpstr>
      <vt:lpstr>WHY GST IS MUST ?</vt:lpstr>
      <vt:lpstr>Existing Indirect Tax Structure in India</vt:lpstr>
      <vt:lpstr>PowerPoint Presentation</vt:lpstr>
      <vt:lpstr>Outside GST !</vt:lpstr>
      <vt:lpstr>GST Council – Constitution (Article 279A of the Constitution)</vt:lpstr>
      <vt:lpstr>PowerPoint Presentation</vt:lpstr>
      <vt:lpstr>PowerPoint Presentation</vt:lpstr>
      <vt:lpstr>PowerPoint Presentation</vt:lpstr>
      <vt:lpstr>PowerPoint Presentation</vt:lpstr>
      <vt:lpstr>Dual Concurrent GST Model</vt:lpstr>
      <vt:lpstr>Components of GST</vt:lpstr>
      <vt:lpstr>Levy of CGST, SGST, UTGST &amp; IGST</vt:lpstr>
      <vt:lpstr>PowerPoint Presentation</vt:lpstr>
      <vt:lpstr>PowerPoint Presentation</vt:lpstr>
      <vt:lpstr>PowerPoint Presentation</vt:lpstr>
      <vt:lpstr>PowerPoint Presentation</vt:lpstr>
      <vt:lpstr>Benefits of GST (1/2)</vt:lpstr>
      <vt:lpstr>Benefits of GST (2/2)</vt:lpstr>
      <vt:lpstr>PowerPoint Presentation</vt:lpstr>
      <vt:lpstr>PowerPoint Presentation</vt:lpstr>
      <vt:lpstr>GST - Impact on Cost and ITC</vt:lpstr>
      <vt:lpstr>GST - Impact on Cost and ITC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Threshold Limits - Goods</vt:lpstr>
      <vt:lpstr>Threshold Limits - Services</vt:lpstr>
      <vt:lpstr>Illustration on Tax Credit</vt:lpstr>
      <vt:lpstr>PowerPoint Presentation</vt:lpstr>
      <vt:lpstr>PowerPoint Presentation</vt:lpstr>
      <vt:lpstr>PowerPoint Presentation</vt:lpstr>
      <vt:lpstr>PowerPoint Presentation</vt:lpstr>
      <vt:lpstr>PowerPoint Presentation</vt:lpstr>
      <vt:lpstr>PowerPoint Presentation</vt:lpstr>
      <vt:lpstr>Levy &amp; Collection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Illustrations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“Why do I need to learn about finance..     I am very good in my own area of       specialization”</dc:title>
  <dc:creator>admin</dc:creator>
  <cp:lastModifiedBy>Avadhut Samant</cp:lastModifiedBy>
  <cp:revision>158</cp:revision>
  <dcterms:created xsi:type="dcterms:W3CDTF">2021-02-07T05:18:22Z</dcterms:created>
  <dcterms:modified xsi:type="dcterms:W3CDTF">2024-10-23T06:58:09Z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0x010100ECAF94F30A80A547A0A9DF8D665C8EAD</vt:lpwstr>
  </property>
</Properties>
</file>