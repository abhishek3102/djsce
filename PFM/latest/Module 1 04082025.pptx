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9"/>
  </p:notesMasterIdLst>
  <p:handoutMasterIdLst>
    <p:handoutMasterId r:id="rId130"/>
  </p:handoutMasterIdLst>
  <p:sldIdLst>
    <p:sldId id="256" r:id="rId2"/>
    <p:sldId id="267" r:id="rId3"/>
    <p:sldId id="258" r:id="rId4"/>
    <p:sldId id="259" r:id="rId5"/>
    <p:sldId id="260" r:id="rId6"/>
    <p:sldId id="261" r:id="rId7"/>
    <p:sldId id="268" r:id="rId8"/>
    <p:sldId id="262" r:id="rId9"/>
    <p:sldId id="263" r:id="rId10"/>
    <p:sldId id="264" r:id="rId11"/>
    <p:sldId id="265" r:id="rId12"/>
    <p:sldId id="409" r:id="rId13"/>
    <p:sldId id="410" r:id="rId14"/>
    <p:sldId id="411" r:id="rId15"/>
    <p:sldId id="412" r:id="rId16"/>
    <p:sldId id="413" r:id="rId17"/>
    <p:sldId id="414" r:id="rId18"/>
    <p:sldId id="415" r:id="rId19"/>
    <p:sldId id="418" r:id="rId20"/>
    <p:sldId id="417" r:id="rId21"/>
    <p:sldId id="492" r:id="rId22"/>
    <p:sldId id="421" r:id="rId23"/>
    <p:sldId id="419" r:id="rId24"/>
    <p:sldId id="430" r:id="rId25"/>
    <p:sldId id="422" r:id="rId26"/>
    <p:sldId id="423" r:id="rId27"/>
    <p:sldId id="431" r:id="rId28"/>
    <p:sldId id="424" r:id="rId29"/>
    <p:sldId id="494" r:id="rId30"/>
    <p:sldId id="425" r:id="rId31"/>
    <p:sldId id="497" r:id="rId32"/>
    <p:sldId id="495" r:id="rId33"/>
    <p:sldId id="498" r:id="rId34"/>
    <p:sldId id="499" r:id="rId35"/>
    <p:sldId id="501" r:id="rId36"/>
    <p:sldId id="502" r:id="rId37"/>
    <p:sldId id="503" r:id="rId38"/>
    <p:sldId id="506" r:id="rId39"/>
    <p:sldId id="504" r:id="rId40"/>
    <p:sldId id="507" r:id="rId41"/>
    <p:sldId id="448" r:id="rId42"/>
    <p:sldId id="449" r:id="rId43"/>
    <p:sldId id="450" r:id="rId44"/>
    <p:sldId id="451" r:id="rId45"/>
    <p:sldId id="452" r:id="rId46"/>
    <p:sldId id="437" r:id="rId47"/>
    <p:sldId id="433" r:id="rId48"/>
    <p:sldId id="453" r:id="rId49"/>
    <p:sldId id="454" r:id="rId50"/>
    <p:sldId id="455" r:id="rId51"/>
    <p:sldId id="456" r:id="rId52"/>
    <p:sldId id="457" r:id="rId53"/>
    <p:sldId id="458" r:id="rId54"/>
    <p:sldId id="436" r:id="rId55"/>
    <p:sldId id="434" r:id="rId56"/>
    <p:sldId id="467" r:id="rId57"/>
    <p:sldId id="461" r:id="rId58"/>
    <p:sldId id="465" r:id="rId59"/>
    <p:sldId id="466" r:id="rId60"/>
    <p:sldId id="468" r:id="rId61"/>
    <p:sldId id="474" r:id="rId62"/>
    <p:sldId id="469" r:id="rId63"/>
    <p:sldId id="459" r:id="rId64"/>
    <p:sldId id="460" r:id="rId65"/>
    <p:sldId id="470" r:id="rId66"/>
    <p:sldId id="464" r:id="rId67"/>
    <p:sldId id="462" r:id="rId68"/>
    <p:sldId id="471" r:id="rId69"/>
    <p:sldId id="472" r:id="rId70"/>
    <p:sldId id="473" r:id="rId71"/>
    <p:sldId id="475" r:id="rId72"/>
    <p:sldId id="488" r:id="rId73"/>
    <p:sldId id="435" r:id="rId74"/>
    <p:sldId id="480" r:id="rId75"/>
    <p:sldId id="477" r:id="rId76"/>
    <p:sldId id="485" r:id="rId77"/>
    <p:sldId id="486" r:id="rId78"/>
    <p:sldId id="487" r:id="rId79"/>
    <p:sldId id="479" r:id="rId80"/>
    <p:sldId id="489" r:id="rId81"/>
    <p:sldId id="490" r:id="rId82"/>
    <p:sldId id="476" r:id="rId83"/>
    <p:sldId id="478" r:id="rId84"/>
    <p:sldId id="483" r:id="rId85"/>
    <p:sldId id="484" r:id="rId86"/>
    <p:sldId id="481" r:id="rId87"/>
    <p:sldId id="482" r:id="rId88"/>
    <p:sldId id="535" r:id="rId89"/>
    <p:sldId id="536" r:id="rId90"/>
    <p:sldId id="522" r:id="rId91"/>
    <p:sldId id="523" r:id="rId92"/>
    <p:sldId id="524" r:id="rId93"/>
    <p:sldId id="525" r:id="rId94"/>
    <p:sldId id="528" r:id="rId95"/>
    <p:sldId id="526" r:id="rId96"/>
    <p:sldId id="529" r:id="rId97"/>
    <p:sldId id="530" r:id="rId98"/>
    <p:sldId id="527" r:id="rId99"/>
    <p:sldId id="534" r:id="rId100"/>
    <p:sldId id="537" r:id="rId101"/>
    <p:sldId id="538" r:id="rId102"/>
    <p:sldId id="539" r:id="rId103"/>
    <p:sldId id="540" r:id="rId104"/>
    <p:sldId id="541" r:id="rId105"/>
    <p:sldId id="542" r:id="rId106"/>
    <p:sldId id="491" r:id="rId107"/>
    <p:sldId id="533" r:id="rId108"/>
    <p:sldId id="543" r:id="rId109"/>
    <p:sldId id="544" r:id="rId110"/>
    <p:sldId id="545" r:id="rId111"/>
    <p:sldId id="546" r:id="rId112"/>
    <p:sldId id="547" r:id="rId113"/>
    <p:sldId id="500" r:id="rId114"/>
    <p:sldId id="548" r:id="rId115"/>
    <p:sldId id="549" r:id="rId116"/>
    <p:sldId id="550" r:id="rId117"/>
    <p:sldId id="551" r:id="rId118"/>
    <p:sldId id="505" r:id="rId119"/>
    <p:sldId id="552" r:id="rId120"/>
    <p:sldId id="532" r:id="rId121"/>
    <p:sldId id="553" r:id="rId122"/>
    <p:sldId id="554" r:id="rId123"/>
    <p:sldId id="555" r:id="rId124"/>
    <p:sldId id="556" r:id="rId125"/>
    <p:sldId id="531" r:id="rId126"/>
    <p:sldId id="508" r:id="rId127"/>
    <p:sldId id="509"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5817" autoAdjust="0"/>
  </p:normalViewPr>
  <p:slideViewPr>
    <p:cSldViewPr snapToGrid="0">
      <p:cViewPr varScale="1">
        <p:scale>
          <a:sx n="67" d="100"/>
          <a:sy n="67" d="100"/>
        </p:scale>
        <p:origin x="1296" y="58"/>
      </p:cViewPr>
      <p:guideLst/>
    </p:cSldViewPr>
  </p:slid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0438E8-00D6-957C-0782-FE8BC2219B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BEAB1F4-BE2B-F886-BAE3-A170E48E7C2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6FEC9F-985C-405C-BF43-E3D2782F0BB4}" type="datetimeFigureOut">
              <a:rPr lang="en-IN" smtClean="0"/>
              <a:t>19-09-2025</a:t>
            </a:fld>
            <a:endParaRPr lang="en-IN"/>
          </a:p>
        </p:txBody>
      </p:sp>
    </p:spTree>
    <p:extLst>
      <p:ext uri="{BB962C8B-B14F-4D97-AF65-F5344CB8AC3E}">
        <p14:creationId xmlns:p14="http://schemas.microsoft.com/office/powerpoint/2010/main" val="2545162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B2EE44-1AB5-40A7-B1F1-E177ABE92A3F}" type="datetimeFigureOut">
              <a:rPr lang="en-US" smtClean="0"/>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4C2C4-6FE2-4473-B21F-ACE5173EB4C6}" type="slidenum">
              <a:rPr lang="en-US" smtClean="0"/>
              <a:t>‹#›</a:t>
            </a:fld>
            <a:endParaRPr lang="en-US"/>
          </a:p>
        </p:txBody>
      </p:sp>
    </p:spTree>
    <p:extLst>
      <p:ext uri="{BB962C8B-B14F-4D97-AF65-F5344CB8AC3E}">
        <p14:creationId xmlns:p14="http://schemas.microsoft.com/office/powerpoint/2010/main" val="4096723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google.com/search?sca_esv=7466096905fafdc9&amp;rlz=1C1GCEU_enIN1086IN1088&amp;q=Companies+Act+of+2013&amp;sa=X&amp;ved=2ahUKEwiToKbPjoKPAxUfXmwGHbrjDAcQxccNegUIkwEQAQ&amp;mstk=AUtExfA-5qSIuuL9pjTPCGoU18Ep3xLkWbKR65HRy3j9_-aWdb8Z4UAkLo0goiYu6OO-Yu_ulu2cl2i8VTtrWGru92260WKI2aD5O7bOdwVlSPFQfYMm7r5wnfvqXFEDDK8G_8WzhTuzgT9qvK6lkL4yj6eGo67NpfLA9dPw2G3Bxz2uR6ODeOcdmBkLql4ROss3UUmUH9Z4r9wPjc2o0KPOxI6bNz2v7HdArV4FSV8_Z8ggKA&amp;csui=3" TargetMode="External"/><Relationship Id="rId2" Type="http://schemas.openxmlformats.org/officeDocument/2006/relationships/slide" Target="../slides/slide53.xml"/><Relationship Id="rId1" Type="http://schemas.openxmlformats.org/officeDocument/2006/relationships/notesMaster" Target="../notesMasters/notesMaster1.xml"/><Relationship Id="rId4" Type="http://schemas.openxmlformats.org/officeDocument/2006/relationships/hyperlink" Target="https://www.google.com/search?sca_esv=7466096905fafdc9&amp;rlz=1C1GCEU_enIN1086IN1088&amp;q=Ministry+of+Corporate+Affairs&amp;sa=X&amp;ved=2ahUKEwiToKbPjoKPAxUfXmwGHbrjDAcQxccNegUIkwEQAg&amp;mstk=AUtExfA-5qSIuuL9pjTPCGoU18Ep3xLkWbKR65HRy3j9_-aWdb8Z4UAkLo0goiYu6OO-Yu_ulu2cl2i8VTtrWGru92260WKI2aD5O7bOdwVlSPFQfYMm7r5wnfvqXFEDDK8G_8WzhTuzgT9qvK6lkL4yj6eGo67NpfLA9dPw2G3Bxz2uR6ODeOcdmBkLql4ROss3UUmUH9Z4r9wPjc2o0KPOxI6bNz2v7HdArV4FSV8_Z8ggKA&amp;csui=3" TargetMode="Externa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income were the only indicator of your financial situation, then Aarav’s situation can be considered the strongest. But does he seem to be doing well with his money? Is his financial position really strong? Can he take care of any financial emergency like a job loss or drop in income?</a:t>
            </a:r>
          </a:p>
          <a:p>
            <a:r>
              <a:rPr lang="en-US" dirty="0"/>
              <a:t>In fact, looking at the overall picture, Aarav even with his fat paycheck, is in the worst financial situation at present. His expenses are almost as much as his income. And his credit card debt has got him into a financial mess. Considering his meager monthly ‘balance’ and high interest rate on credit card debt, Asif would need more than 6 months to payback the debt, if nothing else changes.</a:t>
            </a:r>
          </a:p>
          <a:p>
            <a:r>
              <a:rPr lang="en-US" dirty="0"/>
              <a:t>The other three, despite their lesser incomes/allowance, seem to be doing decently in their own way—building saving reserves and assets. Whereas Babu has a decent saving and asset-building home loan, Chanda has her own savings account.</a:t>
            </a:r>
            <a:endParaRPr lang="en-IN" dirty="0"/>
          </a:p>
        </p:txBody>
      </p:sp>
      <p:sp>
        <p:nvSpPr>
          <p:cNvPr id="4" name="Slide Number Placeholder 3"/>
          <p:cNvSpPr>
            <a:spLocks noGrp="1"/>
          </p:cNvSpPr>
          <p:nvPr>
            <p:ph type="sldNum" sz="quarter" idx="5"/>
          </p:nvPr>
        </p:nvSpPr>
        <p:spPr/>
        <p:txBody>
          <a:bodyPr/>
          <a:lstStyle/>
          <a:p>
            <a:fld id="{E17B159E-6F5D-4EEB-B860-D7AFC1745251}" type="slidenum">
              <a:rPr lang="en-IN" smtClean="0"/>
              <a:t>3</a:t>
            </a:fld>
            <a:endParaRPr lang="en-IN"/>
          </a:p>
        </p:txBody>
      </p:sp>
    </p:spTree>
    <p:extLst>
      <p:ext uri="{BB962C8B-B14F-4D97-AF65-F5344CB8AC3E}">
        <p14:creationId xmlns:p14="http://schemas.microsoft.com/office/powerpoint/2010/main" val="1122474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17B159E-6F5D-4EEB-B860-D7AFC1745251}" type="slidenum">
              <a:rPr lang="en-IN" smtClean="0"/>
              <a:t>11</a:t>
            </a:fld>
            <a:endParaRPr lang="en-IN"/>
          </a:p>
        </p:txBody>
      </p:sp>
    </p:spTree>
    <p:extLst>
      <p:ext uri="{BB962C8B-B14F-4D97-AF65-F5344CB8AC3E}">
        <p14:creationId xmlns:p14="http://schemas.microsoft.com/office/powerpoint/2010/main" val="1043668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13</a:t>
            </a:fld>
            <a:endParaRPr lang="en-US"/>
          </a:p>
        </p:txBody>
      </p:sp>
    </p:spTree>
    <p:extLst>
      <p:ext uri="{BB962C8B-B14F-4D97-AF65-F5344CB8AC3E}">
        <p14:creationId xmlns:p14="http://schemas.microsoft.com/office/powerpoint/2010/main" val="2017775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87A4C2C4-6FE2-4473-B21F-ACE5173EB4C6}" type="slidenum">
              <a:rPr lang="en-US" smtClean="0"/>
              <a:t>14</a:t>
            </a:fld>
            <a:endParaRPr lang="en-US"/>
          </a:p>
        </p:txBody>
      </p:sp>
    </p:spTree>
    <p:extLst>
      <p:ext uri="{BB962C8B-B14F-4D97-AF65-F5344CB8AC3E}">
        <p14:creationId xmlns:p14="http://schemas.microsoft.com/office/powerpoint/2010/main" val="8428521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87A4C2C4-6FE2-4473-B21F-ACE5173EB4C6}" type="slidenum">
              <a:rPr lang="en-US" smtClean="0"/>
              <a:t>17</a:t>
            </a:fld>
            <a:endParaRPr lang="en-US"/>
          </a:p>
        </p:txBody>
      </p:sp>
    </p:spTree>
    <p:extLst>
      <p:ext uri="{BB962C8B-B14F-4D97-AF65-F5344CB8AC3E}">
        <p14:creationId xmlns:p14="http://schemas.microsoft.com/office/powerpoint/2010/main" val="3106118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94347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32</a:t>
            </a:fld>
            <a:endParaRPr lang="en-US"/>
          </a:p>
        </p:txBody>
      </p:sp>
    </p:spTree>
    <p:extLst>
      <p:ext uri="{BB962C8B-B14F-4D97-AF65-F5344CB8AC3E}">
        <p14:creationId xmlns:p14="http://schemas.microsoft.com/office/powerpoint/2010/main" val="1521159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35</a:t>
            </a:fld>
            <a:endParaRPr lang="en-IN" dirty="0"/>
          </a:p>
        </p:txBody>
      </p:sp>
    </p:spTree>
    <p:extLst>
      <p:ext uri="{BB962C8B-B14F-4D97-AF65-F5344CB8AC3E}">
        <p14:creationId xmlns:p14="http://schemas.microsoft.com/office/powerpoint/2010/main" val="23405043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36</a:t>
            </a:fld>
            <a:endParaRPr lang="en-IN" dirty="0"/>
          </a:p>
        </p:txBody>
      </p:sp>
    </p:spTree>
    <p:extLst>
      <p:ext uri="{BB962C8B-B14F-4D97-AF65-F5344CB8AC3E}">
        <p14:creationId xmlns:p14="http://schemas.microsoft.com/office/powerpoint/2010/main" val="12521251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37</a:t>
            </a:fld>
            <a:endParaRPr lang="en-IN" dirty="0"/>
          </a:p>
        </p:txBody>
      </p:sp>
    </p:spTree>
    <p:extLst>
      <p:ext uri="{BB962C8B-B14F-4D97-AF65-F5344CB8AC3E}">
        <p14:creationId xmlns:p14="http://schemas.microsoft.com/office/powerpoint/2010/main" val="1871041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41</a:t>
            </a:fld>
            <a:endParaRPr lang="en-IN" dirty="0"/>
          </a:p>
        </p:txBody>
      </p:sp>
    </p:spTree>
    <p:extLst>
      <p:ext uri="{BB962C8B-B14F-4D97-AF65-F5344CB8AC3E}">
        <p14:creationId xmlns:p14="http://schemas.microsoft.com/office/powerpoint/2010/main" val="1061313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42</a:t>
            </a:fld>
            <a:endParaRPr lang="en-IN" dirty="0"/>
          </a:p>
        </p:txBody>
      </p:sp>
    </p:spTree>
    <p:extLst>
      <p:ext uri="{BB962C8B-B14F-4D97-AF65-F5344CB8AC3E}">
        <p14:creationId xmlns:p14="http://schemas.microsoft.com/office/powerpoint/2010/main" val="12889844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43</a:t>
            </a:fld>
            <a:endParaRPr lang="en-IN" dirty="0"/>
          </a:p>
        </p:txBody>
      </p:sp>
    </p:spTree>
    <p:extLst>
      <p:ext uri="{BB962C8B-B14F-4D97-AF65-F5344CB8AC3E}">
        <p14:creationId xmlns:p14="http://schemas.microsoft.com/office/powerpoint/2010/main" val="4203177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IN" sz="1200" dirty="0">
                <a:latin typeface="Times New Roman" panose="02020603050405020304" pitchFamily="18" charset="0"/>
                <a:cs typeface="Times New Roman" panose="02020603050405020304" pitchFamily="18" charset="0"/>
              </a:rPr>
              <a:t>IFCI= </a:t>
            </a:r>
            <a:r>
              <a:rPr lang="en-US" sz="1200" b="0" i="0" kern="1200" dirty="0">
                <a:solidFill>
                  <a:schemeClr val="tx1"/>
                </a:solidFill>
                <a:effectLst/>
                <a:latin typeface="+mn-lt"/>
                <a:ea typeface="+mn-ea"/>
                <a:cs typeface="+mn-cs"/>
              </a:rPr>
              <a:t>Industrial Finance Corporation of India</a:t>
            </a:r>
            <a:endParaRPr lang="en-IN" dirty="0"/>
          </a:p>
        </p:txBody>
      </p:sp>
      <p:sp>
        <p:nvSpPr>
          <p:cNvPr id="4" name="Slide Number Placeholder 3"/>
          <p:cNvSpPr>
            <a:spLocks noGrp="1"/>
          </p:cNvSpPr>
          <p:nvPr>
            <p:ph type="sldNum" sz="quarter" idx="10"/>
          </p:nvPr>
        </p:nvSpPr>
        <p:spPr/>
        <p:txBody>
          <a:bodyPr/>
          <a:lstStyle/>
          <a:p>
            <a:fld id="{3B024546-D2EF-4B29-BC3E-1C1E594716FE}" type="slidenum">
              <a:rPr lang="en-IN" smtClean="0"/>
              <a:pPr/>
              <a:t>44</a:t>
            </a:fld>
            <a:endParaRPr lang="en-IN" dirty="0"/>
          </a:p>
        </p:txBody>
      </p:sp>
    </p:spTree>
    <p:extLst>
      <p:ext uri="{BB962C8B-B14F-4D97-AF65-F5344CB8AC3E}">
        <p14:creationId xmlns:p14="http://schemas.microsoft.com/office/powerpoint/2010/main" val="2036713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3B024546-D2EF-4B29-BC3E-1C1E594716FE}" type="slidenum">
              <a:rPr lang="en-IN" smtClean="0"/>
              <a:pPr/>
              <a:t>45</a:t>
            </a:fld>
            <a:endParaRPr lang="en-IN" dirty="0"/>
          </a:p>
        </p:txBody>
      </p:sp>
    </p:spTree>
    <p:extLst>
      <p:ext uri="{BB962C8B-B14F-4D97-AF65-F5344CB8AC3E}">
        <p14:creationId xmlns:p14="http://schemas.microsoft.com/office/powerpoint/2010/main" val="1445954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ctr"/>
            <a:r>
              <a:rPr lang="en-US" sz="1200" b="0" i="0" kern="1200" dirty="0">
                <a:solidFill>
                  <a:schemeClr val="tx1"/>
                </a:solidFill>
                <a:effectLst/>
                <a:latin typeface="+mn-lt"/>
                <a:ea typeface="+mn-ea"/>
                <a:cs typeface="+mn-cs"/>
              </a:rPr>
              <a:t>Nidhi company is a financial institution that operates on the principle of mutual benefit, providing financial services exclusively to its members, who are also its shareholders. </a:t>
            </a:r>
            <a:r>
              <a:rPr lang="en-US" sz="1200" b="0" i="0" kern="1200" dirty="0" err="1">
                <a:solidFill>
                  <a:schemeClr val="tx1"/>
                </a:solidFill>
                <a:effectLst/>
                <a:latin typeface="+mn-lt"/>
                <a:ea typeface="+mn-ea"/>
                <a:cs typeface="+mn-cs"/>
              </a:rPr>
              <a:t>Nidhis</a:t>
            </a:r>
            <a:r>
              <a:rPr lang="en-US" sz="1200" b="0" i="0" kern="1200" dirty="0">
                <a:solidFill>
                  <a:schemeClr val="tx1"/>
                </a:solidFill>
                <a:effectLst/>
                <a:latin typeface="+mn-lt"/>
                <a:ea typeface="+mn-ea"/>
                <a:cs typeface="+mn-cs"/>
              </a:rPr>
              <a:t> cannot lend money to the general public; they can only transact with their own members. Nidhi companies are registered under the </a:t>
            </a:r>
            <a:r>
              <a:rPr lang="en-US" sz="1200" b="0" i="0" kern="1200" dirty="0">
                <a:solidFill>
                  <a:schemeClr val="tx1"/>
                </a:solidFill>
                <a:effectLst/>
                <a:latin typeface="+mn-lt"/>
                <a:ea typeface="+mn-ea"/>
                <a:cs typeface="+mn-cs"/>
                <a:hlinkClick r:id="rId3"/>
              </a:rPr>
              <a:t>Companies Act of 2013</a:t>
            </a:r>
            <a:r>
              <a:rPr lang="en-US" sz="1200" b="0" i="0" kern="1200" dirty="0">
                <a:solidFill>
                  <a:schemeClr val="tx1"/>
                </a:solidFill>
                <a:effectLst/>
                <a:latin typeface="+mn-lt"/>
                <a:ea typeface="+mn-ea"/>
                <a:cs typeface="+mn-cs"/>
              </a:rPr>
              <a:t> and are governed by the </a:t>
            </a:r>
            <a:r>
              <a:rPr lang="en-US" sz="1200" b="0" i="0" kern="1200" dirty="0">
                <a:solidFill>
                  <a:schemeClr val="tx1"/>
                </a:solidFill>
                <a:effectLst/>
                <a:latin typeface="+mn-lt"/>
                <a:ea typeface="+mn-ea"/>
                <a:cs typeface="+mn-cs"/>
                <a:hlinkClick r:id="rId4"/>
              </a:rPr>
              <a:t>Ministry of Corporate Affairs</a:t>
            </a:r>
            <a:r>
              <a:rPr lang="en-US" sz="1200" b="0" i="0" kern="1200" dirty="0">
                <a:solidFill>
                  <a:schemeClr val="tx1"/>
                </a:solidFill>
                <a:effectLst/>
                <a:latin typeface="+mn-lt"/>
                <a:ea typeface="+mn-ea"/>
                <a:cs typeface="+mn-cs"/>
              </a:rPr>
              <a:t>. </a:t>
            </a:r>
          </a:p>
          <a:p>
            <a:pPr fontAlgn="ctr"/>
            <a:r>
              <a:rPr lang="en-US" sz="1200" b="1" i="0" kern="1200" dirty="0">
                <a:solidFill>
                  <a:schemeClr val="tx1"/>
                </a:solidFill>
                <a:effectLst/>
                <a:latin typeface="+mn-lt"/>
                <a:ea typeface="+mn-ea"/>
                <a:cs typeface="+mn-cs"/>
              </a:rPr>
              <a:t>Minimum Membership:</a:t>
            </a:r>
            <a:r>
              <a:rPr lang="en-US" sz="1200" b="0" i="0" kern="1200" dirty="0">
                <a:solidFill>
                  <a:schemeClr val="tx1"/>
                </a:solidFill>
                <a:effectLst/>
                <a:latin typeface="+mn-lt"/>
                <a:ea typeface="+mn-ea"/>
                <a:cs typeface="+mn-cs"/>
              </a:rPr>
              <a:t> They require a minimum of 200 members. </a:t>
            </a:r>
          </a:p>
          <a:p>
            <a:pPr fontAlgn="ctr"/>
            <a:r>
              <a:rPr lang="en-US" sz="1200" b="1" i="0" kern="1200" dirty="0">
                <a:solidFill>
                  <a:schemeClr val="tx1"/>
                </a:solidFill>
                <a:effectLst/>
                <a:latin typeface="+mn-lt"/>
                <a:ea typeface="+mn-ea"/>
                <a:cs typeface="+mn-cs"/>
              </a:rPr>
              <a:t>Capital Requirements:</a:t>
            </a:r>
            <a:r>
              <a:rPr lang="en-US" sz="1200" b="0" i="0" kern="1200" dirty="0">
                <a:solidFill>
                  <a:schemeClr val="tx1"/>
                </a:solidFill>
                <a:effectLst/>
                <a:latin typeface="+mn-lt"/>
                <a:ea typeface="+mn-ea"/>
                <a:cs typeface="+mn-cs"/>
              </a:rPr>
              <a:t> A Nidhi company needs a minimum paid-up equity share capital of ₹5 lakhs and a net-owned fund of at least ₹10 lakhs. </a:t>
            </a:r>
          </a:p>
          <a:p>
            <a:r>
              <a:rPr lang="en-US" sz="1200" b="1" i="0" kern="1200" dirty="0">
                <a:solidFill>
                  <a:schemeClr val="tx1"/>
                </a:solidFill>
                <a:effectLst/>
                <a:latin typeface="+mn-lt"/>
                <a:ea typeface="+mn-ea"/>
                <a:cs typeface="+mn-cs"/>
              </a:rPr>
              <a:t>No Public Issuance of Shares:</a:t>
            </a:r>
            <a:r>
              <a:rPr lang="en-US" sz="1200" b="0" i="0" kern="1200" dirty="0">
                <a:solidFill>
                  <a:schemeClr val="tx1"/>
                </a:solidFill>
                <a:effectLst/>
                <a:latin typeface="+mn-lt"/>
                <a:ea typeface="+mn-ea"/>
                <a:cs typeface="+mn-cs"/>
              </a:rPr>
              <a:t> Nidhi companies cannot raise capital by issuing shares to the public. </a:t>
            </a:r>
          </a:p>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53</a:t>
            </a:fld>
            <a:endParaRPr lang="en-US"/>
          </a:p>
        </p:txBody>
      </p:sp>
    </p:spTree>
    <p:extLst>
      <p:ext uri="{BB962C8B-B14F-4D97-AF65-F5344CB8AC3E}">
        <p14:creationId xmlns:p14="http://schemas.microsoft.com/office/powerpoint/2010/main" val="550169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65</a:t>
            </a:fld>
            <a:endParaRPr lang="en-US"/>
          </a:p>
        </p:txBody>
      </p:sp>
    </p:spTree>
    <p:extLst>
      <p:ext uri="{BB962C8B-B14F-4D97-AF65-F5344CB8AC3E}">
        <p14:creationId xmlns:p14="http://schemas.microsoft.com/office/powerpoint/2010/main" val="1163273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83</a:t>
            </a:fld>
            <a:endParaRPr lang="en-US"/>
          </a:p>
        </p:txBody>
      </p:sp>
    </p:spTree>
    <p:extLst>
      <p:ext uri="{BB962C8B-B14F-4D97-AF65-F5344CB8AC3E}">
        <p14:creationId xmlns:p14="http://schemas.microsoft.com/office/powerpoint/2010/main" val="10585167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6172352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4080719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032564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0395047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41652214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3541533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7876166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8354937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1400497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dirty="0"/>
          </a:p>
        </p:txBody>
      </p:sp>
    </p:spTree>
    <p:extLst>
      <p:ext uri="{BB962C8B-B14F-4D97-AF65-F5344CB8AC3E}">
        <p14:creationId xmlns:p14="http://schemas.microsoft.com/office/powerpoint/2010/main" val="294347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0633108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6138177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r>
              <a:rPr lang="en-US" dirty="0"/>
              <a:t>Equity funds and equity-oriented balanced funds enjoy more favorable tax treatment — short 1-year threshold for long-term status + lower tax rates.</a:t>
            </a:r>
          </a:p>
          <a:p>
            <a:r>
              <a:rPr lang="en-US" dirty="0"/>
              <a:t>Debt funds require a 3-year holding period for long-term benefits, and short-term gains are taxed heavily if you’re in a higher slab.</a:t>
            </a:r>
          </a:p>
          <a:p>
            <a:r>
              <a:rPr lang="en-US" dirty="0"/>
              <a:t>Balanced funds combine stability from debt with tax advantages of equity.</a:t>
            </a:r>
          </a:p>
        </p:txBody>
      </p:sp>
    </p:spTree>
    <p:extLst>
      <p:ext uri="{BB962C8B-B14F-4D97-AF65-F5344CB8AC3E}">
        <p14:creationId xmlns:p14="http://schemas.microsoft.com/office/powerpoint/2010/main" val="13814243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114</a:t>
            </a:fld>
            <a:endParaRPr lang="en-US"/>
          </a:p>
        </p:txBody>
      </p:sp>
    </p:spTree>
    <p:extLst>
      <p:ext uri="{BB962C8B-B14F-4D97-AF65-F5344CB8AC3E}">
        <p14:creationId xmlns:p14="http://schemas.microsoft.com/office/powerpoint/2010/main" val="27972067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dirty="0"/>
          </a:p>
        </p:txBody>
      </p:sp>
    </p:spTree>
    <p:extLst>
      <p:ext uri="{BB962C8B-B14F-4D97-AF65-F5344CB8AC3E}">
        <p14:creationId xmlns:p14="http://schemas.microsoft.com/office/powerpoint/2010/main" val="34725127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116</a:t>
            </a:fld>
            <a:endParaRPr lang="en-US"/>
          </a:p>
        </p:txBody>
      </p:sp>
    </p:spTree>
    <p:extLst>
      <p:ext uri="{BB962C8B-B14F-4D97-AF65-F5344CB8AC3E}">
        <p14:creationId xmlns:p14="http://schemas.microsoft.com/office/powerpoint/2010/main" val="38752401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dirty="0"/>
          </a:p>
        </p:txBody>
      </p:sp>
    </p:spTree>
    <p:extLst>
      <p:ext uri="{BB962C8B-B14F-4D97-AF65-F5344CB8AC3E}">
        <p14:creationId xmlns:p14="http://schemas.microsoft.com/office/powerpoint/2010/main" val="22510113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2255740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0964643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6688008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r>
              <a:rPr lang="en-IN" sz="1200" dirty="0">
                <a:latin typeface="Times New Roman" panose="02020603050405020304" pitchFamily="18" charset="0"/>
                <a:cs typeface="Times New Roman" panose="02020603050405020304" pitchFamily="18" charset="0"/>
              </a:rPr>
              <a:t>The amount of your monthly payment will depend on how much money you've borrowed and whether you regularly pay off the full balance to avoid interest changes. If you don't pay off your debt immediately, it rolls over—or "revolves"—to the next billing period.</a:t>
            </a:r>
            <a:endParaRPr lang="en-US" dirty="0"/>
          </a:p>
        </p:txBody>
      </p:sp>
    </p:spTree>
    <p:extLst>
      <p:ext uri="{BB962C8B-B14F-4D97-AF65-F5344CB8AC3E}">
        <p14:creationId xmlns:p14="http://schemas.microsoft.com/office/powerpoint/2010/main" val="21116926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A4C2C4-6FE2-4473-B21F-ACE5173EB4C6}" type="slidenum">
              <a:rPr lang="en-US" smtClean="0"/>
              <a:t>123</a:t>
            </a:fld>
            <a:endParaRPr lang="en-US"/>
          </a:p>
        </p:txBody>
      </p:sp>
    </p:spTree>
    <p:extLst>
      <p:ext uri="{BB962C8B-B14F-4D97-AF65-F5344CB8AC3E}">
        <p14:creationId xmlns:p14="http://schemas.microsoft.com/office/powerpoint/2010/main" val="16190359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35137492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27496180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5477383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6765042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FD7AE61-87DC-4554-A01F-182CFC75E7E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635172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7AE61-87DC-4554-A01F-182CFC75E7E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894624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FD7AE61-87DC-4554-A01F-182CFC75E7E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186837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D7AE61-87DC-4554-A01F-182CFC75E7E6}"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492073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D7AE61-87DC-4554-A01F-182CFC75E7E6}" type="datetimeFigureOut">
              <a:rPr lang="en-US" smtClean="0"/>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576197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FD7AE61-87DC-4554-A01F-182CFC75E7E6}" type="datetimeFigureOut">
              <a:rPr lang="en-US" smtClean="0"/>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9158657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D7AE61-87DC-4554-A01F-182CFC75E7E6}" type="datetimeFigureOut">
              <a:rPr lang="en-US" smtClean="0"/>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21588454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D7AE61-87DC-4554-A01F-182CFC75E7E6}"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4201452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D7AE61-87DC-4554-A01F-182CFC75E7E6}"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218155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7AE61-87DC-4554-A01F-182CFC75E7E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963391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D7AE61-87DC-4554-A01F-182CFC75E7E6}"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38531E8-CB3B-4585-878D-C855E26057DC}" type="slidenum">
              <a:rPr lang="en-US" smtClean="0"/>
              <a:t>‹#›</a:t>
            </a:fld>
            <a:endParaRPr lang="en-US"/>
          </a:p>
        </p:txBody>
      </p:sp>
    </p:spTree>
    <p:extLst>
      <p:ext uri="{BB962C8B-B14F-4D97-AF65-F5344CB8AC3E}">
        <p14:creationId xmlns:p14="http://schemas.microsoft.com/office/powerpoint/2010/main" val="1789902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D7AE61-87DC-4554-A01F-182CFC75E7E6}" type="datetimeFigureOut">
              <a:rPr lang="en-US" smtClean="0"/>
              <a:t>9/19/2025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8531E8-CB3B-4585-878D-C855E26057DC}" type="slidenum">
              <a:rPr lang="en-US" smtClean="0"/>
              <a:t>‹#›</a:t>
            </a:fld>
            <a:endParaRPr lang="en-US"/>
          </a:p>
        </p:txBody>
      </p:sp>
    </p:spTree>
    <p:extLst>
      <p:ext uri="{BB962C8B-B14F-4D97-AF65-F5344CB8AC3E}">
        <p14:creationId xmlns:p14="http://schemas.microsoft.com/office/powerpoint/2010/main" val="26500317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8.jpg"/><Relationship Id="rId4" Type="http://schemas.openxmlformats.org/officeDocument/2006/relationships/image" Target="../media/image17.jpg"/></Relationships>
</file>

<file path=ppt/slides/_rels/slide75.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E3106-1059-2DB1-804C-677A6F0C22DD}"/>
              </a:ext>
            </a:extLst>
          </p:cNvPr>
          <p:cNvSpPr>
            <a:spLocks noGrp="1"/>
          </p:cNvSpPr>
          <p:nvPr>
            <p:ph type="ctrTitle"/>
          </p:nvPr>
        </p:nvSpPr>
        <p:spPr/>
        <p:txBody>
          <a:bodyPr/>
          <a:lstStyle/>
          <a:p>
            <a:r>
              <a:rPr lang="en-US" dirty="0"/>
              <a:t>Personal Finance Management</a:t>
            </a:r>
            <a:endParaRPr lang="en-IN" dirty="0"/>
          </a:p>
        </p:txBody>
      </p:sp>
      <p:sp>
        <p:nvSpPr>
          <p:cNvPr id="3" name="Subtitle 2">
            <a:extLst>
              <a:ext uri="{FF2B5EF4-FFF2-40B4-BE49-F238E27FC236}">
                <a16:creationId xmlns:a16="http://schemas.microsoft.com/office/drawing/2014/main" id="{38320DFC-E555-E3D3-30F2-B0BFA71FCD1A}"/>
              </a:ext>
            </a:extLst>
          </p:cNvPr>
          <p:cNvSpPr>
            <a:spLocks noGrp="1"/>
          </p:cNvSpPr>
          <p:nvPr>
            <p:ph type="subTitle" idx="1"/>
          </p:nvPr>
        </p:nvSpPr>
        <p:spPr>
          <a:xfrm>
            <a:off x="1524000" y="4754880"/>
            <a:ext cx="9144000" cy="502920"/>
          </a:xfrm>
        </p:spPr>
        <p:txBody>
          <a:bodyPr/>
          <a:lstStyle/>
          <a:p>
            <a:endParaRPr lang="en-IN" dirty="0"/>
          </a:p>
        </p:txBody>
      </p:sp>
      <p:sp>
        <p:nvSpPr>
          <p:cNvPr id="4" name="Footer Placeholder 3">
            <a:extLst>
              <a:ext uri="{FF2B5EF4-FFF2-40B4-BE49-F238E27FC236}">
                <a16:creationId xmlns:a16="http://schemas.microsoft.com/office/drawing/2014/main" id="{B697562D-08FD-EE1B-9ECB-AEBD092AA80A}"/>
              </a:ext>
            </a:extLst>
          </p:cNvPr>
          <p:cNvSpPr>
            <a:spLocks noGrp="1"/>
          </p:cNvSpPr>
          <p:nvPr>
            <p:ph type="ftr" sz="quarter" idx="11"/>
          </p:nvPr>
        </p:nvSpPr>
        <p:spPr/>
        <p:txBody>
          <a:bodyPr/>
          <a:lstStyle/>
          <a:p>
            <a:r>
              <a:rPr lang="en-US" dirty="0"/>
              <a:t>Dr. Meeta Gandhi, Department of Mechanical Engineering</a:t>
            </a:r>
            <a:endParaRPr lang="en-IN" dirty="0"/>
          </a:p>
        </p:txBody>
      </p:sp>
      <p:pic>
        <p:nvPicPr>
          <p:cNvPr id="5" name="Picture 4">
            <a:extLst>
              <a:ext uri="{FF2B5EF4-FFF2-40B4-BE49-F238E27FC236}">
                <a16:creationId xmlns:a16="http://schemas.microsoft.com/office/drawing/2014/main" id="{9B2B869C-DD7F-CA81-1EDF-BD49D5290F8B}"/>
              </a:ext>
            </a:extLst>
          </p:cNvPr>
          <p:cNvPicPr>
            <a:picLocks noChangeAspect="1"/>
          </p:cNvPicPr>
          <p:nvPr/>
        </p:nvPicPr>
        <p:blipFill>
          <a:blip r:embed="rId2"/>
          <a:stretch>
            <a:fillRect/>
          </a:stretch>
        </p:blipFill>
        <p:spPr>
          <a:xfrm>
            <a:off x="1488" y="0"/>
            <a:ext cx="12189023" cy="6858000"/>
          </a:xfrm>
          <a:prstGeom prst="rect">
            <a:avLst/>
          </a:prstGeom>
        </p:spPr>
      </p:pic>
      <p:sp>
        <p:nvSpPr>
          <p:cNvPr id="6" name="TextBox 5">
            <a:extLst>
              <a:ext uri="{FF2B5EF4-FFF2-40B4-BE49-F238E27FC236}">
                <a16:creationId xmlns:a16="http://schemas.microsoft.com/office/drawing/2014/main" id="{DB15CE89-8546-8B09-AADB-F190B1E21142}"/>
              </a:ext>
            </a:extLst>
          </p:cNvPr>
          <p:cNvSpPr txBox="1"/>
          <p:nvPr/>
        </p:nvSpPr>
        <p:spPr>
          <a:xfrm>
            <a:off x="558265" y="5426110"/>
            <a:ext cx="11030552" cy="923330"/>
          </a:xfrm>
          <a:prstGeom prst="rect">
            <a:avLst/>
          </a:prstGeom>
          <a:noFill/>
        </p:spPr>
        <p:txBody>
          <a:bodyPr wrap="square" rtlCol="0">
            <a:spAutoFit/>
          </a:bodyPr>
          <a:lstStyle/>
          <a:p>
            <a:pPr algn="ctr"/>
            <a:r>
              <a:rPr lang="en-US" sz="5400" b="1" dirty="0">
                <a:solidFill>
                  <a:schemeClr val="bg1"/>
                </a:solidFill>
              </a:rPr>
              <a:t>Personal Finance Management</a:t>
            </a:r>
            <a:endParaRPr lang="en-IN" sz="5400" b="1" dirty="0">
              <a:solidFill>
                <a:schemeClr val="bg1"/>
              </a:solidFill>
            </a:endParaRPr>
          </a:p>
        </p:txBody>
      </p:sp>
    </p:spTree>
    <p:extLst>
      <p:ext uri="{BB962C8B-B14F-4D97-AF65-F5344CB8AC3E}">
        <p14:creationId xmlns:p14="http://schemas.microsoft.com/office/powerpoint/2010/main" val="4722983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28FE3-84B1-1302-C9BF-679CAF07A1D5}"/>
              </a:ext>
            </a:extLst>
          </p:cNvPr>
          <p:cNvSpPr>
            <a:spLocks noGrp="1"/>
          </p:cNvSpPr>
          <p:nvPr>
            <p:ph type="title"/>
          </p:nvPr>
        </p:nvSpPr>
        <p:spPr/>
        <p:txBody>
          <a:bodyPr/>
          <a:lstStyle/>
          <a:p>
            <a:pPr algn="ctr"/>
            <a:br>
              <a:rPr lang="en-IN" dirty="0"/>
            </a:br>
            <a:r>
              <a:rPr lang="en-IN" dirty="0"/>
              <a:t>The Millionaire’s Secret</a:t>
            </a:r>
          </a:p>
        </p:txBody>
      </p:sp>
      <p:sp>
        <p:nvSpPr>
          <p:cNvPr id="3" name="Content Placeholder 2">
            <a:extLst>
              <a:ext uri="{FF2B5EF4-FFF2-40B4-BE49-F238E27FC236}">
                <a16:creationId xmlns:a16="http://schemas.microsoft.com/office/drawing/2014/main" id="{7E181442-2E9D-2874-84F0-1A24D7366E68}"/>
              </a:ext>
            </a:extLst>
          </p:cNvPr>
          <p:cNvSpPr>
            <a:spLocks noGrp="1"/>
          </p:cNvSpPr>
          <p:nvPr>
            <p:ph idx="1"/>
          </p:nvPr>
        </p:nvSpPr>
        <p:spPr>
          <a:xfrm>
            <a:off x="1645920" y="2958214"/>
            <a:ext cx="6234544" cy="1913044"/>
          </a:xfrm>
        </p:spPr>
        <p:txBody>
          <a:bodyPr/>
          <a:lstStyle/>
          <a:p>
            <a:pPr marL="0" indent="0" algn="ctr">
              <a:buNone/>
            </a:pPr>
            <a:r>
              <a:rPr lang="en-US" sz="3200" dirty="0"/>
              <a:t>Living within your means</a:t>
            </a:r>
          </a:p>
          <a:p>
            <a:pPr marL="0" indent="0" algn="ctr">
              <a:buNone/>
            </a:pPr>
            <a:r>
              <a:rPr lang="en-US" sz="3200" dirty="0"/>
              <a:t>-OR-</a:t>
            </a:r>
          </a:p>
          <a:p>
            <a:pPr marL="0" indent="0" algn="ctr">
              <a:buNone/>
            </a:pPr>
            <a:r>
              <a:rPr lang="en-US" sz="3200" dirty="0"/>
              <a:t>Only buying what you can afford</a:t>
            </a:r>
            <a:endParaRPr lang="en-IN" sz="3200" dirty="0"/>
          </a:p>
        </p:txBody>
      </p:sp>
      <p:sp>
        <p:nvSpPr>
          <p:cNvPr id="4" name="Footer Placeholder 3">
            <a:extLst>
              <a:ext uri="{FF2B5EF4-FFF2-40B4-BE49-F238E27FC236}">
                <a16:creationId xmlns:a16="http://schemas.microsoft.com/office/drawing/2014/main" id="{15A8F7DD-BF11-03F0-257E-FEE583BCBF49}"/>
              </a:ext>
            </a:extLst>
          </p:cNvPr>
          <p:cNvSpPr>
            <a:spLocks noGrp="1"/>
          </p:cNvSpPr>
          <p:nvPr>
            <p:ph type="ftr" sz="quarter" idx="11"/>
          </p:nvPr>
        </p:nvSpPr>
        <p:spPr/>
        <p:txBody>
          <a:bodyPr/>
          <a:lstStyle/>
          <a:p>
            <a:endParaRPr lang="en-IN"/>
          </a:p>
        </p:txBody>
      </p:sp>
      <p:pic>
        <p:nvPicPr>
          <p:cNvPr id="6" name="Picture 5">
            <a:extLst>
              <a:ext uri="{FF2B5EF4-FFF2-40B4-BE49-F238E27FC236}">
                <a16:creationId xmlns:a16="http://schemas.microsoft.com/office/drawing/2014/main" id="{CE400BB4-CD96-E0CF-C245-9AE0115F3396}"/>
              </a:ext>
            </a:extLst>
          </p:cNvPr>
          <p:cNvPicPr>
            <a:picLocks noChangeAspect="1"/>
          </p:cNvPicPr>
          <p:nvPr/>
        </p:nvPicPr>
        <p:blipFill>
          <a:blip r:embed="rId2"/>
          <a:stretch>
            <a:fillRect/>
          </a:stretch>
        </p:blipFill>
        <p:spPr>
          <a:xfrm>
            <a:off x="8513126" y="2426200"/>
            <a:ext cx="2713703" cy="2703871"/>
          </a:xfrm>
          <a:prstGeom prst="rect">
            <a:avLst/>
          </a:prstGeom>
        </p:spPr>
      </p:pic>
    </p:spTree>
    <p:extLst>
      <p:ext uri="{BB962C8B-B14F-4D97-AF65-F5344CB8AC3E}">
        <p14:creationId xmlns:p14="http://schemas.microsoft.com/office/powerpoint/2010/main" val="3209140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B7BDD-EECF-9DE7-9FCC-25ABFB8E9118}"/>
              </a:ext>
            </a:extLst>
          </p:cNvPr>
          <p:cNvSpPr>
            <a:spLocks noGrp="1"/>
          </p:cNvSpPr>
          <p:nvPr>
            <p:ph type="title"/>
          </p:nvPr>
        </p:nvSpPr>
        <p:spPr>
          <a:xfrm>
            <a:off x="839788" y="365125"/>
            <a:ext cx="10515600" cy="478937"/>
          </a:xfrm>
        </p:spPr>
        <p:txBody>
          <a:bodyPr>
            <a:normAutofit fontScale="90000"/>
          </a:bodyPr>
          <a:lstStyle/>
          <a:p>
            <a:pPr algn="ctr"/>
            <a:r>
              <a:rPr lang="en-US" dirty="0"/>
              <a:t>Look at these scenarios</a:t>
            </a:r>
            <a:endParaRPr lang="en-IN" dirty="0"/>
          </a:p>
        </p:txBody>
      </p:sp>
      <p:sp>
        <p:nvSpPr>
          <p:cNvPr id="4" name="Content Placeholder 3">
            <a:extLst>
              <a:ext uri="{FF2B5EF4-FFF2-40B4-BE49-F238E27FC236}">
                <a16:creationId xmlns:a16="http://schemas.microsoft.com/office/drawing/2014/main" id="{A0F4D4C4-AA98-2D8E-1D35-95442FFDCBD2}"/>
              </a:ext>
            </a:extLst>
          </p:cNvPr>
          <p:cNvSpPr>
            <a:spLocks noGrp="1"/>
          </p:cNvSpPr>
          <p:nvPr>
            <p:ph sz="half" idx="2"/>
          </p:nvPr>
        </p:nvSpPr>
        <p:spPr>
          <a:xfrm>
            <a:off x="839788" y="1124734"/>
            <a:ext cx="10515600" cy="1095952"/>
          </a:xfrm>
          <a:solidFill>
            <a:schemeClr val="tx2">
              <a:lumMod val="10000"/>
              <a:lumOff val="90000"/>
            </a:schemeClr>
          </a:solidFill>
          <a:ln>
            <a:solidFill>
              <a:srgbClr val="C00000"/>
            </a:solidFill>
          </a:ln>
        </p:spPr>
        <p:txBody>
          <a:bodyPr>
            <a:normAutofit fontScale="62500" lnSpcReduction="20000"/>
          </a:bodyPr>
          <a:lstStyle/>
          <a:p>
            <a:pPr>
              <a:lnSpc>
                <a:spcPct val="120000"/>
              </a:lnSpc>
              <a:spcBef>
                <a:spcPts val="0"/>
              </a:spcBef>
            </a:pPr>
            <a:r>
              <a:rPr lang="en-US" sz="3300" b="1" dirty="0">
                <a:latin typeface="Times New Roman" panose="02020603050405020304" pitchFamily="18" charset="0"/>
                <a:cs typeface="Times New Roman" panose="02020603050405020304" pitchFamily="18" charset="0"/>
              </a:rPr>
              <a:t>Aarav, 23—earns a monthly salary of Rs.10,000 from his call </a:t>
            </a:r>
            <a:r>
              <a:rPr lang="en-US" sz="3300" b="1" dirty="0" err="1">
                <a:latin typeface="Times New Roman" panose="02020603050405020304" pitchFamily="18" charset="0"/>
                <a:cs typeface="Times New Roman" panose="02020603050405020304" pitchFamily="18" charset="0"/>
              </a:rPr>
              <a:t>centre</a:t>
            </a:r>
            <a:r>
              <a:rPr lang="en-US" sz="3300" b="1" dirty="0">
                <a:latin typeface="Times New Roman" panose="02020603050405020304" pitchFamily="18" charset="0"/>
                <a:cs typeface="Times New Roman" panose="02020603050405020304" pitchFamily="18" charset="0"/>
              </a:rPr>
              <a:t> job. His average monthly spending on livelihood and looking good is about Rs.9200. He currently has no investments and has an amount of Rs.3200 overdue on his credit card.</a:t>
            </a:r>
            <a:endParaRPr lang="en-IN" sz="3300" b="1" dirty="0">
              <a:latin typeface="Times New Roman" panose="02020603050405020304" pitchFamily="18" charset="0"/>
              <a:cs typeface="Times New Roman" panose="02020603050405020304" pitchFamily="18" charset="0"/>
            </a:endParaRPr>
          </a:p>
          <a:p>
            <a:endParaRPr lang="en-IN" dirty="0"/>
          </a:p>
        </p:txBody>
      </p:sp>
      <p:sp>
        <p:nvSpPr>
          <p:cNvPr id="6" name="Content Placeholder 5">
            <a:extLst>
              <a:ext uri="{FF2B5EF4-FFF2-40B4-BE49-F238E27FC236}">
                <a16:creationId xmlns:a16="http://schemas.microsoft.com/office/drawing/2014/main" id="{ECC39508-F489-1F5E-5CC0-7E796B6BA3F9}"/>
              </a:ext>
            </a:extLst>
          </p:cNvPr>
          <p:cNvSpPr>
            <a:spLocks noGrp="1"/>
          </p:cNvSpPr>
          <p:nvPr>
            <p:ph sz="quarter" idx="4"/>
          </p:nvPr>
        </p:nvSpPr>
        <p:spPr>
          <a:xfrm>
            <a:off x="836612" y="2348251"/>
            <a:ext cx="10515599" cy="1077244"/>
          </a:xfrm>
          <a:solidFill>
            <a:schemeClr val="accent2">
              <a:lumMod val="20000"/>
              <a:lumOff val="80000"/>
            </a:schemeClr>
          </a:solidFill>
          <a:ln>
            <a:solidFill>
              <a:srgbClr val="C00000"/>
            </a:solidFill>
          </a:ln>
        </p:spPr>
        <p:txBody>
          <a:bodyPr>
            <a:normAutofit fontScale="62500" lnSpcReduction="20000"/>
          </a:bodyPr>
          <a:lstStyle/>
          <a:p>
            <a:pPr>
              <a:lnSpc>
                <a:spcPct val="120000"/>
              </a:lnSpc>
              <a:spcBef>
                <a:spcPts val="0"/>
              </a:spcBef>
            </a:pPr>
            <a:r>
              <a:rPr lang="en-US" sz="2900" b="1" dirty="0">
                <a:latin typeface="Times New Roman" panose="02020603050405020304" pitchFamily="18" charset="0"/>
                <a:cs typeface="Times New Roman" panose="02020603050405020304" pitchFamily="18" charset="0"/>
              </a:rPr>
              <a:t>Babu, 30—earns Rs.4,000 per month as a bank clerk. He spends a maximum of Rs.2000 in a month. He has Rs.4800 in his savings account but has not made any significant investments yet. He has to pay an EMI of Rs.800 towards home loan. </a:t>
            </a:r>
            <a:endParaRPr lang="en-IN" sz="2900" b="1" dirty="0">
              <a:latin typeface="Times New Roman" panose="02020603050405020304" pitchFamily="18" charset="0"/>
              <a:cs typeface="Times New Roman" panose="02020603050405020304" pitchFamily="18" charset="0"/>
            </a:endParaRPr>
          </a:p>
          <a:p>
            <a:endParaRPr lang="en-IN" dirty="0"/>
          </a:p>
        </p:txBody>
      </p:sp>
      <p:sp>
        <p:nvSpPr>
          <p:cNvPr id="7" name="Content Placeholder 5">
            <a:extLst>
              <a:ext uri="{FF2B5EF4-FFF2-40B4-BE49-F238E27FC236}">
                <a16:creationId xmlns:a16="http://schemas.microsoft.com/office/drawing/2014/main" id="{1171DC33-101B-E62F-5670-A29069BAC4EC}"/>
              </a:ext>
            </a:extLst>
          </p:cNvPr>
          <p:cNvSpPr txBox="1">
            <a:spLocks/>
          </p:cNvSpPr>
          <p:nvPr/>
        </p:nvSpPr>
        <p:spPr>
          <a:xfrm>
            <a:off x="836612" y="3553060"/>
            <a:ext cx="10515600" cy="1036289"/>
          </a:xfrm>
          <a:prstGeom prst="rect">
            <a:avLst/>
          </a:prstGeom>
          <a:solidFill>
            <a:schemeClr val="accent4">
              <a:lumMod val="20000"/>
              <a:lumOff val="80000"/>
            </a:schemeClr>
          </a:solidFill>
          <a:ln>
            <a:solidFill>
              <a:srgbClr val="C00000"/>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pPr>
            <a:r>
              <a:rPr lang="en-US" sz="2300" b="1" dirty="0">
                <a:latin typeface="Times New Roman" panose="02020603050405020304" pitchFamily="18" charset="0"/>
                <a:cs typeface="Times New Roman" panose="02020603050405020304" pitchFamily="18" charset="0"/>
              </a:rPr>
              <a:t>Chanda, 26—is a housewife who gets Rs.4500 from her husband every month towards household expenses. She makes it a point to put Rs.500 in her savings account as soon as she gets her ‘allowance’. She has managed to build a reserve of Rs.3000 so far. </a:t>
            </a:r>
            <a:endParaRPr lang="en-IN" sz="2300" b="1" dirty="0">
              <a:latin typeface="Times New Roman" panose="02020603050405020304" pitchFamily="18" charset="0"/>
              <a:cs typeface="Times New Roman" panose="02020603050405020304" pitchFamily="18" charset="0"/>
            </a:endParaRPr>
          </a:p>
          <a:p>
            <a:endParaRPr lang="en-IN" dirty="0"/>
          </a:p>
        </p:txBody>
      </p:sp>
      <p:sp>
        <p:nvSpPr>
          <p:cNvPr id="8" name="Content Placeholder 5">
            <a:extLst>
              <a:ext uri="{FF2B5EF4-FFF2-40B4-BE49-F238E27FC236}">
                <a16:creationId xmlns:a16="http://schemas.microsoft.com/office/drawing/2014/main" id="{62A504C1-DAA2-9497-BBF5-6463263E14E8}"/>
              </a:ext>
            </a:extLst>
          </p:cNvPr>
          <p:cNvSpPr txBox="1">
            <a:spLocks/>
          </p:cNvSpPr>
          <p:nvPr/>
        </p:nvSpPr>
        <p:spPr>
          <a:xfrm>
            <a:off x="836612" y="4698208"/>
            <a:ext cx="10564497" cy="1095951"/>
          </a:xfrm>
          <a:prstGeom prst="rect">
            <a:avLst/>
          </a:prstGeom>
          <a:solidFill>
            <a:schemeClr val="accent6">
              <a:lumMod val="20000"/>
              <a:lumOff val="80000"/>
            </a:schemeClr>
          </a:solidFill>
          <a:ln>
            <a:solidFill>
              <a:srgbClr val="C00000"/>
            </a:solidFill>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spcBef>
                <a:spcPts val="0"/>
              </a:spcBef>
            </a:pPr>
            <a:r>
              <a:rPr lang="en-US" sz="1900" b="1" dirty="0">
                <a:latin typeface="Times New Roman" panose="02020603050405020304" pitchFamily="18" charset="0"/>
                <a:cs typeface="Times New Roman" panose="02020603050405020304" pitchFamily="18" charset="0"/>
              </a:rPr>
              <a:t>David, 19—a third year commerce student has built an investment portfolio of Rs.5000 in mutual funds. He started investing a part of his allowance, cash prize and gifts on his 19th birthday, 6 months back.</a:t>
            </a:r>
            <a:endParaRPr lang="en-IN" sz="19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9" name="TextBox 8">
            <a:extLst>
              <a:ext uri="{FF2B5EF4-FFF2-40B4-BE49-F238E27FC236}">
                <a16:creationId xmlns:a16="http://schemas.microsoft.com/office/drawing/2014/main" id="{B5067F44-301B-B429-A6E4-D8B69AE4B8F1}"/>
              </a:ext>
            </a:extLst>
          </p:cNvPr>
          <p:cNvSpPr txBox="1"/>
          <p:nvPr/>
        </p:nvSpPr>
        <p:spPr>
          <a:xfrm>
            <a:off x="899978" y="5943711"/>
            <a:ext cx="10638606" cy="430887"/>
          </a:xfrm>
          <a:prstGeom prst="rect">
            <a:avLst/>
          </a:prstGeom>
          <a:noFill/>
        </p:spPr>
        <p:txBody>
          <a:bodyPr wrap="square" rtlCol="0">
            <a:spAutoFit/>
          </a:bodyPr>
          <a:lstStyle/>
          <a:p>
            <a:pPr algn="ctr"/>
            <a:r>
              <a:rPr lang="en-US" sz="2200" b="1" dirty="0">
                <a:solidFill>
                  <a:srgbClr val="C00000"/>
                </a:solidFill>
                <a:latin typeface="Times New Roman" panose="02020603050405020304" pitchFamily="18" charset="0"/>
                <a:cs typeface="Times New Roman" panose="02020603050405020304" pitchFamily="18" charset="0"/>
              </a:rPr>
              <a:t>Is </a:t>
            </a:r>
            <a:r>
              <a:rPr lang="en-US" sz="2200" b="1" u="sng" dirty="0">
                <a:solidFill>
                  <a:srgbClr val="C00000"/>
                </a:solidFill>
                <a:latin typeface="Times New Roman" panose="02020603050405020304" pitchFamily="18" charset="0"/>
                <a:cs typeface="Times New Roman" panose="02020603050405020304" pitchFamily="18" charset="0"/>
              </a:rPr>
              <a:t>INCOME</a:t>
            </a:r>
            <a:r>
              <a:rPr lang="en-US" sz="2200" b="1" dirty="0">
                <a:solidFill>
                  <a:srgbClr val="C00000"/>
                </a:solidFill>
                <a:latin typeface="Times New Roman" panose="02020603050405020304" pitchFamily="18" charset="0"/>
                <a:cs typeface="Times New Roman" panose="02020603050405020304" pitchFamily="18" charset="0"/>
              </a:rPr>
              <a:t> the indicator of one’s financial position?</a:t>
            </a:r>
            <a:endParaRPr lang="en-IN" sz="2200" b="1" dirty="0">
              <a:solidFill>
                <a:srgbClr val="C00000"/>
              </a:solidFill>
              <a:latin typeface="Times New Roman" panose="02020603050405020304" pitchFamily="18" charset="0"/>
              <a:cs typeface="Times New Roman" panose="02020603050405020304" pitchFamily="18" charset="0"/>
            </a:endParaRPr>
          </a:p>
        </p:txBody>
      </p:sp>
      <p:sp>
        <p:nvSpPr>
          <p:cNvPr id="10" name="Footer Placeholder 9">
            <a:extLst>
              <a:ext uri="{FF2B5EF4-FFF2-40B4-BE49-F238E27FC236}">
                <a16:creationId xmlns:a16="http://schemas.microsoft.com/office/drawing/2014/main" id="{C0A53C89-A1CC-3369-3F61-02DE7C3283A5}"/>
              </a:ext>
            </a:extLst>
          </p:cNvPr>
          <p:cNvSpPr>
            <a:spLocks noGrp="1"/>
          </p:cNvSpPr>
          <p:nvPr>
            <p:ph type="ftr" sz="quarter" idx="11"/>
          </p:nvPr>
        </p:nvSpPr>
        <p:spPr>
          <a:xfrm>
            <a:off x="4037011" y="6524150"/>
            <a:ext cx="4114800" cy="365125"/>
          </a:xfrm>
        </p:spPr>
        <p:txBody>
          <a:bodyPr/>
          <a:lstStyle/>
          <a:p>
            <a:endParaRPr lang="en-IN" dirty="0"/>
          </a:p>
        </p:txBody>
      </p:sp>
    </p:spTree>
    <p:extLst>
      <p:ext uri="{BB962C8B-B14F-4D97-AF65-F5344CB8AC3E}">
        <p14:creationId xmlns:p14="http://schemas.microsoft.com/office/powerpoint/2010/main" val="2137278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D3CD488-4B69-741E-5A84-6A58C81E36F7}"/>
              </a:ext>
            </a:extLst>
          </p:cNvPr>
          <p:cNvSpPr>
            <a:spLocks noGrp="1"/>
          </p:cNvSpPr>
          <p:nvPr>
            <p:ph idx="1"/>
          </p:nvPr>
        </p:nvSpPr>
        <p:spPr>
          <a:xfrm>
            <a:off x="838200" y="874207"/>
            <a:ext cx="10515600" cy="5302756"/>
          </a:xfrm>
        </p:spPr>
        <p:txBody>
          <a:bodyPr/>
          <a:lstStyle/>
          <a:p>
            <a:pPr marL="0" indent="0" algn="just">
              <a:buNone/>
            </a:pPr>
            <a:r>
              <a:rPr lang="en-US" dirty="0"/>
              <a:t>To sum up, income alone is no indicator of your financial position. The four cornerstones of your financial foundation are:</a:t>
            </a:r>
          </a:p>
          <a:p>
            <a:pPr marL="0" indent="0" algn="just">
              <a:buNone/>
            </a:pPr>
            <a:endParaRPr lang="en-US" dirty="0"/>
          </a:p>
          <a:p>
            <a:pPr marL="0" indent="0" algn="just">
              <a:buNone/>
            </a:pPr>
            <a:r>
              <a:rPr lang="en-US" dirty="0"/>
              <a:t>1. Income in relation with your</a:t>
            </a:r>
          </a:p>
          <a:p>
            <a:pPr marL="0" indent="0" algn="just">
              <a:buNone/>
            </a:pPr>
            <a:r>
              <a:rPr lang="en-US" dirty="0"/>
              <a:t>2. Expenses,</a:t>
            </a:r>
          </a:p>
          <a:p>
            <a:pPr marL="0" indent="0" algn="just">
              <a:buNone/>
            </a:pPr>
            <a:r>
              <a:rPr lang="en-US" dirty="0"/>
              <a:t>3. Assets and</a:t>
            </a:r>
          </a:p>
          <a:p>
            <a:pPr marL="0" indent="0" algn="just">
              <a:buNone/>
            </a:pPr>
            <a:r>
              <a:rPr lang="en-US" dirty="0"/>
              <a:t>4. Liabilities</a:t>
            </a:r>
          </a:p>
          <a:p>
            <a:pPr marL="0" indent="0" algn="just">
              <a:buNone/>
            </a:pPr>
            <a:endParaRPr lang="en-US" dirty="0"/>
          </a:p>
          <a:p>
            <a:pPr marL="0" indent="0" algn="just">
              <a:buNone/>
            </a:pPr>
            <a:r>
              <a:rPr lang="en-US" dirty="0"/>
              <a:t>And hence, no matter how much or little you are earning currently, how you manage the four cornerstones would decide how strong and stable your financial foundation will be.</a:t>
            </a:r>
            <a:endParaRPr lang="en-IN" dirty="0"/>
          </a:p>
        </p:txBody>
      </p:sp>
    </p:spTree>
    <p:extLst>
      <p:ext uri="{BB962C8B-B14F-4D97-AF65-F5344CB8AC3E}">
        <p14:creationId xmlns:p14="http://schemas.microsoft.com/office/powerpoint/2010/main" val="2640903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FD3389-3941-0323-46B1-79412FA541BA}"/>
              </a:ext>
            </a:extLst>
          </p:cNvPr>
          <p:cNvSpPr>
            <a:spLocks noGrp="1"/>
          </p:cNvSpPr>
          <p:nvPr>
            <p:ph idx="1"/>
          </p:nvPr>
        </p:nvSpPr>
        <p:spPr>
          <a:xfrm>
            <a:off x="838200" y="552659"/>
            <a:ext cx="10515600" cy="5624304"/>
          </a:xfrm>
        </p:spPr>
        <p:txBody>
          <a:bodyPr>
            <a:normAutofit fontScale="92500" lnSpcReduction="20000"/>
          </a:bodyPr>
          <a:lstStyle/>
          <a:p>
            <a:pPr marL="0" indent="0" algn="just">
              <a:lnSpc>
                <a:spcPct val="120000"/>
              </a:lnSpc>
              <a:spcBef>
                <a:spcPts val="0"/>
              </a:spcBef>
              <a:buNone/>
            </a:pPr>
            <a:r>
              <a:rPr lang="en-US" dirty="0"/>
              <a:t>So how do you get the 4 cornerstones of your financial foundation in place? Use the tripod of money management—Record Keeping, Budgeting and Saving</a:t>
            </a:r>
          </a:p>
          <a:p>
            <a:pPr marL="914400" lvl="1" indent="-457200" algn="just">
              <a:lnSpc>
                <a:spcPct val="120000"/>
              </a:lnSpc>
              <a:spcBef>
                <a:spcPts val="0"/>
              </a:spcBef>
              <a:buFont typeface="+mj-lt"/>
              <a:buAutoNum type="arabicPeriod"/>
            </a:pPr>
            <a:r>
              <a:rPr lang="en-US" b="1" dirty="0"/>
              <a:t>Record keeping </a:t>
            </a:r>
            <a:r>
              <a:rPr lang="en-US" dirty="0"/>
              <a:t>— timely recording of expenses and meticulous keeping of important documents and records; bills, receipts, tax documents, statement of savings, investments and credit cards, warranty/guarantee cards.</a:t>
            </a:r>
          </a:p>
          <a:p>
            <a:pPr marL="914400" lvl="1" indent="-457200" algn="just">
              <a:lnSpc>
                <a:spcPct val="120000"/>
              </a:lnSpc>
              <a:spcBef>
                <a:spcPts val="0"/>
              </a:spcBef>
              <a:buFont typeface="+mj-lt"/>
              <a:buAutoNum type="arabicPeriod"/>
            </a:pPr>
            <a:r>
              <a:rPr lang="en-US" b="1" dirty="0"/>
              <a:t>Budgeting</a:t>
            </a:r>
            <a:r>
              <a:rPr lang="en-US" dirty="0"/>
              <a:t> — making and following a plan to put your money to optimum use. A plan that would enable you to-</a:t>
            </a:r>
          </a:p>
          <a:p>
            <a:pPr marL="1371600" lvl="2" indent="-457200" algn="just">
              <a:lnSpc>
                <a:spcPct val="120000"/>
              </a:lnSpc>
              <a:spcBef>
                <a:spcPts val="0"/>
              </a:spcBef>
              <a:buFont typeface="+mj-lt"/>
              <a:buAutoNum type="arabicPeriod"/>
            </a:pPr>
            <a:r>
              <a:rPr lang="en-US" dirty="0"/>
              <a:t>- reduce liabilities, - to spend wisely, - to save, and</a:t>
            </a:r>
          </a:p>
          <a:p>
            <a:pPr marL="1371600" lvl="2" indent="-457200" algn="just">
              <a:lnSpc>
                <a:spcPct val="120000"/>
              </a:lnSpc>
              <a:spcBef>
                <a:spcPts val="0"/>
              </a:spcBef>
              <a:buFont typeface="+mj-lt"/>
              <a:buAutoNum type="arabicPeriod"/>
            </a:pPr>
            <a:r>
              <a:rPr lang="en-US" dirty="0"/>
              <a:t>- invest and add to your income.</a:t>
            </a:r>
          </a:p>
          <a:p>
            <a:pPr marL="914400" lvl="1" indent="-457200" algn="just">
              <a:lnSpc>
                <a:spcPct val="120000"/>
              </a:lnSpc>
              <a:spcBef>
                <a:spcPts val="0"/>
              </a:spcBef>
              <a:buFont typeface="+mj-lt"/>
              <a:buAutoNum type="arabicPeriod"/>
            </a:pPr>
            <a:r>
              <a:rPr lang="en-US" b="1" dirty="0"/>
              <a:t>Saving</a:t>
            </a:r>
            <a:r>
              <a:rPr lang="en-US" dirty="0"/>
              <a:t> — building reserves to be able to-</a:t>
            </a:r>
          </a:p>
          <a:p>
            <a:pPr marL="1371600" lvl="2" indent="-457200" algn="just">
              <a:lnSpc>
                <a:spcPct val="120000"/>
              </a:lnSpc>
              <a:spcBef>
                <a:spcPts val="0"/>
              </a:spcBef>
              <a:buFont typeface="+mj-lt"/>
              <a:buAutoNum type="arabicPeriod"/>
            </a:pPr>
            <a:r>
              <a:rPr lang="en-US" dirty="0"/>
              <a:t>- face financial emergencies, and </a:t>
            </a:r>
          </a:p>
          <a:p>
            <a:pPr marL="1371600" lvl="2" indent="-457200" algn="just">
              <a:lnSpc>
                <a:spcPct val="120000"/>
              </a:lnSpc>
              <a:spcBef>
                <a:spcPts val="0"/>
              </a:spcBef>
              <a:buFont typeface="+mj-lt"/>
              <a:buAutoNum type="arabicPeriod"/>
            </a:pPr>
            <a:r>
              <a:rPr lang="en-US" dirty="0"/>
              <a:t>- invest and build assets.</a:t>
            </a:r>
          </a:p>
          <a:p>
            <a:pPr marL="1371600" lvl="2" indent="-457200" algn="just">
              <a:lnSpc>
                <a:spcPct val="120000"/>
              </a:lnSpc>
              <a:spcBef>
                <a:spcPts val="0"/>
              </a:spcBef>
              <a:buFont typeface="+mj-lt"/>
              <a:buAutoNum type="arabicPeriod"/>
            </a:pPr>
            <a:r>
              <a:rPr lang="en-US" dirty="0"/>
              <a:t>Your </a:t>
            </a:r>
            <a:r>
              <a:rPr lang="en-US" b="1" dirty="0"/>
              <a:t>financial position</a:t>
            </a:r>
            <a:r>
              <a:rPr lang="en-US" dirty="0"/>
              <a:t> is a mix of all these things. Just earning a lot of money (income) isn’t enough if you’re spending too much (expenses), have lots of debt (liabilities), or don’t own anything valuable (assets). To have a strong financial foundation, you need to manage your income, keep expenses in check, grow assets, and minimize liabilities.</a:t>
            </a:r>
            <a:endParaRPr lang="en-IN" dirty="0"/>
          </a:p>
        </p:txBody>
      </p:sp>
    </p:spTree>
    <p:extLst>
      <p:ext uri="{BB962C8B-B14F-4D97-AF65-F5344CB8AC3E}">
        <p14:creationId xmlns:p14="http://schemas.microsoft.com/office/powerpoint/2010/main" val="3260499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84406-5A8F-883C-1997-682DBAA029BE}"/>
              </a:ext>
            </a:extLst>
          </p:cNvPr>
          <p:cNvSpPr>
            <a:spLocks noGrp="1"/>
          </p:cNvSpPr>
          <p:nvPr>
            <p:ph type="title"/>
          </p:nvPr>
        </p:nvSpPr>
        <p:spPr>
          <a:xfrm>
            <a:off x="838200" y="365126"/>
            <a:ext cx="10515600" cy="740194"/>
          </a:xfrm>
        </p:spPr>
        <p:txBody>
          <a:bodyPr/>
          <a:lstStyle/>
          <a:p>
            <a:pPr algn="ctr"/>
            <a:r>
              <a:rPr lang="en-US" dirty="0"/>
              <a:t>The Money Management Process</a:t>
            </a:r>
            <a:endParaRPr lang="en-IN" dirty="0"/>
          </a:p>
        </p:txBody>
      </p:sp>
      <p:pic>
        <p:nvPicPr>
          <p:cNvPr id="5" name="Content Placeholder 4">
            <a:extLst>
              <a:ext uri="{FF2B5EF4-FFF2-40B4-BE49-F238E27FC236}">
                <a16:creationId xmlns:a16="http://schemas.microsoft.com/office/drawing/2014/main" id="{1A286DD9-8B1B-9B0E-5647-D5807F7E7DC3}"/>
              </a:ext>
            </a:extLst>
          </p:cNvPr>
          <p:cNvPicPr>
            <a:picLocks noGrp="1" noChangeAspect="1"/>
          </p:cNvPicPr>
          <p:nvPr>
            <p:ph idx="1"/>
          </p:nvPr>
        </p:nvPicPr>
        <p:blipFill>
          <a:blip r:embed="rId2"/>
          <a:stretch>
            <a:fillRect/>
          </a:stretch>
        </p:blipFill>
        <p:spPr>
          <a:xfrm>
            <a:off x="1718268" y="1225898"/>
            <a:ext cx="9154048" cy="5456255"/>
          </a:xfrm>
        </p:spPr>
      </p:pic>
    </p:spTree>
    <p:extLst>
      <p:ext uri="{BB962C8B-B14F-4D97-AF65-F5344CB8AC3E}">
        <p14:creationId xmlns:p14="http://schemas.microsoft.com/office/powerpoint/2010/main" val="3687856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9B507-A74F-AFAD-63CB-A4A8DBF8EFEC}"/>
              </a:ext>
            </a:extLst>
          </p:cNvPr>
          <p:cNvSpPr>
            <a:spLocks noGrp="1"/>
          </p:cNvSpPr>
          <p:nvPr>
            <p:ph type="title"/>
          </p:nvPr>
        </p:nvSpPr>
        <p:spPr/>
        <p:txBody>
          <a:bodyPr/>
          <a:lstStyle/>
          <a:p>
            <a:pPr algn="ctr"/>
            <a:br>
              <a:rPr lang="en-IN" dirty="0"/>
            </a:br>
            <a:r>
              <a:rPr lang="en-IN" dirty="0"/>
              <a:t>Remember Budgeting?</a:t>
            </a:r>
          </a:p>
        </p:txBody>
      </p:sp>
      <p:sp>
        <p:nvSpPr>
          <p:cNvPr id="9" name="Text Placeholder 8">
            <a:extLst>
              <a:ext uri="{FF2B5EF4-FFF2-40B4-BE49-F238E27FC236}">
                <a16:creationId xmlns:a16="http://schemas.microsoft.com/office/drawing/2014/main" id="{11478087-BEDD-0F77-EA4C-C854C1CAF2FF}"/>
              </a:ext>
            </a:extLst>
          </p:cNvPr>
          <p:cNvSpPr>
            <a:spLocks noGrp="1"/>
          </p:cNvSpPr>
          <p:nvPr>
            <p:ph type="body" idx="1"/>
          </p:nvPr>
        </p:nvSpPr>
        <p:spPr/>
        <p:txBody>
          <a:bodyPr>
            <a:normAutofit lnSpcReduction="10000"/>
          </a:bodyPr>
          <a:lstStyle/>
          <a:p>
            <a:r>
              <a:rPr lang="en-IN" dirty="0"/>
              <a:t>Budgeting IS…</a:t>
            </a:r>
          </a:p>
        </p:txBody>
      </p:sp>
      <p:sp>
        <p:nvSpPr>
          <p:cNvPr id="10" name="Content Placeholder 9">
            <a:extLst>
              <a:ext uri="{FF2B5EF4-FFF2-40B4-BE49-F238E27FC236}">
                <a16:creationId xmlns:a16="http://schemas.microsoft.com/office/drawing/2014/main" id="{0B45EAE5-C95B-47B4-C162-56D549D88E8E}"/>
              </a:ext>
            </a:extLst>
          </p:cNvPr>
          <p:cNvSpPr>
            <a:spLocks noGrp="1"/>
          </p:cNvSpPr>
          <p:nvPr>
            <p:ph sz="half" idx="2"/>
          </p:nvPr>
        </p:nvSpPr>
        <p:spPr/>
        <p:txBody>
          <a:bodyPr/>
          <a:lstStyle/>
          <a:p>
            <a:endParaRPr lang="en-IN" dirty="0"/>
          </a:p>
          <a:p>
            <a:endParaRPr lang="en-IN" dirty="0"/>
          </a:p>
          <a:p>
            <a:r>
              <a:rPr lang="en-IN" dirty="0"/>
              <a:t>A money management system</a:t>
            </a:r>
          </a:p>
          <a:p>
            <a:r>
              <a:rPr lang="en-IN" dirty="0"/>
              <a:t>Setting financial goals</a:t>
            </a:r>
          </a:p>
          <a:p>
            <a:r>
              <a:rPr lang="en-IN" dirty="0"/>
              <a:t>Saving money</a:t>
            </a:r>
          </a:p>
          <a:p>
            <a:r>
              <a:rPr lang="en-IN" dirty="0"/>
              <a:t>Preparing for the future</a:t>
            </a:r>
          </a:p>
          <a:p>
            <a:pPr marL="0" indent="0">
              <a:buNone/>
            </a:pPr>
            <a:endParaRPr lang="en-IN" dirty="0"/>
          </a:p>
        </p:txBody>
      </p:sp>
      <p:sp>
        <p:nvSpPr>
          <p:cNvPr id="11" name="Text Placeholder 10">
            <a:extLst>
              <a:ext uri="{FF2B5EF4-FFF2-40B4-BE49-F238E27FC236}">
                <a16:creationId xmlns:a16="http://schemas.microsoft.com/office/drawing/2014/main" id="{2716384B-FDCD-4E6D-06C8-12C53338E397}"/>
              </a:ext>
            </a:extLst>
          </p:cNvPr>
          <p:cNvSpPr>
            <a:spLocks noGrp="1"/>
          </p:cNvSpPr>
          <p:nvPr>
            <p:ph type="body" sz="quarter" idx="3"/>
          </p:nvPr>
        </p:nvSpPr>
        <p:spPr/>
        <p:txBody>
          <a:bodyPr>
            <a:normAutofit lnSpcReduction="10000"/>
          </a:bodyPr>
          <a:lstStyle/>
          <a:p>
            <a:endParaRPr lang="en-IN" b="0" dirty="0"/>
          </a:p>
          <a:p>
            <a:r>
              <a:rPr lang="en-IN" b="0" dirty="0"/>
              <a:t>Budgeting is NOT…</a:t>
            </a:r>
            <a:endParaRPr lang="en-IN" dirty="0"/>
          </a:p>
        </p:txBody>
      </p:sp>
      <p:sp>
        <p:nvSpPr>
          <p:cNvPr id="12" name="Content Placeholder 11">
            <a:extLst>
              <a:ext uri="{FF2B5EF4-FFF2-40B4-BE49-F238E27FC236}">
                <a16:creationId xmlns:a16="http://schemas.microsoft.com/office/drawing/2014/main" id="{68FDE1C9-F849-3928-6AD5-E0DEEC6676CC}"/>
              </a:ext>
            </a:extLst>
          </p:cNvPr>
          <p:cNvSpPr>
            <a:spLocks noGrp="1"/>
          </p:cNvSpPr>
          <p:nvPr>
            <p:ph sz="quarter" idx="4"/>
          </p:nvPr>
        </p:nvSpPr>
        <p:spPr/>
        <p:txBody>
          <a:bodyPr/>
          <a:lstStyle/>
          <a:p>
            <a:endParaRPr lang="en-IN" dirty="0"/>
          </a:p>
          <a:p>
            <a:endParaRPr lang="en-IN" dirty="0"/>
          </a:p>
          <a:p>
            <a:r>
              <a:rPr lang="en-IN" dirty="0"/>
              <a:t>A money management system</a:t>
            </a:r>
          </a:p>
          <a:p>
            <a:r>
              <a:rPr lang="en-IN" dirty="0"/>
              <a:t>Setting financial goals</a:t>
            </a:r>
          </a:p>
          <a:p>
            <a:r>
              <a:rPr lang="en-IN" dirty="0"/>
              <a:t>Saving money</a:t>
            </a:r>
          </a:p>
          <a:p>
            <a:r>
              <a:rPr lang="en-IN" dirty="0"/>
              <a:t>Preparing for the future</a:t>
            </a:r>
          </a:p>
          <a:p>
            <a:pPr marL="0" indent="0">
              <a:buNone/>
            </a:pPr>
            <a:endParaRPr lang="en-IN" dirty="0"/>
          </a:p>
        </p:txBody>
      </p:sp>
      <p:sp>
        <p:nvSpPr>
          <p:cNvPr id="4" name="Footer Placeholder 3">
            <a:extLst>
              <a:ext uri="{FF2B5EF4-FFF2-40B4-BE49-F238E27FC236}">
                <a16:creationId xmlns:a16="http://schemas.microsoft.com/office/drawing/2014/main" id="{CBF65368-B1BD-EFD8-C4AF-6581423F1C62}"/>
              </a:ext>
            </a:extLst>
          </p:cNvPr>
          <p:cNvSpPr>
            <a:spLocks noGrp="1"/>
          </p:cNvSpPr>
          <p:nvPr>
            <p:ph type="ftr" sz="quarter" idx="11"/>
          </p:nvPr>
        </p:nvSpPr>
        <p:spPr/>
        <p:txBody>
          <a:bodyPr/>
          <a:lstStyle/>
          <a:p>
            <a:endParaRPr lang="en-IN"/>
          </a:p>
        </p:txBody>
      </p:sp>
    </p:spTree>
    <p:extLst>
      <p:ext uri="{BB962C8B-B14F-4D97-AF65-F5344CB8AC3E}">
        <p14:creationId xmlns:p14="http://schemas.microsoft.com/office/powerpoint/2010/main" val="159636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ABF402-1FED-6AC6-2B5B-6056B72C8DCF}"/>
              </a:ext>
            </a:extLst>
          </p:cNvPr>
          <p:cNvSpPr>
            <a:spLocks noGrp="1"/>
          </p:cNvSpPr>
          <p:nvPr>
            <p:ph idx="1"/>
          </p:nvPr>
        </p:nvSpPr>
        <p:spPr>
          <a:xfrm>
            <a:off x="838200" y="703385"/>
            <a:ext cx="10515600" cy="5473578"/>
          </a:xfrm>
        </p:spPr>
        <p:txBody>
          <a:bodyPr>
            <a:normAutofit/>
          </a:bodyPr>
          <a:lstStyle/>
          <a:p>
            <a:pPr marL="0" indent="0">
              <a:buNone/>
            </a:pPr>
            <a:r>
              <a:rPr lang="en-US" dirty="0"/>
              <a:t>The power of money multiplies when its use is maximized. Money is not just to spend on present needs and wants nor is it to simply save.</a:t>
            </a:r>
          </a:p>
          <a:p>
            <a:pPr marL="0" indent="0">
              <a:buNone/>
            </a:pPr>
            <a:endParaRPr lang="en-US" dirty="0"/>
          </a:p>
          <a:p>
            <a:pPr marL="0" indent="0" algn="just">
              <a:buNone/>
            </a:pPr>
            <a:r>
              <a:rPr lang="en-US" dirty="0"/>
              <a:t>With your money, you should be able to:</a:t>
            </a:r>
          </a:p>
          <a:p>
            <a:pPr marL="0" indent="0" algn="just">
              <a:buNone/>
            </a:pPr>
            <a:endParaRPr lang="en-US" dirty="0"/>
          </a:p>
          <a:p>
            <a:pPr marL="971550" lvl="1" indent="-514350">
              <a:buFont typeface="+mj-lt"/>
              <a:buAutoNum type="arabicPeriod"/>
            </a:pPr>
            <a:r>
              <a:rPr lang="en-US" sz="2600" dirty="0"/>
              <a:t>meet your needs and monthly household expenses,</a:t>
            </a:r>
          </a:p>
          <a:p>
            <a:pPr marL="971550" lvl="1" indent="-514350">
              <a:buFont typeface="+mj-lt"/>
              <a:buAutoNum type="arabicPeriod"/>
            </a:pPr>
            <a:r>
              <a:rPr lang="en-US" sz="2600" dirty="0"/>
              <a:t>build a healthy saving to meet your future goals,</a:t>
            </a:r>
          </a:p>
          <a:p>
            <a:pPr marL="971550" lvl="1" indent="-514350">
              <a:buFont typeface="+mj-lt"/>
              <a:buAutoNum type="arabicPeriod"/>
            </a:pPr>
            <a:r>
              <a:rPr lang="en-US" sz="2600" dirty="0"/>
              <a:t>build a financial safety net to stabilize your financial present and future deal with emergencies without a significant financial impact, and</a:t>
            </a:r>
          </a:p>
          <a:p>
            <a:pPr marL="971550" lvl="1" indent="-514350">
              <a:buFont typeface="+mj-lt"/>
              <a:buAutoNum type="arabicPeriod"/>
            </a:pPr>
            <a:r>
              <a:rPr lang="en-US" sz="2600" dirty="0"/>
              <a:t>set aside money to grow through investments</a:t>
            </a:r>
            <a:endParaRPr lang="en-IN" sz="2600" dirty="0"/>
          </a:p>
        </p:txBody>
      </p:sp>
    </p:spTree>
    <p:extLst>
      <p:ext uri="{BB962C8B-B14F-4D97-AF65-F5344CB8AC3E}">
        <p14:creationId xmlns:p14="http://schemas.microsoft.com/office/powerpoint/2010/main" val="2250897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F35A9-6FF3-D256-A046-F929B10138B7}"/>
              </a:ext>
            </a:extLst>
          </p:cNvPr>
          <p:cNvSpPr>
            <a:spLocks noGrp="1"/>
          </p:cNvSpPr>
          <p:nvPr>
            <p:ph type="title"/>
          </p:nvPr>
        </p:nvSpPr>
        <p:spPr>
          <a:xfrm>
            <a:off x="838200" y="365125"/>
            <a:ext cx="10515600" cy="659807"/>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How do you find money for everything?</a:t>
            </a:r>
            <a:endParaRPr lang="en-IN" dirty="0"/>
          </a:p>
        </p:txBody>
      </p:sp>
      <p:sp>
        <p:nvSpPr>
          <p:cNvPr id="3" name="Content Placeholder 2">
            <a:extLst>
              <a:ext uri="{FF2B5EF4-FFF2-40B4-BE49-F238E27FC236}">
                <a16:creationId xmlns:a16="http://schemas.microsoft.com/office/drawing/2014/main" id="{18955502-54E4-FFD3-24A4-571E50488C86}"/>
              </a:ext>
            </a:extLst>
          </p:cNvPr>
          <p:cNvSpPr>
            <a:spLocks noGrp="1"/>
          </p:cNvSpPr>
          <p:nvPr>
            <p:ph idx="1"/>
          </p:nvPr>
        </p:nvSpPr>
        <p:spPr>
          <a:xfrm>
            <a:off x="838200" y="1024932"/>
            <a:ext cx="10515600" cy="5152031"/>
          </a:xfrm>
        </p:spPr>
        <p:txBody>
          <a:bodyPr>
            <a:noAutofit/>
          </a:bodyPr>
          <a:lstStyle/>
          <a:p>
            <a:pPr marL="0" indent="0">
              <a:lnSpc>
                <a:spcPct val="120000"/>
              </a:lnSpc>
              <a:spcBef>
                <a:spcPts val="0"/>
              </a:spcBef>
              <a:buNone/>
            </a:pPr>
            <a:r>
              <a:rPr lang="en-US" sz="2000" b="1" dirty="0">
                <a:latin typeface="Times New Roman" panose="02020603050405020304" pitchFamily="18" charset="0"/>
                <a:cs typeface="Times New Roman" panose="02020603050405020304" pitchFamily="18" charset="0"/>
              </a:rPr>
              <a:t>Trim the extras</a:t>
            </a:r>
          </a:p>
          <a:p>
            <a:pPr marL="0" indent="0">
              <a:lnSpc>
                <a:spcPct val="120000"/>
              </a:lnSpc>
              <a:spcBef>
                <a:spcPts val="0"/>
              </a:spcBef>
              <a:buNone/>
            </a:pPr>
            <a:r>
              <a:rPr lang="en-US" sz="2000" dirty="0">
                <a:latin typeface="Times New Roman" panose="02020603050405020304" pitchFamily="18" charset="0"/>
                <a:cs typeface="Times New Roman" panose="02020603050405020304" pitchFamily="18" charset="0"/>
              </a:rPr>
              <a:t>Almost every household would have spending areas that can be cut or reduced. These areas often eat into probable savings. It would be easy to identify these trim-able spending areas, if you classify your expenses in 3 main groups;</a:t>
            </a:r>
          </a:p>
          <a:p>
            <a:pPr marL="914400" lvl="1" indent="-457200" algn="just">
              <a:lnSpc>
                <a:spcPct val="120000"/>
              </a:lnSpc>
              <a:spcBef>
                <a:spcPts val="0"/>
              </a:spcBef>
              <a:buFont typeface="+mj-lt"/>
              <a:buAutoNum type="arabicPeriod"/>
            </a:pPr>
            <a:r>
              <a:rPr lang="en-US" sz="2000" b="1" dirty="0">
                <a:latin typeface="Times New Roman" panose="02020603050405020304" pitchFamily="18" charset="0"/>
                <a:cs typeface="Times New Roman" panose="02020603050405020304" pitchFamily="18" charset="0"/>
              </a:rPr>
              <a:t>Needs or essentials </a:t>
            </a:r>
            <a:r>
              <a:rPr lang="en-US" sz="2000" dirty="0">
                <a:latin typeface="Times New Roman" panose="02020603050405020304" pitchFamily="18" charset="0"/>
                <a:cs typeface="Times New Roman" panose="02020603050405020304" pitchFamily="18" charset="0"/>
              </a:rPr>
              <a:t>- bills you must pay to run your household and to keep your family healthy and comfortable. Utilities (electricity, gas, water), housing-rent/home loan installments, groceries, health, transport, insurance, education, are your needs. Things that make your life simpler and more convenient can also be regarded as needs.</a:t>
            </a:r>
          </a:p>
          <a:p>
            <a:pPr marL="914400" lvl="1" indent="-457200" algn="just">
              <a:lnSpc>
                <a:spcPct val="120000"/>
              </a:lnSpc>
              <a:spcBef>
                <a:spcPts val="0"/>
              </a:spcBef>
              <a:buFont typeface="+mj-lt"/>
              <a:buAutoNum type="arabicPeriod"/>
            </a:pPr>
            <a:r>
              <a:rPr lang="en-US" sz="2000" b="1" dirty="0">
                <a:latin typeface="Times New Roman" panose="02020603050405020304" pitchFamily="18" charset="0"/>
                <a:cs typeface="Times New Roman" panose="02020603050405020304" pitchFamily="18" charset="0"/>
              </a:rPr>
              <a:t>Wants</a:t>
            </a:r>
            <a:r>
              <a:rPr lang="en-US" sz="2000" dirty="0">
                <a:latin typeface="Times New Roman" panose="02020603050405020304" pitchFamily="18" charset="0"/>
                <a:cs typeface="Times New Roman" panose="02020603050405020304" pitchFamily="18" charset="0"/>
              </a:rPr>
              <a:t> - all other ‘nice to have’ expenses for entertainment, travel/holidays, gifts, looking good, fun and celebrations, </a:t>
            </a:r>
            <a:r>
              <a:rPr lang="en-US" sz="2000" dirty="0" err="1">
                <a:latin typeface="Times New Roman" panose="02020603050405020304" pitchFamily="18" charset="0"/>
                <a:cs typeface="Times New Roman" panose="02020603050405020304" pitchFamily="18" charset="0"/>
              </a:rPr>
              <a:t>etc</a:t>
            </a:r>
            <a:endParaRPr lang="en-US" sz="2000" dirty="0">
              <a:latin typeface="Times New Roman" panose="02020603050405020304" pitchFamily="18" charset="0"/>
              <a:cs typeface="Times New Roman" panose="02020603050405020304" pitchFamily="18" charset="0"/>
            </a:endParaRPr>
          </a:p>
          <a:p>
            <a:pPr marL="914400" lvl="1" indent="-457200" algn="just">
              <a:lnSpc>
                <a:spcPct val="120000"/>
              </a:lnSpc>
              <a:spcBef>
                <a:spcPts val="0"/>
              </a:spcBef>
              <a:buFont typeface="+mj-lt"/>
              <a:buAutoNum type="arabicPeriod"/>
            </a:pPr>
            <a:r>
              <a:rPr lang="en-US" sz="2000" b="1" dirty="0">
                <a:latin typeface="Times New Roman" panose="02020603050405020304" pitchFamily="18" charset="0"/>
                <a:cs typeface="Times New Roman" panose="02020603050405020304" pitchFamily="18" charset="0"/>
              </a:rPr>
              <a:t>Wastes</a:t>
            </a:r>
            <a:r>
              <a:rPr lang="en-US" sz="2000" dirty="0">
                <a:latin typeface="Times New Roman" panose="02020603050405020304" pitchFamily="18" charset="0"/>
                <a:cs typeface="Times New Roman" panose="02020603050405020304" pitchFamily="18" charset="0"/>
              </a:rPr>
              <a:t> - excessive tea/coffee, cigarettes, alcohol, gambling, spending on wants beyond your means. Wastes eat a major chunk of your money bit by bit at a time.</a:t>
            </a:r>
          </a:p>
          <a:p>
            <a:pPr marL="457200" lvl="1" indent="0" algn="just">
              <a:lnSpc>
                <a:spcPct val="120000"/>
              </a:lnSpc>
              <a:spcBef>
                <a:spcPts val="0"/>
              </a:spcBef>
              <a:buNone/>
            </a:pPr>
            <a:endParaRPr lang="en-US" sz="2000" dirty="0">
              <a:latin typeface="Times New Roman" panose="02020603050405020304" pitchFamily="18" charset="0"/>
              <a:cs typeface="Times New Roman" panose="02020603050405020304" pitchFamily="18" charset="0"/>
            </a:endParaRPr>
          </a:p>
          <a:p>
            <a:pPr marL="457200" lvl="1" indent="0" algn="ctr">
              <a:lnSpc>
                <a:spcPct val="120000"/>
              </a:lnSpc>
              <a:spcBef>
                <a:spcPts val="0"/>
              </a:spcBef>
              <a:buNone/>
            </a:pPr>
            <a:r>
              <a:rPr lang="en-US" sz="2000" b="1" dirty="0">
                <a:solidFill>
                  <a:srgbClr val="C00000"/>
                </a:solidFill>
                <a:latin typeface="Times New Roman" panose="02020603050405020304" pitchFamily="18" charset="0"/>
                <a:cs typeface="Times New Roman" panose="02020603050405020304" pitchFamily="18" charset="0"/>
              </a:rPr>
              <a:t>Spending Mantra - spend on needs first, wants later and waste never!</a:t>
            </a:r>
            <a:endParaRPr lang="en-IN" sz="20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1878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AE055E4-22F0-0BCD-E793-565D9CAFB65F}"/>
              </a:ext>
            </a:extLst>
          </p:cNvPr>
          <p:cNvSpPr txBox="1"/>
          <p:nvPr/>
        </p:nvSpPr>
        <p:spPr>
          <a:xfrm>
            <a:off x="892629" y="4275132"/>
            <a:ext cx="10461171" cy="1323439"/>
          </a:xfrm>
          <a:prstGeom prst="rect">
            <a:avLst/>
          </a:prstGeom>
          <a:solidFill>
            <a:srgbClr val="FFC000"/>
          </a:solidFill>
          <a:ln>
            <a:solidFill>
              <a:srgbClr val="002060"/>
            </a:solidFill>
          </a:ln>
        </p:spPr>
        <p:txBody>
          <a:bodyPr wrap="square" rtlCol="0">
            <a:spAutoFit/>
          </a:bodyPr>
          <a:lstStyle/>
          <a:p>
            <a:pPr algn="just"/>
            <a:r>
              <a:rPr lang="en-US" sz="4000" dirty="0"/>
              <a:t>Spend, save, invest and share — allocate your money with wisdom and care.</a:t>
            </a:r>
          </a:p>
        </p:txBody>
      </p:sp>
      <p:sp>
        <p:nvSpPr>
          <p:cNvPr id="2" name="Title 1">
            <a:extLst>
              <a:ext uri="{FF2B5EF4-FFF2-40B4-BE49-F238E27FC236}">
                <a16:creationId xmlns:a16="http://schemas.microsoft.com/office/drawing/2014/main" id="{FBCD9DC1-153F-9284-6E80-E5EDD7638676}"/>
              </a:ext>
            </a:extLst>
          </p:cNvPr>
          <p:cNvSpPr>
            <a:spLocks noGrp="1"/>
          </p:cNvSpPr>
          <p:nvPr>
            <p:ph type="title"/>
          </p:nvPr>
        </p:nvSpPr>
        <p:spPr/>
        <p:txBody>
          <a:bodyPr/>
          <a:lstStyle/>
          <a:p>
            <a:pPr algn="ctr"/>
            <a:r>
              <a:rPr lang="en-US" dirty="0"/>
              <a:t>Key Points</a:t>
            </a:r>
            <a:endParaRPr lang="en-IN" dirty="0"/>
          </a:p>
        </p:txBody>
      </p:sp>
      <p:sp>
        <p:nvSpPr>
          <p:cNvPr id="3" name="Content Placeholder 2">
            <a:extLst>
              <a:ext uri="{FF2B5EF4-FFF2-40B4-BE49-F238E27FC236}">
                <a16:creationId xmlns:a16="http://schemas.microsoft.com/office/drawing/2014/main" id="{06135A56-7E5A-A597-A86A-96D3183DBD2D}"/>
              </a:ext>
            </a:extLst>
          </p:cNvPr>
          <p:cNvSpPr>
            <a:spLocks noGrp="1"/>
          </p:cNvSpPr>
          <p:nvPr>
            <p:ph idx="1"/>
          </p:nvPr>
        </p:nvSpPr>
        <p:spPr>
          <a:xfrm>
            <a:off x="838200" y="1547446"/>
            <a:ext cx="10515600" cy="2582427"/>
          </a:xfrm>
        </p:spPr>
        <p:txBody>
          <a:bodyPr/>
          <a:lstStyle/>
          <a:p>
            <a:pPr marL="514350" indent="-514350" algn="just">
              <a:buFont typeface="+mj-lt"/>
              <a:buAutoNum type="arabicPeriod"/>
            </a:pPr>
            <a:r>
              <a:rPr lang="en-US" dirty="0"/>
              <a:t>Smart money management can benefit everyone.</a:t>
            </a:r>
          </a:p>
          <a:p>
            <a:pPr marL="514350" indent="-514350" algn="just">
              <a:buFont typeface="+mj-lt"/>
              <a:buAutoNum type="arabicPeriod"/>
            </a:pPr>
            <a:r>
              <a:rPr lang="en-US" dirty="0"/>
              <a:t>Save first, save now and save regularly.</a:t>
            </a:r>
          </a:p>
          <a:p>
            <a:pPr marL="514350" indent="-514350" algn="just">
              <a:buFont typeface="+mj-lt"/>
              <a:buAutoNum type="arabicPeriod"/>
            </a:pPr>
            <a:r>
              <a:rPr lang="en-US" dirty="0"/>
              <a:t>Spend on needs first, wants later and waste never.</a:t>
            </a:r>
          </a:p>
          <a:p>
            <a:pPr marL="514350" indent="-514350" algn="just">
              <a:buFont typeface="+mj-lt"/>
              <a:buAutoNum type="arabicPeriod"/>
            </a:pPr>
            <a:r>
              <a:rPr lang="en-US" dirty="0"/>
              <a:t>Money just flies and you lose the count, as a good practice you must keep an account.  </a:t>
            </a:r>
          </a:p>
        </p:txBody>
      </p:sp>
    </p:spTree>
    <p:extLst>
      <p:ext uri="{BB962C8B-B14F-4D97-AF65-F5344CB8AC3E}">
        <p14:creationId xmlns:p14="http://schemas.microsoft.com/office/powerpoint/2010/main" val="3492764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1F615-BEC7-9B80-5A60-D07597B79588}"/>
              </a:ext>
            </a:extLst>
          </p:cNvPr>
          <p:cNvSpPr>
            <a:spLocks noGrp="1"/>
          </p:cNvSpPr>
          <p:nvPr>
            <p:ph type="title"/>
          </p:nvPr>
        </p:nvSpPr>
        <p:spPr>
          <a:xfrm>
            <a:off x="699713" y="248038"/>
            <a:ext cx="7063721" cy="1159200"/>
          </a:xfrm>
        </p:spPr>
        <p:txBody>
          <a:bodyPr vert="horz" lIns="91440" tIns="45720" rIns="91440" bIns="45720" rtlCol="0" anchor="ctr">
            <a:normAutofit/>
          </a:bodyPr>
          <a:lstStyle/>
          <a:p>
            <a:br>
              <a:rPr lang="en-US" sz="3700" kern="1200">
                <a:solidFill>
                  <a:srgbClr val="FFFFFF"/>
                </a:solidFill>
                <a:latin typeface="+mj-lt"/>
                <a:ea typeface="+mj-ea"/>
                <a:cs typeface="+mj-cs"/>
              </a:rPr>
            </a:br>
            <a:endParaRPr lang="en-US" sz="3700" kern="1200">
              <a:solidFill>
                <a:srgbClr val="FFFFFF"/>
              </a:solidFill>
              <a:latin typeface="+mj-lt"/>
              <a:ea typeface="+mj-ea"/>
              <a:cs typeface="+mj-cs"/>
            </a:endParaRPr>
          </a:p>
        </p:txBody>
      </p:sp>
      <p:pic>
        <p:nvPicPr>
          <p:cNvPr id="9" name="Picture 8">
            <a:extLst>
              <a:ext uri="{FF2B5EF4-FFF2-40B4-BE49-F238E27FC236}">
                <a16:creationId xmlns:a16="http://schemas.microsoft.com/office/drawing/2014/main" id="{7C22B628-F2C6-D71E-C110-4E39A202641F}"/>
              </a:ext>
            </a:extLst>
          </p:cNvPr>
          <p:cNvPicPr>
            <a:picLocks noChangeAspect="1"/>
          </p:cNvPicPr>
          <p:nvPr/>
        </p:nvPicPr>
        <p:blipFill>
          <a:blip r:embed="rId3"/>
          <a:stretch>
            <a:fillRect/>
          </a:stretch>
        </p:blipFill>
        <p:spPr>
          <a:xfrm>
            <a:off x="592999" y="1407238"/>
            <a:ext cx="11327549" cy="4308104"/>
          </a:xfrm>
          <a:prstGeom prst="rect">
            <a:avLst/>
          </a:prstGeom>
        </p:spPr>
      </p:pic>
    </p:spTree>
    <p:extLst>
      <p:ext uri="{BB962C8B-B14F-4D97-AF65-F5344CB8AC3E}">
        <p14:creationId xmlns:p14="http://schemas.microsoft.com/office/powerpoint/2010/main" val="904741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647008" y="1147156"/>
            <a:ext cx="10915996" cy="4888491"/>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p:txBody>
          <a:bodyPr/>
          <a:lstStyle/>
          <a:p>
            <a:pPr marL="0" indent="0">
              <a:buNone/>
            </a:pPr>
            <a:r>
              <a:rPr lang="en-US" b="1" dirty="0">
                <a:solidFill>
                  <a:srgbClr val="FF0000"/>
                </a:solidFill>
              </a:rPr>
              <a:t>Objectives: </a:t>
            </a:r>
          </a:p>
          <a:p>
            <a:pPr marL="0" indent="0">
              <a:buNone/>
            </a:pPr>
            <a:r>
              <a:rPr lang="en-US" dirty="0"/>
              <a:t>1. To create awareness and educate consumers on access to financial services.</a:t>
            </a:r>
          </a:p>
          <a:p>
            <a:pPr marL="0" indent="0">
              <a:buNone/>
            </a:pPr>
            <a:r>
              <a:rPr lang="en-US" dirty="0"/>
              <a:t>2. To make the students understand the basic concepts, definitions and terms related to direct taxation. </a:t>
            </a:r>
          </a:p>
          <a:p>
            <a:pPr marL="0" indent="0">
              <a:buNone/>
            </a:pPr>
            <a:r>
              <a:rPr lang="en-US" dirty="0"/>
              <a:t>3. To help the students compute the Goods and Service Tax (GST) payable by a supplier after considering the eligible input tax credit. </a:t>
            </a:r>
          </a:p>
          <a:p>
            <a:pPr marL="0" indent="0">
              <a:buNone/>
            </a:pPr>
            <a:r>
              <a:rPr lang="en-US" dirty="0"/>
              <a:t>4. To familarise the students with microfinance for accelerating the expansion of local microbusinesses. </a:t>
            </a:r>
            <a:endParaRPr lang="en-IN" dirty="0"/>
          </a:p>
        </p:txBody>
      </p:sp>
      <p:sp>
        <p:nvSpPr>
          <p:cNvPr id="4" name="Rounded Rectangle 3"/>
          <p:cNvSpPr/>
          <p:nvPr/>
        </p:nvSpPr>
        <p:spPr>
          <a:xfrm>
            <a:off x="2109354" y="254519"/>
            <a:ext cx="7973291" cy="112539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800" dirty="0">
                <a:latin typeface="Times New Roman" panose="02020603050405020304" pitchFamily="18" charset="0"/>
                <a:cs typeface="Times New Roman" panose="02020603050405020304" pitchFamily="18" charset="0"/>
              </a:rPr>
              <a:t>Personal Finance Management</a:t>
            </a:r>
          </a:p>
        </p:txBody>
      </p:sp>
    </p:spTree>
    <p:extLst>
      <p:ext uri="{BB962C8B-B14F-4D97-AF65-F5344CB8AC3E}">
        <p14:creationId xmlns:p14="http://schemas.microsoft.com/office/powerpoint/2010/main" val="2259989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build="p"/>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37804" y="1744085"/>
            <a:ext cx="10915996" cy="451441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p:txBody>
          <a:bodyPr>
            <a:normAutofit/>
          </a:bodyPr>
          <a:lstStyle/>
          <a:p>
            <a:pPr marL="0" indent="0">
              <a:buNone/>
            </a:pPr>
            <a:r>
              <a:rPr lang="en-US" b="1" dirty="0">
                <a:solidFill>
                  <a:srgbClr val="FF0000"/>
                </a:solidFill>
              </a:rPr>
              <a:t>Outcomes:</a:t>
            </a:r>
            <a:r>
              <a:rPr lang="en-US" dirty="0"/>
              <a:t> On completion of the course, learner will be able to: </a:t>
            </a:r>
          </a:p>
          <a:p>
            <a:pPr marL="514350" indent="-514350">
              <a:buAutoNum type="arabicPeriod"/>
            </a:pPr>
            <a:r>
              <a:rPr lang="en-US" dirty="0"/>
              <a:t>Understand the Indian financial system</a:t>
            </a:r>
          </a:p>
          <a:p>
            <a:pPr marL="514350" indent="-514350">
              <a:buAutoNum type="arabicPeriod"/>
            </a:pPr>
            <a:r>
              <a:rPr lang="en-US" dirty="0"/>
              <a:t>Use a framework for financial planning to understand the overall role finances play in his/her personal life.</a:t>
            </a:r>
          </a:p>
          <a:p>
            <a:pPr marL="514350" indent="-514350">
              <a:buAutoNum type="arabicPeriod"/>
            </a:pPr>
            <a:r>
              <a:rPr lang="en-US" dirty="0"/>
              <a:t>Compute income from salaries, house property, business/profession, capital gains and income from other sources.</a:t>
            </a:r>
          </a:p>
          <a:p>
            <a:pPr marL="514350" indent="-514350">
              <a:buAutoNum type="arabicPeriod"/>
            </a:pPr>
            <a:r>
              <a:rPr lang="en-US" dirty="0"/>
              <a:t>Compute the amount of CGST, SGST and IGST payable after considering the eligible input tax credit.</a:t>
            </a:r>
          </a:p>
          <a:p>
            <a:pPr marL="514350" indent="-514350">
              <a:buAutoNum type="arabicPeriod"/>
            </a:pPr>
            <a:r>
              <a:rPr lang="en-US" dirty="0"/>
              <a:t>Understand how Microfinance can help in financial inclusion.</a:t>
            </a:r>
            <a:endParaRPr lang="en-IN" dirty="0"/>
          </a:p>
        </p:txBody>
      </p:sp>
    </p:spTree>
    <p:extLst>
      <p:ext uri="{BB962C8B-B14F-4D97-AF65-F5344CB8AC3E}">
        <p14:creationId xmlns:p14="http://schemas.microsoft.com/office/powerpoint/2010/main" val="21992266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38200" y="1457060"/>
            <a:ext cx="10915996" cy="451441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1238596" y="1620140"/>
            <a:ext cx="10515600" cy="4351338"/>
          </a:xfrm>
        </p:spPr>
        <p:txBody>
          <a:bodyPr/>
          <a:lstStyle/>
          <a:p>
            <a:pPr marL="0" indent="0">
              <a:buNone/>
            </a:pPr>
            <a:r>
              <a:rPr lang="en-US" b="1" dirty="0">
                <a:solidFill>
                  <a:srgbClr val="FF0000"/>
                </a:solidFill>
              </a:rPr>
              <a:t>Module 1</a:t>
            </a:r>
          </a:p>
          <a:p>
            <a:r>
              <a:rPr lang="en-US" b="1" dirty="0"/>
              <a:t>Overview of Indian Financial System</a:t>
            </a:r>
            <a:r>
              <a:rPr lang="en-US" dirty="0"/>
              <a:t>: </a:t>
            </a:r>
          </a:p>
          <a:p>
            <a:pPr marL="0" indent="0">
              <a:buNone/>
            </a:pPr>
            <a:r>
              <a:rPr lang="en-US" dirty="0"/>
              <a:t>           Characteristics, Components and Functions of Financial System.                     	Financial Instruments and Financial Markets, Financial inclusion. </a:t>
            </a:r>
          </a:p>
          <a:p>
            <a:r>
              <a:rPr lang="en-US" b="1" dirty="0"/>
              <a:t>Introduction to Personal Finance </a:t>
            </a:r>
          </a:p>
          <a:p>
            <a:pPr marL="0" indent="0">
              <a:buNone/>
            </a:pPr>
            <a:r>
              <a:rPr lang="en-US" dirty="0"/>
              <a:t>	Person Financial Planning in Action, Money Management Skills, 	Taxes in Your Financial Plan, Savings and Payment Services. 	Consumer Credit: Advantages, Disadvantages, Sources and Costs</a:t>
            </a:r>
            <a:endParaRPr lang="en-IN" dirty="0"/>
          </a:p>
        </p:txBody>
      </p:sp>
    </p:spTree>
    <p:extLst>
      <p:ext uri="{BB962C8B-B14F-4D97-AF65-F5344CB8AC3E}">
        <p14:creationId xmlns:p14="http://schemas.microsoft.com/office/powerpoint/2010/main" val="90756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47008" y="1521229"/>
            <a:ext cx="10915996" cy="451441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p:txBody>
          <a:bodyPr/>
          <a:lstStyle/>
          <a:p>
            <a:pPr marL="0" indent="0">
              <a:buNone/>
            </a:pPr>
            <a:r>
              <a:rPr lang="en-US" b="1" dirty="0">
                <a:solidFill>
                  <a:srgbClr val="FF0000"/>
                </a:solidFill>
              </a:rPr>
              <a:t>Module 2</a:t>
            </a:r>
          </a:p>
          <a:p>
            <a:pPr marL="0" indent="0">
              <a:buNone/>
            </a:pPr>
            <a:r>
              <a:rPr lang="en-US" b="1" dirty="0"/>
              <a:t>Personal Financial Management </a:t>
            </a:r>
          </a:p>
          <a:p>
            <a:pPr marL="0" indent="0">
              <a:buNone/>
            </a:pPr>
            <a:r>
              <a:rPr lang="en-US" b="1" dirty="0"/>
              <a:t>Loans</a:t>
            </a:r>
            <a:r>
              <a:rPr lang="en-US" dirty="0"/>
              <a:t>: Home, Car, Education, Personal, Loan against property and Jewel loan. </a:t>
            </a:r>
          </a:p>
          <a:p>
            <a:pPr marL="0" indent="0">
              <a:buNone/>
            </a:pPr>
            <a:r>
              <a:rPr lang="en-US" b="1" dirty="0"/>
              <a:t>Insurance</a:t>
            </a:r>
            <a:r>
              <a:rPr lang="en-US" dirty="0"/>
              <a:t>: Types of Insurance – ULIP and Term; Health and Disability Income</a:t>
            </a:r>
          </a:p>
          <a:p>
            <a:pPr marL="0" indent="0">
              <a:buNone/>
            </a:pPr>
            <a:r>
              <a:rPr lang="en-US" dirty="0"/>
              <a:t>Insurance, Life Insurance. </a:t>
            </a:r>
          </a:p>
          <a:p>
            <a:pPr marL="0" indent="0">
              <a:buNone/>
            </a:pPr>
            <a:r>
              <a:rPr lang="en-US" b="1" dirty="0"/>
              <a:t>Investment</a:t>
            </a:r>
            <a:r>
              <a:rPr lang="en-US" dirty="0"/>
              <a:t>: Investing Basics and Evaluating Bonds, Investing in Stocks and Investing in Mutual Funds, Planning for the Future.</a:t>
            </a:r>
            <a:endParaRPr lang="en-IN" dirty="0"/>
          </a:p>
        </p:txBody>
      </p:sp>
    </p:spTree>
    <p:extLst>
      <p:ext uri="{BB962C8B-B14F-4D97-AF65-F5344CB8AC3E}">
        <p14:creationId xmlns:p14="http://schemas.microsoft.com/office/powerpoint/2010/main" val="14115932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47008" y="1446415"/>
            <a:ext cx="10915996" cy="4589232"/>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p:txBody>
          <a:bodyPr>
            <a:normAutofit/>
          </a:bodyPr>
          <a:lstStyle/>
          <a:p>
            <a:pPr marL="0" indent="0">
              <a:buNone/>
            </a:pPr>
            <a:r>
              <a:rPr lang="en-US" b="1" dirty="0">
                <a:solidFill>
                  <a:srgbClr val="FF0000"/>
                </a:solidFill>
              </a:rPr>
              <a:t>Module 3</a:t>
            </a:r>
            <a:endParaRPr lang="en-US" b="1" dirty="0"/>
          </a:p>
          <a:p>
            <a:pPr marL="0" indent="0">
              <a:buNone/>
            </a:pPr>
            <a:r>
              <a:rPr lang="en-US" b="1" dirty="0"/>
              <a:t>Income Tax </a:t>
            </a:r>
          </a:p>
          <a:p>
            <a:pPr marL="0" indent="0">
              <a:buNone/>
            </a:pPr>
            <a:r>
              <a:rPr lang="en-US" b="1" dirty="0"/>
              <a:t>Income Tax Act</a:t>
            </a:r>
            <a:r>
              <a:rPr lang="en-US" dirty="0"/>
              <a:t> </a:t>
            </a:r>
            <a:r>
              <a:rPr lang="en-US" b="1" dirty="0"/>
              <a:t>Basics</a:t>
            </a:r>
            <a:r>
              <a:rPr lang="en-US" dirty="0"/>
              <a:t>- Introduction to Income Tax Act, 1961 </a:t>
            </a:r>
          </a:p>
          <a:p>
            <a:pPr marL="0" indent="0">
              <a:buNone/>
            </a:pPr>
            <a:r>
              <a:rPr lang="en-US" b="1" dirty="0"/>
              <a:t>Heads of Income and Computation of Total Income and Tax Liability- </a:t>
            </a:r>
            <a:r>
              <a:rPr lang="en-US" dirty="0"/>
              <a:t>Heads of Income and Computation of Total Income under various heads, Clubbing Provisions, Set off and Carry forward of Losses, Deductions, Assessment of Income and tax liability of different persons. </a:t>
            </a:r>
          </a:p>
          <a:p>
            <a:pPr marL="0" indent="0">
              <a:buNone/>
            </a:pPr>
            <a:r>
              <a:rPr lang="en-US" b="1" dirty="0"/>
              <a:t>Tax Management, Administrative Procedures and ICDS </a:t>
            </a:r>
            <a:r>
              <a:rPr lang="en-US" dirty="0"/>
              <a:t>- TDS, TCS and Advance Tax Administrative Procedures, ICDS.</a:t>
            </a:r>
            <a:endParaRPr lang="en-IN" dirty="0"/>
          </a:p>
        </p:txBody>
      </p:sp>
    </p:spTree>
    <p:extLst>
      <p:ext uri="{BB962C8B-B14F-4D97-AF65-F5344CB8AC3E}">
        <p14:creationId xmlns:p14="http://schemas.microsoft.com/office/powerpoint/2010/main" val="3396551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47008" y="856211"/>
            <a:ext cx="10915996" cy="525364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838200" y="640080"/>
            <a:ext cx="10515600" cy="5536883"/>
          </a:xfrm>
        </p:spPr>
        <p:txBody>
          <a:bodyPr>
            <a:normAutofit fontScale="92500"/>
          </a:bodyPr>
          <a:lstStyle/>
          <a:p>
            <a:endParaRPr lang="en-US" dirty="0"/>
          </a:p>
          <a:p>
            <a:pPr marL="0" indent="0">
              <a:buNone/>
            </a:pPr>
            <a:r>
              <a:rPr lang="en-US" b="1" dirty="0">
                <a:solidFill>
                  <a:srgbClr val="FF0000"/>
                </a:solidFill>
              </a:rPr>
              <a:t>Module 4</a:t>
            </a:r>
            <a:endParaRPr lang="en-US" b="1" dirty="0"/>
          </a:p>
          <a:p>
            <a:pPr marL="0" indent="0">
              <a:buNone/>
            </a:pPr>
            <a:r>
              <a:rPr lang="en-US" b="1" dirty="0"/>
              <a:t>Goods and Services Tax </a:t>
            </a:r>
          </a:p>
          <a:p>
            <a:pPr marL="0" indent="0">
              <a:buNone/>
            </a:pPr>
            <a:r>
              <a:rPr lang="en-US" dirty="0"/>
              <a:t>GST Constitutional framework of Indirect Taxes before GST (Taxation Powers of Union &amp; State Government); Concept of VAT: Meaning, Variants and Methods; Major Defects in the structure of Indirect Taxes prior to GST; Rationale for GST; Structure of GST (SGST, CGST, UTGST &amp; IGST); GST Council, GST Network, State Compensation Mechanism, Registration. </a:t>
            </a:r>
          </a:p>
          <a:p>
            <a:pPr marL="0" indent="0">
              <a:buNone/>
            </a:pPr>
            <a:r>
              <a:rPr lang="en-US" b="1" dirty="0"/>
              <a:t>Levy and Collection of GST </a:t>
            </a:r>
          </a:p>
          <a:p>
            <a:pPr marL="0" indent="0">
              <a:buNone/>
            </a:pPr>
            <a:r>
              <a:rPr lang="en-US" dirty="0"/>
              <a:t>Taxable event- "Supply" of Goods and Services; Place of Supply: Within state, Interstate, Import and Export; Time of supply: Valuation for GST- Valuation rules, taxability of reimbursement of expenses; Exemption from GST: Small supplies and Composition Scheme: Classification of Goods and Services</a:t>
            </a:r>
            <a:endParaRPr lang="en-IN" dirty="0"/>
          </a:p>
        </p:txBody>
      </p:sp>
    </p:spTree>
    <p:extLst>
      <p:ext uri="{BB962C8B-B14F-4D97-AF65-F5344CB8AC3E}">
        <p14:creationId xmlns:p14="http://schemas.microsoft.com/office/powerpoint/2010/main" val="120728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90451" y="207818"/>
            <a:ext cx="11072553" cy="630936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680258" y="653530"/>
            <a:ext cx="10515600" cy="5439699"/>
          </a:xfrm>
        </p:spPr>
        <p:txBody>
          <a:bodyPr>
            <a:normAutofit fontScale="92500"/>
          </a:bodyPr>
          <a:lstStyle/>
          <a:p>
            <a:pPr marL="0" indent="0">
              <a:buNone/>
            </a:pPr>
            <a:r>
              <a:rPr lang="en-US" b="1" dirty="0">
                <a:solidFill>
                  <a:srgbClr val="FF0000"/>
                </a:solidFill>
              </a:rPr>
              <a:t>Module 5</a:t>
            </a:r>
          </a:p>
          <a:p>
            <a:pPr marL="0" indent="0">
              <a:buNone/>
            </a:pPr>
            <a:r>
              <a:rPr lang="en-IN" b="1" dirty="0"/>
              <a:t>Introduction to Micro – finance </a:t>
            </a:r>
          </a:p>
          <a:p>
            <a:pPr marL="0" indent="0">
              <a:buNone/>
            </a:pPr>
            <a:r>
              <a:rPr lang="en-IN" dirty="0"/>
              <a:t>Micro-Finance: Definitions, Scope &amp; Assumptions, Types of Microfinance, Customers of Micro-finance, Credit Delivery Methodologies, SHG concept, origin, Formation &amp; Operation of Self Help Groups (SHGs). </a:t>
            </a:r>
          </a:p>
          <a:p>
            <a:pPr marL="0" indent="0">
              <a:buNone/>
            </a:pPr>
            <a:r>
              <a:rPr lang="en-IN" b="1" dirty="0"/>
              <a:t>Models in Microfinance </a:t>
            </a:r>
            <a:r>
              <a:rPr lang="en-IN" dirty="0"/>
              <a:t>- Joint Liability Groups (JLG), SHG Bank Linkage Model and GRAMEEN Model: Achievements &amp; Challenges, </a:t>
            </a:r>
          </a:p>
          <a:p>
            <a:pPr marL="0" indent="0">
              <a:buNone/>
            </a:pPr>
            <a:r>
              <a:rPr lang="en-IN" b="1" dirty="0"/>
              <a:t>Institutional Mechanism </a:t>
            </a:r>
          </a:p>
          <a:p>
            <a:pPr marL="0" indent="0">
              <a:buNone/>
            </a:pPr>
            <a:r>
              <a:rPr lang="en-IN" dirty="0"/>
              <a:t>Current Challenges for Microfinance, Microfinance Institutions (MFIs): Constraints &amp; Governance Issues, Institutional Structure of Microfinance in India :NGO-MFIs, NBFC-MFIs, Co-operatives, Banks, Microfinance Networks and Associations; Demand &amp; Supply of Microfinance Services in India, Impact assessment and social assessments of MFIs,</a:t>
            </a:r>
          </a:p>
        </p:txBody>
      </p:sp>
    </p:spTree>
    <p:extLst>
      <p:ext uri="{BB962C8B-B14F-4D97-AF65-F5344CB8AC3E}">
        <p14:creationId xmlns:p14="http://schemas.microsoft.com/office/powerpoint/2010/main" val="2043576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28720" y="244123"/>
            <a:ext cx="11072553" cy="630936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4" name="Rectangle 3"/>
          <p:cNvSpPr/>
          <p:nvPr/>
        </p:nvSpPr>
        <p:spPr>
          <a:xfrm>
            <a:off x="1098637" y="478410"/>
            <a:ext cx="10332720" cy="4893647"/>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Evaluation Scheme: </a:t>
            </a:r>
          </a:p>
          <a:p>
            <a:r>
              <a:rPr lang="en-US" sz="2400" dirty="0">
                <a:solidFill>
                  <a:srgbClr val="0070C0"/>
                </a:solidFill>
                <a:latin typeface="Times New Roman" panose="02020603050405020304" pitchFamily="18" charset="0"/>
                <a:cs typeface="Times New Roman" panose="02020603050405020304" pitchFamily="18" charset="0"/>
              </a:rPr>
              <a:t>Semester End Examination (A): </a:t>
            </a:r>
          </a:p>
          <a:p>
            <a:r>
              <a:rPr lang="en-US" sz="2400" b="1" dirty="0">
                <a:solidFill>
                  <a:srgbClr val="7030A0"/>
                </a:solidFill>
                <a:latin typeface="Times New Roman" panose="02020603050405020304" pitchFamily="18" charset="0"/>
                <a:cs typeface="Times New Roman" panose="02020603050405020304" pitchFamily="18" charset="0"/>
              </a:rPr>
              <a:t>Theory: </a:t>
            </a:r>
          </a:p>
          <a:p>
            <a:pPr marL="342900" indent="-342900">
              <a:buAutoNum type="arabicPeriod"/>
            </a:pPr>
            <a:r>
              <a:rPr lang="en-US" sz="2400" dirty="0">
                <a:latin typeface="Times New Roman" panose="02020603050405020304" pitchFamily="18" charset="0"/>
                <a:cs typeface="Times New Roman" panose="02020603050405020304" pitchFamily="18" charset="0"/>
              </a:rPr>
              <a:t>Question paper based on the entire syllabus will comprise of 4 questions (All compulsory, but with internal choice as appropriate), each carrying 15 marks, total summing up to 60 marks. </a:t>
            </a:r>
          </a:p>
          <a:p>
            <a:pPr marL="342900" indent="-342900">
              <a:buAutoNum type="arabicPeriod"/>
            </a:pPr>
            <a:r>
              <a:rPr lang="en-US" sz="2400" dirty="0">
                <a:latin typeface="Times New Roman" panose="02020603050405020304" pitchFamily="18" charset="0"/>
                <a:cs typeface="Times New Roman" panose="02020603050405020304" pitchFamily="18" charset="0"/>
              </a:rPr>
              <a:t>Total duration allotted for writing the paper is 2 hrs. </a:t>
            </a:r>
          </a:p>
          <a:p>
            <a:endParaRPr lang="en-US" sz="2400" dirty="0">
              <a:latin typeface="Times New Roman" panose="02020603050405020304" pitchFamily="18" charset="0"/>
              <a:cs typeface="Times New Roman" panose="02020603050405020304" pitchFamily="18" charset="0"/>
            </a:endParaRPr>
          </a:p>
          <a:p>
            <a:r>
              <a:rPr lang="en-US" sz="2400" dirty="0">
                <a:solidFill>
                  <a:srgbClr val="0070C0"/>
                </a:solidFill>
                <a:latin typeface="Times New Roman" panose="02020603050405020304" pitchFamily="18" charset="0"/>
                <a:cs typeface="Times New Roman" panose="02020603050405020304" pitchFamily="18" charset="0"/>
              </a:rPr>
              <a:t>Continuous Assessment (B): </a:t>
            </a:r>
          </a:p>
          <a:p>
            <a:r>
              <a:rPr lang="en-US" sz="2400" b="1" dirty="0">
                <a:solidFill>
                  <a:srgbClr val="7030A0"/>
                </a:solidFill>
                <a:latin typeface="Times New Roman" panose="02020603050405020304" pitchFamily="18" charset="0"/>
                <a:cs typeface="Times New Roman" panose="02020603050405020304" pitchFamily="18" charset="0"/>
              </a:rPr>
              <a:t>Theory: </a:t>
            </a:r>
          </a:p>
          <a:p>
            <a:pPr marL="342900" indent="-342900">
              <a:buAutoNum type="arabicPeriod"/>
            </a:pPr>
            <a:r>
              <a:rPr lang="en-US" sz="2400" dirty="0">
                <a:solidFill>
                  <a:srgbClr val="C00000"/>
                </a:solidFill>
                <a:latin typeface="Times New Roman" panose="02020603050405020304" pitchFamily="18" charset="0"/>
                <a:cs typeface="Times New Roman" panose="02020603050405020304" pitchFamily="18" charset="0"/>
              </a:rPr>
              <a:t>TT1 -15 marks</a:t>
            </a:r>
          </a:p>
          <a:p>
            <a:pPr marL="342900" indent="-342900">
              <a:buAutoNum type="arabicPeriod"/>
            </a:pPr>
            <a:r>
              <a:rPr lang="en-US" sz="2400" dirty="0">
                <a:solidFill>
                  <a:srgbClr val="C00000"/>
                </a:solidFill>
                <a:latin typeface="Times New Roman" panose="02020603050405020304" pitchFamily="18" charset="0"/>
                <a:cs typeface="Times New Roman" panose="02020603050405020304" pitchFamily="18" charset="0"/>
              </a:rPr>
              <a:t>TT2 - 15 marks</a:t>
            </a:r>
          </a:p>
          <a:p>
            <a:pPr marL="342900" indent="-342900">
              <a:buAutoNum type="arabicPeriod"/>
            </a:pPr>
            <a:r>
              <a:rPr lang="en-US" sz="2400" dirty="0">
                <a:solidFill>
                  <a:srgbClr val="C00000"/>
                </a:solidFill>
                <a:latin typeface="Times New Roman" panose="02020603050405020304" pitchFamily="18" charset="0"/>
                <a:cs typeface="Times New Roman" panose="02020603050405020304" pitchFamily="18" charset="0"/>
              </a:rPr>
              <a:t>TT3 -10 marks (Quiz/assignment/presentation)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4214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1524000" y="1556792"/>
            <a:ext cx="9252520" cy="1949376"/>
          </a:xfrm>
        </p:spPr>
        <p:txBody>
          <a:bodyPr>
            <a:normAutofit fontScale="90000"/>
          </a:bodyPr>
          <a:lstStyle/>
          <a:p>
            <a:br>
              <a:rPr lang="en-US" sz="4000" dirty="0"/>
            </a:br>
            <a:br>
              <a:rPr lang="en-US" sz="4000" dirty="0"/>
            </a:br>
            <a:r>
              <a:rPr lang="en-US" sz="4000" dirty="0"/>
              <a:t> “Why do I need to learn about finance.. </a:t>
            </a:r>
            <a:br>
              <a:rPr lang="en-US" sz="4000" dirty="0"/>
            </a:br>
            <a:r>
              <a:rPr lang="en-US" sz="4000" dirty="0"/>
              <a:t>   I am very good in my own area of  </a:t>
            </a:r>
            <a:br>
              <a:rPr lang="en-US" sz="4000" dirty="0"/>
            </a:br>
            <a:r>
              <a:rPr lang="en-US" sz="4000" dirty="0"/>
              <a:t>    specialization”</a:t>
            </a:r>
          </a:p>
        </p:txBody>
      </p:sp>
      <p:sp>
        <p:nvSpPr>
          <p:cNvPr id="6147" name="Text Box 3"/>
          <p:cNvSpPr txBox="1">
            <a:spLocks noChangeArrowheads="1"/>
          </p:cNvSpPr>
          <p:nvPr/>
        </p:nvSpPr>
        <p:spPr bwMode="auto">
          <a:xfrm>
            <a:off x="3071664" y="4149080"/>
            <a:ext cx="6477000" cy="369332"/>
          </a:xfrm>
          <a:prstGeom prst="rect">
            <a:avLst/>
          </a:prstGeom>
          <a:noFill/>
          <a:ln w="9525">
            <a:noFill/>
            <a:miter lim="800000"/>
            <a:headEnd/>
            <a:tailEnd/>
          </a:ln>
        </p:spPr>
        <p:txBody>
          <a:bodyPr>
            <a:spAutoFit/>
          </a:bodyPr>
          <a:lstStyle/>
          <a:p>
            <a:pPr algn="ctr"/>
            <a:r>
              <a:rPr lang="en-US" dirty="0">
                <a:latin typeface="Tahoma" pitchFamily="34" charset="0"/>
              </a:rPr>
              <a:t>How would you react to the above statement?</a:t>
            </a:r>
          </a:p>
        </p:txBody>
      </p:sp>
      <p:sp>
        <p:nvSpPr>
          <p:cNvPr id="4" name="Rounded Rectangle 3"/>
          <p:cNvSpPr/>
          <p:nvPr/>
        </p:nvSpPr>
        <p:spPr>
          <a:xfrm>
            <a:off x="1895302" y="1421476"/>
            <a:ext cx="8512233" cy="3483033"/>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354139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1066107" y="1221971"/>
            <a:ext cx="10226039" cy="5037513"/>
          </a:xfrm>
          <a:prstGeom prst="roundRect">
            <a:avLst/>
          </a:prstGeom>
          <a:ln w="9525" cap="flat" cmpd="sng" algn="ctr">
            <a:solidFill>
              <a:schemeClr val="accent6"/>
            </a:solidFill>
            <a:prstDash val="solid"/>
            <a:round/>
            <a:headEnd type="none" w="med" len="med"/>
            <a:tailEnd type="none" w="med" len="med"/>
          </a:ln>
        </p:spPr>
        <p:style>
          <a:lnRef idx="0">
            <a:scrgbClr r="0" g="0" b="0"/>
          </a:lnRef>
          <a:fillRef idx="1001">
            <a:schemeClr val="lt2"/>
          </a:fillRef>
          <a:effectRef idx="0">
            <a:scrgbClr r="0" g="0" b="0"/>
          </a:effectRef>
          <a:fontRef idx="minor">
            <a:schemeClr val="accent6"/>
          </a:fontRef>
        </p:style>
        <p:txBody>
          <a:bodyPr rtlCol="0" anchor="ctr"/>
          <a:lstStyle/>
          <a:p>
            <a:pPr marL="457200" indent="-457200" algn="just">
              <a:buFont typeface="Arial" panose="020B0604020202020204" pitchFamily="34" charset="0"/>
              <a:buChar char="•"/>
            </a:pPr>
            <a:r>
              <a:rPr lang="en-US" sz="3200" dirty="0">
                <a:solidFill>
                  <a:schemeClr val="tx1"/>
                </a:solidFill>
                <a:latin typeface="Times New Roman" panose="02020603050405020304" pitchFamily="18" charset="0"/>
                <a:cs typeface="Times New Roman" panose="02020603050405020304" pitchFamily="18" charset="0"/>
              </a:rPr>
              <a:t>The financial system is essential for a country’s economic growth, as it provides the structure and tools needed to support development.</a:t>
            </a:r>
          </a:p>
          <a:p>
            <a:pPr marL="457200" indent="-457200" algn="just">
              <a:buFont typeface="Arial" panose="020B0604020202020204" pitchFamily="34" charset="0"/>
              <a:buChar char="•"/>
            </a:pPr>
            <a:r>
              <a:rPr lang="en-IN" sz="3200" dirty="0">
                <a:solidFill>
                  <a:schemeClr val="tx1"/>
                </a:solidFill>
                <a:latin typeface="Times New Roman" panose="02020603050405020304" pitchFamily="18" charset="0"/>
                <a:cs typeface="Times New Roman" panose="02020603050405020304" pitchFamily="18" charset="0"/>
              </a:rPr>
              <a:t>Finance assists in reducing the gap between the present and the future, and covers every aspect like channelization and effective usage of savings and making an efficient investment. </a:t>
            </a:r>
          </a:p>
          <a:p>
            <a:pPr marL="457200" indent="-457200" algn="just">
              <a:buFont typeface="Arial" panose="020B0604020202020204" pitchFamily="34" charset="0"/>
              <a:buChar char="•"/>
            </a:pPr>
            <a:r>
              <a:rPr lang="en-IN" sz="3200" dirty="0">
                <a:solidFill>
                  <a:schemeClr val="tx1"/>
                </a:solidFill>
                <a:latin typeface="Times New Roman" panose="02020603050405020304" pitchFamily="18" charset="0"/>
                <a:cs typeface="Times New Roman" panose="02020603050405020304" pitchFamily="18" charset="0"/>
              </a:rPr>
              <a:t>It formulates the base, the sets and the tone for the accomplishment of wider national objectives.</a:t>
            </a:r>
          </a:p>
        </p:txBody>
      </p:sp>
      <p:sp>
        <p:nvSpPr>
          <p:cNvPr id="4" name="Rounded Rectangle 3"/>
          <p:cNvSpPr/>
          <p:nvPr/>
        </p:nvSpPr>
        <p:spPr>
          <a:xfrm>
            <a:off x="3677254" y="139884"/>
            <a:ext cx="4394662" cy="922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Times New Roman" panose="02020603050405020304" pitchFamily="18" charset="0"/>
                <a:cs typeface="Times New Roman" panose="02020603050405020304" pitchFamily="18" charset="0"/>
              </a:rPr>
              <a:t>Financial System </a:t>
            </a:r>
          </a:p>
        </p:txBody>
      </p:sp>
      <p:sp>
        <p:nvSpPr>
          <p:cNvPr id="2" name="Star: 5 Points 1">
            <a:extLst>
              <a:ext uri="{FF2B5EF4-FFF2-40B4-BE49-F238E27FC236}">
                <a16:creationId xmlns:a16="http://schemas.microsoft.com/office/drawing/2014/main" id="{FEC245DA-E163-4158-38E2-71A9B9D490B6}"/>
              </a:ext>
            </a:extLst>
          </p:cNvPr>
          <p:cNvSpPr/>
          <p:nvPr/>
        </p:nvSpPr>
        <p:spPr>
          <a:xfrm>
            <a:off x="2640330" y="307051"/>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6258539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37968" y="573577"/>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A financial system acts as an intermediary where there is surplus and deficiency of funds. It bridges the gap between the two segments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It comprises of various institutions, markets, regulations, laws, money managers, experts and many others. </a:t>
            </a:r>
            <a:br>
              <a:rPr lang="en-IN" sz="2800" dirty="0">
                <a:solidFill>
                  <a:schemeClr val="tx1"/>
                </a:solidFill>
                <a:latin typeface="Times New Roman" panose="02020603050405020304" pitchFamily="18" charset="0"/>
                <a:cs typeface="Times New Roman" panose="02020603050405020304" pitchFamily="18" charset="0"/>
              </a:rPr>
            </a:b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r>
              <a:rPr lang="en-US" sz="2800" dirty="0">
                <a:solidFill>
                  <a:srgbClr val="0070C0"/>
                </a:solidFill>
              </a:rPr>
              <a:t>                             In short, financial system is a mechanism </a:t>
            </a:r>
          </a:p>
          <a:p>
            <a:pPr algn="just" fontAlgn="base"/>
            <a:r>
              <a:rPr lang="en-US" sz="2800" dirty="0">
                <a:solidFill>
                  <a:srgbClr val="0070C0"/>
                </a:solidFill>
              </a:rPr>
              <a:t>                      by which savings are transformed into investments.</a:t>
            </a:r>
            <a:endParaRPr lang="en-IN" sz="2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562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812107" y="1399771"/>
            <a:ext cx="10226039" cy="5037513"/>
          </a:xfrm>
          <a:prstGeom prst="roundRect">
            <a:avLst/>
          </a:prstGeom>
          <a:ln w="9525" cap="flat" cmpd="sng" algn="ctr">
            <a:solidFill>
              <a:schemeClr val="accent6"/>
            </a:solidFill>
            <a:prstDash val="solid"/>
            <a:round/>
            <a:headEnd type="none" w="med" len="med"/>
            <a:tailEnd type="none" w="med" len="med"/>
          </a:ln>
        </p:spPr>
        <p:style>
          <a:lnRef idx="0">
            <a:scrgbClr r="0" g="0" b="0"/>
          </a:lnRef>
          <a:fillRef idx="1001">
            <a:schemeClr val="lt2"/>
          </a:fillRef>
          <a:effectRef idx="0">
            <a:scrgbClr r="0" g="0" b="0"/>
          </a:effectRef>
          <a:fontRef idx="minor">
            <a:schemeClr val="accent6"/>
          </a:fontRef>
        </p:style>
        <p:txBody>
          <a:bodyPr rtlCol="0" anchor="ctr"/>
          <a:lstStyle/>
          <a:p>
            <a:pPr marL="457200" indent="-457200" algn="just">
              <a:buFont typeface="Arial" panose="020B0604020202020204" pitchFamily="34" charset="0"/>
              <a:buChar char="•"/>
            </a:pPr>
            <a:r>
              <a:rPr lang="en-US" sz="3200" dirty="0">
                <a:solidFill>
                  <a:schemeClr val="tx1"/>
                </a:solidFill>
              </a:rPr>
              <a:t>Network of closely connected institutions, agents, markets, instruments and services that facilitate the flow of funds within the economy.</a:t>
            </a:r>
          </a:p>
          <a:p>
            <a:pPr marL="457200" indent="-457200" algn="just">
              <a:buFont typeface="Arial" panose="020B0604020202020204" pitchFamily="34" charset="0"/>
              <a:buChar char="•"/>
            </a:pPr>
            <a:r>
              <a:rPr lang="en-US" sz="3200" dirty="0">
                <a:solidFill>
                  <a:schemeClr val="tx1"/>
                </a:solidFill>
              </a:rPr>
              <a:t>Channelize financial resources from surplus units (savers) to deficit units (borrowers), enabling economic activities to function smoothly.</a:t>
            </a:r>
          </a:p>
          <a:p>
            <a:pPr marL="457200" indent="-457200" algn="just">
              <a:buFont typeface="Arial" panose="020B0604020202020204" pitchFamily="34" charset="0"/>
              <a:buChar char="•"/>
            </a:pPr>
            <a:r>
              <a:rPr lang="en-IN" sz="3200" dirty="0">
                <a:solidFill>
                  <a:schemeClr val="tx1"/>
                </a:solidFill>
                <a:ea typeface="Calibri" panose="020F0502020204030204" pitchFamily="34" charset="0"/>
                <a:cs typeface="Times New Roman" panose="02020603050405020304" pitchFamily="18" charset="0"/>
              </a:rPr>
              <a:t>Provide a link between savings and investment for the creation of new wealth, permit portfolio adjustment in the composition of the existing wealth</a:t>
            </a:r>
            <a:endParaRPr lang="en-IN" sz="3200" dirty="0">
              <a:solidFill>
                <a:schemeClr val="tx1"/>
              </a:solidFill>
              <a:cs typeface="Times New Roman" panose="02020603050405020304" pitchFamily="18" charset="0"/>
            </a:endParaRPr>
          </a:p>
        </p:txBody>
      </p:sp>
      <p:sp>
        <p:nvSpPr>
          <p:cNvPr id="4" name="Rounded Rectangle 3"/>
          <p:cNvSpPr/>
          <p:nvPr/>
        </p:nvSpPr>
        <p:spPr>
          <a:xfrm>
            <a:off x="2394554" y="190684"/>
            <a:ext cx="6851046" cy="9227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Times New Roman" panose="02020603050405020304" pitchFamily="18" charset="0"/>
                <a:cs typeface="Times New Roman" panose="02020603050405020304" pitchFamily="18" charset="0"/>
              </a:rPr>
              <a:t>Indian Financial System </a:t>
            </a:r>
          </a:p>
        </p:txBody>
      </p:sp>
      <p:sp>
        <p:nvSpPr>
          <p:cNvPr id="2" name="Star: 5 Points 1">
            <a:extLst>
              <a:ext uri="{FF2B5EF4-FFF2-40B4-BE49-F238E27FC236}">
                <a16:creationId xmlns:a16="http://schemas.microsoft.com/office/drawing/2014/main" id="{AC742FAF-2850-1E92-AAD8-A5D2200535FD}"/>
              </a:ext>
            </a:extLst>
          </p:cNvPr>
          <p:cNvSpPr/>
          <p:nvPr/>
        </p:nvSpPr>
        <p:spPr>
          <a:xfrm>
            <a:off x="1428750" y="44577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96674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71451" y="1188720"/>
            <a:ext cx="11744324" cy="5444092"/>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system establishes a link between the one having surplus funds with those who are in need of such funds. Both the investment and the savings aspects are encouraged.</a:t>
            </a: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system contributes towards the expansion and the development of financial markets.</a:t>
            </a: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system facilitates the efficient allocation of financial resources for the benefit of the society and the public at large.</a:t>
            </a: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system enhances the economic quality and accelerates economic development hence lays the foundation for an ideal economy. </a:t>
            </a:r>
          </a:p>
          <a:p>
            <a:pPr marL="342900" indent="-3429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It</a:t>
            </a:r>
            <a:r>
              <a:rPr lang="en-US" sz="2400" spc="-25"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provides</a:t>
            </a:r>
            <a:r>
              <a:rPr lang="en-US" sz="2400" spc="-65"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a</a:t>
            </a:r>
            <a:r>
              <a:rPr lang="en-US" sz="2400" spc="-20"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mechanism</a:t>
            </a:r>
            <a:r>
              <a:rPr lang="en-US" sz="2400" spc="-30"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for</a:t>
            </a:r>
            <a:r>
              <a:rPr lang="en-US" sz="2400" spc="-40"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the</a:t>
            </a:r>
            <a:r>
              <a:rPr lang="en-US" sz="2400" spc="-25"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transfer</a:t>
            </a:r>
            <a:r>
              <a:rPr lang="en-US" sz="2400" spc="-20"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of</a:t>
            </a:r>
            <a:r>
              <a:rPr lang="en-US" sz="2400" spc="-25" dirty="0">
                <a:solidFill>
                  <a:schemeClr val="tx1"/>
                </a:solidFill>
                <a:latin typeface="Times New Roman" panose="02020603050405020304" pitchFamily="18" charset="0"/>
                <a:cs typeface="Times New Roman" panose="02020603050405020304" pitchFamily="18" charset="0"/>
              </a:rPr>
              <a:t> </a:t>
            </a:r>
            <a:r>
              <a:rPr lang="en-US" sz="2400" spc="-10" dirty="0">
                <a:solidFill>
                  <a:schemeClr val="tx1"/>
                </a:solidFill>
                <a:latin typeface="Times New Roman" panose="02020603050405020304" pitchFamily="18" charset="0"/>
                <a:cs typeface="Times New Roman" panose="02020603050405020304" pitchFamily="18" charset="0"/>
              </a:rPr>
              <a:t>resource </a:t>
            </a:r>
            <a:r>
              <a:rPr lang="en-US" sz="2400" dirty="0">
                <a:solidFill>
                  <a:schemeClr val="tx1"/>
                </a:solidFill>
                <a:latin typeface="Times New Roman" panose="02020603050405020304" pitchFamily="18" charset="0"/>
                <a:cs typeface="Times New Roman" panose="02020603050405020304" pitchFamily="18" charset="0"/>
              </a:rPr>
              <a:t>across</a:t>
            </a:r>
            <a:r>
              <a:rPr lang="en-US" sz="2400" spc="-60" dirty="0">
                <a:solidFill>
                  <a:schemeClr val="tx1"/>
                </a:solidFill>
                <a:latin typeface="Times New Roman" panose="02020603050405020304" pitchFamily="18" charset="0"/>
                <a:cs typeface="Times New Roman" panose="02020603050405020304" pitchFamily="18" charset="0"/>
              </a:rPr>
              <a:t> </a:t>
            </a:r>
            <a:r>
              <a:rPr lang="en-US" sz="2400" dirty="0">
                <a:solidFill>
                  <a:schemeClr val="tx1"/>
                </a:solidFill>
                <a:latin typeface="Times New Roman" panose="02020603050405020304" pitchFamily="18" charset="0"/>
                <a:cs typeface="Times New Roman" panose="02020603050405020304" pitchFamily="18" charset="0"/>
              </a:rPr>
              <a:t>geographical</a:t>
            </a:r>
            <a:r>
              <a:rPr lang="en-US" sz="2400" spc="-60" dirty="0">
                <a:solidFill>
                  <a:schemeClr val="tx1"/>
                </a:solidFill>
                <a:latin typeface="Times New Roman" panose="02020603050405020304" pitchFamily="18" charset="0"/>
                <a:cs typeface="Times New Roman" panose="02020603050405020304" pitchFamily="18" charset="0"/>
              </a:rPr>
              <a:t> </a:t>
            </a:r>
            <a:r>
              <a:rPr lang="en-US" sz="2400" spc="-10" dirty="0">
                <a:solidFill>
                  <a:schemeClr val="tx1"/>
                </a:solidFill>
                <a:latin typeface="Times New Roman" panose="02020603050405020304" pitchFamily="18" charset="0"/>
                <a:cs typeface="Times New Roman" panose="02020603050405020304" pitchFamily="18" charset="0"/>
              </a:rPr>
              <a:t>boundaries.</a:t>
            </a:r>
            <a:endParaRPr lang="en-US" sz="2400" dirty="0">
              <a:solidFill>
                <a:schemeClr val="tx1"/>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financial system helps fund seekers to build an efficient portfolio.</a:t>
            </a: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system reduces the transaction costs. </a:t>
            </a: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system ensures the availability of all the price-related information.</a:t>
            </a:r>
          </a:p>
          <a:p>
            <a:pPr algn="just"/>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2506285" y="290946"/>
            <a:ext cx="7320744" cy="10141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latin typeface="Times New Roman" panose="02020603050405020304" pitchFamily="18" charset="0"/>
                <a:cs typeface="Times New Roman" panose="02020603050405020304" pitchFamily="18" charset="0"/>
              </a:rPr>
              <a:t>Characteristics of Financial system </a:t>
            </a:r>
          </a:p>
        </p:txBody>
      </p:sp>
      <p:sp>
        <p:nvSpPr>
          <p:cNvPr id="2" name="Star: 5 Points 1">
            <a:extLst>
              <a:ext uri="{FF2B5EF4-FFF2-40B4-BE49-F238E27FC236}">
                <a16:creationId xmlns:a16="http://schemas.microsoft.com/office/drawing/2014/main" id="{9EB09749-E4F9-B7BC-9FCC-62D99BE7B60B}"/>
              </a:ext>
            </a:extLst>
          </p:cNvPr>
          <p:cNvSpPr/>
          <p:nvPr/>
        </p:nvSpPr>
        <p:spPr>
          <a:xfrm>
            <a:off x="1428750" y="44577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35031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50668" y="1014153"/>
            <a:ext cx="10631978" cy="5702531"/>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marL="342900" indent="-342900" algn="just" fontAlgn="base">
              <a:buAutoNum type="arabicParenR"/>
            </a:pPr>
            <a:r>
              <a:rPr lang="en-IN" sz="3200" dirty="0">
                <a:solidFill>
                  <a:schemeClr val="tx1"/>
                </a:solidFill>
                <a:latin typeface="Times New Roman" panose="02020603050405020304" pitchFamily="18" charset="0"/>
                <a:cs typeface="Times New Roman" panose="02020603050405020304" pitchFamily="18" charset="0"/>
              </a:rPr>
              <a:t> To connect the investors with the Savers</a:t>
            </a:r>
          </a:p>
          <a:p>
            <a:pPr marL="342900" indent="-342900" algn="just" fontAlgn="base">
              <a:buFontTx/>
              <a:buAutoNum type="arabicParenR"/>
            </a:pPr>
            <a:r>
              <a:rPr lang="en-US" sz="3200" dirty="0">
                <a:solidFill>
                  <a:schemeClr val="tx1"/>
                </a:solidFill>
                <a:latin typeface="Times New Roman" panose="02020603050405020304" pitchFamily="18" charset="0"/>
                <a:cs typeface="Times New Roman" panose="02020603050405020304" pitchFamily="18" charset="0"/>
              </a:rPr>
              <a:t> Ensure liquidity</a:t>
            </a:r>
          </a:p>
          <a:p>
            <a:pPr marL="342900" indent="-342900" algn="just" fontAlgn="base">
              <a:buAutoNum type="arabicParenR"/>
            </a:pPr>
            <a:r>
              <a:rPr lang="en-IN" sz="3200" dirty="0">
                <a:solidFill>
                  <a:schemeClr val="tx1"/>
                </a:solidFill>
                <a:latin typeface="Times New Roman" panose="02020603050405020304" pitchFamily="18" charset="0"/>
                <a:cs typeface="Times New Roman" panose="02020603050405020304" pitchFamily="18" charset="0"/>
              </a:rPr>
              <a:t> Assistance in selection of a project to invest in</a:t>
            </a:r>
          </a:p>
          <a:p>
            <a:pPr marL="342900" indent="-342900" algn="just" fontAlgn="base">
              <a:buAutoNum type="arabicParenR"/>
            </a:pPr>
            <a:r>
              <a:rPr lang="en-US" sz="3200" dirty="0">
                <a:solidFill>
                  <a:schemeClr val="tx1"/>
                </a:solidFill>
                <a:latin typeface="Times New Roman" panose="02020603050405020304" pitchFamily="18" charset="0"/>
                <a:cs typeface="Times New Roman" panose="02020603050405020304" pitchFamily="18" charset="0"/>
              </a:rPr>
              <a:t> Mobilization of Savings and facilitates investment</a:t>
            </a:r>
            <a:endParaRPr lang="en-IN" sz="3200" dirty="0">
              <a:solidFill>
                <a:schemeClr val="tx1"/>
              </a:solidFill>
              <a:latin typeface="Times New Roman" panose="02020603050405020304" pitchFamily="18" charset="0"/>
              <a:cs typeface="Times New Roman" panose="02020603050405020304" pitchFamily="18" charset="0"/>
            </a:endParaRPr>
          </a:p>
          <a:p>
            <a:pPr marL="342900" indent="-342900" algn="just" fontAlgn="base">
              <a:buFontTx/>
              <a:buAutoNum type="arabicParenR"/>
            </a:pPr>
            <a:r>
              <a:rPr lang="en-IN" sz="3200" dirty="0">
                <a:solidFill>
                  <a:schemeClr val="tx1"/>
                </a:solidFill>
                <a:latin typeface="Times New Roman" panose="02020603050405020304" pitchFamily="18" charset="0"/>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Managing</a:t>
            </a:r>
            <a:r>
              <a:rPr lang="en-US" sz="3200" spc="-30" dirty="0">
                <a:solidFill>
                  <a:schemeClr val="tx1"/>
                </a:solidFill>
                <a:latin typeface="Times New Roman" panose="02020603050405020304" pitchFamily="18" charset="0"/>
                <a:cs typeface="Times New Roman" panose="02020603050405020304" pitchFamily="18" charset="0"/>
              </a:rPr>
              <a:t> </a:t>
            </a:r>
            <a:r>
              <a:rPr lang="en-US" sz="3200" spc="-10" dirty="0">
                <a:solidFill>
                  <a:schemeClr val="tx1"/>
                </a:solidFill>
                <a:latin typeface="Times New Roman" panose="02020603050405020304" pitchFamily="18" charset="0"/>
                <a:cs typeface="Times New Roman" panose="02020603050405020304" pitchFamily="18" charset="0"/>
              </a:rPr>
              <a:t>uncertainty </a:t>
            </a:r>
            <a:r>
              <a:rPr lang="en-US" sz="3200" dirty="0">
                <a:solidFill>
                  <a:schemeClr val="tx1"/>
                </a:solidFill>
                <a:latin typeface="Times New Roman" panose="02020603050405020304" pitchFamily="18" charset="0"/>
                <a:cs typeface="Times New Roman" panose="02020603050405020304" pitchFamily="18" charset="0"/>
              </a:rPr>
              <a:t>and</a:t>
            </a:r>
            <a:r>
              <a:rPr lang="en-US" sz="3200" spc="-65" dirty="0">
                <a:solidFill>
                  <a:schemeClr val="tx1"/>
                </a:solidFill>
                <a:latin typeface="Times New Roman" panose="02020603050405020304" pitchFamily="18" charset="0"/>
                <a:cs typeface="Times New Roman" panose="02020603050405020304" pitchFamily="18" charset="0"/>
              </a:rPr>
              <a:t> </a:t>
            </a:r>
            <a:r>
              <a:rPr lang="en-US" sz="3200" dirty="0">
                <a:solidFill>
                  <a:schemeClr val="tx1"/>
                </a:solidFill>
                <a:latin typeface="Times New Roman" panose="02020603050405020304" pitchFamily="18" charset="0"/>
                <a:cs typeface="Times New Roman" panose="02020603050405020304" pitchFamily="18" charset="0"/>
              </a:rPr>
              <a:t>controlling</a:t>
            </a:r>
            <a:r>
              <a:rPr lang="en-US" sz="3200" spc="-65" dirty="0">
                <a:solidFill>
                  <a:schemeClr val="tx1"/>
                </a:solidFill>
                <a:latin typeface="Times New Roman" panose="02020603050405020304" pitchFamily="18" charset="0"/>
                <a:cs typeface="Times New Roman" panose="02020603050405020304" pitchFamily="18" charset="0"/>
              </a:rPr>
              <a:t> </a:t>
            </a:r>
            <a:r>
              <a:rPr lang="en-US" sz="3200" spc="-10" dirty="0">
                <a:solidFill>
                  <a:schemeClr val="tx1"/>
                </a:solidFill>
                <a:latin typeface="Times New Roman" panose="02020603050405020304" pitchFamily="18" charset="0"/>
                <a:cs typeface="Times New Roman" panose="02020603050405020304" pitchFamily="18" charset="0"/>
              </a:rPr>
              <a:t>risk</a:t>
            </a:r>
            <a:endParaRPr lang="en-US" sz="3200" dirty="0">
              <a:solidFill>
                <a:schemeClr val="tx1"/>
              </a:solidFill>
              <a:latin typeface="Times New Roman" panose="02020603050405020304" pitchFamily="18" charset="0"/>
              <a:cs typeface="Times New Roman" panose="02020603050405020304" pitchFamily="18" charset="0"/>
            </a:endParaRPr>
          </a:p>
          <a:p>
            <a:pPr marL="342900" indent="-342900" algn="just" fontAlgn="base">
              <a:buAutoNum type="arabicParenR"/>
            </a:pPr>
            <a:r>
              <a:rPr lang="en-IN" sz="3200" dirty="0">
                <a:solidFill>
                  <a:schemeClr val="tx1"/>
                </a:solidFill>
                <a:latin typeface="Times New Roman" panose="02020603050405020304" pitchFamily="18" charset="0"/>
                <a:cs typeface="Times New Roman" panose="02020603050405020304" pitchFamily="18" charset="0"/>
              </a:rPr>
              <a:t> Availability of Information </a:t>
            </a:r>
          </a:p>
          <a:p>
            <a:pPr marL="342900" indent="-342900" algn="just" fontAlgn="base">
              <a:buAutoNum type="arabicParenR"/>
            </a:pPr>
            <a:r>
              <a:rPr lang="en-IN" sz="3200" dirty="0">
                <a:solidFill>
                  <a:schemeClr val="tx1"/>
                </a:solidFill>
                <a:latin typeface="Times New Roman" panose="02020603050405020304" pitchFamily="18" charset="0"/>
                <a:cs typeface="Times New Roman" panose="02020603050405020304" pitchFamily="18" charset="0"/>
              </a:rPr>
              <a:t> Reducing the Cases of Asymmetric Information </a:t>
            </a:r>
          </a:p>
          <a:p>
            <a:pPr marL="342900" indent="-342900" algn="just" fontAlgn="base">
              <a:buAutoNum type="arabicParenR"/>
            </a:pPr>
            <a:r>
              <a:rPr lang="en-IN" sz="3200" dirty="0">
                <a:solidFill>
                  <a:schemeClr val="tx1"/>
                </a:solidFill>
                <a:latin typeface="Times New Roman" panose="02020603050405020304" pitchFamily="18" charset="0"/>
                <a:cs typeface="Times New Roman" panose="02020603050405020304" pitchFamily="18" charset="0"/>
              </a:rPr>
              <a:t> Reduction in the Borrowing and the Transaction   Cost </a:t>
            </a:r>
          </a:p>
          <a:p>
            <a:pPr marL="342900" indent="-342900" algn="just" fontAlgn="base">
              <a:buAutoNum type="arabicParenR"/>
            </a:pPr>
            <a:r>
              <a:rPr lang="en-US" sz="3200" dirty="0">
                <a:solidFill>
                  <a:schemeClr val="tx1"/>
                </a:solidFill>
                <a:latin typeface="Times New Roman" panose="02020603050405020304" pitchFamily="18" charset="0"/>
                <a:cs typeface="Times New Roman" panose="02020603050405020304" pitchFamily="18" charset="0"/>
              </a:rPr>
              <a:t>Payment and Settlement</a:t>
            </a:r>
            <a:endParaRPr lang="en-IN" sz="3200" dirty="0">
              <a:solidFill>
                <a:schemeClr val="tx1"/>
              </a:solidFill>
              <a:latin typeface="Times New Roman" panose="02020603050405020304" pitchFamily="18" charset="0"/>
              <a:cs typeface="Times New Roman" panose="02020603050405020304" pitchFamily="18" charset="0"/>
            </a:endParaRPr>
          </a:p>
          <a:p>
            <a:pPr algn="just" fontAlgn="base"/>
            <a:endParaRPr lang="en-IN" sz="3200" dirty="0">
              <a:solidFill>
                <a:schemeClr val="tx1"/>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2768050" y="99753"/>
            <a:ext cx="5762107"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lnSpc>
                <a:spcPts val="1920"/>
              </a:lnSpc>
              <a:spcAft>
                <a:spcPts val="1125"/>
              </a:spcAft>
            </a:pPr>
            <a:r>
              <a:rPr lang="en-IN" sz="32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Functions of Financial System</a:t>
            </a:r>
          </a:p>
        </p:txBody>
      </p:sp>
      <p:sp>
        <p:nvSpPr>
          <p:cNvPr id="2" name="Star: 5 Points 1">
            <a:extLst>
              <a:ext uri="{FF2B5EF4-FFF2-40B4-BE49-F238E27FC236}">
                <a16:creationId xmlns:a16="http://schemas.microsoft.com/office/drawing/2014/main" id="{D43E93BE-420C-8273-DC40-F71E6FB0EE43}"/>
              </a:ext>
            </a:extLst>
          </p:cNvPr>
          <p:cNvSpPr/>
          <p:nvPr/>
        </p:nvSpPr>
        <p:spPr>
          <a:xfrm>
            <a:off x="1831829" y="288348"/>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0024328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50668" y="1072342"/>
            <a:ext cx="10631978" cy="5403272"/>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marL="571500" lvl="0" indent="-571500" fontAlgn="base">
              <a:buFont typeface="Wingdings" panose="05000000000000000000" pitchFamily="2" charset="2"/>
              <a:buChar char="Ø"/>
            </a:pPr>
            <a:r>
              <a:rPr lang="en-IN" sz="3600" dirty="0">
                <a:solidFill>
                  <a:schemeClr val="tx1"/>
                </a:solidFill>
                <a:latin typeface="Times New Roman" panose="02020603050405020304" pitchFamily="18" charset="0"/>
                <a:cs typeface="Times New Roman" panose="02020603050405020304" pitchFamily="18" charset="0"/>
              </a:rPr>
              <a:t>Financial Institutions</a:t>
            </a:r>
          </a:p>
          <a:p>
            <a:pPr marL="571500" lvl="0" indent="-571500" fontAlgn="base">
              <a:buFont typeface="Wingdings" panose="05000000000000000000" pitchFamily="2" charset="2"/>
              <a:buChar char="Ø"/>
            </a:pPr>
            <a:r>
              <a:rPr lang="en-IN" sz="3600" dirty="0">
                <a:solidFill>
                  <a:schemeClr val="tx1"/>
                </a:solidFill>
                <a:latin typeface="Times New Roman" panose="02020603050405020304" pitchFamily="18" charset="0"/>
                <a:cs typeface="Times New Roman" panose="02020603050405020304" pitchFamily="18" charset="0"/>
              </a:rPr>
              <a:t>Financial Markets</a:t>
            </a:r>
          </a:p>
          <a:p>
            <a:pPr marL="571500" indent="-571500" fontAlgn="base">
              <a:buFont typeface="Wingdings" panose="05000000000000000000" pitchFamily="2" charset="2"/>
              <a:buChar char="Ø"/>
            </a:pPr>
            <a:r>
              <a:rPr lang="en-IN" sz="3600" dirty="0">
                <a:solidFill>
                  <a:schemeClr val="tx1"/>
                </a:solidFill>
                <a:latin typeface="Times New Roman" panose="02020603050405020304" pitchFamily="18" charset="0"/>
                <a:cs typeface="Times New Roman" panose="02020603050405020304" pitchFamily="18" charset="0"/>
              </a:rPr>
              <a:t>Financial Instruments/ Securities/Assets</a:t>
            </a:r>
          </a:p>
          <a:p>
            <a:pPr marL="571500" lvl="0" indent="-571500" fontAlgn="base">
              <a:buFont typeface="Wingdings" panose="05000000000000000000" pitchFamily="2" charset="2"/>
              <a:buChar char="Ø"/>
            </a:pPr>
            <a:r>
              <a:rPr lang="en-IN" sz="3600" dirty="0">
                <a:solidFill>
                  <a:schemeClr val="tx1"/>
                </a:solidFill>
                <a:latin typeface="Times New Roman" panose="02020603050405020304" pitchFamily="18" charset="0"/>
                <a:cs typeface="Times New Roman" panose="02020603050405020304" pitchFamily="18" charset="0"/>
              </a:rPr>
              <a:t>Financial Services</a:t>
            </a:r>
          </a:p>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8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br>
              <a:rPr lang="en-IN" sz="28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2616429" y="307570"/>
            <a:ext cx="7100456" cy="57357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200" b="1" dirty="0">
                <a:solidFill>
                  <a:schemeClr val="bg1"/>
                </a:solidFill>
                <a:latin typeface="Georgia" panose="02040502050405020303" pitchFamily="18" charset="0"/>
                <a:ea typeface="Calibri" panose="020F0502020204030204" pitchFamily="34" charset="0"/>
                <a:cs typeface="Arial" panose="020B0604020202020204" pitchFamily="34" charset="0"/>
              </a:rPr>
              <a:t>Components of Financial System</a:t>
            </a:r>
            <a:endParaRPr lang="en-IN" sz="3200" b="1" dirty="0">
              <a:solidFill>
                <a:schemeClr val="bg1"/>
              </a:solidFill>
            </a:endParaRPr>
          </a:p>
        </p:txBody>
      </p:sp>
    </p:spTree>
    <p:extLst>
      <p:ext uri="{BB962C8B-B14F-4D97-AF65-F5344CB8AC3E}">
        <p14:creationId xmlns:p14="http://schemas.microsoft.com/office/powerpoint/2010/main" val="25419607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06335" y="1995055"/>
            <a:ext cx="10540538" cy="26018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fontAlgn="base"/>
            <a:r>
              <a:rPr lang="en-IN" sz="6000" b="1" dirty="0">
                <a:solidFill>
                  <a:schemeClr val="tx1"/>
                </a:solidFill>
                <a:latin typeface="Times New Roman" panose="02020603050405020304" pitchFamily="18" charset="0"/>
                <a:cs typeface="Times New Roman" panose="02020603050405020304" pitchFamily="18" charset="0"/>
              </a:rPr>
              <a:t>Financial Institutions</a:t>
            </a:r>
          </a:p>
        </p:txBody>
      </p:sp>
    </p:spTree>
    <p:extLst>
      <p:ext uri="{BB962C8B-B14F-4D97-AF65-F5344CB8AC3E}">
        <p14:creationId xmlns:p14="http://schemas.microsoft.com/office/powerpoint/2010/main" val="1148282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736368" y="1288473"/>
            <a:ext cx="11193696" cy="494087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A financial institution (FI) is an organization that facilitates the flow of capital between savers and borrowers.</a:t>
            </a: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Act as an intermediary and facilitator in financial transactions at the individual and the corporate level.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They are the ones who channelize the savings and allocate the funds in the most optimum manner.</a:t>
            </a:r>
            <a:r>
              <a:rPr lang="en-IN" sz="2800" b="1" dirty="0">
                <a:solidFill>
                  <a:schemeClr val="tx1"/>
                </a:solidFill>
                <a:latin typeface="Times New Roman" panose="02020603050405020304" pitchFamily="18" charset="0"/>
                <a:cs typeface="Times New Roman" panose="02020603050405020304" pitchFamily="18" charset="0"/>
              </a:rPr>
              <a:t> </a:t>
            </a:r>
          </a:p>
          <a:p>
            <a:pPr marL="457200" indent="-457200" algn="just" fontAlgn="base">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It offers a wide range of financial products and services that enable individuals, businesses and governments to manage their money, invest for the future and access the capital they need to grow.</a:t>
            </a:r>
            <a:endParaRPr lang="en-IN" sz="2800" dirty="0">
              <a:solidFill>
                <a:schemeClr val="tx1"/>
              </a:solidFill>
              <a:latin typeface="Times New Roman" panose="02020603050405020304" pitchFamily="18" charset="0"/>
              <a:cs typeface="Times New Roman" panose="02020603050405020304" pitchFamily="18" charset="0"/>
            </a:endParaRPr>
          </a:p>
          <a:p>
            <a:pPr fontAlgn="base"/>
            <a:endParaRPr lang="en-IN" sz="2800" b="1" dirty="0">
              <a:solidFill>
                <a:schemeClr val="tx1"/>
              </a:solidFill>
              <a:latin typeface="Times New Roman" panose="02020603050405020304" pitchFamily="18" charset="0"/>
              <a:cs typeface="Times New Roman" panose="02020603050405020304" pitchFamily="18" charset="0"/>
            </a:endParaRPr>
          </a:p>
          <a:p>
            <a:pPr algn="just" fontAlgn="base"/>
            <a:br>
              <a:rPr lang="en-IN" sz="28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8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3086272" y="0"/>
            <a:ext cx="5303520" cy="9892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600" b="1" dirty="0">
                <a:solidFill>
                  <a:schemeClr val="bg1"/>
                </a:solidFill>
                <a:latin typeface="Times New Roman" panose="02020603050405020304" pitchFamily="18" charset="0"/>
                <a:cs typeface="Times New Roman" panose="02020603050405020304" pitchFamily="18" charset="0"/>
              </a:rPr>
              <a:t>Financial Institutions</a:t>
            </a:r>
          </a:p>
        </p:txBody>
      </p:sp>
      <p:sp>
        <p:nvSpPr>
          <p:cNvPr id="2" name="Star: 5 Points 1">
            <a:extLst>
              <a:ext uri="{FF2B5EF4-FFF2-40B4-BE49-F238E27FC236}">
                <a16:creationId xmlns:a16="http://schemas.microsoft.com/office/drawing/2014/main" id="{C21F42CA-1A2E-CEE9-BA7A-D79E6C77C960}"/>
              </a:ext>
            </a:extLst>
          </p:cNvPr>
          <p:cNvSpPr/>
          <p:nvPr/>
        </p:nvSpPr>
        <p:spPr>
          <a:xfrm>
            <a:off x="2150051" y="203142"/>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751889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736368" y="1288473"/>
            <a:ext cx="11193696" cy="494087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r>
              <a:rPr lang="en-IN" sz="2800" dirty="0">
                <a:solidFill>
                  <a:srgbClr val="C00000"/>
                </a:solidFill>
                <a:latin typeface="Times New Roman" panose="02020603050405020304" pitchFamily="18" charset="0"/>
                <a:cs typeface="Times New Roman" panose="02020603050405020304" pitchFamily="18" charset="0"/>
              </a:rPr>
              <a:t>Classified in three different categories :</a:t>
            </a:r>
          </a:p>
          <a:p>
            <a:pPr marL="514350" lvl="0" indent="-514350" fontAlgn="base">
              <a:buFont typeface="+mj-lt"/>
              <a:buAutoNum type="arabicPeriod"/>
            </a:pPr>
            <a:r>
              <a:rPr lang="en-IN" sz="2800" dirty="0">
                <a:solidFill>
                  <a:srgbClr val="0070C0"/>
                </a:solidFill>
                <a:latin typeface="Times New Roman" panose="02020603050405020304" pitchFamily="18" charset="0"/>
                <a:cs typeface="Times New Roman" panose="02020603050405020304" pitchFamily="18" charset="0"/>
              </a:rPr>
              <a:t>Regulatory Institutions</a:t>
            </a:r>
          </a:p>
          <a:p>
            <a:pPr marL="514350" lvl="0" indent="-514350" fontAlgn="base">
              <a:buFont typeface="+mj-lt"/>
              <a:buAutoNum type="arabicPeriod"/>
            </a:pPr>
            <a:r>
              <a:rPr lang="en-IN" sz="2800" dirty="0">
                <a:solidFill>
                  <a:srgbClr val="0070C0"/>
                </a:solidFill>
                <a:latin typeface="Times New Roman" panose="02020603050405020304" pitchFamily="18" charset="0"/>
                <a:cs typeface="Times New Roman" panose="02020603050405020304" pitchFamily="18" charset="0"/>
              </a:rPr>
              <a:t>Banking Institutions</a:t>
            </a:r>
          </a:p>
          <a:p>
            <a:pPr marL="514350" lvl="0" indent="-514350" fontAlgn="base">
              <a:buFont typeface="+mj-lt"/>
              <a:buAutoNum type="arabicPeriod"/>
            </a:pPr>
            <a:r>
              <a:rPr lang="en-IN" sz="2800" dirty="0">
                <a:solidFill>
                  <a:srgbClr val="0070C0"/>
                </a:solidFill>
                <a:latin typeface="Times New Roman" panose="02020603050405020304" pitchFamily="18" charset="0"/>
                <a:cs typeface="Times New Roman" panose="02020603050405020304" pitchFamily="18" charset="0"/>
              </a:rPr>
              <a:t>Non-banking Institutions</a:t>
            </a:r>
          </a:p>
        </p:txBody>
      </p:sp>
      <p:sp>
        <p:nvSpPr>
          <p:cNvPr id="3" name="Rounded Rectangle 2"/>
          <p:cNvSpPr/>
          <p:nvPr/>
        </p:nvSpPr>
        <p:spPr>
          <a:xfrm>
            <a:off x="3002714" y="157163"/>
            <a:ext cx="6661004" cy="9892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600" b="1" dirty="0">
                <a:solidFill>
                  <a:schemeClr val="bg1"/>
                </a:solidFill>
                <a:latin typeface="Times New Roman" panose="02020603050405020304" pitchFamily="18" charset="0"/>
                <a:cs typeface="Times New Roman" panose="02020603050405020304" pitchFamily="18" charset="0"/>
              </a:rPr>
              <a:t>Classification of Financial Institutions</a:t>
            </a:r>
          </a:p>
        </p:txBody>
      </p:sp>
      <p:sp>
        <p:nvSpPr>
          <p:cNvPr id="2" name="Star: 5 Points 1">
            <a:extLst>
              <a:ext uri="{FF2B5EF4-FFF2-40B4-BE49-F238E27FC236}">
                <a16:creationId xmlns:a16="http://schemas.microsoft.com/office/drawing/2014/main" id="{B2057699-99BC-D0C9-FF2E-7B3F767304A9}"/>
              </a:ext>
            </a:extLst>
          </p:cNvPr>
          <p:cNvSpPr/>
          <p:nvPr/>
        </p:nvSpPr>
        <p:spPr>
          <a:xfrm>
            <a:off x="2066493" y="360305"/>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969370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42875" y="1139624"/>
            <a:ext cx="11772900" cy="5432626"/>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Regulatory institutions are government or statutory bodies that monitor, supervise and regulate financial markets, institutions, and services to ensure transparency, stability, investor protection and economic integrity</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It comprises of RBI, SEBI, IRDAI, etc.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Primarily, an investor would want the funds to be under the control and to be safe to invest. This assurance is rendered by the regulatory authority that is regulating the particular market.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For example, money market instruments are regulated by the RBI whereas the capital market instruments are regulated by SEBI.</a:t>
            </a:r>
          </a:p>
          <a:p>
            <a:pPr algn="just" fontAlgn="base">
              <a:lnSpc>
                <a:spcPts val="1920"/>
              </a:lnSpc>
              <a:spcAft>
                <a:spcPts val="800"/>
              </a:spcAft>
            </a:pPr>
            <a:endParaRPr lang="en-IN" sz="28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8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8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br>
              <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2529059" y="165215"/>
            <a:ext cx="4914728" cy="7634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r>
              <a:rPr lang="en-IN" sz="3600" b="1" dirty="0">
                <a:solidFill>
                  <a:schemeClr val="bg1"/>
                </a:solidFill>
                <a:latin typeface="Times New Roman" panose="02020603050405020304" pitchFamily="18" charset="0"/>
                <a:cs typeface="Times New Roman" panose="02020603050405020304" pitchFamily="18" charset="0"/>
              </a:rPr>
              <a:t>Regulatory Institutions</a:t>
            </a:r>
          </a:p>
        </p:txBody>
      </p:sp>
      <p:sp>
        <p:nvSpPr>
          <p:cNvPr id="2" name="Star: 5 Points 1">
            <a:extLst>
              <a:ext uri="{FF2B5EF4-FFF2-40B4-BE49-F238E27FC236}">
                <a16:creationId xmlns:a16="http://schemas.microsoft.com/office/drawing/2014/main" id="{C1AC5195-73C3-2CDC-F329-BE548B3CD120}"/>
              </a:ext>
            </a:extLst>
          </p:cNvPr>
          <p:cNvSpPr/>
          <p:nvPr/>
        </p:nvSpPr>
        <p:spPr>
          <a:xfrm>
            <a:off x="1428750" y="44577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00099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42875" y="1139624"/>
            <a:ext cx="11849256" cy="5432626"/>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Formulate Policies</a:t>
            </a:r>
            <a:r>
              <a:rPr lang="en-US" sz="2800" dirty="0">
                <a:solidFill>
                  <a:schemeClr val="tx1"/>
                </a:solidFill>
                <a:latin typeface="Times New Roman" panose="02020603050405020304" pitchFamily="18" charset="0"/>
                <a:cs typeface="Times New Roman" panose="02020603050405020304" pitchFamily="18" charset="0"/>
              </a:rPr>
              <a:t>: Define rules and regulations for financial operations.</a:t>
            </a:r>
          </a:p>
          <a:p>
            <a:pPr marL="457200" indent="-457200">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Supervision and Inspection</a:t>
            </a:r>
            <a:r>
              <a:rPr lang="en-US" sz="2800" dirty="0">
                <a:solidFill>
                  <a:schemeClr val="tx1"/>
                </a:solidFill>
                <a:latin typeface="Times New Roman" panose="02020603050405020304" pitchFamily="18" charset="0"/>
                <a:cs typeface="Times New Roman" panose="02020603050405020304" pitchFamily="18" charset="0"/>
              </a:rPr>
              <a:t>: Monitor compliance and take corrective action.</a:t>
            </a:r>
          </a:p>
          <a:p>
            <a:pPr marL="457200" indent="-457200">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Licensing</a:t>
            </a:r>
            <a:r>
              <a:rPr lang="en-US" sz="2800" dirty="0">
                <a:solidFill>
                  <a:schemeClr val="tx1"/>
                </a:solidFill>
                <a:latin typeface="Times New Roman" panose="02020603050405020304" pitchFamily="18" charset="0"/>
                <a:cs typeface="Times New Roman" panose="02020603050405020304" pitchFamily="18" charset="0"/>
              </a:rPr>
              <a:t>: Grant permission to operate banks, insurance firms, mutual funds, etc.</a:t>
            </a:r>
          </a:p>
          <a:p>
            <a:pPr marL="457200" indent="-457200">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Protect Consumers</a:t>
            </a:r>
            <a:r>
              <a:rPr lang="en-US" sz="2800" dirty="0">
                <a:solidFill>
                  <a:schemeClr val="tx1"/>
                </a:solidFill>
                <a:latin typeface="Times New Roman" panose="02020603050405020304" pitchFamily="18" charset="0"/>
                <a:cs typeface="Times New Roman" panose="02020603050405020304" pitchFamily="18" charset="0"/>
              </a:rPr>
              <a:t>: Prevent fraud, ensure fair practices, and resolve complaints.</a:t>
            </a:r>
          </a:p>
          <a:p>
            <a:pPr marL="457200" indent="-457200">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Maintain Stability</a:t>
            </a:r>
            <a:r>
              <a:rPr lang="en-US" sz="2800" dirty="0">
                <a:solidFill>
                  <a:schemeClr val="tx1"/>
                </a:solidFill>
                <a:latin typeface="Times New Roman" panose="02020603050405020304" pitchFamily="18" charset="0"/>
                <a:cs typeface="Times New Roman" panose="02020603050405020304" pitchFamily="18" charset="0"/>
              </a:rPr>
              <a:t>: Prevent financial crises and maintain trust in the system.</a:t>
            </a:r>
          </a:p>
          <a:p>
            <a:pPr marL="457200" indent="-457200">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Promote Growth</a:t>
            </a:r>
            <a:r>
              <a:rPr lang="en-US" sz="2800" dirty="0">
                <a:solidFill>
                  <a:schemeClr val="tx1"/>
                </a:solidFill>
                <a:latin typeface="Times New Roman" panose="02020603050405020304" pitchFamily="18" charset="0"/>
                <a:cs typeface="Times New Roman" panose="02020603050405020304" pitchFamily="18" charset="0"/>
              </a:rPr>
              <a:t>: Encourage healthy competition and innovation in the financial sector.</a:t>
            </a:r>
          </a:p>
          <a:p>
            <a:pPr algn="just" fontAlgn="base">
              <a:lnSpc>
                <a:spcPts val="1920"/>
              </a:lnSpc>
              <a:spcAft>
                <a:spcPts val="800"/>
              </a:spcAft>
            </a:pPr>
            <a:endParaRPr lang="en-IN" sz="28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8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800"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br>
              <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8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1689610" y="210186"/>
            <a:ext cx="7979046" cy="7634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r>
              <a:rPr lang="en-IN" sz="3600" b="1" dirty="0">
                <a:solidFill>
                  <a:schemeClr val="bg1"/>
                </a:solidFill>
                <a:latin typeface="Times New Roman" panose="02020603050405020304" pitchFamily="18" charset="0"/>
                <a:cs typeface="Times New Roman" panose="02020603050405020304" pitchFamily="18" charset="0"/>
              </a:rPr>
              <a:t>Functions of Regulatory Institutions</a:t>
            </a:r>
          </a:p>
        </p:txBody>
      </p:sp>
      <p:sp>
        <p:nvSpPr>
          <p:cNvPr id="2" name="Star: 5 Points 1">
            <a:extLst>
              <a:ext uri="{FF2B5EF4-FFF2-40B4-BE49-F238E27FC236}">
                <a16:creationId xmlns:a16="http://schemas.microsoft.com/office/drawing/2014/main" id="{CA079D21-6084-2E28-1C3B-1362D09D4565}"/>
              </a:ext>
            </a:extLst>
          </p:cNvPr>
          <p:cNvSpPr/>
          <p:nvPr/>
        </p:nvSpPr>
        <p:spPr>
          <a:xfrm>
            <a:off x="751359" y="300457"/>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831231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142875" y="1139624"/>
            <a:ext cx="11772900" cy="5432626"/>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Rounded Rectangle 2"/>
          <p:cNvSpPr/>
          <p:nvPr/>
        </p:nvSpPr>
        <p:spPr>
          <a:xfrm>
            <a:off x="2529059" y="165215"/>
            <a:ext cx="4914728" cy="7634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r>
              <a:rPr lang="en-IN" sz="3600" b="1" dirty="0">
                <a:solidFill>
                  <a:schemeClr val="bg1"/>
                </a:solidFill>
                <a:latin typeface="Times New Roman" panose="02020603050405020304" pitchFamily="18" charset="0"/>
                <a:cs typeface="Times New Roman" panose="02020603050405020304" pitchFamily="18" charset="0"/>
              </a:rPr>
              <a:t>Regulatory Institutions</a:t>
            </a:r>
          </a:p>
        </p:txBody>
      </p:sp>
      <p:graphicFrame>
        <p:nvGraphicFramePr>
          <p:cNvPr id="2" name="Table 1"/>
          <p:cNvGraphicFramePr>
            <a:graphicFrameLocks noGrp="1"/>
          </p:cNvGraphicFramePr>
          <p:nvPr>
            <p:extLst>
              <p:ext uri="{D42A27DB-BD31-4B8C-83A1-F6EECF244321}">
                <p14:modId xmlns:p14="http://schemas.microsoft.com/office/powerpoint/2010/main" val="1246219901"/>
              </p:ext>
            </p:extLst>
          </p:nvPr>
        </p:nvGraphicFramePr>
        <p:xfrm>
          <a:off x="554636" y="1339509"/>
          <a:ext cx="10822898" cy="4540304"/>
        </p:xfrm>
        <a:graphic>
          <a:graphicData uri="http://schemas.openxmlformats.org/drawingml/2006/table">
            <a:tbl>
              <a:tblPr/>
              <a:tblGrid>
                <a:gridCol w="1640604">
                  <a:extLst>
                    <a:ext uri="{9D8B030D-6E8A-4147-A177-3AD203B41FA5}">
                      <a16:colId xmlns:a16="http://schemas.microsoft.com/office/drawing/2014/main" val="20000"/>
                    </a:ext>
                  </a:extLst>
                </a:gridCol>
                <a:gridCol w="2754688">
                  <a:extLst>
                    <a:ext uri="{9D8B030D-6E8A-4147-A177-3AD203B41FA5}">
                      <a16:colId xmlns:a16="http://schemas.microsoft.com/office/drawing/2014/main" val="20001"/>
                    </a:ext>
                  </a:extLst>
                </a:gridCol>
                <a:gridCol w="2816941">
                  <a:extLst>
                    <a:ext uri="{9D8B030D-6E8A-4147-A177-3AD203B41FA5}">
                      <a16:colId xmlns:a16="http://schemas.microsoft.com/office/drawing/2014/main" val="20002"/>
                    </a:ext>
                  </a:extLst>
                </a:gridCol>
                <a:gridCol w="3610665">
                  <a:extLst>
                    <a:ext uri="{9D8B030D-6E8A-4147-A177-3AD203B41FA5}">
                      <a16:colId xmlns:a16="http://schemas.microsoft.com/office/drawing/2014/main" val="20003"/>
                    </a:ext>
                  </a:extLst>
                </a:gridCol>
              </a:tblGrid>
              <a:tr h="202388">
                <a:tc>
                  <a:txBody>
                    <a:bodyPr/>
                    <a:lstStyle/>
                    <a:p>
                      <a:r>
                        <a:rPr lang="en-US" sz="1600" dirty="0"/>
                        <a:t>TIM</a:t>
                      </a:r>
                    </a:p>
                  </a:txBody>
                  <a:tcPr marL="50597" marR="50597" marT="25298" marB="25298" anchor="ctr">
                    <a:lnL>
                      <a:noFill/>
                    </a:lnL>
                    <a:lnR>
                      <a:noFill/>
                    </a:lnR>
                    <a:lnT>
                      <a:noFill/>
                    </a:lnT>
                    <a:lnB>
                      <a:noFill/>
                    </a:lnB>
                  </a:tcPr>
                </a:tc>
                <a:tc>
                  <a:txBody>
                    <a:bodyPr/>
                    <a:lstStyle/>
                    <a:p>
                      <a:r>
                        <a:rPr lang="en-US" sz="1600"/>
                        <a:t>Full Form</a:t>
                      </a:r>
                    </a:p>
                  </a:txBody>
                  <a:tcPr marL="50597" marR="50597" marT="25298" marB="25298" anchor="ctr">
                    <a:lnL>
                      <a:noFill/>
                    </a:lnL>
                    <a:lnR>
                      <a:noFill/>
                    </a:lnR>
                    <a:lnT>
                      <a:noFill/>
                    </a:lnT>
                    <a:lnB>
                      <a:noFill/>
                    </a:lnB>
                  </a:tcPr>
                </a:tc>
                <a:tc>
                  <a:txBody>
                    <a:bodyPr/>
                    <a:lstStyle/>
                    <a:p>
                      <a:r>
                        <a:rPr lang="en-US" sz="1600"/>
                        <a:t>Area of Regulation</a:t>
                      </a:r>
                    </a:p>
                  </a:txBody>
                  <a:tcPr marL="50597" marR="50597" marT="25298" marB="25298" anchor="ctr">
                    <a:lnL>
                      <a:noFill/>
                    </a:lnL>
                    <a:lnR>
                      <a:noFill/>
                    </a:lnR>
                    <a:lnT>
                      <a:noFill/>
                    </a:lnT>
                    <a:lnB>
                      <a:noFill/>
                    </a:lnB>
                  </a:tcPr>
                </a:tc>
                <a:tc>
                  <a:txBody>
                    <a:bodyPr/>
                    <a:lstStyle/>
                    <a:p>
                      <a:r>
                        <a:rPr lang="en-US" sz="1600"/>
                        <a:t>Key Role</a:t>
                      </a:r>
                    </a:p>
                  </a:txBody>
                  <a:tcPr marL="50597" marR="50597" marT="25298" marB="25298" anchor="ctr">
                    <a:lnL>
                      <a:noFill/>
                    </a:lnL>
                    <a:lnR>
                      <a:noFill/>
                    </a:lnR>
                    <a:lnT>
                      <a:noFill/>
                    </a:lnT>
                    <a:lnB>
                      <a:noFill/>
                    </a:lnB>
                  </a:tcPr>
                </a:tc>
                <a:extLst>
                  <a:ext uri="{0D108BD9-81ED-4DB2-BD59-A6C34878D82A}">
                    <a16:rowId xmlns:a16="http://schemas.microsoft.com/office/drawing/2014/main" val="10000"/>
                  </a:ext>
                </a:extLst>
              </a:tr>
              <a:tr h="657760">
                <a:tc>
                  <a:txBody>
                    <a:bodyPr/>
                    <a:lstStyle/>
                    <a:p>
                      <a:r>
                        <a:rPr lang="en-US" sz="1600" b="1" dirty="0">
                          <a:solidFill>
                            <a:schemeClr val="tx1"/>
                          </a:solidFill>
                        </a:rPr>
                        <a:t>RBI</a:t>
                      </a:r>
                      <a:endParaRPr lang="en-US" sz="1600" dirty="0">
                        <a:solidFill>
                          <a:schemeClr val="tx1"/>
                        </a:solidFill>
                      </a:endParaRPr>
                    </a:p>
                  </a:txBody>
                  <a:tcPr marL="50597" marR="50597" marT="25298" marB="25298" anchor="ctr">
                    <a:lnL>
                      <a:noFill/>
                    </a:lnL>
                    <a:lnR>
                      <a:noFill/>
                    </a:lnR>
                    <a:lnT>
                      <a:noFill/>
                    </a:lnT>
                    <a:lnB>
                      <a:noFill/>
                    </a:lnB>
                  </a:tcPr>
                </a:tc>
                <a:tc>
                  <a:txBody>
                    <a:bodyPr/>
                    <a:lstStyle/>
                    <a:p>
                      <a:r>
                        <a:rPr lang="en-US" sz="1600" dirty="0">
                          <a:solidFill>
                            <a:schemeClr val="tx1"/>
                          </a:solidFill>
                        </a:rPr>
                        <a:t>Reserve Bank of India</a:t>
                      </a:r>
                    </a:p>
                  </a:txBody>
                  <a:tcPr marL="50597" marR="50597" marT="25298" marB="25298" anchor="ctr">
                    <a:lnL>
                      <a:noFill/>
                    </a:lnL>
                    <a:lnR>
                      <a:noFill/>
                    </a:lnR>
                    <a:lnT>
                      <a:noFill/>
                    </a:lnT>
                    <a:lnB>
                      <a:noFill/>
                    </a:lnB>
                  </a:tcPr>
                </a:tc>
                <a:tc>
                  <a:txBody>
                    <a:bodyPr/>
                    <a:lstStyle/>
                    <a:p>
                      <a:r>
                        <a:rPr lang="en-US" sz="1600" dirty="0">
                          <a:solidFill>
                            <a:schemeClr val="tx1"/>
                          </a:solidFill>
                        </a:rPr>
                        <a:t>Banking and NBFCs</a:t>
                      </a:r>
                    </a:p>
                  </a:txBody>
                  <a:tcPr marL="50597" marR="50597" marT="25298" marB="25298" anchor="ctr">
                    <a:lnL>
                      <a:noFill/>
                    </a:lnL>
                    <a:lnR>
                      <a:noFill/>
                    </a:lnR>
                    <a:lnT>
                      <a:noFill/>
                    </a:lnT>
                    <a:lnB>
                      <a:noFill/>
                    </a:lnB>
                  </a:tcPr>
                </a:tc>
                <a:tc>
                  <a:txBody>
                    <a:bodyPr/>
                    <a:lstStyle/>
                    <a:p>
                      <a:r>
                        <a:rPr lang="en-US" sz="1600">
                          <a:solidFill>
                            <a:schemeClr val="tx1"/>
                          </a:solidFill>
                        </a:rPr>
                        <a:t>Regulates banks, issues currency, controls inflation, manages foreign exchange</a:t>
                      </a:r>
                    </a:p>
                  </a:txBody>
                  <a:tcPr marL="50597" marR="50597" marT="25298" marB="25298" anchor="ctr">
                    <a:lnL>
                      <a:noFill/>
                    </a:lnL>
                    <a:lnR>
                      <a:noFill/>
                    </a:lnR>
                    <a:lnT>
                      <a:noFill/>
                    </a:lnT>
                    <a:lnB>
                      <a:noFill/>
                    </a:lnB>
                  </a:tcPr>
                </a:tc>
                <a:extLst>
                  <a:ext uri="{0D108BD9-81ED-4DB2-BD59-A6C34878D82A}">
                    <a16:rowId xmlns:a16="http://schemas.microsoft.com/office/drawing/2014/main" val="10001"/>
                  </a:ext>
                </a:extLst>
              </a:tr>
              <a:tr h="657760">
                <a:tc>
                  <a:txBody>
                    <a:bodyPr/>
                    <a:lstStyle/>
                    <a:p>
                      <a:r>
                        <a:rPr lang="en-US" sz="1600" b="1" dirty="0">
                          <a:solidFill>
                            <a:schemeClr val="tx1"/>
                          </a:solidFill>
                        </a:rPr>
                        <a:t>SEBI</a:t>
                      </a:r>
                      <a:endParaRPr lang="en-US" sz="1600" dirty="0">
                        <a:solidFill>
                          <a:schemeClr val="tx1"/>
                        </a:solidFill>
                      </a:endParaRPr>
                    </a:p>
                  </a:txBody>
                  <a:tcPr marL="50597" marR="50597" marT="25298" marB="25298" anchor="ctr">
                    <a:lnL>
                      <a:noFill/>
                    </a:lnL>
                    <a:lnR>
                      <a:noFill/>
                    </a:lnR>
                    <a:lnT>
                      <a:noFill/>
                    </a:lnT>
                    <a:lnB>
                      <a:noFill/>
                    </a:lnB>
                  </a:tcPr>
                </a:tc>
                <a:tc>
                  <a:txBody>
                    <a:bodyPr/>
                    <a:lstStyle/>
                    <a:p>
                      <a:r>
                        <a:rPr lang="en-US" sz="1600" dirty="0">
                          <a:solidFill>
                            <a:schemeClr val="tx1"/>
                          </a:solidFill>
                        </a:rPr>
                        <a:t>Securities and Exchange Board of India</a:t>
                      </a:r>
                    </a:p>
                  </a:txBody>
                  <a:tcPr marL="50597" marR="50597" marT="25298" marB="25298" anchor="ctr">
                    <a:lnL>
                      <a:noFill/>
                    </a:lnL>
                    <a:lnR>
                      <a:noFill/>
                    </a:lnR>
                    <a:lnT>
                      <a:noFill/>
                    </a:lnT>
                    <a:lnB>
                      <a:noFill/>
                    </a:lnB>
                  </a:tcPr>
                </a:tc>
                <a:tc>
                  <a:txBody>
                    <a:bodyPr/>
                    <a:lstStyle/>
                    <a:p>
                      <a:r>
                        <a:rPr lang="en-US" sz="1600">
                          <a:solidFill>
                            <a:schemeClr val="tx1"/>
                          </a:solidFill>
                        </a:rPr>
                        <a:t>Capital Markets (Stock, Mutual Funds, etc.)</a:t>
                      </a:r>
                    </a:p>
                  </a:txBody>
                  <a:tcPr marL="50597" marR="50597" marT="25298" marB="25298" anchor="ctr">
                    <a:lnL>
                      <a:noFill/>
                    </a:lnL>
                    <a:lnR>
                      <a:noFill/>
                    </a:lnR>
                    <a:lnT>
                      <a:noFill/>
                    </a:lnT>
                    <a:lnB>
                      <a:noFill/>
                    </a:lnB>
                  </a:tcPr>
                </a:tc>
                <a:tc>
                  <a:txBody>
                    <a:bodyPr/>
                    <a:lstStyle/>
                    <a:p>
                      <a:r>
                        <a:rPr lang="en-US" sz="1600">
                          <a:solidFill>
                            <a:schemeClr val="tx1"/>
                          </a:solidFill>
                        </a:rPr>
                        <a:t>Regulates stock exchanges, protects investors, monitors market manipulation</a:t>
                      </a:r>
                    </a:p>
                  </a:txBody>
                  <a:tcPr marL="50597" marR="50597" marT="25298" marB="25298" anchor="ctr">
                    <a:lnL>
                      <a:noFill/>
                    </a:lnL>
                    <a:lnR>
                      <a:noFill/>
                    </a:lnR>
                    <a:lnT>
                      <a:noFill/>
                    </a:lnT>
                    <a:lnB>
                      <a:noFill/>
                    </a:lnB>
                  </a:tcPr>
                </a:tc>
                <a:extLst>
                  <a:ext uri="{0D108BD9-81ED-4DB2-BD59-A6C34878D82A}">
                    <a16:rowId xmlns:a16="http://schemas.microsoft.com/office/drawing/2014/main" val="10002"/>
                  </a:ext>
                </a:extLst>
              </a:tr>
              <a:tr h="505969">
                <a:tc>
                  <a:txBody>
                    <a:bodyPr/>
                    <a:lstStyle/>
                    <a:p>
                      <a:r>
                        <a:rPr lang="en-US" sz="1600" b="1">
                          <a:solidFill>
                            <a:schemeClr val="tx1"/>
                          </a:solidFill>
                        </a:rPr>
                        <a:t>IRDAI</a:t>
                      </a:r>
                      <a:endParaRPr lang="en-US" sz="1600">
                        <a:solidFill>
                          <a:schemeClr val="tx1"/>
                        </a:solidFill>
                      </a:endParaRPr>
                    </a:p>
                  </a:txBody>
                  <a:tcPr marL="50597" marR="50597" marT="25298" marB="25298" anchor="ctr">
                    <a:lnL>
                      <a:noFill/>
                    </a:lnL>
                    <a:lnR>
                      <a:noFill/>
                    </a:lnR>
                    <a:lnT>
                      <a:noFill/>
                    </a:lnT>
                    <a:lnB>
                      <a:noFill/>
                    </a:lnB>
                  </a:tcPr>
                </a:tc>
                <a:tc>
                  <a:txBody>
                    <a:bodyPr/>
                    <a:lstStyle/>
                    <a:p>
                      <a:r>
                        <a:rPr lang="en-US" sz="1600" dirty="0">
                          <a:solidFill>
                            <a:schemeClr val="tx1"/>
                          </a:solidFill>
                        </a:rPr>
                        <a:t>Insurance Regulatory and Development Authority of India</a:t>
                      </a:r>
                    </a:p>
                  </a:txBody>
                  <a:tcPr marL="50597" marR="50597" marT="25298" marB="25298" anchor="ctr">
                    <a:lnL>
                      <a:noFill/>
                    </a:lnL>
                    <a:lnR>
                      <a:noFill/>
                    </a:lnR>
                    <a:lnT>
                      <a:noFill/>
                    </a:lnT>
                    <a:lnB>
                      <a:noFill/>
                    </a:lnB>
                  </a:tcPr>
                </a:tc>
                <a:tc>
                  <a:txBody>
                    <a:bodyPr/>
                    <a:lstStyle/>
                    <a:p>
                      <a:r>
                        <a:rPr lang="en-US" sz="1600" dirty="0">
                          <a:solidFill>
                            <a:schemeClr val="tx1"/>
                          </a:solidFill>
                        </a:rPr>
                        <a:t>Insurance Sector</a:t>
                      </a:r>
                    </a:p>
                  </a:txBody>
                  <a:tcPr marL="50597" marR="50597" marT="25298" marB="25298" anchor="ctr">
                    <a:lnL>
                      <a:noFill/>
                    </a:lnL>
                    <a:lnR>
                      <a:noFill/>
                    </a:lnR>
                    <a:lnT>
                      <a:noFill/>
                    </a:lnT>
                    <a:lnB>
                      <a:noFill/>
                    </a:lnB>
                  </a:tcPr>
                </a:tc>
                <a:tc>
                  <a:txBody>
                    <a:bodyPr/>
                    <a:lstStyle/>
                    <a:p>
                      <a:r>
                        <a:rPr lang="en-US" sz="1600" dirty="0">
                          <a:solidFill>
                            <a:schemeClr val="tx1"/>
                          </a:solidFill>
                        </a:rPr>
                        <a:t>Regulates life and general insurance companies, ensures fair practices</a:t>
                      </a:r>
                    </a:p>
                  </a:txBody>
                  <a:tcPr marL="50597" marR="50597" marT="25298" marB="25298" anchor="ctr">
                    <a:lnL>
                      <a:noFill/>
                    </a:lnL>
                    <a:lnR>
                      <a:noFill/>
                    </a:lnR>
                    <a:lnT>
                      <a:noFill/>
                    </a:lnT>
                    <a:lnB>
                      <a:noFill/>
                    </a:lnB>
                  </a:tcPr>
                </a:tc>
                <a:extLst>
                  <a:ext uri="{0D108BD9-81ED-4DB2-BD59-A6C34878D82A}">
                    <a16:rowId xmlns:a16="http://schemas.microsoft.com/office/drawing/2014/main" val="10003"/>
                  </a:ext>
                </a:extLst>
              </a:tr>
              <a:tr h="505969">
                <a:tc>
                  <a:txBody>
                    <a:bodyPr/>
                    <a:lstStyle/>
                    <a:p>
                      <a:r>
                        <a:rPr lang="en-US" sz="1600" b="1" dirty="0">
                          <a:solidFill>
                            <a:schemeClr val="tx1"/>
                          </a:solidFill>
                        </a:rPr>
                        <a:t>PFRDA</a:t>
                      </a:r>
                      <a:endParaRPr lang="en-US" sz="1600" dirty="0">
                        <a:solidFill>
                          <a:schemeClr val="tx1"/>
                        </a:solidFill>
                      </a:endParaRPr>
                    </a:p>
                  </a:txBody>
                  <a:tcPr marL="50597" marR="50597" marT="25298" marB="25298" anchor="ctr">
                    <a:lnL>
                      <a:noFill/>
                    </a:lnL>
                    <a:lnR>
                      <a:noFill/>
                    </a:lnR>
                    <a:lnT>
                      <a:noFill/>
                    </a:lnT>
                    <a:lnB>
                      <a:noFill/>
                    </a:lnB>
                  </a:tcPr>
                </a:tc>
                <a:tc>
                  <a:txBody>
                    <a:bodyPr/>
                    <a:lstStyle/>
                    <a:p>
                      <a:r>
                        <a:rPr lang="en-US" sz="1600" dirty="0">
                          <a:solidFill>
                            <a:schemeClr val="tx1"/>
                          </a:solidFill>
                        </a:rPr>
                        <a:t>Pension Fund Regulatory and Development Authority</a:t>
                      </a:r>
                    </a:p>
                  </a:txBody>
                  <a:tcPr marL="50597" marR="50597" marT="25298" marB="25298" anchor="ctr">
                    <a:lnL>
                      <a:noFill/>
                    </a:lnL>
                    <a:lnR>
                      <a:noFill/>
                    </a:lnR>
                    <a:lnT>
                      <a:noFill/>
                    </a:lnT>
                    <a:lnB>
                      <a:noFill/>
                    </a:lnB>
                  </a:tcPr>
                </a:tc>
                <a:tc>
                  <a:txBody>
                    <a:bodyPr/>
                    <a:lstStyle/>
                    <a:p>
                      <a:r>
                        <a:rPr lang="en-US" sz="1600" dirty="0">
                          <a:solidFill>
                            <a:schemeClr val="tx1"/>
                          </a:solidFill>
                        </a:rPr>
                        <a:t>Pension Funds</a:t>
                      </a:r>
                    </a:p>
                  </a:txBody>
                  <a:tcPr marL="50597" marR="50597" marT="25298" marB="25298" anchor="ctr">
                    <a:lnL>
                      <a:noFill/>
                    </a:lnL>
                    <a:lnR>
                      <a:noFill/>
                    </a:lnR>
                    <a:lnT>
                      <a:noFill/>
                    </a:lnT>
                    <a:lnB>
                      <a:noFill/>
                    </a:lnB>
                  </a:tcPr>
                </a:tc>
                <a:tc>
                  <a:txBody>
                    <a:bodyPr/>
                    <a:lstStyle/>
                    <a:p>
                      <a:r>
                        <a:rPr lang="en-US" sz="1600" dirty="0">
                          <a:solidFill>
                            <a:schemeClr val="tx1"/>
                          </a:solidFill>
                        </a:rPr>
                        <a:t>Oversees NPS (National Pension System), ensures retirement security</a:t>
                      </a:r>
                    </a:p>
                  </a:txBody>
                  <a:tcPr marL="50597" marR="50597" marT="25298" marB="25298" anchor="ctr">
                    <a:lnL>
                      <a:noFill/>
                    </a:lnL>
                    <a:lnR>
                      <a:noFill/>
                    </a:lnR>
                    <a:lnT>
                      <a:noFill/>
                    </a:lnT>
                    <a:lnB>
                      <a:noFill/>
                    </a:lnB>
                  </a:tcPr>
                </a:tc>
                <a:extLst>
                  <a:ext uri="{0D108BD9-81ED-4DB2-BD59-A6C34878D82A}">
                    <a16:rowId xmlns:a16="http://schemas.microsoft.com/office/drawing/2014/main" val="10004"/>
                  </a:ext>
                </a:extLst>
              </a:tr>
              <a:tr h="657760">
                <a:tc>
                  <a:txBody>
                    <a:bodyPr/>
                    <a:lstStyle/>
                    <a:p>
                      <a:r>
                        <a:rPr lang="en-US" sz="1600" b="1"/>
                        <a:t>NABARD</a:t>
                      </a:r>
                      <a:endParaRPr lang="en-US" sz="1600"/>
                    </a:p>
                  </a:txBody>
                  <a:tcPr marL="50597" marR="50597" marT="25298" marB="25298" anchor="ctr">
                    <a:lnL>
                      <a:noFill/>
                    </a:lnL>
                    <a:lnR>
                      <a:noFill/>
                    </a:lnR>
                    <a:lnT>
                      <a:noFill/>
                    </a:lnT>
                    <a:lnB>
                      <a:noFill/>
                    </a:lnB>
                  </a:tcPr>
                </a:tc>
                <a:tc>
                  <a:txBody>
                    <a:bodyPr/>
                    <a:lstStyle/>
                    <a:p>
                      <a:r>
                        <a:rPr lang="en-US" sz="1600"/>
                        <a:t>National Bank for Agriculture and Rural Development</a:t>
                      </a:r>
                    </a:p>
                  </a:txBody>
                  <a:tcPr marL="50597" marR="50597" marT="25298" marB="25298" anchor="ctr">
                    <a:lnL>
                      <a:noFill/>
                    </a:lnL>
                    <a:lnR>
                      <a:noFill/>
                    </a:lnR>
                    <a:lnT>
                      <a:noFill/>
                    </a:lnT>
                    <a:lnB>
                      <a:noFill/>
                    </a:lnB>
                  </a:tcPr>
                </a:tc>
                <a:tc>
                  <a:txBody>
                    <a:bodyPr/>
                    <a:lstStyle/>
                    <a:p>
                      <a:r>
                        <a:rPr lang="en-US" sz="1600" dirty="0"/>
                        <a:t>Rural and Agricultural Finance</a:t>
                      </a:r>
                    </a:p>
                  </a:txBody>
                  <a:tcPr marL="50597" marR="50597" marT="25298" marB="25298" anchor="ctr">
                    <a:lnL>
                      <a:noFill/>
                    </a:lnL>
                    <a:lnR>
                      <a:noFill/>
                    </a:lnR>
                    <a:lnT>
                      <a:noFill/>
                    </a:lnT>
                    <a:lnB>
                      <a:noFill/>
                    </a:lnB>
                  </a:tcPr>
                </a:tc>
                <a:tc>
                  <a:txBody>
                    <a:bodyPr/>
                    <a:lstStyle/>
                    <a:p>
                      <a:r>
                        <a:rPr lang="en-US" sz="1600"/>
                        <a:t>Regulates cooperative and regional rural banks; promotes rural development</a:t>
                      </a:r>
                    </a:p>
                  </a:txBody>
                  <a:tcPr marL="50597" marR="50597" marT="25298" marB="25298" anchor="ctr">
                    <a:lnL>
                      <a:noFill/>
                    </a:lnL>
                    <a:lnR>
                      <a:noFill/>
                    </a:lnR>
                    <a:lnT>
                      <a:noFill/>
                    </a:lnT>
                    <a:lnB>
                      <a:noFill/>
                    </a:lnB>
                  </a:tcPr>
                </a:tc>
                <a:extLst>
                  <a:ext uri="{0D108BD9-81ED-4DB2-BD59-A6C34878D82A}">
                    <a16:rowId xmlns:a16="http://schemas.microsoft.com/office/drawing/2014/main" val="10005"/>
                  </a:ext>
                </a:extLst>
              </a:tr>
              <a:tr h="657760">
                <a:tc>
                  <a:txBody>
                    <a:bodyPr/>
                    <a:lstStyle/>
                    <a:p>
                      <a:r>
                        <a:rPr lang="en-US" sz="1600" b="1"/>
                        <a:t>SIDBI</a:t>
                      </a:r>
                      <a:endParaRPr lang="en-US" sz="1600"/>
                    </a:p>
                  </a:txBody>
                  <a:tcPr marL="50597" marR="50597" marT="25298" marB="25298" anchor="ctr">
                    <a:lnL>
                      <a:noFill/>
                    </a:lnL>
                    <a:lnR>
                      <a:noFill/>
                    </a:lnR>
                    <a:lnT>
                      <a:noFill/>
                    </a:lnT>
                    <a:lnB>
                      <a:noFill/>
                    </a:lnB>
                  </a:tcPr>
                </a:tc>
                <a:tc>
                  <a:txBody>
                    <a:bodyPr/>
                    <a:lstStyle/>
                    <a:p>
                      <a:r>
                        <a:rPr lang="en-US" sz="1600"/>
                        <a:t>Small Industries Development Bank of India</a:t>
                      </a:r>
                    </a:p>
                  </a:txBody>
                  <a:tcPr marL="50597" marR="50597" marT="25298" marB="25298" anchor="ctr">
                    <a:lnL>
                      <a:noFill/>
                    </a:lnL>
                    <a:lnR>
                      <a:noFill/>
                    </a:lnR>
                    <a:lnT>
                      <a:noFill/>
                    </a:lnT>
                    <a:lnB>
                      <a:noFill/>
                    </a:lnB>
                  </a:tcPr>
                </a:tc>
                <a:tc>
                  <a:txBody>
                    <a:bodyPr/>
                    <a:lstStyle/>
                    <a:p>
                      <a:r>
                        <a:rPr lang="en-US" sz="1600"/>
                        <a:t>MSMEs Financing</a:t>
                      </a:r>
                    </a:p>
                  </a:txBody>
                  <a:tcPr marL="50597" marR="50597" marT="25298" marB="25298" anchor="ctr">
                    <a:lnL>
                      <a:noFill/>
                    </a:lnL>
                    <a:lnR>
                      <a:noFill/>
                    </a:lnR>
                    <a:lnT>
                      <a:noFill/>
                    </a:lnT>
                    <a:lnB>
                      <a:noFill/>
                    </a:lnB>
                  </a:tcPr>
                </a:tc>
                <a:tc>
                  <a:txBody>
                    <a:bodyPr/>
                    <a:lstStyle/>
                    <a:p>
                      <a:r>
                        <a:rPr lang="en-US" sz="1600"/>
                        <a:t>Regulates and supports funding to Micro, Small, and Medium Enterprises (MSMEs)</a:t>
                      </a:r>
                    </a:p>
                  </a:txBody>
                  <a:tcPr marL="50597" marR="50597" marT="25298" marB="25298" anchor="ctr">
                    <a:lnL>
                      <a:noFill/>
                    </a:lnL>
                    <a:lnR>
                      <a:noFill/>
                    </a:lnR>
                    <a:lnT>
                      <a:noFill/>
                    </a:lnT>
                    <a:lnB>
                      <a:noFill/>
                    </a:lnB>
                  </a:tcPr>
                </a:tc>
                <a:extLst>
                  <a:ext uri="{0D108BD9-81ED-4DB2-BD59-A6C34878D82A}">
                    <a16:rowId xmlns:a16="http://schemas.microsoft.com/office/drawing/2014/main" val="10006"/>
                  </a:ext>
                </a:extLst>
              </a:tr>
              <a:tr h="505969">
                <a:tc>
                  <a:txBody>
                    <a:bodyPr/>
                    <a:lstStyle/>
                    <a:p>
                      <a:r>
                        <a:rPr lang="en-US" sz="1600" b="1"/>
                        <a:t>FMC</a:t>
                      </a:r>
                      <a:r>
                        <a:rPr lang="en-US" sz="1600"/>
                        <a:t> (merged with SEBI)</a:t>
                      </a:r>
                    </a:p>
                  </a:txBody>
                  <a:tcPr marL="50597" marR="50597" marT="25298" marB="25298" anchor="ctr">
                    <a:lnL>
                      <a:noFill/>
                    </a:lnL>
                    <a:lnR>
                      <a:noFill/>
                    </a:lnR>
                    <a:lnT>
                      <a:noFill/>
                    </a:lnT>
                    <a:lnB>
                      <a:noFill/>
                    </a:lnB>
                  </a:tcPr>
                </a:tc>
                <a:tc>
                  <a:txBody>
                    <a:bodyPr/>
                    <a:lstStyle/>
                    <a:p>
                      <a:r>
                        <a:rPr lang="en-US" sz="1600"/>
                        <a:t>Forward Markets Commission</a:t>
                      </a:r>
                    </a:p>
                  </a:txBody>
                  <a:tcPr marL="50597" marR="50597" marT="25298" marB="25298" anchor="ctr">
                    <a:lnL>
                      <a:noFill/>
                    </a:lnL>
                    <a:lnR>
                      <a:noFill/>
                    </a:lnR>
                    <a:lnT>
                      <a:noFill/>
                    </a:lnT>
                    <a:lnB>
                      <a:noFill/>
                    </a:lnB>
                  </a:tcPr>
                </a:tc>
                <a:tc>
                  <a:txBody>
                    <a:bodyPr/>
                    <a:lstStyle/>
                    <a:p>
                      <a:r>
                        <a:rPr lang="en-US" sz="1600"/>
                        <a:t>(Earlier) Commodities Market</a:t>
                      </a:r>
                    </a:p>
                  </a:txBody>
                  <a:tcPr marL="50597" marR="50597" marT="25298" marB="25298" anchor="ctr">
                    <a:lnL>
                      <a:noFill/>
                    </a:lnL>
                    <a:lnR>
                      <a:noFill/>
                    </a:lnR>
                    <a:lnT>
                      <a:noFill/>
                    </a:lnT>
                    <a:lnB>
                      <a:noFill/>
                    </a:lnB>
                  </a:tcPr>
                </a:tc>
                <a:tc>
                  <a:txBody>
                    <a:bodyPr/>
                    <a:lstStyle/>
                    <a:p>
                      <a:r>
                        <a:rPr lang="en-US" sz="1600" dirty="0"/>
                        <a:t>Now part of SEBI for regulating commodity derivatives market</a:t>
                      </a:r>
                    </a:p>
                  </a:txBody>
                  <a:tcPr marL="50597" marR="50597" marT="25298" marB="25298" anchor="ctr">
                    <a:lnL>
                      <a:noFill/>
                    </a:lnL>
                    <a:lnR>
                      <a:noFill/>
                    </a:lnR>
                    <a:lnT>
                      <a:noFill/>
                    </a:lnT>
                    <a:lnB>
                      <a:noFill/>
                    </a:lnB>
                  </a:tcPr>
                </a:tc>
                <a:extLst>
                  <a:ext uri="{0D108BD9-81ED-4DB2-BD59-A6C34878D82A}">
                    <a16:rowId xmlns:a16="http://schemas.microsoft.com/office/drawing/2014/main" val="10007"/>
                  </a:ext>
                </a:extLst>
              </a:tr>
            </a:tbl>
          </a:graphicData>
        </a:graphic>
      </p:graphicFrame>
      <p:sp>
        <p:nvSpPr>
          <p:cNvPr id="4" name="Rectangle 1"/>
          <p:cNvSpPr>
            <a:spLocks noChangeArrowheads="1"/>
          </p:cNvSpPr>
          <p:nvPr/>
        </p:nvSpPr>
        <p:spPr bwMode="auto">
          <a:xfrm>
            <a:off x="3186112" y="1817688"/>
            <a:ext cx="1718269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5" name="Star: 5 Points 4">
            <a:extLst>
              <a:ext uri="{FF2B5EF4-FFF2-40B4-BE49-F238E27FC236}">
                <a16:creationId xmlns:a16="http://schemas.microsoft.com/office/drawing/2014/main" id="{2258C833-036A-D389-4FCD-AA81756B08B6}"/>
              </a:ext>
            </a:extLst>
          </p:cNvPr>
          <p:cNvSpPr/>
          <p:nvPr/>
        </p:nvSpPr>
        <p:spPr>
          <a:xfrm>
            <a:off x="1428750" y="44577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713247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657225" y="928688"/>
            <a:ext cx="10858499" cy="5929311"/>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200"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br>
              <a:rPr lang="en-IN" dirty="0"/>
            </a:br>
            <a:br>
              <a:rPr lang="en-IN" sz="28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3514897" y="108066"/>
            <a:ext cx="4643266" cy="6394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600" b="1" dirty="0">
                <a:latin typeface="Times New Roman" panose="02020603050405020304" pitchFamily="18" charset="0"/>
                <a:cs typeface="Times New Roman" panose="02020603050405020304" pitchFamily="18" charset="0"/>
              </a:rPr>
              <a:t>Banking Institutions</a:t>
            </a:r>
          </a:p>
        </p:txBody>
      </p:sp>
      <p:sp>
        <p:nvSpPr>
          <p:cNvPr id="2" name="Title 1"/>
          <p:cNvSpPr>
            <a:spLocks noGrp="1"/>
          </p:cNvSpPr>
          <p:nvPr>
            <p:ph type="title"/>
          </p:nvPr>
        </p:nvSpPr>
        <p:spPr>
          <a:xfrm>
            <a:off x="908857" y="1114425"/>
            <a:ext cx="10515600" cy="1186974"/>
          </a:xfrm>
        </p:spPr>
        <p:txBody>
          <a:bodyPr>
            <a:noAutofit/>
          </a:bodyPr>
          <a:lstStyle/>
          <a:p>
            <a:r>
              <a:rPr lang="en-US" sz="2400" dirty="0">
                <a:latin typeface="Times New Roman" panose="02020603050405020304" pitchFamily="18" charset="0"/>
                <a:cs typeface="Times New Roman" panose="02020603050405020304" pitchFamily="18" charset="0"/>
              </a:rPr>
              <a:t>Banking institutions are financial organizations, also called as depository institutions that </a:t>
            </a:r>
            <a:r>
              <a:rPr lang="en-US" sz="2400" b="1" dirty="0">
                <a:latin typeface="Times New Roman" panose="02020603050405020304" pitchFamily="18" charset="0"/>
                <a:cs typeface="Times New Roman" panose="02020603050405020304" pitchFamily="18" charset="0"/>
              </a:rPr>
              <a:t>accept deposits from the public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provide loans</a:t>
            </a:r>
            <a:r>
              <a:rPr lang="en-US" sz="2400" dirty="0">
                <a:latin typeface="Times New Roman" panose="02020603050405020304" pitchFamily="18" charset="0"/>
                <a:cs typeface="Times New Roman" panose="02020603050405020304" pitchFamily="18" charset="0"/>
              </a:rPr>
              <a:t>, and offer various </a:t>
            </a:r>
            <a:r>
              <a:rPr lang="en-US" sz="2400" b="1" dirty="0">
                <a:latin typeface="Times New Roman" panose="02020603050405020304" pitchFamily="18" charset="0"/>
                <a:cs typeface="Times New Roman" panose="02020603050405020304" pitchFamily="18" charset="0"/>
              </a:rPr>
              <a:t>financial services</a:t>
            </a:r>
            <a:r>
              <a:rPr lang="en-US" sz="2400" dirty="0">
                <a:latin typeface="Times New Roman" panose="02020603050405020304" pitchFamily="18" charset="0"/>
                <a:cs typeface="Times New Roman" panose="02020603050405020304" pitchFamily="18" charset="0"/>
              </a:rPr>
              <a:t> to individuals, businesses, and the government.</a:t>
            </a:r>
          </a:p>
        </p:txBody>
      </p:sp>
      <p:sp>
        <p:nvSpPr>
          <p:cNvPr id="4" name="Content Placeholder 3"/>
          <p:cNvSpPr>
            <a:spLocks noGrp="1"/>
          </p:cNvSpPr>
          <p:nvPr>
            <p:ph sz="half" idx="1"/>
          </p:nvPr>
        </p:nvSpPr>
        <p:spPr>
          <a:xfrm>
            <a:off x="908857" y="2301399"/>
            <a:ext cx="5181600" cy="4132420"/>
          </a:xfrm>
        </p:spPr>
        <p:txBody>
          <a:bodyPr>
            <a:noAutofit/>
          </a:bodyPr>
          <a:lstStyle/>
          <a:p>
            <a:pPr marL="0" indent="0">
              <a:buNone/>
            </a:pPr>
            <a:r>
              <a:rPr lang="en-US" sz="1800" b="1" dirty="0">
                <a:solidFill>
                  <a:srgbClr val="FF0000"/>
                </a:solidFill>
                <a:latin typeface="Times New Roman" panose="02020603050405020304" pitchFamily="18" charset="0"/>
                <a:cs typeface="Times New Roman" panose="02020603050405020304" pitchFamily="18" charset="0"/>
              </a:rPr>
              <a:t>Primary functions</a:t>
            </a:r>
          </a:p>
          <a:p>
            <a:pPr marL="0" indent="0">
              <a:buNone/>
            </a:pPr>
            <a:r>
              <a:rPr lang="en-US" sz="1600" b="1" dirty="0">
                <a:latin typeface="Times New Roman" panose="02020603050405020304" pitchFamily="18" charset="0"/>
                <a:cs typeface="Times New Roman" panose="02020603050405020304" pitchFamily="18" charset="0"/>
              </a:rPr>
              <a:t>a) Accepting Deposits: </a:t>
            </a:r>
            <a:r>
              <a:rPr lang="en-US" sz="1600" dirty="0">
                <a:latin typeface="Times New Roman" panose="02020603050405020304" pitchFamily="18" charset="0"/>
                <a:cs typeface="Times New Roman" panose="02020603050405020304" pitchFamily="18" charset="0"/>
              </a:rPr>
              <a:t>Banks collect money from individuals and businesses in the form of:</a:t>
            </a:r>
          </a:p>
          <a:p>
            <a:r>
              <a:rPr lang="en-US" sz="1600" b="1" dirty="0">
                <a:latin typeface="Times New Roman" panose="02020603050405020304" pitchFamily="18" charset="0"/>
                <a:cs typeface="Times New Roman" panose="02020603050405020304" pitchFamily="18" charset="0"/>
              </a:rPr>
              <a:t>Savings Deposits</a:t>
            </a:r>
            <a:r>
              <a:rPr lang="en-US" sz="1600" dirty="0">
                <a:latin typeface="Times New Roman" panose="02020603050405020304" pitchFamily="18" charset="0"/>
                <a:cs typeface="Times New Roman" panose="02020603050405020304" pitchFamily="18" charset="0"/>
              </a:rPr>
              <a:t> – for individuals with lower interest</a:t>
            </a:r>
          </a:p>
          <a:p>
            <a:r>
              <a:rPr lang="en-US" sz="1600" b="1" dirty="0">
                <a:latin typeface="Times New Roman" panose="02020603050405020304" pitchFamily="18" charset="0"/>
                <a:cs typeface="Times New Roman" panose="02020603050405020304" pitchFamily="18" charset="0"/>
              </a:rPr>
              <a:t>Current Deposits</a:t>
            </a:r>
            <a:r>
              <a:rPr lang="en-US" sz="1600" dirty="0">
                <a:latin typeface="Times New Roman" panose="02020603050405020304" pitchFamily="18" charset="0"/>
                <a:cs typeface="Times New Roman" panose="02020603050405020304" pitchFamily="18" charset="0"/>
              </a:rPr>
              <a:t> – for businesses with no interest</a:t>
            </a:r>
          </a:p>
          <a:p>
            <a:r>
              <a:rPr lang="en-US" sz="1600" b="1" dirty="0">
                <a:latin typeface="Times New Roman" panose="02020603050405020304" pitchFamily="18" charset="0"/>
                <a:cs typeface="Times New Roman" panose="02020603050405020304" pitchFamily="18" charset="0"/>
              </a:rPr>
              <a:t>Fixed Deposits</a:t>
            </a:r>
            <a:r>
              <a:rPr lang="en-US" sz="1600" dirty="0">
                <a:latin typeface="Times New Roman" panose="02020603050405020304" pitchFamily="18" charset="0"/>
                <a:cs typeface="Times New Roman" panose="02020603050405020304" pitchFamily="18" charset="0"/>
              </a:rPr>
              <a:t> – for a fixed term with higher interest</a:t>
            </a:r>
          </a:p>
          <a:p>
            <a:r>
              <a:rPr lang="en-US" sz="1600" b="1" dirty="0">
                <a:latin typeface="Times New Roman" panose="02020603050405020304" pitchFamily="18" charset="0"/>
                <a:cs typeface="Times New Roman" panose="02020603050405020304" pitchFamily="18" charset="0"/>
              </a:rPr>
              <a:t>Recurring Deposits</a:t>
            </a:r>
            <a:r>
              <a:rPr lang="en-US" sz="1600" dirty="0">
                <a:latin typeface="Times New Roman" panose="02020603050405020304" pitchFamily="18" charset="0"/>
                <a:cs typeface="Times New Roman" panose="02020603050405020304" pitchFamily="18" charset="0"/>
              </a:rPr>
              <a:t> – monthly deposits with interest</a:t>
            </a:r>
          </a:p>
          <a:p>
            <a:pPr marL="0" indent="0">
              <a:buNone/>
            </a:pPr>
            <a:r>
              <a:rPr lang="en-US" sz="1600" b="1" dirty="0">
                <a:latin typeface="Times New Roman" panose="02020603050405020304" pitchFamily="18" charset="0"/>
                <a:cs typeface="Times New Roman" panose="02020603050405020304" pitchFamily="18" charset="0"/>
              </a:rPr>
              <a:t>b) Providing Loans and Advances: </a:t>
            </a:r>
            <a:r>
              <a:rPr lang="en-US" sz="1600" dirty="0">
                <a:latin typeface="Times New Roman" panose="02020603050405020304" pitchFamily="18" charset="0"/>
                <a:cs typeface="Times New Roman" panose="02020603050405020304" pitchFamily="18" charset="0"/>
              </a:rPr>
              <a:t>Banks lend money to individuals, businesses, and governments through:</a:t>
            </a:r>
          </a:p>
          <a:p>
            <a:r>
              <a:rPr lang="en-US" sz="1600" b="1" dirty="0">
                <a:latin typeface="Times New Roman" panose="02020603050405020304" pitchFamily="18" charset="0"/>
                <a:cs typeface="Times New Roman" panose="02020603050405020304" pitchFamily="18" charset="0"/>
              </a:rPr>
              <a:t>Term Loans</a:t>
            </a:r>
            <a:r>
              <a:rPr lang="en-US" sz="1600" dirty="0">
                <a:latin typeface="Times New Roman" panose="02020603050405020304" pitchFamily="18" charset="0"/>
                <a:cs typeface="Times New Roman" panose="02020603050405020304" pitchFamily="18" charset="0"/>
              </a:rPr>
              <a:t> – personal, home, vehicle loans</a:t>
            </a:r>
          </a:p>
          <a:p>
            <a:r>
              <a:rPr lang="en-US" sz="1600" b="1" dirty="0">
                <a:latin typeface="Times New Roman" panose="02020603050405020304" pitchFamily="18" charset="0"/>
                <a:cs typeface="Times New Roman" panose="02020603050405020304" pitchFamily="18" charset="0"/>
              </a:rPr>
              <a:t>Cash Credit/Overdraft</a:t>
            </a:r>
            <a:r>
              <a:rPr lang="en-US" sz="1600" dirty="0">
                <a:latin typeface="Times New Roman" panose="02020603050405020304" pitchFamily="18" charset="0"/>
                <a:cs typeface="Times New Roman" panose="02020603050405020304" pitchFamily="18" charset="0"/>
              </a:rPr>
              <a:t> – for businesses</a:t>
            </a:r>
          </a:p>
          <a:p>
            <a:r>
              <a:rPr lang="en-US" sz="1600" b="1" dirty="0">
                <a:latin typeface="Times New Roman" panose="02020603050405020304" pitchFamily="18" charset="0"/>
                <a:cs typeface="Times New Roman" panose="02020603050405020304" pitchFamily="18" charset="0"/>
              </a:rPr>
              <a:t>Trade Credit/Working Capital Loans</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sz="half" idx="2"/>
          </p:nvPr>
        </p:nvSpPr>
        <p:spPr>
          <a:xfrm>
            <a:off x="6212290" y="2301400"/>
            <a:ext cx="5181600" cy="4132420"/>
          </a:xfrm>
        </p:spPr>
        <p:txBody>
          <a:bodyPr>
            <a:normAutofit/>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Secondary Functions</a:t>
            </a:r>
          </a:p>
          <a:p>
            <a:pPr marL="0" indent="0">
              <a:buNone/>
            </a:pPr>
            <a:r>
              <a:rPr lang="en-US" sz="1600" b="1" dirty="0">
                <a:latin typeface="Times New Roman" panose="02020603050405020304" pitchFamily="18" charset="0"/>
                <a:cs typeface="Times New Roman" panose="02020603050405020304" pitchFamily="18" charset="0"/>
              </a:rPr>
              <a:t>a) Agency Functions: </a:t>
            </a:r>
            <a:r>
              <a:rPr lang="en-US" sz="1600" dirty="0">
                <a:latin typeface="Times New Roman" panose="02020603050405020304" pitchFamily="18" charset="0"/>
                <a:cs typeface="Times New Roman" panose="02020603050405020304" pitchFamily="18" charset="0"/>
              </a:rPr>
              <a:t>Banks act on behalf of customers to:</a:t>
            </a:r>
          </a:p>
          <a:p>
            <a:r>
              <a:rPr lang="en-US" sz="1600" dirty="0">
                <a:latin typeface="Times New Roman" panose="02020603050405020304" pitchFamily="18" charset="0"/>
                <a:cs typeface="Times New Roman" panose="02020603050405020304" pitchFamily="18" charset="0"/>
              </a:rPr>
              <a:t>Pay bills, rent and insurance premiums</a:t>
            </a:r>
          </a:p>
          <a:p>
            <a:r>
              <a:rPr lang="en-US" sz="1600" dirty="0">
                <a:latin typeface="Times New Roman" panose="02020603050405020304" pitchFamily="18" charset="0"/>
                <a:cs typeface="Times New Roman" panose="02020603050405020304" pitchFamily="18" charset="0"/>
              </a:rPr>
              <a:t>Collect dividends, pensions, interest, etc.</a:t>
            </a:r>
          </a:p>
          <a:p>
            <a:pPr marL="0" indent="0">
              <a:buNone/>
            </a:pPr>
            <a:r>
              <a:rPr lang="en-US" sz="1600" b="1" dirty="0">
                <a:latin typeface="Times New Roman" panose="02020603050405020304" pitchFamily="18" charset="0"/>
                <a:cs typeface="Times New Roman" panose="02020603050405020304" pitchFamily="18" charset="0"/>
              </a:rPr>
              <a:t>b) General Utility Services</a:t>
            </a:r>
          </a:p>
          <a:p>
            <a:r>
              <a:rPr lang="en-US" sz="1600" dirty="0">
                <a:latin typeface="Times New Roman" panose="02020603050405020304" pitchFamily="18" charset="0"/>
                <a:cs typeface="Times New Roman" panose="02020603050405020304" pitchFamily="18" charset="0"/>
              </a:rPr>
              <a:t>Provide </a:t>
            </a:r>
            <a:r>
              <a:rPr lang="en-US" sz="1600" b="1" dirty="0">
                <a:latin typeface="Times New Roman" panose="02020603050405020304" pitchFamily="18" charset="0"/>
                <a:cs typeface="Times New Roman" panose="02020603050405020304" pitchFamily="18" charset="0"/>
              </a:rPr>
              <a:t>safe deposit lockers</a:t>
            </a:r>
            <a:r>
              <a:rPr lang="en-US" sz="1600" dirty="0">
                <a:latin typeface="Times New Roman" panose="02020603050405020304" pitchFamily="18" charset="0"/>
                <a:cs typeface="Times New Roman" panose="02020603050405020304" pitchFamily="18" charset="0"/>
              </a:rPr>
              <a:t> for valuables</a:t>
            </a:r>
          </a:p>
          <a:p>
            <a:r>
              <a:rPr lang="en-US" sz="1600" dirty="0">
                <a:latin typeface="Times New Roman" panose="02020603050405020304" pitchFamily="18" charset="0"/>
                <a:cs typeface="Times New Roman" panose="02020603050405020304" pitchFamily="18" charset="0"/>
              </a:rPr>
              <a:t>Issue </a:t>
            </a:r>
            <a:r>
              <a:rPr lang="en-US" sz="1600" b="1" dirty="0">
                <a:latin typeface="Times New Roman" panose="02020603050405020304" pitchFamily="18" charset="0"/>
                <a:cs typeface="Times New Roman" panose="02020603050405020304" pitchFamily="18" charset="0"/>
              </a:rPr>
              <a:t>demand drafts, </a:t>
            </a:r>
            <a:r>
              <a:rPr lang="en-US" sz="1600" b="1" dirty="0" err="1">
                <a:latin typeface="Times New Roman" panose="02020603050405020304" pitchFamily="18" charset="0"/>
                <a:cs typeface="Times New Roman" panose="02020603050405020304" pitchFamily="18" charset="0"/>
              </a:rPr>
              <a:t>cheques</a:t>
            </a:r>
            <a:r>
              <a:rPr lang="en-US" sz="1600" b="1" dirty="0">
                <a:latin typeface="Times New Roman" panose="02020603050405020304" pitchFamily="18" charset="0"/>
                <a:cs typeface="Times New Roman" panose="02020603050405020304" pitchFamily="18" charset="0"/>
              </a:rPr>
              <a:t>, and banker's </a:t>
            </a:r>
            <a:r>
              <a:rPr lang="en-US" sz="1600" b="1" dirty="0" err="1">
                <a:latin typeface="Times New Roman" panose="02020603050405020304" pitchFamily="18" charset="0"/>
                <a:cs typeface="Times New Roman" panose="02020603050405020304" pitchFamily="18" charset="0"/>
              </a:rPr>
              <a:t>cheques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Offer </a:t>
            </a:r>
            <a:r>
              <a:rPr lang="en-US" sz="1600" b="1" dirty="0">
                <a:latin typeface="Times New Roman" panose="02020603050405020304" pitchFamily="18" charset="0"/>
                <a:cs typeface="Times New Roman" panose="02020603050405020304" pitchFamily="18" charset="0"/>
              </a:rPr>
              <a:t>foreign exchange services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Issue </a:t>
            </a:r>
            <a:r>
              <a:rPr lang="en-US" sz="1600" b="1" dirty="0">
                <a:latin typeface="Times New Roman" panose="02020603050405020304" pitchFamily="18" charset="0"/>
                <a:cs typeface="Times New Roman" panose="02020603050405020304" pitchFamily="18" charset="0"/>
              </a:rPr>
              <a:t>credit/debit cards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Provide </a:t>
            </a:r>
            <a:r>
              <a:rPr lang="en-US" sz="1600" b="1" dirty="0">
                <a:latin typeface="Times New Roman" panose="02020603050405020304" pitchFamily="18" charset="0"/>
                <a:cs typeface="Times New Roman" panose="02020603050405020304" pitchFamily="18" charset="0"/>
              </a:rPr>
              <a:t>mobile and internet banking</a:t>
            </a:r>
            <a:endParaRPr lang="en-US" sz="1600" dirty="0">
              <a:latin typeface="Times New Roman" panose="02020603050405020304" pitchFamily="18" charset="0"/>
              <a:cs typeface="Times New Roman" panose="02020603050405020304" pitchFamily="18" charset="0"/>
            </a:endParaRPr>
          </a:p>
        </p:txBody>
      </p:sp>
      <p:sp>
        <p:nvSpPr>
          <p:cNvPr id="6" name="Star: 5 Points 5">
            <a:extLst>
              <a:ext uri="{FF2B5EF4-FFF2-40B4-BE49-F238E27FC236}">
                <a16:creationId xmlns:a16="http://schemas.microsoft.com/office/drawing/2014/main" id="{73BAFFAA-1E87-1F10-2734-F91C2CDD4052}"/>
              </a:ext>
            </a:extLst>
          </p:cNvPr>
          <p:cNvSpPr/>
          <p:nvPr/>
        </p:nvSpPr>
        <p:spPr>
          <a:xfrm>
            <a:off x="2457450" y="132716"/>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755769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50668" y="232756"/>
            <a:ext cx="10631978" cy="6625243"/>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endParaRPr lang="en-IN" sz="2000" b="1"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000" b="1"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000" b="1" i="1"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000" b="1" dirty="0">
              <a:solidFill>
                <a:schemeClr val="tx1"/>
              </a:solidFill>
              <a:latin typeface="Times New Roman" panose="02020603050405020304" pitchFamily="18" charset="0"/>
              <a:cs typeface="Times New Roman" panose="02020603050405020304" pitchFamily="18" charset="0"/>
            </a:endParaRPr>
          </a:p>
          <a:p>
            <a:pPr algn="just" fontAlgn="base"/>
            <a:r>
              <a:rPr lang="en-IN" sz="2000" b="1" dirty="0">
                <a:solidFill>
                  <a:schemeClr val="tx1"/>
                </a:solidFill>
                <a:latin typeface="Times New Roman" panose="02020603050405020304" pitchFamily="18" charset="0"/>
                <a:cs typeface="Times New Roman" panose="02020603050405020304" pitchFamily="18" charset="0"/>
              </a:rPr>
              <a:t>The two types of banking intermediaries are as follows :</a:t>
            </a:r>
            <a:endParaRPr lang="en-IN" sz="2000" dirty="0">
              <a:solidFill>
                <a:schemeClr val="tx1"/>
              </a:solidFill>
              <a:latin typeface="Times New Roman" panose="02020603050405020304" pitchFamily="18" charset="0"/>
              <a:cs typeface="Times New Roman" panose="02020603050405020304" pitchFamily="18" charset="0"/>
            </a:endParaRPr>
          </a:p>
          <a:p>
            <a:pPr algn="just" fontAlgn="base"/>
            <a:endParaRPr lang="en-IN" sz="2000" dirty="0">
              <a:solidFill>
                <a:schemeClr val="tx1"/>
              </a:solidFill>
              <a:latin typeface="Times New Roman" panose="02020603050405020304" pitchFamily="18" charset="0"/>
              <a:cs typeface="Times New Roman" panose="02020603050405020304" pitchFamily="18" charset="0"/>
            </a:endParaRPr>
          </a:p>
          <a:p>
            <a:pPr marL="514350" indent="-514350" algn="just" fontAlgn="base">
              <a:buAutoNum type="romanLcParenR"/>
            </a:pPr>
            <a:r>
              <a:rPr lang="en-IN" sz="2000" b="1" dirty="0">
                <a:solidFill>
                  <a:schemeClr val="tx1"/>
                </a:solidFill>
                <a:latin typeface="Times New Roman" panose="02020603050405020304" pitchFamily="18" charset="0"/>
                <a:cs typeface="Times New Roman" panose="02020603050405020304" pitchFamily="18" charset="0"/>
              </a:rPr>
              <a:t>Commercial Banks : </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Provide banking services to the general public and businesses</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Accept savings, current, and fixed deposits</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Offer loans and advances, credit cards, lockers, etc.</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Examples: Public Sector: SBI, PNB, Bank of Baroda</a:t>
            </a:r>
          </a:p>
          <a:p>
            <a:pPr algn="just" fontAlgn="base"/>
            <a:r>
              <a:rPr lang="en-US" sz="2000" dirty="0">
                <a:solidFill>
                  <a:schemeClr val="tx1"/>
                </a:solidFill>
                <a:latin typeface="Times New Roman" panose="02020603050405020304" pitchFamily="18" charset="0"/>
                <a:cs typeface="Times New Roman" panose="02020603050405020304" pitchFamily="18" charset="0"/>
              </a:rPr>
              <a:t>                       Private Sector: HDFC Bank, ICICI Bank, Axis Bank</a:t>
            </a:r>
          </a:p>
          <a:p>
            <a:pPr algn="just" fontAlgn="base"/>
            <a:r>
              <a:rPr lang="en-US" sz="2000" b="1" dirty="0">
                <a:solidFill>
                  <a:schemeClr val="tx1"/>
                </a:solidFill>
                <a:latin typeface="Times New Roman" panose="02020603050405020304" pitchFamily="18" charset="0"/>
                <a:cs typeface="Times New Roman" panose="02020603050405020304" pitchFamily="18" charset="0"/>
              </a:rPr>
              <a:t>ii)       Cooperative Banks: </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Operate on the principle of cooperation and mutual help</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Provide services to rural, agricultural, and small-scale sectors</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Owned and managed by members/customers</a:t>
            </a:r>
          </a:p>
          <a:p>
            <a:pPr marL="342900" indent="-342900" algn="just" fontAlgn="base">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Examples: District Central Cooperative Banks (DCCBs), State Cooperative Banks</a:t>
            </a:r>
          </a:p>
          <a:p>
            <a:pPr algn="just" fontAlgn="base"/>
            <a:endParaRPr lang="en-IN" sz="2000" dirty="0">
              <a:solidFill>
                <a:schemeClr val="tx1"/>
              </a:solidFill>
              <a:latin typeface="Times New Roman" panose="02020603050405020304" pitchFamily="18" charset="0"/>
              <a:cs typeface="Times New Roman" panose="02020603050405020304" pitchFamily="18" charset="0"/>
            </a:endParaRPr>
          </a:p>
          <a:p>
            <a:r>
              <a:rPr lang="en-US" sz="2000" b="1" dirty="0">
                <a:solidFill>
                  <a:schemeClr val="tx1"/>
                </a:solidFill>
                <a:latin typeface="Times New Roman" panose="02020603050405020304" pitchFamily="18" charset="0"/>
                <a:cs typeface="Times New Roman" panose="02020603050405020304" pitchFamily="18" charset="0"/>
              </a:rPr>
              <a:t>       How They Use Their Income:  </a:t>
            </a:r>
            <a:r>
              <a:rPr lang="en-US" sz="2000" dirty="0">
                <a:solidFill>
                  <a:schemeClr val="tx1"/>
                </a:solidFill>
                <a:latin typeface="Times New Roman" panose="02020603050405020304" pitchFamily="18" charset="0"/>
                <a:cs typeface="Times New Roman" panose="02020603050405020304" pitchFamily="18" charset="0"/>
              </a:rPr>
              <a:t>Cover operational costs (staff salaries, branch maintenance), Create     reserves (as required by law), Reinvest in development and technology, Provide dividends to members (if surplus exists), Fulfill social or developmental goals.</a:t>
            </a:r>
          </a:p>
          <a:p>
            <a:r>
              <a:rPr lang="en-US" sz="2000" dirty="0">
                <a:solidFill>
                  <a:schemeClr val="tx1"/>
                </a:solidFill>
                <a:latin typeface="Times New Roman" panose="02020603050405020304" pitchFamily="18" charset="0"/>
                <a:cs typeface="Times New Roman" panose="02020603050405020304" pitchFamily="18" charset="0"/>
              </a:rPr>
              <a:t>Cooperative banks focus more on serving their members and promoting financial inclusion, but they still follow standard banking models to earn income — mainly through interest on lending.</a:t>
            </a:r>
          </a:p>
          <a:p>
            <a:br>
              <a:rPr lang="en-IN" sz="2000" dirty="0">
                <a:solidFill>
                  <a:schemeClr val="tx1"/>
                </a:solidFill>
                <a:latin typeface="Times New Roman" panose="02020603050405020304" pitchFamily="18" charset="0"/>
                <a:cs typeface="Times New Roman" panose="02020603050405020304" pitchFamily="18" charset="0"/>
              </a:rPr>
            </a:br>
            <a:b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0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endParaRPr lang="en-IN" sz="2000" dirty="0">
              <a:solidFill>
                <a:schemeClr val="tx1"/>
              </a:solidFill>
              <a:latin typeface="Times New Roman" panose="02020603050405020304" pitchFamily="18" charset="0"/>
              <a:cs typeface="Times New Roman" panose="02020603050405020304" pitchFamily="18" charset="0"/>
            </a:endParaRPr>
          </a:p>
        </p:txBody>
      </p:sp>
      <p:sp>
        <p:nvSpPr>
          <p:cNvPr id="2" name="Star: 5 Points 1">
            <a:extLst>
              <a:ext uri="{FF2B5EF4-FFF2-40B4-BE49-F238E27FC236}">
                <a16:creationId xmlns:a16="http://schemas.microsoft.com/office/drawing/2014/main" id="{FFE1CB7A-C843-FA96-8613-AAF901C55F79}"/>
              </a:ext>
            </a:extLst>
          </p:cNvPr>
          <p:cNvSpPr/>
          <p:nvPr/>
        </p:nvSpPr>
        <p:spPr>
          <a:xfrm>
            <a:off x="7738110" y="36576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14500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241068" y="91440"/>
            <a:ext cx="11770823" cy="6658495"/>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Image result for cooperative bank and commercial bank&quot;"/>
          <p:cNvPicPr>
            <a:picLocks noChangeAspect="1" noChangeArrowheads="1"/>
          </p:cNvPicPr>
          <p:nvPr/>
        </p:nvPicPr>
        <p:blipFill rotWithShape="1">
          <a:blip r:embed="rId3">
            <a:extLst>
              <a:ext uri="{28A0092B-C50C-407E-A947-70E740481C1C}">
                <a14:useLocalDpi xmlns:a14="http://schemas.microsoft.com/office/drawing/2010/main" val="0"/>
              </a:ext>
            </a:extLst>
          </a:blip>
          <a:srcRect l="5524" r="5303" b="10657"/>
          <a:stretch/>
        </p:blipFill>
        <p:spPr bwMode="auto">
          <a:xfrm>
            <a:off x="773082" y="285403"/>
            <a:ext cx="10706793" cy="6179128"/>
          </a:xfrm>
          <a:prstGeom prst="rect">
            <a:avLst/>
          </a:prstGeom>
          <a:noFill/>
          <a:extLst>
            <a:ext uri="{909E8E84-426E-40DD-AFC4-6F175D3DCCD1}">
              <a14:hiddenFill xmlns:a14="http://schemas.microsoft.com/office/drawing/2010/main">
                <a:solidFill>
                  <a:srgbClr val="FFFFFF"/>
                </a:solidFill>
              </a14:hiddenFill>
            </a:ext>
          </a:extLst>
        </p:spPr>
      </p:pic>
      <p:sp>
        <p:nvSpPr>
          <p:cNvPr id="2" name="Star: 5 Points 1">
            <a:extLst>
              <a:ext uri="{FF2B5EF4-FFF2-40B4-BE49-F238E27FC236}">
                <a16:creationId xmlns:a16="http://schemas.microsoft.com/office/drawing/2014/main" id="{1EC8C88E-9742-FA24-F357-ED59A828C98B}"/>
              </a:ext>
            </a:extLst>
          </p:cNvPr>
          <p:cNvSpPr/>
          <p:nvPr/>
        </p:nvSpPr>
        <p:spPr>
          <a:xfrm>
            <a:off x="2788920" y="77724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062202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93518" y="189114"/>
            <a:ext cx="11968249" cy="6550429"/>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Image result for cooperative bank and commercial bank&quot;"/>
          <p:cNvPicPr>
            <a:picLocks noChangeAspect="1" noChangeArrowheads="1"/>
          </p:cNvPicPr>
          <p:nvPr/>
        </p:nvPicPr>
        <p:blipFill rotWithShape="1">
          <a:blip r:embed="rId3">
            <a:extLst>
              <a:ext uri="{28A0092B-C50C-407E-A947-70E740481C1C}">
                <a14:useLocalDpi xmlns:a14="http://schemas.microsoft.com/office/drawing/2010/main" val="0"/>
              </a:ext>
            </a:extLst>
          </a:blip>
          <a:srcRect l="5435" t="18821" r="5435" b="5895"/>
          <a:stretch/>
        </p:blipFill>
        <p:spPr bwMode="auto">
          <a:xfrm>
            <a:off x="371475" y="700088"/>
            <a:ext cx="11358563" cy="5823866"/>
          </a:xfrm>
          <a:prstGeom prst="rect">
            <a:avLst/>
          </a:prstGeom>
          <a:noFill/>
          <a:extLst>
            <a:ext uri="{909E8E84-426E-40DD-AFC4-6F175D3DCCD1}">
              <a14:hiddenFill xmlns:a14="http://schemas.microsoft.com/office/drawing/2010/main">
                <a:solidFill>
                  <a:srgbClr val="FFFFFF"/>
                </a:solidFill>
              </a14:hiddenFill>
            </a:ext>
          </a:extLst>
        </p:spPr>
      </p:pic>
      <p:sp>
        <p:nvSpPr>
          <p:cNvPr id="2" name="Star: 5 Points 1">
            <a:extLst>
              <a:ext uri="{FF2B5EF4-FFF2-40B4-BE49-F238E27FC236}">
                <a16:creationId xmlns:a16="http://schemas.microsoft.com/office/drawing/2014/main" id="{0C832AAF-3699-CED9-4EB5-D2D7EDAAF212}"/>
              </a:ext>
            </a:extLst>
          </p:cNvPr>
          <p:cNvSpPr/>
          <p:nvPr/>
        </p:nvSpPr>
        <p:spPr>
          <a:xfrm>
            <a:off x="3211830" y="117158"/>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9766411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40574" y="99408"/>
            <a:ext cx="11380123" cy="6509210"/>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1066800" y="1371600"/>
            <a:ext cx="10210800" cy="5170646"/>
          </a:xfrm>
          <a:prstGeom prst="rect">
            <a:avLst/>
          </a:prstGeom>
        </p:spPr>
        <p:txBody>
          <a:bodyPr wrap="square">
            <a:spAutoFit/>
          </a:bodyPr>
          <a:lstStyle/>
          <a:p>
            <a:pPr marL="257175" indent="-257175"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Commercial banks provide retail banking services to household and business customers</a:t>
            </a:r>
          </a:p>
          <a:p>
            <a:pPr marL="257175" indent="-257175"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They are licensed deposit-takers – providing a range of savings accounts</a:t>
            </a:r>
          </a:p>
          <a:p>
            <a:pPr marL="257175" indent="-257175"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They are licensed to lend money (and thereby “create” money e.g. in the form of bank loans and overdrafts</a:t>
            </a:r>
          </a:p>
          <a:p>
            <a:pPr marL="257175" indent="-257175"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Commercial banks are profit-seeking</a:t>
            </a:r>
          </a:p>
          <a:p>
            <a:pPr marL="257175" indent="-257175"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A commercial bank’s business model relies on receiving a higher interest rate on the loans (or other assets) than the rate it pays out on its deposits (or other liabilities)</a:t>
            </a:r>
          </a:p>
          <a:p>
            <a:pPr marL="257175" indent="-257175" algn="just">
              <a:lnSpc>
                <a:spcPct val="15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This “spread” on their assets and liabilities is used to pay the operating expenses of a bank and also to make a profit.</a:t>
            </a:r>
          </a:p>
        </p:txBody>
      </p:sp>
      <p:sp>
        <p:nvSpPr>
          <p:cNvPr id="2" name="Title 1"/>
          <p:cNvSpPr>
            <a:spLocks noGrp="1"/>
          </p:cNvSpPr>
          <p:nvPr>
            <p:ph type="ctrTitle"/>
          </p:nvPr>
        </p:nvSpPr>
        <p:spPr>
          <a:xfrm>
            <a:off x="1219200" y="609600"/>
            <a:ext cx="6400800" cy="628650"/>
          </a:xfrm>
        </p:spPr>
        <p:txBody>
          <a:bodyPr>
            <a:noAutofit/>
          </a:bodyPr>
          <a:lstStyle/>
          <a:p>
            <a:pPr marL="363474" indent="-342900" algn="ctr"/>
            <a:r>
              <a:rPr lang="en-US" sz="3600" dirty="0">
                <a:solidFill>
                  <a:schemeClr val="tx1"/>
                </a:solidFill>
                <a:latin typeface="Times New Roman" panose="02020603050405020304" pitchFamily="18" charset="0"/>
                <a:cs typeface="Times New Roman" panose="02020603050405020304" pitchFamily="18" charset="0"/>
              </a:rPr>
              <a:t>Functions of Commercial bank</a:t>
            </a: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5" name="Star: 5 Points 4">
            <a:extLst>
              <a:ext uri="{FF2B5EF4-FFF2-40B4-BE49-F238E27FC236}">
                <a16:creationId xmlns:a16="http://schemas.microsoft.com/office/drawing/2014/main" id="{9920DEB8-DE35-31E4-92CD-318CB52B83D5}"/>
              </a:ext>
            </a:extLst>
          </p:cNvPr>
          <p:cNvSpPr/>
          <p:nvPr/>
        </p:nvSpPr>
        <p:spPr>
          <a:xfrm>
            <a:off x="598689" y="609600"/>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50389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50668" y="881149"/>
            <a:ext cx="10631978" cy="5813942"/>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r>
              <a:rPr lang="en-IN" sz="2400" dirty="0">
                <a:solidFill>
                  <a:schemeClr val="tx1"/>
                </a:solidFill>
                <a:latin typeface="Times New Roman" panose="02020603050405020304" pitchFamily="18" charset="0"/>
                <a:cs typeface="Times New Roman" panose="02020603050405020304" pitchFamily="18" charset="0"/>
              </a:rPr>
              <a:t>The non-banking, also called as </a:t>
            </a:r>
            <a:r>
              <a:rPr lang="en-IN" sz="2400" b="1" dirty="0">
                <a:solidFill>
                  <a:schemeClr val="tx1"/>
                </a:solidFill>
                <a:latin typeface="Times New Roman" panose="02020603050405020304" pitchFamily="18" charset="0"/>
                <a:cs typeface="Times New Roman" panose="02020603050405020304" pitchFamily="18" charset="0"/>
              </a:rPr>
              <a:t>Non-</a:t>
            </a:r>
            <a:r>
              <a:rPr lang="en-IN" sz="2400" dirty="0">
                <a:solidFill>
                  <a:schemeClr val="tx1"/>
                </a:solidFill>
                <a:latin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cs typeface="Times New Roman" panose="02020603050405020304" pitchFamily="18" charset="0"/>
              </a:rPr>
              <a:t>Depository Institution</a:t>
            </a:r>
            <a:r>
              <a:rPr lang="en-IN" sz="2400" dirty="0">
                <a:solidFill>
                  <a:schemeClr val="tx1"/>
                </a:solidFill>
                <a:latin typeface="Times New Roman" panose="02020603050405020304" pitchFamily="18" charset="0"/>
                <a:cs typeface="Times New Roman" panose="02020603050405020304" pitchFamily="18" charset="0"/>
              </a:rPr>
              <a:t> includes following institutions :</a:t>
            </a:r>
            <a:endParaRPr lang="en-IN" sz="2400" b="1" dirty="0">
              <a:solidFill>
                <a:schemeClr val="tx1"/>
              </a:solidFill>
              <a:latin typeface="Times New Roman" panose="02020603050405020304" pitchFamily="18" charset="0"/>
              <a:cs typeface="Times New Roman" panose="02020603050405020304" pitchFamily="18" charset="0"/>
            </a:endParaRPr>
          </a:p>
          <a:p>
            <a:pPr algn="just" fontAlgn="base"/>
            <a:r>
              <a:rPr lang="en-IN" sz="2400" b="1" dirty="0">
                <a:solidFill>
                  <a:schemeClr val="tx1"/>
                </a:solidFill>
                <a:latin typeface="Times New Roman" panose="02020603050405020304" pitchFamily="18" charset="0"/>
                <a:cs typeface="Times New Roman" panose="02020603050405020304" pitchFamily="18" charset="0"/>
              </a:rPr>
              <a:t>1) Non-Banking Financing Institutions (NBFI)/ Non-Banking Financing Companies (NBFC)/ : </a:t>
            </a:r>
            <a:endParaRPr lang="en-IN" sz="2400" dirty="0">
              <a:solidFill>
                <a:schemeClr val="tx1"/>
              </a:solidFill>
              <a:latin typeface="Times New Roman" panose="02020603050405020304" pitchFamily="18" charset="0"/>
              <a:cs typeface="Times New Roman" panose="02020603050405020304" pitchFamily="18" charset="0"/>
            </a:endParaRPr>
          </a:p>
          <a:p>
            <a:pPr marL="342900" lvl="0" indent="-3429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An NBFC is a financial institution that provides banking-like services such as loans, and asset financing, but does not hold a banking license.</a:t>
            </a:r>
          </a:p>
          <a:p>
            <a:pPr marL="342900" lvl="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institutions who do not accept any deposit.</a:t>
            </a:r>
          </a:p>
          <a:p>
            <a:pPr marL="342900" lvl="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Financial institutions who do not accept demand deposits </a:t>
            </a:r>
            <a:r>
              <a:rPr lang="en-IN" sz="2400" dirty="0">
                <a:solidFill>
                  <a:srgbClr val="0070C0"/>
                </a:solidFill>
                <a:latin typeface="Times New Roman" panose="02020603050405020304" pitchFamily="18" charset="0"/>
                <a:cs typeface="Times New Roman" panose="02020603050405020304" pitchFamily="18" charset="0"/>
              </a:rPr>
              <a:t>(except few NBFC’s)</a:t>
            </a:r>
            <a:r>
              <a:rPr lang="en-IN" sz="2400" dirty="0">
                <a:solidFill>
                  <a:schemeClr val="tx1"/>
                </a:solidFill>
                <a:latin typeface="Times New Roman" panose="02020603050405020304" pitchFamily="18" charset="0"/>
                <a:cs typeface="Times New Roman" panose="02020603050405020304" pitchFamily="18" charset="0"/>
              </a:rPr>
              <a:t>.</a:t>
            </a:r>
          </a:p>
          <a:p>
            <a:pPr algn="just" fontAlgn="base"/>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3514897" y="0"/>
            <a:ext cx="5303520" cy="9892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b="1" dirty="0">
                <a:latin typeface="Times New Roman" panose="02020603050405020304" pitchFamily="18" charset="0"/>
                <a:cs typeface="Times New Roman" panose="02020603050405020304" pitchFamily="18" charset="0"/>
              </a:rPr>
              <a:t>Non-Banking Institutions </a:t>
            </a:r>
          </a:p>
        </p:txBody>
      </p:sp>
      <p:sp>
        <p:nvSpPr>
          <p:cNvPr id="2" name="Star: 5 Points 1">
            <a:extLst>
              <a:ext uri="{FF2B5EF4-FFF2-40B4-BE49-F238E27FC236}">
                <a16:creationId xmlns:a16="http://schemas.microsoft.com/office/drawing/2014/main" id="{366D8E1E-7BB2-23B1-F0EE-BA73F120BC92}"/>
              </a:ext>
            </a:extLst>
          </p:cNvPr>
          <p:cNvSpPr/>
          <p:nvPr/>
        </p:nvSpPr>
        <p:spPr>
          <a:xfrm>
            <a:off x="2446020" y="162909"/>
            <a:ext cx="936221" cy="582930"/>
          </a:xfrm>
          <a:prstGeom prst="star5">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782225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50668" y="881148"/>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r>
              <a:rPr lang="en-IN" sz="2400" b="1" dirty="0">
                <a:solidFill>
                  <a:schemeClr val="tx1"/>
                </a:solidFill>
                <a:latin typeface="Times New Roman" panose="02020603050405020304" pitchFamily="18" charset="0"/>
                <a:cs typeface="Times New Roman" panose="02020603050405020304" pitchFamily="18" charset="0"/>
              </a:rPr>
              <a:t>2) Investment Companies (Mutual funds): </a:t>
            </a:r>
            <a:endParaRPr lang="en-IN" sz="2400" dirty="0">
              <a:solidFill>
                <a:schemeClr val="tx1"/>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They may be called a trust or a corporation which collects </a:t>
            </a:r>
            <a:r>
              <a:rPr lang="en-US" sz="2400" dirty="0">
                <a:solidFill>
                  <a:schemeClr val="tx1"/>
                </a:solidFill>
                <a:latin typeface="Times New Roman" panose="02020603050405020304" pitchFamily="18" charset="0"/>
                <a:cs typeface="Times New Roman" panose="02020603050405020304" pitchFamily="18" charset="0"/>
              </a:rPr>
              <a:t>pool of money from many investors.</a:t>
            </a:r>
          </a:p>
          <a:p>
            <a:pPr marL="342900" indent="-3429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money is managed by a professional fund manager, who invests that money in various assets like stocks, bonds, gold, or other securities. </a:t>
            </a:r>
          </a:p>
          <a:p>
            <a:pPr marL="342900" indent="-3429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 individual need not invest in single company shares but can rather purchase units directly from the investing company which are well diversified. For example, UTI and Mutual Fund.</a:t>
            </a:r>
          </a:p>
          <a:p>
            <a:pPr algn="just" fontAlgn="base"/>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3514897" y="0"/>
            <a:ext cx="5303520" cy="9892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b="1" dirty="0">
                <a:latin typeface="Times New Roman" panose="02020603050405020304" pitchFamily="18" charset="0"/>
                <a:cs typeface="Times New Roman" panose="02020603050405020304" pitchFamily="18" charset="0"/>
              </a:rPr>
              <a:t>Non-Banking Institutions </a:t>
            </a:r>
          </a:p>
        </p:txBody>
      </p:sp>
    </p:spTree>
    <p:extLst>
      <p:ext uri="{BB962C8B-B14F-4D97-AF65-F5344CB8AC3E}">
        <p14:creationId xmlns:p14="http://schemas.microsoft.com/office/powerpoint/2010/main" val="3814994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850668" y="881148"/>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r>
              <a:rPr lang="en-IN" sz="2400" b="1" dirty="0">
                <a:solidFill>
                  <a:schemeClr val="tx1"/>
                </a:solidFill>
                <a:latin typeface="Times New Roman" panose="02020603050405020304" pitchFamily="18" charset="0"/>
                <a:cs typeface="Times New Roman" panose="02020603050405020304" pitchFamily="18" charset="0"/>
              </a:rPr>
              <a:t>3) Insurance Companies : </a:t>
            </a:r>
          </a:p>
          <a:p>
            <a:pPr marL="457200" indent="-457200" algn="just"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It is </a:t>
            </a:r>
            <a:r>
              <a:rPr lang="en-US" sz="2400" dirty="0">
                <a:solidFill>
                  <a:schemeClr val="tx1"/>
                </a:solidFill>
                <a:latin typeface="Times New Roman" panose="02020603050405020304" pitchFamily="18" charset="0"/>
                <a:cs typeface="Times New Roman" panose="02020603050405020304" pitchFamily="18" charset="0"/>
              </a:rPr>
              <a:t>a </a:t>
            </a:r>
            <a:r>
              <a:rPr lang="en-US" sz="2400" b="1" dirty="0">
                <a:solidFill>
                  <a:schemeClr val="tx1"/>
                </a:solidFill>
                <a:latin typeface="Times New Roman" panose="02020603050405020304" pitchFamily="18" charset="0"/>
                <a:cs typeface="Times New Roman" panose="02020603050405020304" pitchFamily="18" charset="0"/>
              </a:rPr>
              <a:t>financial institution</a:t>
            </a:r>
            <a:r>
              <a:rPr lang="en-US" sz="2400" dirty="0">
                <a:solidFill>
                  <a:schemeClr val="tx1"/>
                </a:solidFill>
                <a:latin typeface="Times New Roman" panose="02020603050405020304" pitchFamily="18" charset="0"/>
                <a:cs typeface="Times New Roman" panose="02020603050405020304" pitchFamily="18" charset="0"/>
              </a:rPr>
              <a:t> that provides protection against financial loss. </a:t>
            </a:r>
          </a:p>
          <a:p>
            <a:pPr marL="457200" indent="-4572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It collects </a:t>
            </a:r>
            <a:r>
              <a:rPr lang="en-US" sz="2400" b="1" dirty="0">
                <a:solidFill>
                  <a:schemeClr val="tx1"/>
                </a:solidFill>
                <a:latin typeface="Times New Roman" panose="02020603050405020304" pitchFamily="18" charset="0"/>
                <a:cs typeface="Times New Roman" panose="02020603050405020304" pitchFamily="18" charset="0"/>
              </a:rPr>
              <a:t>premiums</a:t>
            </a:r>
            <a:r>
              <a:rPr lang="en-US" sz="2400" dirty="0">
                <a:solidFill>
                  <a:schemeClr val="tx1"/>
                </a:solidFill>
                <a:latin typeface="Times New Roman" panose="02020603050405020304" pitchFamily="18" charset="0"/>
                <a:cs typeface="Times New Roman" panose="02020603050405020304" pitchFamily="18" charset="0"/>
              </a:rPr>
              <a:t> from people or businesses and, in return, promises to </a:t>
            </a:r>
            <a:r>
              <a:rPr lang="en-US" sz="2400" b="1" dirty="0">
                <a:solidFill>
                  <a:schemeClr val="tx1"/>
                </a:solidFill>
                <a:latin typeface="Times New Roman" panose="02020603050405020304" pitchFamily="18" charset="0"/>
                <a:cs typeface="Times New Roman" panose="02020603050405020304" pitchFamily="18" charset="0"/>
              </a:rPr>
              <a:t>compensate</a:t>
            </a:r>
            <a:r>
              <a:rPr lang="en-US" sz="2400" dirty="0">
                <a:solidFill>
                  <a:schemeClr val="tx1"/>
                </a:solidFill>
                <a:latin typeface="Times New Roman" panose="02020603050405020304" pitchFamily="18" charset="0"/>
                <a:cs typeface="Times New Roman" panose="02020603050405020304" pitchFamily="18" charset="0"/>
              </a:rPr>
              <a:t> them for specific types of losses (such as accidents, death, fire, or theft) based on the </a:t>
            </a:r>
            <a:r>
              <a:rPr lang="en-US" sz="2400" b="1" dirty="0">
                <a:solidFill>
                  <a:schemeClr val="tx1"/>
                </a:solidFill>
                <a:latin typeface="Times New Roman" panose="02020603050405020304" pitchFamily="18" charset="0"/>
                <a:cs typeface="Times New Roman" panose="02020603050405020304" pitchFamily="18" charset="0"/>
              </a:rPr>
              <a:t>insurance policy</a:t>
            </a:r>
            <a:r>
              <a:rPr lang="en-US" sz="2400" dirty="0">
                <a:solidFill>
                  <a:schemeClr val="tx1"/>
                </a:solidFill>
                <a:latin typeface="Times New Roman" panose="02020603050405020304" pitchFamily="18" charset="0"/>
                <a:cs typeface="Times New Roman" panose="02020603050405020304" pitchFamily="18" charset="0"/>
              </a:rPr>
              <a:t>.</a:t>
            </a:r>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r>
              <a:rPr lang="en-IN" sz="2400" dirty="0">
                <a:solidFill>
                  <a:srgbClr val="FF0000"/>
                </a:solidFill>
                <a:latin typeface="Times New Roman" panose="02020603050405020304" pitchFamily="18" charset="0"/>
                <a:cs typeface="Times New Roman" panose="02020603050405020304" pitchFamily="18" charset="0"/>
              </a:rPr>
              <a:t>Note:</a:t>
            </a:r>
          </a:p>
          <a:p>
            <a:pPr marL="457200" indent="-4572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Insurance is not an investment for returns, but a risk management tool</a:t>
            </a:r>
          </a:p>
          <a:p>
            <a:pPr marL="457200" indent="-457200" algn="just" fontAlgn="base">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The policyholder must understand terms and conditions before buying</a:t>
            </a:r>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endParaRPr lang="en-IN" sz="2400" b="1" i="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gn="just"/>
            <a:br>
              <a:rPr lang="en-IN" sz="2400"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
        <p:nvSpPr>
          <p:cNvPr id="3" name="Rounded Rectangle 2"/>
          <p:cNvSpPr/>
          <p:nvPr/>
        </p:nvSpPr>
        <p:spPr>
          <a:xfrm>
            <a:off x="3514897" y="0"/>
            <a:ext cx="5303520" cy="9892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b="1" dirty="0">
                <a:latin typeface="Times New Roman" panose="02020603050405020304" pitchFamily="18" charset="0"/>
                <a:cs typeface="Times New Roman" panose="02020603050405020304" pitchFamily="18" charset="0"/>
              </a:rPr>
              <a:t>Non-Banking Institutions </a:t>
            </a:r>
          </a:p>
        </p:txBody>
      </p:sp>
    </p:spTree>
    <p:extLst>
      <p:ext uri="{BB962C8B-B14F-4D97-AF65-F5344CB8AC3E}">
        <p14:creationId xmlns:p14="http://schemas.microsoft.com/office/powerpoint/2010/main" val="2034267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569167" y="373224"/>
            <a:ext cx="11196735" cy="5943600"/>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4098" name="Picture 2" descr="Image result for merchant banks&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0427" y="665018"/>
            <a:ext cx="9299864" cy="54148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3839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66800" y="503853"/>
            <a:ext cx="10204580" cy="5775649"/>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1524000" y="1708563"/>
            <a:ext cx="9372600" cy="3903954"/>
          </a:xfrm>
          <a:prstGeom prst="rect">
            <a:avLst/>
          </a:prstGeom>
        </p:spPr>
        <p:txBody>
          <a:bodyPr wrap="square">
            <a:spAutoFit/>
          </a:bodyPr>
          <a:lstStyle/>
          <a:p>
            <a:pPr algn="just">
              <a:lnSpc>
                <a:spcPct val="150000"/>
              </a:lnSpc>
            </a:pPr>
            <a:r>
              <a:rPr lang="en-IN" sz="2400" dirty="0">
                <a:latin typeface="Times New Roman" panose="02020603050405020304" pitchFamily="18" charset="0"/>
                <a:cs typeface="Times New Roman" panose="02020603050405020304" pitchFamily="18" charset="0"/>
              </a:rPr>
              <a:t>A merchant banker usually refers to a firm or organization involved in all aspects of issue management. Their services include providing consultancy or advisory services to corporates for issue management, making arrangements for buying, selling or subscribing to shares in an issue or any other consultancy or services such as underwriting, analysis and advice related to mergers and acquisitions, arranging offshore funding or venture capital, credit syndication and portfolio management.</a:t>
            </a:r>
          </a:p>
        </p:txBody>
      </p:sp>
      <p:sp>
        <p:nvSpPr>
          <p:cNvPr id="2" name="Title 1"/>
          <p:cNvSpPr>
            <a:spLocks noGrp="1"/>
          </p:cNvSpPr>
          <p:nvPr>
            <p:ph type="ctrTitle"/>
          </p:nvPr>
        </p:nvSpPr>
        <p:spPr>
          <a:xfrm>
            <a:off x="1066800" y="609600"/>
            <a:ext cx="5372100" cy="628650"/>
          </a:xfrm>
        </p:spPr>
        <p:txBody>
          <a:bodyPr>
            <a:noAutofit/>
          </a:bodyPr>
          <a:lstStyle/>
          <a:p>
            <a:pPr marL="363474" indent="-342900" algn="ctr"/>
            <a:r>
              <a:rPr lang="en-US" sz="4200" i="1" dirty="0">
                <a:solidFill>
                  <a:schemeClr val="tx1"/>
                </a:solidFill>
                <a:latin typeface="Times New Roman" panose="02020603050405020304" pitchFamily="18" charset="0"/>
                <a:cs typeface="Times New Roman" panose="02020603050405020304" pitchFamily="18" charset="0"/>
              </a:rPr>
              <a:t>Merchant Banks</a:t>
            </a:r>
            <a:endParaRPr lang="en-IN" sz="4200"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9175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349120" y="363894"/>
            <a:ext cx="11569959" cy="6307494"/>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5122" name="Picture 2" descr="Image result for merchant banks&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433" y="1238250"/>
            <a:ext cx="10837763" cy="5036783"/>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ctrTitle"/>
          </p:nvPr>
        </p:nvSpPr>
        <p:spPr>
          <a:xfrm>
            <a:off x="1600200" y="609600"/>
            <a:ext cx="9067800" cy="628650"/>
          </a:xfrm>
        </p:spPr>
        <p:txBody>
          <a:bodyPr>
            <a:noAutofit/>
          </a:bodyPr>
          <a:lstStyle/>
          <a:p>
            <a:pPr marL="363474" indent="-342900" algn="ctr"/>
            <a:r>
              <a:rPr lang="en-US" sz="4200" i="1" dirty="0">
                <a:solidFill>
                  <a:schemeClr val="tx1"/>
                </a:solidFill>
                <a:latin typeface="Times New Roman" panose="02020603050405020304" pitchFamily="18" charset="0"/>
                <a:cs typeface="Times New Roman" panose="02020603050405020304" pitchFamily="18" charset="0"/>
              </a:rPr>
              <a:t>Functions of Merchant Banks</a:t>
            </a:r>
            <a:endParaRPr lang="en-IN" sz="4200"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04823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09600" y="429208"/>
            <a:ext cx="11224727" cy="5840963"/>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Title 1"/>
          <p:cNvSpPr>
            <a:spLocks noGrp="1"/>
          </p:cNvSpPr>
          <p:nvPr>
            <p:ph type="ctrTitle"/>
          </p:nvPr>
        </p:nvSpPr>
        <p:spPr>
          <a:xfrm>
            <a:off x="1752600" y="609600"/>
            <a:ext cx="9906000" cy="628650"/>
          </a:xfrm>
        </p:spPr>
        <p:txBody>
          <a:bodyPr>
            <a:noAutofit/>
          </a:bodyPr>
          <a:lstStyle/>
          <a:p>
            <a:pPr marL="363474" indent="-342900" algn="ctr"/>
            <a:r>
              <a:rPr lang="en-IN" sz="4200" i="1" dirty="0">
                <a:solidFill>
                  <a:schemeClr val="tx1"/>
                </a:solidFill>
                <a:latin typeface="Times New Roman" panose="02020603050405020304" pitchFamily="18" charset="0"/>
                <a:cs typeface="Times New Roman" panose="02020603050405020304" pitchFamily="18" charset="0"/>
              </a:rPr>
              <a:t>Leading merchant bankers in India</a:t>
            </a:r>
            <a:endParaRPr lang="en-IN" sz="42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609600" y="1905000"/>
            <a:ext cx="10896600" cy="2862322"/>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IN" sz="2400" u="sng" dirty="0">
                <a:latin typeface="Times New Roman" panose="02020603050405020304" pitchFamily="18" charset="0"/>
                <a:cs typeface="Times New Roman" panose="02020603050405020304" pitchFamily="18" charset="0"/>
              </a:rPr>
              <a:t>Public sector</a:t>
            </a:r>
            <a:r>
              <a:rPr lang="en-IN" sz="2400" dirty="0">
                <a:latin typeface="Times New Roman" panose="02020603050405020304" pitchFamily="18" charset="0"/>
                <a:cs typeface="Times New Roman" panose="02020603050405020304" pitchFamily="18" charset="0"/>
              </a:rPr>
              <a:t>: SBI Capital Markets, Punjab National bank, IFCI Financial Services</a:t>
            </a:r>
          </a:p>
          <a:p>
            <a:pPr marL="342900" indent="-342900" algn="just">
              <a:lnSpc>
                <a:spcPct val="150000"/>
              </a:lnSpc>
              <a:buFont typeface="Wingdings" panose="05000000000000000000" pitchFamily="2" charset="2"/>
              <a:buChar char="Ø"/>
            </a:pPr>
            <a:r>
              <a:rPr lang="en-IN" sz="2400" u="sng" dirty="0">
                <a:latin typeface="Times New Roman" panose="02020603050405020304" pitchFamily="18" charset="0"/>
                <a:cs typeface="Times New Roman" panose="02020603050405020304" pitchFamily="18" charset="0"/>
              </a:rPr>
              <a:t>Private sector</a:t>
            </a:r>
            <a:r>
              <a:rPr lang="en-IN" sz="2400" dirty="0">
                <a:latin typeface="Times New Roman" panose="02020603050405020304" pitchFamily="18" charset="0"/>
                <a:cs typeface="Times New Roman" panose="02020603050405020304" pitchFamily="18" charset="0"/>
              </a:rPr>
              <a:t>: ICICI Securities, Axis Bank, Bajaj Capital, Tata Capital Markets, Yes Bank, </a:t>
            </a:r>
            <a:r>
              <a:rPr lang="en-IN" sz="2400" dirty="0" err="1">
                <a:latin typeface="Times New Roman" panose="02020603050405020304" pitchFamily="18" charset="0"/>
                <a:cs typeface="Times New Roman" panose="02020603050405020304" pitchFamily="18" charset="0"/>
              </a:rPr>
              <a:t>Kotak</a:t>
            </a:r>
            <a:r>
              <a:rPr lang="en-IN" sz="2400" dirty="0">
                <a:latin typeface="Times New Roman" panose="02020603050405020304" pitchFamily="18" charset="0"/>
                <a:cs typeface="Times New Roman" panose="02020603050405020304" pitchFamily="18" charset="0"/>
              </a:rPr>
              <a:t> Mahindra Capital Company, Reliance Securities</a:t>
            </a:r>
          </a:p>
          <a:p>
            <a:pPr marL="342900" indent="-342900" algn="just">
              <a:lnSpc>
                <a:spcPct val="150000"/>
              </a:lnSpc>
              <a:buFont typeface="Wingdings" panose="05000000000000000000" pitchFamily="2" charset="2"/>
              <a:buChar char="Ø"/>
            </a:pPr>
            <a:r>
              <a:rPr lang="en-IN" sz="2400" u="sng" dirty="0">
                <a:latin typeface="Times New Roman" panose="02020603050405020304" pitchFamily="18" charset="0"/>
                <a:cs typeface="Times New Roman" panose="02020603050405020304" pitchFamily="18" charset="0"/>
              </a:rPr>
              <a:t>Foreign merchant bankers</a:t>
            </a:r>
            <a:r>
              <a:rPr lang="en-IN" sz="2400" dirty="0">
                <a:latin typeface="Times New Roman" panose="02020603050405020304" pitchFamily="18" charset="0"/>
                <a:cs typeface="Times New Roman" panose="02020603050405020304" pitchFamily="18" charset="0"/>
              </a:rPr>
              <a:t>: Goldman Sachs (India) Securities, Morgan Stanley India, Barclays Securities (India), Bank of America, Citigroup Global Markets India</a:t>
            </a:r>
          </a:p>
        </p:txBody>
      </p:sp>
    </p:spTree>
    <p:extLst>
      <p:ext uri="{BB962C8B-B14F-4D97-AF65-F5344CB8AC3E}">
        <p14:creationId xmlns:p14="http://schemas.microsoft.com/office/powerpoint/2010/main" val="2833008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401216" y="195942"/>
            <a:ext cx="11336694" cy="6391469"/>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pic>
        <p:nvPicPr>
          <p:cNvPr id="22530" name="Picture 2" descr="Image result for Structure of Indian Financial Syste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1501" y="373776"/>
            <a:ext cx="10279422" cy="56817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5188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806335" y="1995055"/>
            <a:ext cx="10540538" cy="26018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fontAlgn="base"/>
            <a:r>
              <a:rPr lang="en-IN" sz="6000" b="1" dirty="0"/>
              <a:t>Financial Markets</a:t>
            </a:r>
          </a:p>
        </p:txBody>
      </p:sp>
    </p:spTree>
    <p:extLst>
      <p:ext uri="{BB962C8B-B14F-4D97-AF65-F5344CB8AC3E}">
        <p14:creationId xmlns:p14="http://schemas.microsoft.com/office/powerpoint/2010/main" val="476749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00792" y="590202"/>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marL="285750" indent="-28575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There does not exist a physical or geographical location that can be termed as a financial market but all the financial transactions are deemed to occur in the financial market. So, it can be said that as </a:t>
            </a:r>
            <a:r>
              <a:rPr lang="en-IN" sz="2800" dirty="0">
                <a:solidFill>
                  <a:srgbClr val="C00000"/>
                </a:solidFill>
                <a:latin typeface="Times New Roman" panose="02020603050405020304" pitchFamily="18" charset="0"/>
                <a:cs typeface="Times New Roman" panose="02020603050405020304" pitchFamily="18" charset="0"/>
              </a:rPr>
              <a:t>financial transactions are pervasive in nature</a:t>
            </a:r>
            <a:r>
              <a:rPr lang="en-IN" sz="2800" dirty="0">
                <a:solidFill>
                  <a:schemeClr val="tx1"/>
                </a:solidFill>
                <a:latin typeface="Times New Roman" panose="02020603050405020304" pitchFamily="18" charset="0"/>
                <a:cs typeface="Times New Roman" panose="02020603050405020304" pitchFamily="18" charset="0"/>
              </a:rPr>
              <a:t>, financial </a:t>
            </a:r>
            <a:r>
              <a:rPr lang="en-IN" sz="2800" dirty="0">
                <a:solidFill>
                  <a:srgbClr val="C00000"/>
                </a:solidFill>
                <a:latin typeface="Times New Roman" panose="02020603050405020304" pitchFamily="18" charset="0"/>
                <a:cs typeface="Times New Roman" panose="02020603050405020304" pitchFamily="18" charset="0"/>
              </a:rPr>
              <a:t>markets are also pervasive. </a:t>
            </a: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A financial market is a </a:t>
            </a:r>
            <a:r>
              <a:rPr lang="en-IN" sz="2800" dirty="0">
                <a:solidFill>
                  <a:srgbClr val="C00000"/>
                </a:solidFill>
                <a:latin typeface="Times New Roman" panose="02020603050405020304" pitchFamily="18" charset="0"/>
                <a:cs typeface="Times New Roman" panose="02020603050405020304" pitchFamily="18" charset="0"/>
              </a:rPr>
              <a:t>common place where the buyers and the sellers of financial instruments meet and exchange products</a:t>
            </a:r>
            <a:r>
              <a:rPr lang="en-IN" sz="2800" dirty="0">
                <a:solidFill>
                  <a:schemeClr val="tx1"/>
                </a:solidFill>
                <a:latin typeface="Times New Roman" panose="02020603050405020304" pitchFamily="18" charset="0"/>
                <a:cs typeface="Times New Roman" panose="02020603050405020304" pitchFamily="18" charset="0"/>
              </a:rPr>
              <a:t>. Stock exchange may be termed as a place where these transactions take place and a location for the financial market. </a:t>
            </a:r>
          </a:p>
          <a:p>
            <a:pPr marL="285750" indent="-285750" algn="just" fontAlgn="base">
              <a:buFont typeface="Arial" panose="020B0604020202020204" pitchFamily="34" charset="0"/>
              <a:buChar char="•"/>
            </a:pPr>
            <a:endParaRPr lang="en-IN" sz="2800" dirty="0">
              <a:solidFill>
                <a:schemeClr val="tx1"/>
              </a:solidFill>
              <a:latin typeface="Times New Roman" panose="02020603050405020304" pitchFamily="18" charset="0"/>
              <a:cs typeface="Times New Roman" panose="02020603050405020304" pitchFamily="18" charset="0"/>
            </a:endParaRPr>
          </a:p>
          <a:p>
            <a:pPr marL="285750" indent="-28575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In India, financial markets are classified as </a:t>
            </a:r>
            <a:r>
              <a:rPr lang="en-IN" sz="2800" dirty="0">
                <a:solidFill>
                  <a:srgbClr val="C00000"/>
                </a:solidFill>
                <a:latin typeface="Times New Roman" panose="02020603050405020304" pitchFamily="18" charset="0"/>
                <a:cs typeface="Times New Roman" panose="02020603050405020304" pitchFamily="18" charset="0"/>
              </a:rPr>
              <a:t>unorganized and organised</a:t>
            </a:r>
            <a:r>
              <a:rPr lang="en-IN" sz="2800" dirty="0">
                <a:solidFill>
                  <a:schemeClr val="tx1"/>
                </a:solidFill>
                <a:latin typeface="Times New Roman" panose="02020603050405020304" pitchFamily="18" charset="0"/>
                <a:cs typeface="Times New Roman" panose="02020603050405020304" pitchFamily="18" charset="0"/>
              </a:rPr>
              <a:t> markets.</a:t>
            </a:r>
          </a:p>
        </p:txBody>
      </p:sp>
      <p:sp>
        <p:nvSpPr>
          <p:cNvPr id="5" name="Rounded Rectangle 4"/>
          <p:cNvSpPr/>
          <p:nvPr/>
        </p:nvSpPr>
        <p:spPr>
          <a:xfrm>
            <a:off x="3465021" y="0"/>
            <a:ext cx="5303520"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b="1" dirty="0"/>
              <a:t>Financial Markets</a:t>
            </a:r>
          </a:p>
        </p:txBody>
      </p:sp>
    </p:spTree>
    <p:extLst>
      <p:ext uri="{BB962C8B-B14F-4D97-AF65-F5344CB8AC3E}">
        <p14:creationId xmlns:p14="http://schemas.microsoft.com/office/powerpoint/2010/main" val="40904801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559723" y="756454"/>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1905001" y="1752600"/>
            <a:ext cx="5522595" cy="2253822"/>
          </a:xfrm>
          <a:prstGeom prst="rect">
            <a:avLst/>
          </a:prstGeom>
        </p:spPr>
        <p:txBody>
          <a:bodyPr vert="horz" wrap="square" lIns="0" tIns="12065" rIns="0" bIns="0" rtlCol="0">
            <a:spAutoFit/>
          </a:bodyPr>
          <a:lstStyle/>
          <a:p>
            <a:pPr marL="329565" indent="-317500">
              <a:lnSpc>
                <a:spcPct val="150000"/>
              </a:lnSpc>
              <a:spcBef>
                <a:spcPts val="95"/>
              </a:spcBef>
              <a:buSzPct val="96428"/>
              <a:buFont typeface="Wingdings"/>
              <a:buChar char=""/>
              <a:tabLst>
                <a:tab pos="330200" algn="l"/>
              </a:tabLst>
            </a:pPr>
            <a:r>
              <a:rPr lang="en-IN" sz="2400" spc="-10" dirty="0">
                <a:latin typeface="Times New Roman" panose="02020603050405020304" pitchFamily="18" charset="0"/>
                <a:cs typeface="Times New Roman" panose="02020603050405020304" pitchFamily="18" charset="0"/>
              </a:rPr>
              <a:t>ORGANISED </a:t>
            </a:r>
            <a:r>
              <a:rPr lang="en-IN" sz="2400" spc="-5" dirty="0">
                <a:latin typeface="Times New Roman" panose="02020603050405020304" pitchFamily="18" charset="0"/>
                <a:cs typeface="Times New Roman" panose="02020603050405020304" pitchFamily="18" charset="0"/>
              </a:rPr>
              <a:t>MONEY</a:t>
            </a:r>
            <a:r>
              <a:rPr lang="en-IN" sz="2400" spc="-25" dirty="0">
                <a:latin typeface="Times New Roman" panose="02020603050405020304" pitchFamily="18" charset="0"/>
                <a:cs typeface="Times New Roman" panose="02020603050405020304" pitchFamily="18" charset="0"/>
              </a:rPr>
              <a:t> </a:t>
            </a:r>
            <a:r>
              <a:rPr lang="en-IN" sz="2400" spc="-5" dirty="0">
                <a:latin typeface="Times New Roman" panose="02020603050405020304" pitchFamily="18" charset="0"/>
                <a:cs typeface="Times New Roman" panose="02020603050405020304" pitchFamily="18" charset="0"/>
              </a:rPr>
              <a:t>STRUCTURE</a:t>
            </a:r>
            <a:endParaRPr lang="en-IN" sz="2400" dirty="0">
              <a:latin typeface="Times New Roman" panose="02020603050405020304" pitchFamily="18" charset="0"/>
              <a:cs typeface="Times New Roman" panose="02020603050405020304" pitchFamily="18" charset="0"/>
            </a:endParaRPr>
          </a:p>
          <a:p>
            <a:pPr marL="329565" indent="-317500">
              <a:lnSpc>
                <a:spcPct val="150000"/>
              </a:lnSpc>
              <a:spcBef>
                <a:spcPts val="95"/>
              </a:spcBef>
              <a:buSzPct val="96428"/>
              <a:buFont typeface="Wingdings"/>
              <a:buChar char=""/>
              <a:tabLst>
                <a:tab pos="330200" algn="l"/>
              </a:tabLst>
            </a:pPr>
            <a:endParaRPr lang="en-IN" sz="2400" spc="-5" dirty="0">
              <a:latin typeface="Times New Roman" panose="02020603050405020304" pitchFamily="18" charset="0"/>
              <a:cs typeface="Times New Roman" panose="02020603050405020304" pitchFamily="18" charset="0"/>
            </a:endParaRPr>
          </a:p>
          <a:p>
            <a:pPr marL="329565" indent="-317500">
              <a:lnSpc>
                <a:spcPct val="150000"/>
              </a:lnSpc>
              <a:spcBef>
                <a:spcPts val="95"/>
              </a:spcBef>
              <a:buSzPct val="96428"/>
              <a:buFont typeface="Wingdings"/>
              <a:buChar char=""/>
              <a:tabLst>
                <a:tab pos="330200" algn="l"/>
              </a:tabLst>
            </a:pPr>
            <a:r>
              <a:rPr sz="2400" spc="-5" dirty="0">
                <a:latin typeface="Times New Roman" panose="02020603050405020304" pitchFamily="18" charset="0"/>
                <a:cs typeface="Times New Roman" panose="02020603050405020304" pitchFamily="18" charset="0"/>
              </a:rPr>
              <a:t>UNORGANISED MONEY</a:t>
            </a:r>
            <a:r>
              <a:rPr sz="2400" spc="-4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STRUCTURE</a:t>
            </a:r>
            <a:endParaRPr sz="2400" dirty="0">
              <a:latin typeface="Times New Roman" panose="02020603050405020304" pitchFamily="18" charset="0"/>
              <a:cs typeface="Times New Roman" panose="02020603050405020304" pitchFamily="18" charset="0"/>
            </a:endParaRPr>
          </a:p>
        </p:txBody>
      </p:sp>
      <p:sp>
        <p:nvSpPr>
          <p:cNvPr id="5" name="object 5"/>
          <p:cNvSpPr/>
          <p:nvPr/>
        </p:nvSpPr>
        <p:spPr>
          <a:xfrm>
            <a:off x="7262554" y="1167934"/>
            <a:ext cx="3505199" cy="5079076"/>
          </a:xfrm>
          <a:prstGeom prst="rect">
            <a:avLst/>
          </a:prstGeom>
          <a:blipFill>
            <a:blip r:embed="rId2" cstate="print"/>
            <a:stretch>
              <a:fillRect/>
            </a:stretch>
          </a:blipFill>
        </p:spPr>
        <p:txBody>
          <a:bodyPr wrap="square" lIns="0" tIns="0" rIns="0" bIns="0" rtlCol="0"/>
          <a:lstStyle/>
          <a:p>
            <a:endParaRPr/>
          </a:p>
        </p:txBody>
      </p:sp>
      <p:sp>
        <p:nvSpPr>
          <p:cNvPr id="6" name="Rounded Rectangle 5"/>
          <p:cNvSpPr/>
          <p:nvPr/>
        </p:nvSpPr>
        <p:spPr>
          <a:xfrm>
            <a:off x="1996441" y="45024"/>
            <a:ext cx="7953894"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spc="-10" dirty="0"/>
              <a:t>STRUCTURE </a:t>
            </a:r>
            <a:r>
              <a:rPr lang="en-IN" sz="3200" dirty="0"/>
              <a:t>OF MONEY</a:t>
            </a:r>
            <a:r>
              <a:rPr lang="en-IN" sz="3200" spc="-105" dirty="0"/>
              <a:t> M</a:t>
            </a:r>
            <a:r>
              <a:rPr lang="en-IN" sz="3200" spc="-5" dirty="0"/>
              <a:t>ARKETS</a:t>
            </a:r>
            <a:endParaRPr lang="en-IN" sz="3200" b="1" dirty="0"/>
          </a:p>
        </p:txBody>
      </p:sp>
    </p:spTree>
    <p:extLst>
      <p:ext uri="{BB962C8B-B14F-4D97-AF65-F5344CB8AC3E}">
        <p14:creationId xmlns:p14="http://schemas.microsoft.com/office/powerpoint/2010/main" val="12833362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39256" y="798019"/>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1905000" y="1447801"/>
            <a:ext cx="8150860" cy="5049459"/>
          </a:xfrm>
          <a:prstGeom prst="rect">
            <a:avLst/>
          </a:prstGeom>
        </p:spPr>
        <p:txBody>
          <a:bodyPr vert="horz" wrap="square" lIns="0" tIns="12065" rIns="0" bIns="0" rtlCol="0">
            <a:spAutoFit/>
          </a:bodyPr>
          <a:lstStyle/>
          <a:p>
            <a:pPr marL="12700">
              <a:spcBef>
                <a:spcPts val="95"/>
              </a:spcBef>
            </a:pPr>
            <a:r>
              <a:rPr sz="2400" u="heavy" spc="-40" dirty="0">
                <a:uFill>
                  <a:solidFill>
                    <a:srgbClr val="000000"/>
                  </a:solidFill>
                </a:uFill>
                <a:latin typeface="Times New Roman" panose="02020603050405020304" pitchFamily="18" charset="0"/>
                <a:cs typeface="Times New Roman" panose="02020603050405020304" pitchFamily="18" charset="0"/>
              </a:rPr>
              <a:t>PARTICIPANTS:</a:t>
            </a:r>
            <a:endParaRPr sz="2400" dirty="0">
              <a:latin typeface="Times New Roman" panose="02020603050405020304" pitchFamily="18" charset="0"/>
              <a:cs typeface="Times New Roman" panose="02020603050405020304" pitchFamily="18" charset="0"/>
            </a:endParaRPr>
          </a:p>
          <a:p>
            <a:pPr marL="354965" indent="-342900">
              <a:lnSpc>
                <a:spcPts val="3195"/>
              </a:lnSpc>
              <a:spcBef>
                <a:spcPts val="5"/>
              </a:spcBef>
              <a:buFont typeface="Wingdings" panose="05000000000000000000" pitchFamily="2" charset="2"/>
              <a:buChar char="ü"/>
              <a:tabLst>
                <a:tab pos="622300" algn="l"/>
                <a:tab pos="622935" algn="l"/>
              </a:tabLst>
            </a:pPr>
            <a:r>
              <a:rPr sz="2400" spc="-15" dirty="0">
                <a:latin typeface="Times New Roman" panose="02020603050405020304" pitchFamily="18" charset="0"/>
                <a:cs typeface="Times New Roman" panose="02020603050405020304" pitchFamily="18" charset="0"/>
              </a:rPr>
              <a:t>Reserve </a:t>
            </a:r>
            <a:r>
              <a:rPr sz="2400" spc="-10" dirty="0">
                <a:latin typeface="Times New Roman" panose="02020603050405020304" pitchFamily="18" charset="0"/>
                <a:cs typeface="Times New Roman" panose="02020603050405020304" pitchFamily="18" charset="0"/>
              </a:rPr>
              <a:t>bank </a:t>
            </a:r>
            <a:r>
              <a:rPr sz="2400" spc="-5" dirty="0">
                <a:latin typeface="Times New Roman" panose="02020603050405020304" pitchFamily="18" charset="0"/>
                <a:cs typeface="Times New Roman" panose="02020603050405020304" pitchFamily="18" charset="0"/>
              </a:rPr>
              <a:t>of</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India.</a:t>
            </a:r>
            <a:endParaRPr sz="2400" dirty="0">
              <a:latin typeface="Times New Roman" panose="02020603050405020304" pitchFamily="18" charset="0"/>
              <a:cs typeface="Times New Roman" panose="02020603050405020304" pitchFamily="18" charset="0"/>
            </a:endParaRPr>
          </a:p>
          <a:p>
            <a:pPr marL="354966" indent="-342900">
              <a:lnSpc>
                <a:spcPts val="3025"/>
              </a:lnSpc>
              <a:buFont typeface="Wingdings" panose="05000000000000000000" pitchFamily="2" charset="2"/>
              <a:buChar char="ü"/>
              <a:tabLst>
                <a:tab pos="1026160" algn="l"/>
                <a:tab pos="1026794" algn="l"/>
              </a:tabLst>
            </a:pPr>
            <a:r>
              <a:rPr sz="2400" spc="-10" dirty="0">
                <a:latin typeface="Times New Roman" panose="02020603050405020304" pitchFamily="18" charset="0"/>
                <a:cs typeface="Times New Roman" panose="02020603050405020304" pitchFamily="18" charset="0"/>
              </a:rPr>
              <a:t>DFHI </a:t>
            </a:r>
            <a:r>
              <a:rPr sz="2400" spc="-15" dirty="0">
                <a:latin typeface="Times New Roman" panose="02020603050405020304" pitchFamily="18" charset="0"/>
                <a:cs typeface="Times New Roman" panose="02020603050405020304" pitchFamily="18" charset="0"/>
              </a:rPr>
              <a:t>(discount </a:t>
            </a:r>
            <a:r>
              <a:rPr sz="2400" spc="-5" dirty="0">
                <a:latin typeface="Times New Roman" panose="02020603050405020304" pitchFamily="18" charset="0"/>
                <a:cs typeface="Times New Roman" panose="02020603050405020304" pitchFamily="18" charset="0"/>
              </a:rPr>
              <a:t>and </a:t>
            </a:r>
            <a:r>
              <a:rPr sz="2400" spc="-10" dirty="0">
                <a:latin typeface="Times New Roman" panose="02020603050405020304" pitchFamily="18" charset="0"/>
                <a:cs typeface="Times New Roman" panose="02020603050405020304" pitchFamily="18" charset="0"/>
              </a:rPr>
              <a:t>finance house </a:t>
            </a:r>
            <a:r>
              <a:rPr sz="2400" spc="-5" dirty="0">
                <a:latin typeface="Times New Roman" panose="02020603050405020304" pitchFamily="18" charset="0"/>
                <a:cs typeface="Times New Roman" panose="02020603050405020304" pitchFamily="18" charset="0"/>
              </a:rPr>
              <a:t>of</a:t>
            </a:r>
            <a:r>
              <a:rPr sz="2400" spc="14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India)</a:t>
            </a:r>
            <a:endParaRPr sz="2400" dirty="0">
              <a:latin typeface="Times New Roman" panose="02020603050405020304" pitchFamily="18" charset="0"/>
              <a:cs typeface="Times New Roman" panose="02020603050405020304" pitchFamily="18" charset="0"/>
            </a:endParaRPr>
          </a:p>
          <a:p>
            <a:pPr marL="354965" indent="-342900">
              <a:lnSpc>
                <a:spcPts val="3025"/>
              </a:lnSpc>
              <a:buFont typeface="Wingdings" panose="05000000000000000000" pitchFamily="2" charset="2"/>
              <a:buChar char="ü"/>
              <a:tabLst>
                <a:tab pos="701675" algn="l"/>
                <a:tab pos="702310" algn="l"/>
              </a:tabLst>
            </a:pPr>
            <a:r>
              <a:rPr sz="2400" spc="-10" dirty="0">
                <a:latin typeface="Times New Roman" panose="02020603050405020304" pitchFamily="18" charset="0"/>
                <a:cs typeface="Times New Roman" panose="02020603050405020304" pitchFamily="18" charset="0"/>
              </a:rPr>
              <a:t>Commercial banks:-</a:t>
            </a:r>
            <a:endParaRPr sz="2400" dirty="0">
              <a:latin typeface="Times New Roman" panose="02020603050405020304" pitchFamily="18" charset="0"/>
              <a:cs typeface="Times New Roman" panose="02020603050405020304" pitchFamily="18" charset="0"/>
            </a:endParaRPr>
          </a:p>
          <a:p>
            <a:pPr marL="1144270" lvl="1">
              <a:lnSpc>
                <a:spcPts val="3025"/>
              </a:lnSpc>
              <a:buSzPct val="96428"/>
              <a:tabLst>
                <a:tab pos="1443990" algn="l"/>
              </a:tabLst>
            </a:pPr>
            <a:r>
              <a:rPr sz="2400" u="heavy" spc="-10" dirty="0">
                <a:uFill>
                  <a:solidFill>
                    <a:srgbClr val="000000"/>
                  </a:solidFill>
                </a:uFill>
                <a:latin typeface="Times New Roman" panose="02020603050405020304" pitchFamily="18" charset="0"/>
                <a:cs typeface="Times New Roman" panose="02020603050405020304" pitchFamily="18" charset="0"/>
              </a:rPr>
              <a:t>Public sector</a:t>
            </a:r>
            <a:r>
              <a:rPr sz="2400" u="heavy" spc="35" dirty="0">
                <a:uFill>
                  <a:solidFill>
                    <a:srgbClr val="000000"/>
                  </a:solidFill>
                </a:uFill>
                <a:latin typeface="Times New Roman" panose="02020603050405020304" pitchFamily="18" charset="0"/>
                <a:cs typeface="Times New Roman" panose="02020603050405020304" pitchFamily="18" charset="0"/>
              </a:rPr>
              <a:t> </a:t>
            </a:r>
            <a:r>
              <a:rPr sz="2400" u="heavy" spc="-15" dirty="0">
                <a:uFill>
                  <a:solidFill>
                    <a:srgbClr val="000000"/>
                  </a:solidFill>
                </a:uFill>
                <a:latin typeface="Times New Roman" panose="02020603050405020304" pitchFamily="18" charset="0"/>
                <a:cs typeface="Times New Roman" panose="02020603050405020304" pitchFamily="18" charset="0"/>
              </a:rPr>
              <a:t>banks</a:t>
            </a:r>
            <a:endParaRPr sz="2400" dirty="0">
              <a:latin typeface="Times New Roman" panose="02020603050405020304" pitchFamily="18" charset="0"/>
              <a:cs typeface="Times New Roman" panose="02020603050405020304" pitchFamily="18" charset="0"/>
            </a:endParaRPr>
          </a:p>
          <a:p>
            <a:pPr marL="2664460" marR="2017395" indent="-342900">
              <a:lnSpc>
                <a:spcPts val="3030"/>
              </a:lnSpc>
              <a:spcBef>
                <a:spcPts val="204"/>
              </a:spcBef>
              <a:buFont typeface="Wingdings" panose="05000000000000000000" pitchFamily="2" charset="2"/>
              <a:buChar char="ü"/>
            </a:pPr>
            <a:r>
              <a:rPr sz="2400" spc="-5" dirty="0">
                <a:latin typeface="Times New Roman" panose="02020603050405020304" pitchFamily="18" charset="0"/>
                <a:cs typeface="Times New Roman" panose="02020603050405020304" pitchFamily="18" charset="0"/>
              </a:rPr>
              <a:t>SBI with 7 </a:t>
            </a:r>
            <a:r>
              <a:rPr sz="2400" spc="-10" dirty="0">
                <a:latin typeface="Times New Roman" panose="02020603050405020304" pitchFamily="18" charset="0"/>
                <a:cs typeface="Times New Roman" panose="02020603050405020304" pitchFamily="18" charset="0"/>
              </a:rPr>
              <a:t>subsidiaries  </a:t>
            </a:r>
            <a:r>
              <a:rPr sz="2400" spc="-20" dirty="0">
                <a:latin typeface="Times New Roman" panose="02020603050405020304" pitchFamily="18" charset="0"/>
                <a:cs typeface="Times New Roman" panose="02020603050405020304" pitchFamily="18" charset="0"/>
              </a:rPr>
              <a:t>Cooperative</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banks</a:t>
            </a:r>
            <a:endParaRPr sz="2400" dirty="0">
              <a:latin typeface="Times New Roman" panose="02020603050405020304" pitchFamily="18" charset="0"/>
              <a:cs typeface="Times New Roman" panose="02020603050405020304" pitchFamily="18" charset="0"/>
            </a:endParaRPr>
          </a:p>
          <a:p>
            <a:pPr marL="2664460" indent="-342900">
              <a:lnSpc>
                <a:spcPts val="2805"/>
              </a:lnSpc>
              <a:buFont typeface="Wingdings" panose="05000000000000000000" pitchFamily="2" charset="2"/>
              <a:buChar char="ü"/>
            </a:pPr>
            <a:r>
              <a:rPr lang="en-US" sz="2400" spc="-5" dirty="0">
                <a:latin typeface="Times New Roman" panose="02020603050405020304" pitchFamily="18" charset="0"/>
                <a:cs typeface="Times New Roman" panose="02020603050405020304" pitchFamily="18" charset="0"/>
              </a:rPr>
              <a:t>1</a:t>
            </a:r>
            <a:r>
              <a:rPr sz="2400" spc="-5" dirty="0">
                <a:latin typeface="Times New Roman" panose="02020603050405020304" pitchFamily="18" charset="0"/>
                <a:cs typeface="Times New Roman" panose="02020603050405020304" pitchFamily="18" charset="0"/>
              </a:rPr>
              <a:t>2 </a:t>
            </a:r>
            <a:r>
              <a:rPr sz="2400" spc="-15" dirty="0">
                <a:latin typeface="Times New Roman" panose="02020603050405020304" pitchFamily="18" charset="0"/>
                <a:cs typeface="Times New Roman" panose="02020603050405020304" pitchFamily="18" charset="0"/>
              </a:rPr>
              <a:t>nationalized</a:t>
            </a:r>
            <a:r>
              <a:rPr sz="2400" spc="2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banks</a:t>
            </a:r>
            <a:endParaRPr sz="2400" dirty="0">
              <a:latin typeface="Times New Roman" panose="02020603050405020304" pitchFamily="18" charset="0"/>
              <a:cs typeface="Times New Roman" panose="02020603050405020304" pitchFamily="18" charset="0"/>
            </a:endParaRPr>
          </a:p>
          <a:p>
            <a:pPr marL="1267460" lvl="1">
              <a:lnSpc>
                <a:spcPts val="3025"/>
              </a:lnSpc>
              <a:buSzPct val="96428"/>
              <a:tabLst>
                <a:tab pos="1647189" algn="l"/>
              </a:tabLst>
            </a:pPr>
            <a:r>
              <a:rPr sz="2400" u="heavy" spc="-20" dirty="0">
                <a:uFill>
                  <a:solidFill>
                    <a:srgbClr val="000000"/>
                  </a:solidFill>
                </a:uFill>
                <a:latin typeface="Times New Roman" panose="02020603050405020304" pitchFamily="18" charset="0"/>
                <a:cs typeface="Times New Roman" panose="02020603050405020304" pitchFamily="18" charset="0"/>
              </a:rPr>
              <a:t>Private</a:t>
            </a:r>
            <a:r>
              <a:rPr sz="2400" u="heavy" spc="-5" dirty="0">
                <a:uFill>
                  <a:solidFill>
                    <a:srgbClr val="000000"/>
                  </a:solidFill>
                </a:uFill>
                <a:latin typeface="Times New Roman" panose="02020603050405020304" pitchFamily="18" charset="0"/>
                <a:cs typeface="Times New Roman" panose="02020603050405020304" pitchFamily="18" charset="0"/>
              </a:rPr>
              <a:t> </a:t>
            </a:r>
            <a:r>
              <a:rPr sz="2400" u="heavy" spc="-10" dirty="0">
                <a:uFill>
                  <a:solidFill>
                    <a:srgbClr val="000000"/>
                  </a:solidFill>
                </a:uFill>
                <a:latin typeface="Times New Roman" panose="02020603050405020304" pitchFamily="18" charset="0"/>
                <a:cs typeface="Times New Roman" panose="02020603050405020304" pitchFamily="18" charset="0"/>
              </a:rPr>
              <a:t>banks</a:t>
            </a:r>
            <a:endParaRPr sz="2400" dirty="0">
              <a:latin typeface="Times New Roman" panose="02020603050405020304" pitchFamily="18" charset="0"/>
              <a:cs typeface="Times New Roman" panose="02020603050405020304" pitchFamily="18" charset="0"/>
            </a:endParaRPr>
          </a:p>
          <a:p>
            <a:pPr marL="2664460" marR="3217545" indent="-342900">
              <a:lnSpc>
                <a:spcPts val="3030"/>
              </a:lnSpc>
              <a:spcBef>
                <a:spcPts val="210"/>
              </a:spcBef>
              <a:buFont typeface="Wingdings" panose="05000000000000000000" pitchFamily="2" charset="2"/>
              <a:buChar char="ü"/>
            </a:pPr>
            <a:r>
              <a:rPr sz="2400" spc="-5" dirty="0">
                <a:latin typeface="Times New Roman" panose="02020603050405020304" pitchFamily="18" charset="0"/>
                <a:cs typeface="Times New Roman" panose="02020603050405020304" pitchFamily="18" charset="0"/>
              </a:rPr>
              <a:t>Indian </a:t>
            </a:r>
            <a:r>
              <a:rPr sz="2400" spc="-10" dirty="0">
                <a:latin typeface="Times New Roman" panose="02020603050405020304" pitchFamily="18" charset="0"/>
                <a:cs typeface="Times New Roman" panose="02020603050405020304" pitchFamily="18" charset="0"/>
              </a:rPr>
              <a:t>Banks  </a:t>
            </a:r>
            <a:r>
              <a:rPr sz="2400" spc="-15" dirty="0">
                <a:latin typeface="Times New Roman" panose="02020603050405020304" pitchFamily="18" charset="0"/>
                <a:cs typeface="Times New Roman" panose="02020603050405020304" pitchFamily="18" charset="0"/>
              </a:rPr>
              <a:t>Foreign</a:t>
            </a:r>
            <a:r>
              <a:rPr sz="2400" spc="-7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banks</a:t>
            </a:r>
            <a:endParaRPr sz="2400" dirty="0">
              <a:latin typeface="Times New Roman" panose="02020603050405020304" pitchFamily="18" charset="0"/>
              <a:cs typeface="Times New Roman" panose="02020603050405020304" pitchFamily="18" charset="0"/>
            </a:endParaRPr>
          </a:p>
          <a:p>
            <a:pPr marL="354965" indent="-342900">
              <a:lnSpc>
                <a:spcPts val="2805"/>
              </a:lnSpc>
              <a:buFont typeface="Wingdings" panose="05000000000000000000" pitchFamily="2" charset="2"/>
              <a:buChar char="ü"/>
              <a:tabLst>
                <a:tab pos="701675" algn="l"/>
                <a:tab pos="702310" algn="l"/>
              </a:tabLst>
            </a:pPr>
            <a:r>
              <a:rPr sz="2400" spc="-15" dirty="0">
                <a:latin typeface="Times New Roman" panose="02020603050405020304" pitchFamily="18" charset="0"/>
                <a:cs typeface="Times New Roman" panose="02020603050405020304" pitchFamily="18" charset="0"/>
              </a:rPr>
              <a:t>Development</a:t>
            </a:r>
            <a:r>
              <a:rPr sz="2400" spc="1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bank</a:t>
            </a:r>
            <a:endParaRPr lang="en-IN" sz="2400" dirty="0">
              <a:latin typeface="Times New Roman" panose="02020603050405020304" pitchFamily="18" charset="0"/>
              <a:cs typeface="Times New Roman" panose="02020603050405020304" pitchFamily="18" charset="0"/>
            </a:endParaRPr>
          </a:p>
          <a:p>
            <a:pPr marL="12065">
              <a:lnSpc>
                <a:spcPts val="2805"/>
              </a:lnSpc>
              <a:tabLst>
                <a:tab pos="701675" algn="l"/>
                <a:tab pos="702310" algn="l"/>
              </a:tabLst>
            </a:pPr>
            <a:r>
              <a:rPr lang="en-IN"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 IDBI, </a:t>
            </a:r>
            <a:r>
              <a:rPr sz="2400" spc="-10" dirty="0">
                <a:latin typeface="Times New Roman" panose="02020603050405020304" pitchFamily="18" charset="0"/>
                <a:cs typeface="Times New Roman" panose="02020603050405020304" pitchFamily="18" charset="0"/>
              </a:rPr>
              <a:t>IFCI, </a:t>
            </a:r>
            <a:r>
              <a:rPr sz="2400" spc="-5" dirty="0">
                <a:latin typeface="Times New Roman" panose="02020603050405020304" pitchFamily="18" charset="0"/>
                <a:cs typeface="Times New Roman" panose="02020603050405020304" pitchFamily="18" charset="0"/>
              </a:rPr>
              <a:t>ICICI, </a:t>
            </a:r>
            <a:r>
              <a:rPr sz="2400" spc="-20" dirty="0">
                <a:latin typeface="Times New Roman" panose="02020603050405020304" pitchFamily="18" charset="0"/>
                <a:cs typeface="Times New Roman" panose="02020603050405020304" pitchFamily="18" charset="0"/>
              </a:rPr>
              <a:t>NABARD, </a:t>
            </a:r>
            <a:r>
              <a:rPr sz="2400" spc="-10" dirty="0">
                <a:latin typeface="Times New Roman" panose="02020603050405020304" pitchFamily="18" charset="0"/>
                <a:cs typeface="Times New Roman" panose="02020603050405020304" pitchFamily="18" charset="0"/>
              </a:rPr>
              <a:t>LIC, GIC, </a:t>
            </a:r>
            <a:r>
              <a:rPr sz="2400" spc="-5" dirty="0">
                <a:latin typeface="Times New Roman" panose="02020603050405020304" pitchFamily="18" charset="0"/>
                <a:cs typeface="Times New Roman" panose="02020603050405020304" pitchFamily="18" charset="0"/>
              </a:rPr>
              <a:t>UTI</a:t>
            </a:r>
            <a:r>
              <a:rPr sz="2400" spc="10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etc.</a:t>
            </a:r>
            <a:endParaRPr sz="2400"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2822287" y="84414"/>
            <a:ext cx="6316286"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spc="-5" dirty="0"/>
              <a:t>ORGANISED </a:t>
            </a:r>
            <a:r>
              <a:rPr lang="en-IN" sz="3200" dirty="0"/>
              <a:t>MONEY</a:t>
            </a:r>
            <a:r>
              <a:rPr lang="en-IN" sz="3200" spc="-120" dirty="0"/>
              <a:t> </a:t>
            </a:r>
            <a:r>
              <a:rPr lang="en-IN" sz="3200" spc="-10" dirty="0"/>
              <a:t>STRUCTURE</a:t>
            </a:r>
            <a:endParaRPr lang="en-IN" sz="3200" b="1" dirty="0"/>
          </a:p>
        </p:txBody>
      </p:sp>
    </p:spTree>
    <p:extLst>
      <p:ext uri="{BB962C8B-B14F-4D97-AF65-F5344CB8AC3E}">
        <p14:creationId xmlns:p14="http://schemas.microsoft.com/office/powerpoint/2010/main" val="27056382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221467" y="4318761"/>
            <a:ext cx="690245" cy="355600"/>
          </a:xfrm>
          <a:prstGeom prst="rect">
            <a:avLst/>
          </a:prstGeom>
        </p:spPr>
        <p:txBody>
          <a:bodyPr vert="horz" wrap="square" lIns="0" tIns="0" rIns="0" bIns="0" rtlCol="0">
            <a:spAutoFit/>
          </a:bodyPr>
          <a:lstStyle/>
          <a:p>
            <a:pPr>
              <a:lnSpc>
                <a:spcPts val="2655"/>
              </a:lnSpc>
            </a:pPr>
            <a:r>
              <a:rPr sz="2800" spc="-5" dirty="0">
                <a:latin typeface="Calibri"/>
                <a:cs typeface="Calibri"/>
              </a:rPr>
              <a:t>ar</a:t>
            </a:r>
            <a:r>
              <a:rPr sz="2800" spc="-20" dirty="0">
                <a:latin typeface="Calibri"/>
                <a:cs typeface="Calibri"/>
              </a:rPr>
              <a:t>i</a:t>
            </a:r>
            <a:r>
              <a:rPr sz="2800" spc="-5" dirty="0">
                <a:latin typeface="Calibri"/>
                <a:cs typeface="Calibri"/>
              </a:rPr>
              <a:t>es</a:t>
            </a:r>
            <a:endParaRPr sz="2800">
              <a:latin typeface="Calibri"/>
              <a:cs typeface="Calibri"/>
            </a:endParaRPr>
          </a:p>
        </p:txBody>
      </p:sp>
      <p:sp>
        <p:nvSpPr>
          <p:cNvPr id="7" name="Rounded Rectangle 6"/>
          <p:cNvSpPr/>
          <p:nvPr/>
        </p:nvSpPr>
        <p:spPr>
          <a:xfrm>
            <a:off x="1000298" y="686099"/>
            <a:ext cx="10313324"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a:spLocks noGrp="1"/>
          </p:cNvSpPr>
          <p:nvPr>
            <p:ph type="body" idx="1"/>
          </p:nvPr>
        </p:nvSpPr>
        <p:spPr>
          <a:xfrm>
            <a:off x="1905000" y="2515361"/>
            <a:ext cx="4953000" cy="1858842"/>
          </a:xfrm>
          <a:prstGeom prst="rect">
            <a:avLst/>
          </a:prstGeom>
        </p:spPr>
        <p:txBody>
          <a:bodyPr vert="horz" wrap="square" lIns="0" tIns="12065" rIns="0" bIns="0" rtlCol="0">
            <a:spAutoFit/>
          </a:bodyPr>
          <a:lstStyle/>
          <a:p>
            <a:pPr marL="489584" indent="-477520">
              <a:spcBef>
                <a:spcPts val="95"/>
              </a:spcBef>
              <a:buFont typeface="Wingdings" panose="05000000000000000000" pitchFamily="2" charset="2"/>
              <a:buChar char="ü"/>
              <a:tabLst>
                <a:tab pos="489584" algn="l"/>
                <a:tab pos="490220" algn="l"/>
              </a:tabLst>
            </a:pPr>
            <a:r>
              <a:rPr lang="en-IN" sz="2400" spc="-10" dirty="0"/>
              <a:t>  </a:t>
            </a:r>
            <a:r>
              <a:rPr sz="2400" spc="-10" dirty="0"/>
              <a:t>Indigenous</a:t>
            </a:r>
          </a:p>
          <a:p>
            <a:pPr marL="342900" indent="-342900">
              <a:spcBef>
                <a:spcPts val="25"/>
              </a:spcBef>
              <a:buFont typeface="Wingdings" panose="05000000000000000000" pitchFamily="2" charset="2"/>
              <a:buChar char="ü"/>
            </a:pPr>
            <a:endParaRPr sz="2400" dirty="0"/>
          </a:p>
          <a:p>
            <a:pPr marL="650875" indent="-638810">
              <a:buFont typeface="Wingdings" panose="05000000000000000000" pitchFamily="2" charset="2"/>
              <a:buChar char="ü"/>
              <a:tabLst>
                <a:tab pos="650875" algn="l"/>
                <a:tab pos="651510" algn="l"/>
              </a:tabLst>
            </a:pPr>
            <a:r>
              <a:rPr sz="2400" spc="-10" dirty="0"/>
              <a:t>Money</a:t>
            </a:r>
            <a:r>
              <a:rPr sz="2400" spc="15" dirty="0"/>
              <a:t> </a:t>
            </a:r>
            <a:r>
              <a:rPr sz="2400" spc="-15" dirty="0"/>
              <a:t>lenders</a:t>
            </a:r>
          </a:p>
          <a:p>
            <a:pPr marL="342900" indent="-342900">
              <a:spcBef>
                <a:spcPts val="25"/>
              </a:spcBef>
              <a:buFont typeface="Wingdings" panose="05000000000000000000" pitchFamily="2" charset="2"/>
              <a:buChar char="ü"/>
            </a:pPr>
            <a:endParaRPr sz="2400" dirty="0"/>
          </a:p>
          <a:p>
            <a:pPr marL="650875" indent="-638810">
              <a:buFont typeface="Wingdings" panose="05000000000000000000" pitchFamily="2" charset="2"/>
              <a:buChar char="ü"/>
              <a:tabLst>
                <a:tab pos="650875" algn="l"/>
                <a:tab pos="651510" algn="l"/>
              </a:tabLst>
            </a:pPr>
            <a:r>
              <a:rPr sz="2400" spc="-15" dirty="0"/>
              <a:t>Unregulated</a:t>
            </a:r>
            <a:r>
              <a:rPr sz="2400" spc="-35" dirty="0"/>
              <a:t> </a:t>
            </a:r>
            <a:r>
              <a:rPr sz="2400" spc="-10" dirty="0"/>
              <a:t>Intermedi</a:t>
            </a:r>
            <a:r>
              <a:rPr lang="en-US" sz="2400" spc="-10" dirty="0"/>
              <a:t>aries</a:t>
            </a:r>
            <a:endParaRPr sz="2400" spc="-10" dirty="0"/>
          </a:p>
        </p:txBody>
      </p:sp>
      <p:sp>
        <p:nvSpPr>
          <p:cNvPr id="5" name="object 5"/>
          <p:cNvSpPr/>
          <p:nvPr/>
        </p:nvSpPr>
        <p:spPr>
          <a:xfrm>
            <a:off x="7162801" y="1371601"/>
            <a:ext cx="3428999" cy="3657597"/>
          </a:xfrm>
          <a:prstGeom prst="rect">
            <a:avLst/>
          </a:prstGeom>
          <a:blipFill>
            <a:blip r:embed="rId2" cstate="print"/>
            <a:stretch>
              <a:fillRect/>
            </a:stretch>
          </a:blipFill>
        </p:spPr>
        <p:txBody>
          <a:bodyPr wrap="square" lIns="0" tIns="0" rIns="0" bIns="0" rtlCol="0"/>
          <a:lstStyle/>
          <a:p>
            <a:endParaRPr/>
          </a:p>
        </p:txBody>
      </p:sp>
      <p:sp>
        <p:nvSpPr>
          <p:cNvPr id="6" name="Rounded Rectangle 5"/>
          <p:cNvSpPr/>
          <p:nvPr/>
        </p:nvSpPr>
        <p:spPr>
          <a:xfrm>
            <a:off x="3465021" y="0"/>
            <a:ext cx="5303520"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spc="-5" dirty="0"/>
              <a:t>UNORGANISED</a:t>
            </a:r>
            <a:r>
              <a:rPr lang="en-IN" sz="3200" spc="-85" dirty="0"/>
              <a:t> </a:t>
            </a:r>
            <a:r>
              <a:rPr lang="en-IN" sz="3200" spc="-25" dirty="0"/>
              <a:t>SECTOR</a:t>
            </a:r>
            <a:endParaRPr lang="en-IN" sz="3200" b="1" dirty="0"/>
          </a:p>
        </p:txBody>
      </p:sp>
    </p:spTree>
    <p:extLst>
      <p:ext uri="{BB962C8B-B14F-4D97-AF65-F5344CB8AC3E}">
        <p14:creationId xmlns:p14="http://schemas.microsoft.com/office/powerpoint/2010/main" val="7486107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58981" y="706582"/>
            <a:ext cx="10429703"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object 2"/>
          <p:cNvSpPr txBox="1"/>
          <p:nvPr/>
        </p:nvSpPr>
        <p:spPr>
          <a:xfrm>
            <a:off x="1981201" y="1828800"/>
            <a:ext cx="8086725" cy="3336170"/>
          </a:xfrm>
          <a:prstGeom prst="rect">
            <a:avLst/>
          </a:prstGeom>
        </p:spPr>
        <p:txBody>
          <a:bodyPr vert="horz" wrap="square" lIns="0" tIns="12065" rIns="0" bIns="0" rtlCol="0">
            <a:spAutoFit/>
          </a:bodyPr>
          <a:lstStyle/>
          <a:p>
            <a:pPr marL="355600" marR="81280" indent="-342900">
              <a:lnSpc>
                <a:spcPct val="150000"/>
              </a:lnSpc>
              <a:spcBef>
                <a:spcPts val="95"/>
              </a:spcBef>
              <a:buSzPct val="96428"/>
              <a:buFont typeface="Wingdings" panose="05000000000000000000" pitchFamily="2" charset="2"/>
              <a:buChar char="ü"/>
              <a:tabLst>
                <a:tab pos="330200" algn="l"/>
              </a:tabLst>
            </a:pPr>
            <a:r>
              <a:rPr sz="2400" spc="-20" dirty="0">
                <a:latin typeface="Calibri"/>
                <a:cs typeface="Calibri"/>
              </a:rPr>
              <a:t>Private </a:t>
            </a:r>
            <a:r>
              <a:rPr sz="2400" spc="-10" dirty="0">
                <a:latin typeface="Calibri"/>
                <a:cs typeface="Calibri"/>
              </a:rPr>
              <a:t>firms that </a:t>
            </a:r>
            <a:r>
              <a:rPr sz="2400" spc="-15" dirty="0">
                <a:latin typeface="Calibri"/>
                <a:cs typeface="Calibri"/>
              </a:rPr>
              <a:t>receive </a:t>
            </a:r>
            <a:r>
              <a:rPr sz="2400" spc="-5" dirty="0">
                <a:latin typeface="Calibri"/>
                <a:cs typeface="Calibri"/>
              </a:rPr>
              <a:t>deposits and </a:t>
            </a:r>
            <a:r>
              <a:rPr sz="2400" spc="-10" dirty="0">
                <a:latin typeface="Calibri"/>
                <a:cs typeface="Calibri"/>
              </a:rPr>
              <a:t>give </a:t>
            </a:r>
            <a:r>
              <a:rPr sz="2400" spc="-5" dirty="0">
                <a:latin typeface="Calibri"/>
                <a:cs typeface="Calibri"/>
              </a:rPr>
              <a:t>loans and  </a:t>
            </a:r>
            <a:r>
              <a:rPr sz="2400" spc="-15" dirty="0">
                <a:latin typeface="Calibri"/>
                <a:cs typeface="Calibri"/>
              </a:rPr>
              <a:t>thereby </a:t>
            </a:r>
            <a:r>
              <a:rPr sz="2400" spc="-25" dirty="0">
                <a:latin typeface="Calibri"/>
                <a:cs typeface="Calibri"/>
              </a:rPr>
              <a:t>operate </a:t>
            </a:r>
            <a:r>
              <a:rPr sz="2400" spc="-5" dirty="0">
                <a:latin typeface="Calibri"/>
                <a:cs typeface="Calibri"/>
              </a:rPr>
              <a:t>as</a:t>
            </a:r>
            <a:r>
              <a:rPr sz="2400" spc="35" dirty="0">
                <a:latin typeface="Calibri"/>
                <a:cs typeface="Calibri"/>
              </a:rPr>
              <a:t> </a:t>
            </a:r>
            <a:r>
              <a:rPr sz="2400" spc="-15" dirty="0">
                <a:latin typeface="Calibri"/>
                <a:cs typeface="Calibri"/>
              </a:rPr>
              <a:t>banks</a:t>
            </a:r>
            <a:endParaRPr sz="2400" dirty="0">
              <a:latin typeface="Times New Roman"/>
              <a:cs typeface="Times New Roman"/>
            </a:endParaRPr>
          </a:p>
          <a:p>
            <a:pPr marL="355600" marR="817244" indent="-342900">
              <a:lnSpc>
                <a:spcPct val="150000"/>
              </a:lnSpc>
              <a:spcBef>
                <a:spcPts val="5"/>
              </a:spcBef>
              <a:buSzPct val="96428"/>
              <a:buFont typeface="Wingdings" panose="05000000000000000000" pitchFamily="2" charset="2"/>
              <a:buChar char="ü"/>
              <a:tabLst>
                <a:tab pos="330200" algn="l"/>
              </a:tabLst>
            </a:pPr>
            <a:r>
              <a:rPr sz="2400" spc="-5" dirty="0">
                <a:latin typeface="Calibri"/>
                <a:cs typeface="Calibri"/>
              </a:rPr>
              <a:t>As activities </a:t>
            </a:r>
            <a:r>
              <a:rPr sz="2400" spc="-20" dirty="0">
                <a:latin typeface="Calibri"/>
                <a:cs typeface="Calibri"/>
              </a:rPr>
              <a:t>are </a:t>
            </a:r>
            <a:r>
              <a:rPr sz="2400" spc="-10" dirty="0">
                <a:latin typeface="Calibri"/>
                <a:cs typeface="Calibri"/>
              </a:rPr>
              <a:t>not </a:t>
            </a:r>
            <a:r>
              <a:rPr sz="2400" spc="-15" dirty="0">
                <a:latin typeface="Calibri"/>
                <a:cs typeface="Calibri"/>
              </a:rPr>
              <a:t>regulated properly </a:t>
            </a:r>
            <a:r>
              <a:rPr sz="2400" spc="-20" dirty="0">
                <a:latin typeface="Calibri"/>
                <a:cs typeface="Calibri"/>
              </a:rPr>
              <a:t>,they are  unorganized</a:t>
            </a:r>
            <a:r>
              <a:rPr sz="2400" spc="-5" dirty="0">
                <a:latin typeface="Calibri"/>
                <a:cs typeface="Calibri"/>
              </a:rPr>
              <a:t> </a:t>
            </a:r>
            <a:r>
              <a:rPr sz="2400" spc="-10" dirty="0">
                <a:latin typeface="Calibri"/>
                <a:cs typeface="Calibri"/>
              </a:rPr>
              <a:t>segment</a:t>
            </a:r>
            <a:endParaRPr sz="2400" dirty="0">
              <a:latin typeface="Times New Roman"/>
              <a:cs typeface="Times New Roman"/>
            </a:endParaRPr>
          </a:p>
          <a:p>
            <a:pPr marL="355600" marR="5080" indent="-342900">
              <a:lnSpc>
                <a:spcPct val="150000"/>
              </a:lnSpc>
              <a:buSzPct val="96428"/>
              <a:buFont typeface="Wingdings" panose="05000000000000000000" pitchFamily="2" charset="2"/>
              <a:buChar char="ü"/>
              <a:tabLst>
                <a:tab pos="330200" algn="l"/>
              </a:tabLst>
            </a:pPr>
            <a:r>
              <a:rPr sz="2400" spc="-15" dirty="0">
                <a:latin typeface="Calibri"/>
                <a:cs typeface="Calibri"/>
              </a:rPr>
              <a:t>Broadly </a:t>
            </a:r>
            <a:r>
              <a:rPr sz="2400" spc="-5" dirty="0">
                <a:latin typeface="Calibri"/>
                <a:cs typeface="Calibri"/>
              </a:rPr>
              <a:t>classified </a:t>
            </a:r>
            <a:r>
              <a:rPr sz="2400" spc="-20" dirty="0">
                <a:latin typeface="Calibri"/>
                <a:cs typeface="Calibri"/>
              </a:rPr>
              <a:t>into </a:t>
            </a:r>
            <a:r>
              <a:rPr sz="2400" spc="-5" dirty="0">
                <a:latin typeface="Calibri"/>
                <a:cs typeface="Calibri"/>
              </a:rPr>
              <a:t>4 </a:t>
            </a:r>
            <a:r>
              <a:rPr sz="2400" spc="-15" dirty="0">
                <a:latin typeface="Calibri"/>
                <a:cs typeface="Calibri"/>
              </a:rPr>
              <a:t>groups- </a:t>
            </a:r>
            <a:r>
              <a:rPr sz="2400" spc="-45" dirty="0">
                <a:latin typeface="Calibri"/>
                <a:cs typeface="Calibri"/>
              </a:rPr>
              <a:t>GUJ</a:t>
            </a:r>
            <a:r>
              <a:rPr lang="en-US" sz="2400" spc="-45" dirty="0">
                <a:latin typeface="Calibri"/>
                <a:cs typeface="Calibri"/>
              </a:rPr>
              <a:t>A</a:t>
            </a:r>
            <a:r>
              <a:rPr sz="2400" spc="-45" dirty="0">
                <a:latin typeface="Calibri"/>
                <a:cs typeface="Calibri"/>
              </a:rPr>
              <a:t>RATI  </a:t>
            </a:r>
            <a:r>
              <a:rPr sz="2400" spc="-40" dirty="0">
                <a:latin typeface="Calibri"/>
                <a:cs typeface="Calibri"/>
              </a:rPr>
              <a:t>SHROFFS,</a:t>
            </a:r>
            <a:r>
              <a:rPr lang="en-US" sz="2400" spc="-40" dirty="0">
                <a:latin typeface="Calibri"/>
                <a:cs typeface="Calibri"/>
              </a:rPr>
              <a:t> </a:t>
            </a:r>
            <a:r>
              <a:rPr sz="2400" spc="-40" dirty="0">
                <a:latin typeface="Calibri"/>
                <a:cs typeface="Calibri"/>
              </a:rPr>
              <a:t>MULTANI </a:t>
            </a:r>
            <a:r>
              <a:rPr sz="2400" spc="-10" dirty="0">
                <a:latin typeface="Calibri"/>
                <a:cs typeface="Calibri"/>
              </a:rPr>
              <a:t>SHROFFS,</a:t>
            </a:r>
            <a:r>
              <a:rPr lang="en-US" sz="2400" spc="-10" dirty="0">
                <a:latin typeface="Calibri"/>
                <a:cs typeface="Calibri"/>
              </a:rPr>
              <a:t> </a:t>
            </a:r>
            <a:r>
              <a:rPr sz="2400" spc="-10" dirty="0">
                <a:latin typeface="Calibri"/>
                <a:cs typeface="Calibri"/>
              </a:rPr>
              <a:t>CHETTIARS </a:t>
            </a:r>
            <a:r>
              <a:rPr lang="en-US" sz="2400" spc="-10" dirty="0">
                <a:latin typeface="Calibri"/>
                <a:cs typeface="Calibri"/>
              </a:rPr>
              <a:t> </a:t>
            </a:r>
            <a:r>
              <a:rPr sz="2400" spc="-5" dirty="0">
                <a:latin typeface="Calibri"/>
                <a:cs typeface="Calibri"/>
              </a:rPr>
              <a:t>AND </a:t>
            </a:r>
            <a:r>
              <a:rPr sz="2400" spc="-30" dirty="0">
                <a:latin typeface="Calibri"/>
                <a:cs typeface="Calibri"/>
              </a:rPr>
              <a:t>MARWARI  </a:t>
            </a:r>
            <a:r>
              <a:rPr sz="2400" spc="-85" dirty="0">
                <a:latin typeface="Calibri"/>
                <a:cs typeface="Calibri"/>
              </a:rPr>
              <a:t>KAYAS</a:t>
            </a:r>
            <a:endParaRPr sz="2400" dirty="0">
              <a:latin typeface="Calibri"/>
              <a:cs typeface="Calibri"/>
            </a:endParaRPr>
          </a:p>
        </p:txBody>
      </p:sp>
      <p:sp>
        <p:nvSpPr>
          <p:cNvPr id="4" name="Rounded Rectangle 3"/>
          <p:cNvSpPr/>
          <p:nvPr/>
        </p:nvSpPr>
        <p:spPr>
          <a:xfrm>
            <a:off x="3465021" y="0"/>
            <a:ext cx="5303520"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fontAlgn="base"/>
            <a:r>
              <a:rPr lang="en-IN" sz="3200" spc="-15" dirty="0"/>
              <a:t>INDIGENEOUS</a:t>
            </a:r>
            <a:r>
              <a:rPr lang="en-IN" sz="3200" spc="-55" dirty="0"/>
              <a:t>   </a:t>
            </a:r>
            <a:r>
              <a:rPr lang="en-IN" sz="3200" spc="-10" dirty="0"/>
              <a:t>BANKS</a:t>
            </a:r>
            <a:endParaRPr lang="en-IN" sz="3200" b="1" dirty="0"/>
          </a:p>
        </p:txBody>
      </p:sp>
    </p:spTree>
    <p:extLst>
      <p:ext uri="{BB962C8B-B14F-4D97-AF65-F5344CB8AC3E}">
        <p14:creationId xmlns:p14="http://schemas.microsoft.com/office/powerpoint/2010/main" val="41212098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00792" y="681642"/>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3" name="object 3"/>
          <p:cNvSpPr txBox="1"/>
          <p:nvPr/>
        </p:nvSpPr>
        <p:spPr>
          <a:xfrm>
            <a:off x="2669844" y="1828800"/>
            <a:ext cx="6016956" cy="2597506"/>
          </a:xfrm>
          <a:prstGeom prst="rect">
            <a:avLst/>
          </a:prstGeom>
        </p:spPr>
        <p:txBody>
          <a:bodyPr vert="horz" wrap="square" lIns="0" tIns="12065" rIns="0" bIns="0" rtlCol="0">
            <a:spAutoFit/>
          </a:bodyPr>
          <a:lstStyle/>
          <a:p>
            <a:pPr marL="12700">
              <a:spcBef>
                <a:spcPts val="95"/>
              </a:spcBef>
            </a:pPr>
            <a:r>
              <a:rPr sz="2400" spc="-15" dirty="0">
                <a:latin typeface="Times New Roman" panose="02020603050405020304" pitchFamily="18" charset="0"/>
                <a:cs typeface="Times New Roman" panose="02020603050405020304" pitchFamily="18" charset="0"/>
              </a:rPr>
              <a:t>Broadly </a:t>
            </a:r>
            <a:r>
              <a:rPr sz="2400" spc="-5" dirty="0">
                <a:latin typeface="Times New Roman" panose="02020603050405020304" pitchFamily="18" charset="0"/>
                <a:cs typeface="Times New Roman" panose="02020603050405020304" pitchFamily="18" charset="0"/>
              </a:rPr>
              <a:t>classified </a:t>
            </a:r>
            <a:r>
              <a:rPr sz="2400" spc="-20" dirty="0">
                <a:latin typeface="Times New Roman" panose="02020603050405020304" pitchFamily="18" charset="0"/>
                <a:cs typeface="Times New Roman" panose="02020603050405020304" pitchFamily="18" charset="0"/>
              </a:rPr>
              <a:t>into </a:t>
            </a:r>
            <a:r>
              <a:rPr sz="2400" spc="-5" dirty="0">
                <a:latin typeface="Times New Roman" panose="02020603050405020304" pitchFamily="18" charset="0"/>
                <a:cs typeface="Times New Roman" panose="02020603050405020304" pitchFamily="18" charset="0"/>
              </a:rPr>
              <a:t>3</a:t>
            </a:r>
            <a:r>
              <a:rPr sz="2400" spc="5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categories:</a:t>
            </a:r>
            <a:endParaRPr sz="2400" dirty="0">
              <a:latin typeface="Times New Roman" panose="02020603050405020304" pitchFamily="18" charset="0"/>
              <a:cs typeface="Times New Roman" panose="02020603050405020304" pitchFamily="18" charset="0"/>
            </a:endParaRPr>
          </a:p>
          <a:p>
            <a:pPr>
              <a:spcBef>
                <a:spcPts val="25"/>
              </a:spcBef>
            </a:pPr>
            <a:endParaRPr sz="2400" dirty="0">
              <a:latin typeface="Times New Roman" panose="02020603050405020304" pitchFamily="18" charset="0"/>
              <a:cs typeface="Times New Roman" panose="02020603050405020304" pitchFamily="18" charset="0"/>
            </a:endParaRPr>
          </a:p>
          <a:p>
            <a:pPr marL="354965" indent="-342900">
              <a:buSzPct val="96428"/>
              <a:buFont typeface="Wingdings" panose="05000000000000000000" pitchFamily="2" charset="2"/>
              <a:buChar char="ü"/>
              <a:tabLst>
                <a:tab pos="330200" algn="l"/>
              </a:tabLst>
            </a:pPr>
            <a:r>
              <a:rPr sz="2400" spc="-10" dirty="0">
                <a:latin typeface="Times New Roman" panose="02020603050405020304" pitchFamily="18" charset="0"/>
                <a:cs typeface="Times New Roman" panose="02020603050405020304" pitchFamily="18" charset="0"/>
              </a:rPr>
              <a:t>PROFESSIONAL</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MONEY</a:t>
            </a:r>
            <a:r>
              <a:rPr lang="en-US"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LENDERS</a:t>
            </a:r>
            <a:endParaRPr sz="2400" dirty="0">
              <a:latin typeface="Times New Roman" panose="02020603050405020304" pitchFamily="18" charset="0"/>
              <a:cs typeface="Times New Roman" panose="02020603050405020304" pitchFamily="18" charset="0"/>
            </a:endParaRPr>
          </a:p>
          <a:p>
            <a:pPr marL="342900" indent="-342900">
              <a:spcBef>
                <a:spcPts val="25"/>
              </a:spcBef>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354965" indent="-342900">
              <a:buSzPct val="96428"/>
              <a:buFont typeface="Wingdings" panose="05000000000000000000" pitchFamily="2" charset="2"/>
              <a:buChar char="ü"/>
              <a:tabLst>
                <a:tab pos="330200" algn="l"/>
              </a:tabLst>
            </a:pPr>
            <a:r>
              <a:rPr sz="2400" spc="-5" dirty="0">
                <a:latin typeface="Times New Roman" panose="02020603050405020304" pitchFamily="18" charset="0"/>
                <a:cs typeface="Times New Roman" panose="02020603050405020304" pitchFamily="18" charset="0"/>
              </a:rPr>
              <a:t>ITINERANT</a:t>
            </a:r>
            <a:r>
              <a:rPr sz="2400" spc="-10" dirty="0">
                <a:latin typeface="Times New Roman" panose="02020603050405020304" pitchFamily="18" charset="0"/>
                <a:cs typeface="Times New Roman" panose="02020603050405020304" pitchFamily="18" charset="0"/>
              </a:rPr>
              <a:t> MONEY</a:t>
            </a:r>
            <a:r>
              <a:rPr lang="en-US"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LENDERS</a:t>
            </a:r>
            <a:endParaRPr sz="2400" dirty="0">
              <a:latin typeface="Times New Roman" panose="02020603050405020304" pitchFamily="18" charset="0"/>
              <a:cs typeface="Times New Roman" panose="02020603050405020304" pitchFamily="18" charset="0"/>
            </a:endParaRPr>
          </a:p>
          <a:p>
            <a:pPr marL="342900" indent="-342900">
              <a:spcBef>
                <a:spcPts val="25"/>
              </a:spcBef>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354965" indent="-342900">
              <a:buSzPct val="96428"/>
              <a:buFont typeface="Wingdings" panose="05000000000000000000" pitchFamily="2" charset="2"/>
              <a:buChar char="ü"/>
              <a:tabLst>
                <a:tab pos="330200" algn="l"/>
              </a:tabLst>
            </a:pPr>
            <a:r>
              <a:rPr sz="2400" spc="-10" dirty="0">
                <a:latin typeface="Times New Roman" panose="02020603050405020304" pitchFamily="18" charset="0"/>
                <a:cs typeface="Times New Roman" panose="02020603050405020304" pitchFamily="18" charset="0"/>
              </a:rPr>
              <a:t>NON PROFESSIONAL</a:t>
            </a:r>
            <a:r>
              <a:rPr sz="2400" spc="-2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MONEY</a:t>
            </a:r>
            <a:r>
              <a:rPr lang="en-US"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LENDERS</a:t>
            </a:r>
            <a:endParaRPr sz="2400"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3465021" y="0"/>
            <a:ext cx="5303520"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spc="-10" dirty="0"/>
              <a:t>MONEY    LENDERS</a:t>
            </a:r>
            <a:endParaRPr lang="en-IN" sz="3200" b="1" dirty="0"/>
          </a:p>
        </p:txBody>
      </p:sp>
    </p:spTree>
    <p:extLst>
      <p:ext uri="{BB962C8B-B14F-4D97-AF65-F5344CB8AC3E}">
        <p14:creationId xmlns:p14="http://schemas.microsoft.com/office/powerpoint/2010/main" val="264499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84167" y="680878"/>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object 2"/>
          <p:cNvSpPr txBox="1"/>
          <p:nvPr/>
        </p:nvSpPr>
        <p:spPr>
          <a:xfrm>
            <a:off x="2822194" y="1686813"/>
            <a:ext cx="7007606" cy="3890168"/>
          </a:xfrm>
          <a:prstGeom prst="rect">
            <a:avLst/>
          </a:prstGeom>
        </p:spPr>
        <p:txBody>
          <a:bodyPr vert="horz" wrap="square" lIns="0" tIns="12065" rIns="0" bIns="0" rtlCol="0">
            <a:spAutoFit/>
          </a:bodyPr>
          <a:lstStyle/>
          <a:p>
            <a:pPr marL="355600" marR="22860" indent="-342900">
              <a:lnSpc>
                <a:spcPct val="150000"/>
              </a:lnSpc>
              <a:spcBef>
                <a:spcPts val="95"/>
              </a:spcBef>
              <a:buFont typeface="Wingdings" panose="05000000000000000000" pitchFamily="2" charset="2"/>
              <a:buChar char="ü"/>
              <a:tabLst>
                <a:tab pos="355600" algn="l"/>
              </a:tabLst>
            </a:pPr>
            <a:r>
              <a:rPr sz="2400" u="heavy" spc="-10" dirty="0">
                <a:uFill>
                  <a:solidFill>
                    <a:srgbClr val="000000"/>
                  </a:solidFill>
                </a:uFill>
                <a:latin typeface="Times New Roman" panose="02020603050405020304" pitchFamily="18" charset="0"/>
                <a:cs typeface="Times New Roman" panose="02020603050405020304" pitchFamily="18" charset="0"/>
              </a:rPr>
              <a:t>FINANCE </a:t>
            </a:r>
            <a:r>
              <a:rPr sz="2400" u="heavy" spc="-30" dirty="0">
                <a:uFill>
                  <a:solidFill>
                    <a:srgbClr val="000000"/>
                  </a:solidFill>
                </a:uFill>
                <a:latin typeface="Times New Roman" panose="02020603050405020304" pitchFamily="18" charset="0"/>
                <a:cs typeface="Times New Roman" panose="02020603050405020304" pitchFamily="18" charset="0"/>
              </a:rPr>
              <a:t>COMPANIES-</a:t>
            </a:r>
            <a:r>
              <a:rPr sz="2400" spc="-3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gives </a:t>
            </a:r>
            <a:r>
              <a:rPr sz="2400" spc="-5" dirty="0">
                <a:latin typeface="Times New Roman" panose="02020603050405020304" pitchFamily="18" charset="0"/>
                <a:cs typeface="Times New Roman" panose="02020603050405020304" pitchFamily="18" charset="0"/>
              </a:rPr>
              <a:t>loans </a:t>
            </a:r>
            <a:r>
              <a:rPr sz="2400" spc="-20" dirty="0">
                <a:latin typeface="Times New Roman" panose="02020603050405020304" pitchFamily="18" charset="0"/>
                <a:cs typeface="Times New Roman" panose="02020603050405020304" pitchFamily="18" charset="0"/>
              </a:rPr>
              <a:t>to </a:t>
            </a:r>
            <a:r>
              <a:rPr sz="2400" spc="-5" dirty="0">
                <a:latin typeface="Times New Roman" panose="02020603050405020304" pitchFamily="18" charset="0"/>
                <a:cs typeface="Times New Roman" panose="02020603050405020304" pitchFamily="18" charset="0"/>
              </a:rPr>
              <a:t>the  </a:t>
            </a:r>
            <a:r>
              <a:rPr sz="2400" spc="-15" dirty="0">
                <a:latin typeface="Times New Roman" panose="02020603050405020304" pitchFamily="18" charset="0"/>
                <a:cs typeface="Times New Roman" panose="02020603050405020304" pitchFamily="18" charset="0"/>
              </a:rPr>
              <a:t>retailers,</a:t>
            </a:r>
            <a:r>
              <a:rPr lang="en-US" sz="2400" spc="-1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artisans </a:t>
            </a:r>
            <a:r>
              <a:rPr sz="2400" spc="-5" dirty="0">
                <a:latin typeface="Times New Roman" panose="02020603050405020304" pitchFamily="18" charset="0"/>
                <a:cs typeface="Times New Roman" panose="02020603050405020304" pitchFamily="18" charset="0"/>
              </a:rPr>
              <a:t>and other </a:t>
            </a:r>
            <a:r>
              <a:rPr sz="2400" spc="-10" dirty="0">
                <a:latin typeface="Times New Roman" panose="02020603050405020304" pitchFamily="18" charset="0"/>
                <a:cs typeface="Times New Roman" panose="02020603050405020304" pitchFamily="18" charset="0"/>
              </a:rPr>
              <a:t>self-employed  </a:t>
            </a:r>
            <a:r>
              <a:rPr sz="2400" spc="-15" dirty="0">
                <a:latin typeface="Times New Roman" panose="02020603050405020304" pitchFamily="18" charset="0"/>
                <a:cs typeface="Times New Roman" panose="02020603050405020304" pitchFamily="18" charset="0"/>
              </a:rPr>
              <a:t>persons</a:t>
            </a:r>
            <a:endParaRPr sz="2400" dirty="0">
              <a:latin typeface="Times New Roman" panose="02020603050405020304" pitchFamily="18" charset="0"/>
              <a:cs typeface="Times New Roman" panose="02020603050405020304" pitchFamily="18" charset="0"/>
            </a:endParaRPr>
          </a:p>
          <a:p>
            <a:pPr marL="342900" indent="-342900">
              <a:lnSpc>
                <a:spcPct val="150000"/>
              </a:lnSpc>
              <a:spcBef>
                <a:spcPts val="25"/>
              </a:spcBef>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354965" indent="-342900">
              <a:lnSpc>
                <a:spcPct val="150000"/>
              </a:lnSpc>
              <a:spcBef>
                <a:spcPts val="5"/>
              </a:spcBef>
              <a:buFont typeface="Wingdings" panose="05000000000000000000" pitchFamily="2" charset="2"/>
              <a:buChar char="ü"/>
              <a:tabLst>
                <a:tab pos="554990" algn="l"/>
                <a:tab pos="555625" algn="l"/>
              </a:tabLst>
            </a:pPr>
            <a:r>
              <a:rPr sz="2400" u="heavy" spc="-10" dirty="0">
                <a:uFill>
                  <a:solidFill>
                    <a:srgbClr val="000000"/>
                  </a:solidFill>
                </a:uFill>
                <a:latin typeface="Times New Roman" panose="02020603050405020304" pitchFamily="18" charset="0"/>
                <a:cs typeface="Times New Roman" panose="02020603050405020304" pitchFamily="18" charset="0"/>
              </a:rPr>
              <a:t>CHIT </a:t>
            </a:r>
            <a:r>
              <a:rPr sz="2400" u="heavy" spc="-5" dirty="0">
                <a:uFill>
                  <a:solidFill>
                    <a:srgbClr val="000000"/>
                  </a:solidFill>
                </a:uFill>
                <a:latin typeface="Times New Roman" panose="02020603050405020304" pitchFamily="18" charset="0"/>
                <a:cs typeface="Times New Roman" panose="02020603050405020304" pitchFamily="18" charset="0"/>
              </a:rPr>
              <a:t>FUNDS-</a:t>
            </a:r>
            <a:r>
              <a:rPr sz="2400" spc="-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are </a:t>
            </a:r>
            <a:r>
              <a:rPr sz="2400" spc="-15" dirty="0">
                <a:latin typeface="Times New Roman" panose="02020603050405020304" pitchFamily="18" charset="0"/>
                <a:cs typeface="Times New Roman" panose="02020603050405020304" pitchFamily="18" charset="0"/>
              </a:rPr>
              <a:t>saving</a:t>
            </a:r>
            <a:r>
              <a:rPr sz="2400" spc="6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institutions</a:t>
            </a:r>
            <a:endParaRPr sz="2400" dirty="0">
              <a:latin typeface="Times New Roman" panose="02020603050405020304" pitchFamily="18" charset="0"/>
              <a:cs typeface="Times New Roman" panose="02020603050405020304" pitchFamily="18" charset="0"/>
            </a:endParaRPr>
          </a:p>
          <a:p>
            <a:pPr marL="342900" indent="-342900">
              <a:lnSpc>
                <a:spcPct val="150000"/>
              </a:lnSpc>
              <a:spcBef>
                <a:spcPts val="25"/>
              </a:spcBef>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355600" marR="5080" indent="-342900">
              <a:lnSpc>
                <a:spcPct val="150000"/>
              </a:lnSpc>
              <a:buFont typeface="Wingdings" panose="05000000000000000000" pitchFamily="2" charset="2"/>
              <a:buChar char="ü"/>
              <a:tabLst>
                <a:tab pos="631190" algn="l"/>
                <a:tab pos="631825" algn="l"/>
              </a:tabLst>
            </a:pPr>
            <a:r>
              <a:rPr sz="2400" u="heavy" spc="-5" dirty="0">
                <a:uFill>
                  <a:solidFill>
                    <a:srgbClr val="000000"/>
                  </a:solidFill>
                </a:uFill>
                <a:latin typeface="Times New Roman" panose="02020603050405020304" pitchFamily="18" charset="0"/>
                <a:cs typeface="Times New Roman" panose="02020603050405020304" pitchFamily="18" charset="0"/>
              </a:rPr>
              <a:t>NIDHIS</a:t>
            </a:r>
            <a:r>
              <a:rPr sz="2400" spc="-5" dirty="0">
                <a:latin typeface="Times New Roman" panose="02020603050405020304" pitchFamily="18" charset="0"/>
                <a:cs typeface="Times New Roman" panose="02020603050405020304" pitchFamily="18" charset="0"/>
              </a:rPr>
              <a:t>- </a:t>
            </a:r>
            <a:r>
              <a:rPr sz="2400" spc="-25" dirty="0">
                <a:latin typeface="Times New Roman" panose="02020603050405020304" pitchFamily="18" charset="0"/>
                <a:cs typeface="Times New Roman" panose="02020603050405020304" pitchFamily="18" charset="0"/>
              </a:rPr>
              <a:t>operate </a:t>
            </a:r>
            <a:r>
              <a:rPr sz="2400" spc="-15" dirty="0">
                <a:latin typeface="Times New Roman" panose="02020603050405020304" pitchFamily="18" charset="0"/>
                <a:cs typeface="Times New Roman" panose="02020603050405020304" pitchFamily="18" charset="0"/>
              </a:rPr>
              <a:t>in unregulated </a:t>
            </a:r>
            <a:r>
              <a:rPr sz="2400" spc="-10" dirty="0">
                <a:latin typeface="Times New Roman" panose="02020603050405020304" pitchFamily="18" charset="0"/>
                <a:cs typeface="Times New Roman" panose="02020603050405020304" pitchFamily="18" charset="0"/>
              </a:rPr>
              <a:t>credit  </a:t>
            </a:r>
            <a:r>
              <a:rPr sz="2400" spc="-20" dirty="0">
                <a:latin typeface="Times New Roman" panose="02020603050405020304" pitchFamily="18" charset="0"/>
                <a:cs typeface="Times New Roman" panose="02020603050405020304" pitchFamily="18" charset="0"/>
              </a:rPr>
              <a:t>market </a:t>
            </a:r>
            <a:r>
              <a:rPr sz="2400" spc="-5" dirty="0">
                <a:latin typeface="Times New Roman" panose="02020603050405020304" pitchFamily="18" charset="0"/>
                <a:cs typeface="Times New Roman" panose="02020603050405020304" pitchFamily="18" charset="0"/>
              </a:rPr>
              <a:t>and </a:t>
            </a:r>
            <a:r>
              <a:rPr sz="2400" spc="-20" dirty="0">
                <a:latin typeface="Times New Roman" panose="02020603050405020304" pitchFamily="18" charset="0"/>
                <a:cs typeface="Times New Roman" panose="02020603050405020304" pitchFamily="18" charset="0"/>
              </a:rPr>
              <a:t>provide </a:t>
            </a:r>
            <a:r>
              <a:rPr sz="2400" spc="-5" dirty="0">
                <a:latin typeface="Times New Roman" panose="02020603050405020304" pitchFamily="18" charset="0"/>
                <a:cs typeface="Times New Roman" panose="02020603050405020304" pitchFamily="18" charset="0"/>
              </a:rPr>
              <a:t>kind of mutual </a:t>
            </a:r>
            <a:r>
              <a:rPr sz="2400" spc="-15" dirty="0">
                <a:latin typeface="Times New Roman" panose="02020603050405020304" pitchFamily="18" charset="0"/>
                <a:cs typeface="Times New Roman" panose="02020603050405020304" pitchFamily="18" charset="0"/>
              </a:rPr>
              <a:t>benefit  </a:t>
            </a:r>
            <a:r>
              <a:rPr sz="2400" spc="-10" dirty="0">
                <a:latin typeface="Times New Roman" panose="02020603050405020304" pitchFamily="18" charset="0"/>
                <a:cs typeface="Times New Roman" panose="02020603050405020304" pitchFamily="18" charset="0"/>
              </a:rPr>
              <a:t>funds</a:t>
            </a:r>
            <a:endParaRPr sz="2400"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2842260" y="0"/>
            <a:ext cx="6515792"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IN" sz="3200" spc="-30" dirty="0"/>
              <a:t>UNREGULATED</a:t>
            </a:r>
            <a:r>
              <a:rPr lang="en-IN" sz="3200" spc="-90" dirty="0"/>
              <a:t> </a:t>
            </a:r>
            <a:r>
              <a:rPr lang="en-IN" sz="3200" spc="-5" dirty="0"/>
              <a:t>INTERMEDIARIES</a:t>
            </a:r>
            <a:endParaRPr lang="en-IN" sz="3200" b="1" dirty="0"/>
          </a:p>
        </p:txBody>
      </p:sp>
    </p:spTree>
    <p:extLst>
      <p:ext uri="{BB962C8B-B14F-4D97-AF65-F5344CB8AC3E}">
        <p14:creationId xmlns:p14="http://schemas.microsoft.com/office/powerpoint/2010/main" val="20859337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75607" y="53262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lnSpc>
                <a:spcPts val="1920"/>
              </a:lnSpc>
              <a:spcAft>
                <a:spcPts val="800"/>
              </a:spcAft>
            </a:pPr>
            <a:r>
              <a:rPr lang="en-IN"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rPr>
              <a:t>Financial market is classified in two types of market</a:t>
            </a: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a:p>
            <a:pPr algn="just" fontAlgn="base">
              <a:lnSpc>
                <a:spcPts val="1920"/>
              </a:lnSpc>
              <a:spcAft>
                <a:spcPts val="800"/>
              </a:spcAft>
            </a:pPr>
            <a:endParaRPr lang="en-US" sz="2800" b="1" dirty="0">
              <a:solidFill>
                <a:srgbClr val="656565"/>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2" name="Rounded Rectangle 1"/>
          <p:cNvSpPr/>
          <p:nvPr/>
        </p:nvSpPr>
        <p:spPr>
          <a:xfrm>
            <a:off x="2768138" y="75421"/>
            <a:ext cx="699100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dirty="0">
                <a:latin typeface="Times New Roman" panose="02020603050405020304" pitchFamily="18" charset="0"/>
                <a:cs typeface="Times New Roman" panose="02020603050405020304" pitchFamily="18" charset="0"/>
              </a:rPr>
              <a:t>KINDS OF FINANCIAL</a:t>
            </a:r>
            <a:r>
              <a:rPr lang="en-IN" sz="3600" spc="-65" dirty="0">
                <a:latin typeface="Times New Roman" panose="02020603050405020304" pitchFamily="18" charset="0"/>
                <a:cs typeface="Times New Roman" panose="02020603050405020304" pitchFamily="18" charset="0"/>
              </a:rPr>
              <a:t> </a:t>
            </a:r>
            <a:r>
              <a:rPr lang="en-IN" sz="3600" dirty="0">
                <a:latin typeface="Times New Roman" panose="02020603050405020304" pitchFamily="18" charset="0"/>
                <a:cs typeface="Times New Roman" panose="02020603050405020304" pitchFamily="18" charset="0"/>
              </a:rPr>
              <a:t>MARKET</a:t>
            </a:r>
          </a:p>
        </p:txBody>
      </p:sp>
      <p:pic>
        <p:nvPicPr>
          <p:cNvPr id="3" name="Picture 2"/>
          <p:cNvPicPr>
            <a:picLocks noChangeAspect="1"/>
          </p:cNvPicPr>
          <p:nvPr/>
        </p:nvPicPr>
        <p:blipFill>
          <a:blip r:embed="rId2"/>
          <a:stretch>
            <a:fillRect/>
          </a:stretch>
        </p:blipFill>
        <p:spPr>
          <a:xfrm>
            <a:off x="3155546" y="1911927"/>
            <a:ext cx="5581650" cy="2992581"/>
          </a:xfrm>
          <a:prstGeom prst="rect">
            <a:avLst/>
          </a:prstGeom>
        </p:spPr>
      </p:pic>
    </p:spTree>
    <p:extLst>
      <p:ext uri="{BB962C8B-B14F-4D97-AF65-F5344CB8AC3E}">
        <p14:creationId xmlns:p14="http://schemas.microsoft.com/office/powerpoint/2010/main" val="37291510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84414" y="606827"/>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marL="571500" indent="-571500" algn="just" fontAlgn="base">
              <a:buFont typeface="Arial" panose="020B0604020202020204" pitchFamily="34" charset="0"/>
              <a:buChar char="•"/>
            </a:pPr>
            <a:r>
              <a:rPr lang="en-IN" sz="3600" dirty="0">
                <a:solidFill>
                  <a:schemeClr val="tx1"/>
                </a:solidFill>
                <a:latin typeface="Times New Roman" panose="02020603050405020304" pitchFamily="18" charset="0"/>
                <a:cs typeface="Times New Roman" panose="02020603050405020304" pitchFamily="18" charset="0"/>
              </a:rPr>
              <a:t>It means a ready market or a short-term market where securities are bought or sold only for a very short duration. </a:t>
            </a:r>
          </a:p>
          <a:p>
            <a:pPr marL="571500" indent="-571500" algn="just" fontAlgn="base">
              <a:buFont typeface="Arial" panose="020B0604020202020204" pitchFamily="34" charset="0"/>
              <a:buChar char="•"/>
            </a:pPr>
            <a:r>
              <a:rPr lang="en-IN" sz="3600" dirty="0">
                <a:solidFill>
                  <a:schemeClr val="tx1"/>
                </a:solidFill>
                <a:latin typeface="Times New Roman" panose="02020603050405020304" pitchFamily="18" charset="0"/>
                <a:cs typeface="Times New Roman" panose="02020603050405020304" pitchFamily="18" charset="0"/>
              </a:rPr>
              <a:t>The tenure usually does not exceed one year thus is considered to be an equivalent to cash only. </a:t>
            </a:r>
          </a:p>
          <a:p>
            <a:pPr marL="571500" indent="-571500" algn="just" fontAlgn="base">
              <a:buFont typeface="Arial" panose="020B0604020202020204" pitchFamily="34" charset="0"/>
              <a:buChar char="•"/>
            </a:pPr>
            <a:r>
              <a:rPr lang="en-IN" sz="3600" dirty="0">
                <a:solidFill>
                  <a:schemeClr val="tx1"/>
                </a:solidFill>
                <a:latin typeface="Times New Roman" panose="02020603050405020304" pitchFamily="18" charset="0"/>
                <a:cs typeface="Times New Roman" panose="02020603050405020304" pitchFamily="18" charset="0"/>
              </a:rPr>
              <a:t>The securities are highly liquid in nature and can be readily converted to the cash. </a:t>
            </a:r>
          </a:p>
          <a:p>
            <a:pPr marL="571500" indent="-571500" algn="just" fontAlgn="base">
              <a:buFont typeface="Arial" panose="020B0604020202020204" pitchFamily="34" charset="0"/>
              <a:buChar char="•"/>
            </a:pPr>
            <a:r>
              <a:rPr lang="en-IN" sz="3600" dirty="0">
                <a:solidFill>
                  <a:schemeClr val="tx1"/>
                </a:solidFill>
                <a:latin typeface="Times New Roman" panose="02020603050405020304" pitchFamily="18" charset="0"/>
                <a:cs typeface="Times New Roman" panose="02020603050405020304" pitchFamily="18" charset="0"/>
              </a:rPr>
              <a:t>The transaction cost is also the minimum.</a:t>
            </a:r>
          </a:p>
        </p:txBody>
      </p:sp>
      <p:sp>
        <p:nvSpPr>
          <p:cNvPr id="3" name="Rounded Rectangle 2"/>
          <p:cNvSpPr/>
          <p:nvPr/>
        </p:nvSpPr>
        <p:spPr>
          <a:xfrm>
            <a:off x="3465021" y="0"/>
            <a:ext cx="5303520"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spc="-10" dirty="0"/>
              <a:t>MONEY </a:t>
            </a:r>
            <a:r>
              <a:rPr lang="en-IN" sz="3200" dirty="0">
                <a:latin typeface="Times New Roman" panose="02020603050405020304" pitchFamily="18" charset="0"/>
                <a:cs typeface="Times New Roman" panose="02020603050405020304" pitchFamily="18" charset="0"/>
              </a:rPr>
              <a:t>MARKET</a:t>
            </a:r>
          </a:p>
        </p:txBody>
      </p:sp>
    </p:spTree>
    <p:extLst>
      <p:ext uri="{BB962C8B-B14F-4D97-AF65-F5344CB8AC3E}">
        <p14:creationId xmlns:p14="http://schemas.microsoft.com/office/powerpoint/2010/main" val="25655849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330036" y="565870"/>
            <a:ext cx="10155382"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object 2"/>
          <p:cNvSpPr txBox="1"/>
          <p:nvPr/>
        </p:nvSpPr>
        <p:spPr>
          <a:xfrm>
            <a:off x="2743200" y="2133601"/>
            <a:ext cx="5073650" cy="3366947"/>
          </a:xfrm>
          <a:prstGeom prst="rect">
            <a:avLst/>
          </a:prstGeom>
        </p:spPr>
        <p:txBody>
          <a:bodyPr vert="horz" wrap="square" lIns="0" tIns="12065" rIns="0" bIns="0" rtlCol="0">
            <a:spAutoFit/>
          </a:bodyPr>
          <a:lstStyle/>
          <a:p>
            <a:pPr marL="469265" indent="-457200">
              <a:spcBef>
                <a:spcPts val="95"/>
              </a:spcBef>
              <a:buSzPct val="96428"/>
              <a:buFont typeface="Wingdings" panose="05000000000000000000" pitchFamily="2" charset="2"/>
              <a:buChar char="ü"/>
              <a:tabLst>
                <a:tab pos="330200" algn="l"/>
              </a:tabLst>
            </a:pPr>
            <a:r>
              <a:rPr sz="2400" spc="-10" dirty="0">
                <a:latin typeface="Times New Roman" panose="02020603050405020304" pitchFamily="18" charset="0"/>
                <a:cs typeface="Times New Roman" panose="02020603050405020304" pitchFamily="18" charset="0"/>
              </a:rPr>
              <a:t>Absence </a:t>
            </a:r>
            <a:r>
              <a:rPr sz="2400" spc="-5"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integration</a:t>
            </a:r>
            <a:endParaRPr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469265" indent="-457200">
              <a:spcBef>
                <a:spcPts val="2035"/>
              </a:spcBef>
              <a:buSzPct val="96428"/>
              <a:buFont typeface="Wingdings" panose="05000000000000000000" pitchFamily="2" charset="2"/>
              <a:buChar char="ü"/>
              <a:tabLst>
                <a:tab pos="330200" algn="l"/>
              </a:tabLst>
            </a:pPr>
            <a:r>
              <a:rPr sz="2400" spc="-15" dirty="0">
                <a:latin typeface="Times New Roman" panose="02020603050405020304" pitchFamily="18" charset="0"/>
                <a:cs typeface="Times New Roman" panose="02020603050405020304" pitchFamily="18" charset="0"/>
              </a:rPr>
              <a:t>Shortage </a:t>
            </a:r>
            <a:r>
              <a:rPr sz="2400" spc="-5" dirty="0">
                <a:latin typeface="Times New Roman" panose="02020603050405020304" pitchFamily="18" charset="0"/>
                <a:cs typeface="Times New Roman" panose="02020603050405020304" pitchFamily="18" charset="0"/>
              </a:rPr>
              <a:t>of </a:t>
            </a:r>
            <a:r>
              <a:rPr sz="2400" spc="-10" dirty="0">
                <a:latin typeface="Times New Roman" panose="02020603050405020304" pitchFamily="18" charset="0"/>
                <a:cs typeface="Times New Roman" panose="02020603050405020304" pitchFamily="18" charset="0"/>
              </a:rPr>
              <a:t>funds</a:t>
            </a:r>
            <a:endParaRPr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469265" indent="-457200">
              <a:spcBef>
                <a:spcPts val="2030"/>
              </a:spcBef>
              <a:buSzPct val="96428"/>
              <a:buFont typeface="Wingdings" panose="05000000000000000000" pitchFamily="2" charset="2"/>
              <a:buChar char="ü"/>
              <a:tabLst>
                <a:tab pos="330200" algn="l"/>
              </a:tabLst>
            </a:pPr>
            <a:r>
              <a:rPr sz="2400" spc="-10" dirty="0">
                <a:latin typeface="Times New Roman" panose="02020603050405020304" pitchFamily="18" charset="0"/>
                <a:cs typeface="Times New Roman" panose="02020603050405020304" pitchFamily="18" charset="0"/>
              </a:rPr>
              <a:t>Lower </a:t>
            </a:r>
            <a:r>
              <a:rPr sz="2400" spc="-35" dirty="0">
                <a:latin typeface="Times New Roman" panose="02020603050405020304" pitchFamily="18" charset="0"/>
                <a:cs typeface="Times New Roman" panose="02020603050405020304" pitchFamily="18" charset="0"/>
              </a:rPr>
              <a:t>rate </a:t>
            </a:r>
            <a:r>
              <a:rPr sz="2400" spc="-5" dirty="0">
                <a:latin typeface="Times New Roman" panose="02020603050405020304" pitchFamily="18" charset="0"/>
                <a:cs typeface="Times New Roman" panose="02020603050405020304" pitchFamily="18" charset="0"/>
              </a:rPr>
              <a:t>of</a:t>
            </a:r>
            <a:r>
              <a:rPr sz="2400" spc="20"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return</a:t>
            </a:r>
            <a:endParaRPr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ü"/>
            </a:pPr>
            <a:endParaRPr sz="2400" dirty="0">
              <a:latin typeface="Times New Roman" panose="02020603050405020304" pitchFamily="18" charset="0"/>
              <a:cs typeface="Times New Roman" panose="02020603050405020304" pitchFamily="18" charset="0"/>
            </a:endParaRPr>
          </a:p>
          <a:p>
            <a:pPr marL="469265" indent="-457200">
              <a:spcBef>
                <a:spcPts val="2035"/>
              </a:spcBef>
              <a:buSzPct val="96428"/>
              <a:buFont typeface="Wingdings" panose="05000000000000000000" pitchFamily="2" charset="2"/>
              <a:buChar char="ü"/>
              <a:tabLst>
                <a:tab pos="330200" algn="l"/>
              </a:tabLst>
            </a:pPr>
            <a:r>
              <a:rPr sz="2400" spc="-15" dirty="0">
                <a:latin typeface="Times New Roman" panose="02020603050405020304" pitchFamily="18" charset="0"/>
                <a:cs typeface="Times New Roman" panose="02020603050405020304" pitchFamily="18" charset="0"/>
              </a:rPr>
              <a:t>Larger </a:t>
            </a:r>
            <a:r>
              <a:rPr sz="2400" spc="-10" dirty="0">
                <a:latin typeface="Times New Roman" panose="02020603050405020304" pitchFamily="18" charset="0"/>
                <a:cs typeface="Times New Roman" panose="02020603050405020304" pitchFamily="18" charset="0"/>
              </a:rPr>
              <a:t>amount </a:t>
            </a:r>
            <a:r>
              <a:rPr sz="2400" spc="-5" dirty="0">
                <a:latin typeface="Times New Roman" panose="02020603050405020304" pitchFamily="18" charset="0"/>
                <a:cs typeface="Times New Roman" panose="02020603050405020304" pitchFamily="18" charset="0"/>
              </a:rPr>
              <a:t>of </a:t>
            </a:r>
            <a:r>
              <a:rPr sz="2400" spc="-10" dirty="0">
                <a:latin typeface="Times New Roman" panose="02020603050405020304" pitchFamily="18" charset="0"/>
                <a:cs typeface="Times New Roman" panose="02020603050405020304" pitchFamily="18" charset="0"/>
              </a:rPr>
              <a:t>transaction</a:t>
            </a:r>
            <a:r>
              <a:rPr sz="2400" spc="15" dirty="0">
                <a:latin typeface="Times New Roman" panose="02020603050405020304" pitchFamily="18" charset="0"/>
                <a:cs typeface="Times New Roman" panose="02020603050405020304" pitchFamily="18" charset="0"/>
              </a:rPr>
              <a:t> </a:t>
            </a:r>
            <a:r>
              <a:rPr sz="2400" spc="-30" dirty="0">
                <a:latin typeface="Times New Roman" panose="02020603050405020304" pitchFamily="18" charset="0"/>
                <a:cs typeface="Times New Roman" panose="02020603050405020304" pitchFamily="18" charset="0"/>
              </a:rPr>
              <a:t>fee</a:t>
            </a:r>
            <a:endParaRPr sz="2400"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3162300" y="24939"/>
            <a:ext cx="6490854"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spc="-50" dirty="0"/>
              <a:t>DISADVANTAGES </a:t>
            </a:r>
            <a:r>
              <a:rPr lang="en-IN" sz="3200" spc="-5" dirty="0"/>
              <a:t>OF MONEY</a:t>
            </a:r>
            <a:r>
              <a:rPr lang="en-IN" sz="3200" spc="5" dirty="0"/>
              <a:t> </a:t>
            </a:r>
            <a:r>
              <a:rPr lang="en-IN" sz="3200" spc="-5" dirty="0"/>
              <a:t>MARKET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7253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939383" y="55265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r>
              <a:rPr lang="en-IN" sz="2400" dirty="0">
                <a:solidFill>
                  <a:schemeClr val="tx1"/>
                </a:solidFill>
                <a:latin typeface="Times New Roman" panose="02020603050405020304" pitchFamily="18" charset="0"/>
                <a:cs typeface="Times New Roman" panose="02020603050405020304" pitchFamily="18" charset="0"/>
              </a:rPr>
              <a:t>It is a market where securities are usually held for long-term basis, i.e., more than one year. They do not have a fixed maturity or expiry date. The buyer can hold the same, till the time he wishes to do so. </a:t>
            </a:r>
          </a:p>
          <a:p>
            <a:pPr algn="just" fontAlgn="base"/>
            <a:r>
              <a:rPr lang="en-IN" sz="2400" b="1" dirty="0">
                <a:solidFill>
                  <a:srgbClr val="C00000"/>
                </a:solidFill>
                <a:latin typeface="Times New Roman" panose="02020603050405020304" pitchFamily="18" charset="0"/>
                <a:cs typeface="Times New Roman" panose="02020603050405020304" pitchFamily="18" charset="0"/>
              </a:rPr>
              <a:t>1) Equity Market </a:t>
            </a:r>
            <a:r>
              <a:rPr lang="en-IN" sz="2400" b="1" dirty="0">
                <a:solidFill>
                  <a:schemeClr val="tx1"/>
                </a:solidFill>
                <a:latin typeface="Times New Roman" panose="02020603050405020304" pitchFamily="18" charset="0"/>
                <a:cs typeface="Times New Roman" panose="02020603050405020304" pitchFamily="18" charset="0"/>
              </a:rPr>
              <a:t>: </a:t>
            </a:r>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r>
              <a:rPr lang="en-IN" sz="2400" dirty="0">
                <a:solidFill>
                  <a:schemeClr val="tx1"/>
                </a:solidFill>
                <a:latin typeface="Times New Roman" panose="02020603050405020304" pitchFamily="18" charset="0"/>
                <a:cs typeface="Times New Roman" panose="02020603050405020304" pitchFamily="18" charset="0"/>
              </a:rPr>
              <a:t>It comprises of the equity shares of the company. Equity shares are further classified in two categories : </a:t>
            </a:r>
          </a:p>
          <a:p>
            <a:pPr algn="just" fontAlgn="base"/>
            <a:r>
              <a:rPr lang="en-IN" sz="2400" b="1" dirty="0" err="1">
                <a:solidFill>
                  <a:srgbClr val="0070C0"/>
                </a:solidFill>
                <a:latin typeface="Times New Roman" panose="02020603050405020304" pitchFamily="18" charset="0"/>
                <a:cs typeface="Times New Roman" panose="02020603050405020304" pitchFamily="18" charset="0"/>
              </a:rPr>
              <a:t>i</a:t>
            </a:r>
            <a:r>
              <a:rPr lang="en-IN" sz="2400" b="1" dirty="0">
                <a:solidFill>
                  <a:srgbClr val="0070C0"/>
                </a:solidFill>
                <a:latin typeface="Times New Roman" panose="02020603050405020304" pitchFamily="18" charset="0"/>
                <a:cs typeface="Times New Roman" panose="02020603050405020304" pitchFamily="18" charset="0"/>
              </a:rPr>
              <a:t>) Primary Market : </a:t>
            </a:r>
            <a:endParaRPr lang="en-IN" sz="2400" dirty="0">
              <a:solidFill>
                <a:srgbClr val="0070C0"/>
              </a:solidFill>
              <a:latin typeface="Times New Roman" panose="02020603050405020304" pitchFamily="18" charset="0"/>
              <a:cs typeface="Times New Roman" panose="02020603050405020304" pitchFamily="18" charset="0"/>
            </a:endParaRPr>
          </a:p>
          <a:p>
            <a:pPr algn="just" fontAlgn="base"/>
            <a:r>
              <a:rPr lang="en-IN" sz="2400" dirty="0">
                <a:solidFill>
                  <a:schemeClr val="tx1"/>
                </a:solidFill>
                <a:latin typeface="Times New Roman" panose="02020603050405020304" pitchFamily="18" charset="0"/>
                <a:cs typeface="Times New Roman" panose="02020603050405020304" pitchFamily="18" charset="0"/>
              </a:rPr>
              <a:t>Where the shares are. being sold for the very first time, i.e., Initial Public Offer (IPO) and Right Issues.</a:t>
            </a: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a:p>
            <a:pPr algn="just" fontAlgn="base"/>
            <a:r>
              <a:rPr lang="en-IN" sz="2400" b="1" dirty="0">
                <a:solidFill>
                  <a:srgbClr val="0070C0"/>
                </a:solidFill>
                <a:latin typeface="Times New Roman" panose="02020603050405020304" pitchFamily="18" charset="0"/>
                <a:cs typeface="Times New Roman" panose="02020603050405020304" pitchFamily="18" charset="0"/>
              </a:rPr>
              <a:t>ii) Secondary Market : </a:t>
            </a:r>
            <a:endParaRPr lang="en-IN" sz="2400" dirty="0">
              <a:solidFill>
                <a:srgbClr val="0070C0"/>
              </a:solidFill>
              <a:latin typeface="Times New Roman" panose="02020603050405020304" pitchFamily="18" charset="0"/>
              <a:cs typeface="Times New Roman" panose="02020603050405020304" pitchFamily="18" charset="0"/>
            </a:endParaRPr>
          </a:p>
          <a:p>
            <a:pPr algn="just" fontAlgn="base"/>
            <a:r>
              <a:rPr lang="en-IN" sz="2400" dirty="0">
                <a:solidFill>
                  <a:schemeClr val="tx1"/>
                </a:solidFill>
                <a:latin typeface="Times New Roman" panose="02020603050405020304" pitchFamily="18" charset="0"/>
                <a:cs typeface="Times New Roman" panose="02020603050405020304" pitchFamily="18" charset="0"/>
              </a:rPr>
              <a:t>Where the existing shares are bought or sold, after they were originally issued to the public. These shares are listed on stock exchange through which they can be traded.</a:t>
            </a:r>
          </a:p>
        </p:txBody>
      </p:sp>
      <p:sp>
        <p:nvSpPr>
          <p:cNvPr id="4" name="Rounded Rectangle 3"/>
          <p:cNvSpPr/>
          <p:nvPr/>
        </p:nvSpPr>
        <p:spPr>
          <a:xfrm>
            <a:off x="3465021" y="0"/>
            <a:ext cx="5303520"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spc="-10" dirty="0"/>
              <a:t>CAPITAL </a:t>
            </a:r>
            <a:r>
              <a:rPr lang="en-IN" sz="3200" dirty="0">
                <a:latin typeface="Times New Roman" panose="02020603050405020304" pitchFamily="18" charset="0"/>
                <a:cs typeface="Times New Roman" panose="02020603050405020304" pitchFamily="18" charset="0"/>
              </a:rPr>
              <a:t>MARKET</a:t>
            </a:r>
          </a:p>
        </p:txBody>
      </p:sp>
    </p:spTree>
    <p:extLst>
      <p:ext uri="{BB962C8B-B14F-4D97-AF65-F5344CB8AC3E}">
        <p14:creationId xmlns:p14="http://schemas.microsoft.com/office/powerpoint/2010/main" val="4753144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939383" y="55265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r>
              <a:rPr lang="en-IN" sz="2800" b="1" dirty="0">
                <a:solidFill>
                  <a:srgbClr val="C00000"/>
                </a:solidFill>
                <a:latin typeface="Times New Roman" panose="02020603050405020304" pitchFamily="18" charset="0"/>
                <a:cs typeface="Times New Roman" panose="02020603050405020304" pitchFamily="18" charset="0"/>
              </a:rPr>
              <a:t>2) Debt Market : </a:t>
            </a:r>
            <a:endParaRPr lang="en-IN" sz="2800" dirty="0">
              <a:solidFill>
                <a:srgbClr val="C00000"/>
              </a:solidFill>
              <a:latin typeface="Times New Roman" panose="02020603050405020304" pitchFamily="18" charset="0"/>
              <a:cs typeface="Times New Roman" panose="02020603050405020304" pitchFamily="18" charset="0"/>
            </a:endParaRPr>
          </a:p>
          <a:p>
            <a:pPr marL="457200" indent="-457200" algn="just" fontAlgn="base">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It is the financial market in which </a:t>
            </a:r>
            <a:r>
              <a:rPr lang="en-IN" sz="2800" dirty="0">
                <a:solidFill>
                  <a:srgbClr val="C00000"/>
                </a:solidFill>
                <a:latin typeface="Times New Roman" panose="02020603050405020304" pitchFamily="18" charset="0"/>
                <a:cs typeface="Times New Roman" panose="02020603050405020304" pitchFamily="18" charset="0"/>
              </a:rPr>
              <a:t>debt securities </a:t>
            </a:r>
            <a:r>
              <a:rPr lang="en-IN" sz="2800" dirty="0">
                <a:solidFill>
                  <a:schemeClr val="tx1"/>
                </a:solidFill>
                <a:latin typeface="Times New Roman" panose="02020603050405020304" pitchFamily="18" charset="0"/>
                <a:cs typeface="Times New Roman" panose="02020603050405020304" pitchFamily="18" charset="0"/>
              </a:rPr>
              <a:t>are bought and sold by the investors. </a:t>
            </a:r>
          </a:p>
          <a:p>
            <a:pPr marL="457200" indent="-457200" algn="just" fontAlgn="base">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These securities are in the nature of </a:t>
            </a:r>
            <a:r>
              <a:rPr lang="en-IN" sz="2800" dirty="0">
                <a:solidFill>
                  <a:srgbClr val="C00000"/>
                </a:solidFill>
                <a:latin typeface="Times New Roman" panose="02020603050405020304" pitchFamily="18" charset="0"/>
                <a:cs typeface="Times New Roman" panose="02020603050405020304" pitchFamily="18" charset="0"/>
              </a:rPr>
              <a:t>bonds or debentures </a:t>
            </a:r>
            <a:r>
              <a:rPr lang="en-IN" sz="2800" dirty="0">
                <a:solidFill>
                  <a:schemeClr val="tx1"/>
                </a:solidFill>
                <a:latin typeface="Times New Roman" panose="02020603050405020304" pitchFamily="18" charset="0"/>
                <a:cs typeface="Times New Roman" panose="02020603050405020304" pitchFamily="18" charset="0"/>
              </a:rPr>
              <a:t>and carry a fixed rate of return.</a:t>
            </a:r>
          </a:p>
          <a:p>
            <a:pPr marL="457200" indent="-457200" algn="just" fontAlgn="base">
              <a:buFont typeface="Wingdings" panose="05000000000000000000" pitchFamily="2" charset="2"/>
              <a:buChar char="Ø"/>
            </a:pPr>
            <a:r>
              <a:rPr lang="en-IN" sz="2800" dirty="0">
                <a:solidFill>
                  <a:schemeClr val="tx1"/>
                </a:solidFill>
                <a:latin typeface="Times New Roman" panose="02020603050405020304" pitchFamily="18" charset="0"/>
                <a:cs typeface="Times New Roman" panose="02020603050405020304" pitchFamily="18" charset="0"/>
              </a:rPr>
              <a:t>They are fixed income bearing securities that are issued by the Central and State Governments municipal corporations, other government bodies, and commercial entities like financial institutions, banks, PSU, public limited companies, etc.</a:t>
            </a:r>
          </a:p>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89855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806335" y="1995055"/>
            <a:ext cx="10540538" cy="26018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fontAlgn="base"/>
            <a:r>
              <a:rPr lang="en-IN" sz="3200" b="1" dirty="0">
                <a:latin typeface="Times New Roman" panose="02020603050405020304" pitchFamily="18" charset="0"/>
                <a:cs typeface="Times New Roman" panose="02020603050405020304" pitchFamily="18" charset="0"/>
              </a:rPr>
              <a:t>Financial Instruments/ Securities/Assets</a:t>
            </a:r>
          </a:p>
        </p:txBody>
      </p:sp>
    </p:spTree>
    <p:extLst>
      <p:ext uri="{BB962C8B-B14F-4D97-AF65-F5344CB8AC3E}">
        <p14:creationId xmlns:p14="http://schemas.microsoft.com/office/powerpoint/2010/main" val="39349873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911390" y="748593"/>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5" name="object 3"/>
          <p:cNvSpPr txBox="1"/>
          <p:nvPr/>
        </p:nvSpPr>
        <p:spPr>
          <a:xfrm>
            <a:off x="2848824" y="2050031"/>
            <a:ext cx="7118350" cy="2966197"/>
          </a:xfrm>
          <a:prstGeom prst="rect">
            <a:avLst/>
          </a:prstGeom>
        </p:spPr>
        <p:txBody>
          <a:bodyPr vert="horz" wrap="square" lIns="0" tIns="163830" rIns="0" bIns="0" rtlCol="0">
            <a:spAutoFit/>
          </a:bodyPr>
          <a:lstStyle/>
          <a:p>
            <a:pPr marL="355600" indent="-342900">
              <a:lnSpc>
                <a:spcPct val="150000"/>
              </a:lnSpc>
              <a:spcBef>
                <a:spcPts val="1290"/>
              </a:spcBef>
              <a:buChar char="•"/>
              <a:tabLst>
                <a:tab pos="355600" algn="l"/>
              </a:tabLst>
            </a:pPr>
            <a:r>
              <a:rPr sz="3600" spc="-5" dirty="0">
                <a:latin typeface="Times New Roman"/>
                <a:cs typeface="Times New Roman"/>
              </a:rPr>
              <a:t>Money market</a:t>
            </a:r>
            <a:r>
              <a:rPr sz="3600" spc="-30" dirty="0">
                <a:latin typeface="Times New Roman"/>
                <a:cs typeface="Times New Roman"/>
              </a:rPr>
              <a:t> </a:t>
            </a:r>
            <a:r>
              <a:rPr sz="3600" spc="-5" dirty="0">
                <a:latin typeface="Times New Roman"/>
                <a:cs typeface="Times New Roman"/>
              </a:rPr>
              <a:t>instruments.</a:t>
            </a:r>
            <a:endParaRPr sz="3600" dirty="0">
              <a:latin typeface="Times New Roman"/>
              <a:cs typeface="Times New Roman"/>
            </a:endParaRPr>
          </a:p>
          <a:p>
            <a:pPr marL="355600" indent="-342900">
              <a:lnSpc>
                <a:spcPct val="150000"/>
              </a:lnSpc>
              <a:spcBef>
                <a:spcPts val="1190"/>
              </a:spcBef>
              <a:buChar char="•"/>
              <a:tabLst>
                <a:tab pos="355600" algn="l"/>
              </a:tabLst>
            </a:pPr>
            <a:r>
              <a:rPr sz="3600" dirty="0">
                <a:latin typeface="Times New Roman"/>
                <a:cs typeface="Times New Roman"/>
              </a:rPr>
              <a:t>Capital </a:t>
            </a:r>
            <a:r>
              <a:rPr sz="3600" spc="-5" dirty="0">
                <a:latin typeface="Times New Roman"/>
                <a:cs typeface="Times New Roman"/>
              </a:rPr>
              <a:t>market</a:t>
            </a:r>
            <a:r>
              <a:rPr sz="3600" spc="-85" dirty="0">
                <a:latin typeface="Times New Roman"/>
                <a:cs typeface="Times New Roman"/>
              </a:rPr>
              <a:t> </a:t>
            </a:r>
            <a:r>
              <a:rPr sz="3600" spc="-5" dirty="0">
                <a:latin typeface="Times New Roman"/>
                <a:cs typeface="Times New Roman"/>
              </a:rPr>
              <a:t>instruments.</a:t>
            </a:r>
            <a:endParaRPr sz="3600" dirty="0">
              <a:latin typeface="Times New Roman"/>
              <a:cs typeface="Times New Roman"/>
            </a:endParaRPr>
          </a:p>
          <a:p>
            <a:pPr marL="355600" indent="-342900">
              <a:lnSpc>
                <a:spcPct val="150000"/>
              </a:lnSpc>
              <a:spcBef>
                <a:spcPts val="1200"/>
              </a:spcBef>
              <a:buChar char="•"/>
              <a:tabLst>
                <a:tab pos="355600" algn="l"/>
                <a:tab pos="2238375" algn="l"/>
              </a:tabLst>
            </a:pPr>
            <a:r>
              <a:rPr sz="3600" dirty="0">
                <a:latin typeface="Times New Roman"/>
                <a:cs typeface="Times New Roman"/>
              </a:rPr>
              <a:t>Hybrid</a:t>
            </a:r>
            <a:r>
              <a:rPr lang="en-US" sz="3600" dirty="0">
                <a:latin typeface="Times New Roman"/>
                <a:cs typeface="Times New Roman"/>
              </a:rPr>
              <a:t> </a:t>
            </a:r>
            <a:r>
              <a:rPr sz="3600" spc="-5" dirty="0">
                <a:latin typeface="Times New Roman"/>
                <a:cs typeface="Times New Roman"/>
              </a:rPr>
              <a:t>instruments.</a:t>
            </a:r>
            <a:endParaRPr sz="3600" dirty="0">
              <a:latin typeface="Times New Roman"/>
              <a:cs typeface="Times New Roman"/>
            </a:endParaRPr>
          </a:p>
        </p:txBody>
      </p:sp>
      <p:sp>
        <p:nvSpPr>
          <p:cNvPr id="2" name="Rounded Rectangle 1"/>
          <p:cNvSpPr/>
          <p:nvPr/>
        </p:nvSpPr>
        <p:spPr>
          <a:xfrm>
            <a:off x="2451141" y="139862"/>
            <a:ext cx="7913716"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dirty="0">
                <a:latin typeface="Times New Roman" panose="02020603050405020304" pitchFamily="18" charset="0"/>
                <a:cs typeface="Times New Roman" panose="02020603050405020304" pitchFamily="18" charset="0"/>
              </a:rPr>
              <a:t>3 Types of Financial Instruments</a:t>
            </a:r>
            <a:endParaRPr lang="en-IN" sz="4400" dirty="0"/>
          </a:p>
        </p:txBody>
      </p:sp>
    </p:spTree>
    <p:extLst>
      <p:ext uri="{BB962C8B-B14F-4D97-AF65-F5344CB8AC3E}">
        <p14:creationId xmlns:p14="http://schemas.microsoft.com/office/powerpoint/2010/main" val="11348413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780011" y="47798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268963" y="1059520"/>
            <a:ext cx="9899779" cy="4822987"/>
          </a:xfrm>
          <a:prstGeom prst="rect">
            <a:avLst/>
          </a:prstGeom>
        </p:spPr>
        <p:txBody>
          <a:bodyPr wrap="square">
            <a:spAutoFit/>
          </a:bodyPr>
          <a:lstStyle/>
          <a:p>
            <a:pPr algn="just" fontAlgn="base">
              <a:lnSpc>
                <a:spcPts val="1920"/>
              </a:lnSpc>
              <a:spcAft>
                <a:spcPts val="8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On the basis of term the financial instruments can be classified into following three types:</a:t>
            </a:r>
          </a:p>
          <a:p>
            <a:pPr marL="342900" lvl="0" indent="-342900" algn="just" fontAlgn="base">
              <a:lnSpc>
                <a:spcPct val="107000"/>
              </a:lnSpc>
              <a:spcBef>
                <a:spcPts val="375"/>
              </a:spcBef>
              <a:spcAft>
                <a:spcPts val="375"/>
              </a:spcAft>
              <a:buFont typeface="+mj-lt"/>
              <a:buAutoNum type="arabicPeriod"/>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Short-Term</a:t>
            </a:r>
          </a:p>
          <a:p>
            <a:pPr marL="342900" lvl="0" indent="-342900" algn="just" fontAlgn="base">
              <a:lnSpc>
                <a:spcPct val="107000"/>
              </a:lnSpc>
              <a:spcBef>
                <a:spcPts val="375"/>
              </a:spcBef>
              <a:spcAft>
                <a:spcPts val="375"/>
              </a:spcAft>
              <a:buFont typeface="+mj-lt"/>
              <a:buAutoNum type="arabicPeriod"/>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Long-Term</a:t>
            </a:r>
          </a:p>
          <a:p>
            <a:pPr marL="342900" lvl="0" indent="-342900" algn="just" fontAlgn="base">
              <a:lnSpc>
                <a:spcPct val="107000"/>
              </a:lnSpc>
              <a:spcBef>
                <a:spcPts val="375"/>
              </a:spcBef>
              <a:spcAft>
                <a:spcPts val="375"/>
              </a:spcAft>
              <a:buFont typeface="+mj-lt"/>
              <a:buAutoNum type="arabicPeriod"/>
              <a:tabLst>
                <a:tab pos="457200" algn="l"/>
              </a:tabLst>
            </a:pPr>
            <a:r>
              <a:rPr lang="en-IN" sz="2400" dirty="0">
                <a:latin typeface="Times New Roman" panose="02020603050405020304" pitchFamily="18" charset="0"/>
                <a:ea typeface="Calibri" panose="020F0502020204030204" pitchFamily="34" charset="0"/>
                <a:cs typeface="Times New Roman" panose="02020603050405020304" pitchFamily="18" charset="0"/>
              </a:rPr>
              <a:t>Medium-Term</a:t>
            </a:r>
          </a:p>
          <a:p>
            <a:pPr marL="342900" lvl="0" indent="-342900" algn="just" fontAlgn="base">
              <a:lnSpc>
                <a:spcPct val="107000"/>
              </a:lnSpc>
              <a:spcBef>
                <a:spcPts val="375"/>
              </a:spcBef>
              <a:spcAft>
                <a:spcPts val="375"/>
              </a:spcAft>
              <a:buFont typeface="+mj-lt"/>
              <a:buAutoNum type="arabicPeriod"/>
              <a:tabLst>
                <a:tab pos="457200" algn="l"/>
              </a:tabLst>
            </a:pP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fontAlgn="base"/>
            <a:r>
              <a:rPr lang="en-IN" sz="2400" b="1" dirty="0">
                <a:latin typeface="Times New Roman" panose="02020603050405020304" pitchFamily="18" charset="0"/>
                <a:cs typeface="Times New Roman" panose="02020603050405020304" pitchFamily="18" charset="0"/>
              </a:rPr>
              <a:t>1) Short-Term Financial Instruments:</a:t>
            </a:r>
            <a:endParaRPr lang="en-IN" sz="2400" dirty="0">
              <a:latin typeface="Times New Roman" panose="02020603050405020304" pitchFamily="18" charset="0"/>
              <a:cs typeface="Times New Roman" panose="02020603050405020304" pitchFamily="18" charset="0"/>
            </a:endParaRPr>
          </a:p>
          <a:p>
            <a:pPr algn="just" fontAlgn="base"/>
            <a:r>
              <a:rPr lang="en-IN" sz="2400" dirty="0">
                <a:latin typeface="Times New Roman" panose="02020603050405020304" pitchFamily="18" charset="0"/>
                <a:cs typeface="Times New Roman" panose="02020603050405020304" pitchFamily="18" charset="0"/>
              </a:rPr>
              <a:t>The short-term financial instruments include the instruments which are of less than one year. The various types of securities are T-bills and commercial paper. The different kinds of cash can be deposits, certificate of deposits, etc. which are as follows : </a:t>
            </a:r>
          </a:p>
          <a:p>
            <a:pPr lvl="0" algn="just" fontAlgn="base">
              <a:lnSpc>
                <a:spcPct val="107000"/>
              </a:lnSpc>
              <a:spcBef>
                <a:spcPts val="375"/>
              </a:spcBef>
              <a:spcAft>
                <a:spcPts val="375"/>
              </a:spcAft>
              <a:tabLst>
                <a:tab pos="457200" algn="l"/>
              </a:tabLst>
            </a:pPr>
            <a:endParaRPr lang="en-IN" sz="1600" dirty="0">
              <a:solidFill>
                <a:srgbClr val="656565"/>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8025517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73020" y="762953"/>
            <a:ext cx="9946433" cy="5516549"/>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5" name="Rounded Rectangle 4"/>
          <p:cNvSpPr/>
          <p:nvPr/>
        </p:nvSpPr>
        <p:spPr>
          <a:xfrm>
            <a:off x="2572174" y="0"/>
            <a:ext cx="694812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spc="-30" dirty="0">
                <a:latin typeface="Times New Roman" panose="02020603050405020304" pitchFamily="18" charset="0"/>
                <a:cs typeface="Times New Roman" panose="02020603050405020304" pitchFamily="18" charset="0"/>
              </a:rPr>
              <a:t>M</a:t>
            </a:r>
            <a:r>
              <a:rPr lang="en-IN" sz="4400" spc="-5" dirty="0">
                <a:latin typeface="Times New Roman" panose="02020603050405020304" pitchFamily="18" charset="0"/>
                <a:cs typeface="Times New Roman" panose="02020603050405020304" pitchFamily="18" charset="0"/>
              </a:rPr>
              <a:t>o</a:t>
            </a:r>
            <a:r>
              <a:rPr lang="en-IN" sz="4400" spc="-10" dirty="0">
                <a:latin typeface="Times New Roman" panose="02020603050405020304" pitchFamily="18" charset="0"/>
                <a:cs typeface="Times New Roman" panose="02020603050405020304" pitchFamily="18" charset="0"/>
              </a:rPr>
              <a:t>n</a:t>
            </a:r>
            <a:r>
              <a:rPr lang="en-IN" sz="4400" spc="-5" dirty="0">
                <a:latin typeface="Times New Roman" panose="02020603050405020304" pitchFamily="18" charset="0"/>
                <a:cs typeface="Times New Roman" panose="02020603050405020304" pitchFamily="18" charset="0"/>
              </a:rPr>
              <a:t>e</a:t>
            </a:r>
            <a:r>
              <a:rPr lang="en-IN" sz="4400" dirty="0">
                <a:latin typeface="Times New Roman" panose="02020603050405020304" pitchFamily="18" charset="0"/>
                <a:cs typeface="Times New Roman" panose="02020603050405020304" pitchFamily="18" charset="0"/>
              </a:rPr>
              <a:t>y</a:t>
            </a:r>
            <a:r>
              <a:rPr lang="en-IN" sz="4400" spc="-25" dirty="0">
                <a:latin typeface="Times New Roman" panose="02020603050405020304" pitchFamily="18" charset="0"/>
                <a:cs typeface="Times New Roman" panose="02020603050405020304" pitchFamily="18" charset="0"/>
              </a:rPr>
              <a:t> </a:t>
            </a:r>
            <a:r>
              <a:rPr lang="en-IN" sz="4400" spc="-5" dirty="0">
                <a:latin typeface="Times New Roman" panose="02020603050405020304" pitchFamily="18" charset="0"/>
                <a:cs typeface="Times New Roman" panose="02020603050405020304" pitchFamily="18" charset="0"/>
              </a:rPr>
              <a:t>ma</a:t>
            </a:r>
            <a:r>
              <a:rPr lang="en-IN" sz="4400" dirty="0">
                <a:latin typeface="Times New Roman" panose="02020603050405020304" pitchFamily="18" charset="0"/>
                <a:cs typeface="Times New Roman" panose="02020603050405020304" pitchFamily="18" charset="0"/>
              </a:rPr>
              <a:t>r</a:t>
            </a:r>
            <a:r>
              <a:rPr lang="en-IN" sz="4400" spc="-10" dirty="0">
                <a:latin typeface="Times New Roman" panose="02020603050405020304" pitchFamily="18" charset="0"/>
                <a:cs typeface="Times New Roman" panose="02020603050405020304" pitchFamily="18" charset="0"/>
              </a:rPr>
              <a:t>k</a:t>
            </a:r>
            <a:r>
              <a:rPr lang="en-IN" sz="4400" spc="-5" dirty="0">
                <a:latin typeface="Times New Roman" panose="02020603050405020304" pitchFamily="18" charset="0"/>
                <a:cs typeface="Times New Roman" panose="02020603050405020304" pitchFamily="18" charset="0"/>
              </a:rPr>
              <a:t>e</a:t>
            </a:r>
            <a:r>
              <a:rPr lang="en-IN" sz="4400" dirty="0">
                <a:latin typeface="Times New Roman" panose="02020603050405020304" pitchFamily="18" charset="0"/>
                <a:cs typeface="Times New Roman" panose="02020603050405020304" pitchFamily="18" charset="0"/>
              </a:rPr>
              <a:t>t </a:t>
            </a:r>
            <a:r>
              <a:rPr lang="en-IN" sz="4400" spc="-5" dirty="0">
                <a:latin typeface="Times New Roman" panose="02020603050405020304" pitchFamily="18" charset="0"/>
                <a:cs typeface="Times New Roman" panose="02020603050405020304" pitchFamily="18" charset="0"/>
              </a:rPr>
              <a:t>ins</a:t>
            </a:r>
            <a:r>
              <a:rPr lang="en-IN" sz="4400" spc="-10" dirty="0">
                <a:latin typeface="Times New Roman" panose="02020603050405020304" pitchFamily="18" charset="0"/>
                <a:cs typeface="Times New Roman" panose="02020603050405020304" pitchFamily="18" charset="0"/>
              </a:rPr>
              <a:t>t</a:t>
            </a:r>
            <a:r>
              <a:rPr lang="en-IN" sz="4400" dirty="0">
                <a:latin typeface="Times New Roman" panose="02020603050405020304" pitchFamily="18" charset="0"/>
                <a:cs typeface="Times New Roman" panose="02020603050405020304" pitchFamily="18" charset="0"/>
              </a:rPr>
              <a:t>r</a:t>
            </a:r>
            <a:r>
              <a:rPr lang="en-IN" sz="4400" spc="-5" dirty="0">
                <a:latin typeface="Times New Roman" panose="02020603050405020304" pitchFamily="18" charset="0"/>
                <a:cs typeface="Times New Roman" panose="02020603050405020304" pitchFamily="18" charset="0"/>
              </a:rPr>
              <a:t>umen</a:t>
            </a:r>
            <a:r>
              <a:rPr lang="en-IN" sz="4400" spc="-10" dirty="0">
                <a:latin typeface="Times New Roman" panose="02020603050405020304" pitchFamily="18" charset="0"/>
                <a:cs typeface="Times New Roman" panose="02020603050405020304" pitchFamily="18" charset="0"/>
              </a:rPr>
              <a:t>t</a:t>
            </a:r>
            <a:r>
              <a:rPr lang="en-IN" sz="4400" dirty="0">
                <a:latin typeface="Times New Roman" panose="02020603050405020304" pitchFamily="18" charset="0"/>
                <a:cs typeface="Times New Roman" panose="02020603050405020304" pitchFamily="18" charset="0"/>
              </a:rPr>
              <a:t>s</a:t>
            </a:r>
            <a:endParaRPr lang="en-IN" sz="4400" dirty="0"/>
          </a:p>
        </p:txBody>
      </p:sp>
      <p:sp>
        <p:nvSpPr>
          <p:cNvPr id="3" name="object 3"/>
          <p:cNvSpPr txBox="1"/>
          <p:nvPr/>
        </p:nvSpPr>
        <p:spPr>
          <a:xfrm>
            <a:off x="2995375" y="1591596"/>
            <a:ext cx="4894580" cy="4244752"/>
          </a:xfrm>
          <a:prstGeom prst="rect">
            <a:avLst/>
          </a:prstGeom>
        </p:spPr>
        <p:txBody>
          <a:bodyPr vert="horz" wrap="square" lIns="0" tIns="127000" rIns="0" bIns="0" rtlCol="0">
            <a:spAutoFit/>
          </a:bodyPr>
          <a:lstStyle/>
          <a:p>
            <a:pPr marL="927100" indent="-914400">
              <a:lnSpc>
                <a:spcPct val="150000"/>
              </a:lnSpc>
              <a:spcBef>
                <a:spcPts val="1000"/>
              </a:spcBef>
              <a:buAutoNum type="arabicPeriod"/>
              <a:tabLst>
                <a:tab pos="926465" algn="l"/>
                <a:tab pos="927100" algn="l"/>
              </a:tabLst>
            </a:pPr>
            <a:r>
              <a:rPr sz="3200" spc="-10" dirty="0">
                <a:latin typeface="Times New Roman"/>
                <a:cs typeface="Times New Roman"/>
              </a:rPr>
              <a:t>Call/Notice</a:t>
            </a:r>
            <a:r>
              <a:rPr sz="3200" spc="-25" dirty="0">
                <a:latin typeface="Times New Roman"/>
                <a:cs typeface="Times New Roman"/>
              </a:rPr>
              <a:t> </a:t>
            </a:r>
            <a:r>
              <a:rPr sz="3200" spc="-5" dirty="0">
                <a:latin typeface="Times New Roman"/>
                <a:cs typeface="Times New Roman"/>
              </a:rPr>
              <a:t>Money</a:t>
            </a:r>
            <a:endParaRPr sz="3200" dirty="0">
              <a:latin typeface="Times New Roman"/>
              <a:cs typeface="Times New Roman"/>
            </a:endParaRPr>
          </a:p>
          <a:p>
            <a:pPr marL="927100" indent="-914400">
              <a:lnSpc>
                <a:spcPct val="150000"/>
              </a:lnSpc>
              <a:spcBef>
                <a:spcPts val="900"/>
              </a:spcBef>
              <a:buAutoNum type="arabicPeriod"/>
              <a:tabLst>
                <a:tab pos="926465" algn="l"/>
                <a:tab pos="927100" algn="l"/>
              </a:tabLst>
            </a:pPr>
            <a:r>
              <a:rPr sz="3200" dirty="0">
                <a:latin typeface="Times New Roman"/>
                <a:cs typeface="Times New Roman"/>
              </a:rPr>
              <a:t>Treasury</a:t>
            </a:r>
            <a:r>
              <a:rPr sz="3200" spc="15" dirty="0">
                <a:latin typeface="Times New Roman"/>
                <a:cs typeface="Times New Roman"/>
              </a:rPr>
              <a:t> </a:t>
            </a:r>
            <a:r>
              <a:rPr sz="3200" spc="-10" dirty="0">
                <a:latin typeface="Times New Roman"/>
                <a:cs typeface="Times New Roman"/>
              </a:rPr>
              <a:t>Bills</a:t>
            </a:r>
            <a:endParaRPr sz="3200" dirty="0">
              <a:latin typeface="Times New Roman"/>
              <a:cs typeface="Times New Roman"/>
            </a:endParaRPr>
          </a:p>
          <a:p>
            <a:pPr marL="927100" indent="-914400">
              <a:lnSpc>
                <a:spcPct val="150000"/>
              </a:lnSpc>
              <a:spcBef>
                <a:spcPts val="900"/>
              </a:spcBef>
              <a:buAutoNum type="arabicPeriod"/>
              <a:tabLst>
                <a:tab pos="926465" algn="l"/>
                <a:tab pos="927100" algn="l"/>
              </a:tabLst>
            </a:pPr>
            <a:r>
              <a:rPr sz="3200" spc="-5" dirty="0">
                <a:latin typeface="Times New Roman"/>
                <a:cs typeface="Times New Roman"/>
              </a:rPr>
              <a:t>Term</a:t>
            </a:r>
            <a:r>
              <a:rPr sz="3200" spc="-35" dirty="0">
                <a:latin typeface="Times New Roman"/>
                <a:cs typeface="Times New Roman"/>
              </a:rPr>
              <a:t> </a:t>
            </a:r>
            <a:r>
              <a:rPr sz="3200" dirty="0">
                <a:latin typeface="Times New Roman"/>
                <a:cs typeface="Times New Roman"/>
              </a:rPr>
              <a:t>Money</a:t>
            </a:r>
          </a:p>
          <a:p>
            <a:pPr marL="927100" indent="-914400">
              <a:lnSpc>
                <a:spcPct val="150000"/>
              </a:lnSpc>
              <a:spcBef>
                <a:spcPts val="900"/>
              </a:spcBef>
              <a:buAutoNum type="arabicPeriod"/>
              <a:tabLst>
                <a:tab pos="926465" algn="l"/>
                <a:tab pos="927100" algn="l"/>
              </a:tabLst>
            </a:pPr>
            <a:r>
              <a:rPr sz="3200" spc="-5" dirty="0">
                <a:latin typeface="Times New Roman"/>
                <a:cs typeface="Times New Roman"/>
              </a:rPr>
              <a:t>Certificate </a:t>
            </a:r>
            <a:r>
              <a:rPr sz="3200" dirty="0">
                <a:latin typeface="Times New Roman"/>
                <a:cs typeface="Times New Roman"/>
              </a:rPr>
              <a:t>of</a:t>
            </a:r>
            <a:r>
              <a:rPr sz="3200" spc="-110" dirty="0">
                <a:latin typeface="Times New Roman"/>
                <a:cs typeface="Times New Roman"/>
              </a:rPr>
              <a:t> </a:t>
            </a:r>
            <a:r>
              <a:rPr sz="3200" spc="-5" dirty="0">
                <a:latin typeface="Times New Roman"/>
                <a:cs typeface="Times New Roman"/>
              </a:rPr>
              <a:t>Deposit</a:t>
            </a:r>
            <a:endParaRPr sz="3200" dirty="0">
              <a:latin typeface="Times New Roman"/>
              <a:cs typeface="Times New Roman"/>
            </a:endParaRPr>
          </a:p>
          <a:p>
            <a:pPr marL="927100" indent="-914400">
              <a:lnSpc>
                <a:spcPct val="150000"/>
              </a:lnSpc>
              <a:spcBef>
                <a:spcPts val="600"/>
              </a:spcBef>
              <a:buAutoNum type="arabicPeriod"/>
              <a:tabLst>
                <a:tab pos="926465" algn="l"/>
                <a:tab pos="927100" algn="l"/>
              </a:tabLst>
            </a:pPr>
            <a:r>
              <a:rPr sz="3200" spc="-10" dirty="0">
                <a:latin typeface="Times New Roman"/>
                <a:cs typeface="Times New Roman"/>
              </a:rPr>
              <a:t>Commercial</a:t>
            </a:r>
            <a:r>
              <a:rPr sz="3200" spc="-30" dirty="0">
                <a:latin typeface="Times New Roman"/>
                <a:cs typeface="Times New Roman"/>
              </a:rPr>
              <a:t> </a:t>
            </a:r>
            <a:r>
              <a:rPr sz="3200" spc="-5" dirty="0">
                <a:latin typeface="Times New Roman"/>
                <a:cs typeface="Times New Roman"/>
              </a:rPr>
              <a:t>Papers</a:t>
            </a:r>
            <a:endParaRPr sz="3200" dirty="0">
              <a:latin typeface="Times New Roman"/>
              <a:cs typeface="Times New Roman"/>
            </a:endParaRPr>
          </a:p>
        </p:txBody>
      </p:sp>
    </p:spTree>
    <p:extLst>
      <p:ext uri="{BB962C8B-B14F-4D97-AF65-F5344CB8AC3E}">
        <p14:creationId xmlns:p14="http://schemas.microsoft.com/office/powerpoint/2010/main" val="33412598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77154" y="806673"/>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972407" y="207818"/>
            <a:ext cx="6241472" cy="8728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spc="-5" dirty="0"/>
              <a:t>COMPOSITION OF MONEY</a:t>
            </a:r>
            <a:r>
              <a:rPr lang="en-IN" sz="3200" spc="-75" dirty="0"/>
              <a:t> </a:t>
            </a:r>
            <a:r>
              <a:rPr lang="en-IN" sz="3200" spc="-5" dirty="0"/>
              <a:t>MARKET</a:t>
            </a:r>
            <a:endParaRPr lang="en-IN" sz="3200" dirty="0">
              <a:latin typeface="Times New Roman" panose="02020603050405020304" pitchFamily="18" charset="0"/>
              <a:cs typeface="Times New Roman" panose="02020603050405020304" pitchFamily="18" charset="0"/>
            </a:endParaRPr>
          </a:p>
        </p:txBody>
      </p:sp>
      <p:sp>
        <p:nvSpPr>
          <p:cNvPr id="6" name="Rectangle 5"/>
          <p:cNvSpPr/>
          <p:nvPr/>
        </p:nvSpPr>
        <p:spPr>
          <a:xfrm>
            <a:off x="1324948" y="1363486"/>
            <a:ext cx="9181322" cy="5211683"/>
          </a:xfrm>
          <a:prstGeom prst="rect">
            <a:avLst/>
          </a:prstGeom>
        </p:spPr>
        <p:txBody>
          <a:bodyPr wrap="square">
            <a:spAutoFit/>
          </a:bodyPr>
          <a:lstStyle/>
          <a:p>
            <a:pPr marL="12700" marR="156845" algn="just">
              <a:spcBef>
                <a:spcPts val="100"/>
              </a:spcBef>
            </a:pPr>
            <a:r>
              <a:rPr lang="en-IN" sz="2800" b="1" spc="-5" dirty="0">
                <a:latin typeface="Times New Roman" panose="02020603050405020304" pitchFamily="18" charset="0"/>
                <a:cs typeface="Times New Roman" panose="02020603050405020304" pitchFamily="18" charset="0"/>
              </a:rPr>
              <a:t>Call </a:t>
            </a:r>
            <a:r>
              <a:rPr lang="en-IN" sz="2800" b="1" spc="-10" dirty="0">
                <a:latin typeface="Times New Roman" panose="02020603050405020304" pitchFamily="18" charset="0"/>
                <a:cs typeface="Times New Roman" panose="02020603050405020304" pitchFamily="18" charset="0"/>
              </a:rPr>
              <a:t>/Notice-Money</a:t>
            </a:r>
            <a:r>
              <a:rPr lang="en-IN" sz="2800" b="1" spc="-85" dirty="0">
                <a:latin typeface="Times New Roman" panose="02020603050405020304" pitchFamily="18" charset="0"/>
                <a:cs typeface="Times New Roman" panose="02020603050405020304" pitchFamily="18" charset="0"/>
              </a:rPr>
              <a:t> </a:t>
            </a:r>
            <a:r>
              <a:rPr lang="en-IN" sz="2800" b="1" spc="-10" dirty="0">
                <a:latin typeface="Times New Roman" panose="02020603050405020304" pitchFamily="18" charset="0"/>
                <a:cs typeface="Times New Roman" panose="02020603050405020304" pitchFamily="18" charset="0"/>
              </a:rPr>
              <a:t>Market</a:t>
            </a:r>
            <a:endParaRPr lang="en-US" sz="2800" b="1" spc="-5" dirty="0">
              <a:latin typeface="Times New Roman"/>
              <a:cs typeface="Times New Roman"/>
            </a:endParaRPr>
          </a:p>
          <a:p>
            <a:pPr marL="355600" marR="156845" indent="-342900" algn="just">
              <a:spcBef>
                <a:spcPts val="100"/>
              </a:spcBef>
              <a:buFont typeface="Arial" panose="020B0604020202020204" pitchFamily="34" charset="0"/>
              <a:buChar char="•"/>
            </a:pPr>
            <a:r>
              <a:rPr lang="en-US" sz="2400" spc="-5" dirty="0">
                <a:latin typeface="Times New Roman"/>
                <a:cs typeface="Times New Roman"/>
              </a:rPr>
              <a:t>Call/Notice money </a:t>
            </a:r>
            <a:r>
              <a:rPr lang="en-US" sz="2400" dirty="0">
                <a:latin typeface="Times New Roman"/>
                <a:cs typeface="Times New Roman"/>
              </a:rPr>
              <a:t>is the </a:t>
            </a:r>
            <a:r>
              <a:rPr lang="en-US" sz="2400" spc="-5" dirty="0">
                <a:latin typeface="Times New Roman"/>
                <a:cs typeface="Times New Roman"/>
              </a:rPr>
              <a:t>money borrowed </a:t>
            </a:r>
            <a:r>
              <a:rPr lang="en-US" sz="2400" dirty="0">
                <a:latin typeface="Times New Roman"/>
                <a:cs typeface="Times New Roman"/>
              </a:rPr>
              <a:t>or lent on </a:t>
            </a:r>
            <a:r>
              <a:rPr lang="en-US" sz="2400" spc="-5" dirty="0">
                <a:latin typeface="Times New Roman"/>
                <a:cs typeface="Times New Roman"/>
              </a:rPr>
              <a:t>demand  for </a:t>
            </a:r>
            <a:r>
              <a:rPr lang="en-US" sz="2400" dirty="0">
                <a:latin typeface="Times New Roman"/>
                <a:cs typeface="Times New Roman"/>
              </a:rPr>
              <a:t>a very short </a:t>
            </a:r>
            <a:r>
              <a:rPr lang="en-US" sz="2400" spc="-5" dirty="0">
                <a:latin typeface="Times New Roman"/>
                <a:cs typeface="Times New Roman"/>
              </a:rPr>
              <a:t>period. </a:t>
            </a:r>
            <a:r>
              <a:rPr lang="en-US" sz="2400" spc="-10" dirty="0">
                <a:latin typeface="Times New Roman"/>
                <a:cs typeface="Times New Roman"/>
              </a:rPr>
              <a:t>When </a:t>
            </a:r>
            <a:r>
              <a:rPr lang="en-US" sz="2400" spc="-5" dirty="0">
                <a:latin typeface="Times New Roman"/>
                <a:cs typeface="Times New Roman"/>
              </a:rPr>
              <a:t>money </a:t>
            </a:r>
            <a:r>
              <a:rPr lang="en-US" sz="2400" dirty="0">
                <a:latin typeface="Times New Roman"/>
                <a:cs typeface="Times New Roman"/>
              </a:rPr>
              <a:t>is </a:t>
            </a:r>
            <a:r>
              <a:rPr lang="en-US" sz="2400" spc="-5" dirty="0">
                <a:latin typeface="Times New Roman"/>
                <a:cs typeface="Times New Roman"/>
              </a:rPr>
              <a:t>borrowed </a:t>
            </a:r>
            <a:r>
              <a:rPr lang="en-US" sz="2400" dirty="0">
                <a:latin typeface="Times New Roman"/>
                <a:cs typeface="Times New Roman"/>
              </a:rPr>
              <a:t>or lent </a:t>
            </a:r>
            <a:r>
              <a:rPr lang="en-US" sz="2400" spc="-5" dirty="0">
                <a:latin typeface="Times New Roman"/>
                <a:cs typeface="Times New Roman"/>
              </a:rPr>
              <a:t>for </a:t>
            </a:r>
            <a:r>
              <a:rPr lang="en-US" sz="2400" dirty="0">
                <a:latin typeface="Times New Roman"/>
                <a:cs typeface="Times New Roman"/>
              </a:rPr>
              <a:t>a  </a:t>
            </a:r>
            <a:r>
              <a:rPr lang="en-US" sz="2400" spc="5" dirty="0">
                <a:latin typeface="Times New Roman"/>
                <a:cs typeface="Times New Roman"/>
              </a:rPr>
              <a:t>day, it </a:t>
            </a:r>
            <a:r>
              <a:rPr lang="en-US" sz="2400" dirty="0">
                <a:latin typeface="Times New Roman"/>
                <a:cs typeface="Times New Roman"/>
              </a:rPr>
              <a:t>is </a:t>
            </a:r>
            <a:r>
              <a:rPr lang="en-US" sz="2400" spc="-5" dirty="0">
                <a:latin typeface="Times New Roman"/>
                <a:cs typeface="Times New Roman"/>
              </a:rPr>
              <a:t>known as Call </a:t>
            </a:r>
            <a:r>
              <a:rPr lang="en-US" sz="2400" dirty="0">
                <a:latin typeface="Times New Roman"/>
                <a:cs typeface="Times New Roman"/>
              </a:rPr>
              <a:t>(Overnight)</a:t>
            </a:r>
            <a:r>
              <a:rPr lang="en-US" sz="2400" spc="-15" dirty="0">
                <a:latin typeface="Times New Roman"/>
                <a:cs typeface="Times New Roman"/>
              </a:rPr>
              <a:t> </a:t>
            </a:r>
            <a:r>
              <a:rPr lang="en-US" sz="2400" dirty="0">
                <a:latin typeface="Times New Roman"/>
                <a:cs typeface="Times New Roman"/>
              </a:rPr>
              <a:t>Money.</a:t>
            </a:r>
          </a:p>
          <a:p>
            <a:pPr marL="355600" marR="156845" indent="-342900" algn="just">
              <a:spcBef>
                <a:spcPts val="100"/>
              </a:spcBef>
              <a:buFont typeface="Arial" panose="020B0604020202020204" pitchFamily="34" charset="0"/>
              <a:buChar char="•"/>
            </a:pPr>
            <a:endParaRPr lang="en-US" sz="2400" dirty="0">
              <a:latin typeface="Times New Roman"/>
              <a:cs typeface="Times New Roman"/>
            </a:endParaRPr>
          </a:p>
          <a:p>
            <a:pPr marL="355600" marR="305435" indent="-342900" algn="just">
              <a:spcBef>
                <a:spcPts val="600"/>
              </a:spcBef>
              <a:buFont typeface="Arial" panose="020B0604020202020204" pitchFamily="34" charset="0"/>
              <a:buChar char="•"/>
            </a:pPr>
            <a:r>
              <a:rPr lang="en-US" sz="2400" dirty="0">
                <a:latin typeface="Times New Roman"/>
                <a:cs typeface="Times New Roman"/>
              </a:rPr>
              <a:t>Intervening holidays and/or </a:t>
            </a:r>
            <a:r>
              <a:rPr lang="en-US" sz="2400" spc="-5" dirty="0">
                <a:latin typeface="Times New Roman"/>
                <a:cs typeface="Times New Roman"/>
              </a:rPr>
              <a:t>Sunday </a:t>
            </a:r>
            <a:r>
              <a:rPr lang="en-US" sz="2400" dirty="0">
                <a:latin typeface="Times New Roman"/>
                <a:cs typeface="Times New Roman"/>
              </a:rPr>
              <a:t>are excluded </a:t>
            </a:r>
            <a:r>
              <a:rPr lang="en-US" sz="2400" spc="-5" dirty="0">
                <a:latin typeface="Times New Roman"/>
                <a:cs typeface="Times New Roman"/>
              </a:rPr>
              <a:t>for </a:t>
            </a:r>
            <a:r>
              <a:rPr lang="en-US" sz="2400" dirty="0">
                <a:latin typeface="Times New Roman"/>
                <a:cs typeface="Times New Roman"/>
              </a:rPr>
              <a:t>this purpose. Thus </a:t>
            </a:r>
            <a:r>
              <a:rPr lang="en-US" sz="2400" spc="-5" dirty="0">
                <a:latin typeface="Times New Roman"/>
                <a:cs typeface="Times New Roman"/>
              </a:rPr>
              <a:t>money, </a:t>
            </a:r>
            <a:r>
              <a:rPr lang="en-US" sz="2400" dirty="0">
                <a:latin typeface="Times New Roman"/>
                <a:cs typeface="Times New Roman"/>
              </a:rPr>
              <a:t>borrowed on a day and repaid on the  next working day, (irrespective of the </a:t>
            </a:r>
            <a:r>
              <a:rPr lang="en-US" sz="2400" spc="-5" dirty="0">
                <a:latin typeface="Times New Roman"/>
                <a:cs typeface="Times New Roman"/>
              </a:rPr>
              <a:t>number </a:t>
            </a:r>
            <a:r>
              <a:rPr lang="en-US" sz="2400" dirty="0">
                <a:latin typeface="Times New Roman"/>
                <a:cs typeface="Times New Roman"/>
              </a:rPr>
              <a:t>of intervening  holidays) is </a:t>
            </a:r>
            <a:r>
              <a:rPr lang="en-US" sz="2400" spc="-5" dirty="0">
                <a:latin typeface="Times New Roman"/>
                <a:cs typeface="Times New Roman"/>
              </a:rPr>
              <a:t>"Call </a:t>
            </a:r>
            <a:r>
              <a:rPr lang="en-US" sz="2400" dirty="0">
                <a:latin typeface="Times New Roman"/>
                <a:cs typeface="Times New Roman"/>
              </a:rPr>
              <a:t>Money".</a:t>
            </a:r>
          </a:p>
          <a:p>
            <a:pPr marL="355600" marR="305435" indent="-342900" algn="just">
              <a:spcBef>
                <a:spcPts val="600"/>
              </a:spcBef>
              <a:buFont typeface="Arial" panose="020B0604020202020204" pitchFamily="34" charset="0"/>
              <a:buChar char="•"/>
            </a:pPr>
            <a:endParaRPr lang="en-US" sz="2400" dirty="0">
              <a:latin typeface="Times New Roman"/>
              <a:cs typeface="Times New Roman"/>
            </a:endParaRPr>
          </a:p>
          <a:p>
            <a:pPr marL="355600" marR="5080" indent="-342900" algn="just">
              <a:spcBef>
                <a:spcPts val="600"/>
              </a:spcBef>
              <a:buFont typeface="Arial" panose="020B0604020202020204" pitchFamily="34" charset="0"/>
              <a:buChar char="•"/>
            </a:pPr>
            <a:r>
              <a:rPr lang="en-US" sz="2400" spc="-5" dirty="0">
                <a:latin typeface="Times New Roman"/>
                <a:cs typeface="Times New Roman"/>
              </a:rPr>
              <a:t>When </a:t>
            </a:r>
            <a:r>
              <a:rPr lang="en-US" sz="2400" spc="-10" dirty="0">
                <a:latin typeface="Times New Roman"/>
                <a:cs typeface="Times New Roman"/>
              </a:rPr>
              <a:t>money </a:t>
            </a:r>
            <a:r>
              <a:rPr lang="en-US" sz="2400" dirty="0">
                <a:latin typeface="Times New Roman"/>
                <a:cs typeface="Times New Roman"/>
              </a:rPr>
              <a:t>is borrowed or lent </a:t>
            </a:r>
            <a:r>
              <a:rPr lang="en-US" sz="2400" spc="-5" dirty="0">
                <a:latin typeface="Times New Roman"/>
                <a:cs typeface="Times New Roman"/>
              </a:rPr>
              <a:t>for more </a:t>
            </a:r>
            <a:r>
              <a:rPr lang="en-US" sz="2400" dirty="0">
                <a:latin typeface="Times New Roman"/>
                <a:cs typeface="Times New Roman"/>
              </a:rPr>
              <a:t>than a day and up to  14 days, it is </a:t>
            </a:r>
            <a:r>
              <a:rPr lang="en-US" sz="2400" spc="-5" dirty="0">
                <a:latin typeface="Times New Roman"/>
                <a:cs typeface="Times New Roman"/>
              </a:rPr>
              <a:t>"Notice </a:t>
            </a:r>
            <a:r>
              <a:rPr lang="en-US" sz="2400" dirty="0">
                <a:latin typeface="Times New Roman"/>
                <a:cs typeface="Times New Roman"/>
              </a:rPr>
              <a:t>Money". </a:t>
            </a:r>
            <a:r>
              <a:rPr lang="en-US" sz="2400" spc="-5" dirty="0">
                <a:latin typeface="Times New Roman"/>
                <a:cs typeface="Times New Roman"/>
              </a:rPr>
              <a:t>No </a:t>
            </a:r>
            <a:r>
              <a:rPr lang="en-US" sz="2400" dirty="0">
                <a:latin typeface="Times New Roman"/>
                <a:cs typeface="Times New Roman"/>
              </a:rPr>
              <a:t>collateral security </a:t>
            </a:r>
            <a:r>
              <a:rPr lang="en-US" sz="2400" spc="5" dirty="0">
                <a:latin typeface="Times New Roman"/>
                <a:cs typeface="Times New Roman"/>
              </a:rPr>
              <a:t>is  </a:t>
            </a:r>
            <a:r>
              <a:rPr lang="en-US" sz="2400" dirty="0">
                <a:latin typeface="Times New Roman"/>
                <a:cs typeface="Times New Roman"/>
              </a:rPr>
              <a:t>required to cover these</a:t>
            </a:r>
            <a:r>
              <a:rPr lang="en-US" sz="2400" spc="-5" dirty="0">
                <a:latin typeface="Times New Roman"/>
                <a:cs typeface="Times New Roman"/>
              </a:rPr>
              <a:t> transactions.</a:t>
            </a:r>
            <a:endParaRPr lang="en-US" sz="2400" dirty="0">
              <a:latin typeface="Times New Roman"/>
              <a:cs typeface="Times New Roman"/>
            </a:endParaRPr>
          </a:p>
        </p:txBody>
      </p:sp>
    </p:spTree>
    <p:extLst>
      <p:ext uri="{BB962C8B-B14F-4D97-AF65-F5344CB8AC3E}">
        <p14:creationId xmlns:p14="http://schemas.microsoft.com/office/powerpoint/2010/main" val="21097665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850669" y="424557"/>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r>
              <a:rPr lang="en-IN" sz="3200" b="1" dirty="0">
                <a:solidFill>
                  <a:schemeClr val="tx1"/>
                </a:solidFill>
                <a:latin typeface="Times New Roman" panose="02020603050405020304" pitchFamily="18" charset="0"/>
                <a:cs typeface="Times New Roman" panose="02020603050405020304" pitchFamily="18" charset="0"/>
              </a:rPr>
              <a:t>Treasury Bills: </a:t>
            </a:r>
            <a:endParaRPr lang="en-IN" sz="32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Wingdings" panose="05000000000000000000" pitchFamily="2" charset="2"/>
              <a:buChar char="Ø"/>
            </a:pPr>
            <a:r>
              <a:rPr lang="en-IN" sz="3200" dirty="0">
                <a:solidFill>
                  <a:schemeClr val="tx1"/>
                </a:solidFill>
                <a:latin typeface="Times New Roman" panose="02020603050405020304" pitchFamily="18" charset="0"/>
                <a:cs typeface="Times New Roman" panose="02020603050405020304" pitchFamily="18" charset="0"/>
              </a:rPr>
              <a:t>Treasury bills show the responsibilities of Government of India. </a:t>
            </a:r>
          </a:p>
          <a:p>
            <a:pPr marL="457200" indent="-457200" algn="just" fontAlgn="base">
              <a:buFont typeface="Wingdings" panose="05000000000000000000" pitchFamily="2" charset="2"/>
              <a:buChar char="Ø"/>
            </a:pPr>
            <a:r>
              <a:rPr lang="en-IN" sz="3200" dirty="0">
                <a:solidFill>
                  <a:schemeClr val="tx1"/>
                </a:solidFill>
                <a:latin typeface="Times New Roman" panose="02020603050405020304" pitchFamily="18" charset="0"/>
                <a:cs typeface="Times New Roman" panose="02020603050405020304" pitchFamily="18" charset="0"/>
              </a:rPr>
              <a:t>It is basically of 91 days,</a:t>
            </a:r>
            <a:r>
              <a:rPr lang="en-IN" dirty="0"/>
              <a:t> </a:t>
            </a:r>
            <a:r>
              <a:rPr lang="en-IN" sz="3200" dirty="0">
                <a:solidFill>
                  <a:schemeClr val="tx1"/>
                </a:solidFill>
                <a:latin typeface="Times New Roman" panose="02020603050405020304" pitchFamily="18" charset="0"/>
                <a:cs typeface="Times New Roman" panose="02020603050405020304" pitchFamily="18" charset="0"/>
              </a:rPr>
              <a:t>182 days and 364 days. They are given to the customers on the auction basis every week which has certain small denominations which are issued by the Reserve Bank of India. </a:t>
            </a:r>
          </a:p>
          <a:p>
            <a:pPr marL="457200" indent="-457200" algn="just" fontAlgn="base">
              <a:buFont typeface="Wingdings" panose="05000000000000000000" pitchFamily="2" charset="2"/>
              <a:buChar char="Ø"/>
            </a:pPr>
            <a:r>
              <a:rPr lang="en-IN" sz="3200" dirty="0">
                <a:solidFill>
                  <a:schemeClr val="tx1"/>
                </a:solidFill>
                <a:latin typeface="Times New Roman" panose="02020603050405020304" pitchFamily="18" charset="0"/>
                <a:cs typeface="Times New Roman" panose="02020603050405020304" pitchFamily="18" charset="0"/>
              </a:rPr>
              <a:t>It does not have any specific interest rate so they are sold on discount and are redeemed at face value.</a:t>
            </a:r>
          </a:p>
        </p:txBody>
      </p:sp>
    </p:spTree>
    <p:extLst>
      <p:ext uri="{BB962C8B-B14F-4D97-AF65-F5344CB8AC3E}">
        <p14:creationId xmlns:p14="http://schemas.microsoft.com/office/powerpoint/2010/main" val="37045417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0011" y="560613"/>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a:p>
            <a:pPr algn="just" fontAlgn="base"/>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704391" y="1083833"/>
            <a:ext cx="9324392" cy="5300938"/>
          </a:xfrm>
          <a:prstGeom prst="rect">
            <a:avLst/>
          </a:prstGeom>
        </p:spPr>
        <p:txBody>
          <a:bodyPr wrap="square">
            <a:spAutoFit/>
          </a:bodyPr>
          <a:lstStyle/>
          <a:p>
            <a:pPr marL="354330" marR="745490" indent="-341630" algn="just">
              <a:lnSpc>
                <a:spcPct val="150000"/>
              </a:lnSpc>
              <a:spcBef>
                <a:spcPts val="100"/>
              </a:spcBef>
              <a:buChar char="•"/>
              <a:tabLst>
                <a:tab pos="353695" algn="l"/>
                <a:tab pos="354330" algn="l"/>
              </a:tabLst>
            </a:pPr>
            <a:r>
              <a:rPr lang="en-US" sz="2800" dirty="0">
                <a:latin typeface="Times New Roman"/>
                <a:cs typeface="Times New Roman"/>
              </a:rPr>
              <a:t>The interbank money market is a market in which banks extend loans to one another for a specified term at interbank rates</a:t>
            </a:r>
          </a:p>
          <a:p>
            <a:pPr marL="354330" marR="745490" indent="-341630" algn="just">
              <a:lnSpc>
                <a:spcPct val="150000"/>
              </a:lnSpc>
              <a:spcBef>
                <a:spcPts val="100"/>
              </a:spcBef>
              <a:buChar char="•"/>
              <a:tabLst>
                <a:tab pos="353695" algn="l"/>
                <a:tab pos="354330" algn="l"/>
              </a:tabLst>
            </a:pPr>
            <a:r>
              <a:rPr lang="en-US" sz="2800" dirty="0">
                <a:latin typeface="Times New Roman"/>
                <a:cs typeface="Times New Roman"/>
              </a:rPr>
              <a:t>Inter-bank </a:t>
            </a:r>
            <a:r>
              <a:rPr lang="en-US" sz="2800" spc="-5" dirty="0">
                <a:latin typeface="Times New Roman"/>
                <a:cs typeface="Times New Roman"/>
              </a:rPr>
              <a:t>market for </a:t>
            </a:r>
            <a:r>
              <a:rPr lang="en-US" sz="2800" dirty="0">
                <a:latin typeface="Times New Roman"/>
                <a:cs typeface="Times New Roman"/>
              </a:rPr>
              <a:t>deposits of </a:t>
            </a:r>
            <a:r>
              <a:rPr lang="en-US" sz="2800" spc="-5" dirty="0">
                <a:latin typeface="Times New Roman"/>
                <a:cs typeface="Times New Roman"/>
              </a:rPr>
              <a:t>maturity </a:t>
            </a:r>
            <a:r>
              <a:rPr lang="en-US" sz="2800" spc="5" dirty="0">
                <a:latin typeface="Times New Roman"/>
                <a:cs typeface="Times New Roman"/>
              </a:rPr>
              <a:t>beyond </a:t>
            </a:r>
            <a:r>
              <a:rPr lang="en-US" sz="2800" dirty="0">
                <a:latin typeface="Times New Roman"/>
                <a:cs typeface="Times New Roman"/>
              </a:rPr>
              <a:t>14 </a:t>
            </a:r>
            <a:r>
              <a:rPr lang="en-US" sz="2800" spc="5" dirty="0">
                <a:latin typeface="Times New Roman"/>
                <a:cs typeface="Times New Roman"/>
              </a:rPr>
              <a:t>days </a:t>
            </a:r>
            <a:r>
              <a:rPr lang="en-US" sz="2800" spc="-5" dirty="0">
                <a:latin typeface="Times New Roman"/>
                <a:cs typeface="Times New Roman"/>
              </a:rPr>
              <a:t>is referred to </a:t>
            </a:r>
            <a:r>
              <a:rPr lang="en-US" sz="2800" dirty="0">
                <a:latin typeface="Times New Roman"/>
                <a:cs typeface="Times New Roman"/>
              </a:rPr>
              <a:t>as </a:t>
            </a:r>
            <a:r>
              <a:rPr lang="en-US" sz="2800" spc="-5" dirty="0">
                <a:latin typeface="Times New Roman"/>
                <a:cs typeface="Times New Roman"/>
              </a:rPr>
              <a:t>the term  </a:t>
            </a:r>
            <a:r>
              <a:rPr lang="en-US" sz="2800" dirty="0">
                <a:latin typeface="Times New Roman"/>
                <a:cs typeface="Times New Roman"/>
              </a:rPr>
              <a:t>money</a:t>
            </a:r>
            <a:r>
              <a:rPr lang="en-US" sz="2800" spc="15" dirty="0">
                <a:latin typeface="Times New Roman"/>
                <a:cs typeface="Times New Roman"/>
              </a:rPr>
              <a:t> </a:t>
            </a:r>
            <a:r>
              <a:rPr lang="en-US" sz="2800" spc="-10" dirty="0">
                <a:latin typeface="Times New Roman"/>
                <a:cs typeface="Times New Roman"/>
              </a:rPr>
              <a:t>market.</a:t>
            </a:r>
            <a:endParaRPr lang="en-US" sz="2800" dirty="0">
              <a:latin typeface="Times New Roman"/>
              <a:cs typeface="Times New Roman"/>
            </a:endParaRPr>
          </a:p>
          <a:p>
            <a:pPr marL="354330" marR="5080" indent="-341630" algn="just">
              <a:lnSpc>
                <a:spcPct val="150000"/>
              </a:lnSpc>
              <a:spcBef>
                <a:spcPts val="800"/>
              </a:spcBef>
              <a:buChar char="•"/>
              <a:tabLst>
                <a:tab pos="353695" algn="l"/>
                <a:tab pos="354330" algn="l"/>
              </a:tabLst>
            </a:pPr>
            <a:r>
              <a:rPr lang="en-US" sz="2800" dirty="0">
                <a:latin typeface="Times New Roman"/>
                <a:cs typeface="Times New Roman"/>
              </a:rPr>
              <a:t>The entry </a:t>
            </a:r>
            <a:r>
              <a:rPr lang="en-US" sz="2800" spc="-5" dirty="0">
                <a:latin typeface="Times New Roman"/>
                <a:cs typeface="Times New Roman"/>
              </a:rPr>
              <a:t>restrictions are the same </a:t>
            </a:r>
            <a:r>
              <a:rPr lang="en-US" sz="2800" dirty="0">
                <a:latin typeface="Times New Roman"/>
                <a:cs typeface="Times New Roman"/>
              </a:rPr>
              <a:t>as those </a:t>
            </a:r>
            <a:r>
              <a:rPr lang="en-US" sz="2800" spc="-5" dirty="0">
                <a:latin typeface="Times New Roman"/>
                <a:cs typeface="Times New Roman"/>
              </a:rPr>
              <a:t>for Call/Notice </a:t>
            </a:r>
            <a:r>
              <a:rPr lang="en-US" sz="2800" dirty="0">
                <a:latin typeface="Times New Roman"/>
                <a:cs typeface="Times New Roman"/>
              </a:rPr>
              <a:t>Money except </a:t>
            </a:r>
            <a:r>
              <a:rPr lang="en-US" sz="2800" spc="-5" dirty="0">
                <a:latin typeface="Times New Roman"/>
                <a:cs typeface="Times New Roman"/>
              </a:rPr>
              <a:t>that, as </a:t>
            </a:r>
            <a:r>
              <a:rPr lang="en-US" sz="2800" dirty="0">
                <a:latin typeface="Times New Roman"/>
                <a:cs typeface="Times New Roman"/>
              </a:rPr>
              <a:t>per </a:t>
            </a:r>
            <a:r>
              <a:rPr lang="en-US" sz="2800" spc="-5" dirty="0">
                <a:latin typeface="Times New Roman"/>
                <a:cs typeface="Times New Roman"/>
              </a:rPr>
              <a:t>existing  </a:t>
            </a:r>
            <a:r>
              <a:rPr lang="en-US" sz="2800" dirty="0">
                <a:latin typeface="Times New Roman"/>
                <a:cs typeface="Times New Roman"/>
              </a:rPr>
              <a:t>regulations, </a:t>
            </a:r>
            <a:r>
              <a:rPr lang="en-US" sz="2800" spc="-5" dirty="0">
                <a:latin typeface="Times New Roman"/>
                <a:cs typeface="Times New Roman"/>
              </a:rPr>
              <a:t>the specified entities </a:t>
            </a:r>
            <a:r>
              <a:rPr lang="en-US" sz="2800" dirty="0">
                <a:latin typeface="Times New Roman"/>
                <a:cs typeface="Times New Roman"/>
              </a:rPr>
              <a:t>are not  </a:t>
            </a:r>
            <a:r>
              <a:rPr lang="en-US" sz="2800" spc="-5" dirty="0">
                <a:latin typeface="Times New Roman"/>
                <a:cs typeface="Times New Roman"/>
              </a:rPr>
              <a:t>allowed to </a:t>
            </a:r>
            <a:r>
              <a:rPr lang="en-US" sz="2800" dirty="0">
                <a:latin typeface="Times New Roman"/>
                <a:cs typeface="Times New Roman"/>
              </a:rPr>
              <a:t>lend beyond 14</a:t>
            </a:r>
            <a:r>
              <a:rPr lang="en-US" sz="2800" spc="20" dirty="0">
                <a:latin typeface="Times New Roman"/>
                <a:cs typeface="Times New Roman"/>
              </a:rPr>
              <a:t> </a:t>
            </a:r>
            <a:r>
              <a:rPr lang="en-US" sz="2800" spc="5" dirty="0">
                <a:latin typeface="Times New Roman"/>
                <a:cs typeface="Times New Roman"/>
              </a:rPr>
              <a:t>days.</a:t>
            </a:r>
            <a:endParaRPr lang="en-US" sz="2800" dirty="0">
              <a:latin typeface="Times New Roman"/>
              <a:cs typeface="Times New Roman"/>
            </a:endParaRPr>
          </a:p>
        </p:txBody>
      </p:sp>
      <p:sp>
        <p:nvSpPr>
          <p:cNvPr id="3" name="Rectangle 2"/>
          <p:cNvSpPr/>
          <p:nvPr/>
        </p:nvSpPr>
        <p:spPr>
          <a:xfrm>
            <a:off x="4411661" y="560613"/>
            <a:ext cx="3909853" cy="523220"/>
          </a:xfrm>
          <a:prstGeom prst="rect">
            <a:avLst/>
          </a:prstGeom>
        </p:spPr>
        <p:txBody>
          <a:bodyPr wrap="none">
            <a:spAutoFit/>
          </a:bodyPr>
          <a:lstStyle/>
          <a:p>
            <a:r>
              <a:rPr lang="en-IN" sz="2800" b="1" spc="-5" dirty="0">
                <a:latin typeface="Times New Roman" panose="02020603050405020304" pitchFamily="18" charset="0"/>
                <a:cs typeface="Times New Roman" panose="02020603050405020304" pitchFamily="18" charset="0"/>
              </a:rPr>
              <a:t>Inter-Bank </a:t>
            </a:r>
            <a:r>
              <a:rPr lang="en-IN" sz="2800" b="1" spc="-10" dirty="0">
                <a:latin typeface="Times New Roman" panose="02020603050405020304" pitchFamily="18" charset="0"/>
                <a:cs typeface="Times New Roman" panose="02020603050405020304" pitchFamily="18" charset="0"/>
              </a:rPr>
              <a:t>Term</a:t>
            </a:r>
            <a:r>
              <a:rPr lang="en-IN" sz="2800" b="1" spc="-70" dirty="0">
                <a:latin typeface="Times New Roman" panose="02020603050405020304" pitchFamily="18" charset="0"/>
                <a:cs typeface="Times New Roman" panose="02020603050405020304" pitchFamily="18" charset="0"/>
              </a:rPr>
              <a:t> </a:t>
            </a:r>
            <a:r>
              <a:rPr lang="en-IN" sz="2800" b="1" spc="-15" dirty="0">
                <a:latin typeface="Times New Roman" panose="02020603050405020304" pitchFamily="18" charset="0"/>
                <a:cs typeface="Times New Roman" panose="02020603050405020304" pitchFamily="18" charset="0"/>
              </a:rPr>
              <a:t>Money</a:t>
            </a:r>
            <a:endParaRPr lang="en-IN" sz="2800" b="1" dirty="0"/>
          </a:p>
        </p:txBody>
      </p:sp>
    </p:spTree>
    <p:extLst>
      <p:ext uri="{BB962C8B-B14F-4D97-AF65-F5344CB8AC3E}">
        <p14:creationId xmlns:p14="http://schemas.microsoft.com/office/powerpoint/2010/main" val="12469912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825732" y="216132"/>
            <a:ext cx="10631978" cy="6332356"/>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a:r>
              <a:rPr lang="en-IN" sz="2800" b="1" dirty="0">
                <a:solidFill>
                  <a:schemeClr val="tx1"/>
                </a:solidFill>
                <a:latin typeface="Times New Roman" panose="02020603050405020304" pitchFamily="18" charset="0"/>
                <a:cs typeface="Times New Roman" panose="02020603050405020304" pitchFamily="18" charset="0"/>
              </a:rPr>
              <a:t>Certificates of Deposit (CD): </a:t>
            </a:r>
            <a:endParaRPr lang="en-IN" sz="2800" dirty="0">
              <a:solidFill>
                <a:schemeClr val="tx1"/>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CD is also a money market instrument issued by banks to the depositors, in the form of certificate showing the existence of such deposit with them.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These certificates are in turn traded by the depositors (when such a need arises) between their business associates.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In short, under this arrangement, the Bank deposit may be transferred from one owner to another, any number of times, before its maturity.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Interest on such deposits continues to be paid in the normal course. </a:t>
            </a:r>
          </a:p>
          <a:p>
            <a:pPr marL="457200" indent="-4572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The price of CD depends on the (a) Rate of interest available on the Bank Deposit (which is fixed), and (b) Rate of interest prevailing in the market at that particular time.</a:t>
            </a:r>
          </a:p>
        </p:txBody>
      </p:sp>
    </p:spTree>
    <p:extLst>
      <p:ext uri="{BB962C8B-B14F-4D97-AF65-F5344CB8AC3E}">
        <p14:creationId xmlns:p14="http://schemas.microsoft.com/office/powerpoint/2010/main" val="6040752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476596" y="182880"/>
            <a:ext cx="10631978" cy="6583680"/>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r>
              <a:rPr lang="en-IN" sz="2800" b="1" dirty="0">
                <a:solidFill>
                  <a:schemeClr val="tx1"/>
                </a:solidFill>
              </a:rPr>
              <a:t>Commercial Paper (CP): </a:t>
            </a:r>
            <a:endParaRPr lang="en-IN" sz="2800" dirty="0">
              <a:solidFill>
                <a:schemeClr val="tx1"/>
              </a:solidFill>
            </a:endParaRPr>
          </a:p>
          <a:p>
            <a:pPr marL="457200" indent="-457200" algn="just" fontAlgn="base">
              <a:buFont typeface="Wingdings" panose="05000000000000000000" pitchFamily="2" charset="2"/>
              <a:buChar char="Ø"/>
            </a:pPr>
            <a:r>
              <a:rPr lang="en-IN" sz="2800" dirty="0">
                <a:solidFill>
                  <a:schemeClr val="tx1"/>
                </a:solidFill>
              </a:rPr>
              <a:t>A commercial paper is an </a:t>
            </a:r>
            <a:r>
              <a:rPr lang="en-IN" sz="2800" dirty="0">
                <a:solidFill>
                  <a:srgbClr val="C00000"/>
                </a:solidFill>
              </a:rPr>
              <a:t>unsecured promissory note and money market instrument</a:t>
            </a:r>
            <a:r>
              <a:rPr lang="en-IN" sz="2800" dirty="0">
                <a:solidFill>
                  <a:schemeClr val="tx1"/>
                </a:solidFill>
              </a:rPr>
              <a:t>, issued by large corporate houses for raising funds with a view to meeting their short-term debt obligations such as payroll. </a:t>
            </a:r>
          </a:p>
          <a:p>
            <a:pPr marL="457200" indent="-457200" algn="just" fontAlgn="base">
              <a:buFont typeface="Wingdings" panose="05000000000000000000" pitchFamily="2" charset="2"/>
              <a:buChar char="Ø"/>
            </a:pPr>
            <a:r>
              <a:rPr lang="en-IN" sz="2800" dirty="0">
                <a:solidFill>
                  <a:schemeClr val="tx1"/>
                </a:solidFill>
              </a:rPr>
              <a:t>CP is </a:t>
            </a:r>
            <a:r>
              <a:rPr lang="en-IN" sz="2800" dirty="0">
                <a:solidFill>
                  <a:srgbClr val="C00000"/>
                </a:solidFill>
              </a:rPr>
              <a:t>not secured by collateral security</a:t>
            </a:r>
            <a:r>
              <a:rPr lang="en-IN" sz="2800" dirty="0">
                <a:solidFill>
                  <a:schemeClr val="tx1"/>
                </a:solidFill>
              </a:rPr>
              <a:t>. It is supported by an issuing bank or company who promise to pay the face value at the maturity date indicated on the note, </a:t>
            </a:r>
          </a:p>
          <a:p>
            <a:pPr marL="457200" indent="-457200" algn="just" fontAlgn="base">
              <a:buFont typeface="Wingdings" panose="05000000000000000000" pitchFamily="2" charset="2"/>
              <a:buChar char="Ø"/>
            </a:pPr>
            <a:r>
              <a:rPr lang="en-IN" sz="2800" dirty="0">
                <a:solidFill>
                  <a:schemeClr val="tx1"/>
                </a:solidFill>
              </a:rPr>
              <a:t>As it is an unsecured instrument, only the organizations with exceptional credit ratings are capable of issuing their commercial paper at an economical price. </a:t>
            </a:r>
          </a:p>
          <a:p>
            <a:pPr marL="457200" indent="-457200" algn="just" fontAlgn="base">
              <a:buFont typeface="Wingdings" panose="05000000000000000000" pitchFamily="2" charset="2"/>
              <a:buChar char="Ø"/>
            </a:pPr>
            <a:r>
              <a:rPr lang="en-IN" sz="2800" dirty="0">
                <a:solidFill>
                  <a:schemeClr val="tx1"/>
                </a:solidFill>
              </a:rPr>
              <a:t>The maturity period of Commercial Paper ranges between 15 days and one year. On maturity date, the issuer has to repay the due amount without any delay. There is no provision of grace period in this case.</a:t>
            </a:r>
          </a:p>
        </p:txBody>
      </p:sp>
    </p:spTree>
    <p:extLst>
      <p:ext uri="{BB962C8B-B14F-4D97-AF65-F5344CB8AC3E}">
        <p14:creationId xmlns:p14="http://schemas.microsoft.com/office/powerpoint/2010/main" val="32957159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1210746" y="856566"/>
            <a:ext cx="10702212" cy="5889481"/>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endParaRPr>
          </a:p>
        </p:txBody>
      </p:sp>
      <p:sp>
        <p:nvSpPr>
          <p:cNvPr id="2" name="Rectangle 1"/>
          <p:cNvSpPr/>
          <p:nvPr/>
        </p:nvSpPr>
        <p:spPr>
          <a:xfrm>
            <a:off x="3276601" y="533401"/>
            <a:ext cx="5831725" cy="646331"/>
          </a:xfrm>
          <a:prstGeom prst="rect">
            <a:avLst/>
          </a:prstGeom>
          <a:solidFill>
            <a:schemeClr val="accent1">
              <a:lumMod val="40000"/>
              <a:lumOff val="60000"/>
            </a:schemeClr>
          </a:solidFill>
        </p:spPr>
        <p:txBody>
          <a:bodyPr wrap="none">
            <a:spAutoFit/>
          </a:bodyPr>
          <a:lstStyle/>
          <a:p>
            <a:r>
              <a:rPr lang="en-IN" sz="3600" b="1" dirty="0">
                <a:solidFill>
                  <a:srgbClr val="000000"/>
                </a:solidFill>
                <a:latin typeface="Times New Roman" panose="02020603050405020304" pitchFamily="18" charset="0"/>
                <a:cs typeface="Times New Roman" panose="02020603050405020304" pitchFamily="18" charset="0"/>
              </a:rPr>
              <a:t>Merits of Commercial Paper</a:t>
            </a:r>
          </a:p>
        </p:txBody>
      </p:sp>
      <p:sp>
        <p:nvSpPr>
          <p:cNvPr id="3" name="Rectangle 2"/>
          <p:cNvSpPr/>
          <p:nvPr/>
        </p:nvSpPr>
        <p:spPr>
          <a:xfrm>
            <a:off x="1772863" y="1511123"/>
            <a:ext cx="4419600" cy="4524315"/>
          </a:xfrm>
          <a:prstGeom prst="rect">
            <a:avLst/>
          </a:prstGeom>
        </p:spPr>
        <p:txBody>
          <a:bodyPr wrap="square">
            <a:spAutoFit/>
          </a:bodyPr>
          <a:lstStyle/>
          <a:p>
            <a:pPr marL="457200" indent="-4572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Technically, it provides</a:t>
            </a:r>
            <a:r>
              <a:rPr lang="en-IN" sz="2400" i="1" dirty="0">
                <a:solidFill>
                  <a:srgbClr val="0B0B0B"/>
                </a:solidFill>
                <a:latin typeface="Times New Roman" panose="02020603050405020304" pitchFamily="18" charset="0"/>
                <a:cs typeface="Times New Roman" panose="02020603050405020304" pitchFamily="18" charset="0"/>
              </a:rPr>
              <a:t> more funds</a:t>
            </a:r>
            <a:r>
              <a:rPr lang="en-IN" sz="2400" dirty="0">
                <a:solidFill>
                  <a:srgbClr val="0B0B0B"/>
                </a:solidFill>
                <a:latin typeface="Times New Roman" panose="02020603050405020304" pitchFamily="18" charset="0"/>
                <a:cs typeface="Times New Roman" panose="02020603050405020304" pitchFamily="18" charset="0"/>
              </a:rPr>
              <a:t> compared to other sources. The cost of commercial paper to the issuing firm is lower than the cost of commercial bank </a:t>
            </a:r>
            <a:r>
              <a:rPr lang="en-IN" sz="2400" dirty="0">
                <a:latin typeface="Times New Roman" panose="02020603050405020304" pitchFamily="18" charset="0"/>
                <a:cs typeface="Times New Roman" panose="02020603050405020304" pitchFamily="18" charset="0"/>
              </a:rPr>
              <a:t>loans.</a:t>
            </a:r>
          </a:p>
          <a:p>
            <a:pPr marL="457200" indent="-4572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It is in </a:t>
            </a:r>
            <a:r>
              <a:rPr lang="en-IN" sz="2400" i="1" dirty="0">
                <a:solidFill>
                  <a:srgbClr val="0B0B0B"/>
                </a:solidFill>
                <a:latin typeface="Times New Roman" panose="02020603050405020304" pitchFamily="18" charset="0"/>
                <a:cs typeface="Times New Roman" panose="02020603050405020304" pitchFamily="18" charset="0"/>
              </a:rPr>
              <a:t>freely transferable</a:t>
            </a:r>
            <a:r>
              <a:rPr lang="en-IN" sz="2400" dirty="0">
                <a:solidFill>
                  <a:srgbClr val="0B0B0B"/>
                </a:solidFill>
                <a:latin typeface="Times New Roman" panose="02020603050405020304" pitchFamily="18" charset="0"/>
                <a:cs typeface="Times New Roman" panose="02020603050405020304" pitchFamily="18" charset="0"/>
              </a:rPr>
              <a:t> nature, therefore it has high liquidity also a wide range of maturity provide more flexibility.</a:t>
            </a:r>
          </a:p>
        </p:txBody>
      </p:sp>
      <p:pic>
        <p:nvPicPr>
          <p:cNvPr id="4" name="Picture 2" descr="Commercial Pap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2536" y="1721246"/>
            <a:ext cx="5251580" cy="4104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61244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08922" y="1371600"/>
            <a:ext cx="9946432" cy="4189445"/>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endParaRPr>
          </a:p>
        </p:txBody>
      </p:sp>
      <p:sp>
        <p:nvSpPr>
          <p:cNvPr id="2" name="Rectangle 1"/>
          <p:cNvSpPr/>
          <p:nvPr/>
        </p:nvSpPr>
        <p:spPr>
          <a:xfrm>
            <a:off x="3313924" y="943381"/>
            <a:ext cx="5831725" cy="646331"/>
          </a:xfrm>
          <a:prstGeom prst="rect">
            <a:avLst/>
          </a:prstGeom>
          <a:solidFill>
            <a:schemeClr val="accent1">
              <a:lumMod val="40000"/>
              <a:lumOff val="60000"/>
            </a:schemeClr>
          </a:solidFill>
        </p:spPr>
        <p:txBody>
          <a:bodyPr wrap="none">
            <a:spAutoFit/>
          </a:bodyPr>
          <a:lstStyle/>
          <a:p>
            <a:pPr algn="ctr"/>
            <a:r>
              <a:rPr lang="en-IN" sz="3600" b="1" dirty="0">
                <a:solidFill>
                  <a:srgbClr val="000000"/>
                </a:solidFill>
                <a:latin typeface="Times New Roman" panose="02020603050405020304" pitchFamily="18" charset="0"/>
                <a:cs typeface="Times New Roman" panose="02020603050405020304" pitchFamily="18" charset="0"/>
              </a:rPr>
              <a:t>Merits of Commercial Paper</a:t>
            </a:r>
          </a:p>
        </p:txBody>
      </p:sp>
      <p:sp>
        <p:nvSpPr>
          <p:cNvPr id="3" name="Rectangle 2"/>
          <p:cNvSpPr/>
          <p:nvPr/>
        </p:nvSpPr>
        <p:spPr>
          <a:xfrm>
            <a:off x="1918952" y="1807825"/>
            <a:ext cx="8083511" cy="3046988"/>
          </a:xfrm>
          <a:prstGeom prst="rect">
            <a:avLst/>
          </a:prstGeom>
        </p:spPr>
        <p:txBody>
          <a:bodyPr wrap="square">
            <a:spAutoFit/>
          </a:bodyPr>
          <a:lstStyle/>
          <a:p>
            <a:pPr marL="457200" indent="-4572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A commercial paper is </a:t>
            </a:r>
            <a:r>
              <a:rPr lang="en-IN" sz="2400" i="1" dirty="0">
                <a:solidFill>
                  <a:srgbClr val="0B0B0B"/>
                </a:solidFill>
                <a:latin typeface="Times New Roman" panose="02020603050405020304" pitchFamily="18" charset="0"/>
                <a:cs typeface="Times New Roman" panose="02020603050405020304" pitchFamily="18" charset="0"/>
              </a:rPr>
              <a:t>highly secure</a:t>
            </a:r>
            <a:r>
              <a:rPr lang="en-IN" sz="2400" dirty="0">
                <a:solidFill>
                  <a:srgbClr val="0B0B0B"/>
                </a:solidFill>
                <a:latin typeface="Times New Roman" panose="02020603050405020304" pitchFamily="18" charset="0"/>
                <a:cs typeface="Times New Roman" panose="02020603050405020304" pitchFamily="18" charset="0"/>
              </a:rPr>
              <a:t> and does not contain any restrictive condition.</a:t>
            </a:r>
          </a:p>
          <a:p>
            <a:pPr marL="457200" indent="-4572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Companies can save their extra funds on commercial paper and also earn some </a:t>
            </a:r>
            <a:r>
              <a:rPr lang="en-IN" sz="2400" i="1" dirty="0">
                <a:solidFill>
                  <a:srgbClr val="0B0B0B"/>
                </a:solidFill>
                <a:latin typeface="Times New Roman" panose="02020603050405020304" pitchFamily="18" charset="0"/>
                <a:cs typeface="Times New Roman" panose="02020603050405020304" pitchFamily="18" charset="0"/>
              </a:rPr>
              <a:t>good return</a:t>
            </a:r>
            <a:r>
              <a:rPr lang="en-IN" sz="2400" dirty="0">
                <a:solidFill>
                  <a:srgbClr val="0B0B0B"/>
                </a:solidFill>
                <a:latin typeface="Times New Roman" panose="02020603050405020304" pitchFamily="18" charset="0"/>
                <a:cs typeface="Times New Roman" panose="02020603050405020304" pitchFamily="18" charset="0"/>
              </a:rPr>
              <a:t> on the same.</a:t>
            </a:r>
          </a:p>
          <a:p>
            <a:pPr marL="457200" indent="-4572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Commercial papers produce a </a:t>
            </a:r>
            <a:r>
              <a:rPr lang="en-IN" sz="2400" i="1" dirty="0">
                <a:solidFill>
                  <a:srgbClr val="0B0B0B"/>
                </a:solidFill>
                <a:latin typeface="Times New Roman" panose="02020603050405020304" pitchFamily="18" charset="0"/>
                <a:cs typeface="Times New Roman" panose="02020603050405020304" pitchFamily="18" charset="0"/>
              </a:rPr>
              <a:t>continuing source of funds</a:t>
            </a:r>
            <a:r>
              <a:rPr lang="en-IN" sz="2400" dirty="0">
                <a:solidFill>
                  <a:srgbClr val="0B0B0B"/>
                </a:solidFill>
                <a:latin typeface="Times New Roman" panose="02020603050405020304" pitchFamily="18" charset="0"/>
                <a:cs typeface="Times New Roman" panose="02020603050405020304" pitchFamily="18" charset="0"/>
              </a:rPr>
              <a:t>. This is because their maturity can be tailored to suit the needs of issuing firm. Again, commercial paper that matures can be repaid by selling the new commercial paper.</a:t>
            </a:r>
          </a:p>
        </p:txBody>
      </p:sp>
    </p:spTree>
    <p:extLst>
      <p:ext uri="{BB962C8B-B14F-4D97-AF65-F5344CB8AC3E}">
        <p14:creationId xmlns:p14="http://schemas.microsoft.com/office/powerpoint/2010/main" val="29183173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511558" y="905070"/>
            <a:ext cx="9227977" cy="560769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800" dirty="0">
              <a:solidFill>
                <a:schemeClr val="tx1"/>
              </a:solidFill>
            </a:endParaRPr>
          </a:p>
        </p:txBody>
      </p:sp>
      <p:sp>
        <p:nvSpPr>
          <p:cNvPr id="2" name="Rectangle 1"/>
          <p:cNvSpPr/>
          <p:nvPr/>
        </p:nvSpPr>
        <p:spPr>
          <a:xfrm>
            <a:off x="2743200" y="533401"/>
            <a:ext cx="6806350" cy="646331"/>
          </a:xfrm>
          <a:prstGeom prst="rect">
            <a:avLst/>
          </a:prstGeom>
          <a:solidFill>
            <a:schemeClr val="accent1">
              <a:lumMod val="40000"/>
              <a:lumOff val="60000"/>
            </a:schemeClr>
          </a:solidFill>
        </p:spPr>
        <p:txBody>
          <a:bodyPr wrap="none">
            <a:spAutoFit/>
          </a:bodyPr>
          <a:lstStyle/>
          <a:p>
            <a:r>
              <a:rPr lang="en-IN" sz="3600" b="1" dirty="0">
                <a:solidFill>
                  <a:srgbClr val="000000"/>
                </a:solidFill>
                <a:latin typeface="Times New Roman" panose="02020603050405020304" pitchFamily="18" charset="0"/>
                <a:cs typeface="Times New Roman" panose="02020603050405020304" pitchFamily="18" charset="0"/>
              </a:rPr>
              <a:t>Limitations of Commercial Paper</a:t>
            </a:r>
          </a:p>
        </p:txBody>
      </p:sp>
      <p:sp>
        <p:nvSpPr>
          <p:cNvPr id="3" name="Rectangle 2"/>
          <p:cNvSpPr/>
          <p:nvPr/>
        </p:nvSpPr>
        <p:spPr>
          <a:xfrm>
            <a:off x="1981200" y="1443842"/>
            <a:ext cx="8001000" cy="4893647"/>
          </a:xfrm>
          <a:prstGeom prst="rect">
            <a:avLst/>
          </a:prstGeom>
        </p:spPr>
        <p:txBody>
          <a:bodyPr wrap="square">
            <a:spAutoFit/>
          </a:bodyPr>
          <a:lstStyle/>
          <a:p>
            <a:pPr marL="342900" indent="-342900" algn="just">
              <a:buFont typeface="Arial" panose="020B0604020202020204" pitchFamily="34" charset="0"/>
              <a:buChar char="•"/>
            </a:pPr>
            <a:r>
              <a:rPr lang="en-IN" sz="2400" i="1" dirty="0">
                <a:solidFill>
                  <a:srgbClr val="0B0B0B"/>
                </a:solidFill>
                <a:latin typeface="Times New Roman" panose="02020603050405020304" pitchFamily="18" charset="0"/>
                <a:cs typeface="Times New Roman" panose="02020603050405020304" pitchFamily="18" charset="0"/>
              </a:rPr>
              <a:t>Only financially secure and highly rated organizations</a:t>
            </a:r>
            <a:r>
              <a:rPr lang="en-IN" sz="2400" dirty="0">
                <a:solidFill>
                  <a:srgbClr val="0B0B0B"/>
                </a:solidFill>
                <a:latin typeface="Times New Roman" panose="02020603050405020304" pitchFamily="18" charset="0"/>
                <a:cs typeface="Times New Roman" panose="02020603050405020304" pitchFamily="18" charset="0"/>
              </a:rPr>
              <a:t> can raise money through commercial papers. New and moderately rated </a:t>
            </a:r>
            <a:r>
              <a:rPr lang="en-IN" sz="2400" dirty="0">
                <a:solidFill>
                  <a:srgbClr val="FF0000"/>
                </a:solidFill>
                <a:latin typeface="Times New Roman" panose="02020603050405020304" pitchFamily="18" charset="0"/>
                <a:cs typeface="Times New Roman" panose="02020603050405020304" pitchFamily="18" charset="0"/>
              </a:rPr>
              <a:t>organizations</a:t>
            </a:r>
            <a:r>
              <a:rPr lang="en-IN" sz="2400" dirty="0">
                <a:solidFill>
                  <a:srgbClr val="0B0B0B"/>
                </a:solidFill>
                <a:latin typeface="Times New Roman" panose="02020603050405020304" pitchFamily="18" charset="0"/>
                <a:cs typeface="Times New Roman" panose="02020603050405020304" pitchFamily="18" charset="0"/>
              </a:rPr>
              <a:t> are not in a position to raise funds by this method.</a:t>
            </a:r>
          </a:p>
          <a:p>
            <a:pPr marL="342900" indent="-342900" algn="just">
              <a:buFont typeface="Arial" panose="020B0604020202020204" pitchFamily="34" charset="0"/>
              <a:buChar char="•"/>
            </a:pPr>
            <a:endParaRPr lang="en-IN" sz="2400" dirty="0">
              <a:solidFill>
                <a:srgbClr val="0B0B0B"/>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The amount of money that we can raise through commercial paper is</a:t>
            </a:r>
            <a:r>
              <a:rPr lang="en-IN" sz="2400" i="1" dirty="0">
                <a:solidFill>
                  <a:srgbClr val="0B0B0B"/>
                </a:solidFill>
                <a:latin typeface="Times New Roman" panose="02020603050405020304" pitchFamily="18" charset="0"/>
                <a:cs typeface="Times New Roman" panose="02020603050405020304" pitchFamily="18" charset="0"/>
              </a:rPr>
              <a:t> limited to the deductible liquidity</a:t>
            </a:r>
            <a:r>
              <a:rPr lang="en-IN" sz="2400" dirty="0">
                <a:solidFill>
                  <a:srgbClr val="0B0B0B"/>
                </a:solidFill>
                <a:latin typeface="Times New Roman" panose="02020603050405020304" pitchFamily="18" charset="0"/>
                <a:cs typeface="Times New Roman" panose="02020603050405020304" pitchFamily="18" charset="0"/>
              </a:rPr>
              <a:t> available with the suppliers of funds at a particular time.</a:t>
            </a:r>
          </a:p>
          <a:p>
            <a:pPr algn="just"/>
            <a:endParaRPr lang="en-IN" sz="2400" dirty="0">
              <a:solidFill>
                <a:srgbClr val="0B0B0B"/>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solidFill>
                  <a:srgbClr val="0B0B0B"/>
                </a:solidFill>
                <a:latin typeface="Times New Roman" panose="02020603050405020304" pitchFamily="18" charset="0"/>
                <a:cs typeface="Times New Roman" panose="02020603050405020304" pitchFamily="18" charset="0"/>
              </a:rPr>
              <a:t>Commercial paper is an </a:t>
            </a:r>
            <a:r>
              <a:rPr lang="en-IN" sz="2400" i="1" dirty="0">
                <a:solidFill>
                  <a:srgbClr val="0B0B0B"/>
                </a:solidFill>
                <a:latin typeface="Times New Roman" panose="02020603050405020304" pitchFamily="18" charset="0"/>
                <a:cs typeface="Times New Roman" panose="02020603050405020304" pitchFamily="18" charset="0"/>
              </a:rPr>
              <a:t>odd method of financing</a:t>
            </a:r>
            <a:r>
              <a:rPr lang="en-IN" sz="2400" dirty="0">
                <a:solidFill>
                  <a:srgbClr val="0B0B0B"/>
                </a:solidFill>
                <a:latin typeface="Times New Roman" panose="02020603050405020304" pitchFamily="18" charset="0"/>
                <a:cs typeface="Times New Roman" panose="02020603050405020304" pitchFamily="18" charset="0"/>
              </a:rPr>
              <a:t>. As such if a firm is not in a position to redeem its paper due to financial difficulties, extending the duration of commercial paper is not possible.</a:t>
            </a:r>
          </a:p>
        </p:txBody>
      </p:sp>
    </p:spTree>
    <p:extLst>
      <p:ext uri="{BB962C8B-B14F-4D97-AF65-F5344CB8AC3E}">
        <p14:creationId xmlns:p14="http://schemas.microsoft.com/office/powerpoint/2010/main" val="202385265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965974" y="457976"/>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endParaRPr lang="en-IN" sz="2800" dirty="0">
              <a:solidFill>
                <a:schemeClr val="tx1"/>
              </a:solidFill>
              <a:latin typeface="Times New Roman" panose="02020603050405020304" pitchFamily="18" charset="0"/>
              <a:ea typeface="Calibri" panose="020F0502020204030204" pitchFamily="34" charset="0"/>
            </a:endParaRPr>
          </a:p>
          <a:p>
            <a:endParaRPr lang="en-IN" sz="2800" dirty="0">
              <a:solidFill>
                <a:schemeClr val="tx1"/>
              </a:solidFill>
              <a:latin typeface="Times New Roman" panose="02020603050405020304" pitchFamily="18" charset="0"/>
              <a:ea typeface="Calibri" panose="020F0502020204030204" pitchFamily="34" charset="0"/>
            </a:endParaRPr>
          </a:p>
          <a:p>
            <a:endParaRPr lang="en-IN" sz="2800" dirty="0">
              <a:solidFill>
                <a:schemeClr val="tx1"/>
              </a:solidFill>
              <a:latin typeface="Times New Roman" panose="02020603050405020304" pitchFamily="18" charset="0"/>
              <a:ea typeface="Calibri" panose="020F0502020204030204" pitchFamily="34" charset="0"/>
            </a:endParaRPr>
          </a:p>
          <a:p>
            <a:endParaRPr lang="en-IN" sz="2800" dirty="0">
              <a:solidFill>
                <a:schemeClr val="tx1"/>
              </a:solidFill>
              <a:latin typeface="Times New Roman" panose="02020603050405020304" pitchFamily="18" charset="0"/>
              <a:ea typeface="Calibri" panose="020F0502020204030204" pitchFamily="34" charset="0"/>
            </a:endParaRPr>
          </a:p>
          <a:p>
            <a:endParaRPr lang="en-IN" sz="2800" dirty="0">
              <a:solidFill>
                <a:schemeClr val="tx1"/>
              </a:solidFill>
              <a:latin typeface="Times New Roman" panose="02020603050405020304" pitchFamily="18" charset="0"/>
              <a:ea typeface="Calibri" panose="020F0502020204030204" pitchFamily="34" charset="0"/>
            </a:endParaRPr>
          </a:p>
          <a:p>
            <a:endParaRPr lang="en-IN" sz="2800" dirty="0">
              <a:solidFill>
                <a:schemeClr val="tx1"/>
              </a:solidFill>
              <a:latin typeface="Times New Roman" panose="02020603050405020304" pitchFamily="18" charset="0"/>
              <a:ea typeface="Calibri" panose="020F0502020204030204" pitchFamily="34" charset="0"/>
            </a:endParaRPr>
          </a:p>
          <a:p>
            <a:r>
              <a:rPr lang="en-IN" sz="2800" dirty="0">
                <a:solidFill>
                  <a:schemeClr val="tx1"/>
                </a:solidFill>
                <a:latin typeface="Times New Roman" panose="02020603050405020304" pitchFamily="18" charset="0"/>
                <a:ea typeface="Calibri" panose="020F0502020204030204" pitchFamily="34" charset="0"/>
              </a:rPr>
              <a:t>2) Medium-Term Financial Instruments</a:t>
            </a:r>
          </a:p>
          <a:p>
            <a:pPr fontAlgn="base"/>
            <a:r>
              <a:rPr lang="en-IN" dirty="0">
                <a:solidFill>
                  <a:schemeClr val="tx1"/>
                </a:solidFill>
                <a:latin typeface="Times New Roman" panose="02020603050405020304" pitchFamily="18" charset="0"/>
                <a:cs typeface="Times New Roman" panose="02020603050405020304" pitchFamily="18" charset="0"/>
              </a:rPr>
              <a:t>The medium-term instruments consist of the instruments which has the maturity of 1 to 5 years. The </a:t>
            </a:r>
            <a:r>
              <a:rPr lang="en-IN" sz="2000" dirty="0">
                <a:solidFill>
                  <a:schemeClr val="tx1"/>
                </a:solidFill>
                <a:latin typeface="Times New Roman" panose="02020603050405020304" pitchFamily="18" charset="0"/>
                <a:cs typeface="Times New Roman" panose="02020603050405020304" pitchFamily="18" charset="0"/>
              </a:rPr>
              <a:t>various types of medium-term instruments are as follows :</a:t>
            </a:r>
          </a:p>
          <a:p>
            <a:pPr fontAlgn="base"/>
            <a:r>
              <a:rPr lang="en-IN" sz="2000" b="1" dirty="0" err="1">
                <a:solidFill>
                  <a:schemeClr val="tx1"/>
                </a:solidFill>
                <a:latin typeface="Times New Roman" panose="02020603050405020304" pitchFamily="18" charset="0"/>
                <a:cs typeface="Times New Roman" panose="02020603050405020304" pitchFamily="18" charset="0"/>
              </a:rPr>
              <a:t>i</a:t>
            </a:r>
            <a:r>
              <a:rPr lang="en-IN" sz="2000" b="1" dirty="0">
                <a:solidFill>
                  <a:schemeClr val="tx1"/>
                </a:solidFill>
                <a:latin typeface="Times New Roman" panose="02020603050405020304" pitchFamily="18" charset="0"/>
                <a:cs typeface="Times New Roman" panose="02020603050405020304" pitchFamily="18" charset="0"/>
              </a:rPr>
              <a:t>) Bank Deposits : </a:t>
            </a:r>
            <a:endParaRPr lang="en-IN" sz="2000" dirty="0">
              <a:solidFill>
                <a:schemeClr val="tx1"/>
              </a:solidFill>
              <a:latin typeface="Times New Roman" panose="02020603050405020304" pitchFamily="18" charset="0"/>
              <a:cs typeface="Times New Roman" panose="02020603050405020304" pitchFamily="18" charset="0"/>
            </a:endParaRPr>
          </a:p>
          <a:p>
            <a:pPr fontAlgn="base"/>
            <a:r>
              <a:rPr lang="en-IN" sz="2000" dirty="0">
                <a:solidFill>
                  <a:schemeClr val="tx1"/>
                </a:solidFill>
                <a:latin typeface="Times New Roman" panose="02020603050405020304" pitchFamily="18" charset="0"/>
                <a:cs typeface="Times New Roman" panose="02020603050405020304" pitchFamily="18" charset="0"/>
              </a:rPr>
              <a:t>In bank deposits, an individual opens a bank account and deposit the money in that. The different kinds of bank accounts are current accounts, fixed deposits, term deposits, savings bank account, recurring deposits, post office deposits, public provident fund, employee provident fund scheme, etc.</a:t>
            </a:r>
          </a:p>
          <a:p>
            <a:pPr fontAlgn="base"/>
            <a:r>
              <a:rPr lang="en-IN" sz="2000" b="1" dirty="0">
                <a:solidFill>
                  <a:schemeClr val="tx1"/>
                </a:solidFill>
                <a:latin typeface="Times New Roman" panose="02020603050405020304" pitchFamily="18" charset="0"/>
                <a:cs typeface="Times New Roman" panose="02020603050405020304" pitchFamily="18" charset="0"/>
              </a:rPr>
              <a:t>ii) Mutual Funds : </a:t>
            </a:r>
            <a:endParaRPr lang="en-IN" sz="2000" dirty="0">
              <a:solidFill>
                <a:schemeClr val="tx1"/>
              </a:solidFill>
              <a:latin typeface="Times New Roman" panose="02020603050405020304" pitchFamily="18" charset="0"/>
              <a:cs typeface="Times New Roman" panose="02020603050405020304" pitchFamily="18" charset="0"/>
            </a:endParaRPr>
          </a:p>
          <a:p>
            <a:pPr fontAlgn="base"/>
            <a:r>
              <a:rPr lang="en-IN" sz="2000" dirty="0">
                <a:solidFill>
                  <a:schemeClr val="tx1"/>
                </a:solidFill>
                <a:latin typeface="Times New Roman" panose="02020603050405020304" pitchFamily="18" charset="0"/>
                <a:cs typeface="Times New Roman" panose="02020603050405020304" pitchFamily="18" charset="0"/>
              </a:rPr>
              <a:t>A mutual fund is referred to as collection of investment scheme which has the money from various sources and is professionally managed. The investment is done in stocks, bonds, short-term money market instruments and other securities. Hence, it helps the investors to earn more profits of diversified portfolio.</a:t>
            </a:r>
          </a:p>
          <a:p>
            <a:pPr fontAlgn="base"/>
            <a:r>
              <a:rPr lang="en-IN" sz="2000" b="1" dirty="0">
                <a:solidFill>
                  <a:schemeClr val="tx1"/>
                </a:solidFill>
                <a:latin typeface="Times New Roman" panose="02020603050405020304" pitchFamily="18" charset="0"/>
                <a:cs typeface="Times New Roman" panose="02020603050405020304" pitchFamily="18" charset="0"/>
              </a:rPr>
              <a:t>iii) Life Insurance : </a:t>
            </a:r>
            <a:endParaRPr lang="en-IN" sz="2000" dirty="0">
              <a:solidFill>
                <a:schemeClr val="tx1"/>
              </a:solidFill>
              <a:latin typeface="Times New Roman" panose="02020603050405020304" pitchFamily="18" charset="0"/>
              <a:cs typeface="Times New Roman" panose="02020603050405020304" pitchFamily="18" charset="0"/>
            </a:endParaRPr>
          </a:p>
          <a:p>
            <a:pPr fontAlgn="base"/>
            <a:r>
              <a:rPr lang="en-IN" sz="2000" dirty="0">
                <a:solidFill>
                  <a:schemeClr val="tx1"/>
                </a:solidFill>
                <a:latin typeface="Times New Roman" panose="02020603050405020304" pitchFamily="18" charset="0"/>
                <a:cs typeface="Times New Roman" panose="02020603050405020304" pitchFamily="18" charset="0"/>
              </a:rPr>
              <a:t>The life insurance provides the protection to the policyholder from any uncertain situation like death or long-term sickness and disability which may affect the financial condition of the policyholders. These policies help the policyholder to arrange for funds required for certain work like regular income at the time of retirement or repayment of loan</a:t>
            </a:r>
          </a:p>
          <a:p>
            <a:endParaRPr lang="en-US" sz="2800" dirty="0">
              <a:solidFill>
                <a:schemeClr val="tx1"/>
              </a:solidFill>
              <a:latin typeface="Times New Roman" panose="02020603050405020304" pitchFamily="18" charset="0"/>
            </a:endParaRPr>
          </a:p>
          <a:p>
            <a:endParaRPr lang="en-US" sz="2800" dirty="0">
              <a:solidFill>
                <a:schemeClr val="tx1"/>
              </a:solidFill>
              <a:latin typeface="Times New Roman" panose="02020603050405020304" pitchFamily="18" charset="0"/>
            </a:endParaRPr>
          </a:p>
          <a:p>
            <a:endParaRPr lang="en-US" sz="2800" dirty="0">
              <a:solidFill>
                <a:schemeClr val="tx1"/>
              </a:solidFill>
              <a:latin typeface="Times New Roman" panose="02020603050405020304" pitchFamily="18" charset="0"/>
            </a:endParaRPr>
          </a:p>
          <a:p>
            <a:endParaRPr lang="en-US" sz="2800" dirty="0">
              <a:solidFill>
                <a:schemeClr val="tx1"/>
              </a:solidFill>
              <a:latin typeface="Times New Roman" panose="02020603050405020304" pitchFamily="18" charset="0"/>
            </a:endParaRPr>
          </a:p>
          <a:p>
            <a:endParaRPr lang="en-US" sz="2800" dirty="0">
              <a:solidFill>
                <a:schemeClr val="tx1"/>
              </a:solidFill>
              <a:latin typeface="Times New Roman" panose="02020603050405020304" pitchFamily="18" charset="0"/>
            </a:endParaRPr>
          </a:p>
          <a:p>
            <a:endParaRPr lang="en-IN" sz="2800" dirty="0">
              <a:solidFill>
                <a:schemeClr val="tx1"/>
              </a:solidFill>
            </a:endParaRPr>
          </a:p>
        </p:txBody>
      </p:sp>
    </p:spTree>
    <p:extLst>
      <p:ext uri="{BB962C8B-B14F-4D97-AF65-F5344CB8AC3E}">
        <p14:creationId xmlns:p14="http://schemas.microsoft.com/office/powerpoint/2010/main" val="5715833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633011" y="702398"/>
            <a:ext cx="10631978" cy="5838362"/>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3" name="object 129"/>
          <p:cNvSpPr/>
          <p:nvPr/>
        </p:nvSpPr>
        <p:spPr>
          <a:xfrm>
            <a:off x="1418253" y="1851885"/>
            <a:ext cx="9348484" cy="3998409"/>
          </a:xfrm>
          <a:prstGeom prst="rect">
            <a:avLst/>
          </a:prstGeom>
          <a:blipFill>
            <a:blip r:embed="rId2" cstate="print"/>
            <a:stretch>
              <a:fillRect/>
            </a:stretch>
          </a:blipFill>
        </p:spPr>
        <p:txBody>
          <a:bodyPr wrap="square" lIns="0" tIns="0" rIns="0" bIns="0" rtlCol="0"/>
          <a:lstStyle/>
          <a:p>
            <a:endParaRPr/>
          </a:p>
        </p:txBody>
      </p:sp>
      <p:sp>
        <p:nvSpPr>
          <p:cNvPr id="6" name="Rounded Rectangle 5"/>
          <p:cNvSpPr/>
          <p:nvPr/>
        </p:nvSpPr>
        <p:spPr>
          <a:xfrm>
            <a:off x="1595535" y="0"/>
            <a:ext cx="900011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spc="-5" dirty="0"/>
              <a:t>BASIC </a:t>
            </a:r>
            <a:r>
              <a:rPr lang="en-IN" sz="4400" spc="-50" dirty="0"/>
              <a:t>CAPITAL</a:t>
            </a:r>
            <a:r>
              <a:rPr lang="en-IN" sz="4400" spc="-315" dirty="0"/>
              <a:t> </a:t>
            </a:r>
            <a:r>
              <a:rPr lang="en-IN" sz="4400" spc="-10" dirty="0"/>
              <a:t>MARKET INSTRUMENTS</a:t>
            </a:r>
            <a:endParaRPr lang="en-IN" sz="4400" dirty="0"/>
          </a:p>
        </p:txBody>
      </p:sp>
    </p:spTree>
    <p:extLst>
      <p:ext uri="{BB962C8B-B14F-4D97-AF65-F5344CB8AC3E}">
        <p14:creationId xmlns:p14="http://schemas.microsoft.com/office/powerpoint/2010/main" val="39872091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84938" y="532621"/>
            <a:ext cx="10631978" cy="6082783"/>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r>
              <a:rPr lang="en-IN" sz="2400" b="1" dirty="0">
                <a:solidFill>
                  <a:schemeClr val="tx1"/>
                </a:solidFill>
                <a:latin typeface="Times New Roman" panose="02020603050405020304" pitchFamily="18" charset="0"/>
                <a:cs typeface="Times New Roman" panose="02020603050405020304" pitchFamily="18" charset="0"/>
              </a:rPr>
              <a:t>Long-Term Financial Instruments :</a:t>
            </a:r>
            <a:endParaRPr lang="en-IN" sz="2400" dirty="0">
              <a:solidFill>
                <a:schemeClr val="tx1"/>
              </a:solidFill>
              <a:latin typeface="Times New Roman" panose="02020603050405020304" pitchFamily="18" charset="0"/>
              <a:cs typeface="Times New Roman" panose="02020603050405020304" pitchFamily="18" charset="0"/>
            </a:endParaRPr>
          </a:p>
          <a:p>
            <a:pPr fontAlgn="base"/>
            <a:r>
              <a:rPr lang="en-IN" sz="2400" dirty="0">
                <a:solidFill>
                  <a:schemeClr val="tx1"/>
                </a:solidFill>
                <a:latin typeface="Times New Roman" panose="02020603050405020304" pitchFamily="18" charset="0"/>
                <a:cs typeface="Times New Roman" panose="02020603050405020304" pitchFamily="18" charset="0"/>
              </a:rPr>
              <a:t>This sub-category comprises </a:t>
            </a:r>
            <a:r>
              <a:rPr lang="en-IN" sz="2400" dirty="0">
                <a:solidFill>
                  <a:srgbClr val="C00000"/>
                </a:solidFill>
                <a:latin typeface="Times New Roman" panose="02020603050405020304" pitchFamily="18" charset="0"/>
                <a:cs typeface="Times New Roman" panose="02020603050405020304" pitchFamily="18" charset="0"/>
              </a:rPr>
              <a:t>instruments with maturity longer than </a:t>
            </a:r>
            <a:r>
              <a:rPr lang="en-IN" sz="2400" dirty="0">
                <a:solidFill>
                  <a:schemeClr val="tx1"/>
                </a:solidFill>
                <a:latin typeface="Times New Roman" panose="02020603050405020304" pitchFamily="18" charset="0"/>
                <a:cs typeface="Times New Roman" panose="02020603050405020304" pitchFamily="18" charset="0"/>
              </a:rPr>
              <a:t>those of </a:t>
            </a:r>
            <a:r>
              <a:rPr lang="en-IN" sz="2400" dirty="0">
                <a:solidFill>
                  <a:srgbClr val="C00000"/>
                </a:solidFill>
                <a:latin typeface="Times New Roman" panose="02020603050405020304" pitchFamily="18" charset="0"/>
                <a:cs typeface="Times New Roman" panose="02020603050405020304" pitchFamily="18" charset="0"/>
              </a:rPr>
              <a:t>short- and medium term instruments</a:t>
            </a:r>
            <a:r>
              <a:rPr lang="en-IN" sz="2400" dirty="0">
                <a:solidFill>
                  <a:schemeClr val="tx1"/>
                </a:solidFill>
                <a:latin typeface="Times New Roman" panose="02020603050405020304" pitchFamily="18" charset="0"/>
                <a:cs typeface="Times New Roman" panose="02020603050405020304" pitchFamily="18" charset="0"/>
              </a:rPr>
              <a:t>. Some of the long-term instruments are as follows :</a:t>
            </a:r>
          </a:p>
          <a:p>
            <a:pPr fontAlgn="base"/>
            <a:endParaRPr lang="en-IN" sz="2400" dirty="0">
              <a:solidFill>
                <a:schemeClr val="tx1"/>
              </a:solidFill>
              <a:latin typeface="Times New Roman" panose="02020603050405020304" pitchFamily="18" charset="0"/>
              <a:cs typeface="Times New Roman" panose="02020603050405020304" pitchFamily="18" charset="0"/>
            </a:endParaRPr>
          </a:p>
          <a:p>
            <a:pPr fontAlgn="base"/>
            <a:r>
              <a:rPr lang="en-IN" sz="2400" b="1" dirty="0" err="1">
                <a:solidFill>
                  <a:srgbClr val="0070C0"/>
                </a:solidFill>
                <a:latin typeface="Times New Roman" panose="02020603050405020304" pitchFamily="18" charset="0"/>
                <a:cs typeface="Times New Roman" panose="02020603050405020304" pitchFamily="18" charset="0"/>
              </a:rPr>
              <a:t>i</a:t>
            </a:r>
            <a:r>
              <a:rPr lang="en-IN" sz="2400" b="1" dirty="0">
                <a:solidFill>
                  <a:srgbClr val="0070C0"/>
                </a:solidFill>
                <a:latin typeface="Times New Roman" panose="02020603050405020304" pitchFamily="18" charset="0"/>
                <a:cs typeface="Times New Roman" panose="02020603050405020304" pitchFamily="18" charset="0"/>
              </a:rPr>
              <a:t>) Equity Shares :</a:t>
            </a:r>
            <a:r>
              <a:rPr lang="en-IN" sz="2400" b="1" dirty="0">
                <a:solidFill>
                  <a:schemeClr val="tx1"/>
                </a:solidFill>
                <a:latin typeface="Times New Roman" panose="02020603050405020304" pitchFamily="18" charset="0"/>
                <a:cs typeface="Times New Roman" panose="02020603050405020304" pitchFamily="18" charset="0"/>
              </a:rPr>
              <a:t> </a:t>
            </a:r>
            <a:endParaRPr lang="en-IN" sz="24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Equity shares are also termed as ordinary shares or common shares. </a:t>
            </a:r>
          </a:p>
          <a:p>
            <a:pPr marL="342900" indent="-342900"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Holders of the equity shares are the owners of the company as they have invested in the company. </a:t>
            </a:r>
          </a:p>
          <a:p>
            <a:pPr marL="342900" indent="-342900"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They have the voting rights and part of decision-making process on major issues relating to the affairs of the company. </a:t>
            </a:r>
          </a:p>
          <a:p>
            <a:pPr marL="342900" indent="-342900" fontAlgn="base">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The shareholders' return on the funds invested by them in the company is in the form of 'Dividend".</a:t>
            </a:r>
          </a:p>
        </p:txBody>
      </p:sp>
      <p:sp>
        <p:nvSpPr>
          <p:cNvPr id="3" name="Rounded Rectangle 2"/>
          <p:cNvSpPr/>
          <p:nvPr/>
        </p:nvSpPr>
        <p:spPr>
          <a:xfrm>
            <a:off x="2581505" y="0"/>
            <a:ext cx="694812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spc="-30" dirty="0">
                <a:latin typeface="Times New Roman" panose="02020603050405020304" pitchFamily="18" charset="0"/>
                <a:cs typeface="Times New Roman" panose="02020603050405020304" pitchFamily="18" charset="0"/>
              </a:rPr>
              <a:t>Capital</a:t>
            </a:r>
            <a:r>
              <a:rPr lang="en-IN" sz="4400" spc="-25" dirty="0">
                <a:latin typeface="Times New Roman" panose="02020603050405020304" pitchFamily="18" charset="0"/>
                <a:cs typeface="Times New Roman" panose="02020603050405020304" pitchFamily="18" charset="0"/>
              </a:rPr>
              <a:t> </a:t>
            </a:r>
            <a:r>
              <a:rPr lang="en-IN" sz="4400" spc="-5" dirty="0">
                <a:latin typeface="Times New Roman" panose="02020603050405020304" pitchFamily="18" charset="0"/>
                <a:cs typeface="Times New Roman" panose="02020603050405020304" pitchFamily="18" charset="0"/>
              </a:rPr>
              <a:t>ma</a:t>
            </a:r>
            <a:r>
              <a:rPr lang="en-IN" sz="4400" dirty="0">
                <a:latin typeface="Times New Roman" panose="02020603050405020304" pitchFamily="18" charset="0"/>
                <a:cs typeface="Times New Roman" panose="02020603050405020304" pitchFamily="18" charset="0"/>
              </a:rPr>
              <a:t>r</a:t>
            </a:r>
            <a:r>
              <a:rPr lang="en-IN" sz="4400" spc="-10" dirty="0">
                <a:latin typeface="Times New Roman" panose="02020603050405020304" pitchFamily="18" charset="0"/>
                <a:cs typeface="Times New Roman" panose="02020603050405020304" pitchFamily="18" charset="0"/>
              </a:rPr>
              <a:t>k</a:t>
            </a:r>
            <a:r>
              <a:rPr lang="en-IN" sz="4400" spc="-5" dirty="0">
                <a:latin typeface="Times New Roman" panose="02020603050405020304" pitchFamily="18" charset="0"/>
                <a:cs typeface="Times New Roman" panose="02020603050405020304" pitchFamily="18" charset="0"/>
              </a:rPr>
              <a:t>e</a:t>
            </a:r>
            <a:r>
              <a:rPr lang="en-IN" sz="4400" dirty="0">
                <a:latin typeface="Times New Roman" panose="02020603050405020304" pitchFamily="18" charset="0"/>
                <a:cs typeface="Times New Roman" panose="02020603050405020304" pitchFamily="18" charset="0"/>
              </a:rPr>
              <a:t>t </a:t>
            </a:r>
            <a:r>
              <a:rPr lang="en-IN" sz="4400" spc="-5" dirty="0">
                <a:latin typeface="Times New Roman" panose="02020603050405020304" pitchFamily="18" charset="0"/>
                <a:cs typeface="Times New Roman" panose="02020603050405020304" pitchFamily="18" charset="0"/>
              </a:rPr>
              <a:t>ins</a:t>
            </a:r>
            <a:r>
              <a:rPr lang="en-IN" sz="4400" spc="-10" dirty="0">
                <a:latin typeface="Times New Roman" panose="02020603050405020304" pitchFamily="18" charset="0"/>
                <a:cs typeface="Times New Roman" panose="02020603050405020304" pitchFamily="18" charset="0"/>
              </a:rPr>
              <a:t>t</a:t>
            </a:r>
            <a:r>
              <a:rPr lang="en-IN" sz="4400" dirty="0">
                <a:latin typeface="Times New Roman" panose="02020603050405020304" pitchFamily="18" charset="0"/>
                <a:cs typeface="Times New Roman" panose="02020603050405020304" pitchFamily="18" charset="0"/>
              </a:rPr>
              <a:t>r</a:t>
            </a:r>
            <a:r>
              <a:rPr lang="en-IN" sz="4400" spc="-5" dirty="0">
                <a:latin typeface="Times New Roman" panose="02020603050405020304" pitchFamily="18" charset="0"/>
                <a:cs typeface="Times New Roman" panose="02020603050405020304" pitchFamily="18" charset="0"/>
              </a:rPr>
              <a:t>umen</a:t>
            </a:r>
            <a:r>
              <a:rPr lang="en-IN" sz="4400" spc="-10" dirty="0">
                <a:latin typeface="Times New Roman" panose="02020603050405020304" pitchFamily="18" charset="0"/>
                <a:cs typeface="Times New Roman" panose="02020603050405020304" pitchFamily="18" charset="0"/>
              </a:rPr>
              <a:t>t</a:t>
            </a:r>
            <a:r>
              <a:rPr lang="en-IN" sz="4400" dirty="0">
                <a:latin typeface="Times New Roman" panose="02020603050405020304" pitchFamily="18" charset="0"/>
                <a:cs typeface="Times New Roman" panose="02020603050405020304" pitchFamily="18" charset="0"/>
              </a:rPr>
              <a:t>s</a:t>
            </a:r>
            <a:endParaRPr lang="en-IN" sz="4400" dirty="0"/>
          </a:p>
        </p:txBody>
      </p:sp>
    </p:spTree>
    <p:extLst>
      <p:ext uri="{BB962C8B-B14F-4D97-AF65-F5344CB8AC3E}">
        <p14:creationId xmlns:p14="http://schemas.microsoft.com/office/powerpoint/2010/main" val="30472034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37119" y="255292"/>
            <a:ext cx="10929087" cy="6446678"/>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endParaRPr lang="en-IN" sz="2200" b="1">
              <a:solidFill>
                <a:schemeClr val="tx1"/>
              </a:solidFill>
              <a:latin typeface="Times New Roman" panose="02020603050405020304" pitchFamily="18" charset="0"/>
              <a:cs typeface="Times New Roman" panose="02020603050405020304" pitchFamily="18" charset="0"/>
            </a:endParaRPr>
          </a:p>
          <a:p>
            <a:pPr fontAlgn="base"/>
            <a:endParaRPr lang="en-IN" sz="2200" b="1">
              <a:solidFill>
                <a:schemeClr val="tx1"/>
              </a:solidFill>
              <a:latin typeface="Times New Roman" panose="02020603050405020304" pitchFamily="18" charset="0"/>
              <a:cs typeface="Times New Roman" panose="02020603050405020304" pitchFamily="18" charset="0"/>
            </a:endParaRPr>
          </a:p>
          <a:p>
            <a:pPr fontAlgn="base"/>
            <a:endParaRPr lang="en-IN" sz="2200" b="1">
              <a:solidFill>
                <a:schemeClr val="tx1"/>
              </a:solidFill>
              <a:latin typeface="Times New Roman" panose="02020603050405020304" pitchFamily="18" charset="0"/>
              <a:cs typeface="Times New Roman" panose="02020603050405020304" pitchFamily="18" charset="0"/>
            </a:endParaRPr>
          </a:p>
          <a:p>
            <a:br>
              <a:rPr lang="en-IN" sz="220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5" name="object 128"/>
          <p:cNvSpPr txBox="1">
            <a:spLocks noGrp="1"/>
          </p:cNvSpPr>
          <p:nvPr>
            <p:ph type="title"/>
          </p:nvPr>
        </p:nvSpPr>
        <p:spPr>
          <a:xfrm>
            <a:off x="1586869" y="914441"/>
            <a:ext cx="3131173" cy="234423"/>
          </a:xfrm>
          <a:prstGeom prst="rect">
            <a:avLst/>
          </a:prstGeom>
          <a:solidFill>
            <a:schemeClr val="accent1">
              <a:lumMod val="40000"/>
              <a:lumOff val="60000"/>
            </a:schemeClr>
          </a:solidFill>
        </p:spPr>
        <p:txBody>
          <a:bodyPr vert="horz" wrap="square" lIns="0" tIns="12700" rIns="0" bIns="0" rtlCol="0">
            <a:spAutoFit/>
          </a:bodyPr>
          <a:lstStyle/>
          <a:p>
            <a:pPr marL="12700" algn="ctr">
              <a:spcBef>
                <a:spcPts val="100"/>
              </a:spcBef>
            </a:pPr>
            <a:r>
              <a:rPr sz="1600" spc="-5" dirty="0">
                <a:latin typeface="Times New Roman" panose="02020603050405020304" pitchFamily="18" charset="0"/>
                <a:cs typeface="Times New Roman" panose="02020603050405020304" pitchFamily="18" charset="0"/>
              </a:rPr>
              <a:t>MERITS OF EQUITY</a:t>
            </a:r>
            <a:r>
              <a:rPr sz="1600" spc="-380" dirty="0">
                <a:latin typeface="Times New Roman" panose="02020603050405020304" pitchFamily="18" charset="0"/>
                <a:cs typeface="Times New Roman" panose="02020603050405020304" pitchFamily="18" charset="0"/>
              </a:rPr>
              <a:t> </a:t>
            </a:r>
            <a:r>
              <a:rPr sz="1600" spc="-5" dirty="0">
                <a:latin typeface="Times New Roman" panose="02020603050405020304" pitchFamily="18" charset="0"/>
                <a:cs typeface="Times New Roman" panose="02020603050405020304" pitchFamily="18" charset="0"/>
              </a:rPr>
              <a:t>SHARES</a:t>
            </a:r>
            <a:endParaRPr sz="1600" dirty="0">
              <a:latin typeface="Times New Roman" panose="02020603050405020304" pitchFamily="18" charset="0"/>
              <a:cs typeface="Times New Roman" panose="02020603050405020304" pitchFamily="18" charset="0"/>
            </a:endParaRPr>
          </a:p>
        </p:txBody>
      </p:sp>
      <p:cxnSp>
        <p:nvCxnSpPr>
          <p:cNvPr id="7" name="Straight Connector 6"/>
          <p:cNvCxnSpPr>
            <a:stCxn id="4" idx="0"/>
            <a:endCxn id="4" idx="2"/>
          </p:cNvCxnSpPr>
          <p:nvPr/>
        </p:nvCxnSpPr>
        <p:spPr>
          <a:xfrm>
            <a:off x="6201663" y="255292"/>
            <a:ext cx="0" cy="6446678"/>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8" name="object 127"/>
          <p:cNvSpPr txBox="1">
            <a:spLocks/>
          </p:cNvSpPr>
          <p:nvPr/>
        </p:nvSpPr>
        <p:spPr>
          <a:xfrm>
            <a:off x="7053943" y="914441"/>
            <a:ext cx="3609834" cy="234423"/>
          </a:xfrm>
          <a:prstGeom prst="rect">
            <a:avLst/>
          </a:prstGeom>
          <a:solidFill>
            <a:schemeClr val="accent1">
              <a:lumMod val="40000"/>
              <a:lumOff val="60000"/>
            </a:schemeClr>
          </a:solidFill>
        </p:spPr>
        <p:txBody>
          <a:bodyPr vert="horz" wrap="square" lIns="0" tIns="1270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gn="ctr">
              <a:spcBef>
                <a:spcPts val="100"/>
              </a:spcBef>
            </a:pPr>
            <a:r>
              <a:rPr lang="en-IN" sz="1600" spc="-55" dirty="0">
                <a:latin typeface="Times New Roman" panose="02020603050405020304" pitchFamily="18" charset="0"/>
                <a:cs typeface="Times New Roman" panose="02020603050405020304" pitchFamily="18" charset="0"/>
              </a:rPr>
              <a:t>LIMITATIONS </a:t>
            </a:r>
            <a:r>
              <a:rPr lang="en-IN" sz="1600" spc="-10" dirty="0">
                <a:latin typeface="Times New Roman" panose="02020603050405020304" pitchFamily="18" charset="0"/>
                <a:cs typeface="Times New Roman" panose="02020603050405020304" pitchFamily="18" charset="0"/>
              </a:rPr>
              <a:t>OF </a:t>
            </a:r>
            <a:r>
              <a:rPr lang="en-IN" sz="1600" spc="-5" dirty="0">
                <a:latin typeface="Times New Roman" panose="02020603050405020304" pitchFamily="18" charset="0"/>
                <a:cs typeface="Times New Roman" panose="02020603050405020304" pitchFamily="18" charset="0"/>
              </a:rPr>
              <a:t>EQUITY</a:t>
            </a:r>
            <a:r>
              <a:rPr lang="en-IN" sz="1600" spc="-250" dirty="0">
                <a:latin typeface="Times New Roman" panose="02020603050405020304" pitchFamily="18" charset="0"/>
                <a:cs typeface="Times New Roman" panose="02020603050405020304" pitchFamily="18" charset="0"/>
              </a:rPr>
              <a:t> </a:t>
            </a:r>
            <a:r>
              <a:rPr lang="en-IN" sz="1600" spc="-5" dirty="0">
                <a:latin typeface="Times New Roman" panose="02020603050405020304" pitchFamily="18" charset="0"/>
                <a:cs typeface="Times New Roman" panose="02020603050405020304" pitchFamily="18" charset="0"/>
              </a:rPr>
              <a:t>SHARES</a:t>
            </a:r>
            <a:endParaRPr lang="en-IN" sz="1600" dirty="0">
              <a:latin typeface="Times New Roman" panose="02020603050405020304" pitchFamily="18" charset="0"/>
              <a:cs typeface="Times New Roman" panose="02020603050405020304" pitchFamily="18" charset="0"/>
            </a:endParaRPr>
          </a:p>
        </p:txBody>
      </p:sp>
      <p:grpSp>
        <p:nvGrpSpPr>
          <p:cNvPr id="9" name="object 2"/>
          <p:cNvGrpSpPr/>
          <p:nvPr/>
        </p:nvGrpSpPr>
        <p:grpSpPr>
          <a:xfrm>
            <a:off x="1189687" y="1278294"/>
            <a:ext cx="4771270" cy="4674609"/>
            <a:chOff x="1270" y="548640"/>
            <a:chExt cx="9145270" cy="6309360"/>
          </a:xfrm>
        </p:grpSpPr>
        <p:sp>
          <p:nvSpPr>
            <p:cNvPr id="10" name="object 3"/>
            <p:cNvSpPr/>
            <p:nvPr/>
          </p:nvSpPr>
          <p:spPr>
            <a:xfrm>
              <a:off x="179070" y="693420"/>
              <a:ext cx="8912860" cy="6109970"/>
            </a:xfrm>
            <a:prstGeom prst="rect">
              <a:avLst/>
            </a:prstGeom>
            <a:blipFill>
              <a:blip r:embed="rId2" cstate="print"/>
              <a:stretch>
                <a:fillRect/>
              </a:stretch>
            </a:blipFill>
          </p:spPr>
          <p:txBody>
            <a:bodyPr wrap="square" lIns="0" tIns="0" rIns="0" bIns="0" rtlCol="0"/>
            <a:lstStyle/>
            <a:p>
              <a:endParaRPr/>
            </a:p>
          </p:txBody>
        </p:sp>
        <p:sp>
          <p:nvSpPr>
            <p:cNvPr id="11" name="object 4"/>
            <p:cNvSpPr/>
            <p:nvPr/>
          </p:nvSpPr>
          <p:spPr>
            <a:xfrm>
              <a:off x="8994140" y="548639"/>
              <a:ext cx="152400" cy="1512570"/>
            </a:xfrm>
            <a:custGeom>
              <a:avLst/>
              <a:gdLst/>
              <a:ahLst/>
              <a:cxnLst/>
              <a:rect l="l" t="t" r="r" b="b"/>
              <a:pathLst>
                <a:path w="152400" h="1512570">
                  <a:moveTo>
                    <a:pt x="152400" y="0"/>
                  </a:moveTo>
                  <a:lnTo>
                    <a:pt x="78740" y="0"/>
                  </a:lnTo>
                  <a:lnTo>
                    <a:pt x="72390" y="0"/>
                  </a:lnTo>
                  <a:lnTo>
                    <a:pt x="0" y="0"/>
                  </a:lnTo>
                  <a:lnTo>
                    <a:pt x="0" y="1512570"/>
                  </a:lnTo>
                  <a:lnTo>
                    <a:pt x="72390" y="1512570"/>
                  </a:lnTo>
                  <a:lnTo>
                    <a:pt x="78740" y="1512570"/>
                  </a:lnTo>
                  <a:lnTo>
                    <a:pt x="152400" y="1512570"/>
                  </a:lnTo>
                  <a:lnTo>
                    <a:pt x="152400" y="0"/>
                  </a:lnTo>
                  <a:close/>
                </a:path>
              </a:pathLst>
            </a:custGeom>
            <a:solidFill>
              <a:srgbClr val="FDFDFD">
                <a:alpha val="54998"/>
              </a:srgbClr>
            </a:solidFill>
          </p:spPr>
          <p:txBody>
            <a:bodyPr wrap="square" lIns="0" tIns="0" rIns="0" bIns="0" rtlCol="0"/>
            <a:lstStyle/>
            <a:p>
              <a:endParaRPr/>
            </a:p>
          </p:txBody>
        </p:sp>
        <p:sp>
          <p:nvSpPr>
            <p:cNvPr id="12" name="object 5"/>
            <p:cNvSpPr/>
            <p:nvPr/>
          </p:nvSpPr>
          <p:spPr>
            <a:xfrm>
              <a:off x="8921750" y="548640"/>
              <a:ext cx="78740" cy="1512570"/>
            </a:xfrm>
            <a:custGeom>
              <a:avLst/>
              <a:gdLst/>
              <a:ahLst/>
              <a:cxnLst/>
              <a:rect l="l" t="t" r="r" b="b"/>
              <a:pathLst>
                <a:path w="78740" h="1512570">
                  <a:moveTo>
                    <a:pt x="78740" y="0"/>
                  </a:moveTo>
                  <a:lnTo>
                    <a:pt x="0" y="0"/>
                  </a:lnTo>
                  <a:lnTo>
                    <a:pt x="0" y="1512570"/>
                  </a:lnTo>
                  <a:lnTo>
                    <a:pt x="78740" y="1512570"/>
                  </a:lnTo>
                  <a:lnTo>
                    <a:pt x="78740" y="0"/>
                  </a:lnTo>
                  <a:close/>
                </a:path>
              </a:pathLst>
            </a:custGeom>
            <a:solidFill>
              <a:srgbClr val="FCFCFC">
                <a:alpha val="54998"/>
              </a:srgbClr>
            </a:solidFill>
          </p:spPr>
          <p:txBody>
            <a:bodyPr wrap="square" lIns="0" tIns="0" rIns="0" bIns="0" rtlCol="0"/>
            <a:lstStyle/>
            <a:p>
              <a:endParaRPr/>
            </a:p>
          </p:txBody>
        </p:sp>
        <p:sp>
          <p:nvSpPr>
            <p:cNvPr id="13" name="object 6"/>
            <p:cNvSpPr/>
            <p:nvPr/>
          </p:nvSpPr>
          <p:spPr>
            <a:xfrm>
              <a:off x="884808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FBFBFB">
                <a:alpha val="54998"/>
              </a:srgbClr>
            </a:solidFill>
          </p:spPr>
          <p:txBody>
            <a:bodyPr wrap="square" lIns="0" tIns="0" rIns="0" bIns="0" rtlCol="0"/>
            <a:lstStyle/>
            <a:p>
              <a:endParaRPr/>
            </a:p>
          </p:txBody>
        </p:sp>
        <p:sp>
          <p:nvSpPr>
            <p:cNvPr id="14" name="object 7"/>
            <p:cNvSpPr/>
            <p:nvPr/>
          </p:nvSpPr>
          <p:spPr>
            <a:xfrm>
              <a:off x="877570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FAFAFA">
                <a:alpha val="54998"/>
              </a:srgbClr>
            </a:solidFill>
          </p:spPr>
          <p:txBody>
            <a:bodyPr wrap="square" lIns="0" tIns="0" rIns="0" bIns="0" rtlCol="0"/>
            <a:lstStyle/>
            <a:p>
              <a:endParaRPr/>
            </a:p>
          </p:txBody>
        </p:sp>
        <p:sp>
          <p:nvSpPr>
            <p:cNvPr id="15" name="object 8"/>
            <p:cNvSpPr/>
            <p:nvPr/>
          </p:nvSpPr>
          <p:spPr>
            <a:xfrm>
              <a:off x="870331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F9F9F9">
                <a:alpha val="54998"/>
              </a:srgbClr>
            </a:solidFill>
          </p:spPr>
          <p:txBody>
            <a:bodyPr wrap="square" lIns="0" tIns="0" rIns="0" bIns="0" rtlCol="0"/>
            <a:lstStyle/>
            <a:p>
              <a:endParaRPr/>
            </a:p>
          </p:txBody>
        </p:sp>
        <p:sp>
          <p:nvSpPr>
            <p:cNvPr id="16" name="object 9"/>
            <p:cNvSpPr/>
            <p:nvPr/>
          </p:nvSpPr>
          <p:spPr>
            <a:xfrm>
              <a:off x="863092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F8F8F8">
                <a:alpha val="54998"/>
              </a:srgbClr>
            </a:solidFill>
          </p:spPr>
          <p:txBody>
            <a:bodyPr wrap="square" lIns="0" tIns="0" rIns="0" bIns="0" rtlCol="0"/>
            <a:lstStyle/>
            <a:p>
              <a:endParaRPr/>
            </a:p>
          </p:txBody>
        </p:sp>
        <p:sp>
          <p:nvSpPr>
            <p:cNvPr id="17" name="object 10"/>
            <p:cNvSpPr/>
            <p:nvPr/>
          </p:nvSpPr>
          <p:spPr>
            <a:xfrm>
              <a:off x="8558529" y="548640"/>
              <a:ext cx="78740" cy="1512570"/>
            </a:xfrm>
            <a:custGeom>
              <a:avLst/>
              <a:gdLst/>
              <a:ahLst/>
              <a:cxnLst/>
              <a:rect l="l" t="t" r="r" b="b"/>
              <a:pathLst>
                <a:path w="78740" h="1512570">
                  <a:moveTo>
                    <a:pt x="78740" y="0"/>
                  </a:moveTo>
                  <a:lnTo>
                    <a:pt x="0" y="0"/>
                  </a:lnTo>
                  <a:lnTo>
                    <a:pt x="0" y="1512570"/>
                  </a:lnTo>
                  <a:lnTo>
                    <a:pt x="78740" y="1512570"/>
                  </a:lnTo>
                  <a:lnTo>
                    <a:pt x="78740" y="0"/>
                  </a:lnTo>
                  <a:close/>
                </a:path>
              </a:pathLst>
            </a:custGeom>
            <a:solidFill>
              <a:srgbClr val="F7F7F7">
                <a:alpha val="54998"/>
              </a:srgbClr>
            </a:solidFill>
          </p:spPr>
          <p:txBody>
            <a:bodyPr wrap="square" lIns="0" tIns="0" rIns="0" bIns="0" rtlCol="0"/>
            <a:lstStyle/>
            <a:p>
              <a:endParaRPr/>
            </a:p>
          </p:txBody>
        </p:sp>
        <p:sp>
          <p:nvSpPr>
            <p:cNvPr id="18" name="object 11"/>
            <p:cNvSpPr/>
            <p:nvPr/>
          </p:nvSpPr>
          <p:spPr>
            <a:xfrm>
              <a:off x="8486139" y="548640"/>
              <a:ext cx="78740" cy="1512570"/>
            </a:xfrm>
            <a:custGeom>
              <a:avLst/>
              <a:gdLst/>
              <a:ahLst/>
              <a:cxnLst/>
              <a:rect l="l" t="t" r="r" b="b"/>
              <a:pathLst>
                <a:path w="78740" h="1512570">
                  <a:moveTo>
                    <a:pt x="78739" y="0"/>
                  </a:moveTo>
                  <a:lnTo>
                    <a:pt x="0" y="0"/>
                  </a:lnTo>
                  <a:lnTo>
                    <a:pt x="0" y="1512570"/>
                  </a:lnTo>
                  <a:lnTo>
                    <a:pt x="78739" y="1512570"/>
                  </a:lnTo>
                  <a:lnTo>
                    <a:pt x="78739" y="0"/>
                  </a:lnTo>
                  <a:close/>
                </a:path>
              </a:pathLst>
            </a:custGeom>
            <a:solidFill>
              <a:srgbClr val="F6F6F6">
                <a:alpha val="54998"/>
              </a:srgbClr>
            </a:solidFill>
          </p:spPr>
          <p:txBody>
            <a:bodyPr wrap="square" lIns="0" tIns="0" rIns="0" bIns="0" rtlCol="0"/>
            <a:lstStyle/>
            <a:p>
              <a:endParaRPr/>
            </a:p>
          </p:txBody>
        </p:sp>
        <p:sp>
          <p:nvSpPr>
            <p:cNvPr id="19" name="object 12"/>
            <p:cNvSpPr/>
            <p:nvPr/>
          </p:nvSpPr>
          <p:spPr>
            <a:xfrm>
              <a:off x="8412479"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F5F5F5">
                <a:alpha val="54998"/>
              </a:srgbClr>
            </a:solidFill>
          </p:spPr>
          <p:txBody>
            <a:bodyPr wrap="square" lIns="0" tIns="0" rIns="0" bIns="0" rtlCol="0"/>
            <a:lstStyle/>
            <a:p>
              <a:endParaRPr/>
            </a:p>
          </p:txBody>
        </p:sp>
        <p:sp>
          <p:nvSpPr>
            <p:cNvPr id="20" name="object 13"/>
            <p:cNvSpPr/>
            <p:nvPr/>
          </p:nvSpPr>
          <p:spPr>
            <a:xfrm>
              <a:off x="834008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F4F4F4">
                <a:alpha val="54998"/>
              </a:srgbClr>
            </a:solidFill>
          </p:spPr>
          <p:txBody>
            <a:bodyPr wrap="square" lIns="0" tIns="0" rIns="0" bIns="0" rtlCol="0"/>
            <a:lstStyle/>
            <a:p>
              <a:endParaRPr/>
            </a:p>
          </p:txBody>
        </p:sp>
        <p:sp>
          <p:nvSpPr>
            <p:cNvPr id="21" name="object 14"/>
            <p:cNvSpPr/>
            <p:nvPr/>
          </p:nvSpPr>
          <p:spPr>
            <a:xfrm>
              <a:off x="826770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F3F3F3">
                <a:alpha val="54998"/>
              </a:srgbClr>
            </a:solidFill>
          </p:spPr>
          <p:txBody>
            <a:bodyPr wrap="square" lIns="0" tIns="0" rIns="0" bIns="0" rtlCol="0"/>
            <a:lstStyle/>
            <a:p>
              <a:endParaRPr/>
            </a:p>
          </p:txBody>
        </p:sp>
        <p:sp>
          <p:nvSpPr>
            <p:cNvPr id="22" name="object 15"/>
            <p:cNvSpPr/>
            <p:nvPr/>
          </p:nvSpPr>
          <p:spPr>
            <a:xfrm>
              <a:off x="819531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F2F2F2">
                <a:alpha val="54998"/>
              </a:srgbClr>
            </a:solidFill>
          </p:spPr>
          <p:txBody>
            <a:bodyPr wrap="square" lIns="0" tIns="0" rIns="0" bIns="0" rtlCol="0"/>
            <a:lstStyle/>
            <a:p>
              <a:endParaRPr/>
            </a:p>
          </p:txBody>
        </p:sp>
        <p:sp>
          <p:nvSpPr>
            <p:cNvPr id="23" name="object 16"/>
            <p:cNvSpPr/>
            <p:nvPr/>
          </p:nvSpPr>
          <p:spPr>
            <a:xfrm>
              <a:off x="8122920" y="548640"/>
              <a:ext cx="78740" cy="1512570"/>
            </a:xfrm>
            <a:custGeom>
              <a:avLst/>
              <a:gdLst/>
              <a:ahLst/>
              <a:cxnLst/>
              <a:rect l="l" t="t" r="r" b="b"/>
              <a:pathLst>
                <a:path w="78740" h="1512570">
                  <a:moveTo>
                    <a:pt x="78739" y="0"/>
                  </a:moveTo>
                  <a:lnTo>
                    <a:pt x="0" y="0"/>
                  </a:lnTo>
                  <a:lnTo>
                    <a:pt x="0" y="1512570"/>
                  </a:lnTo>
                  <a:lnTo>
                    <a:pt x="78739" y="1512570"/>
                  </a:lnTo>
                  <a:lnTo>
                    <a:pt x="78739" y="0"/>
                  </a:lnTo>
                  <a:close/>
                </a:path>
              </a:pathLst>
            </a:custGeom>
            <a:solidFill>
              <a:srgbClr val="F1F1F1">
                <a:alpha val="54998"/>
              </a:srgbClr>
            </a:solidFill>
          </p:spPr>
          <p:txBody>
            <a:bodyPr wrap="square" lIns="0" tIns="0" rIns="0" bIns="0" rtlCol="0"/>
            <a:lstStyle/>
            <a:p>
              <a:endParaRPr/>
            </a:p>
          </p:txBody>
        </p:sp>
        <p:sp>
          <p:nvSpPr>
            <p:cNvPr id="24" name="object 17"/>
            <p:cNvSpPr/>
            <p:nvPr/>
          </p:nvSpPr>
          <p:spPr>
            <a:xfrm>
              <a:off x="8050529" y="548640"/>
              <a:ext cx="78740" cy="1512570"/>
            </a:xfrm>
            <a:custGeom>
              <a:avLst/>
              <a:gdLst/>
              <a:ahLst/>
              <a:cxnLst/>
              <a:rect l="l" t="t" r="r" b="b"/>
              <a:pathLst>
                <a:path w="78740" h="1512570">
                  <a:moveTo>
                    <a:pt x="78740" y="0"/>
                  </a:moveTo>
                  <a:lnTo>
                    <a:pt x="0" y="0"/>
                  </a:lnTo>
                  <a:lnTo>
                    <a:pt x="0" y="1512570"/>
                  </a:lnTo>
                  <a:lnTo>
                    <a:pt x="78740" y="1512570"/>
                  </a:lnTo>
                  <a:lnTo>
                    <a:pt x="78740" y="0"/>
                  </a:lnTo>
                  <a:close/>
                </a:path>
              </a:pathLst>
            </a:custGeom>
            <a:solidFill>
              <a:srgbClr val="F0F0F0">
                <a:alpha val="54998"/>
              </a:srgbClr>
            </a:solidFill>
          </p:spPr>
          <p:txBody>
            <a:bodyPr wrap="square" lIns="0" tIns="0" rIns="0" bIns="0" rtlCol="0"/>
            <a:lstStyle/>
            <a:p>
              <a:endParaRPr/>
            </a:p>
          </p:txBody>
        </p:sp>
        <p:sp>
          <p:nvSpPr>
            <p:cNvPr id="25" name="object 18"/>
            <p:cNvSpPr/>
            <p:nvPr/>
          </p:nvSpPr>
          <p:spPr>
            <a:xfrm>
              <a:off x="797687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FEFEF">
                <a:alpha val="54998"/>
              </a:srgbClr>
            </a:solidFill>
          </p:spPr>
          <p:txBody>
            <a:bodyPr wrap="square" lIns="0" tIns="0" rIns="0" bIns="0" rtlCol="0"/>
            <a:lstStyle/>
            <a:p>
              <a:endParaRPr/>
            </a:p>
          </p:txBody>
        </p:sp>
        <p:sp>
          <p:nvSpPr>
            <p:cNvPr id="26" name="object 19"/>
            <p:cNvSpPr/>
            <p:nvPr/>
          </p:nvSpPr>
          <p:spPr>
            <a:xfrm>
              <a:off x="7904479"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EEEEEE">
                <a:alpha val="54998"/>
              </a:srgbClr>
            </a:solidFill>
          </p:spPr>
          <p:txBody>
            <a:bodyPr wrap="square" lIns="0" tIns="0" rIns="0" bIns="0" rtlCol="0"/>
            <a:lstStyle/>
            <a:p>
              <a:endParaRPr/>
            </a:p>
          </p:txBody>
        </p:sp>
        <p:sp>
          <p:nvSpPr>
            <p:cNvPr id="27" name="object 20"/>
            <p:cNvSpPr/>
            <p:nvPr/>
          </p:nvSpPr>
          <p:spPr>
            <a:xfrm>
              <a:off x="783208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DEDED">
                <a:alpha val="54998"/>
              </a:srgbClr>
            </a:solidFill>
          </p:spPr>
          <p:txBody>
            <a:bodyPr wrap="square" lIns="0" tIns="0" rIns="0" bIns="0" rtlCol="0"/>
            <a:lstStyle/>
            <a:p>
              <a:endParaRPr/>
            </a:p>
          </p:txBody>
        </p:sp>
        <p:sp>
          <p:nvSpPr>
            <p:cNvPr id="28" name="object 21"/>
            <p:cNvSpPr/>
            <p:nvPr/>
          </p:nvSpPr>
          <p:spPr>
            <a:xfrm>
              <a:off x="775970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CECEC">
                <a:alpha val="54998"/>
              </a:srgbClr>
            </a:solidFill>
          </p:spPr>
          <p:txBody>
            <a:bodyPr wrap="square" lIns="0" tIns="0" rIns="0" bIns="0" rtlCol="0"/>
            <a:lstStyle/>
            <a:p>
              <a:endParaRPr/>
            </a:p>
          </p:txBody>
        </p:sp>
        <p:sp>
          <p:nvSpPr>
            <p:cNvPr id="29" name="object 22"/>
            <p:cNvSpPr/>
            <p:nvPr/>
          </p:nvSpPr>
          <p:spPr>
            <a:xfrm>
              <a:off x="768731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EBEBEB">
                <a:alpha val="54998"/>
              </a:srgbClr>
            </a:solidFill>
          </p:spPr>
          <p:txBody>
            <a:bodyPr wrap="square" lIns="0" tIns="0" rIns="0" bIns="0" rtlCol="0"/>
            <a:lstStyle/>
            <a:p>
              <a:endParaRPr/>
            </a:p>
          </p:txBody>
        </p:sp>
        <p:sp>
          <p:nvSpPr>
            <p:cNvPr id="30" name="object 23"/>
            <p:cNvSpPr/>
            <p:nvPr/>
          </p:nvSpPr>
          <p:spPr>
            <a:xfrm>
              <a:off x="7614920" y="548640"/>
              <a:ext cx="78740" cy="1512570"/>
            </a:xfrm>
            <a:custGeom>
              <a:avLst/>
              <a:gdLst/>
              <a:ahLst/>
              <a:cxnLst/>
              <a:rect l="l" t="t" r="r" b="b"/>
              <a:pathLst>
                <a:path w="78740" h="1512570">
                  <a:moveTo>
                    <a:pt x="78739" y="0"/>
                  </a:moveTo>
                  <a:lnTo>
                    <a:pt x="0" y="0"/>
                  </a:lnTo>
                  <a:lnTo>
                    <a:pt x="0" y="1512570"/>
                  </a:lnTo>
                  <a:lnTo>
                    <a:pt x="78739" y="1512570"/>
                  </a:lnTo>
                  <a:lnTo>
                    <a:pt x="78739" y="0"/>
                  </a:lnTo>
                  <a:close/>
                </a:path>
              </a:pathLst>
            </a:custGeom>
            <a:solidFill>
              <a:srgbClr val="EAEAEA">
                <a:alpha val="54998"/>
              </a:srgbClr>
            </a:solidFill>
          </p:spPr>
          <p:txBody>
            <a:bodyPr wrap="square" lIns="0" tIns="0" rIns="0" bIns="0" rtlCol="0"/>
            <a:lstStyle/>
            <a:p>
              <a:endParaRPr/>
            </a:p>
          </p:txBody>
        </p:sp>
        <p:sp>
          <p:nvSpPr>
            <p:cNvPr id="31" name="object 24"/>
            <p:cNvSpPr/>
            <p:nvPr/>
          </p:nvSpPr>
          <p:spPr>
            <a:xfrm>
              <a:off x="7542529" y="548640"/>
              <a:ext cx="78740" cy="1512570"/>
            </a:xfrm>
            <a:custGeom>
              <a:avLst/>
              <a:gdLst/>
              <a:ahLst/>
              <a:cxnLst/>
              <a:rect l="l" t="t" r="r" b="b"/>
              <a:pathLst>
                <a:path w="78740" h="1512570">
                  <a:moveTo>
                    <a:pt x="78740" y="0"/>
                  </a:moveTo>
                  <a:lnTo>
                    <a:pt x="0" y="0"/>
                  </a:lnTo>
                  <a:lnTo>
                    <a:pt x="0" y="1512570"/>
                  </a:lnTo>
                  <a:lnTo>
                    <a:pt x="78740" y="1512570"/>
                  </a:lnTo>
                  <a:lnTo>
                    <a:pt x="78740" y="0"/>
                  </a:lnTo>
                  <a:close/>
                </a:path>
              </a:pathLst>
            </a:custGeom>
            <a:solidFill>
              <a:srgbClr val="E9E9E9">
                <a:alpha val="54998"/>
              </a:srgbClr>
            </a:solidFill>
          </p:spPr>
          <p:txBody>
            <a:bodyPr wrap="square" lIns="0" tIns="0" rIns="0" bIns="0" rtlCol="0"/>
            <a:lstStyle/>
            <a:p>
              <a:endParaRPr/>
            </a:p>
          </p:txBody>
        </p:sp>
        <p:sp>
          <p:nvSpPr>
            <p:cNvPr id="32" name="object 25"/>
            <p:cNvSpPr/>
            <p:nvPr/>
          </p:nvSpPr>
          <p:spPr>
            <a:xfrm>
              <a:off x="746887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8E8E8">
                <a:alpha val="54998"/>
              </a:srgbClr>
            </a:solidFill>
          </p:spPr>
          <p:txBody>
            <a:bodyPr wrap="square" lIns="0" tIns="0" rIns="0" bIns="0" rtlCol="0"/>
            <a:lstStyle/>
            <a:p>
              <a:endParaRPr/>
            </a:p>
          </p:txBody>
        </p:sp>
        <p:sp>
          <p:nvSpPr>
            <p:cNvPr id="33" name="object 26"/>
            <p:cNvSpPr/>
            <p:nvPr/>
          </p:nvSpPr>
          <p:spPr>
            <a:xfrm>
              <a:off x="7396479"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E7E7E7">
                <a:alpha val="54998"/>
              </a:srgbClr>
            </a:solidFill>
          </p:spPr>
          <p:txBody>
            <a:bodyPr wrap="square" lIns="0" tIns="0" rIns="0" bIns="0" rtlCol="0"/>
            <a:lstStyle/>
            <a:p>
              <a:endParaRPr/>
            </a:p>
          </p:txBody>
        </p:sp>
        <p:sp>
          <p:nvSpPr>
            <p:cNvPr id="34" name="object 27"/>
            <p:cNvSpPr/>
            <p:nvPr/>
          </p:nvSpPr>
          <p:spPr>
            <a:xfrm>
              <a:off x="732408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6E6E6">
                <a:alpha val="54998"/>
              </a:srgbClr>
            </a:solidFill>
          </p:spPr>
          <p:txBody>
            <a:bodyPr wrap="square" lIns="0" tIns="0" rIns="0" bIns="0" rtlCol="0"/>
            <a:lstStyle/>
            <a:p>
              <a:endParaRPr/>
            </a:p>
          </p:txBody>
        </p:sp>
        <p:sp>
          <p:nvSpPr>
            <p:cNvPr id="35" name="object 28"/>
            <p:cNvSpPr/>
            <p:nvPr/>
          </p:nvSpPr>
          <p:spPr>
            <a:xfrm>
              <a:off x="725170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5E5E5">
                <a:alpha val="54998"/>
              </a:srgbClr>
            </a:solidFill>
          </p:spPr>
          <p:txBody>
            <a:bodyPr wrap="square" lIns="0" tIns="0" rIns="0" bIns="0" rtlCol="0"/>
            <a:lstStyle/>
            <a:p>
              <a:endParaRPr/>
            </a:p>
          </p:txBody>
        </p:sp>
        <p:sp>
          <p:nvSpPr>
            <p:cNvPr id="36" name="object 29"/>
            <p:cNvSpPr/>
            <p:nvPr/>
          </p:nvSpPr>
          <p:spPr>
            <a:xfrm>
              <a:off x="7179310" y="548640"/>
              <a:ext cx="78740" cy="1512570"/>
            </a:xfrm>
            <a:custGeom>
              <a:avLst/>
              <a:gdLst/>
              <a:ahLst/>
              <a:cxnLst/>
              <a:rect l="l" t="t" r="r" b="b"/>
              <a:pathLst>
                <a:path w="78740" h="1512570">
                  <a:moveTo>
                    <a:pt x="78740" y="0"/>
                  </a:moveTo>
                  <a:lnTo>
                    <a:pt x="0" y="0"/>
                  </a:lnTo>
                  <a:lnTo>
                    <a:pt x="0" y="1512570"/>
                  </a:lnTo>
                  <a:lnTo>
                    <a:pt x="78740" y="1512570"/>
                  </a:lnTo>
                  <a:lnTo>
                    <a:pt x="78740" y="0"/>
                  </a:lnTo>
                  <a:close/>
                </a:path>
              </a:pathLst>
            </a:custGeom>
            <a:solidFill>
              <a:srgbClr val="E4E4E4">
                <a:alpha val="54998"/>
              </a:srgbClr>
            </a:solidFill>
          </p:spPr>
          <p:txBody>
            <a:bodyPr wrap="square" lIns="0" tIns="0" rIns="0" bIns="0" rtlCol="0"/>
            <a:lstStyle/>
            <a:p>
              <a:endParaRPr/>
            </a:p>
          </p:txBody>
        </p:sp>
        <p:sp>
          <p:nvSpPr>
            <p:cNvPr id="37" name="object 30"/>
            <p:cNvSpPr/>
            <p:nvPr/>
          </p:nvSpPr>
          <p:spPr>
            <a:xfrm>
              <a:off x="710692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3E3E3">
                <a:alpha val="54998"/>
              </a:srgbClr>
            </a:solidFill>
          </p:spPr>
          <p:txBody>
            <a:bodyPr wrap="square" lIns="0" tIns="0" rIns="0" bIns="0" rtlCol="0"/>
            <a:lstStyle/>
            <a:p>
              <a:endParaRPr/>
            </a:p>
          </p:txBody>
        </p:sp>
        <p:sp>
          <p:nvSpPr>
            <p:cNvPr id="38" name="object 31"/>
            <p:cNvSpPr/>
            <p:nvPr/>
          </p:nvSpPr>
          <p:spPr>
            <a:xfrm>
              <a:off x="703326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E2E2E2">
                <a:alpha val="54998"/>
              </a:srgbClr>
            </a:solidFill>
          </p:spPr>
          <p:txBody>
            <a:bodyPr wrap="square" lIns="0" tIns="0" rIns="0" bIns="0" rtlCol="0"/>
            <a:lstStyle/>
            <a:p>
              <a:endParaRPr/>
            </a:p>
          </p:txBody>
        </p:sp>
        <p:sp>
          <p:nvSpPr>
            <p:cNvPr id="39" name="object 32"/>
            <p:cNvSpPr/>
            <p:nvPr/>
          </p:nvSpPr>
          <p:spPr>
            <a:xfrm>
              <a:off x="696087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E1E1E1">
                <a:alpha val="54998"/>
              </a:srgbClr>
            </a:solidFill>
          </p:spPr>
          <p:txBody>
            <a:bodyPr wrap="square" lIns="0" tIns="0" rIns="0" bIns="0" rtlCol="0"/>
            <a:lstStyle/>
            <a:p>
              <a:endParaRPr/>
            </a:p>
          </p:txBody>
        </p:sp>
        <p:sp>
          <p:nvSpPr>
            <p:cNvPr id="40" name="object 33"/>
            <p:cNvSpPr/>
            <p:nvPr/>
          </p:nvSpPr>
          <p:spPr>
            <a:xfrm>
              <a:off x="6888479"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E0E0E0">
                <a:alpha val="54998"/>
              </a:srgbClr>
            </a:solidFill>
          </p:spPr>
          <p:txBody>
            <a:bodyPr wrap="square" lIns="0" tIns="0" rIns="0" bIns="0" rtlCol="0"/>
            <a:lstStyle/>
            <a:p>
              <a:endParaRPr/>
            </a:p>
          </p:txBody>
        </p:sp>
        <p:sp>
          <p:nvSpPr>
            <p:cNvPr id="41" name="object 34"/>
            <p:cNvSpPr/>
            <p:nvPr/>
          </p:nvSpPr>
          <p:spPr>
            <a:xfrm>
              <a:off x="681608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DFDFDF">
                <a:alpha val="54998"/>
              </a:srgbClr>
            </a:solidFill>
          </p:spPr>
          <p:txBody>
            <a:bodyPr wrap="square" lIns="0" tIns="0" rIns="0" bIns="0" rtlCol="0"/>
            <a:lstStyle/>
            <a:p>
              <a:endParaRPr/>
            </a:p>
          </p:txBody>
        </p:sp>
        <p:sp>
          <p:nvSpPr>
            <p:cNvPr id="42" name="object 35"/>
            <p:cNvSpPr/>
            <p:nvPr/>
          </p:nvSpPr>
          <p:spPr>
            <a:xfrm>
              <a:off x="674370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DEDEDE">
                <a:alpha val="54998"/>
              </a:srgbClr>
            </a:solidFill>
          </p:spPr>
          <p:txBody>
            <a:bodyPr wrap="square" lIns="0" tIns="0" rIns="0" bIns="0" rtlCol="0"/>
            <a:lstStyle/>
            <a:p>
              <a:endParaRPr/>
            </a:p>
          </p:txBody>
        </p:sp>
        <p:sp>
          <p:nvSpPr>
            <p:cNvPr id="43" name="object 36"/>
            <p:cNvSpPr/>
            <p:nvPr/>
          </p:nvSpPr>
          <p:spPr>
            <a:xfrm>
              <a:off x="667131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DDDDDD">
                <a:alpha val="54998"/>
              </a:srgbClr>
            </a:solidFill>
          </p:spPr>
          <p:txBody>
            <a:bodyPr wrap="square" lIns="0" tIns="0" rIns="0" bIns="0" rtlCol="0"/>
            <a:lstStyle/>
            <a:p>
              <a:endParaRPr/>
            </a:p>
          </p:txBody>
        </p:sp>
        <p:sp>
          <p:nvSpPr>
            <p:cNvPr id="44" name="object 37"/>
            <p:cNvSpPr/>
            <p:nvPr/>
          </p:nvSpPr>
          <p:spPr>
            <a:xfrm>
              <a:off x="6598920" y="548640"/>
              <a:ext cx="78740" cy="1512570"/>
            </a:xfrm>
            <a:custGeom>
              <a:avLst/>
              <a:gdLst/>
              <a:ahLst/>
              <a:cxnLst/>
              <a:rect l="l" t="t" r="r" b="b"/>
              <a:pathLst>
                <a:path w="78740" h="1512570">
                  <a:moveTo>
                    <a:pt x="78739" y="0"/>
                  </a:moveTo>
                  <a:lnTo>
                    <a:pt x="0" y="0"/>
                  </a:lnTo>
                  <a:lnTo>
                    <a:pt x="0" y="1512570"/>
                  </a:lnTo>
                  <a:lnTo>
                    <a:pt x="78739" y="1512570"/>
                  </a:lnTo>
                  <a:lnTo>
                    <a:pt x="78739" y="0"/>
                  </a:lnTo>
                  <a:close/>
                </a:path>
              </a:pathLst>
            </a:custGeom>
            <a:solidFill>
              <a:srgbClr val="DCDCDC">
                <a:alpha val="54998"/>
              </a:srgbClr>
            </a:solidFill>
          </p:spPr>
          <p:txBody>
            <a:bodyPr wrap="square" lIns="0" tIns="0" rIns="0" bIns="0" rtlCol="0"/>
            <a:lstStyle/>
            <a:p>
              <a:endParaRPr/>
            </a:p>
          </p:txBody>
        </p:sp>
        <p:sp>
          <p:nvSpPr>
            <p:cNvPr id="45" name="object 38"/>
            <p:cNvSpPr/>
            <p:nvPr/>
          </p:nvSpPr>
          <p:spPr>
            <a:xfrm>
              <a:off x="652526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DBDBDB">
                <a:alpha val="54998"/>
              </a:srgbClr>
            </a:solidFill>
          </p:spPr>
          <p:txBody>
            <a:bodyPr wrap="square" lIns="0" tIns="0" rIns="0" bIns="0" rtlCol="0"/>
            <a:lstStyle/>
            <a:p>
              <a:endParaRPr/>
            </a:p>
          </p:txBody>
        </p:sp>
        <p:sp>
          <p:nvSpPr>
            <p:cNvPr id="46" name="object 39"/>
            <p:cNvSpPr/>
            <p:nvPr/>
          </p:nvSpPr>
          <p:spPr>
            <a:xfrm>
              <a:off x="645287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DADADA">
                <a:alpha val="54998"/>
              </a:srgbClr>
            </a:solidFill>
          </p:spPr>
          <p:txBody>
            <a:bodyPr wrap="square" lIns="0" tIns="0" rIns="0" bIns="0" rtlCol="0"/>
            <a:lstStyle/>
            <a:p>
              <a:endParaRPr/>
            </a:p>
          </p:txBody>
        </p:sp>
        <p:sp>
          <p:nvSpPr>
            <p:cNvPr id="47" name="object 40"/>
            <p:cNvSpPr/>
            <p:nvPr/>
          </p:nvSpPr>
          <p:spPr>
            <a:xfrm>
              <a:off x="638047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9D9D9">
                <a:alpha val="54998"/>
              </a:srgbClr>
            </a:solidFill>
          </p:spPr>
          <p:txBody>
            <a:bodyPr wrap="square" lIns="0" tIns="0" rIns="0" bIns="0" rtlCol="0"/>
            <a:lstStyle/>
            <a:p>
              <a:endParaRPr/>
            </a:p>
          </p:txBody>
        </p:sp>
        <p:sp>
          <p:nvSpPr>
            <p:cNvPr id="48" name="object 41"/>
            <p:cNvSpPr/>
            <p:nvPr/>
          </p:nvSpPr>
          <p:spPr>
            <a:xfrm>
              <a:off x="630809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8D8D8">
                <a:alpha val="54998"/>
              </a:srgbClr>
            </a:solidFill>
          </p:spPr>
          <p:txBody>
            <a:bodyPr wrap="square" lIns="0" tIns="0" rIns="0" bIns="0" rtlCol="0"/>
            <a:lstStyle/>
            <a:p>
              <a:endParaRPr/>
            </a:p>
          </p:txBody>
        </p:sp>
        <p:sp>
          <p:nvSpPr>
            <p:cNvPr id="49" name="object 42"/>
            <p:cNvSpPr/>
            <p:nvPr/>
          </p:nvSpPr>
          <p:spPr>
            <a:xfrm>
              <a:off x="623569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7D7D7">
                <a:alpha val="54998"/>
              </a:srgbClr>
            </a:solidFill>
          </p:spPr>
          <p:txBody>
            <a:bodyPr wrap="square" lIns="0" tIns="0" rIns="0" bIns="0" rtlCol="0"/>
            <a:lstStyle/>
            <a:p>
              <a:endParaRPr/>
            </a:p>
          </p:txBody>
        </p:sp>
        <p:sp>
          <p:nvSpPr>
            <p:cNvPr id="50" name="object 43"/>
            <p:cNvSpPr/>
            <p:nvPr/>
          </p:nvSpPr>
          <p:spPr>
            <a:xfrm>
              <a:off x="616331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D6D6D6">
                <a:alpha val="54998"/>
              </a:srgbClr>
            </a:solidFill>
          </p:spPr>
          <p:txBody>
            <a:bodyPr wrap="square" lIns="0" tIns="0" rIns="0" bIns="0" rtlCol="0"/>
            <a:lstStyle/>
            <a:p>
              <a:endParaRPr/>
            </a:p>
          </p:txBody>
        </p:sp>
        <p:sp>
          <p:nvSpPr>
            <p:cNvPr id="51" name="object 44"/>
            <p:cNvSpPr/>
            <p:nvPr/>
          </p:nvSpPr>
          <p:spPr>
            <a:xfrm>
              <a:off x="6089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5D5D5">
                <a:alpha val="54998"/>
              </a:srgbClr>
            </a:solidFill>
          </p:spPr>
          <p:txBody>
            <a:bodyPr wrap="square" lIns="0" tIns="0" rIns="0" bIns="0" rtlCol="0"/>
            <a:lstStyle/>
            <a:p>
              <a:endParaRPr/>
            </a:p>
          </p:txBody>
        </p:sp>
        <p:sp>
          <p:nvSpPr>
            <p:cNvPr id="52" name="object 45"/>
            <p:cNvSpPr/>
            <p:nvPr/>
          </p:nvSpPr>
          <p:spPr>
            <a:xfrm>
              <a:off x="601726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4D4D4">
                <a:alpha val="54998"/>
              </a:srgbClr>
            </a:solidFill>
          </p:spPr>
          <p:txBody>
            <a:bodyPr wrap="square" lIns="0" tIns="0" rIns="0" bIns="0" rtlCol="0"/>
            <a:lstStyle/>
            <a:p>
              <a:endParaRPr/>
            </a:p>
          </p:txBody>
        </p:sp>
        <p:sp>
          <p:nvSpPr>
            <p:cNvPr id="53" name="object 46"/>
            <p:cNvSpPr/>
            <p:nvPr/>
          </p:nvSpPr>
          <p:spPr>
            <a:xfrm>
              <a:off x="594487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D3D3D3">
                <a:alpha val="54998"/>
              </a:srgbClr>
            </a:solidFill>
          </p:spPr>
          <p:txBody>
            <a:bodyPr wrap="square" lIns="0" tIns="0" rIns="0" bIns="0" rtlCol="0"/>
            <a:lstStyle/>
            <a:p>
              <a:endParaRPr/>
            </a:p>
          </p:txBody>
        </p:sp>
        <p:sp>
          <p:nvSpPr>
            <p:cNvPr id="54" name="object 47"/>
            <p:cNvSpPr/>
            <p:nvPr/>
          </p:nvSpPr>
          <p:spPr>
            <a:xfrm>
              <a:off x="587247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2D2D2">
                <a:alpha val="54998"/>
              </a:srgbClr>
            </a:solidFill>
          </p:spPr>
          <p:txBody>
            <a:bodyPr wrap="square" lIns="0" tIns="0" rIns="0" bIns="0" rtlCol="0"/>
            <a:lstStyle/>
            <a:p>
              <a:endParaRPr/>
            </a:p>
          </p:txBody>
        </p:sp>
        <p:sp>
          <p:nvSpPr>
            <p:cNvPr id="55" name="object 48"/>
            <p:cNvSpPr/>
            <p:nvPr/>
          </p:nvSpPr>
          <p:spPr>
            <a:xfrm>
              <a:off x="580009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1D1D1">
                <a:alpha val="54998"/>
              </a:srgbClr>
            </a:solidFill>
          </p:spPr>
          <p:txBody>
            <a:bodyPr wrap="square" lIns="0" tIns="0" rIns="0" bIns="0" rtlCol="0"/>
            <a:lstStyle/>
            <a:p>
              <a:endParaRPr/>
            </a:p>
          </p:txBody>
        </p:sp>
        <p:sp>
          <p:nvSpPr>
            <p:cNvPr id="56" name="object 49"/>
            <p:cNvSpPr/>
            <p:nvPr/>
          </p:nvSpPr>
          <p:spPr>
            <a:xfrm>
              <a:off x="572769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D0D0D0">
                <a:alpha val="54998"/>
              </a:srgbClr>
            </a:solidFill>
          </p:spPr>
          <p:txBody>
            <a:bodyPr wrap="square" lIns="0" tIns="0" rIns="0" bIns="0" rtlCol="0"/>
            <a:lstStyle/>
            <a:p>
              <a:endParaRPr/>
            </a:p>
          </p:txBody>
        </p:sp>
        <p:sp>
          <p:nvSpPr>
            <p:cNvPr id="57" name="object 50"/>
            <p:cNvSpPr/>
            <p:nvPr/>
          </p:nvSpPr>
          <p:spPr>
            <a:xfrm>
              <a:off x="565531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FCFCF">
                <a:alpha val="54998"/>
              </a:srgbClr>
            </a:solidFill>
          </p:spPr>
          <p:txBody>
            <a:bodyPr wrap="square" lIns="0" tIns="0" rIns="0" bIns="0" rtlCol="0"/>
            <a:lstStyle/>
            <a:p>
              <a:endParaRPr/>
            </a:p>
          </p:txBody>
        </p:sp>
        <p:sp>
          <p:nvSpPr>
            <p:cNvPr id="58" name="object 51"/>
            <p:cNvSpPr/>
            <p:nvPr/>
          </p:nvSpPr>
          <p:spPr>
            <a:xfrm>
              <a:off x="558292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CECECE">
                <a:alpha val="54998"/>
              </a:srgbClr>
            </a:solidFill>
          </p:spPr>
          <p:txBody>
            <a:bodyPr wrap="square" lIns="0" tIns="0" rIns="0" bIns="0" rtlCol="0"/>
            <a:lstStyle/>
            <a:p>
              <a:endParaRPr/>
            </a:p>
          </p:txBody>
        </p:sp>
        <p:sp>
          <p:nvSpPr>
            <p:cNvPr id="59" name="object 52"/>
            <p:cNvSpPr/>
            <p:nvPr/>
          </p:nvSpPr>
          <p:spPr>
            <a:xfrm>
              <a:off x="550926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DCDCD">
                <a:alpha val="54998"/>
              </a:srgbClr>
            </a:solidFill>
          </p:spPr>
          <p:txBody>
            <a:bodyPr wrap="square" lIns="0" tIns="0" rIns="0" bIns="0" rtlCol="0"/>
            <a:lstStyle/>
            <a:p>
              <a:endParaRPr/>
            </a:p>
          </p:txBody>
        </p:sp>
        <p:sp>
          <p:nvSpPr>
            <p:cNvPr id="60" name="object 53"/>
            <p:cNvSpPr/>
            <p:nvPr/>
          </p:nvSpPr>
          <p:spPr>
            <a:xfrm>
              <a:off x="5364480" y="548639"/>
              <a:ext cx="152400" cy="1512570"/>
            </a:xfrm>
            <a:custGeom>
              <a:avLst/>
              <a:gdLst/>
              <a:ahLst/>
              <a:cxnLst/>
              <a:rect l="l" t="t" r="r" b="b"/>
              <a:pathLst>
                <a:path w="152400" h="1512570">
                  <a:moveTo>
                    <a:pt x="152400" y="0"/>
                  </a:moveTo>
                  <a:lnTo>
                    <a:pt x="80010" y="0"/>
                  </a:lnTo>
                  <a:lnTo>
                    <a:pt x="72390" y="0"/>
                  </a:lnTo>
                  <a:lnTo>
                    <a:pt x="0" y="0"/>
                  </a:lnTo>
                  <a:lnTo>
                    <a:pt x="0" y="1512570"/>
                  </a:lnTo>
                  <a:lnTo>
                    <a:pt x="72390" y="1512570"/>
                  </a:lnTo>
                  <a:lnTo>
                    <a:pt x="80010" y="1512570"/>
                  </a:lnTo>
                  <a:lnTo>
                    <a:pt x="152400" y="1512570"/>
                  </a:lnTo>
                  <a:lnTo>
                    <a:pt x="152400" y="0"/>
                  </a:lnTo>
                  <a:close/>
                </a:path>
              </a:pathLst>
            </a:custGeom>
            <a:solidFill>
              <a:srgbClr val="CCCCCC">
                <a:alpha val="54998"/>
              </a:srgbClr>
            </a:solidFill>
          </p:spPr>
          <p:txBody>
            <a:bodyPr wrap="square" lIns="0" tIns="0" rIns="0" bIns="0" rtlCol="0"/>
            <a:lstStyle/>
            <a:p>
              <a:endParaRPr/>
            </a:p>
          </p:txBody>
        </p:sp>
        <p:sp>
          <p:nvSpPr>
            <p:cNvPr id="61" name="object 54"/>
            <p:cNvSpPr/>
            <p:nvPr/>
          </p:nvSpPr>
          <p:spPr>
            <a:xfrm>
              <a:off x="529209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ACACA">
                <a:alpha val="54998"/>
              </a:srgbClr>
            </a:solidFill>
          </p:spPr>
          <p:txBody>
            <a:bodyPr wrap="square" lIns="0" tIns="0" rIns="0" bIns="0" rtlCol="0"/>
            <a:lstStyle/>
            <a:p>
              <a:endParaRPr/>
            </a:p>
          </p:txBody>
        </p:sp>
        <p:sp>
          <p:nvSpPr>
            <p:cNvPr id="62" name="object 55"/>
            <p:cNvSpPr/>
            <p:nvPr/>
          </p:nvSpPr>
          <p:spPr>
            <a:xfrm>
              <a:off x="521969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9C9C9">
                <a:alpha val="54998"/>
              </a:srgbClr>
            </a:solidFill>
          </p:spPr>
          <p:txBody>
            <a:bodyPr wrap="square" lIns="0" tIns="0" rIns="0" bIns="0" rtlCol="0"/>
            <a:lstStyle/>
            <a:p>
              <a:endParaRPr/>
            </a:p>
          </p:txBody>
        </p:sp>
        <p:sp>
          <p:nvSpPr>
            <p:cNvPr id="63" name="object 56"/>
            <p:cNvSpPr/>
            <p:nvPr/>
          </p:nvSpPr>
          <p:spPr>
            <a:xfrm>
              <a:off x="514731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8C8C8">
                <a:alpha val="54998"/>
              </a:srgbClr>
            </a:solidFill>
          </p:spPr>
          <p:txBody>
            <a:bodyPr wrap="square" lIns="0" tIns="0" rIns="0" bIns="0" rtlCol="0"/>
            <a:lstStyle/>
            <a:p>
              <a:endParaRPr/>
            </a:p>
          </p:txBody>
        </p:sp>
        <p:sp>
          <p:nvSpPr>
            <p:cNvPr id="64" name="object 57"/>
            <p:cNvSpPr/>
            <p:nvPr/>
          </p:nvSpPr>
          <p:spPr>
            <a:xfrm>
              <a:off x="5073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7C7C7">
                <a:alpha val="54998"/>
              </a:srgbClr>
            </a:solidFill>
          </p:spPr>
          <p:txBody>
            <a:bodyPr wrap="square" lIns="0" tIns="0" rIns="0" bIns="0" rtlCol="0"/>
            <a:lstStyle/>
            <a:p>
              <a:endParaRPr/>
            </a:p>
          </p:txBody>
        </p:sp>
        <p:sp>
          <p:nvSpPr>
            <p:cNvPr id="65" name="object 58"/>
            <p:cNvSpPr/>
            <p:nvPr/>
          </p:nvSpPr>
          <p:spPr>
            <a:xfrm>
              <a:off x="500126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6C6C6">
                <a:alpha val="54998"/>
              </a:srgbClr>
            </a:solidFill>
          </p:spPr>
          <p:txBody>
            <a:bodyPr wrap="square" lIns="0" tIns="0" rIns="0" bIns="0" rtlCol="0"/>
            <a:lstStyle/>
            <a:p>
              <a:endParaRPr/>
            </a:p>
          </p:txBody>
        </p:sp>
        <p:sp>
          <p:nvSpPr>
            <p:cNvPr id="66" name="object 59"/>
            <p:cNvSpPr/>
            <p:nvPr/>
          </p:nvSpPr>
          <p:spPr>
            <a:xfrm>
              <a:off x="492887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C5C5C5">
                <a:alpha val="54998"/>
              </a:srgbClr>
            </a:solidFill>
          </p:spPr>
          <p:txBody>
            <a:bodyPr wrap="square" lIns="0" tIns="0" rIns="0" bIns="0" rtlCol="0"/>
            <a:lstStyle/>
            <a:p>
              <a:endParaRPr/>
            </a:p>
          </p:txBody>
        </p:sp>
        <p:sp>
          <p:nvSpPr>
            <p:cNvPr id="67" name="object 60"/>
            <p:cNvSpPr/>
            <p:nvPr/>
          </p:nvSpPr>
          <p:spPr>
            <a:xfrm>
              <a:off x="485647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4C4C4">
                <a:alpha val="54998"/>
              </a:srgbClr>
            </a:solidFill>
          </p:spPr>
          <p:txBody>
            <a:bodyPr wrap="square" lIns="0" tIns="0" rIns="0" bIns="0" rtlCol="0"/>
            <a:lstStyle/>
            <a:p>
              <a:endParaRPr/>
            </a:p>
          </p:txBody>
        </p:sp>
        <p:sp>
          <p:nvSpPr>
            <p:cNvPr id="68" name="object 61"/>
            <p:cNvSpPr/>
            <p:nvPr/>
          </p:nvSpPr>
          <p:spPr>
            <a:xfrm>
              <a:off x="478409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3C3C3">
                <a:alpha val="54998"/>
              </a:srgbClr>
            </a:solidFill>
          </p:spPr>
          <p:txBody>
            <a:bodyPr wrap="square" lIns="0" tIns="0" rIns="0" bIns="0" rtlCol="0"/>
            <a:lstStyle/>
            <a:p>
              <a:endParaRPr/>
            </a:p>
          </p:txBody>
        </p:sp>
        <p:sp>
          <p:nvSpPr>
            <p:cNvPr id="69" name="object 62"/>
            <p:cNvSpPr/>
            <p:nvPr/>
          </p:nvSpPr>
          <p:spPr>
            <a:xfrm>
              <a:off x="471169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2C2C2">
                <a:alpha val="54998"/>
              </a:srgbClr>
            </a:solidFill>
          </p:spPr>
          <p:txBody>
            <a:bodyPr wrap="square" lIns="0" tIns="0" rIns="0" bIns="0" rtlCol="0"/>
            <a:lstStyle/>
            <a:p>
              <a:endParaRPr/>
            </a:p>
          </p:txBody>
        </p:sp>
        <p:sp>
          <p:nvSpPr>
            <p:cNvPr id="70" name="object 63"/>
            <p:cNvSpPr/>
            <p:nvPr/>
          </p:nvSpPr>
          <p:spPr>
            <a:xfrm>
              <a:off x="463931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C1C1C1">
                <a:alpha val="54998"/>
              </a:srgbClr>
            </a:solidFill>
          </p:spPr>
          <p:txBody>
            <a:bodyPr wrap="square" lIns="0" tIns="0" rIns="0" bIns="0" rtlCol="0"/>
            <a:lstStyle/>
            <a:p>
              <a:endParaRPr/>
            </a:p>
          </p:txBody>
        </p:sp>
        <p:sp>
          <p:nvSpPr>
            <p:cNvPr id="71" name="object 64"/>
            <p:cNvSpPr/>
            <p:nvPr/>
          </p:nvSpPr>
          <p:spPr>
            <a:xfrm>
              <a:off x="4565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C0C0C0">
                <a:alpha val="54998"/>
              </a:srgbClr>
            </a:solidFill>
          </p:spPr>
          <p:txBody>
            <a:bodyPr wrap="square" lIns="0" tIns="0" rIns="0" bIns="0" rtlCol="0"/>
            <a:lstStyle/>
            <a:p>
              <a:endParaRPr/>
            </a:p>
          </p:txBody>
        </p:sp>
        <p:sp>
          <p:nvSpPr>
            <p:cNvPr id="72" name="object 65"/>
            <p:cNvSpPr/>
            <p:nvPr/>
          </p:nvSpPr>
          <p:spPr>
            <a:xfrm>
              <a:off x="449326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FBFBF">
                <a:alpha val="54998"/>
              </a:srgbClr>
            </a:solidFill>
          </p:spPr>
          <p:txBody>
            <a:bodyPr wrap="square" lIns="0" tIns="0" rIns="0" bIns="0" rtlCol="0"/>
            <a:lstStyle/>
            <a:p>
              <a:endParaRPr/>
            </a:p>
          </p:txBody>
        </p:sp>
        <p:sp>
          <p:nvSpPr>
            <p:cNvPr id="73" name="object 66"/>
            <p:cNvSpPr/>
            <p:nvPr/>
          </p:nvSpPr>
          <p:spPr>
            <a:xfrm>
              <a:off x="442087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BEBEBE">
                <a:alpha val="54998"/>
              </a:srgbClr>
            </a:solidFill>
          </p:spPr>
          <p:txBody>
            <a:bodyPr wrap="square" lIns="0" tIns="0" rIns="0" bIns="0" rtlCol="0"/>
            <a:lstStyle/>
            <a:p>
              <a:endParaRPr/>
            </a:p>
          </p:txBody>
        </p:sp>
        <p:sp>
          <p:nvSpPr>
            <p:cNvPr id="74" name="object 67"/>
            <p:cNvSpPr/>
            <p:nvPr/>
          </p:nvSpPr>
          <p:spPr>
            <a:xfrm>
              <a:off x="434847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DBDBD">
                <a:alpha val="54998"/>
              </a:srgbClr>
            </a:solidFill>
          </p:spPr>
          <p:txBody>
            <a:bodyPr wrap="square" lIns="0" tIns="0" rIns="0" bIns="0" rtlCol="0"/>
            <a:lstStyle/>
            <a:p>
              <a:endParaRPr/>
            </a:p>
          </p:txBody>
        </p:sp>
        <p:sp>
          <p:nvSpPr>
            <p:cNvPr id="75" name="object 68"/>
            <p:cNvSpPr/>
            <p:nvPr/>
          </p:nvSpPr>
          <p:spPr>
            <a:xfrm>
              <a:off x="427609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CBCBC">
                <a:alpha val="54998"/>
              </a:srgbClr>
            </a:solidFill>
          </p:spPr>
          <p:txBody>
            <a:bodyPr wrap="square" lIns="0" tIns="0" rIns="0" bIns="0" rtlCol="0"/>
            <a:lstStyle/>
            <a:p>
              <a:endParaRPr/>
            </a:p>
          </p:txBody>
        </p:sp>
        <p:sp>
          <p:nvSpPr>
            <p:cNvPr id="76" name="object 69"/>
            <p:cNvSpPr/>
            <p:nvPr/>
          </p:nvSpPr>
          <p:spPr>
            <a:xfrm>
              <a:off x="4203699"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BBBBBB">
                <a:alpha val="54998"/>
              </a:srgbClr>
            </a:solidFill>
          </p:spPr>
          <p:txBody>
            <a:bodyPr wrap="square" lIns="0" tIns="0" rIns="0" bIns="0" rtlCol="0"/>
            <a:lstStyle/>
            <a:p>
              <a:endParaRPr/>
            </a:p>
          </p:txBody>
        </p:sp>
        <p:sp>
          <p:nvSpPr>
            <p:cNvPr id="77" name="object 70"/>
            <p:cNvSpPr/>
            <p:nvPr/>
          </p:nvSpPr>
          <p:spPr>
            <a:xfrm>
              <a:off x="413004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ABABA">
                <a:alpha val="54998"/>
              </a:srgbClr>
            </a:solidFill>
          </p:spPr>
          <p:txBody>
            <a:bodyPr wrap="square" lIns="0" tIns="0" rIns="0" bIns="0" rtlCol="0"/>
            <a:lstStyle/>
            <a:p>
              <a:endParaRPr/>
            </a:p>
          </p:txBody>
        </p:sp>
        <p:sp>
          <p:nvSpPr>
            <p:cNvPr id="78" name="object 71"/>
            <p:cNvSpPr/>
            <p:nvPr/>
          </p:nvSpPr>
          <p:spPr>
            <a:xfrm>
              <a:off x="4057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9B9B9">
                <a:alpha val="54998"/>
              </a:srgbClr>
            </a:solidFill>
          </p:spPr>
          <p:txBody>
            <a:bodyPr wrap="square" lIns="0" tIns="0" rIns="0" bIns="0" rtlCol="0"/>
            <a:lstStyle/>
            <a:p>
              <a:endParaRPr/>
            </a:p>
          </p:txBody>
        </p:sp>
        <p:sp>
          <p:nvSpPr>
            <p:cNvPr id="79" name="object 72"/>
            <p:cNvSpPr/>
            <p:nvPr/>
          </p:nvSpPr>
          <p:spPr>
            <a:xfrm>
              <a:off x="398526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8B8B8">
                <a:alpha val="54998"/>
              </a:srgbClr>
            </a:solidFill>
          </p:spPr>
          <p:txBody>
            <a:bodyPr wrap="square" lIns="0" tIns="0" rIns="0" bIns="0" rtlCol="0"/>
            <a:lstStyle/>
            <a:p>
              <a:endParaRPr/>
            </a:p>
          </p:txBody>
        </p:sp>
        <p:sp>
          <p:nvSpPr>
            <p:cNvPr id="80" name="object 73"/>
            <p:cNvSpPr/>
            <p:nvPr/>
          </p:nvSpPr>
          <p:spPr>
            <a:xfrm>
              <a:off x="391287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B7B7B7">
                <a:alpha val="54998"/>
              </a:srgbClr>
            </a:solidFill>
          </p:spPr>
          <p:txBody>
            <a:bodyPr wrap="square" lIns="0" tIns="0" rIns="0" bIns="0" rtlCol="0"/>
            <a:lstStyle/>
            <a:p>
              <a:endParaRPr/>
            </a:p>
          </p:txBody>
        </p:sp>
        <p:sp>
          <p:nvSpPr>
            <p:cNvPr id="81" name="object 74"/>
            <p:cNvSpPr/>
            <p:nvPr/>
          </p:nvSpPr>
          <p:spPr>
            <a:xfrm>
              <a:off x="384047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6B6B6">
                <a:alpha val="54998"/>
              </a:srgbClr>
            </a:solidFill>
          </p:spPr>
          <p:txBody>
            <a:bodyPr wrap="square" lIns="0" tIns="0" rIns="0" bIns="0" rtlCol="0"/>
            <a:lstStyle/>
            <a:p>
              <a:endParaRPr/>
            </a:p>
          </p:txBody>
        </p:sp>
        <p:sp>
          <p:nvSpPr>
            <p:cNvPr id="82" name="object 75"/>
            <p:cNvSpPr/>
            <p:nvPr/>
          </p:nvSpPr>
          <p:spPr>
            <a:xfrm>
              <a:off x="376809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5B5B5">
                <a:alpha val="54998"/>
              </a:srgbClr>
            </a:solidFill>
          </p:spPr>
          <p:txBody>
            <a:bodyPr wrap="square" lIns="0" tIns="0" rIns="0" bIns="0" rtlCol="0"/>
            <a:lstStyle/>
            <a:p>
              <a:endParaRPr/>
            </a:p>
          </p:txBody>
        </p:sp>
        <p:sp>
          <p:nvSpPr>
            <p:cNvPr id="83" name="object 76"/>
            <p:cNvSpPr/>
            <p:nvPr/>
          </p:nvSpPr>
          <p:spPr>
            <a:xfrm>
              <a:off x="369442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4B4B4">
                <a:alpha val="54998"/>
              </a:srgbClr>
            </a:solidFill>
          </p:spPr>
          <p:txBody>
            <a:bodyPr wrap="square" lIns="0" tIns="0" rIns="0" bIns="0" rtlCol="0"/>
            <a:lstStyle/>
            <a:p>
              <a:endParaRPr/>
            </a:p>
          </p:txBody>
        </p:sp>
        <p:sp>
          <p:nvSpPr>
            <p:cNvPr id="84" name="object 77"/>
            <p:cNvSpPr/>
            <p:nvPr/>
          </p:nvSpPr>
          <p:spPr>
            <a:xfrm>
              <a:off x="362331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B3B3B3">
                <a:alpha val="54998"/>
              </a:srgbClr>
            </a:solidFill>
          </p:spPr>
          <p:txBody>
            <a:bodyPr wrap="square" lIns="0" tIns="0" rIns="0" bIns="0" rtlCol="0"/>
            <a:lstStyle/>
            <a:p>
              <a:endParaRPr/>
            </a:p>
          </p:txBody>
        </p:sp>
        <p:sp>
          <p:nvSpPr>
            <p:cNvPr id="85" name="object 78"/>
            <p:cNvSpPr/>
            <p:nvPr/>
          </p:nvSpPr>
          <p:spPr>
            <a:xfrm>
              <a:off x="3549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2B2B2">
                <a:alpha val="54998"/>
              </a:srgbClr>
            </a:solidFill>
          </p:spPr>
          <p:txBody>
            <a:bodyPr wrap="square" lIns="0" tIns="0" rIns="0" bIns="0" rtlCol="0"/>
            <a:lstStyle/>
            <a:p>
              <a:endParaRPr/>
            </a:p>
          </p:txBody>
        </p:sp>
        <p:sp>
          <p:nvSpPr>
            <p:cNvPr id="86" name="object 79"/>
            <p:cNvSpPr/>
            <p:nvPr/>
          </p:nvSpPr>
          <p:spPr>
            <a:xfrm>
              <a:off x="347726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B1B1B1">
                <a:alpha val="54998"/>
              </a:srgbClr>
            </a:solidFill>
          </p:spPr>
          <p:txBody>
            <a:bodyPr wrap="square" lIns="0" tIns="0" rIns="0" bIns="0" rtlCol="0"/>
            <a:lstStyle/>
            <a:p>
              <a:endParaRPr/>
            </a:p>
          </p:txBody>
        </p:sp>
        <p:sp>
          <p:nvSpPr>
            <p:cNvPr id="87" name="object 80"/>
            <p:cNvSpPr/>
            <p:nvPr/>
          </p:nvSpPr>
          <p:spPr>
            <a:xfrm>
              <a:off x="340487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B0B0B0">
                <a:alpha val="54998"/>
              </a:srgbClr>
            </a:solidFill>
          </p:spPr>
          <p:txBody>
            <a:bodyPr wrap="square" lIns="0" tIns="0" rIns="0" bIns="0" rtlCol="0"/>
            <a:lstStyle/>
            <a:p>
              <a:endParaRPr/>
            </a:p>
          </p:txBody>
        </p:sp>
        <p:sp>
          <p:nvSpPr>
            <p:cNvPr id="88" name="object 81"/>
            <p:cNvSpPr/>
            <p:nvPr/>
          </p:nvSpPr>
          <p:spPr>
            <a:xfrm>
              <a:off x="333247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FAFAF">
                <a:alpha val="54998"/>
              </a:srgbClr>
            </a:solidFill>
          </p:spPr>
          <p:txBody>
            <a:bodyPr wrap="square" lIns="0" tIns="0" rIns="0" bIns="0" rtlCol="0"/>
            <a:lstStyle/>
            <a:p>
              <a:endParaRPr/>
            </a:p>
          </p:txBody>
        </p:sp>
        <p:sp>
          <p:nvSpPr>
            <p:cNvPr id="89" name="object 82"/>
            <p:cNvSpPr/>
            <p:nvPr/>
          </p:nvSpPr>
          <p:spPr>
            <a:xfrm>
              <a:off x="326009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AEAEAE">
                <a:alpha val="54998"/>
              </a:srgbClr>
            </a:solidFill>
          </p:spPr>
          <p:txBody>
            <a:bodyPr wrap="square" lIns="0" tIns="0" rIns="0" bIns="0" rtlCol="0"/>
            <a:lstStyle/>
            <a:p>
              <a:endParaRPr/>
            </a:p>
          </p:txBody>
        </p:sp>
        <p:sp>
          <p:nvSpPr>
            <p:cNvPr id="90" name="object 83"/>
            <p:cNvSpPr/>
            <p:nvPr/>
          </p:nvSpPr>
          <p:spPr>
            <a:xfrm>
              <a:off x="3187699"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ADADAD">
                <a:alpha val="54998"/>
              </a:srgbClr>
            </a:solidFill>
          </p:spPr>
          <p:txBody>
            <a:bodyPr wrap="square" lIns="0" tIns="0" rIns="0" bIns="0" rtlCol="0"/>
            <a:lstStyle/>
            <a:p>
              <a:endParaRPr/>
            </a:p>
          </p:txBody>
        </p:sp>
        <p:sp>
          <p:nvSpPr>
            <p:cNvPr id="91" name="object 84"/>
            <p:cNvSpPr/>
            <p:nvPr/>
          </p:nvSpPr>
          <p:spPr>
            <a:xfrm>
              <a:off x="311404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CACAC">
                <a:alpha val="54998"/>
              </a:srgbClr>
            </a:solidFill>
          </p:spPr>
          <p:txBody>
            <a:bodyPr wrap="square" lIns="0" tIns="0" rIns="0" bIns="0" rtlCol="0"/>
            <a:lstStyle/>
            <a:p>
              <a:endParaRPr/>
            </a:p>
          </p:txBody>
        </p:sp>
        <p:sp>
          <p:nvSpPr>
            <p:cNvPr id="92" name="object 85"/>
            <p:cNvSpPr/>
            <p:nvPr/>
          </p:nvSpPr>
          <p:spPr>
            <a:xfrm>
              <a:off x="3041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BABAB">
                <a:alpha val="54998"/>
              </a:srgbClr>
            </a:solidFill>
          </p:spPr>
          <p:txBody>
            <a:bodyPr wrap="square" lIns="0" tIns="0" rIns="0" bIns="0" rtlCol="0"/>
            <a:lstStyle/>
            <a:p>
              <a:endParaRPr/>
            </a:p>
          </p:txBody>
        </p:sp>
        <p:sp>
          <p:nvSpPr>
            <p:cNvPr id="93" name="object 86"/>
            <p:cNvSpPr/>
            <p:nvPr/>
          </p:nvSpPr>
          <p:spPr>
            <a:xfrm>
              <a:off x="2969259"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AAAAAA">
                <a:alpha val="54998"/>
              </a:srgbClr>
            </a:solidFill>
          </p:spPr>
          <p:txBody>
            <a:bodyPr wrap="square" lIns="0" tIns="0" rIns="0" bIns="0" rtlCol="0"/>
            <a:lstStyle/>
            <a:p>
              <a:endParaRPr/>
            </a:p>
          </p:txBody>
        </p:sp>
        <p:sp>
          <p:nvSpPr>
            <p:cNvPr id="94" name="object 87"/>
            <p:cNvSpPr/>
            <p:nvPr/>
          </p:nvSpPr>
          <p:spPr>
            <a:xfrm>
              <a:off x="289687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9A9A9">
                <a:alpha val="54998"/>
              </a:srgbClr>
            </a:solidFill>
          </p:spPr>
          <p:txBody>
            <a:bodyPr wrap="square" lIns="0" tIns="0" rIns="0" bIns="0" rtlCol="0"/>
            <a:lstStyle/>
            <a:p>
              <a:endParaRPr/>
            </a:p>
          </p:txBody>
        </p:sp>
        <p:sp>
          <p:nvSpPr>
            <p:cNvPr id="95" name="object 88"/>
            <p:cNvSpPr/>
            <p:nvPr/>
          </p:nvSpPr>
          <p:spPr>
            <a:xfrm>
              <a:off x="282448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A8A8A8">
                <a:alpha val="54998"/>
              </a:srgbClr>
            </a:solidFill>
          </p:spPr>
          <p:txBody>
            <a:bodyPr wrap="square" lIns="0" tIns="0" rIns="0" bIns="0" rtlCol="0"/>
            <a:lstStyle/>
            <a:p>
              <a:endParaRPr/>
            </a:p>
          </p:txBody>
        </p:sp>
        <p:sp>
          <p:nvSpPr>
            <p:cNvPr id="96" name="object 89"/>
            <p:cNvSpPr/>
            <p:nvPr/>
          </p:nvSpPr>
          <p:spPr>
            <a:xfrm>
              <a:off x="2752090" y="548640"/>
              <a:ext cx="78740" cy="1512570"/>
            </a:xfrm>
            <a:custGeom>
              <a:avLst/>
              <a:gdLst/>
              <a:ahLst/>
              <a:cxnLst/>
              <a:rect l="l" t="t" r="r" b="b"/>
              <a:pathLst>
                <a:path w="78739" h="1512570">
                  <a:moveTo>
                    <a:pt x="78740" y="0"/>
                  </a:moveTo>
                  <a:lnTo>
                    <a:pt x="0" y="0"/>
                  </a:lnTo>
                  <a:lnTo>
                    <a:pt x="0" y="1512570"/>
                  </a:lnTo>
                  <a:lnTo>
                    <a:pt x="78740" y="1512570"/>
                  </a:lnTo>
                  <a:lnTo>
                    <a:pt x="78740" y="0"/>
                  </a:lnTo>
                  <a:close/>
                </a:path>
              </a:pathLst>
            </a:custGeom>
            <a:solidFill>
              <a:srgbClr val="A7A7A7">
                <a:alpha val="54998"/>
              </a:srgbClr>
            </a:solidFill>
          </p:spPr>
          <p:txBody>
            <a:bodyPr wrap="square" lIns="0" tIns="0" rIns="0" bIns="0" rtlCol="0"/>
            <a:lstStyle/>
            <a:p>
              <a:endParaRPr/>
            </a:p>
          </p:txBody>
        </p:sp>
        <p:sp>
          <p:nvSpPr>
            <p:cNvPr id="97" name="object 90"/>
            <p:cNvSpPr/>
            <p:nvPr/>
          </p:nvSpPr>
          <p:spPr>
            <a:xfrm>
              <a:off x="2679699"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A6A6A6">
                <a:alpha val="54998"/>
              </a:srgbClr>
            </a:solidFill>
          </p:spPr>
          <p:txBody>
            <a:bodyPr wrap="square" lIns="0" tIns="0" rIns="0" bIns="0" rtlCol="0"/>
            <a:lstStyle/>
            <a:p>
              <a:endParaRPr/>
            </a:p>
          </p:txBody>
        </p:sp>
        <p:sp>
          <p:nvSpPr>
            <p:cNvPr id="98" name="object 91"/>
            <p:cNvSpPr/>
            <p:nvPr/>
          </p:nvSpPr>
          <p:spPr>
            <a:xfrm>
              <a:off x="260604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5A5A5">
                <a:alpha val="54998"/>
              </a:srgbClr>
            </a:solidFill>
          </p:spPr>
          <p:txBody>
            <a:bodyPr wrap="square" lIns="0" tIns="0" rIns="0" bIns="0" rtlCol="0"/>
            <a:lstStyle/>
            <a:p>
              <a:endParaRPr/>
            </a:p>
          </p:txBody>
        </p:sp>
        <p:sp>
          <p:nvSpPr>
            <p:cNvPr id="99" name="object 92"/>
            <p:cNvSpPr/>
            <p:nvPr/>
          </p:nvSpPr>
          <p:spPr>
            <a:xfrm>
              <a:off x="2533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4A4A4">
                <a:alpha val="54998"/>
              </a:srgbClr>
            </a:solidFill>
          </p:spPr>
          <p:txBody>
            <a:bodyPr wrap="square" lIns="0" tIns="0" rIns="0" bIns="0" rtlCol="0"/>
            <a:lstStyle/>
            <a:p>
              <a:endParaRPr/>
            </a:p>
          </p:txBody>
        </p:sp>
        <p:sp>
          <p:nvSpPr>
            <p:cNvPr id="100" name="object 93"/>
            <p:cNvSpPr/>
            <p:nvPr/>
          </p:nvSpPr>
          <p:spPr>
            <a:xfrm>
              <a:off x="2461259"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A3A3A3">
                <a:alpha val="54998"/>
              </a:srgbClr>
            </a:solidFill>
          </p:spPr>
          <p:txBody>
            <a:bodyPr wrap="square" lIns="0" tIns="0" rIns="0" bIns="0" rtlCol="0"/>
            <a:lstStyle/>
            <a:p>
              <a:endParaRPr/>
            </a:p>
          </p:txBody>
        </p:sp>
        <p:sp>
          <p:nvSpPr>
            <p:cNvPr id="101" name="object 94"/>
            <p:cNvSpPr/>
            <p:nvPr/>
          </p:nvSpPr>
          <p:spPr>
            <a:xfrm>
              <a:off x="238887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A2A2A2">
                <a:alpha val="54998"/>
              </a:srgbClr>
            </a:solidFill>
          </p:spPr>
          <p:txBody>
            <a:bodyPr wrap="square" lIns="0" tIns="0" rIns="0" bIns="0" rtlCol="0"/>
            <a:lstStyle/>
            <a:p>
              <a:endParaRPr/>
            </a:p>
          </p:txBody>
        </p:sp>
        <p:sp>
          <p:nvSpPr>
            <p:cNvPr id="102" name="object 95"/>
            <p:cNvSpPr/>
            <p:nvPr/>
          </p:nvSpPr>
          <p:spPr>
            <a:xfrm>
              <a:off x="231648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A1A1A1">
                <a:alpha val="54998"/>
              </a:srgbClr>
            </a:solidFill>
          </p:spPr>
          <p:txBody>
            <a:bodyPr wrap="square" lIns="0" tIns="0" rIns="0" bIns="0" rtlCol="0"/>
            <a:lstStyle/>
            <a:p>
              <a:endParaRPr/>
            </a:p>
          </p:txBody>
        </p:sp>
        <p:sp>
          <p:nvSpPr>
            <p:cNvPr id="103" name="object 96"/>
            <p:cNvSpPr/>
            <p:nvPr/>
          </p:nvSpPr>
          <p:spPr>
            <a:xfrm>
              <a:off x="2244090" y="548640"/>
              <a:ext cx="78740" cy="1512570"/>
            </a:xfrm>
            <a:custGeom>
              <a:avLst/>
              <a:gdLst/>
              <a:ahLst/>
              <a:cxnLst/>
              <a:rect l="l" t="t" r="r" b="b"/>
              <a:pathLst>
                <a:path w="78739" h="1512570">
                  <a:moveTo>
                    <a:pt x="78740" y="0"/>
                  </a:moveTo>
                  <a:lnTo>
                    <a:pt x="0" y="0"/>
                  </a:lnTo>
                  <a:lnTo>
                    <a:pt x="0" y="1512570"/>
                  </a:lnTo>
                  <a:lnTo>
                    <a:pt x="78740" y="1512570"/>
                  </a:lnTo>
                  <a:lnTo>
                    <a:pt x="78740" y="0"/>
                  </a:lnTo>
                  <a:close/>
                </a:path>
              </a:pathLst>
            </a:custGeom>
            <a:solidFill>
              <a:srgbClr val="A0A0A0">
                <a:alpha val="54998"/>
              </a:srgbClr>
            </a:solidFill>
          </p:spPr>
          <p:txBody>
            <a:bodyPr wrap="square" lIns="0" tIns="0" rIns="0" bIns="0" rtlCol="0"/>
            <a:lstStyle/>
            <a:p>
              <a:endParaRPr/>
            </a:p>
          </p:txBody>
        </p:sp>
        <p:sp>
          <p:nvSpPr>
            <p:cNvPr id="104" name="object 97"/>
            <p:cNvSpPr/>
            <p:nvPr/>
          </p:nvSpPr>
          <p:spPr>
            <a:xfrm>
              <a:off x="217043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9F9F9F">
                <a:alpha val="54998"/>
              </a:srgbClr>
            </a:solidFill>
          </p:spPr>
          <p:txBody>
            <a:bodyPr wrap="square" lIns="0" tIns="0" rIns="0" bIns="0" rtlCol="0"/>
            <a:lstStyle/>
            <a:p>
              <a:endParaRPr/>
            </a:p>
          </p:txBody>
        </p:sp>
        <p:sp>
          <p:nvSpPr>
            <p:cNvPr id="105" name="object 98"/>
            <p:cNvSpPr/>
            <p:nvPr/>
          </p:nvSpPr>
          <p:spPr>
            <a:xfrm>
              <a:off x="209804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9E9E9E">
                <a:alpha val="54998"/>
              </a:srgbClr>
            </a:solidFill>
          </p:spPr>
          <p:txBody>
            <a:bodyPr wrap="square" lIns="0" tIns="0" rIns="0" bIns="0" rtlCol="0"/>
            <a:lstStyle/>
            <a:p>
              <a:endParaRPr/>
            </a:p>
          </p:txBody>
        </p:sp>
        <p:sp>
          <p:nvSpPr>
            <p:cNvPr id="106" name="object 99"/>
            <p:cNvSpPr/>
            <p:nvPr/>
          </p:nvSpPr>
          <p:spPr>
            <a:xfrm>
              <a:off x="202564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9D9D9D">
                <a:alpha val="54998"/>
              </a:srgbClr>
            </a:solidFill>
          </p:spPr>
          <p:txBody>
            <a:bodyPr wrap="square" lIns="0" tIns="0" rIns="0" bIns="0" rtlCol="0"/>
            <a:lstStyle/>
            <a:p>
              <a:endParaRPr/>
            </a:p>
          </p:txBody>
        </p:sp>
        <p:sp>
          <p:nvSpPr>
            <p:cNvPr id="107" name="object 100"/>
            <p:cNvSpPr/>
            <p:nvPr/>
          </p:nvSpPr>
          <p:spPr>
            <a:xfrm>
              <a:off x="1953259"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9C9C9C">
                <a:alpha val="54998"/>
              </a:srgbClr>
            </a:solidFill>
          </p:spPr>
          <p:txBody>
            <a:bodyPr wrap="square" lIns="0" tIns="0" rIns="0" bIns="0" rtlCol="0"/>
            <a:lstStyle/>
            <a:p>
              <a:endParaRPr/>
            </a:p>
          </p:txBody>
        </p:sp>
        <p:sp>
          <p:nvSpPr>
            <p:cNvPr id="108" name="object 101"/>
            <p:cNvSpPr/>
            <p:nvPr/>
          </p:nvSpPr>
          <p:spPr>
            <a:xfrm>
              <a:off x="1880870" y="548640"/>
              <a:ext cx="78740" cy="1512570"/>
            </a:xfrm>
            <a:custGeom>
              <a:avLst/>
              <a:gdLst/>
              <a:ahLst/>
              <a:cxnLst/>
              <a:rect l="l" t="t" r="r" b="b"/>
              <a:pathLst>
                <a:path w="78739" h="1512570">
                  <a:moveTo>
                    <a:pt x="78740" y="0"/>
                  </a:moveTo>
                  <a:lnTo>
                    <a:pt x="0" y="0"/>
                  </a:lnTo>
                  <a:lnTo>
                    <a:pt x="0" y="1512570"/>
                  </a:lnTo>
                  <a:lnTo>
                    <a:pt x="78740" y="1512570"/>
                  </a:lnTo>
                  <a:lnTo>
                    <a:pt x="78740" y="0"/>
                  </a:lnTo>
                  <a:close/>
                </a:path>
              </a:pathLst>
            </a:custGeom>
            <a:solidFill>
              <a:srgbClr val="9B9B9B">
                <a:alpha val="54998"/>
              </a:srgbClr>
            </a:solidFill>
          </p:spPr>
          <p:txBody>
            <a:bodyPr wrap="square" lIns="0" tIns="0" rIns="0" bIns="0" rtlCol="0"/>
            <a:lstStyle/>
            <a:p>
              <a:endParaRPr/>
            </a:p>
          </p:txBody>
        </p:sp>
        <p:sp>
          <p:nvSpPr>
            <p:cNvPr id="109" name="object 102"/>
            <p:cNvSpPr/>
            <p:nvPr/>
          </p:nvSpPr>
          <p:spPr>
            <a:xfrm>
              <a:off x="1808480" y="548640"/>
              <a:ext cx="78740" cy="1512570"/>
            </a:xfrm>
            <a:custGeom>
              <a:avLst/>
              <a:gdLst/>
              <a:ahLst/>
              <a:cxnLst/>
              <a:rect l="l" t="t" r="r" b="b"/>
              <a:pathLst>
                <a:path w="78739" h="1512570">
                  <a:moveTo>
                    <a:pt x="78739" y="0"/>
                  </a:moveTo>
                  <a:lnTo>
                    <a:pt x="0" y="0"/>
                  </a:lnTo>
                  <a:lnTo>
                    <a:pt x="0" y="1512570"/>
                  </a:lnTo>
                  <a:lnTo>
                    <a:pt x="78739" y="1512570"/>
                  </a:lnTo>
                  <a:lnTo>
                    <a:pt x="78739" y="0"/>
                  </a:lnTo>
                  <a:close/>
                </a:path>
              </a:pathLst>
            </a:custGeom>
            <a:solidFill>
              <a:srgbClr val="9A9A9A">
                <a:alpha val="54998"/>
              </a:srgbClr>
            </a:solidFill>
          </p:spPr>
          <p:txBody>
            <a:bodyPr wrap="square" lIns="0" tIns="0" rIns="0" bIns="0" rtlCol="0"/>
            <a:lstStyle/>
            <a:p>
              <a:endParaRPr/>
            </a:p>
          </p:txBody>
        </p:sp>
        <p:sp>
          <p:nvSpPr>
            <p:cNvPr id="110" name="object 103"/>
            <p:cNvSpPr/>
            <p:nvPr/>
          </p:nvSpPr>
          <p:spPr>
            <a:xfrm>
              <a:off x="1662430" y="548639"/>
              <a:ext cx="152400" cy="1512570"/>
            </a:xfrm>
            <a:custGeom>
              <a:avLst/>
              <a:gdLst/>
              <a:ahLst/>
              <a:cxnLst/>
              <a:rect l="l" t="t" r="r" b="b"/>
              <a:pathLst>
                <a:path w="152400" h="1512570">
                  <a:moveTo>
                    <a:pt x="152400" y="0"/>
                  </a:moveTo>
                  <a:lnTo>
                    <a:pt x="80010" y="0"/>
                  </a:lnTo>
                  <a:lnTo>
                    <a:pt x="73660" y="0"/>
                  </a:lnTo>
                  <a:lnTo>
                    <a:pt x="0" y="0"/>
                  </a:lnTo>
                  <a:lnTo>
                    <a:pt x="0" y="1512570"/>
                  </a:lnTo>
                  <a:lnTo>
                    <a:pt x="73660" y="1512570"/>
                  </a:lnTo>
                  <a:lnTo>
                    <a:pt x="80010" y="1512570"/>
                  </a:lnTo>
                  <a:lnTo>
                    <a:pt x="152400" y="1512570"/>
                  </a:lnTo>
                  <a:lnTo>
                    <a:pt x="152400" y="0"/>
                  </a:lnTo>
                  <a:close/>
                </a:path>
              </a:pathLst>
            </a:custGeom>
            <a:solidFill>
              <a:srgbClr val="999999">
                <a:alpha val="54998"/>
              </a:srgbClr>
            </a:solidFill>
          </p:spPr>
          <p:txBody>
            <a:bodyPr wrap="square" lIns="0" tIns="0" rIns="0" bIns="0" rtlCol="0"/>
            <a:lstStyle/>
            <a:p>
              <a:endParaRPr/>
            </a:p>
          </p:txBody>
        </p:sp>
        <p:sp>
          <p:nvSpPr>
            <p:cNvPr id="111" name="object 104"/>
            <p:cNvSpPr/>
            <p:nvPr/>
          </p:nvSpPr>
          <p:spPr>
            <a:xfrm>
              <a:off x="1590039"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979797">
                <a:alpha val="54998"/>
              </a:srgbClr>
            </a:solidFill>
          </p:spPr>
          <p:txBody>
            <a:bodyPr wrap="square" lIns="0" tIns="0" rIns="0" bIns="0" rtlCol="0"/>
            <a:lstStyle/>
            <a:p>
              <a:endParaRPr/>
            </a:p>
          </p:txBody>
        </p:sp>
        <p:sp>
          <p:nvSpPr>
            <p:cNvPr id="112" name="object 105"/>
            <p:cNvSpPr/>
            <p:nvPr/>
          </p:nvSpPr>
          <p:spPr>
            <a:xfrm>
              <a:off x="151765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969696">
                <a:alpha val="54998"/>
              </a:srgbClr>
            </a:solidFill>
          </p:spPr>
          <p:txBody>
            <a:bodyPr wrap="square" lIns="0" tIns="0" rIns="0" bIns="0" rtlCol="0"/>
            <a:lstStyle/>
            <a:p>
              <a:endParaRPr/>
            </a:p>
          </p:txBody>
        </p:sp>
        <p:sp>
          <p:nvSpPr>
            <p:cNvPr id="113" name="object 106"/>
            <p:cNvSpPr/>
            <p:nvPr/>
          </p:nvSpPr>
          <p:spPr>
            <a:xfrm>
              <a:off x="144525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959595">
                <a:alpha val="54998"/>
              </a:srgbClr>
            </a:solidFill>
          </p:spPr>
          <p:txBody>
            <a:bodyPr wrap="square" lIns="0" tIns="0" rIns="0" bIns="0" rtlCol="0"/>
            <a:lstStyle/>
            <a:p>
              <a:endParaRPr/>
            </a:p>
          </p:txBody>
        </p:sp>
        <p:sp>
          <p:nvSpPr>
            <p:cNvPr id="114" name="object 107"/>
            <p:cNvSpPr/>
            <p:nvPr/>
          </p:nvSpPr>
          <p:spPr>
            <a:xfrm>
              <a:off x="1372870" y="548640"/>
              <a:ext cx="78740" cy="1512570"/>
            </a:xfrm>
            <a:custGeom>
              <a:avLst/>
              <a:gdLst/>
              <a:ahLst/>
              <a:cxnLst/>
              <a:rect l="l" t="t" r="r" b="b"/>
              <a:pathLst>
                <a:path w="78740" h="1512570">
                  <a:moveTo>
                    <a:pt x="78740" y="0"/>
                  </a:moveTo>
                  <a:lnTo>
                    <a:pt x="0" y="0"/>
                  </a:lnTo>
                  <a:lnTo>
                    <a:pt x="0" y="1512570"/>
                  </a:lnTo>
                  <a:lnTo>
                    <a:pt x="78740" y="1512570"/>
                  </a:lnTo>
                  <a:lnTo>
                    <a:pt x="78740" y="0"/>
                  </a:lnTo>
                  <a:close/>
                </a:path>
              </a:pathLst>
            </a:custGeom>
            <a:solidFill>
              <a:srgbClr val="949494">
                <a:alpha val="54998"/>
              </a:srgbClr>
            </a:solidFill>
          </p:spPr>
          <p:txBody>
            <a:bodyPr wrap="square" lIns="0" tIns="0" rIns="0" bIns="0" rtlCol="0"/>
            <a:lstStyle/>
            <a:p>
              <a:endParaRPr/>
            </a:p>
          </p:txBody>
        </p:sp>
        <p:sp>
          <p:nvSpPr>
            <p:cNvPr id="115" name="object 108"/>
            <p:cNvSpPr/>
            <p:nvPr/>
          </p:nvSpPr>
          <p:spPr>
            <a:xfrm>
              <a:off x="1300480" y="548640"/>
              <a:ext cx="78740" cy="1512570"/>
            </a:xfrm>
            <a:custGeom>
              <a:avLst/>
              <a:gdLst/>
              <a:ahLst/>
              <a:cxnLst/>
              <a:rect l="l" t="t" r="r" b="b"/>
              <a:pathLst>
                <a:path w="78740" h="1512570">
                  <a:moveTo>
                    <a:pt x="78739" y="0"/>
                  </a:moveTo>
                  <a:lnTo>
                    <a:pt x="0" y="0"/>
                  </a:lnTo>
                  <a:lnTo>
                    <a:pt x="0" y="1512570"/>
                  </a:lnTo>
                  <a:lnTo>
                    <a:pt x="78739" y="1512570"/>
                  </a:lnTo>
                  <a:lnTo>
                    <a:pt x="78739" y="0"/>
                  </a:lnTo>
                  <a:close/>
                </a:path>
              </a:pathLst>
            </a:custGeom>
            <a:solidFill>
              <a:srgbClr val="939393">
                <a:alpha val="54998"/>
              </a:srgbClr>
            </a:solidFill>
          </p:spPr>
          <p:txBody>
            <a:bodyPr wrap="square" lIns="0" tIns="0" rIns="0" bIns="0" rtlCol="0"/>
            <a:lstStyle/>
            <a:p>
              <a:endParaRPr/>
            </a:p>
          </p:txBody>
        </p:sp>
        <p:sp>
          <p:nvSpPr>
            <p:cNvPr id="116" name="object 109"/>
            <p:cNvSpPr/>
            <p:nvPr/>
          </p:nvSpPr>
          <p:spPr>
            <a:xfrm>
              <a:off x="122682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929292">
                <a:alpha val="54998"/>
              </a:srgbClr>
            </a:solidFill>
          </p:spPr>
          <p:txBody>
            <a:bodyPr wrap="square" lIns="0" tIns="0" rIns="0" bIns="0" rtlCol="0"/>
            <a:lstStyle/>
            <a:p>
              <a:endParaRPr/>
            </a:p>
          </p:txBody>
        </p:sp>
        <p:sp>
          <p:nvSpPr>
            <p:cNvPr id="117" name="object 110"/>
            <p:cNvSpPr/>
            <p:nvPr/>
          </p:nvSpPr>
          <p:spPr>
            <a:xfrm>
              <a:off x="115443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919191">
                <a:alpha val="54998"/>
              </a:srgbClr>
            </a:solidFill>
          </p:spPr>
          <p:txBody>
            <a:bodyPr wrap="square" lIns="0" tIns="0" rIns="0" bIns="0" rtlCol="0"/>
            <a:lstStyle/>
            <a:p>
              <a:endParaRPr/>
            </a:p>
          </p:txBody>
        </p:sp>
        <p:sp>
          <p:nvSpPr>
            <p:cNvPr id="118" name="object 111"/>
            <p:cNvSpPr/>
            <p:nvPr/>
          </p:nvSpPr>
          <p:spPr>
            <a:xfrm>
              <a:off x="108203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909090">
                <a:alpha val="54998"/>
              </a:srgbClr>
            </a:solidFill>
          </p:spPr>
          <p:txBody>
            <a:bodyPr wrap="square" lIns="0" tIns="0" rIns="0" bIns="0" rtlCol="0"/>
            <a:lstStyle/>
            <a:p>
              <a:endParaRPr/>
            </a:p>
          </p:txBody>
        </p:sp>
        <p:sp>
          <p:nvSpPr>
            <p:cNvPr id="119" name="object 112"/>
            <p:cNvSpPr/>
            <p:nvPr/>
          </p:nvSpPr>
          <p:spPr>
            <a:xfrm>
              <a:off x="100965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8F8F8F">
                <a:alpha val="54998"/>
              </a:srgbClr>
            </a:solidFill>
          </p:spPr>
          <p:txBody>
            <a:bodyPr wrap="square" lIns="0" tIns="0" rIns="0" bIns="0" rtlCol="0"/>
            <a:lstStyle/>
            <a:p>
              <a:endParaRPr/>
            </a:p>
          </p:txBody>
        </p:sp>
        <p:sp>
          <p:nvSpPr>
            <p:cNvPr id="120" name="object 113"/>
            <p:cNvSpPr/>
            <p:nvPr/>
          </p:nvSpPr>
          <p:spPr>
            <a:xfrm>
              <a:off x="93725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8E8E8E">
                <a:alpha val="54998"/>
              </a:srgbClr>
            </a:solidFill>
          </p:spPr>
          <p:txBody>
            <a:bodyPr wrap="square" lIns="0" tIns="0" rIns="0" bIns="0" rtlCol="0"/>
            <a:lstStyle/>
            <a:p>
              <a:endParaRPr/>
            </a:p>
          </p:txBody>
        </p:sp>
        <p:sp>
          <p:nvSpPr>
            <p:cNvPr id="121" name="object 114"/>
            <p:cNvSpPr/>
            <p:nvPr/>
          </p:nvSpPr>
          <p:spPr>
            <a:xfrm>
              <a:off x="86487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8D8D8D">
                <a:alpha val="54998"/>
              </a:srgbClr>
            </a:solidFill>
          </p:spPr>
          <p:txBody>
            <a:bodyPr wrap="square" lIns="0" tIns="0" rIns="0" bIns="0" rtlCol="0"/>
            <a:lstStyle/>
            <a:p>
              <a:endParaRPr/>
            </a:p>
          </p:txBody>
        </p:sp>
        <p:sp>
          <p:nvSpPr>
            <p:cNvPr id="122" name="object 115"/>
            <p:cNvSpPr/>
            <p:nvPr/>
          </p:nvSpPr>
          <p:spPr>
            <a:xfrm>
              <a:off x="79121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8C8C8C">
                <a:alpha val="54998"/>
              </a:srgbClr>
            </a:solidFill>
          </p:spPr>
          <p:txBody>
            <a:bodyPr wrap="square" lIns="0" tIns="0" rIns="0" bIns="0" rtlCol="0"/>
            <a:lstStyle/>
            <a:p>
              <a:endParaRPr/>
            </a:p>
          </p:txBody>
        </p:sp>
        <p:sp>
          <p:nvSpPr>
            <p:cNvPr id="123" name="object 116"/>
            <p:cNvSpPr/>
            <p:nvPr/>
          </p:nvSpPr>
          <p:spPr>
            <a:xfrm>
              <a:off x="71882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8B8B8B">
                <a:alpha val="54998"/>
              </a:srgbClr>
            </a:solidFill>
          </p:spPr>
          <p:txBody>
            <a:bodyPr wrap="square" lIns="0" tIns="0" rIns="0" bIns="0" rtlCol="0"/>
            <a:lstStyle/>
            <a:p>
              <a:endParaRPr/>
            </a:p>
          </p:txBody>
        </p:sp>
        <p:sp>
          <p:nvSpPr>
            <p:cNvPr id="124" name="object 117"/>
            <p:cNvSpPr/>
            <p:nvPr/>
          </p:nvSpPr>
          <p:spPr>
            <a:xfrm>
              <a:off x="646429"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8A8A8A">
                <a:alpha val="54998"/>
              </a:srgbClr>
            </a:solidFill>
          </p:spPr>
          <p:txBody>
            <a:bodyPr wrap="square" lIns="0" tIns="0" rIns="0" bIns="0" rtlCol="0"/>
            <a:lstStyle/>
            <a:p>
              <a:endParaRPr/>
            </a:p>
          </p:txBody>
        </p:sp>
        <p:sp>
          <p:nvSpPr>
            <p:cNvPr id="125" name="object 118"/>
            <p:cNvSpPr/>
            <p:nvPr/>
          </p:nvSpPr>
          <p:spPr>
            <a:xfrm>
              <a:off x="574039"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898989">
                <a:alpha val="54998"/>
              </a:srgbClr>
            </a:solidFill>
          </p:spPr>
          <p:txBody>
            <a:bodyPr wrap="square" lIns="0" tIns="0" rIns="0" bIns="0" rtlCol="0"/>
            <a:lstStyle/>
            <a:p>
              <a:endParaRPr/>
            </a:p>
          </p:txBody>
        </p:sp>
        <p:sp>
          <p:nvSpPr>
            <p:cNvPr id="126" name="object 119"/>
            <p:cNvSpPr/>
            <p:nvPr/>
          </p:nvSpPr>
          <p:spPr>
            <a:xfrm>
              <a:off x="501650" y="548640"/>
              <a:ext cx="80010" cy="1512570"/>
            </a:xfrm>
            <a:custGeom>
              <a:avLst/>
              <a:gdLst/>
              <a:ahLst/>
              <a:cxnLst/>
              <a:rect l="l" t="t" r="r" b="b"/>
              <a:pathLst>
                <a:path w="80009" h="1512570">
                  <a:moveTo>
                    <a:pt x="80009" y="0"/>
                  </a:moveTo>
                  <a:lnTo>
                    <a:pt x="0" y="0"/>
                  </a:lnTo>
                  <a:lnTo>
                    <a:pt x="0" y="1512570"/>
                  </a:lnTo>
                  <a:lnTo>
                    <a:pt x="80009" y="1512570"/>
                  </a:lnTo>
                  <a:lnTo>
                    <a:pt x="80009" y="0"/>
                  </a:lnTo>
                  <a:close/>
                </a:path>
              </a:pathLst>
            </a:custGeom>
            <a:solidFill>
              <a:srgbClr val="888888">
                <a:alpha val="54998"/>
              </a:srgbClr>
            </a:solidFill>
          </p:spPr>
          <p:txBody>
            <a:bodyPr wrap="square" lIns="0" tIns="0" rIns="0" bIns="0" rtlCol="0"/>
            <a:lstStyle/>
            <a:p>
              <a:endParaRPr/>
            </a:p>
          </p:txBody>
        </p:sp>
        <p:sp>
          <p:nvSpPr>
            <p:cNvPr id="127" name="object 120"/>
            <p:cNvSpPr/>
            <p:nvPr/>
          </p:nvSpPr>
          <p:spPr>
            <a:xfrm>
              <a:off x="429260" y="548640"/>
              <a:ext cx="80010" cy="1512570"/>
            </a:xfrm>
            <a:custGeom>
              <a:avLst/>
              <a:gdLst/>
              <a:ahLst/>
              <a:cxnLst/>
              <a:rect l="l" t="t" r="r" b="b"/>
              <a:pathLst>
                <a:path w="80009" h="1512570">
                  <a:moveTo>
                    <a:pt x="80010" y="0"/>
                  </a:moveTo>
                  <a:lnTo>
                    <a:pt x="0" y="0"/>
                  </a:lnTo>
                  <a:lnTo>
                    <a:pt x="0" y="1512570"/>
                  </a:lnTo>
                  <a:lnTo>
                    <a:pt x="80010" y="1512570"/>
                  </a:lnTo>
                  <a:lnTo>
                    <a:pt x="80010" y="0"/>
                  </a:lnTo>
                  <a:close/>
                </a:path>
              </a:pathLst>
            </a:custGeom>
            <a:solidFill>
              <a:srgbClr val="878787">
                <a:alpha val="54998"/>
              </a:srgbClr>
            </a:solidFill>
          </p:spPr>
          <p:txBody>
            <a:bodyPr wrap="square" lIns="0" tIns="0" rIns="0" bIns="0" rtlCol="0"/>
            <a:lstStyle/>
            <a:p>
              <a:endParaRPr/>
            </a:p>
          </p:txBody>
        </p:sp>
        <p:sp>
          <p:nvSpPr>
            <p:cNvPr id="128" name="object 121"/>
            <p:cNvSpPr/>
            <p:nvPr/>
          </p:nvSpPr>
          <p:spPr>
            <a:xfrm>
              <a:off x="356870" y="548640"/>
              <a:ext cx="78740" cy="1512570"/>
            </a:xfrm>
            <a:custGeom>
              <a:avLst/>
              <a:gdLst/>
              <a:ahLst/>
              <a:cxnLst/>
              <a:rect l="l" t="t" r="r" b="b"/>
              <a:pathLst>
                <a:path w="78740" h="1512570">
                  <a:moveTo>
                    <a:pt x="78739" y="0"/>
                  </a:moveTo>
                  <a:lnTo>
                    <a:pt x="0" y="0"/>
                  </a:lnTo>
                  <a:lnTo>
                    <a:pt x="0" y="1512570"/>
                  </a:lnTo>
                  <a:lnTo>
                    <a:pt x="78739" y="1512570"/>
                  </a:lnTo>
                  <a:lnTo>
                    <a:pt x="78739" y="0"/>
                  </a:lnTo>
                  <a:close/>
                </a:path>
              </a:pathLst>
            </a:custGeom>
            <a:solidFill>
              <a:srgbClr val="868686">
                <a:alpha val="54998"/>
              </a:srgbClr>
            </a:solidFill>
          </p:spPr>
          <p:txBody>
            <a:bodyPr wrap="square" lIns="0" tIns="0" rIns="0" bIns="0" rtlCol="0"/>
            <a:lstStyle/>
            <a:p>
              <a:endParaRPr/>
            </a:p>
          </p:txBody>
        </p:sp>
        <p:sp>
          <p:nvSpPr>
            <p:cNvPr id="129" name="object 122"/>
            <p:cNvSpPr/>
            <p:nvPr/>
          </p:nvSpPr>
          <p:spPr>
            <a:xfrm>
              <a:off x="283210"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858585">
                <a:alpha val="54998"/>
              </a:srgbClr>
            </a:solidFill>
          </p:spPr>
          <p:txBody>
            <a:bodyPr wrap="square" lIns="0" tIns="0" rIns="0" bIns="0" rtlCol="0"/>
            <a:lstStyle/>
            <a:p>
              <a:endParaRPr/>
            </a:p>
          </p:txBody>
        </p:sp>
        <p:sp>
          <p:nvSpPr>
            <p:cNvPr id="130" name="object 123"/>
            <p:cNvSpPr/>
            <p:nvPr/>
          </p:nvSpPr>
          <p:spPr>
            <a:xfrm>
              <a:off x="210820" y="548640"/>
              <a:ext cx="80010" cy="1512570"/>
            </a:xfrm>
            <a:custGeom>
              <a:avLst/>
              <a:gdLst/>
              <a:ahLst/>
              <a:cxnLst/>
              <a:rect l="l" t="t" r="r" b="b"/>
              <a:pathLst>
                <a:path w="80010" h="1512570">
                  <a:moveTo>
                    <a:pt x="80009" y="0"/>
                  </a:moveTo>
                  <a:lnTo>
                    <a:pt x="0" y="0"/>
                  </a:lnTo>
                  <a:lnTo>
                    <a:pt x="0" y="1512570"/>
                  </a:lnTo>
                  <a:lnTo>
                    <a:pt x="80009" y="1512570"/>
                  </a:lnTo>
                  <a:lnTo>
                    <a:pt x="80009" y="0"/>
                  </a:lnTo>
                  <a:close/>
                </a:path>
              </a:pathLst>
            </a:custGeom>
            <a:solidFill>
              <a:srgbClr val="848484">
                <a:alpha val="54998"/>
              </a:srgbClr>
            </a:solidFill>
          </p:spPr>
          <p:txBody>
            <a:bodyPr wrap="square" lIns="0" tIns="0" rIns="0" bIns="0" rtlCol="0"/>
            <a:lstStyle/>
            <a:p>
              <a:endParaRPr/>
            </a:p>
          </p:txBody>
        </p:sp>
        <p:sp>
          <p:nvSpPr>
            <p:cNvPr id="131" name="object 124"/>
            <p:cNvSpPr/>
            <p:nvPr/>
          </p:nvSpPr>
          <p:spPr>
            <a:xfrm>
              <a:off x="66039" y="548640"/>
              <a:ext cx="80010" cy="1512570"/>
            </a:xfrm>
            <a:custGeom>
              <a:avLst/>
              <a:gdLst/>
              <a:ahLst/>
              <a:cxnLst/>
              <a:rect l="l" t="t" r="r" b="b"/>
              <a:pathLst>
                <a:path w="80010" h="1512570">
                  <a:moveTo>
                    <a:pt x="80010" y="0"/>
                  </a:moveTo>
                  <a:lnTo>
                    <a:pt x="0" y="0"/>
                  </a:lnTo>
                  <a:lnTo>
                    <a:pt x="0" y="1512570"/>
                  </a:lnTo>
                  <a:lnTo>
                    <a:pt x="80010" y="1512570"/>
                  </a:lnTo>
                  <a:lnTo>
                    <a:pt x="80010" y="0"/>
                  </a:lnTo>
                  <a:close/>
                </a:path>
              </a:pathLst>
            </a:custGeom>
            <a:solidFill>
              <a:srgbClr val="828282">
                <a:alpha val="54998"/>
              </a:srgbClr>
            </a:solidFill>
          </p:spPr>
          <p:txBody>
            <a:bodyPr wrap="square" lIns="0" tIns="0" rIns="0" bIns="0" rtlCol="0"/>
            <a:lstStyle/>
            <a:p>
              <a:endParaRPr/>
            </a:p>
          </p:txBody>
        </p:sp>
        <p:sp>
          <p:nvSpPr>
            <p:cNvPr id="132" name="object 125"/>
            <p:cNvSpPr/>
            <p:nvPr/>
          </p:nvSpPr>
          <p:spPr>
            <a:xfrm>
              <a:off x="1270" y="549910"/>
              <a:ext cx="72390" cy="1511300"/>
            </a:xfrm>
            <a:custGeom>
              <a:avLst/>
              <a:gdLst/>
              <a:ahLst/>
              <a:cxnLst/>
              <a:rect l="l" t="t" r="r" b="b"/>
              <a:pathLst>
                <a:path w="72390" h="1511300">
                  <a:moveTo>
                    <a:pt x="0" y="1511300"/>
                  </a:moveTo>
                  <a:lnTo>
                    <a:pt x="0" y="0"/>
                  </a:lnTo>
                  <a:lnTo>
                    <a:pt x="72390" y="0"/>
                  </a:lnTo>
                  <a:lnTo>
                    <a:pt x="72390" y="1511300"/>
                  </a:lnTo>
                  <a:lnTo>
                    <a:pt x="0" y="1511300"/>
                  </a:lnTo>
                  <a:close/>
                </a:path>
              </a:pathLst>
            </a:custGeom>
            <a:solidFill>
              <a:srgbClr val="818181">
                <a:alpha val="54998"/>
              </a:srgbClr>
            </a:solidFill>
          </p:spPr>
          <p:txBody>
            <a:bodyPr wrap="square" lIns="0" tIns="0" rIns="0" bIns="0" rtlCol="0"/>
            <a:lstStyle/>
            <a:p>
              <a:endParaRPr/>
            </a:p>
          </p:txBody>
        </p:sp>
        <p:sp>
          <p:nvSpPr>
            <p:cNvPr id="133" name="object 126"/>
            <p:cNvSpPr/>
            <p:nvPr/>
          </p:nvSpPr>
          <p:spPr>
            <a:xfrm>
              <a:off x="5080" y="1524000"/>
              <a:ext cx="9138920" cy="5334000"/>
            </a:xfrm>
            <a:prstGeom prst="rect">
              <a:avLst/>
            </a:prstGeom>
            <a:blipFill>
              <a:blip r:embed="rId3" cstate="print"/>
              <a:stretch>
                <a:fillRect/>
              </a:stretch>
            </a:blipFill>
          </p:spPr>
          <p:txBody>
            <a:bodyPr wrap="square" lIns="0" tIns="0" rIns="0" bIns="0" rtlCol="0"/>
            <a:lstStyle/>
            <a:p>
              <a:endParaRPr/>
            </a:p>
          </p:txBody>
        </p:sp>
      </p:grpSp>
      <p:grpSp>
        <p:nvGrpSpPr>
          <p:cNvPr id="134" name="object 129"/>
          <p:cNvGrpSpPr/>
          <p:nvPr/>
        </p:nvGrpSpPr>
        <p:grpSpPr>
          <a:xfrm>
            <a:off x="6592946" y="3610919"/>
            <a:ext cx="4832555" cy="2341984"/>
            <a:chOff x="0" y="4869179"/>
            <a:chExt cx="9128760" cy="1988820"/>
          </a:xfrm>
        </p:grpSpPr>
        <p:sp>
          <p:nvSpPr>
            <p:cNvPr id="135" name="object 130"/>
            <p:cNvSpPr/>
            <p:nvPr/>
          </p:nvSpPr>
          <p:spPr>
            <a:xfrm>
              <a:off x="5509259" y="4869179"/>
              <a:ext cx="3619499" cy="1988820"/>
            </a:xfrm>
            <a:prstGeom prst="rect">
              <a:avLst/>
            </a:prstGeom>
            <a:blipFill>
              <a:blip r:embed="rId4" cstate="print"/>
              <a:stretch>
                <a:fillRect/>
              </a:stretch>
            </a:blipFill>
          </p:spPr>
          <p:txBody>
            <a:bodyPr wrap="square" lIns="0" tIns="0" rIns="0" bIns="0" rtlCol="0"/>
            <a:lstStyle/>
            <a:p>
              <a:endParaRPr/>
            </a:p>
          </p:txBody>
        </p:sp>
        <p:sp>
          <p:nvSpPr>
            <p:cNvPr id="136" name="object 131"/>
            <p:cNvSpPr/>
            <p:nvPr/>
          </p:nvSpPr>
          <p:spPr>
            <a:xfrm>
              <a:off x="2915920" y="4869179"/>
              <a:ext cx="2475230" cy="1988820"/>
            </a:xfrm>
            <a:prstGeom prst="rect">
              <a:avLst/>
            </a:prstGeom>
            <a:blipFill>
              <a:blip r:embed="rId5" cstate="print"/>
              <a:stretch>
                <a:fillRect/>
              </a:stretch>
            </a:blipFill>
          </p:spPr>
          <p:txBody>
            <a:bodyPr wrap="square" lIns="0" tIns="0" rIns="0" bIns="0" rtlCol="0"/>
            <a:lstStyle/>
            <a:p>
              <a:endParaRPr/>
            </a:p>
          </p:txBody>
        </p:sp>
        <p:sp>
          <p:nvSpPr>
            <p:cNvPr id="137" name="object 132"/>
            <p:cNvSpPr/>
            <p:nvPr/>
          </p:nvSpPr>
          <p:spPr>
            <a:xfrm>
              <a:off x="0" y="4869179"/>
              <a:ext cx="2479040" cy="1988820"/>
            </a:xfrm>
            <a:prstGeom prst="rect">
              <a:avLst/>
            </a:prstGeom>
            <a:blipFill>
              <a:blip r:embed="rId6" cstate="print"/>
              <a:stretch>
                <a:fillRect/>
              </a:stretch>
            </a:blipFill>
          </p:spPr>
          <p:txBody>
            <a:bodyPr wrap="square" lIns="0" tIns="0" rIns="0" bIns="0" rtlCol="0"/>
            <a:lstStyle/>
            <a:p>
              <a:endParaRPr/>
            </a:p>
          </p:txBody>
        </p:sp>
      </p:grpSp>
      <p:sp>
        <p:nvSpPr>
          <p:cNvPr id="139" name="object 129"/>
          <p:cNvSpPr txBox="1"/>
          <p:nvPr/>
        </p:nvSpPr>
        <p:spPr>
          <a:xfrm>
            <a:off x="1161858" y="1385090"/>
            <a:ext cx="4742780" cy="2188100"/>
          </a:xfrm>
          <a:prstGeom prst="rect">
            <a:avLst/>
          </a:prstGeom>
        </p:spPr>
        <p:txBody>
          <a:bodyPr vert="horz" wrap="square" lIns="0" tIns="12700" rIns="0" bIns="0" rtlCol="0">
            <a:spAutoFit/>
          </a:bodyPr>
          <a:lstStyle>
            <a:defPPr>
              <a:defRPr lang="en-US"/>
            </a:defPPr>
            <a:lvl1pPr marL="52070" marR="5080" algn="just">
              <a:lnSpc>
                <a:spcPct val="150000"/>
              </a:lnSpc>
              <a:spcBef>
                <a:spcPts val="100"/>
              </a:spcBef>
              <a:tabLst>
                <a:tab pos="393065" algn="l"/>
                <a:tab pos="393700" algn="l"/>
              </a:tabLst>
              <a:defRPr sz="2400" b="0" i="0" spc="-5">
                <a:latin typeface="Times New Roman"/>
                <a:cs typeface="Times New Roman"/>
              </a:defRPr>
            </a:lvl1pPr>
          </a:lstStyle>
          <a:p>
            <a:pPr marL="394970" indent="-342900">
              <a:buFont typeface="Wingdings" panose="05000000000000000000" pitchFamily="2" charset="2"/>
              <a:buChar char="Ø"/>
            </a:pPr>
            <a:r>
              <a:rPr dirty="0">
                <a:solidFill>
                  <a:srgbClr val="C00000"/>
                </a:solidFill>
              </a:rPr>
              <a:t>A permanent source of finance to the </a:t>
            </a:r>
            <a:r>
              <a:rPr dirty="0" err="1">
                <a:solidFill>
                  <a:srgbClr val="C00000"/>
                </a:solidFill>
              </a:rPr>
              <a:t>compan</a:t>
            </a:r>
            <a:r>
              <a:rPr lang="en-IN" dirty="0">
                <a:solidFill>
                  <a:srgbClr val="C00000"/>
                </a:solidFill>
              </a:rPr>
              <a:t>y</a:t>
            </a:r>
          </a:p>
          <a:p>
            <a:pPr marL="394970" indent="-342900">
              <a:buFont typeface="Wingdings" panose="05000000000000000000" pitchFamily="2" charset="2"/>
              <a:buChar char="Ø"/>
            </a:pPr>
            <a:r>
              <a:rPr dirty="0">
                <a:solidFill>
                  <a:srgbClr val="C00000"/>
                </a:solidFill>
              </a:rPr>
              <a:t>No fixed rate of dividend</a:t>
            </a:r>
            <a:endParaRPr lang="en-IN" dirty="0">
              <a:solidFill>
                <a:srgbClr val="C00000"/>
              </a:solidFill>
            </a:endParaRPr>
          </a:p>
          <a:p>
            <a:pPr marL="394970" indent="-342900">
              <a:buFont typeface="Wingdings" panose="05000000000000000000" pitchFamily="2" charset="2"/>
              <a:buChar char="Ø"/>
            </a:pPr>
            <a:r>
              <a:rPr dirty="0">
                <a:solidFill>
                  <a:srgbClr val="C00000"/>
                </a:solidFill>
              </a:rPr>
              <a:t>Easy</a:t>
            </a:r>
            <a:r>
              <a:rPr lang="en-IN" dirty="0">
                <a:solidFill>
                  <a:srgbClr val="C00000"/>
                </a:solidFill>
              </a:rPr>
              <a:t> </a:t>
            </a:r>
            <a:r>
              <a:rPr dirty="0">
                <a:solidFill>
                  <a:srgbClr val="C00000"/>
                </a:solidFill>
              </a:rPr>
              <a:t>liquidity and marketability</a:t>
            </a:r>
          </a:p>
        </p:txBody>
      </p:sp>
      <p:sp>
        <p:nvSpPr>
          <p:cNvPr id="140" name="object 128"/>
          <p:cNvSpPr txBox="1"/>
          <p:nvPr/>
        </p:nvSpPr>
        <p:spPr>
          <a:xfrm>
            <a:off x="6710690" y="1278293"/>
            <a:ext cx="4474772" cy="1887183"/>
          </a:xfrm>
          <a:prstGeom prst="rect">
            <a:avLst/>
          </a:prstGeom>
        </p:spPr>
        <p:txBody>
          <a:bodyPr vert="horz" wrap="square" lIns="0" tIns="12700" rIns="0" bIns="0" rtlCol="0">
            <a:spAutoFit/>
          </a:bodyPr>
          <a:lstStyle>
            <a:defPPr>
              <a:defRPr lang="en-US"/>
            </a:defPPr>
            <a:lvl1pPr marL="52070" marR="5080" algn="just">
              <a:lnSpc>
                <a:spcPct val="150000"/>
              </a:lnSpc>
              <a:spcBef>
                <a:spcPts val="100"/>
              </a:spcBef>
              <a:tabLst>
                <a:tab pos="393065" algn="l"/>
                <a:tab pos="393700" algn="l"/>
              </a:tabLst>
              <a:defRPr sz="3200" b="0" i="0" spc="-5">
                <a:latin typeface="Times New Roman"/>
                <a:cs typeface="Times New Roman"/>
              </a:defRPr>
            </a:lvl1pPr>
          </a:lstStyle>
          <a:p>
            <a:pPr marL="509270" indent="-457200">
              <a:buFont typeface="Wingdings" panose="05000000000000000000" pitchFamily="2" charset="2"/>
              <a:buChar char="Ø"/>
            </a:pPr>
            <a:r>
              <a:rPr sz="2800" dirty="0"/>
              <a:t>No guarantee on returns to shareholders</a:t>
            </a:r>
          </a:p>
          <a:p>
            <a:pPr marL="509270" indent="-457200">
              <a:buFont typeface="Wingdings" panose="05000000000000000000" pitchFamily="2" charset="2"/>
              <a:buChar char="Ø"/>
            </a:pPr>
            <a:r>
              <a:rPr sz="2800" dirty="0"/>
              <a:t>Loss of managerial control</a:t>
            </a:r>
          </a:p>
        </p:txBody>
      </p:sp>
    </p:spTree>
    <p:extLst>
      <p:ext uri="{BB962C8B-B14F-4D97-AF65-F5344CB8AC3E}">
        <p14:creationId xmlns:p14="http://schemas.microsoft.com/office/powerpoint/2010/main" val="16278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78499" y="299355"/>
            <a:ext cx="10929087" cy="6446678"/>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800" b="1" dirty="0">
              <a:solidFill>
                <a:schemeClr val="tx1"/>
              </a:solidFill>
              <a:latin typeface="Times New Roman" panose="02020603050405020304" pitchFamily="18" charset="0"/>
              <a:cs typeface="Times New Roman" panose="02020603050405020304" pitchFamily="18" charset="0"/>
            </a:endParaRPr>
          </a:p>
          <a:p>
            <a:pPr fontAlgn="base"/>
            <a:r>
              <a:rPr lang="en-IN" sz="2800" b="1" dirty="0">
                <a:solidFill>
                  <a:srgbClr val="0070C0"/>
                </a:solidFill>
                <a:latin typeface="Times New Roman" panose="02020603050405020304" pitchFamily="18" charset="0"/>
                <a:cs typeface="Times New Roman" panose="02020603050405020304" pitchFamily="18" charset="0"/>
              </a:rPr>
              <a:t>ii) Preference Shares : </a:t>
            </a:r>
            <a:endParaRPr lang="en-IN" sz="2800" dirty="0">
              <a:solidFill>
                <a:srgbClr val="0070C0"/>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ü"/>
            </a:pPr>
            <a:r>
              <a:rPr lang="en-IN" sz="2800" dirty="0">
                <a:solidFill>
                  <a:schemeClr val="tx1"/>
                </a:solidFill>
                <a:latin typeface="Times New Roman" panose="02020603050405020304" pitchFamily="18" charset="0"/>
                <a:cs typeface="Times New Roman" panose="02020603050405020304" pitchFamily="18" charset="0"/>
              </a:rPr>
              <a:t>Preference shares have the unique characteristics of being hybrid in nature, i.e., they have certain features of equity and at the same time certain features of debentures. It is similar to equity shares in the following ways :</a:t>
            </a:r>
          </a:p>
          <a:p>
            <a:pPr marL="342900" lvl="0" indent="-342900" fontAlgn="base">
              <a:buFont typeface="Wingdings" panose="05000000000000000000" pitchFamily="2" charset="2"/>
              <a:buChar char="ü"/>
            </a:pPr>
            <a:r>
              <a:rPr lang="en-IN" sz="2800" dirty="0">
                <a:solidFill>
                  <a:schemeClr val="tx1"/>
                </a:solidFill>
                <a:latin typeface="Times New Roman" panose="02020603050405020304" pitchFamily="18" charset="0"/>
                <a:cs typeface="Times New Roman" panose="02020603050405020304" pitchFamily="18" charset="0"/>
              </a:rPr>
              <a:t>From disposable profits, the dividend of preference shares is paid.</a:t>
            </a:r>
          </a:p>
          <a:p>
            <a:pPr marL="342900" lvl="0" indent="-342900" fontAlgn="base">
              <a:buFont typeface="Wingdings" panose="05000000000000000000" pitchFamily="2" charset="2"/>
              <a:buChar char="ü"/>
            </a:pPr>
            <a:r>
              <a:rPr lang="en-IN" sz="2800" dirty="0">
                <a:solidFill>
                  <a:schemeClr val="tx1"/>
                </a:solidFill>
                <a:latin typeface="Times New Roman" panose="02020603050405020304" pitchFamily="18" charset="0"/>
                <a:cs typeface="Times New Roman" panose="02020603050405020304" pitchFamily="18" charset="0"/>
              </a:rPr>
              <a:t>Preference dividend is not compulsory for the payment of fixed amount of dividend. It totally depends upon the director's decision. </a:t>
            </a:r>
          </a:p>
          <a:p>
            <a:pPr marL="342900" lvl="0" indent="-342900" fontAlgn="base">
              <a:buFont typeface="Wingdings" panose="05000000000000000000" pitchFamily="2" charset="2"/>
              <a:buChar char="ü"/>
            </a:pPr>
            <a:r>
              <a:rPr lang="en-IN" sz="2800" dirty="0">
                <a:solidFill>
                  <a:schemeClr val="tx1"/>
                </a:solidFill>
                <a:latin typeface="Times New Roman" panose="02020603050405020304" pitchFamily="18" charset="0"/>
                <a:cs typeface="Times New Roman" panose="02020603050405020304" pitchFamily="18" charset="0"/>
              </a:rPr>
              <a:t>There is no tax-deduction in Preference Dividend.</a:t>
            </a:r>
          </a:p>
          <a:p>
            <a:pPr marL="342900" lvl="0" indent="-342900" fontAlgn="base">
              <a:buFont typeface="Wingdings" panose="05000000000000000000" pitchFamily="2" charset="2"/>
              <a:buChar char="ü"/>
            </a:pPr>
            <a:endParaRPr lang="en-IN" sz="2800" dirty="0">
              <a:solidFill>
                <a:schemeClr val="tx1"/>
              </a:solidFill>
              <a:latin typeface="Times New Roman" panose="02020603050405020304" pitchFamily="18" charset="0"/>
              <a:cs typeface="Times New Roman" panose="02020603050405020304" pitchFamily="18" charset="0"/>
            </a:endParaRPr>
          </a:p>
          <a:p>
            <a:pPr marL="342900" lvl="0" indent="-342900" fontAlgn="base">
              <a:buFont typeface="Wingdings" panose="05000000000000000000" pitchFamily="2" charset="2"/>
              <a:buChar char="ü"/>
            </a:pPr>
            <a:endParaRPr lang="en-IN" sz="2800" dirty="0">
              <a:solidFill>
                <a:schemeClr val="tx1"/>
              </a:solidFill>
              <a:latin typeface="Times New Roman" panose="02020603050405020304" pitchFamily="18" charset="0"/>
              <a:cs typeface="Times New Roman" panose="02020603050405020304" pitchFamily="18" charset="0"/>
            </a:endParaRPr>
          </a:p>
          <a:p>
            <a:pPr marL="342900" lvl="0" indent="-342900" fontAlgn="base">
              <a:buFont typeface="Wingdings" panose="05000000000000000000" pitchFamily="2" charset="2"/>
              <a:buChar char="ü"/>
            </a:pPr>
            <a:endParaRPr lang="en-IN" sz="2800" dirty="0">
              <a:solidFill>
                <a:schemeClr val="tx1"/>
              </a:solidFill>
              <a:latin typeface="Times New Roman" panose="02020603050405020304" pitchFamily="18" charset="0"/>
              <a:cs typeface="Times New Roman" panose="02020603050405020304" pitchFamily="18" charset="0"/>
            </a:endParaRPr>
          </a:p>
          <a:p>
            <a:pPr marL="342900" lvl="0" indent="-342900" fontAlgn="base">
              <a:buFont typeface="Wingdings" panose="05000000000000000000" pitchFamily="2" charset="2"/>
              <a:buChar char="ü"/>
            </a:pPr>
            <a:endParaRPr lang="en-IN" sz="2800" dirty="0">
              <a:solidFill>
                <a:schemeClr val="tx1"/>
              </a:solidFill>
              <a:latin typeface="Times New Roman" panose="02020603050405020304" pitchFamily="18" charset="0"/>
              <a:cs typeface="Times New Roman" panose="02020603050405020304" pitchFamily="18" charset="0"/>
            </a:endParaRPr>
          </a:p>
          <a:p>
            <a:pPr lvl="0" fontAlgn="base"/>
            <a:endParaRPr lang="en-IN" sz="2800" dirty="0">
              <a:solidFill>
                <a:schemeClr val="tx1"/>
              </a:solidFill>
              <a:latin typeface="Times New Roman" panose="02020603050405020304" pitchFamily="18" charset="0"/>
              <a:cs typeface="Times New Roman" panose="02020603050405020304" pitchFamily="18" charset="0"/>
            </a:endParaRPr>
          </a:p>
          <a:p>
            <a:pPr lvl="0" fontAlgn="base"/>
            <a:endParaRPr lang="en-IN" sz="2200" dirty="0">
              <a:solidFill>
                <a:schemeClr val="tx1"/>
              </a:solidFill>
              <a:latin typeface="Times New Roman" panose="02020603050405020304" pitchFamily="18" charset="0"/>
              <a:cs typeface="Times New Roman" panose="02020603050405020304" pitchFamily="18" charset="0"/>
            </a:endParaRPr>
          </a:p>
          <a:p>
            <a:br>
              <a:rPr lang="en-IN" sz="2200" dirty="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sp>
        <p:nvSpPr>
          <p:cNvPr id="6" name="object 3"/>
          <p:cNvSpPr/>
          <p:nvPr/>
        </p:nvSpPr>
        <p:spPr>
          <a:xfrm>
            <a:off x="1813942" y="4571999"/>
            <a:ext cx="8458200" cy="2051543"/>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6151987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1000" t="24000" r="39500" b="30444"/>
          <a:stretch/>
        </p:blipFill>
        <p:spPr>
          <a:xfrm>
            <a:off x="1520071" y="922986"/>
            <a:ext cx="9126158" cy="4724400"/>
          </a:xfrm>
          <a:prstGeom prst="rect">
            <a:avLst/>
          </a:prstGeom>
        </p:spPr>
      </p:pic>
    </p:spTree>
    <p:extLst>
      <p:ext uri="{BB962C8B-B14F-4D97-AF65-F5344CB8AC3E}">
        <p14:creationId xmlns:p14="http://schemas.microsoft.com/office/powerpoint/2010/main" val="3197068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l="11000" t="25111" r="39500" b="33111"/>
          <a:stretch/>
        </p:blipFill>
        <p:spPr>
          <a:xfrm>
            <a:off x="1635046" y="1200955"/>
            <a:ext cx="9148864" cy="4343400"/>
          </a:xfrm>
          <a:prstGeom prst="rect">
            <a:avLst/>
          </a:prstGeom>
        </p:spPr>
      </p:pic>
    </p:spTree>
    <p:extLst>
      <p:ext uri="{BB962C8B-B14F-4D97-AF65-F5344CB8AC3E}">
        <p14:creationId xmlns:p14="http://schemas.microsoft.com/office/powerpoint/2010/main" val="134200102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0666" r="5000"/>
          <a:stretch/>
        </p:blipFill>
        <p:spPr>
          <a:xfrm>
            <a:off x="1601274" y="939481"/>
            <a:ext cx="9144000" cy="4836695"/>
          </a:xfrm>
          <a:prstGeom prst="rect">
            <a:avLst/>
          </a:prstGeom>
        </p:spPr>
      </p:pic>
    </p:spTree>
    <p:extLst>
      <p:ext uri="{BB962C8B-B14F-4D97-AF65-F5344CB8AC3E}">
        <p14:creationId xmlns:p14="http://schemas.microsoft.com/office/powerpoint/2010/main" val="237079913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84938" y="53262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r>
              <a:rPr lang="en-IN" sz="2200" b="1" dirty="0">
                <a:solidFill>
                  <a:srgbClr val="0070C0"/>
                </a:solidFill>
                <a:latin typeface="Times New Roman" panose="02020603050405020304" pitchFamily="18" charset="0"/>
                <a:cs typeface="Times New Roman" panose="02020603050405020304" pitchFamily="18" charset="0"/>
              </a:rPr>
              <a:t>iii) Debentures :</a:t>
            </a:r>
            <a:r>
              <a:rPr lang="en-IN" sz="2200" b="1" dirty="0">
                <a:solidFill>
                  <a:schemeClr val="tx1"/>
                </a:solidFill>
                <a:latin typeface="Times New Roman" panose="02020603050405020304" pitchFamily="18" charset="0"/>
                <a:cs typeface="Times New Roman" panose="02020603050405020304" pitchFamily="18" charset="0"/>
              </a:rPr>
              <a:t> </a:t>
            </a: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r>
              <a:rPr lang="en-IN" sz="2200" dirty="0">
                <a:solidFill>
                  <a:schemeClr val="tx1"/>
                </a:solidFill>
                <a:latin typeface="Times New Roman" panose="02020603050405020304" pitchFamily="18" charset="0"/>
                <a:cs typeface="Times New Roman" panose="02020603050405020304" pitchFamily="18" charset="0"/>
              </a:rPr>
              <a:t>A debenture is an instrument through which an Indian Public Limited Company can raise funds from the market. </a:t>
            </a:r>
          </a:p>
          <a:p>
            <a:pPr marL="342900" indent="-342900" fontAlgn="base">
              <a:buFont typeface="Wingdings" panose="05000000000000000000" pitchFamily="2" charset="2"/>
              <a:buChar char="Ø"/>
            </a:pPr>
            <a:r>
              <a:rPr lang="en-IN" sz="2200" dirty="0">
                <a:solidFill>
                  <a:schemeClr val="tx1"/>
                </a:solidFill>
                <a:latin typeface="Times New Roman" panose="02020603050405020304" pitchFamily="18" charset="0"/>
                <a:cs typeface="Times New Roman" panose="02020603050405020304" pitchFamily="18" charset="0"/>
              </a:rPr>
              <a:t>A debenture is signed by the company with its seal, to acknowledge the debt of the person(s). ensuring the advanced amount of debt. So this is a security issued by a company against debt. </a:t>
            </a:r>
          </a:p>
          <a:p>
            <a:pPr marL="342900" indent="-342900" fontAlgn="base">
              <a:buFont typeface="Wingdings" panose="05000000000000000000" pitchFamily="2" charset="2"/>
              <a:buChar char="Ø"/>
            </a:pPr>
            <a:r>
              <a:rPr lang="en-IN" sz="2200" dirty="0">
                <a:solidFill>
                  <a:schemeClr val="tx1"/>
                </a:solidFill>
                <a:latin typeface="Times New Roman" panose="02020603050405020304" pitchFamily="18" charset="0"/>
                <a:cs typeface="Times New Roman" panose="02020603050405020304" pitchFamily="18" charset="0"/>
              </a:rPr>
              <a:t>A company may issue debentures after getting Certificate of Commencement of Business, provided its Memorandum of Association contain a clause which permits the company to issue debentures.</a:t>
            </a: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marL="342900" indent="-342900" fontAlgn="base">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p:txBody>
      </p:sp>
      <p:grpSp>
        <p:nvGrpSpPr>
          <p:cNvPr id="10" name="Group 9"/>
          <p:cNvGrpSpPr/>
          <p:nvPr/>
        </p:nvGrpSpPr>
        <p:grpSpPr>
          <a:xfrm>
            <a:off x="2162327" y="4189142"/>
            <a:ext cx="8077200" cy="1981698"/>
            <a:chOff x="2315209" y="3666628"/>
            <a:chExt cx="8077200" cy="1981698"/>
          </a:xfrm>
        </p:grpSpPr>
        <p:grpSp>
          <p:nvGrpSpPr>
            <p:cNvPr id="11" name="object 2"/>
            <p:cNvGrpSpPr/>
            <p:nvPr/>
          </p:nvGrpSpPr>
          <p:grpSpPr>
            <a:xfrm>
              <a:off x="2315210" y="3666628"/>
              <a:ext cx="7285990" cy="1877444"/>
              <a:chOff x="762000" y="1676400"/>
              <a:chExt cx="6349038" cy="1981200"/>
            </a:xfrm>
          </p:grpSpPr>
          <p:sp>
            <p:nvSpPr>
              <p:cNvPr id="28" name="object 3"/>
              <p:cNvSpPr/>
              <p:nvPr/>
            </p:nvSpPr>
            <p:spPr>
              <a:xfrm>
                <a:off x="1295400" y="1676400"/>
                <a:ext cx="5815638" cy="161346"/>
              </a:xfrm>
              <a:custGeom>
                <a:avLst/>
                <a:gdLst/>
                <a:ahLst/>
                <a:cxnLst/>
                <a:rect l="l" t="t" r="r" b="b"/>
                <a:pathLst>
                  <a:path w="6781800" h="152400">
                    <a:moveTo>
                      <a:pt x="6781800" y="0"/>
                    </a:moveTo>
                    <a:lnTo>
                      <a:pt x="0" y="0"/>
                    </a:lnTo>
                    <a:lnTo>
                      <a:pt x="0" y="152400"/>
                    </a:lnTo>
                    <a:lnTo>
                      <a:pt x="6781800" y="152400"/>
                    </a:lnTo>
                    <a:close/>
                  </a:path>
                </a:pathLst>
              </a:custGeom>
              <a:solidFill>
                <a:srgbClr val="333399"/>
              </a:solidFill>
            </p:spPr>
            <p:txBody>
              <a:bodyPr wrap="square" lIns="0" tIns="0" rIns="0" bIns="0" rtlCol="0"/>
              <a:lstStyle/>
              <a:p>
                <a:endParaRPr/>
              </a:p>
            </p:txBody>
          </p:sp>
          <p:sp>
            <p:nvSpPr>
              <p:cNvPr id="29" name="object 4"/>
              <p:cNvSpPr/>
              <p:nvPr/>
            </p:nvSpPr>
            <p:spPr>
              <a:xfrm>
                <a:off x="1295400" y="1676400"/>
                <a:ext cx="5815638" cy="152400"/>
              </a:xfrm>
              <a:custGeom>
                <a:avLst/>
                <a:gdLst/>
                <a:ahLst/>
                <a:cxnLst/>
                <a:rect l="l" t="t" r="r" b="b"/>
                <a:pathLst>
                  <a:path w="6781800" h="152400">
                    <a:moveTo>
                      <a:pt x="3390900" y="152400"/>
                    </a:moveTo>
                    <a:lnTo>
                      <a:pt x="0" y="152400"/>
                    </a:lnTo>
                    <a:lnTo>
                      <a:pt x="0" y="0"/>
                    </a:lnTo>
                    <a:lnTo>
                      <a:pt x="6781800" y="0"/>
                    </a:lnTo>
                    <a:lnTo>
                      <a:pt x="6781800" y="152400"/>
                    </a:lnTo>
                    <a:lnTo>
                      <a:pt x="3390900" y="152400"/>
                    </a:lnTo>
                    <a:close/>
                  </a:path>
                </a:pathLst>
              </a:custGeom>
              <a:ln w="19048">
                <a:solidFill>
                  <a:srgbClr val="A05C33"/>
                </a:solidFill>
              </a:ln>
            </p:spPr>
            <p:txBody>
              <a:bodyPr wrap="square" lIns="0" tIns="0" rIns="0" bIns="0" rtlCol="0"/>
              <a:lstStyle/>
              <a:p>
                <a:endParaRPr/>
              </a:p>
            </p:txBody>
          </p:sp>
          <p:sp>
            <p:nvSpPr>
              <p:cNvPr id="30" name="object 5"/>
              <p:cNvSpPr/>
              <p:nvPr/>
            </p:nvSpPr>
            <p:spPr>
              <a:xfrm>
                <a:off x="1219200" y="1828800"/>
                <a:ext cx="381000" cy="685800"/>
              </a:xfrm>
              <a:custGeom>
                <a:avLst/>
                <a:gdLst/>
                <a:ahLst/>
                <a:cxnLst/>
                <a:rect l="l" t="t" r="r" b="b"/>
                <a:pathLst>
                  <a:path w="381000" h="685800">
                    <a:moveTo>
                      <a:pt x="285750" y="0"/>
                    </a:moveTo>
                    <a:lnTo>
                      <a:pt x="95250" y="0"/>
                    </a:lnTo>
                    <a:lnTo>
                      <a:pt x="95250" y="495300"/>
                    </a:lnTo>
                    <a:lnTo>
                      <a:pt x="0" y="495300"/>
                    </a:lnTo>
                    <a:lnTo>
                      <a:pt x="190500" y="685800"/>
                    </a:lnTo>
                    <a:lnTo>
                      <a:pt x="381000" y="495300"/>
                    </a:lnTo>
                    <a:lnTo>
                      <a:pt x="285750" y="495300"/>
                    </a:lnTo>
                    <a:lnTo>
                      <a:pt x="285750" y="0"/>
                    </a:lnTo>
                    <a:close/>
                  </a:path>
                </a:pathLst>
              </a:custGeom>
              <a:solidFill>
                <a:srgbClr val="333399"/>
              </a:solidFill>
            </p:spPr>
            <p:txBody>
              <a:bodyPr wrap="square" lIns="0" tIns="0" rIns="0" bIns="0" rtlCol="0"/>
              <a:lstStyle/>
              <a:p>
                <a:endParaRPr/>
              </a:p>
            </p:txBody>
          </p:sp>
          <p:sp>
            <p:nvSpPr>
              <p:cNvPr id="31" name="object 6"/>
              <p:cNvSpPr/>
              <p:nvPr/>
            </p:nvSpPr>
            <p:spPr>
              <a:xfrm>
                <a:off x="1219200" y="1828800"/>
                <a:ext cx="381000" cy="685800"/>
              </a:xfrm>
              <a:custGeom>
                <a:avLst/>
                <a:gdLst/>
                <a:ahLst/>
                <a:cxnLst/>
                <a:rect l="l" t="t" r="r" b="b"/>
                <a:pathLst>
                  <a:path w="381000" h="685800">
                    <a:moveTo>
                      <a:pt x="95250" y="0"/>
                    </a:moveTo>
                    <a:lnTo>
                      <a:pt x="95250" y="495300"/>
                    </a:lnTo>
                    <a:lnTo>
                      <a:pt x="0" y="495300"/>
                    </a:lnTo>
                    <a:lnTo>
                      <a:pt x="190500" y="685800"/>
                    </a:lnTo>
                    <a:lnTo>
                      <a:pt x="381000" y="495300"/>
                    </a:lnTo>
                    <a:lnTo>
                      <a:pt x="285750" y="495300"/>
                    </a:lnTo>
                    <a:lnTo>
                      <a:pt x="285750" y="0"/>
                    </a:lnTo>
                    <a:lnTo>
                      <a:pt x="95250" y="0"/>
                    </a:lnTo>
                    <a:close/>
                  </a:path>
                  <a:path w="381000" h="685800">
                    <a:moveTo>
                      <a:pt x="0" y="0"/>
                    </a:moveTo>
                    <a:lnTo>
                      <a:pt x="0" y="0"/>
                    </a:lnTo>
                  </a:path>
                </a:pathLst>
              </a:custGeom>
              <a:ln w="19048">
                <a:solidFill>
                  <a:srgbClr val="A05C33"/>
                </a:solidFill>
              </a:ln>
            </p:spPr>
            <p:txBody>
              <a:bodyPr wrap="square" lIns="0" tIns="0" rIns="0" bIns="0" rtlCol="0"/>
              <a:lstStyle/>
              <a:p>
                <a:endParaRPr/>
              </a:p>
            </p:txBody>
          </p:sp>
          <p:sp>
            <p:nvSpPr>
              <p:cNvPr id="32" name="object 7"/>
              <p:cNvSpPr/>
              <p:nvPr/>
            </p:nvSpPr>
            <p:spPr>
              <a:xfrm>
                <a:off x="762000" y="2514600"/>
                <a:ext cx="1676400" cy="1143000"/>
              </a:xfrm>
              <a:custGeom>
                <a:avLst/>
                <a:gdLst/>
                <a:ahLst/>
                <a:cxnLst/>
                <a:rect l="l" t="t" r="r" b="b"/>
                <a:pathLst>
                  <a:path w="1676400" h="1143000">
                    <a:moveTo>
                      <a:pt x="1676400" y="0"/>
                    </a:moveTo>
                    <a:lnTo>
                      <a:pt x="0" y="0"/>
                    </a:lnTo>
                    <a:lnTo>
                      <a:pt x="0" y="1143000"/>
                    </a:lnTo>
                    <a:lnTo>
                      <a:pt x="1676400" y="1143000"/>
                    </a:lnTo>
                    <a:close/>
                  </a:path>
                </a:pathLst>
              </a:custGeom>
              <a:solidFill>
                <a:srgbClr val="BADFE2"/>
              </a:solidFill>
            </p:spPr>
            <p:txBody>
              <a:bodyPr wrap="square" lIns="0" tIns="0" rIns="0" bIns="0" rtlCol="0"/>
              <a:lstStyle/>
              <a:p>
                <a:endParaRPr/>
              </a:p>
            </p:txBody>
          </p:sp>
        </p:grpSp>
        <p:sp>
          <p:nvSpPr>
            <p:cNvPr id="12" name="object 8"/>
            <p:cNvSpPr txBox="1"/>
            <p:nvPr/>
          </p:nvSpPr>
          <p:spPr>
            <a:xfrm>
              <a:off x="2315209" y="4505325"/>
              <a:ext cx="1676400" cy="1038746"/>
            </a:xfrm>
            <a:prstGeom prst="rect">
              <a:avLst/>
            </a:prstGeom>
            <a:ln w="19048">
              <a:solidFill>
                <a:srgbClr val="6B8499"/>
              </a:solidFill>
            </a:ln>
          </p:spPr>
          <p:txBody>
            <a:bodyPr vert="horz" wrap="square" lIns="0" tIns="114300" rIns="0" bIns="0" rtlCol="0">
              <a:spAutoFit/>
            </a:bodyPr>
            <a:lstStyle/>
            <a:p>
              <a:pPr marL="95250" marR="88900" indent="635" algn="ctr">
                <a:spcBef>
                  <a:spcPts val="900"/>
                </a:spcBef>
              </a:pPr>
              <a:r>
                <a:rPr sz="2000" spc="-5" dirty="0">
                  <a:solidFill>
                    <a:srgbClr val="0B0B0B"/>
                  </a:solidFill>
                  <a:latin typeface="Georgia"/>
                  <a:cs typeface="Georgia"/>
                </a:rPr>
                <a:t>Redeemable  </a:t>
              </a:r>
              <a:r>
                <a:rPr sz="2000" spc="-15" dirty="0">
                  <a:solidFill>
                    <a:srgbClr val="0B0B0B"/>
                  </a:solidFill>
                  <a:latin typeface="Georgia"/>
                  <a:cs typeface="Georgia"/>
                </a:rPr>
                <a:t>or        </a:t>
              </a:r>
              <a:r>
                <a:rPr sz="2000" dirty="0">
                  <a:solidFill>
                    <a:srgbClr val="0B0B0B"/>
                  </a:solidFill>
                  <a:latin typeface="Georgia"/>
                  <a:cs typeface="Georgia"/>
                </a:rPr>
                <a:t>irre</a:t>
              </a:r>
              <a:r>
                <a:rPr sz="2000" spc="5" dirty="0">
                  <a:solidFill>
                    <a:srgbClr val="0B0B0B"/>
                  </a:solidFill>
                  <a:latin typeface="Georgia"/>
                  <a:cs typeface="Georgia"/>
                </a:rPr>
                <a:t>d</a:t>
              </a:r>
              <a:r>
                <a:rPr sz="2000" spc="-20" dirty="0">
                  <a:solidFill>
                    <a:srgbClr val="0B0B0B"/>
                  </a:solidFill>
                  <a:latin typeface="Georgia"/>
                  <a:cs typeface="Georgia"/>
                </a:rPr>
                <a:t>e</a:t>
              </a:r>
              <a:r>
                <a:rPr sz="2000" dirty="0">
                  <a:solidFill>
                    <a:srgbClr val="0B0B0B"/>
                  </a:solidFill>
                  <a:latin typeface="Georgia"/>
                  <a:cs typeface="Georgia"/>
                </a:rPr>
                <a:t>e</a:t>
              </a:r>
              <a:r>
                <a:rPr sz="2000" spc="-10" dirty="0">
                  <a:solidFill>
                    <a:srgbClr val="0B0B0B"/>
                  </a:solidFill>
                  <a:latin typeface="Georgia"/>
                  <a:cs typeface="Georgia"/>
                </a:rPr>
                <a:t>m</a:t>
              </a:r>
              <a:r>
                <a:rPr sz="2000" spc="-5" dirty="0">
                  <a:solidFill>
                    <a:srgbClr val="0B0B0B"/>
                  </a:solidFill>
                  <a:latin typeface="Georgia"/>
                  <a:cs typeface="Georgia"/>
                </a:rPr>
                <a:t>a</a:t>
              </a:r>
              <a:r>
                <a:rPr sz="2000" spc="-25" dirty="0">
                  <a:solidFill>
                    <a:srgbClr val="0B0B0B"/>
                  </a:solidFill>
                  <a:latin typeface="Georgia"/>
                  <a:cs typeface="Georgia"/>
                </a:rPr>
                <a:t>b</a:t>
              </a:r>
              <a:r>
                <a:rPr sz="2000" spc="10" dirty="0">
                  <a:solidFill>
                    <a:srgbClr val="0B0B0B"/>
                  </a:solidFill>
                  <a:latin typeface="Georgia"/>
                  <a:cs typeface="Georgia"/>
                </a:rPr>
                <a:t>l</a:t>
              </a:r>
              <a:r>
                <a:rPr sz="2000" spc="-10" dirty="0">
                  <a:solidFill>
                    <a:srgbClr val="0B0B0B"/>
                  </a:solidFill>
                  <a:latin typeface="Georgia"/>
                  <a:cs typeface="Georgia"/>
                </a:rPr>
                <a:t>e</a:t>
              </a:r>
              <a:endParaRPr sz="2000" dirty="0">
                <a:latin typeface="Georgia"/>
                <a:cs typeface="Georgia"/>
              </a:endParaRPr>
            </a:p>
          </p:txBody>
        </p:sp>
        <p:grpSp>
          <p:nvGrpSpPr>
            <p:cNvPr id="13" name="object 9"/>
            <p:cNvGrpSpPr/>
            <p:nvPr/>
          </p:nvGrpSpPr>
          <p:grpSpPr>
            <a:xfrm>
              <a:off x="4448809" y="3810001"/>
              <a:ext cx="1600200" cy="1838325"/>
              <a:chOff x="2895600" y="1819275"/>
              <a:chExt cx="1600200" cy="1838325"/>
            </a:xfrm>
          </p:grpSpPr>
          <p:sp>
            <p:nvSpPr>
              <p:cNvPr id="25" name="object 10"/>
              <p:cNvSpPr/>
              <p:nvPr/>
            </p:nvSpPr>
            <p:spPr>
              <a:xfrm>
                <a:off x="3352800" y="1828800"/>
                <a:ext cx="381000" cy="685800"/>
              </a:xfrm>
              <a:custGeom>
                <a:avLst/>
                <a:gdLst/>
                <a:ahLst/>
                <a:cxnLst/>
                <a:rect l="l" t="t" r="r" b="b"/>
                <a:pathLst>
                  <a:path w="381000" h="685800">
                    <a:moveTo>
                      <a:pt x="285750" y="0"/>
                    </a:moveTo>
                    <a:lnTo>
                      <a:pt x="95250" y="0"/>
                    </a:lnTo>
                    <a:lnTo>
                      <a:pt x="95250" y="495300"/>
                    </a:lnTo>
                    <a:lnTo>
                      <a:pt x="0" y="495300"/>
                    </a:lnTo>
                    <a:lnTo>
                      <a:pt x="190500" y="685800"/>
                    </a:lnTo>
                    <a:lnTo>
                      <a:pt x="381000" y="495300"/>
                    </a:lnTo>
                    <a:lnTo>
                      <a:pt x="285750" y="495300"/>
                    </a:lnTo>
                    <a:lnTo>
                      <a:pt x="285750" y="0"/>
                    </a:lnTo>
                    <a:close/>
                  </a:path>
                </a:pathLst>
              </a:custGeom>
              <a:solidFill>
                <a:srgbClr val="333399"/>
              </a:solidFill>
            </p:spPr>
            <p:txBody>
              <a:bodyPr wrap="square" lIns="0" tIns="0" rIns="0" bIns="0" rtlCol="0"/>
              <a:lstStyle/>
              <a:p>
                <a:endParaRPr/>
              </a:p>
            </p:txBody>
          </p:sp>
          <p:sp>
            <p:nvSpPr>
              <p:cNvPr id="26" name="object 11"/>
              <p:cNvSpPr/>
              <p:nvPr/>
            </p:nvSpPr>
            <p:spPr>
              <a:xfrm>
                <a:off x="3352800" y="1828800"/>
                <a:ext cx="381000" cy="685800"/>
              </a:xfrm>
              <a:custGeom>
                <a:avLst/>
                <a:gdLst/>
                <a:ahLst/>
                <a:cxnLst/>
                <a:rect l="l" t="t" r="r" b="b"/>
                <a:pathLst>
                  <a:path w="381000" h="685800">
                    <a:moveTo>
                      <a:pt x="95250" y="0"/>
                    </a:moveTo>
                    <a:lnTo>
                      <a:pt x="95250" y="495300"/>
                    </a:lnTo>
                    <a:lnTo>
                      <a:pt x="0" y="495300"/>
                    </a:lnTo>
                    <a:lnTo>
                      <a:pt x="190500" y="685800"/>
                    </a:lnTo>
                    <a:lnTo>
                      <a:pt x="381000" y="495300"/>
                    </a:lnTo>
                    <a:lnTo>
                      <a:pt x="285750" y="495300"/>
                    </a:lnTo>
                    <a:lnTo>
                      <a:pt x="285750" y="0"/>
                    </a:lnTo>
                    <a:lnTo>
                      <a:pt x="95250" y="0"/>
                    </a:lnTo>
                    <a:close/>
                  </a:path>
                  <a:path w="381000" h="685800">
                    <a:moveTo>
                      <a:pt x="0" y="0"/>
                    </a:moveTo>
                    <a:lnTo>
                      <a:pt x="0" y="0"/>
                    </a:lnTo>
                  </a:path>
                </a:pathLst>
              </a:custGeom>
              <a:ln w="19048">
                <a:solidFill>
                  <a:srgbClr val="A05C33"/>
                </a:solidFill>
              </a:ln>
            </p:spPr>
            <p:txBody>
              <a:bodyPr wrap="square" lIns="0" tIns="0" rIns="0" bIns="0" rtlCol="0"/>
              <a:lstStyle/>
              <a:p>
                <a:endParaRPr/>
              </a:p>
            </p:txBody>
          </p:sp>
          <p:sp>
            <p:nvSpPr>
              <p:cNvPr id="27" name="object 12"/>
              <p:cNvSpPr/>
              <p:nvPr/>
            </p:nvSpPr>
            <p:spPr>
              <a:xfrm>
                <a:off x="2895600" y="2514600"/>
                <a:ext cx="1600200" cy="1143000"/>
              </a:xfrm>
              <a:custGeom>
                <a:avLst/>
                <a:gdLst/>
                <a:ahLst/>
                <a:cxnLst/>
                <a:rect l="l" t="t" r="r" b="b"/>
                <a:pathLst>
                  <a:path w="1600200" h="1143000">
                    <a:moveTo>
                      <a:pt x="1600200" y="0"/>
                    </a:moveTo>
                    <a:lnTo>
                      <a:pt x="0" y="0"/>
                    </a:lnTo>
                    <a:lnTo>
                      <a:pt x="0" y="1143000"/>
                    </a:lnTo>
                    <a:lnTo>
                      <a:pt x="1600200" y="1143000"/>
                    </a:lnTo>
                    <a:close/>
                  </a:path>
                </a:pathLst>
              </a:custGeom>
              <a:solidFill>
                <a:srgbClr val="BADFE2"/>
              </a:solidFill>
            </p:spPr>
            <p:txBody>
              <a:bodyPr wrap="square" lIns="0" tIns="0" rIns="0" bIns="0" rtlCol="0"/>
              <a:lstStyle/>
              <a:p>
                <a:endParaRPr/>
              </a:p>
            </p:txBody>
          </p:sp>
        </p:grpSp>
        <p:sp>
          <p:nvSpPr>
            <p:cNvPr id="14" name="object 13"/>
            <p:cNvSpPr txBox="1"/>
            <p:nvPr/>
          </p:nvSpPr>
          <p:spPr>
            <a:xfrm>
              <a:off x="4448809" y="4505325"/>
              <a:ext cx="1600200" cy="1038746"/>
            </a:xfrm>
            <a:prstGeom prst="rect">
              <a:avLst/>
            </a:prstGeom>
            <a:ln w="19048">
              <a:solidFill>
                <a:srgbClr val="6B8499"/>
              </a:solidFill>
            </a:ln>
          </p:spPr>
          <p:txBody>
            <a:bodyPr vert="horz" wrap="square" lIns="0" tIns="114300" rIns="0" bIns="0" rtlCol="0">
              <a:spAutoFit/>
            </a:bodyPr>
            <a:lstStyle/>
            <a:p>
              <a:pPr marL="137160" marR="131445" algn="ctr">
                <a:spcBef>
                  <a:spcPts val="900"/>
                </a:spcBef>
              </a:pPr>
              <a:r>
                <a:rPr sz="2000" spc="120" dirty="0">
                  <a:solidFill>
                    <a:srgbClr val="0B0B0B"/>
                  </a:solidFill>
                  <a:latin typeface="Georgia"/>
                  <a:cs typeface="Georgia"/>
                </a:rPr>
                <a:t>C</a:t>
              </a:r>
              <a:r>
                <a:rPr sz="2000" spc="-10" dirty="0">
                  <a:solidFill>
                    <a:srgbClr val="0B0B0B"/>
                  </a:solidFill>
                  <a:latin typeface="Georgia"/>
                  <a:cs typeface="Georgia"/>
                </a:rPr>
                <a:t>o</a:t>
              </a:r>
              <a:r>
                <a:rPr sz="2000" spc="-5" dirty="0">
                  <a:solidFill>
                    <a:srgbClr val="0B0B0B"/>
                  </a:solidFill>
                  <a:latin typeface="Georgia"/>
                  <a:cs typeface="Georgia"/>
                </a:rPr>
                <a:t>n</a:t>
              </a:r>
              <a:r>
                <a:rPr sz="2000" spc="10" dirty="0">
                  <a:solidFill>
                    <a:srgbClr val="0B0B0B"/>
                  </a:solidFill>
                  <a:latin typeface="Georgia"/>
                  <a:cs typeface="Georgia"/>
                </a:rPr>
                <a:t>vert</a:t>
              </a:r>
              <a:r>
                <a:rPr sz="2000" spc="-10" dirty="0">
                  <a:solidFill>
                    <a:srgbClr val="0B0B0B"/>
                  </a:solidFill>
                  <a:latin typeface="Georgia"/>
                  <a:cs typeface="Georgia"/>
                </a:rPr>
                <a:t>i</a:t>
              </a:r>
              <a:r>
                <a:rPr sz="2000" spc="-15" dirty="0">
                  <a:solidFill>
                    <a:srgbClr val="0B0B0B"/>
                  </a:solidFill>
                  <a:latin typeface="Georgia"/>
                  <a:cs typeface="Georgia"/>
                </a:rPr>
                <a:t>b</a:t>
              </a:r>
              <a:r>
                <a:rPr sz="2000" spc="10" dirty="0">
                  <a:solidFill>
                    <a:srgbClr val="0B0B0B"/>
                  </a:solidFill>
                  <a:latin typeface="Georgia"/>
                  <a:cs typeface="Georgia"/>
                </a:rPr>
                <a:t>l</a:t>
              </a:r>
              <a:r>
                <a:rPr sz="2000" spc="-10" dirty="0">
                  <a:solidFill>
                    <a:srgbClr val="0B0B0B"/>
                  </a:solidFill>
                  <a:latin typeface="Georgia"/>
                  <a:cs typeface="Georgia"/>
                </a:rPr>
                <a:t>e  </a:t>
              </a:r>
              <a:r>
                <a:rPr sz="2000" spc="-15" dirty="0">
                  <a:solidFill>
                    <a:srgbClr val="0B0B0B"/>
                  </a:solidFill>
                  <a:latin typeface="Georgia"/>
                  <a:cs typeface="Georgia"/>
                </a:rPr>
                <a:t>or </a:t>
              </a:r>
              <a:r>
                <a:rPr sz="2000" spc="-30" dirty="0">
                  <a:solidFill>
                    <a:srgbClr val="0B0B0B"/>
                  </a:solidFill>
                  <a:latin typeface="Georgia"/>
                  <a:cs typeface="Georgia"/>
                </a:rPr>
                <a:t>non-  </a:t>
              </a:r>
              <a:r>
                <a:rPr sz="2000" spc="-5" dirty="0">
                  <a:solidFill>
                    <a:srgbClr val="0B0B0B"/>
                  </a:solidFill>
                  <a:latin typeface="Georgia"/>
                  <a:cs typeface="Georgia"/>
                </a:rPr>
                <a:t>convertible</a:t>
              </a:r>
              <a:endParaRPr sz="2000" dirty="0">
                <a:latin typeface="Georgia"/>
                <a:cs typeface="Georgia"/>
              </a:endParaRPr>
            </a:p>
          </p:txBody>
        </p:sp>
        <p:grpSp>
          <p:nvGrpSpPr>
            <p:cNvPr id="15" name="object 14"/>
            <p:cNvGrpSpPr/>
            <p:nvPr/>
          </p:nvGrpSpPr>
          <p:grpSpPr>
            <a:xfrm>
              <a:off x="6734809" y="3810001"/>
              <a:ext cx="1524000" cy="1838325"/>
              <a:chOff x="5181600" y="1819275"/>
              <a:chExt cx="1524000" cy="1838325"/>
            </a:xfrm>
          </p:grpSpPr>
          <p:sp>
            <p:nvSpPr>
              <p:cNvPr id="22" name="object 15"/>
              <p:cNvSpPr/>
              <p:nvPr/>
            </p:nvSpPr>
            <p:spPr>
              <a:xfrm>
                <a:off x="5638800" y="1828800"/>
                <a:ext cx="381000" cy="685800"/>
              </a:xfrm>
              <a:custGeom>
                <a:avLst/>
                <a:gdLst/>
                <a:ahLst/>
                <a:cxnLst/>
                <a:rect l="l" t="t" r="r" b="b"/>
                <a:pathLst>
                  <a:path w="381000" h="685800">
                    <a:moveTo>
                      <a:pt x="285750" y="0"/>
                    </a:moveTo>
                    <a:lnTo>
                      <a:pt x="95250" y="0"/>
                    </a:lnTo>
                    <a:lnTo>
                      <a:pt x="95250" y="495300"/>
                    </a:lnTo>
                    <a:lnTo>
                      <a:pt x="0" y="495300"/>
                    </a:lnTo>
                    <a:lnTo>
                      <a:pt x="190500" y="685800"/>
                    </a:lnTo>
                    <a:lnTo>
                      <a:pt x="381000" y="495300"/>
                    </a:lnTo>
                    <a:lnTo>
                      <a:pt x="285750" y="495300"/>
                    </a:lnTo>
                    <a:lnTo>
                      <a:pt x="285750" y="0"/>
                    </a:lnTo>
                    <a:close/>
                  </a:path>
                </a:pathLst>
              </a:custGeom>
              <a:solidFill>
                <a:srgbClr val="333399"/>
              </a:solidFill>
            </p:spPr>
            <p:txBody>
              <a:bodyPr wrap="square" lIns="0" tIns="0" rIns="0" bIns="0" rtlCol="0"/>
              <a:lstStyle/>
              <a:p>
                <a:endParaRPr/>
              </a:p>
            </p:txBody>
          </p:sp>
          <p:sp>
            <p:nvSpPr>
              <p:cNvPr id="23" name="object 16"/>
              <p:cNvSpPr/>
              <p:nvPr/>
            </p:nvSpPr>
            <p:spPr>
              <a:xfrm>
                <a:off x="5638800" y="1828800"/>
                <a:ext cx="381000" cy="685800"/>
              </a:xfrm>
              <a:custGeom>
                <a:avLst/>
                <a:gdLst/>
                <a:ahLst/>
                <a:cxnLst/>
                <a:rect l="l" t="t" r="r" b="b"/>
                <a:pathLst>
                  <a:path w="381000" h="685800">
                    <a:moveTo>
                      <a:pt x="95250" y="0"/>
                    </a:moveTo>
                    <a:lnTo>
                      <a:pt x="95250" y="495300"/>
                    </a:lnTo>
                    <a:lnTo>
                      <a:pt x="0" y="495300"/>
                    </a:lnTo>
                    <a:lnTo>
                      <a:pt x="190500" y="685800"/>
                    </a:lnTo>
                    <a:lnTo>
                      <a:pt x="381000" y="495300"/>
                    </a:lnTo>
                    <a:lnTo>
                      <a:pt x="285750" y="495300"/>
                    </a:lnTo>
                    <a:lnTo>
                      <a:pt x="285750" y="0"/>
                    </a:lnTo>
                    <a:lnTo>
                      <a:pt x="95250" y="0"/>
                    </a:lnTo>
                    <a:close/>
                  </a:path>
                  <a:path w="381000" h="685800">
                    <a:moveTo>
                      <a:pt x="0" y="0"/>
                    </a:moveTo>
                    <a:lnTo>
                      <a:pt x="0" y="0"/>
                    </a:lnTo>
                  </a:path>
                </a:pathLst>
              </a:custGeom>
              <a:ln w="19048">
                <a:solidFill>
                  <a:srgbClr val="A05C33"/>
                </a:solidFill>
              </a:ln>
            </p:spPr>
            <p:txBody>
              <a:bodyPr wrap="square" lIns="0" tIns="0" rIns="0" bIns="0" rtlCol="0"/>
              <a:lstStyle/>
              <a:p>
                <a:endParaRPr/>
              </a:p>
            </p:txBody>
          </p:sp>
          <p:sp>
            <p:nvSpPr>
              <p:cNvPr id="24" name="object 17"/>
              <p:cNvSpPr/>
              <p:nvPr/>
            </p:nvSpPr>
            <p:spPr>
              <a:xfrm>
                <a:off x="5181600" y="2514600"/>
                <a:ext cx="1524000" cy="1143000"/>
              </a:xfrm>
              <a:custGeom>
                <a:avLst/>
                <a:gdLst/>
                <a:ahLst/>
                <a:cxnLst/>
                <a:rect l="l" t="t" r="r" b="b"/>
                <a:pathLst>
                  <a:path w="1524000" h="1143000">
                    <a:moveTo>
                      <a:pt x="1524000" y="0"/>
                    </a:moveTo>
                    <a:lnTo>
                      <a:pt x="0" y="0"/>
                    </a:lnTo>
                    <a:lnTo>
                      <a:pt x="0" y="1143000"/>
                    </a:lnTo>
                    <a:lnTo>
                      <a:pt x="1524000" y="1143000"/>
                    </a:lnTo>
                    <a:close/>
                  </a:path>
                </a:pathLst>
              </a:custGeom>
              <a:solidFill>
                <a:srgbClr val="BADFE2"/>
              </a:solidFill>
            </p:spPr>
            <p:txBody>
              <a:bodyPr wrap="square" lIns="0" tIns="0" rIns="0" bIns="0" rtlCol="0"/>
              <a:lstStyle/>
              <a:p>
                <a:endParaRPr/>
              </a:p>
            </p:txBody>
          </p:sp>
        </p:grpSp>
        <p:sp>
          <p:nvSpPr>
            <p:cNvPr id="16" name="object 18"/>
            <p:cNvSpPr txBox="1"/>
            <p:nvPr/>
          </p:nvSpPr>
          <p:spPr>
            <a:xfrm>
              <a:off x="6734809" y="4505325"/>
              <a:ext cx="1524000" cy="1038746"/>
            </a:xfrm>
            <a:prstGeom prst="rect">
              <a:avLst/>
            </a:prstGeom>
            <a:ln w="19048">
              <a:solidFill>
                <a:srgbClr val="6B8499"/>
              </a:solidFill>
            </a:ln>
          </p:spPr>
          <p:txBody>
            <a:bodyPr vert="horz" wrap="square" lIns="0" tIns="114300" rIns="0" bIns="0" rtlCol="0">
              <a:spAutoFit/>
            </a:bodyPr>
            <a:lstStyle/>
            <a:p>
              <a:pPr marL="642620" marR="336550" indent="-363220">
                <a:spcBef>
                  <a:spcPts val="900"/>
                </a:spcBef>
              </a:pPr>
              <a:r>
                <a:rPr sz="2000" spc="-70" dirty="0">
                  <a:solidFill>
                    <a:srgbClr val="0B0B0B"/>
                  </a:solidFill>
                  <a:latin typeface="Georgia"/>
                  <a:cs typeface="Georgia"/>
                </a:rPr>
                <a:t>S</a:t>
              </a:r>
              <a:r>
                <a:rPr sz="2000" spc="-20" dirty="0">
                  <a:solidFill>
                    <a:srgbClr val="0B0B0B"/>
                  </a:solidFill>
                  <a:latin typeface="Georgia"/>
                  <a:cs typeface="Georgia"/>
                </a:rPr>
                <a:t>e</a:t>
              </a:r>
              <a:r>
                <a:rPr sz="2000" spc="-25" dirty="0">
                  <a:solidFill>
                    <a:srgbClr val="0B0B0B"/>
                  </a:solidFill>
                  <a:latin typeface="Georgia"/>
                  <a:cs typeface="Georgia"/>
                </a:rPr>
                <a:t>c</a:t>
              </a:r>
              <a:r>
                <a:rPr sz="2000" spc="65" dirty="0">
                  <a:solidFill>
                    <a:srgbClr val="0B0B0B"/>
                  </a:solidFill>
                  <a:latin typeface="Georgia"/>
                  <a:cs typeface="Georgia"/>
                </a:rPr>
                <a:t>u</a:t>
              </a:r>
              <a:r>
                <a:rPr sz="2000" dirty="0">
                  <a:solidFill>
                    <a:srgbClr val="0B0B0B"/>
                  </a:solidFill>
                  <a:latin typeface="Georgia"/>
                  <a:cs typeface="Georgia"/>
                </a:rPr>
                <a:t>red  </a:t>
              </a:r>
              <a:r>
                <a:rPr sz="2000" spc="-15" dirty="0">
                  <a:solidFill>
                    <a:srgbClr val="0B0B0B"/>
                  </a:solidFill>
                  <a:latin typeface="Georgia"/>
                  <a:cs typeface="Georgia"/>
                </a:rPr>
                <a:t>or</a:t>
              </a:r>
              <a:endParaRPr sz="2000" dirty="0">
                <a:latin typeface="Georgia"/>
                <a:cs typeface="Georgia"/>
              </a:endParaRPr>
            </a:p>
            <a:p>
              <a:pPr marL="173355"/>
              <a:r>
                <a:rPr sz="2000" spc="5" dirty="0">
                  <a:solidFill>
                    <a:srgbClr val="0B0B0B"/>
                  </a:solidFill>
                  <a:latin typeface="Georgia"/>
                  <a:cs typeface="Georgia"/>
                </a:rPr>
                <a:t>unsecured</a:t>
              </a:r>
              <a:endParaRPr sz="2000" dirty="0">
                <a:latin typeface="Georgia"/>
                <a:cs typeface="Georgia"/>
              </a:endParaRPr>
            </a:p>
          </p:txBody>
        </p:sp>
        <p:grpSp>
          <p:nvGrpSpPr>
            <p:cNvPr id="17" name="object 19"/>
            <p:cNvGrpSpPr/>
            <p:nvPr/>
          </p:nvGrpSpPr>
          <p:grpSpPr>
            <a:xfrm>
              <a:off x="8868409" y="3810001"/>
              <a:ext cx="1524000" cy="1838325"/>
              <a:chOff x="7315200" y="1819275"/>
              <a:chExt cx="1524000" cy="1838325"/>
            </a:xfrm>
          </p:grpSpPr>
          <p:sp>
            <p:nvSpPr>
              <p:cNvPr id="19" name="object 20"/>
              <p:cNvSpPr/>
              <p:nvPr/>
            </p:nvSpPr>
            <p:spPr>
              <a:xfrm>
                <a:off x="7772400" y="1828799"/>
                <a:ext cx="381000" cy="685800"/>
              </a:xfrm>
              <a:custGeom>
                <a:avLst/>
                <a:gdLst/>
                <a:ahLst/>
                <a:cxnLst/>
                <a:rect l="l" t="t" r="r" b="b"/>
                <a:pathLst>
                  <a:path w="381000" h="685800">
                    <a:moveTo>
                      <a:pt x="285750" y="0"/>
                    </a:moveTo>
                    <a:lnTo>
                      <a:pt x="95250" y="0"/>
                    </a:lnTo>
                    <a:lnTo>
                      <a:pt x="95250" y="495300"/>
                    </a:lnTo>
                    <a:lnTo>
                      <a:pt x="0" y="495300"/>
                    </a:lnTo>
                    <a:lnTo>
                      <a:pt x="190500" y="685800"/>
                    </a:lnTo>
                    <a:lnTo>
                      <a:pt x="381000" y="495300"/>
                    </a:lnTo>
                    <a:lnTo>
                      <a:pt x="285750" y="495300"/>
                    </a:lnTo>
                    <a:lnTo>
                      <a:pt x="285750" y="0"/>
                    </a:lnTo>
                    <a:close/>
                  </a:path>
                </a:pathLst>
              </a:custGeom>
              <a:solidFill>
                <a:srgbClr val="333399"/>
              </a:solidFill>
            </p:spPr>
            <p:txBody>
              <a:bodyPr wrap="square" lIns="0" tIns="0" rIns="0" bIns="0" rtlCol="0"/>
              <a:lstStyle/>
              <a:p>
                <a:endParaRPr/>
              </a:p>
            </p:txBody>
          </p:sp>
          <p:sp>
            <p:nvSpPr>
              <p:cNvPr id="20" name="object 21"/>
              <p:cNvSpPr/>
              <p:nvPr/>
            </p:nvSpPr>
            <p:spPr>
              <a:xfrm>
                <a:off x="7772400" y="1828799"/>
                <a:ext cx="381000" cy="685800"/>
              </a:xfrm>
              <a:custGeom>
                <a:avLst/>
                <a:gdLst/>
                <a:ahLst/>
                <a:cxnLst/>
                <a:rect l="l" t="t" r="r" b="b"/>
                <a:pathLst>
                  <a:path w="381000" h="685800">
                    <a:moveTo>
                      <a:pt x="95250" y="0"/>
                    </a:moveTo>
                    <a:lnTo>
                      <a:pt x="95250" y="495300"/>
                    </a:lnTo>
                    <a:lnTo>
                      <a:pt x="0" y="495300"/>
                    </a:lnTo>
                    <a:lnTo>
                      <a:pt x="190500" y="685800"/>
                    </a:lnTo>
                    <a:lnTo>
                      <a:pt x="381000" y="495300"/>
                    </a:lnTo>
                    <a:lnTo>
                      <a:pt x="285750" y="495300"/>
                    </a:lnTo>
                    <a:lnTo>
                      <a:pt x="285750" y="0"/>
                    </a:lnTo>
                    <a:lnTo>
                      <a:pt x="95250" y="0"/>
                    </a:lnTo>
                    <a:close/>
                  </a:path>
                  <a:path w="381000" h="685800">
                    <a:moveTo>
                      <a:pt x="0" y="0"/>
                    </a:moveTo>
                    <a:lnTo>
                      <a:pt x="0" y="0"/>
                    </a:lnTo>
                  </a:path>
                </a:pathLst>
              </a:custGeom>
              <a:ln w="19048">
                <a:solidFill>
                  <a:srgbClr val="A05C33"/>
                </a:solidFill>
              </a:ln>
            </p:spPr>
            <p:txBody>
              <a:bodyPr wrap="square" lIns="0" tIns="0" rIns="0" bIns="0" rtlCol="0"/>
              <a:lstStyle/>
              <a:p>
                <a:endParaRPr/>
              </a:p>
            </p:txBody>
          </p:sp>
          <p:sp>
            <p:nvSpPr>
              <p:cNvPr id="21" name="object 22"/>
              <p:cNvSpPr/>
              <p:nvPr/>
            </p:nvSpPr>
            <p:spPr>
              <a:xfrm>
                <a:off x="7315200" y="2514599"/>
                <a:ext cx="1524000" cy="1143000"/>
              </a:xfrm>
              <a:custGeom>
                <a:avLst/>
                <a:gdLst/>
                <a:ahLst/>
                <a:cxnLst/>
                <a:rect l="l" t="t" r="r" b="b"/>
                <a:pathLst>
                  <a:path w="1524000" h="1143000">
                    <a:moveTo>
                      <a:pt x="1524000" y="0"/>
                    </a:moveTo>
                    <a:lnTo>
                      <a:pt x="0" y="0"/>
                    </a:lnTo>
                    <a:lnTo>
                      <a:pt x="0" y="1143000"/>
                    </a:lnTo>
                    <a:lnTo>
                      <a:pt x="1524000" y="1143000"/>
                    </a:lnTo>
                    <a:close/>
                  </a:path>
                </a:pathLst>
              </a:custGeom>
              <a:solidFill>
                <a:srgbClr val="BADFE2"/>
              </a:solidFill>
            </p:spPr>
            <p:txBody>
              <a:bodyPr wrap="square" lIns="0" tIns="0" rIns="0" bIns="0" rtlCol="0"/>
              <a:lstStyle/>
              <a:p>
                <a:endParaRPr/>
              </a:p>
            </p:txBody>
          </p:sp>
        </p:grpSp>
        <p:sp>
          <p:nvSpPr>
            <p:cNvPr id="18" name="object 23"/>
            <p:cNvSpPr txBox="1"/>
            <p:nvPr/>
          </p:nvSpPr>
          <p:spPr>
            <a:xfrm>
              <a:off x="8868409" y="4505325"/>
              <a:ext cx="1524000" cy="1038746"/>
            </a:xfrm>
            <a:prstGeom prst="rect">
              <a:avLst/>
            </a:prstGeom>
            <a:ln w="19048">
              <a:solidFill>
                <a:srgbClr val="6B8499"/>
              </a:solidFill>
            </a:ln>
          </p:spPr>
          <p:txBody>
            <a:bodyPr vert="horz" wrap="square" lIns="0" tIns="114300" rIns="0" bIns="0" rtlCol="0">
              <a:spAutoFit/>
            </a:bodyPr>
            <a:lstStyle/>
            <a:p>
              <a:pPr marL="365125" marR="423545" algn="ctr">
                <a:spcBef>
                  <a:spcPts val="900"/>
                </a:spcBef>
              </a:pPr>
              <a:r>
                <a:rPr sz="2000" spc="-45" dirty="0">
                  <a:solidFill>
                    <a:srgbClr val="0B0B0B"/>
                  </a:solidFill>
                  <a:latin typeface="Georgia"/>
                  <a:cs typeface="Georgia"/>
                </a:rPr>
                <a:t>Be</a:t>
              </a:r>
              <a:r>
                <a:rPr sz="2000" spc="-30" dirty="0">
                  <a:solidFill>
                    <a:srgbClr val="0B0B0B"/>
                  </a:solidFill>
                  <a:latin typeface="Georgia"/>
                  <a:cs typeface="Georgia"/>
                </a:rPr>
                <a:t>a</a:t>
              </a:r>
              <a:r>
                <a:rPr sz="2000" spc="-25" dirty="0">
                  <a:solidFill>
                    <a:srgbClr val="0B0B0B"/>
                  </a:solidFill>
                  <a:latin typeface="Georgia"/>
                  <a:cs typeface="Georgia"/>
                </a:rPr>
                <a:t>rer  </a:t>
              </a:r>
              <a:r>
                <a:rPr sz="2000" spc="-10" dirty="0">
                  <a:solidFill>
                    <a:srgbClr val="0B0B0B"/>
                  </a:solidFill>
                  <a:latin typeface="Georgia"/>
                  <a:cs typeface="Georgia"/>
                </a:rPr>
                <a:t>or</a:t>
              </a:r>
              <a:endParaRPr sz="2000" dirty="0">
                <a:latin typeface="Georgia"/>
                <a:cs typeface="Georgia"/>
              </a:endParaRPr>
            </a:p>
            <a:p>
              <a:pPr algn="ctr">
                <a:lnSpc>
                  <a:spcPct val="100000"/>
                </a:lnSpc>
              </a:pPr>
              <a:r>
                <a:rPr sz="2000" dirty="0">
                  <a:solidFill>
                    <a:srgbClr val="0B0B0B"/>
                  </a:solidFill>
                  <a:latin typeface="Georgia"/>
                  <a:cs typeface="Georgia"/>
                </a:rPr>
                <a:t>registered</a:t>
              </a:r>
              <a:endParaRPr sz="2000" dirty="0">
                <a:latin typeface="Georgia"/>
                <a:cs typeface="Georgia"/>
              </a:endParaRPr>
            </a:p>
          </p:txBody>
        </p:sp>
      </p:grpSp>
    </p:spTree>
    <p:extLst>
      <p:ext uri="{BB962C8B-B14F-4D97-AF65-F5344CB8AC3E}">
        <p14:creationId xmlns:p14="http://schemas.microsoft.com/office/powerpoint/2010/main" val="1805636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1184988" y="140734"/>
            <a:ext cx="9703836" cy="6493331"/>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br>
              <a:rPr lang="en-IN" sz="2200" dirty="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Image result for what is deben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93352" y="410809"/>
            <a:ext cx="6344816" cy="57940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13225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what is deben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69702" y="283336"/>
            <a:ext cx="11217498" cy="6452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11343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84938" y="53262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pPr algn="just" fontAlgn="base"/>
            <a:endParaRPr lang="en-IN" sz="2200" b="1" dirty="0">
              <a:solidFill>
                <a:schemeClr val="tx1"/>
              </a:solidFill>
              <a:latin typeface="Times New Roman" panose="02020603050405020304" pitchFamily="18" charset="0"/>
              <a:cs typeface="Times New Roman" panose="02020603050405020304" pitchFamily="18" charset="0"/>
            </a:endParaRPr>
          </a:p>
          <a:p>
            <a:pPr algn="just" fontAlgn="base"/>
            <a:r>
              <a:rPr lang="en-IN" sz="2800" b="1" dirty="0">
                <a:solidFill>
                  <a:srgbClr val="0070C0"/>
                </a:solidFill>
                <a:latin typeface="Times New Roman" panose="02020603050405020304" pitchFamily="18" charset="0"/>
                <a:cs typeface="Times New Roman" panose="02020603050405020304" pitchFamily="18" charset="0"/>
              </a:rPr>
              <a:t>iv) Term Loan : </a:t>
            </a:r>
            <a:endParaRPr lang="en-IN" sz="2800" dirty="0">
              <a:solidFill>
                <a:srgbClr val="0070C0"/>
              </a:solidFill>
              <a:latin typeface="Times New Roman" panose="02020603050405020304" pitchFamily="18" charset="0"/>
              <a:cs typeface="Times New Roman" panose="02020603050405020304" pitchFamily="18" charset="0"/>
            </a:endParaRPr>
          </a:p>
          <a:p>
            <a:pPr marL="342900" indent="-3429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Term loans are loans procured for the acquisition of fixed assets and working capital margins and are repayable over a long period of time, generally ranging between one year and ten years. </a:t>
            </a:r>
          </a:p>
          <a:p>
            <a:pPr marL="342900" indent="-3429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Term loans are extended by banks and other financial institutions set up for the purpose of extending term finance. </a:t>
            </a:r>
          </a:p>
          <a:p>
            <a:pPr marL="342900" indent="-342900" algn="just" fontAlgn="base">
              <a:buFont typeface="Arial" panose="020B0604020202020204" pitchFamily="34" charset="0"/>
              <a:buChar char="•"/>
            </a:pPr>
            <a:r>
              <a:rPr lang="en-IN" sz="2800" dirty="0">
                <a:solidFill>
                  <a:schemeClr val="tx1"/>
                </a:solidFill>
                <a:latin typeface="Times New Roman" panose="02020603050405020304" pitchFamily="18" charset="0"/>
                <a:cs typeface="Times New Roman" panose="02020603050405020304" pitchFamily="18" charset="0"/>
              </a:rPr>
              <a:t>Term loans differ from short-term bank loans, also known as 'Working Capital Finance', which are sanctioned by banks to meet day-to-day business requirements like purchase of raw material, work-in-progress and finished goods, etc. They are self liquidating over a period of time.</a:t>
            </a:r>
          </a:p>
          <a:p>
            <a:br>
              <a:rPr lang="en-IN" dirty="0">
                <a:solidFill>
                  <a:schemeClr val="tx1"/>
                </a:solidFill>
              </a:rPr>
            </a:br>
            <a:endParaRPr lang="en-IN"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393309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84938" y="532621"/>
            <a:ext cx="10631978" cy="5902037"/>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just" fontAlgn="base"/>
            <a:r>
              <a:rPr lang="en-IN" sz="2800" b="1" dirty="0">
                <a:solidFill>
                  <a:srgbClr val="0070C0"/>
                </a:solidFill>
                <a:latin typeface="Times New Roman" panose="02020603050405020304" pitchFamily="18" charset="0"/>
                <a:cs typeface="Times New Roman" panose="02020603050405020304" pitchFamily="18" charset="0"/>
              </a:rPr>
              <a:t>v) Bonds : </a:t>
            </a:r>
          </a:p>
          <a:p>
            <a:pPr algn="just" fontAlgn="base"/>
            <a:endParaRPr lang="en-IN" sz="2800" dirty="0">
              <a:solidFill>
                <a:srgbClr val="0070C0"/>
              </a:solidFill>
              <a:latin typeface="Times New Roman" panose="02020603050405020304" pitchFamily="18" charset="0"/>
              <a:cs typeface="Times New Roman" panose="02020603050405020304" pitchFamily="18" charset="0"/>
            </a:endParaRPr>
          </a:p>
          <a:p>
            <a:pPr marL="457200" indent="-457200" algn="just" fontAlgn="base">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A bond is a fixed-income instrument that pays a fixed interest rate or coupon to the holders.</a:t>
            </a:r>
          </a:p>
          <a:p>
            <a:pPr marL="457200" indent="-457200" algn="just" fontAlgn="base">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Bond prices are inversely correlated with interest rates: when rates go up, bond prices fall, and vice versa.</a:t>
            </a:r>
          </a:p>
          <a:p>
            <a:pPr marL="457200" indent="-457200" algn="just" fontAlgn="base">
              <a:buFont typeface="Arial" panose="020B0604020202020204" pitchFamily="34" charset="0"/>
              <a:buChar char="•"/>
            </a:pPr>
            <a:r>
              <a:rPr lang="en-US" sz="2800" dirty="0">
                <a:solidFill>
                  <a:schemeClr val="tx1"/>
                </a:solidFill>
                <a:latin typeface="Times New Roman" panose="02020603050405020304" pitchFamily="18" charset="0"/>
                <a:cs typeface="Times New Roman" panose="02020603050405020304" pitchFamily="18" charset="0"/>
              </a:rPr>
              <a:t>Bonds are sold with maturity dates, which are the dates by which the principal amount must be paid back in full or risk default.</a:t>
            </a:r>
            <a:endParaRPr lang="en-IN"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1347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43814" y="131404"/>
            <a:ext cx="10929087" cy="6446678"/>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r>
              <a:rPr lang="en-IN" sz="2800" b="1" spc="-5" dirty="0">
                <a:solidFill>
                  <a:schemeClr val="tx1"/>
                </a:solidFill>
                <a:latin typeface="Times New Roman" panose="02020603050405020304" pitchFamily="18" charset="0"/>
                <a:cs typeface="Times New Roman" panose="02020603050405020304" pitchFamily="18" charset="0"/>
              </a:rPr>
              <a:t>TYPES </a:t>
            </a:r>
            <a:r>
              <a:rPr lang="en-IN" sz="2800" b="1" spc="-10" dirty="0">
                <a:solidFill>
                  <a:schemeClr val="tx1"/>
                </a:solidFill>
                <a:latin typeface="Times New Roman" panose="02020603050405020304" pitchFamily="18" charset="0"/>
                <a:cs typeface="Times New Roman" panose="02020603050405020304" pitchFamily="18" charset="0"/>
              </a:rPr>
              <a:t>OF</a:t>
            </a:r>
            <a:r>
              <a:rPr lang="en-IN" sz="2800" b="1" spc="-215" dirty="0">
                <a:solidFill>
                  <a:schemeClr val="tx1"/>
                </a:solidFill>
                <a:latin typeface="Times New Roman" panose="02020603050405020304" pitchFamily="18" charset="0"/>
                <a:cs typeface="Times New Roman" panose="02020603050405020304" pitchFamily="18" charset="0"/>
              </a:rPr>
              <a:t> </a:t>
            </a:r>
            <a:r>
              <a:rPr lang="en-IN" sz="2800" b="1" spc="-5" dirty="0">
                <a:solidFill>
                  <a:schemeClr val="tx1"/>
                </a:solidFill>
                <a:latin typeface="Times New Roman" panose="02020603050405020304" pitchFamily="18" charset="0"/>
                <a:cs typeface="Times New Roman" panose="02020603050405020304" pitchFamily="18" charset="0"/>
              </a:rPr>
              <a:t>BONDS</a:t>
            </a: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spc="-5" dirty="0">
              <a:solidFill>
                <a:schemeClr val="tx1"/>
              </a:solidFill>
              <a:latin typeface="Times New Roman" panose="02020603050405020304" pitchFamily="18" charset="0"/>
              <a:cs typeface="Times New Roman" panose="02020603050405020304" pitchFamily="18" charset="0"/>
            </a:endParaRPr>
          </a:p>
          <a:p>
            <a:pPr fontAlgn="base"/>
            <a:endParaRPr lang="en-IN" sz="2800" b="1" dirty="0">
              <a:solidFill>
                <a:schemeClr val="tx1"/>
              </a:solidFill>
              <a:latin typeface="Times New Roman" panose="02020603050405020304" pitchFamily="18" charset="0"/>
              <a:cs typeface="Times New Roman" panose="02020603050405020304" pitchFamily="18" charset="0"/>
            </a:endParaRPr>
          </a:p>
        </p:txBody>
      </p:sp>
      <p:sp>
        <p:nvSpPr>
          <p:cNvPr id="3" name="object 128"/>
          <p:cNvSpPr txBox="1"/>
          <p:nvPr/>
        </p:nvSpPr>
        <p:spPr>
          <a:xfrm>
            <a:off x="2222499" y="2205989"/>
            <a:ext cx="5690870" cy="3677930"/>
          </a:xfrm>
          <a:prstGeom prst="rect">
            <a:avLst/>
          </a:prstGeom>
        </p:spPr>
        <p:txBody>
          <a:bodyPr vert="horz" wrap="square" lIns="0" tIns="12700" rIns="0" bIns="0" rtlCol="0">
            <a:spAutoFit/>
          </a:bodyPr>
          <a:lstStyle>
            <a:defPPr>
              <a:defRPr lang="en-US"/>
            </a:defPPr>
            <a:lvl1pPr marL="509270" marR="5080" indent="-457200" algn="just">
              <a:lnSpc>
                <a:spcPct val="150000"/>
              </a:lnSpc>
              <a:spcBef>
                <a:spcPts val="100"/>
              </a:spcBef>
              <a:buFont typeface="Arial" panose="020B0604020202020204" pitchFamily="34" charset="0"/>
              <a:buChar char="•"/>
              <a:tabLst>
                <a:tab pos="393065" algn="l"/>
                <a:tab pos="393700" algn="l"/>
              </a:tabLst>
              <a:defRPr sz="2600" b="1" i="0" spc="-5">
                <a:latin typeface="Times New Roman"/>
                <a:cs typeface="Times New Roman"/>
              </a:defRPr>
            </a:lvl1pPr>
          </a:lstStyle>
          <a:p>
            <a:r>
              <a:rPr dirty="0"/>
              <a:t>Bearer bonds</a:t>
            </a:r>
          </a:p>
          <a:p>
            <a:r>
              <a:rPr dirty="0"/>
              <a:t>Registered bonds</a:t>
            </a:r>
          </a:p>
          <a:p>
            <a:r>
              <a:rPr dirty="0"/>
              <a:t>Callable bonds</a:t>
            </a:r>
          </a:p>
          <a:p>
            <a:r>
              <a:rPr dirty="0"/>
              <a:t>Convertible bonds</a:t>
            </a:r>
          </a:p>
          <a:p>
            <a:r>
              <a:rPr dirty="0"/>
              <a:t>Zero  coupon bonds</a:t>
            </a:r>
          </a:p>
          <a:p>
            <a:r>
              <a:rPr dirty="0"/>
              <a:t>Fixed rate bonds</a:t>
            </a:r>
          </a:p>
        </p:txBody>
      </p:sp>
    </p:spTree>
    <p:extLst>
      <p:ext uri="{BB962C8B-B14F-4D97-AF65-F5344CB8AC3E}">
        <p14:creationId xmlns:p14="http://schemas.microsoft.com/office/powerpoint/2010/main" val="424952502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78499" y="299355"/>
            <a:ext cx="10929087" cy="6446678"/>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br>
              <a:rPr lang="en-IN" sz="2200" dirty="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1005884119"/>
              </p:ext>
            </p:extLst>
          </p:nvPr>
        </p:nvGraphicFramePr>
        <p:xfrm>
          <a:off x="1549758" y="895080"/>
          <a:ext cx="9144000" cy="5486402"/>
        </p:xfrm>
        <a:graphic>
          <a:graphicData uri="http://schemas.openxmlformats.org/drawingml/2006/table">
            <a:tbl>
              <a:tblPr firstRow="1" bandRow="1">
                <a:tableStyleId>{5C22544A-7EE6-4342-B048-85BDC9FD1C3A}</a:tableStyleId>
              </a:tblPr>
              <a:tblGrid>
                <a:gridCol w="4572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527678">
                <a:tc>
                  <a:txBody>
                    <a:bodyPr/>
                    <a:lstStyle/>
                    <a:p>
                      <a:pPr algn="ctr"/>
                      <a:r>
                        <a:rPr lang="en-IN" sz="2400" dirty="0">
                          <a:latin typeface="Times New Roman" panose="02020603050405020304" pitchFamily="18" charset="0"/>
                          <a:cs typeface="Times New Roman" panose="02020603050405020304" pitchFamily="18" charset="0"/>
                        </a:rPr>
                        <a:t>Bond</a:t>
                      </a:r>
                    </a:p>
                  </a:txBody>
                  <a:tcPr/>
                </a:tc>
                <a:tc>
                  <a:txBody>
                    <a:bodyPr/>
                    <a:lstStyle/>
                    <a:p>
                      <a:pPr algn="ctr"/>
                      <a:r>
                        <a:rPr lang="en-IN" sz="2400" dirty="0">
                          <a:latin typeface="Times New Roman" panose="02020603050405020304" pitchFamily="18" charset="0"/>
                          <a:cs typeface="Times New Roman" panose="02020603050405020304" pitchFamily="18" charset="0"/>
                        </a:rPr>
                        <a:t>Debenture</a:t>
                      </a:r>
                    </a:p>
                  </a:txBody>
                  <a:tcPr/>
                </a:tc>
                <a:extLst>
                  <a:ext uri="{0D108BD9-81ED-4DB2-BD59-A6C34878D82A}">
                    <a16:rowId xmlns:a16="http://schemas.microsoft.com/office/drawing/2014/main" val="10000"/>
                  </a:ext>
                </a:extLst>
              </a:tr>
              <a:tr h="1691459">
                <a:tc>
                  <a:txBody>
                    <a:bodyPr/>
                    <a:lstStyle/>
                    <a:p>
                      <a:r>
                        <a:rPr lang="en-IN" sz="2400" dirty="0">
                          <a:latin typeface="Times New Roman" panose="02020603050405020304" pitchFamily="18" charset="0"/>
                          <a:cs typeface="Times New Roman" panose="02020603050405020304" pitchFamily="18" charset="0"/>
                        </a:rPr>
                        <a:t>A bond is a financial instrument showing the indebtedness of the issuing body towards its holders.</a:t>
                      </a:r>
                    </a:p>
                  </a:txBody>
                  <a:tcPr/>
                </a:tc>
                <a:tc>
                  <a:txBody>
                    <a:bodyPr/>
                    <a:lstStyle/>
                    <a:p>
                      <a:r>
                        <a:rPr lang="en-IN" sz="2400" dirty="0">
                          <a:latin typeface="Times New Roman" panose="02020603050405020304" pitchFamily="18" charset="0"/>
                          <a:cs typeface="Times New Roman" panose="02020603050405020304" pitchFamily="18" charset="0"/>
                        </a:rPr>
                        <a:t>A debt instrument used to raise long term finance is known as Debentures.</a:t>
                      </a:r>
                    </a:p>
                  </a:txBody>
                  <a:tcPr/>
                </a:tc>
                <a:extLst>
                  <a:ext uri="{0D108BD9-81ED-4DB2-BD59-A6C34878D82A}">
                    <a16:rowId xmlns:a16="http://schemas.microsoft.com/office/drawing/2014/main" val="10001"/>
                  </a:ext>
                </a:extLst>
              </a:tr>
              <a:tr h="910786">
                <a:tc>
                  <a:txBody>
                    <a:bodyPr/>
                    <a:lstStyle/>
                    <a:p>
                      <a:r>
                        <a:rPr lang="en-IN" sz="2400" dirty="0">
                          <a:latin typeface="Times New Roman" panose="02020603050405020304" pitchFamily="18" charset="0"/>
                          <a:cs typeface="Times New Roman" panose="02020603050405020304" pitchFamily="18" charset="0"/>
                        </a:rPr>
                        <a:t>Bonds are generally secured by collateral.</a:t>
                      </a:r>
                    </a:p>
                  </a:txBody>
                  <a:tcPr/>
                </a:tc>
                <a:tc>
                  <a:txBody>
                    <a:bodyPr/>
                    <a:lstStyle/>
                    <a:p>
                      <a:r>
                        <a:rPr lang="en-IN" sz="2400" dirty="0">
                          <a:latin typeface="Times New Roman" panose="02020603050405020304" pitchFamily="18" charset="0"/>
                          <a:cs typeface="Times New Roman" panose="02020603050405020304" pitchFamily="18" charset="0"/>
                        </a:rPr>
                        <a:t>Can be Secured or Unsecured.</a:t>
                      </a:r>
                    </a:p>
                  </a:txBody>
                  <a:tcPr/>
                </a:tc>
                <a:extLst>
                  <a:ext uri="{0D108BD9-81ED-4DB2-BD59-A6C34878D82A}">
                    <a16:rowId xmlns:a16="http://schemas.microsoft.com/office/drawing/2014/main" val="10002"/>
                  </a:ext>
                </a:extLst>
              </a:tr>
              <a:tr h="527678">
                <a:tc>
                  <a:txBody>
                    <a:bodyPr/>
                    <a:lstStyle/>
                    <a:p>
                      <a:r>
                        <a:rPr lang="en-IN" sz="2400" dirty="0">
                          <a:latin typeface="Times New Roman" panose="02020603050405020304" pitchFamily="18" charset="0"/>
                          <a:cs typeface="Times New Roman" panose="02020603050405020304" pitchFamily="18" charset="0"/>
                        </a:rPr>
                        <a:t>Low Interest Rates </a:t>
                      </a:r>
                    </a:p>
                  </a:txBody>
                  <a:tcPr/>
                </a:tc>
                <a:tc>
                  <a:txBody>
                    <a:bodyPr/>
                    <a:lstStyle/>
                    <a:p>
                      <a:r>
                        <a:rPr lang="en-IN" sz="2400" dirty="0">
                          <a:latin typeface="Times New Roman" panose="02020603050405020304" pitchFamily="18" charset="0"/>
                          <a:cs typeface="Times New Roman" panose="02020603050405020304" pitchFamily="18" charset="0"/>
                        </a:rPr>
                        <a:t>High Interest Rates. </a:t>
                      </a:r>
                    </a:p>
                  </a:txBody>
                  <a:tcPr/>
                </a:tc>
                <a:extLst>
                  <a:ext uri="{0D108BD9-81ED-4DB2-BD59-A6C34878D82A}">
                    <a16:rowId xmlns:a16="http://schemas.microsoft.com/office/drawing/2014/main" val="10003"/>
                  </a:ext>
                </a:extLst>
              </a:tr>
              <a:tr h="1301123">
                <a:tc>
                  <a:txBody>
                    <a:bodyPr/>
                    <a:lstStyle/>
                    <a:p>
                      <a:r>
                        <a:rPr lang="en-IN" sz="2400" dirty="0">
                          <a:latin typeface="Times New Roman" panose="02020603050405020304" pitchFamily="18" charset="0"/>
                          <a:cs typeface="Times New Roman" panose="02020603050405020304" pitchFamily="18" charset="0"/>
                        </a:rPr>
                        <a:t>Issued by </a:t>
                      </a:r>
                      <a:r>
                        <a:rPr lang="en-IN" sz="2400" dirty="0" err="1">
                          <a:latin typeface="Times New Roman" panose="02020603050405020304" pitchFamily="18" charset="0"/>
                          <a:cs typeface="Times New Roman" panose="02020603050405020304" pitchFamily="18" charset="0"/>
                        </a:rPr>
                        <a:t>Govt</a:t>
                      </a:r>
                      <a:r>
                        <a:rPr lang="en-IN" sz="2400" dirty="0">
                          <a:latin typeface="Times New Roman" panose="02020603050405020304" pitchFamily="18" charset="0"/>
                          <a:cs typeface="Times New Roman" panose="02020603050405020304" pitchFamily="18" charset="0"/>
                        </a:rPr>
                        <a:t> Agencies, Financial institution, Corporation etc.</a:t>
                      </a:r>
                    </a:p>
                  </a:txBody>
                  <a:tcPr/>
                </a:tc>
                <a:tc>
                  <a:txBody>
                    <a:bodyPr/>
                    <a:lstStyle/>
                    <a:p>
                      <a:r>
                        <a:rPr lang="en-IN" sz="2400" dirty="0">
                          <a:latin typeface="Times New Roman" panose="02020603050405020304" pitchFamily="18" charset="0"/>
                          <a:cs typeface="Times New Roman" panose="02020603050405020304" pitchFamily="18" charset="0"/>
                        </a:rPr>
                        <a:t>Issued by Public</a:t>
                      </a:r>
                      <a:r>
                        <a:rPr lang="en-IN" sz="2400" baseline="0" dirty="0">
                          <a:latin typeface="Times New Roman" panose="02020603050405020304" pitchFamily="18" charset="0"/>
                          <a:cs typeface="Times New Roman" panose="02020603050405020304" pitchFamily="18" charset="0"/>
                        </a:rPr>
                        <a:t> Companies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527678">
                <a:tc>
                  <a:txBody>
                    <a:bodyPr/>
                    <a:lstStyle/>
                    <a:p>
                      <a:r>
                        <a:rPr lang="en-IN" sz="2400" dirty="0">
                          <a:latin typeface="Times New Roman" panose="02020603050405020304" pitchFamily="18" charset="0"/>
                          <a:cs typeface="Times New Roman" panose="02020603050405020304" pitchFamily="18" charset="0"/>
                        </a:rPr>
                        <a:t>Accrued</a:t>
                      </a:r>
                    </a:p>
                  </a:txBody>
                  <a:tcPr/>
                </a:tc>
                <a:tc>
                  <a:txBody>
                    <a:bodyPr/>
                    <a:lstStyle/>
                    <a:p>
                      <a:r>
                        <a:rPr lang="en-IN" sz="2400" dirty="0">
                          <a:latin typeface="Times New Roman" panose="02020603050405020304" pitchFamily="18" charset="0"/>
                          <a:cs typeface="Times New Roman" panose="02020603050405020304" pitchFamily="18" charset="0"/>
                        </a:rPr>
                        <a:t>Periodical</a:t>
                      </a:r>
                      <a:r>
                        <a:rPr lang="en-IN" sz="2400" baseline="0" dirty="0">
                          <a:latin typeface="Times New Roman" panose="02020603050405020304" pitchFamily="18" charset="0"/>
                          <a:cs typeface="Times New Roman" panose="02020603050405020304" pitchFamily="18" charset="0"/>
                        </a:rPr>
                        <a:t> payments</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3969951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78499" y="299355"/>
            <a:ext cx="10929087" cy="6446678"/>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pPr fontAlgn="base"/>
            <a:endParaRPr lang="en-IN" sz="2200" b="1" dirty="0">
              <a:solidFill>
                <a:schemeClr val="tx1"/>
              </a:solidFill>
              <a:latin typeface="Times New Roman" panose="02020603050405020304" pitchFamily="18" charset="0"/>
              <a:cs typeface="Times New Roman" panose="02020603050405020304" pitchFamily="18" charset="0"/>
            </a:endParaRPr>
          </a:p>
          <a:p>
            <a:br>
              <a:rPr lang="en-IN" sz="2200" dirty="0">
                <a:solidFill>
                  <a:schemeClr val="tx1"/>
                </a:solidFill>
                <a:latin typeface="Times New Roman" panose="02020603050405020304" pitchFamily="18" charset="0"/>
                <a:cs typeface="Times New Roman" panose="02020603050405020304" pitchFamily="18" charset="0"/>
              </a:rPr>
            </a:br>
            <a:endParaRPr lang="en-IN" sz="2200" dirty="0">
              <a:solidFill>
                <a:schemeClr val="tx1"/>
              </a:solidFill>
              <a:latin typeface="Times New Roman" panose="02020603050405020304" pitchFamily="18" charset="0"/>
              <a:cs typeface="Times New Roman" panose="02020603050405020304" pitchFamily="18" charset="0"/>
            </a:endParaRPr>
          </a:p>
        </p:txBody>
      </p:sp>
      <p:graphicFrame>
        <p:nvGraphicFramePr>
          <p:cNvPr id="3" name="object 128"/>
          <p:cNvGraphicFramePr>
            <a:graphicFrameLocks noGrp="1"/>
          </p:cNvGraphicFramePr>
          <p:nvPr>
            <p:extLst>
              <p:ext uri="{D42A27DB-BD31-4B8C-83A1-F6EECF244321}">
                <p14:modId xmlns:p14="http://schemas.microsoft.com/office/powerpoint/2010/main" val="419902784"/>
              </p:ext>
            </p:extLst>
          </p:nvPr>
        </p:nvGraphicFramePr>
        <p:xfrm>
          <a:off x="1666799" y="484656"/>
          <a:ext cx="9211311" cy="5248743"/>
        </p:xfrm>
        <a:graphic>
          <a:graphicData uri="http://schemas.openxmlformats.org/drawingml/2006/table">
            <a:tbl>
              <a:tblPr firstRow="1" bandRow="1">
                <a:tableStyleId>{2D5ABB26-0587-4C30-8999-92F81FD0307C}</a:tableStyleId>
              </a:tblPr>
              <a:tblGrid>
                <a:gridCol w="4518648">
                  <a:extLst>
                    <a:ext uri="{9D8B030D-6E8A-4147-A177-3AD203B41FA5}">
                      <a16:colId xmlns:a16="http://schemas.microsoft.com/office/drawing/2014/main" val="20000"/>
                    </a:ext>
                  </a:extLst>
                </a:gridCol>
                <a:gridCol w="4638462">
                  <a:extLst>
                    <a:ext uri="{9D8B030D-6E8A-4147-A177-3AD203B41FA5}">
                      <a16:colId xmlns:a16="http://schemas.microsoft.com/office/drawing/2014/main" val="20001"/>
                    </a:ext>
                  </a:extLst>
                </a:gridCol>
                <a:gridCol w="54201">
                  <a:extLst>
                    <a:ext uri="{9D8B030D-6E8A-4147-A177-3AD203B41FA5}">
                      <a16:colId xmlns:a16="http://schemas.microsoft.com/office/drawing/2014/main" val="20002"/>
                    </a:ext>
                  </a:extLst>
                </a:gridCol>
              </a:tblGrid>
              <a:tr h="1236098">
                <a:tc gridSpan="2">
                  <a:txBody>
                    <a:bodyPr/>
                    <a:lstStyle/>
                    <a:p>
                      <a:pPr marL="842010">
                        <a:lnSpc>
                          <a:spcPts val="3890"/>
                        </a:lnSpc>
                        <a:tabLst>
                          <a:tab pos="4754880" algn="l"/>
                        </a:tabLst>
                      </a:pPr>
                      <a:endParaRPr sz="4400" b="0" dirty="0">
                        <a:latin typeface="Times New Roman"/>
                        <a:cs typeface="Times New Roman"/>
                      </a:endParaRPr>
                    </a:p>
                  </a:txBody>
                  <a:tcPr marL="0" marR="0" marT="0" marB="0"/>
                </a:tc>
                <a:tc hMerge="1">
                  <a:txBody>
                    <a:bodyPr/>
                    <a:lstStyle/>
                    <a:p>
                      <a:endParaRPr/>
                    </a:p>
                  </a:txBody>
                  <a:tcPr marL="0" marR="0" marT="0" marB="0"/>
                </a:tc>
                <a:tc>
                  <a:txBody>
                    <a:bodyPr/>
                    <a:lstStyle/>
                    <a:p>
                      <a:pPr>
                        <a:lnSpc>
                          <a:spcPct val="100000"/>
                        </a:lnSpc>
                      </a:pPr>
                      <a:endParaRPr sz="2100">
                        <a:latin typeface="Times New Roman"/>
                        <a:cs typeface="Times New Roman"/>
                      </a:endParaRPr>
                    </a:p>
                  </a:txBody>
                  <a:tcPr marL="0" marR="0" marT="0" marB="0">
                    <a:solidFill>
                      <a:srgbClr val="FAFAFA"/>
                    </a:solidFill>
                  </a:tcPr>
                </a:tc>
                <a:extLst>
                  <a:ext uri="{0D108BD9-81ED-4DB2-BD59-A6C34878D82A}">
                    <a16:rowId xmlns:a16="http://schemas.microsoft.com/office/drawing/2014/main" val="10000"/>
                  </a:ext>
                </a:extLst>
              </a:tr>
              <a:tr h="376952">
                <a:tc rowSpan="2">
                  <a:txBody>
                    <a:bodyPr/>
                    <a:lstStyle/>
                    <a:p>
                      <a:pPr marL="20955" algn="ctr">
                        <a:lnSpc>
                          <a:spcPct val="100000"/>
                        </a:lnSpc>
                        <a:spcBef>
                          <a:spcPts val="190"/>
                        </a:spcBef>
                      </a:pPr>
                      <a:r>
                        <a:rPr sz="2400" b="1" spc="-120" dirty="0">
                          <a:solidFill>
                            <a:srgbClr val="0B0B0B"/>
                          </a:solidFill>
                          <a:latin typeface="Georgia"/>
                          <a:cs typeface="Georgia"/>
                        </a:rPr>
                        <a:t>EQUITY</a:t>
                      </a:r>
                      <a:r>
                        <a:rPr sz="2400" b="1" spc="-35" dirty="0">
                          <a:solidFill>
                            <a:srgbClr val="0B0B0B"/>
                          </a:solidFill>
                          <a:latin typeface="Georgia"/>
                          <a:cs typeface="Georgia"/>
                        </a:rPr>
                        <a:t> </a:t>
                      </a:r>
                      <a:r>
                        <a:rPr sz="2400" b="1" spc="-130" dirty="0">
                          <a:solidFill>
                            <a:srgbClr val="0B0B0B"/>
                          </a:solidFill>
                          <a:latin typeface="Georgia"/>
                          <a:cs typeface="Georgia"/>
                        </a:rPr>
                        <a:t>SECURITY</a:t>
                      </a:r>
                      <a:endParaRPr sz="2400" dirty="0">
                        <a:latin typeface="Georgia"/>
                        <a:cs typeface="Georgia"/>
                      </a:endParaRPr>
                    </a:p>
                  </a:txBody>
                  <a:tcPr marL="0" marR="0" marT="24130" marB="0">
                    <a:solidFill>
                      <a:srgbClr val="DC7F46"/>
                    </a:solidFill>
                  </a:tcPr>
                </a:tc>
                <a:tc rowSpan="2">
                  <a:txBody>
                    <a:bodyPr/>
                    <a:lstStyle/>
                    <a:p>
                      <a:pPr marL="547370">
                        <a:lnSpc>
                          <a:spcPct val="100000"/>
                        </a:lnSpc>
                        <a:spcBef>
                          <a:spcPts val="370"/>
                        </a:spcBef>
                      </a:pPr>
                      <a:r>
                        <a:rPr sz="2400" b="1" spc="-135" dirty="0">
                          <a:solidFill>
                            <a:srgbClr val="0B0B0B"/>
                          </a:solidFill>
                          <a:latin typeface="Georgia"/>
                          <a:cs typeface="Georgia"/>
                        </a:rPr>
                        <a:t>DEBT</a:t>
                      </a:r>
                      <a:r>
                        <a:rPr sz="2400" b="1" spc="-25" dirty="0">
                          <a:solidFill>
                            <a:srgbClr val="0B0B0B"/>
                          </a:solidFill>
                          <a:latin typeface="Georgia"/>
                          <a:cs typeface="Georgia"/>
                        </a:rPr>
                        <a:t> </a:t>
                      </a:r>
                      <a:r>
                        <a:rPr sz="2400" b="1" spc="-130" dirty="0">
                          <a:solidFill>
                            <a:srgbClr val="0B0B0B"/>
                          </a:solidFill>
                          <a:latin typeface="Georgia"/>
                          <a:cs typeface="Georgia"/>
                        </a:rPr>
                        <a:t>SECURITY</a:t>
                      </a:r>
                      <a:endParaRPr sz="2400" dirty="0">
                        <a:latin typeface="Georgia"/>
                        <a:cs typeface="Georgia"/>
                      </a:endParaRPr>
                    </a:p>
                  </a:txBody>
                  <a:tcPr marL="0" marR="0" marT="46990" marB="0">
                    <a:solidFill>
                      <a:schemeClr val="accent2"/>
                    </a:solidFill>
                  </a:tcPr>
                </a:tc>
                <a:tc>
                  <a:txBody>
                    <a:bodyPr/>
                    <a:lstStyle/>
                    <a:p>
                      <a:pPr>
                        <a:lnSpc>
                          <a:spcPct val="100000"/>
                        </a:lnSpc>
                      </a:pPr>
                      <a:endParaRPr sz="1900">
                        <a:latin typeface="Times New Roman"/>
                        <a:cs typeface="Times New Roman"/>
                      </a:endParaRPr>
                    </a:p>
                  </a:txBody>
                  <a:tcPr marL="0" marR="0" marT="0" marB="0">
                    <a:solidFill>
                      <a:srgbClr val="FAFAFA"/>
                    </a:solidFill>
                  </a:tcPr>
                </a:tc>
                <a:extLst>
                  <a:ext uri="{0D108BD9-81ED-4DB2-BD59-A6C34878D82A}">
                    <a16:rowId xmlns:a16="http://schemas.microsoft.com/office/drawing/2014/main" val="10001"/>
                  </a:ext>
                </a:extLst>
              </a:tr>
              <a:tr h="416631">
                <a:tc vMerge="1">
                  <a:txBody>
                    <a:bodyPr/>
                    <a:lstStyle/>
                    <a:p>
                      <a:endParaRPr/>
                    </a:p>
                  </a:txBody>
                  <a:tcPr marL="0" marR="0" marT="24130" marB="0">
                    <a:solidFill>
                      <a:srgbClr val="DC7F46"/>
                    </a:solidFill>
                  </a:tcPr>
                </a:tc>
                <a:tc vMerge="1">
                  <a:txBody>
                    <a:bodyPr/>
                    <a:lstStyle/>
                    <a:p>
                      <a:endParaRPr/>
                    </a:p>
                  </a:txBody>
                  <a:tcPr marL="0" marR="0" marT="46990" marB="0"/>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2"/>
                  </a:ext>
                </a:extLst>
              </a:tr>
              <a:tr h="601097">
                <a:tc>
                  <a:txBody>
                    <a:bodyPr/>
                    <a:lstStyle/>
                    <a:p>
                      <a:pPr marL="74930">
                        <a:lnSpc>
                          <a:spcPct val="100000"/>
                        </a:lnSpc>
                        <a:spcBef>
                          <a:spcPts val="290"/>
                        </a:spcBef>
                      </a:pPr>
                      <a:r>
                        <a:rPr sz="2000" spc="40" dirty="0">
                          <a:latin typeface="Georgia"/>
                          <a:cs typeface="Georgia"/>
                        </a:rPr>
                        <a:t>Owner </a:t>
                      </a:r>
                      <a:r>
                        <a:rPr sz="2000" spc="10" dirty="0">
                          <a:latin typeface="Georgia"/>
                          <a:cs typeface="Georgia"/>
                        </a:rPr>
                        <a:t>of </a:t>
                      </a:r>
                      <a:r>
                        <a:rPr sz="2000" spc="-25" dirty="0">
                          <a:latin typeface="Georgia"/>
                          <a:cs typeface="Georgia"/>
                        </a:rPr>
                        <a:t>the</a:t>
                      </a:r>
                      <a:r>
                        <a:rPr sz="2000" spc="5" dirty="0">
                          <a:latin typeface="Georgia"/>
                          <a:cs typeface="Georgia"/>
                        </a:rPr>
                        <a:t> </a:t>
                      </a:r>
                      <a:r>
                        <a:rPr sz="2000" spc="10" dirty="0">
                          <a:latin typeface="Georgia"/>
                          <a:cs typeface="Georgia"/>
                        </a:rPr>
                        <a:t>company.</a:t>
                      </a:r>
                      <a:endParaRPr sz="2000" dirty="0">
                        <a:latin typeface="Georgia"/>
                        <a:cs typeface="Georgia"/>
                      </a:endParaRPr>
                    </a:p>
                  </a:txBody>
                  <a:tcPr marL="0" marR="0" marT="36830" marB="0">
                    <a:solidFill>
                      <a:srgbClr val="F1D6CD"/>
                    </a:solidFill>
                  </a:tcPr>
                </a:tc>
                <a:tc>
                  <a:txBody>
                    <a:bodyPr/>
                    <a:lstStyle/>
                    <a:p>
                      <a:pPr marL="128270">
                        <a:lnSpc>
                          <a:spcPct val="100000"/>
                        </a:lnSpc>
                        <a:spcBef>
                          <a:spcPts val="290"/>
                        </a:spcBef>
                      </a:pPr>
                      <a:r>
                        <a:rPr sz="2000" spc="10" dirty="0">
                          <a:latin typeface="Georgia"/>
                          <a:cs typeface="Georgia"/>
                        </a:rPr>
                        <a:t>Creditor of </a:t>
                      </a:r>
                      <a:r>
                        <a:rPr sz="2000" spc="-20" dirty="0">
                          <a:latin typeface="Georgia"/>
                          <a:cs typeface="Georgia"/>
                        </a:rPr>
                        <a:t>the</a:t>
                      </a:r>
                      <a:r>
                        <a:rPr sz="2000" spc="35" dirty="0">
                          <a:latin typeface="Georgia"/>
                          <a:cs typeface="Georgia"/>
                        </a:rPr>
                        <a:t> </a:t>
                      </a:r>
                      <a:r>
                        <a:rPr sz="2000" spc="10" dirty="0">
                          <a:latin typeface="Georgia"/>
                          <a:cs typeface="Georgia"/>
                        </a:rPr>
                        <a:t>company.</a:t>
                      </a:r>
                      <a:endParaRPr sz="2000">
                        <a:latin typeface="Georgia"/>
                        <a:cs typeface="Georgia"/>
                      </a:endParaRPr>
                    </a:p>
                  </a:txBody>
                  <a:tcPr marL="0" marR="0" marT="36830" marB="0">
                    <a:solidFill>
                      <a:srgbClr val="F1D6CD"/>
                    </a:solidFill>
                  </a:tcPr>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3"/>
                  </a:ext>
                </a:extLst>
              </a:tr>
              <a:tr h="826484">
                <a:tc>
                  <a:txBody>
                    <a:bodyPr/>
                    <a:lstStyle/>
                    <a:p>
                      <a:pPr marL="74930" marR="249554">
                        <a:lnSpc>
                          <a:spcPct val="103299"/>
                        </a:lnSpc>
                        <a:spcBef>
                          <a:spcPts val="210"/>
                        </a:spcBef>
                      </a:pPr>
                      <a:r>
                        <a:rPr sz="2000" spc="5" dirty="0">
                          <a:latin typeface="Georgia"/>
                          <a:cs typeface="Georgia"/>
                        </a:rPr>
                        <a:t>Get </a:t>
                      </a:r>
                      <a:r>
                        <a:rPr sz="2000" spc="30" dirty="0">
                          <a:latin typeface="Georgia"/>
                          <a:cs typeface="Georgia"/>
                        </a:rPr>
                        <a:t>Dividend only </a:t>
                      </a:r>
                      <a:r>
                        <a:rPr sz="2000" spc="40" dirty="0">
                          <a:latin typeface="Georgia"/>
                          <a:cs typeface="Georgia"/>
                        </a:rPr>
                        <a:t>when  </a:t>
                      </a:r>
                      <a:r>
                        <a:rPr sz="2000" spc="15" dirty="0">
                          <a:latin typeface="Georgia"/>
                          <a:cs typeface="Georgia"/>
                        </a:rPr>
                        <a:t>company </a:t>
                      </a:r>
                      <a:r>
                        <a:rPr sz="2000" spc="-15" dirty="0">
                          <a:latin typeface="Georgia"/>
                          <a:cs typeface="Georgia"/>
                        </a:rPr>
                        <a:t>earns </a:t>
                      </a:r>
                      <a:r>
                        <a:rPr sz="2000" spc="-5" dirty="0">
                          <a:latin typeface="Georgia"/>
                          <a:cs typeface="Georgia"/>
                        </a:rPr>
                        <a:t>sufficient</a:t>
                      </a:r>
                      <a:r>
                        <a:rPr sz="2000" spc="60" dirty="0">
                          <a:latin typeface="Georgia"/>
                          <a:cs typeface="Georgia"/>
                        </a:rPr>
                        <a:t> </a:t>
                      </a:r>
                      <a:r>
                        <a:rPr sz="2000" spc="-10" dirty="0">
                          <a:latin typeface="Georgia"/>
                          <a:cs typeface="Georgia"/>
                        </a:rPr>
                        <a:t>profits.</a:t>
                      </a:r>
                      <a:endParaRPr sz="2000" dirty="0">
                        <a:latin typeface="Georgia"/>
                        <a:cs typeface="Georgia"/>
                      </a:endParaRPr>
                    </a:p>
                  </a:txBody>
                  <a:tcPr marL="0" marR="0" marT="26670" marB="0">
                    <a:solidFill>
                      <a:srgbClr val="F8EBE7"/>
                    </a:solidFill>
                  </a:tcPr>
                </a:tc>
                <a:tc>
                  <a:txBody>
                    <a:bodyPr/>
                    <a:lstStyle/>
                    <a:p>
                      <a:pPr marL="128270" marR="551180">
                        <a:lnSpc>
                          <a:spcPct val="103299"/>
                        </a:lnSpc>
                        <a:spcBef>
                          <a:spcPts val="210"/>
                        </a:spcBef>
                      </a:pPr>
                      <a:r>
                        <a:rPr sz="2000" spc="15" dirty="0">
                          <a:latin typeface="Georgia"/>
                          <a:cs typeface="Georgia"/>
                        </a:rPr>
                        <a:t>Provides </a:t>
                      </a:r>
                      <a:r>
                        <a:rPr sz="2000" spc="20" dirty="0">
                          <a:latin typeface="Georgia"/>
                          <a:cs typeface="Georgia"/>
                        </a:rPr>
                        <a:t>steady </a:t>
                      </a:r>
                      <a:r>
                        <a:rPr sz="2000" spc="-10" dirty="0">
                          <a:latin typeface="Georgia"/>
                          <a:cs typeface="Georgia"/>
                        </a:rPr>
                        <a:t>income </a:t>
                      </a:r>
                      <a:r>
                        <a:rPr sz="2000" spc="-15" dirty="0">
                          <a:latin typeface="Georgia"/>
                          <a:cs typeface="Georgia"/>
                        </a:rPr>
                        <a:t>to </a:t>
                      </a:r>
                      <a:r>
                        <a:rPr sz="2000" spc="-20" dirty="0">
                          <a:latin typeface="Georgia"/>
                          <a:cs typeface="Georgia"/>
                        </a:rPr>
                        <a:t>the  </a:t>
                      </a:r>
                      <a:r>
                        <a:rPr sz="2000" spc="-5" dirty="0">
                          <a:latin typeface="Georgia"/>
                          <a:cs typeface="Georgia"/>
                        </a:rPr>
                        <a:t>investors.</a:t>
                      </a:r>
                      <a:endParaRPr sz="2000" dirty="0">
                        <a:latin typeface="Georgia"/>
                        <a:cs typeface="Georgia"/>
                      </a:endParaRPr>
                    </a:p>
                  </a:txBody>
                  <a:tcPr marL="0" marR="0" marT="26670" marB="0">
                    <a:solidFill>
                      <a:srgbClr val="F8EBE7"/>
                    </a:solidFill>
                  </a:tcPr>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4"/>
                  </a:ext>
                </a:extLst>
              </a:tr>
              <a:tr h="601097">
                <a:tc>
                  <a:txBody>
                    <a:bodyPr/>
                    <a:lstStyle/>
                    <a:p>
                      <a:pPr marL="74930">
                        <a:lnSpc>
                          <a:spcPct val="100000"/>
                        </a:lnSpc>
                        <a:spcBef>
                          <a:spcPts val="290"/>
                        </a:spcBef>
                      </a:pPr>
                      <a:r>
                        <a:rPr sz="2000" spc="35" dirty="0">
                          <a:latin typeface="Georgia"/>
                          <a:cs typeface="Georgia"/>
                        </a:rPr>
                        <a:t>Have </a:t>
                      </a:r>
                      <a:r>
                        <a:rPr sz="2000" spc="25" dirty="0">
                          <a:latin typeface="Georgia"/>
                          <a:cs typeface="Georgia"/>
                        </a:rPr>
                        <a:t>voting</a:t>
                      </a:r>
                      <a:r>
                        <a:rPr sz="2000" dirty="0">
                          <a:latin typeface="Georgia"/>
                          <a:cs typeface="Georgia"/>
                        </a:rPr>
                        <a:t> </a:t>
                      </a:r>
                      <a:r>
                        <a:rPr sz="2000" spc="-10" dirty="0">
                          <a:latin typeface="Georgia"/>
                          <a:cs typeface="Georgia"/>
                        </a:rPr>
                        <a:t>rights.</a:t>
                      </a:r>
                      <a:endParaRPr sz="2000" dirty="0">
                        <a:latin typeface="Georgia"/>
                        <a:cs typeface="Georgia"/>
                      </a:endParaRPr>
                    </a:p>
                  </a:txBody>
                  <a:tcPr marL="0" marR="0" marT="36830" marB="0">
                    <a:solidFill>
                      <a:srgbClr val="F1D6CD"/>
                    </a:solidFill>
                  </a:tcPr>
                </a:tc>
                <a:tc>
                  <a:txBody>
                    <a:bodyPr/>
                    <a:lstStyle/>
                    <a:p>
                      <a:pPr marL="128270">
                        <a:lnSpc>
                          <a:spcPct val="100000"/>
                        </a:lnSpc>
                        <a:spcBef>
                          <a:spcPts val="290"/>
                        </a:spcBef>
                      </a:pPr>
                      <a:r>
                        <a:rPr sz="2000" spc="65" dirty="0">
                          <a:latin typeface="Georgia"/>
                          <a:cs typeface="Georgia"/>
                        </a:rPr>
                        <a:t>No </a:t>
                      </a:r>
                      <a:r>
                        <a:rPr sz="2000" spc="25" dirty="0">
                          <a:latin typeface="Georgia"/>
                          <a:cs typeface="Georgia"/>
                        </a:rPr>
                        <a:t>voting</a:t>
                      </a:r>
                      <a:r>
                        <a:rPr sz="2000" spc="-30" dirty="0">
                          <a:latin typeface="Georgia"/>
                          <a:cs typeface="Georgia"/>
                        </a:rPr>
                        <a:t> </a:t>
                      </a:r>
                      <a:r>
                        <a:rPr sz="2000" spc="-5" dirty="0">
                          <a:latin typeface="Georgia"/>
                          <a:cs typeface="Georgia"/>
                        </a:rPr>
                        <a:t>rights.</a:t>
                      </a:r>
                      <a:endParaRPr sz="2000" dirty="0">
                        <a:latin typeface="Georgia"/>
                        <a:cs typeface="Georgia"/>
                      </a:endParaRPr>
                    </a:p>
                  </a:txBody>
                  <a:tcPr marL="0" marR="0" marT="36830" marB="0">
                    <a:solidFill>
                      <a:srgbClr val="F1D6CD"/>
                    </a:solidFill>
                  </a:tcPr>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5"/>
                  </a:ext>
                </a:extLst>
              </a:tr>
              <a:tr h="601097">
                <a:tc>
                  <a:txBody>
                    <a:bodyPr/>
                    <a:lstStyle/>
                    <a:p>
                      <a:pPr marL="74930">
                        <a:lnSpc>
                          <a:spcPct val="100000"/>
                        </a:lnSpc>
                        <a:spcBef>
                          <a:spcPts val="290"/>
                        </a:spcBef>
                      </a:pPr>
                      <a:r>
                        <a:rPr sz="2000" spc="30" dirty="0">
                          <a:latin typeface="Georgia"/>
                          <a:cs typeface="Georgia"/>
                        </a:rPr>
                        <a:t>Not</a:t>
                      </a:r>
                      <a:r>
                        <a:rPr sz="2000" spc="5" dirty="0">
                          <a:latin typeface="Georgia"/>
                          <a:cs typeface="Georgia"/>
                        </a:rPr>
                        <a:t> </a:t>
                      </a:r>
                      <a:r>
                        <a:rPr sz="2000" dirty="0">
                          <a:latin typeface="Georgia"/>
                          <a:cs typeface="Georgia"/>
                        </a:rPr>
                        <a:t>secured.</a:t>
                      </a:r>
                    </a:p>
                  </a:txBody>
                  <a:tcPr marL="0" marR="0" marT="36830" marB="0">
                    <a:solidFill>
                      <a:srgbClr val="F8EBE7"/>
                    </a:solidFill>
                  </a:tcPr>
                </a:tc>
                <a:tc>
                  <a:txBody>
                    <a:bodyPr/>
                    <a:lstStyle/>
                    <a:p>
                      <a:pPr marL="128270">
                        <a:lnSpc>
                          <a:spcPct val="100000"/>
                        </a:lnSpc>
                        <a:spcBef>
                          <a:spcPts val="290"/>
                        </a:spcBef>
                      </a:pPr>
                      <a:r>
                        <a:rPr sz="2000" spc="-5" dirty="0">
                          <a:latin typeface="Georgia"/>
                          <a:cs typeface="Georgia"/>
                        </a:rPr>
                        <a:t>Secured </a:t>
                      </a:r>
                      <a:r>
                        <a:rPr sz="2000" spc="-10" dirty="0">
                          <a:latin typeface="Georgia"/>
                          <a:cs typeface="Georgia"/>
                        </a:rPr>
                        <a:t>in</a:t>
                      </a:r>
                      <a:r>
                        <a:rPr sz="2000" spc="45" dirty="0">
                          <a:latin typeface="Georgia"/>
                          <a:cs typeface="Georgia"/>
                        </a:rPr>
                        <a:t> </a:t>
                      </a:r>
                      <a:r>
                        <a:rPr sz="2000" spc="-15" dirty="0">
                          <a:latin typeface="Georgia"/>
                          <a:cs typeface="Georgia"/>
                        </a:rPr>
                        <a:t>nature.</a:t>
                      </a:r>
                      <a:endParaRPr sz="2000" dirty="0">
                        <a:latin typeface="Georgia"/>
                        <a:cs typeface="Georgia"/>
                      </a:endParaRPr>
                    </a:p>
                  </a:txBody>
                  <a:tcPr marL="0" marR="0" marT="36830" marB="0">
                    <a:solidFill>
                      <a:srgbClr val="F8EBE7"/>
                    </a:solidFill>
                  </a:tcPr>
                </a:tc>
                <a:tc>
                  <a:txBody>
                    <a:bodyPr/>
                    <a:lstStyle/>
                    <a:p>
                      <a:pPr>
                        <a:lnSpc>
                          <a:spcPct val="100000"/>
                        </a:lnSpc>
                      </a:pPr>
                      <a:endParaRPr sz="2100">
                        <a:latin typeface="Times New Roman"/>
                        <a:cs typeface="Times New Roman"/>
                      </a:endParaRPr>
                    </a:p>
                  </a:txBody>
                  <a:tcPr marL="0" marR="0" marT="0" marB="0"/>
                </a:tc>
                <a:extLst>
                  <a:ext uri="{0D108BD9-81ED-4DB2-BD59-A6C34878D82A}">
                    <a16:rowId xmlns:a16="http://schemas.microsoft.com/office/drawing/2014/main" val="10006"/>
                  </a:ext>
                </a:extLst>
              </a:tr>
              <a:tr h="589287">
                <a:tc>
                  <a:txBody>
                    <a:bodyPr/>
                    <a:lstStyle/>
                    <a:p>
                      <a:pPr marL="74930">
                        <a:lnSpc>
                          <a:spcPct val="100000"/>
                        </a:lnSpc>
                        <a:spcBef>
                          <a:spcPts val="290"/>
                        </a:spcBef>
                      </a:pPr>
                      <a:r>
                        <a:rPr sz="2000" spc="-25" dirty="0">
                          <a:latin typeface="Georgia"/>
                          <a:cs typeface="Georgia"/>
                        </a:rPr>
                        <a:t>Share </a:t>
                      </a:r>
                      <a:r>
                        <a:rPr sz="2000" spc="-5" dirty="0">
                          <a:latin typeface="Georgia"/>
                          <a:cs typeface="Georgia"/>
                        </a:rPr>
                        <a:t>capital </a:t>
                      </a:r>
                      <a:r>
                        <a:rPr sz="2000" spc="15" dirty="0">
                          <a:latin typeface="Georgia"/>
                          <a:cs typeface="Georgia"/>
                        </a:rPr>
                        <a:t>of </a:t>
                      </a:r>
                      <a:r>
                        <a:rPr sz="2000" spc="-20" dirty="0">
                          <a:latin typeface="Georgia"/>
                          <a:cs typeface="Georgia"/>
                        </a:rPr>
                        <a:t>the</a:t>
                      </a:r>
                      <a:r>
                        <a:rPr sz="2000" spc="75" dirty="0">
                          <a:latin typeface="Georgia"/>
                          <a:cs typeface="Georgia"/>
                        </a:rPr>
                        <a:t> </a:t>
                      </a:r>
                      <a:r>
                        <a:rPr sz="2000" spc="10" dirty="0">
                          <a:latin typeface="Georgia"/>
                          <a:cs typeface="Georgia"/>
                        </a:rPr>
                        <a:t>company.</a:t>
                      </a:r>
                      <a:endParaRPr sz="2000" dirty="0">
                        <a:latin typeface="Georgia"/>
                        <a:cs typeface="Georgia"/>
                      </a:endParaRPr>
                    </a:p>
                  </a:txBody>
                  <a:tcPr marL="0" marR="0" marT="36830" marB="0">
                    <a:solidFill>
                      <a:srgbClr val="F1D6CD"/>
                    </a:solidFill>
                  </a:tcPr>
                </a:tc>
                <a:tc>
                  <a:txBody>
                    <a:bodyPr/>
                    <a:lstStyle/>
                    <a:p>
                      <a:pPr marL="128270">
                        <a:lnSpc>
                          <a:spcPct val="100000"/>
                        </a:lnSpc>
                        <a:spcBef>
                          <a:spcPts val="290"/>
                        </a:spcBef>
                      </a:pPr>
                      <a:r>
                        <a:rPr sz="2000" spc="15" dirty="0">
                          <a:latin typeface="Georgia"/>
                          <a:cs typeface="Georgia"/>
                        </a:rPr>
                        <a:t>Borrowed </a:t>
                      </a:r>
                      <a:r>
                        <a:rPr sz="2000" spc="-5" dirty="0">
                          <a:latin typeface="Georgia"/>
                          <a:cs typeface="Georgia"/>
                        </a:rPr>
                        <a:t>capital </a:t>
                      </a:r>
                      <a:r>
                        <a:rPr sz="2000" spc="10" dirty="0">
                          <a:latin typeface="Georgia"/>
                          <a:cs typeface="Georgia"/>
                        </a:rPr>
                        <a:t>of </a:t>
                      </a:r>
                      <a:r>
                        <a:rPr sz="2000" spc="-25" dirty="0">
                          <a:latin typeface="Georgia"/>
                          <a:cs typeface="Georgia"/>
                        </a:rPr>
                        <a:t>the</a:t>
                      </a:r>
                      <a:r>
                        <a:rPr sz="2000" spc="45" dirty="0">
                          <a:latin typeface="Georgia"/>
                          <a:cs typeface="Georgia"/>
                        </a:rPr>
                        <a:t> </a:t>
                      </a:r>
                      <a:r>
                        <a:rPr sz="2000" spc="10" dirty="0">
                          <a:latin typeface="Georgia"/>
                          <a:cs typeface="Georgia"/>
                        </a:rPr>
                        <a:t>company.</a:t>
                      </a:r>
                      <a:endParaRPr sz="2000" dirty="0">
                        <a:latin typeface="Georgia"/>
                        <a:cs typeface="Georgia"/>
                      </a:endParaRPr>
                    </a:p>
                  </a:txBody>
                  <a:tcPr marL="0" marR="0" marT="36830" marB="0">
                    <a:solidFill>
                      <a:srgbClr val="F1D6CD"/>
                    </a:solidFill>
                  </a:tcPr>
                </a:tc>
                <a:tc>
                  <a:txBody>
                    <a:bodyPr/>
                    <a:lstStyle/>
                    <a:p>
                      <a:pPr>
                        <a:lnSpc>
                          <a:spcPct val="100000"/>
                        </a:lnSpc>
                      </a:pPr>
                      <a:endParaRPr sz="2100" dirty="0">
                        <a:latin typeface="Times New Roman"/>
                        <a:cs typeface="Times New Roman"/>
                      </a:endParaRPr>
                    </a:p>
                  </a:txBody>
                  <a:tcPr marL="0" marR="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162595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78499" y="299355"/>
            <a:ext cx="11327362" cy="6446678"/>
          </a:xfrm>
          <a:prstGeom prst="roundRect">
            <a:avLst/>
          </a:prstGeom>
        </p:spPr>
        <p:style>
          <a:lnRef idx="2">
            <a:schemeClr val="accent1">
              <a:shade val="50000"/>
            </a:schemeClr>
          </a:lnRef>
          <a:fillRef idx="1001">
            <a:schemeClr val="lt2"/>
          </a:fillRef>
          <a:effectRef idx="0">
            <a:schemeClr val="accent1"/>
          </a:effectRef>
          <a:fontRef idx="minor">
            <a:schemeClr val="lt1"/>
          </a:fontRef>
        </p:style>
        <p:txBody>
          <a:bodyPr rtlCol="0" anchor="ctr"/>
          <a:lstStyle/>
          <a:p>
            <a:pPr marL="12065" marR="5080" algn="just">
              <a:lnSpc>
                <a:spcPct val="150000"/>
              </a:lnSpc>
              <a:spcBef>
                <a:spcPts val="100"/>
              </a:spcBef>
              <a:tabLst>
                <a:tab pos="354965" algn="l"/>
                <a:tab pos="355600" algn="l"/>
              </a:tabLst>
            </a:pPr>
            <a:endParaRPr lang="en-US" sz="3200" dirty="0">
              <a:solidFill>
                <a:schemeClr val="tx1"/>
              </a:solidFill>
              <a:latin typeface="Times New Roman"/>
              <a:cs typeface="Times New Roman"/>
            </a:endParaRPr>
          </a:p>
          <a:p>
            <a:pPr marL="12065" marR="5080" algn="just">
              <a:lnSpc>
                <a:spcPct val="150000"/>
              </a:lnSpc>
              <a:spcBef>
                <a:spcPts val="100"/>
              </a:spcBef>
              <a:tabLst>
                <a:tab pos="354965" algn="l"/>
                <a:tab pos="355600" algn="l"/>
              </a:tabLst>
            </a:pPr>
            <a:r>
              <a:rPr lang="en-US" sz="2400" dirty="0">
                <a:solidFill>
                  <a:schemeClr val="tx1"/>
                </a:solidFill>
                <a:latin typeface="Times New Roman"/>
                <a:cs typeface="Times New Roman"/>
              </a:rPr>
              <a:t>Securities which are legally debt securities but that have some equity-like features. Debt characteristics of hybrid securities include deferred or scheduled interest payments.</a:t>
            </a:r>
          </a:p>
          <a:p>
            <a:pPr marL="12065" marR="5080" algn="just">
              <a:lnSpc>
                <a:spcPct val="150000"/>
              </a:lnSpc>
              <a:spcBef>
                <a:spcPts val="100"/>
              </a:spcBef>
              <a:tabLst>
                <a:tab pos="354965" algn="l"/>
                <a:tab pos="355600" algn="l"/>
              </a:tabLst>
            </a:pPr>
            <a:r>
              <a:rPr lang="en-US" sz="2400" spc="-5" dirty="0">
                <a:solidFill>
                  <a:schemeClr val="tx1"/>
                </a:solidFill>
                <a:latin typeface="Times New Roman"/>
                <a:cs typeface="Times New Roman"/>
              </a:rPr>
              <a:t>Examples </a:t>
            </a:r>
            <a:r>
              <a:rPr lang="en-US" sz="2400" dirty="0">
                <a:solidFill>
                  <a:schemeClr val="tx1"/>
                </a:solidFill>
                <a:latin typeface="Times New Roman"/>
                <a:cs typeface="Times New Roman"/>
              </a:rPr>
              <a:t>are  </a:t>
            </a:r>
            <a:r>
              <a:rPr lang="en-US" sz="2400" spc="-5" dirty="0">
                <a:solidFill>
                  <a:schemeClr val="tx1"/>
                </a:solidFill>
                <a:latin typeface="Times New Roman"/>
                <a:cs typeface="Times New Roman"/>
              </a:rPr>
              <a:t>convertible </a:t>
            </a:r>
            <a:r>
              <a:rPr lang="en-US" sz="2400" dirty="0">
                <a:solidFill>
                  <a:schemeClr val="tx1"/>
                </a:solidFill>
                <a:latin typeface="Times New Roman"/>
                <a:cs typeface="Times New Roman"/>
              </a:rPr>
              <a:t>debentures, warrants</a:t>
            </a:r>
            <a:r>
              <a:rPr lang="en-US" sz="2400" spc="10" dirty="0">
                <a:solidFill>
                  <a:schemeClr val="tx1"/>
                </a:solidFill>
                <a:latin typeface="Times New Roman"/>
                <a:cs typeface="Times New Roman"/>
              </a:rPr>
              <a:t> </a:t>
            </a:r>
            <a:r>
              <a:rPr lang="en-US" sz="2400" dirty="0">
                <a:solidFill>
                  <a:schemeClr val="tx1"/>
                </a:solidFill>
                <a:latin typeface="Times New Roman"/>
                <a:cs typeface="Times New Roman"/>
              </a:rPr>
              <a:t>etc.</a:t>
            </a:r>
          </a:p>
          <a:p>
            <a:pPr marL="12065" marR="5080" algn="just">
              <a:lnSpc>
                <a:spcPct val="150000"/>
              </a:lnSpc>
              <a:spcBef>
                <a:spcPts val="100"/>
              </a:spcBef>
              <a:tabLst>
                <a:tab pos="354965" algn="l"/>
                <a:tab pos="355600" algn="l"/>
              </a:tabLst>
            </a:pPr>
            <a:endParaRPr lang="en-US" sz="2000" dirty="0">
              <a:solidFill>
                <a:schemeClr val="tx1"/>
              </a:solidFill>
              <a:latin typeface="Times New Roman"/>
              <a:cs typeface="Times New Roman"/>
            </a:endParaRPr>
          </a:p>
          <a:p>
            <a:pPr marL="12065" marR="5080" algn="just">
              <a:lnSpc>
                <a:spcPct val="150000"/>
              </a:lnSpc>
              <a:spcBef>
                <a:spcPts val="100"/>
              </a:spcBef>
              <a:tabLst>
                <a:tab pos="354965" algn="l"/>
                <a:tab pos="355600" algn="l"/>
              </a:tabLst>
            </a:pPr>
            <a:endParaRPr lang="en-US" sz="3200" dirty="0">
              <a:solidFill>
                <a:schemeClr val="tx1"/>
              </a:solidFill>
              <a:latin typeface="Times New Roman"/>
              <a:cs typeface="Times New Roman"/>
            </a:endParaRPr>
          </a:p>
          <a:p>
            <a:pPr marL="12065" marR="5080" algn="just">
              <a:lnSpc>
                <a:spcPct val="150000"/>
              </a:lnSpc>
              <a:spcBef>
                <a:spcPts val="100"/>
              </a:spcBef>
              <a:tabLst>
                <a:tab pos="354965" algn="l"/>
                <a:tab pos="355600" algn="l"/>
              </a:tabLst>
            </a:pPr>
            <a:endParaRPr lang="en-US" sz="3200" dirty="0">
              <a:solidFill>
                <a:schemeClr val="tx1"/>
              </a:solidFill>
              <a:latin typeface="Times New Roman"/>
              <a:cs typeface="Times New Roman"/>
            </a:endParaRPr>
          </a:p>
          <a:p>
            <a:pPr marL="12065" marR="5080" algn="just">
              <a:lnSpc>
                <a:spcPct val="150000"/>
              </a:lnSpc>
              <a:spcBef>
                <a:spcPts val="100"/>
              </a:spcBef>
              <a:tabLst>
                <a:tab pos="354965" algn="l"/>
                <a:tab pos="355600" algn="l"/>
              </a:tabLst>
            </a:pPr>
            <a:endParaRPr lang="en-US" sz="3200" dirty="0">
              <a:solidFill>
                <a:schemeClr val="tx1"/>
              </a:solidFill>
              <a:latin typeface="Times New Roman"/>
              <a:cs typeface="Times New Roman"/>
            </a:endParaRPr>
          </a:p>
          <a:p>
            <a:pPr marL="12065" marR="5080" algn="just">
              <a:lnSpc>
                <a:spcPct val="150000"/>
              </a:lnSpc>
              <a:spcBef>
                <a:spcPts val="100"/>
              </a:spcBef>
              <a:tabLst>
                <a:tab pos="354965" algn="l"/>
                <a:tab pos="355600" algn="l"/>
              </a:tabLst>
            </a:pPr>
            <a:endParaRPr lang="en-US" sz="3200" dirty="0">
              <a:solidFill>
                <a:schemeClr val="tx1"/>
              </a:solidFill>
              <a:latin typeface="Times New Roman"/>
              <a:cs typeface="Times New Roman"/>
            </a:endParaRPr>
          </a:p>
        </p:txBody>
      </p:sp>
      <p:sp>
        <p:nvSpPr>
          <p:cNvPr id="3" name="Rounded Rectangle 2"/>
          <p:cNvSpPr/>
          <p:nvPr/>
        </p:nvSpPr>
        <p:spPr>
          <a:xfrm>
            <a:off x="2581505" y="0"/>
            <a:ext cx="6948124"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spc="-5" dirty="0">
                <a:latin typeface="Times New Roman" panose="02020603050405020304" pitchFamily="18" charset="0"/>
                <a:cs typeface="Times New Roman" panose="02020603050405020304" pitchFamily="18" charset="0"/>
              </a:rPr>
              <a:t>Hybrid</a:t>
            </a:r>
            <a:r>
              <a:rPr lang="en-IN" sz="4400" spc="-105" dirty="0">
                <a:latin typeface="Arial"/>
                <a:cs typeface="Arial"/>
              </a:rPr>
              <a:t> </a:t>
            </a:r>
            <a:r>
              <a:rPr lang="en-IN" sz="4400" spc="-5" dirty="0">
                <a:latin typeface="Times New Roman" panose="02020603050405020304" pitchFamily="18" charset="0"/>
                <a:cs typeface="Times New Roman" panose="02020603050405020304" pitchFamily="18" charset="0"/>
              </a:rPr>
              <a:t>Instruments</a:t>
            </a:r>
            <a:endParaRPr lang="en-IN" sz="4400" dirty="0"/>
          </a:p>
        </p:txBody>
      </p:sp>
      <p:sp>
        <p:nvSpPr>
          <p:cNvPr id="5" name="object 3"/>
          <p:cNvSpPr txBox="1"/>
          <p:nvPr/>
        </p:nvSpPr>
        <p:spPr>
          <a:xfrm>
            <a:off x="839755" y="3657530"/>
            <a:ext cx="10804849" cy="2901115"/>
          </a:xfrm>
          <a:prstGeom prst="rect">
            <a:avLst/>
          </a:prstGeom>
        </p:spPr>
        <p:txBody>
          <a:bodyPr vert="horz" wrap="square" lIns="0" tIns="68580" rIns="0" bIns="0" rtlCol="0">
            <a:spAutoFit/>
          </a:bodyPr>
          <a:lstStyle/>
          <a:p>
            <a:pPr marL="355600" marR="5080" indent="-342900" algn="just">
              <a:lnSpc>
                <a:spcPct val="150000"/>
              </a:lnSpc>
              <a:spcBef>
                <a:spcPts val="54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hybrid financial </a:t>
            </a:r>
            <a:r>
              <a:rPr sz="2400" spc="-5" dirty="0">
                <a:latin typeface="Times New Roman" panose="02020603050405020304" pitchFamily="18" charset="0"/>
                <a:cs typeface="Times New Roman" panose="02020603050405020304" pitchFamily="18" charset="0"/>
              </a:rPr>
              <a:t>insturment is an </a:t>
            </a:r>
            <a:r>
              <a:rPr sz="2400" spc="-10" dirty="0">
                <a:latin typeface="Times New Roman" panose="02020603050405020304" pitchFamily="18" charset="0"/>
                <a:cs typeface="Times New Roman" panose="02020603050405020304" pitchFamily="18" charset="0"/>
              </a:rPr>
              <a:t>investment </a:t>
            </a:r>
            <a:r>
              <a:rPr sz="2400" spc="-5" dirty="0">
                <a:latin typeface="Times New Roman" panose="02020603050405020304" pitchFamily="18" charset="0"/>
                <a:cs typeface="Times New Roman" panose="02020603050405020304" pitchFamily="18" charset="0"/>
              </a:rPr>
              <a:t>that </a:t>
            </a:r>
            <a:r>
              <a:rPr sz="2400" spc="-10" dirty="0">
                <a:latin typeface="Times New Roman" panose="02020603050405020304" pitchFamily="18" charset="0"/>
                <a:cs typeface="Times New Roman" panose="02020603050405020304" pitchFamily="18" charset="0"/>
              </a:rPr>
              <a:t>blends </a:t>
            </a:r>
            <a:r>
              <a:rPr sz="2400" spc="-5" dirty="0">
                <a:latin typeface="Times New Roman" panose="02020603050405020304" pitchFamily="18" charset="0"/>
                <a:cs typeface="Times New Roman" panose="02020603050405020304" pitchFamily="18" charset="0"/>
              </a:rPr>
              <a:t>characteristics of  </a:t>
            </a:r>
            <a:r>
              <a:rPr sz="2400" spc="-10" dirty="0">
                <a:latin typeface="Times New Roman" panose="02020603050405020304" pitchFamily="18" charset="0"/>
                <a:cs typeface="Times New Roman" panose="02020603050405020304" pitchFamily="18" charset="0"/>
              </a:rPr>
              <a:t>both equity and debt </a:t>
            </a:r>
            <a:r>
              <a:rPr sz="2400" spc="-5" dirty="0">
                <a:latin typeface="Times New Roman" panose="02020603050405020304" pitchFamily="18" charset="0"/>
                <a:cs typeface="Times New Roman" panose="02020603050405020304" pitchFamily="18" charset="0"/>
              </a:rPr>
              <a:t>markets </a:t>
            </a:r>
            <a:r>
              <a:rPr sz="2400" dirty="0">
                <a:latin typeface="Times New Roman" panose="02020603050405020304" pitchFamily="18" charset="0"/>
                <a:cs typeface="Times New Roman" panose="02020603050405020304" pitchFamily="18" charset="0"/>
              </a:rPr>
              <a:t>(stocks </a:t>
            </a:r>
            <a:r>
              <a:rPr sz="2400" spc="-10" dirty="0">
                <a:latin typeface="Times New Roman" panose="02020603050405020304" pitchFamily="18" charset="0"/>
                <a:cs typeface="Times New Roman" panose="02020603050405020304" pitchFamily="18" charset="0"/>
              </a:rPr>
              <a:t>and</a:t>
            </a:r>
            <a:r>
              <a:rPr sz="240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bonds).</a:t>
            </a:r>
            <a:endParaRPr lang="en-IN" sz="2400" spc="-10" dirty="0">
              <a:latin typeface="Times New Roman" panose="02020603050405020304" pitchFamily="18" charset="0"/>
              <a:cs typeface="Times New Roman" panose="02020603050405020304" pitchFamily="18" charset="0"/>
            </a:endParaRPr>
          </a:p>
          <a:p>
            <a:pPr marL="355600" marR="5080" indent="-342900" algn="just">
              <a:lnSpc>
                <a:spcPct val="150000"/>
              </a:lnSpc>
              <a:spcBef>
                <a:spcPts val="540"/>
              </a:spcBef>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spc="-5" dirty="0">
                <a:latin typeface="Times New Roman" panose="02020603050405020304" pitchFamily="18" charset="0"/>
                <a:cs typeface="Times New Roman" panose="02020603050405020304" pitchFamily="18" charset="0"/>
              </a:rPr>
              <a:t>most common </a:t>
            </a:r>
            <a:r>
              <a:rPr lang="en-IN" sz="2400" spc="-10" dirty="0">
                <a:latin typeface="Times New Roman" panose="02020603050405020304" pitchFamily="18" charset="0"/>
                <a:cs typeface="Times New Roman" panose="02020603050405020304" pitchFamily="18" charset="0"/>
              </a:rPr>
              <a:t>form </a:t>
            </a:r>
            <a:r>
              <a:rPr lang="en-IN" sz="2400" spc="-5" dirty="0">
                <a:latin typeface="Times New Roman" panose="02020603050405020304" pitchFamily="18" charset="0"/>
                <a:cs typeface="Times New Roman" panose="02020603050405020304" pitchFamily="18" charset="0"/>
              </a:rPr>
              <a:t>of </a:t>
            </a:r>
            <a:r>
              <a:rPr lang="en-IN" sz="2400" dirty="0">
                <a:latin typeface="Times New Roman" panose="02020603050405020304" pitchFamily="18" charset="0"/>
                <a:cs typeface="Times New Roman" panose="02020603050405020304" pitchFamily="18" charset="0"/>
              </a:rPr>
              <a:t>a </a:t>
            </a:r>
            <a:r>
              <a:rPr lang="en-IN" sz="2400" spc="-10" dirty="0">
                <a:latin typeface="Times New Roman" panose="02020603050405020304" pitchFamily="18" charset="0"/>
                <a:cs typeface="Times New Roman" panose="02020603050405020304" pitchFamily="18" charset="0"/>
              </a:rPr>
              <a:t>hybrid instrument </a:t>
            </a:r>
            <a:r>
              <a:rPr lang="en-IN" sz="2400" spc="-5" dirty="0">
                <a:latin typeface="Times New Roman" panose="02020603050405020304" pitchFamily="18" charset="0"/>
                <a:cs typeface="Times New Roman" panose="02020603050405020304" pitchFamily="18" charset="0"/>
              </a:rPr>
              <a:t>is the convertible </a:t>
            </a:r>
            <a:r>
              <a:rPr lang="en-IN" sz="2400" spc="-10" dirty="0">
                <a:latin typeface="Times New Roman" panose="02020603050405020304" pitchFamily="18" charset="0"/>
                <a:cs typeface="Times New Roman" panose="02020603050405020304" pitchFamily="18" charset="0"/>
              </a:rPr>
              <a:t>bond,  warrants.</a:t>
            </a:r>
          </a:p>
          <a:p>
            <a:pPr marL="355600" marR="5080" indent="-342900" algn="just">
              <a:lnSpc>
                <a:spcPct val="150000"/>
              </a:lnSpc>
              <a:spcBef>
                <a:spcPts val="540"/>
              </a:spcBef>
              <a:buFont typeface="Arial" panose="020B0604020202020204" pitchFamily="34" charset="0"/>
              <a:buChar char="•"/>
            </a:pPr>
            <a:r>
              <a:rPr lang="en-IN" sz="2400" spc="-5" dirty="0">
                <a:latin typeface="Times New Roman" panose="02020603050405020304" pitchFamily="18" charset="0"/>
                <a:cs typeface="Times New Roman" panose="02020603050405020304" pitchFamily="18" charset="0"/>
              </a:rPr>
              <a:t>This </a:t>
            </a:r>
            <a:r>
              <a:rPr lang="en-IN" sz="2400" spc="-15" dirty="0">
                <a:latin typeface="Times New Roman" panose="02020603050405020304" pitchFamily="18" charset="0"/>
                <a:cs typeface="Times New Roman" panose="02020603050405020304" pitchFamily="18" charset="0"/>
              </a:rPr>
              <a:t>type </a:t>
            </a:r>
            <a:r>
              <a:rPr lang="en-IN" sz="2400" spc="-5" dirty="0">
                <a:latin typeface="Times New Roman" panose="02020603050405020304" pitchFamily="18" charset="0"/>
                <a:cs typeface="Times New Roman" panose="02020603050405020304" pitchFamily="18" charset="0"/>
              </a:rPr>
              <a:t>of security is an issuance of </a:t>
            </a:r>
            <a:r>
              <a:rPr lang="en-IN" sz="2400" spc="-10" dirty="0">
                <a:latin typeface="Times New Roman" panose="02020603050405020304" pitchFamily="18" charset="0"/>
                <a:cs typeface="Times New Roman" panose="02020603050405020304" pitchFamily="18" charset="0"/>
              </a:rPr>
              <a:t>debt </a:t>
            </a:r>
            <a:r>
              <a:rPr lang="en-IN" sz="2400" spc="-5" dirty="0">
                <a:latin typeface="Times New Roman" panose="02020603050405020304" pitchFamily="18" charset="0"/>
                <a:cs typeface="Times New Roman" panose="02020603050405020304" pitchFamily="18" charset="0"/>
              </a:rPr>
              <a:t>that </a:t>
            </a:r>
            <a:r>
              <a:rPr lang="en-IN" sz="2400" spc="-10" dirty="0">
                <a:latin typeface="Times New Roman" panose="02020603050405020304" pitchFamily="18" charset="0"/>
                <a:cs typeface="Times New Roman" panose="02020603050405020304" pitchFamily="18" charset="0"/>
              </a:rPr>
              <a:t>can </a:t>
            </a:r>
            <a:r>
              <a:rPr lang="en-IN" sz="2400" spc="-5" dirty="0">
                <a:latin typeface="Times New Roman" panose="02020603050405020304" pitchFamily="18" charset="0"/>
                <a:cs typeface="Times New Roman" panose="02020603050405020304" pitchFamily="18" charset="0"/>
              </a:rPr>
              <a:t>be </a:t>
            </a:r>
            <a:r>
              <a:rPr lang="en-IN" sz="2400" spc="-10" dirty="0">
                <a:latin typeface="Times New Roman" panose="02020603050405020304" pitchFamily="18" charset="0"/>
                <a:cs typeface="Times New Roman" panose="02020603050405020304" pitchFamily="18" charset="0"/>
              </a:rPr>
              <a:t>converted </a:t>
            </a:r>
            <a:r>
              <a:rPr lang="en-IN" sz="2400" spc="-5" dirty="0">
                <a:latin typeface="Times New Roman" panose="02020603050405020304" pitchFamily="18" charset="0"/>
                <a:cs typeface="Times New Roman" panose="02020603050405020304" pitchFamily="18" charset="0"/>
              </a:rPr>
              <a:t>to </a:t>
            </a:r>
            <a:r>
              <a:rPr lang="en-IN" sz="2400" dirty="0">
                <a:latin typeface="Times New Roman" panose="02020603050405020304" pitchFamily="18" charset="0"/>
                <a:cs typeface="Times New Roman" panose="02020603050405020304" pitchFamily="18" charset="0"/>
              </a:rPr>
              <a:t>a  </a:t>
            </a:r>
            <a:r>
              <a:rPr lang="en-IN" sz="2400" spc="-10" dirty="0">
                <a:latin typeface="Times New Roman" panose="02020603050405020304" pitchFamily="18" charset="0"/>
                <a:cs typeface="Times New Roman" panose="02020603050405020304" pitchFamily="18" charset="0"/>
              </a:rPr>
              <a:t>company's </a:t>
            </a:r>
            <a:r>
              <a:rPr lang="en-IN" sz="2400" spc="-5" dirty="0">
                <a:latin typeface="Times New Roman" panose="02020603050405020304" pitchFamily="18" charset="0"/>
                <a:cs typeface="Times New Roman" panose="02020603050405020304" pitchFamily="18" charset="0"/>
              </a:rPr>
              <a:t>common </a:t>
            </a:r>
            <a:r>
              <a:rPr lang="en-IN" sz="2400" dirty="0">
                <a:latin typeface="Times New Roman" panose="02020603050405020304" pitchFamily="18" charset="0"/>
                <a:cs typeface="Times New Roman" panose="02020603050405020304" pitchFamily="18" charset="0"/>
              </a:rPr>
              <a:t>stock </a:t>
            </a:r>
            <a:r>
              <a:rPr lang="en-IN" sz="2400" spc="-5" dirty="0">
                <a:latin typeface="Times New Roman" panose="02020603050405020304" pitchFamily="18" charset="0"/>
                <a:cs typeface="Times New Roman" panose="02020603050405020304" pitchFamily="18" charset="0"/>
              </a:rPr>
              <a:t>at </a:t>
            </a:r>
            <a:r>
              <a:rPr lang="en-IN" sz="2400" spc="-10" dirty="0">
                <a:latin typeface="Times New Roman" panose="02020603050405020304" pitchFamily="18" charset="0"/>
                <a:cs typeface="Times New Roman" panose="02020603050405020304" pitchFamily="18" charset="0"/>
              </a:rPr>
              <a:t>any </a:t>
            </a:r>
            <a:r>
              <a:rPr lang="en-IN" sz="2400" spc="-5" dirty="0">
                <a:latin typeface="Times New Roman" panose="02020603050405020304" pitchFamily="18" charset="0"/>
                <a:cs typeface="Times New Roman" panose="02020603050405020304" pitchFamily="18" charset="0"/>
              </a:rPr>
              <a:t>given </a:t>
            </a:r>
            <a:r>
              <a:rPr lang="en-IN" sz="2400" spc="-10" dirty="0">
                <a:latin typeface="Times New Roman" panose="02020603050405020304" pitchFamily="18" charset="0"/>
                <a:cs typeface="Times New Roman" panose="02020603050405020304" pitchFamily="18" charset="0"/>
              </a:rPr>
              <a:t>time. </a:t>
            </a:r>
            <a:r>
              <a:rPr lang="en-IN" sz="2400" spc="-5" dirty="0">
                <a:latin typeface="Times New Roman" panose="02020603050405020304" pitchFamily="18" charset="0"/>
                <a:cs typeface="Times New Roman" panose="02020603050405020304" pitchFamily="18" charset="0"/>
              </a:rPr>
              <a:t>So, it is kind of like </a:t>
            </a:r>
            <a:r>
              <a:rPr lang="en-IN" sz="2400" dirty="0">
                <a:latin typeface="Times New Roman" panose="02020603050405020304" pitchFamily="18" charset="0"/>
                <a:cs typeface="Times New Roman" panose="02020603050405020304" pitchFamily="18" charset="0"/>
              </a:rPr>
              <a:t>a </a:t>
            </a:r>
            <a:r>
              <a:rPr lang="en-IN" sz="2400" spc="-10" dirty="0">
                <a:latin typeface="Times New Roman" panose="02020603050405020304" pitchFamily="18" charset="0"/>
                <a:cs typeface="Times New Roman" panose="02020603050405020304" pitchFamily="18" charset="0"/>
              </a:rPr>
              <a:t>call  option.</a:t>
            </a:r>
          </a:p>
        </p:txBody>
      </p:sp>
    </p:spTree>
    <p:extLst>
      <p:ext uri="{BB962C8B-B14F-4D97-AF65-F5344CB8AC3E}">
        <p14:creationId xmlns:p14="http://schemas.microsoft.com/office/powerpoint/2010/main" val="21558254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35902" y="1548882"/>
            <a:ext cx="11548188" cy="370425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4400" b="1" dirty="0">
                <a:solidFill>
                  <a:schemeClr val="tx1"/>
                </a:solidFill>
                <a:latin typeface="Times New Roman" panose="02020603050405020304" pitchFamily="18" charset="0"/>
                <a:cs typeface="Times New Roman" panose="02020603050405020304" pitchFamily="18" charset="0"/>
              </a:rPr>
              <a:t>Introduction to Personal Finance</a:t>
            </a:r>
          </a:p>
        </p:txBody>
      </p:sp>
    </p:spTree>
    <p:extLst>
      <p:ext uri="{BB962C8B-B14F-4D97-AF65-F5344CB8AC3E}">
        <p14:creationId xmlns:p14="http://schemas.microsoft.com/office/powerpoint/2010/main" val="18720918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647008" y="606491"/>
            <a:ext cx="10915996" cy="603690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endParaRPr lang="en-US" sz="2800" b="1" dirty="0">
              <a:solidFill>
                <a:schemeClr val="tx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3200" dirty="0">
                <a:solidFill>
                  <a:schemeClr val="tx1"/>
                </a:solidFill>
              </a:rPr>
              <a:t>Planning is important to ensure a direction for your day-to-day actions.</a:t>
            </a:r>
          </a:p>
          <a:p>
            <a:pPr marL="457200" indent="-457200">
              <a:buFont typeface="Wingdings" panose="05000000000000000000" pitchFamily="2" charset="2"/>
              <a:buChar char="Ø"/>
            </a:pPr>
            <a:r>
              <a:rPr lang="en-US" sz="3200" dirty="0">
                <a:solidFill>
                  <a:schemeClr val="tx1"/>
                </a:solidFill>
                <a:latin typeface="Times New Roman" panose="02020603050405020304" pitchFamily="18" charset="0"/>
                <a:cs typeface="Times New Roman" panose="02020603050405020304" pitchFamily="18" charset="0"/>
              </a:rPr>
              <a:t>Creating a </a:t>
            </a:r>
            <a:r>
              <a:rPr lang="en-US" sz="3200" dirty="0">
                <a:solidFill>
                  <a:srgbClr val="C00000"/>
                </a:solidFill>
                <a:latin typeface="Times New Roman" panose="02020603050405020304" pitchFamily="18" charset="0"/>
                <a:cs typeface="Times New Roman" panose="02020603050405020304" pitchFamily="18" charset="0"/>
              </a:rPr>
              <a:t>personal financial plan </a:t>
            </a:r>
            <a:r>
              <a:rPr lang="en-US" sz="3200" dirty="0">
                <a:solidFill>
                  <a:schemeClr val="tx1"/>
                </a:solidFill>
                <a:latin typeface="Times New Roman" panose="02020603050405020304" pitchFamily="18" charset="0"/>
                <a:cs typeface="Times New Roman" panose="02020603050405020304" pitchFamily="18" charset="0"/>
              </a:rPr>
              <a:t>has six basic steps: </a:t>
            </a:r>
          </a:p>
          <a:p>
            <a:pPr marL="457200" indent="-457200">
              <a:buFont typeface="Wingdings" panose="05000000000000000000" pitchFamily="2" charset="2"/>
              <a:buChar char="Ø"/>
            </a:pPr>
            <a:endParaRPr lang="en-US" sz="3200" dirty="0">
              <a:solidFill>
                <a:schemeClr val="tx1"/>
              </a:solidFill>
              <a:latin typeface="Times New Roman" panose="02020603050405020304" pitchFamily="18" charset="0"/>
              <a:cs typeface="Times New Roman" panose="02020603050405020304" pitchFamily="18" charset="0"/>
            </a:endParaRPr>
          </a:p>
          <a:p>
            <a:pPr marL="514350" indent="-514350">
              <a:buAutoNum type="arabicPeriod"/>
            </a:pPr>
            <a:r>
              <a:rPr lang="en-US" sz="2800" dirty="0">
                <a:solidFill>
                  <a:schemeClr val="tx1"/>
                </a:solidFill>
                <a:latin typeface="Times New Roman" panose="02020603050405020304" pitchFamily="18" charset="0"/>
                <a:cs typeface="Times New Roman" panose="02020603050405020304" pitchFamily="18" charset="0"/>
              </a:rPr>
              <a:t>Determine your current financial situation. </a:t>
            </a:r>
          </a:p>
          <a:p>
            <a:pPr marL="514350" indent="-514350">
              <a:buAutoNum type="arabicPeriod"/>
            </a:pPr>
            <a:r>
              <a:rPr lang="en-US" sz="2800" dirty="0">
                <a:solidFill>
                  <a:schemeClr val="tx1"/>
                </a:solidFill>
                <a:latin typeface="Times New Roman" panose="02020603050405020304" pitchFamily="18" charset="0"/>
                <a:cs typeface="Times New Roman" panose="02020603050405020304" pitchFamily="18" charset="0"/>
              </a:rPr>
              <a:t>Develop your financial goals.</a:t>
            </a:r>
          </a:p>
          <a:p>
            <a:pPr marL="514350" indent="-514350">
              <a:buAutoNum type="arabicPeriod"/>
            </a:pPr>
            <a:r>
              <a:rPr lang="en-US" sz="2800" dirty="0">
                <a:solidFill>
                  <a:schemeClr val="tx1"/>
                </a:solidFill>
                <a:latin typeface="Times New Roman" panose="02020603050405020304" pitchFamily="18" charset="0"/>
                <a:cs typeface="Times New Roman" panose="02020603050405020304" pitchFamily="18" charset="0"/>
              </a:rPr>
              <a:t>Identify alternative courses of action.</a:t>
            </a:r>
          </a:p>
          <a:p>
            <a:pPr marL="514350" indent="-514350">
              <a:buAutoNum type="arabicPeriod"/>
            </a:pPr>
            <a:r>
              <a:rPr lang="en-US" sz="2800" dirty="0">
                <a:solidFill>
                  <a:schemeClr val="tx1"/>
                </a:solidFill>
                <a:latin typeface="Times New Roman" panose="02020603050405020304" pitchFamily="18" charset="0"/>
                <a:cs typeface="Times New Roman" panose="02020603050405020304" pitchFamily="18" charset="0"/>
              </a:rPr>
              <a:t>Evaluate alternatives.</a:t>
            </a:r>
          </a:p>
          <a:p>
            <a:pPr marL="514350" indent="-514350">
              <a:buAutoNum type="arabicPeriod"/>
            </a:pPr>
            <a:r>
              <a:rPr lang="en-US" sz="2800" dirty="0">
                <a:solidFill>
                  <a:schemeClr val="tx1"/>
                </a:solidFill>
                <a:latin typeface="Times New Roman" panose="02020603050405020304" pitchFamily="18" charset="0"/>
                <a:cs typeface="Times New Roman" panose="02020603050405020304" pitchFamily="18" charset="0"/>
              </a:rPr>
              <a:t>Create and implement your financial action plan.</a:t>
            </a:r>
          </a:p>
          <a:p>
            <a:pPr marL="514350" indent="-514350">
              <a:buAutoNum type="arabicPeriod"/>
            </a:pPr>
            <a:r>
              <a:rPr lang="en-US" sz="2800" dirty="0">
                <a:solidFill>
                  <a:schemeClr val="tx1"/>
                </a:solidFill>
                <a:latin typeface="Times New Roman" panose="02020603050405020304" pitchFamily="18" charset="0"/>
                <a:cs typeface="Times New Roman" panose="02020603050405020304" pitchFamily="18" charset="0"/>
              </a:rPr>
              <a:t>Review and revise the financial plan</a:t>
            </a: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 	</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4" name="Rounded Rectangle 3"/>
          <p:cNvSpPr/>
          <p:nvPr/>
        </p:nvSpPr>
        <p:spPr>
          <a:xfrm>
            <a:off x="2118360" y="137893"/>
            <a:ext cx="7973291" cy="7184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chemeClr val="bg1"/>
                </a:solidFill>
                <a:latin typeface="Times New Roman" panose="02020603050405020304" pitchFamily="18" charset="0"/>
                <a:cs typeface="Times New Roman" panose="02020603050405020304" pitchFamily="18" charset="0"/>
              </a:rPr>
              <a:t>Introduction to Personal Finance</a:t>
            </a:r>
          </a:p>
        </p:txBody>
      </p:sp>
      <p:sp>
        <p:nvSpPr>
          <p:cNvPr id="6" name="Rounded Rectangle 5"/>
          <p:cNvSpPr/>
          <p:nvPr/>
        </p:nvSpPr>
        <p:spPr>
          <a:xfrm>
            <a:off x="888203" y="1046325"/>
            <a:ext cx="7378719" cy="48389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b="1" dirty="0">
                <a:solidFill>
                  <a:schemeClr val="tx1"/>
                </a:solidFill>
                <a:latin typeface="Times New Roman" panose="02020603050405020304" pitchFamily="18" charset="0"/>
                <a:cs typeface="Times New Roman" panose="02020603050405020304" pitchFamily="18" charset="0"/>
              </a:rPr>
              <a:t> </a:t>
            </a:r>
            <a:r>
              <a:rPr lang="en-US" sz="3600" dirty="0">
                <a:solidFill>
                  <a:schemeClr val="tx1"/>
                </a:solidFill>
                <a:latin typeface="Times New Roman" panose="02020603050405020304" pitchFamily="18" charset="0"/>
                <a:cs typeface="Times New Roman" panose="02020603050405020304" pitchFamily="18" charset="0"/>
              </a:rPr>
              <a:t>Personal Financial Planning in Action</a:t>
            </a:r>
          </a:p>
        </p:txBody>
      </p:sp>
    </p:spTree>
    <p:extLst>
      <p:ext uri="{BB962C8B-B14F-4D97-AF65-F5344CB8AC3E}">
        <p14:creationId xmlns:p14="http://schemas.microsoft.com/office/powerpoint/2010/main" val="425351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animBg="1"/>
      <p:bldP spid="6"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363893"/>
            <a:ext cx="11056776" cy="6242179"/>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202008" y="580799"/>
            <a:ext cx="8399192" cy="454899"/>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Times New Roman" panose="02020603050405020304" pitchFamily="18" charset="0"/>
                <a:cs typeface="Times New Roman" panose="02020603050405020304" pitchFamily="18" charset="0"/>
              </a:rPr>
              <a:t>1. Determine your current financial situation</a:t>
            </a:r>
            <a:endParaRPr lang="en-US"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1202008" y="1354599"/>
            <a:ext cx="9864098" cy="2246769"/>
          </a:xfrm>
          <a:prstGeom prst="rect">
            <a:avLst/>
          </a:prstGeom>
        </p:spPr>
        <p:txBody>
          <a:bodyPr wrap="square">
            <a:spAutoFit/>
          </a:bodyPr>
          <a:lstStyle/>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first step in creating your personal financial plan is determining your current financial situation.</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Having a thorough understanding of your current financial situation will help you to formulate realistic and well-informed goals.</a:t>
            </a:r>
            <a:endParaRPr lang="en-IN" sz="28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2484015" y="3265797"/>
          <a:ext cx="3450253" cy="2966720"/>
        </p:xfrm>
        <a:graphic>
          <a:graphicData uri="http://schemas.openxmlformats.org/drawingml/2006/table">
            <a:tbl>
              <a:tblPr firstRow="1" bandRow="1">
                <a:tableStyleId>{C4B1156A-380E-4F78-BDF5-A606A8083BF9}</a:tableStyleId>
              </a:tblPr>
              <a:tblGrid>
                <a:gridCol w="2629161">
                  <a:extLst>
                    <a:ext uri="{9D8B030D-6E8A-4147-A177-3AD203B41FA5}">
                      <a16:colId xmlns:a16="http://schemas.microsoft.com/office/drawing/2014/main" val="548629121"/>
                    </a:ext>
                  </a:extLst>
                </a:gridCol>
                <a:gridCol w="821092">
                  <a:extLst>
                    <a:ext uri="{9D8B030D-6E8A-4147-A177-3AD203B41FA5}">
                      <a16:colId xmlns:a16="http://schemas.microsoft.com/office/drawing/2014/main" val="463173878"/>
                    </a:ext>
                  </a:extLst>
                </a:gridCol>
              </a:tblGrid>
              <a:tr h="370840">
                <a:tc gridSpan="2">
                  <a:txBody>
                    <a:bodyPr/>
                    <a:lstStyle/>
                    <a:p>
                      <a:pPr algn="ctr"/>
                      <a:r>
                        <a:rPr lang="en-US" dirty="0"/>
                        <a:t>Assets (What I own)</a:t>
                      </a:r>
                      <a:endParaRPr lang="en-IN" dirty="0"/>
                    </a:p>
                  </a:txBody>
                  <a:tcPr/>
                </a:tc>
                <a:tc hMerge="1">
                  <a:txBody>
                    <a:bodyPr/>
                    <a:lstStyle/>
                    <a:p>
                      <a:endParaRPr lang="en-IN" dirty="0"/>
                    </a:p>
                  </a:txBody>
                  <a:tcPr/>
                </a:tc>
                <a:extLst>
                  <a:ext uri="{0D108BD9-81ED-4DB2-BD59-A6C34878D82A}">
                    <a16:rowId xmlns:a16="http://schemas.microsoft.com/office/drawing/2014/main" val="292356182"/>
                  </a:ext>
                </a:extLst>
              </a:tr>
              <a:tr h="370840">
                <a:tc>
                  <a:txBody>
                    <a:bodyPr/>
                    <a:lstStyle/>
                    <a:p>
                      <a:r>
                        <a:rPr lang="en-IN" dirty="0"/>
                        <a:t>Cash &amp; Cash Equivalents</a:t>
                      </a:r>
                    </a:p>
                  </a:txBody>
                  <a:tcPr/>
                </a:tc>
                <a:tc>
                  <a:txBody>
                    <a:bodyPr/>
                    <a:lstStyle/>
                    <a:p>
                      <a:endParaRPr lang="en-IN"/>
                    </a:p>
                  </a:txBody>
                  <a:tcPr/>
                </a:tc>
                <a:extLst>
                  <a:ext uri="{0D108BD9-81ED-4DB2-BD59-A6C34878D82A}">
                    <a16:rowId xmlns:a16="http://schemas.microsoft.com/office/drawing/2014/main" val="3124084931"/>
                  </a:ext>
                </a:extLst>
              </a:tr>
              <a:tr h="370840">
                <a:tc>
                  <a:txBody>
                    <a:bodyPr/>
                    <a:lstStyle/>
                    <a:p>
                      <a:r>
                        <a:rPr lang="en-US" dirty="0"/>
                        <a:t>1, 2, 3……….</a:t>
                      </a:r>
                      <a:endParaRPr lang="en-IN" dirty="0"/>
                    </a:p>
                  </a:txBody>
                  <a:tcPr/>
                </a:tc>
                <a:tc>
                  <a:txBody>
                    <a:bodyPr/>
                    <a:lstStyle/>
                    <a:p>
                      <a:endParaRPr lang="en-IN"/>
                    </a:p>
                  </a:txBody>
                  <a:tcPr/>
                </a:tc>
                <a:extLst>
                  <a:ext uri="{0D108BD9-81ED-4DB2-BD59-A6C34878D82A}">
                    <a16:rowId xmlns:a16="http://schemas.microsoft.com/office/drawing/2014/main" val="397549509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Personal Property </a:t>
                      </a:r>
                    </a:p>
                  </a:txBody>
                  <a:tcPr/>
                </a:tc>
                <a:tc>
                  <a:txBody>
                    <a:bodyPr/>
                    <a:lstStyle/>
                    <a:p>
                      <a:endParaRPr lang="en-IN"/>
                    </a:p>
                  </a:txBody>
                  <a:tcPr/>
                </a:tc>
                <a:extLst>
                  <a:ext uri="{0D108BD9-81ED-4DB2-BD59-A6C34878D82A}">
                    <a16:rowId xmlns:a16="http://schemas.microsoft.com/office/drawing/2014/main" val="297975098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 2, 3……….</a:t>
                      </a:r>
                      <a:endParaRPr lang="en-IN" dirty="0"/>
                    </a:p>
                  </a:txBody>
                  <a:tcPr/>
                </a:tc>
                <a:tc>
                  <a:txBody>
                    <a:bodyPr/>
                    <a:lstStyle/>
                    <a:p>
                      <a:endParaRPr lang="en-IN"/>
                    </a:p>
                  </a:txBody>
                  <a:tcPr/>
                </a:tc>
                <a:extLst>
                  <a:ext uri="{0D108BD9-81ED-4DB2-BD59-A6C34878D82A}">
                    <a16:rowId xmlns:a16="http://schemas.microsoft.com/office/drawing/2014/main" val="2333486202"/>
                  </a:ext>
                </a:extLst>
              </a:tr>
              <a:tr h="370840">
                <a:tc>
                  <a:txBody>
                    <a:bodyPr/>
                    <a:lstStyle/>
                    <a:p>
                      <a:r>
                        <a:rPr lang="en-IN" dirty="0"/>
                        <a:t>Invested Assets</a:t>
                      </a:r>
                    </a:p>
                  </a:txBody>
                  <a:tcPr/>
                </a:tc>
                <a:tc>
                  <a:txBody>
                    <a:bodyPr/>
                    <a:lstStyle/>
                    <a:p>
                      <a:endParaRPr lang="en-IN"/>
                    </a:p>
                  </a:txBody>
                  <a:tcPr/>
                </a:tc>
                <a:extLst>
                  <a:ext uri="{0D108BD9-81ED-4DB2-BD59-A6C34878D82A}">
                    <a16:rowId xmlns:a16="http://schemas.microsoft.com/office/drawing/2014/main" val="199932243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1, 2, 3……….</a:t>
                      </a:r>
                      <a:endParaRPr lang="en-IN" dirty="0"/>
                    </a:p>
                  </a:txBody>
                  <a:tcPr/>
                </a:tc>
                <a:tc>
                  <a:txBody>
                    <a:bodyPr/>
                    <a:lstStyle/>
                    <a:p>
                      <a:endParaRPr lang="en-IN"/>
                    </a:p>
                  </a:txBody>
                  <a:tcPr/>
                </a:tc>
                <a:extLst>
                  <a:ext uri="{0D108BD9-81ED-4DB2-BD59-A6C34878D82A}">
                    <a16:rowId xmlns:a16="http://schemas.microsoft.com/office/drawing/2014/main" val="936583347"/>
                  </a:ext>
                </a:extLst>
              </a:tr>
              <a:tr h="370840">
                <a:tc>
                  <a:txBody>
                    <a:bodyPr/>
                    <a:lstStyle/>
                    <a:p>
                      <a:pPr algn="r"/>
                      <a:r>
                        <a:rPr lang="en-US" dirty="0"/>
                        <a:t>Total of all Assets</a:t>
                      </a:r>
                      <a:endParaRPr lang="en-IN" dirty="0"/>
                    </a:p>
                  </a:txBody>
                  <a:tcPr/>
                </a:tc>
                <a:tc>
                  <a:txBody>
                    <a:bodyPr/>
                    <a:lstStyle/>
                    <a:p>
                      <a:endParaRPr lang="en-IN" dirty="0"/>
                    </a:p>
                  </a:txBody>
                  <a:tcPr/>
                </a:tc>
                <a:extLst>
                  <a:ext uri="{0D108BD9-81ED-4DB2-BD59-A6C34878D82A}">
                    <a16:rowId xmlns:a16="http://schemas.microsoft.com/office/drawing/2014/main" val="2241808748"/>
                  </a:ext>
                </a:extLst>
              </a:tr>
            </a:tbl>
          </a:graphicData>
        </a:graphic>
      </p:graphicFrame>
      <p:graphicFrame>
        <p:nvGraphicFramePr>
          <p:cNvPr id="7" name="Table 6"/>
          <p:cNvGraphicFramePr>
            <a:graphicFrameLocks noGrp="1"/>
          </p:cNvGraphicFramePr>
          <p:nvPr/>
        </p:nvGraphicFramePr>
        <p:xfrm>
          <a:off x="6047271" y="3265797"/>
          <a:ext cx="3174482" cy="2966720"/>
        </p:xfrm>
        <a:graphic>
          <a:graphicData uri="http://schemas.openxmlformats.org/drawingml/2006/table">
            <a:tbl>
              <a:tblPr firstRow="1" bandRow="1">
                <a:tableStyleId>{22838BEF-8BB2-4498-84A7-C5851F593DF1}</a:tableStyleId>
              </a:tblPr>
              <a:tblGrid>
                <a:gridCol w="2350278">
                  <a:extLst>
                    <a:ext uri="{9D8B030D-6E8A-4147-A177-3AD203B41FA5}">
                      <a16:colId xmlns:a16="http://schemas.microsoft.com/office/drawing/2014/main" val="548629121"/>
                    </a:ext>
                  </a:extLst>
                </a:gridCol>
                <a:gridCol w="824204">
                  <a:extLst>
                    <a:ext uri="{9D8B030D-6E8A-4147-A177-3AD203B41FA5}">
                      <a16:colId xmlns:a16="http://schemas.microsoft.com/office/drawing/2014/main" val="463173878"/>
                    </a:ext>
                  </a:extLst>
                </a:gridCol>
              </a:tblGrid>
              <a:tr h="370840">
                <a:tc gridSpan="2">
                  <a:txBody>
                    <a:bodyPr/>
                    <a:lstStyle/>
                    <a:p>
                      <a:pPr algn="ctr"/>
                      <a:r>
                        <a:rPr lang="en-IN" dirty="0"/>
                        <a:t>Liabilities (What I Owe)</a:t>
                      </a:r>
                    </a:p>
                  </a:txBody>
                  <a:tcPr/>
                </a:tc>
                <a:tc hMerge="1">
                  <a:txBody>
                    <a:bodyPr/>
                    <a:lstStyle/>
                    <a:p>
                      <a:endParaRPr lang="en-IN" dirty="0"/>
                    </a:p>
                  </a:txBody>
                  <a:tcPr/>
                </a:tc>
                <a:extLst>
                  <a:ext uri="{0D108BD9-81ED-4DB2-BD59-A6C34878D82A}">
                    <a16:rowId xmlns:a16="http://schemas.microsoft.com/office/drawing/2014/main" val="292356182"/>
                  </a:ext>
                </a:extLst>
              </a:tr>
              <a:tr h="370840">
                <a:tc>
                  <a:txBody>
                    <a:bodyPr/>
                    <a:lstStyle/>
                    <a:p>
                      <a:r>
                        <a:rPr lang="en-IN" dirty="0"/>
                        <a:t>Current Bills</a:t>
                      </a:r>
                    </a:p>
                  </a:txBody>
                  <a:tcPr/>
                </a:tc>
                <a:tc>
                  <a:txBody>
                    <a:bodyPr/>
                    <a:lstStyle/>
                    <a:p>
                      <a:endParaRPr lang="en-IN"/>
                    </a:p>
                  </a:txBody>
                  <a:tcPr/>
                </a:tc>
                <a:extLst>
                  <a:ext uri="{0D108BD9-81ED-4DB2-BD59-A6C34878D82A}">
                    <a16:rowId xmlns:a16="http://schemas.microsoft.com/office/drawing/2014/main" val="3124084931"/>
                  </a:ext>
                </a:extLst>
              </a:tr>
              <a:tr h="370840">
                <a:tc>
                  <a:txBody>
                    <a:bodyPr/>
                    <a:lstStyle/>
                    <a:p>
                      <a:r>
                        <a:rPr lang="en-US" dirty="0"/>
                        <a:t>1. ……</a:t>
                      </a:r>
                      <a:endParaRPr lang="en-IN" dirty="0"/>
                    </a:p>
                  </a:txBody>
                  <a:tcPr/>
                </a:tc>
                <a:tc>
                  <a:txBody>
                    <a:bodyPr/>
                    <a:lstStyle/>
                    <a:p>
                      <a:endParaRPr lang="en-IN"/>
                    </a:p>
                  </a:txBody>
                  <a:tcPr/>
                </a:tc>
                <a:extLst>
                  <a:ext uri="{0D108BD9-81ED-4DB2-BD59-A6C34878D82A}">
                    <a16:rowId xmlns:a16="http://schemas.microsoft.com/office/drawing/2014/main" val="3975495093"/>
                  </a:ext>
                </a:extLst>
              </a:tr>
              <a:tr h="370840">
                <a:tc>
                  <a:txBody>
                    <a:bodyPr/>
                    <a:lstStyle/>
                    <a:p>
                      <a:r>
                        <a:rPr lang="en-US" dirty="0"/>
                        <a:t>2. ……</a:t>
                      </a:r>
                      <a:endParaRPr lang="en-IN" dirty="0"/>
                    </a:p>
                  </a:txBody>
                  <a:tcPr/>
                </a:tc>
                <a:tc>
                  <a:txBody>
                    <a:bodyPr/>
                    <a:lstStyle/>
                    <a:p>
                      <a:endParaRPr lang="en-IN"/>
                    </a:p>
                  </a:txBody>
                  <a:tcPr/>
                </a:tc>
                <a:extLst>
                  <a:ext uri="{0D108BD9-81ED-4DB2-BD59-A6C34878D82A}">
                    <a16:rowId xmlns:a16="http://schemas.microsoft.com/office/drawing/2014/main" val="2979750985"/>
                  </a:ext>
                </a:extLst>
              </a:tr>
              <a:tr h="370840">
                <a:tc>
                  <a:txBody>
                    <a:bodyPr/>
                    <a:lstStyle/>
                    <a:p>
                      <a:r>
                        <a:rPr lang="en-IN" dirty="0"/>
                        <a:t>Outstanding Debt</a:t>
                      </a:r>
                    </a:p>
                  </a:txBody>
                  <a:tcPr/>
                </a:tc>
                <a:tc>
                  <a:txBody>
                    <a:bodyPr/>
                    <a:lstStyle/>
                    <a:p>
                      <a:endParaRPr lang="en-IN"/>
                    </a:p>
                  </a:txBody>
                  <a:tcPr/>
                </a:tc>
                <a:extLst>
                  <a:ext uri="{0D108BD9-81ED-4DB2-BD59-A6C34878D82A}">
                    <a16:rowId xmlns:a16="http://schemas.microsoft.com/office/drawing/2014/main" val="2333486202"/>
                  </a:ext>
                </a:extLst>
              </a:tr>
              <a:tr h="370840">
                <a:tc>
                  <a:txBody>
                    <a:bodyPr/>
                    <a:lstStyle/>
                    <a:p>
                      <a:r>
                        <a:rPr lang="en-US" dirty="0"/>
                        <a:t>1. …….</a:t>
                      </a:r>
                      <a:endParaRPr lang="en-IN" dirty="0"/>
                    </a:p>
                  </a:txBody>
                  <a:tcPr/>
                </a:tc>
                <a:tc>
                  <a:txBody>
                    <a:bodyPr/>
                    <a:lstStyle/>
                    <a:p>
                      <a:endParaRPr lang="en-IN"/>
                    </a:p>
                  </a:txBody>
                  <a:tcPr/>
                </a:tc>
                <a:extLst>
                  <a:ext uri="{0D108BD9-81ED-4DB2-BD59-A6C34878D82A}">
                    <a16:rowId xmlns:a16="http://schemas.microsoft.com/office/drawing/2014/main" val="1999322430"/>
                  </a:ext>
                </a:extLst>
              </a:tr>
              <a:tr h="370840">
                <a:tc>
                  <a:txBody>
                    <a:bodyPr/>
                    <a:lstStyle/>
                    <a:p>
                      <a:r>
                        <a:rPr lang="en-US" dirty="0"/>
                        <a:t>2. ……</a:t>
                      </a:r>
                      <a:endParaRPr lang="en-IN" dirty="0"/>
                    </a:p>
                  </a:txBody>
                  <a:tcPr/>
                </a:tc>
                <a:tc>
                  <a:txBody>
                    <a:bodyPr/>
                    <a:lstStyle/>
                    <a:p>
                      <a:endParaRPr lang="en-IN"/>
                    </a:p>
                  </a:txBody>
                  <a:tcPr/>
                </a:tc>
                <a:extLst>
                  <a:ext uri="{0D108BD9-81ED-4DB2-BD59-A6C34878D82A}">
                    <a16:rowId xmlns:a16="http://schemas.microsoft.com/office/drawing/2014/main" val="936583347"/>
                  </a:ext>
                </a:extLst>
              </a:tr>
              <a:tr h="370840">
                <a:tc>
                  <a:txBody>
                    <a:bodyPr/>
                    <a:lstStyle/>
                    <a:p>
                      <a:pPr algn="r"/>
                      <a:r>
                        <a:rPr lang="en-US" dirty="0"/>
                        <a:t>Total of all Liabilities</a:t>
                      </a:r>
                      <a:endParaRPr lang="en-IN" dirty="0"/>
                    </a:p>
                  </a:txBody>
                  <a:tcPr/>
                </a:tc>
                <a:tc>
                  <a:txBody>
                    <a:bodyPr/>
                    <a:lstStyle/>
                    <a:p>
                      <a:endParaRPr lang="en-IN" dirty="0"/>
                    </a:p>
                  </a:txBody>
                  <a:tcPr/>
                </a:tc>
                <a:extLst>
                  <a:ext uri="{0D108BD9-81ED-4DB2-BD59-A6C34878D82A}">
                    <a16:rowId xmlns:a16="http://schemas.microsoft.com/office/drawing/2014/main" val="2241808748"/>
                  </a:ext>
                </a:extLst>
              </a:tr>
            </a:tbl>
          </a:graphicData>
        </a:graphic>
      </p:graphicFrame>
      <p:graphicFrame>
        <p:nvGraphicFramePr>
          <p:cNvPr id="9" name="Table 8"/>
          <p:cNvGraphicFramePr>
            <a:graphicFrameLocks noGrp="1"/>
          </p:cNvGraphicFramePr>
          <p:nvPr/>
        </p:nvGraphicFramePr>
        <p:xfrm>
          <a:off x="9334756" y="5119997"/>
          <a:ext cx="2244534" cy="1112520"/>
        </p:xfrm>
        <a:graphic>
          <a:graphicData uri="http://schemas.openxmlformats.org/drawingml/2006/table">
            <a:tbl>
              <a:tblPr firstRow="1" bandRow="1">
                <a:tableStyleId>{8A107856-5554-42FB-B03E-39F5DBC370BA}</a:tableStyleId>
              </a:tblPr>
              <a:tblGrid>
                <a:gridCol w="470804">
                  <a:extLst>
                    <a:ext uri="{9D8B030D-6E8A-4147-A177-3AD203B41FA5}">
                      <a16:colId xmlns:a16="http://schemas.microsoft.com/office/drawing/2014/main" val="1718280072"/>
                    </a:ext>
                  </a:extLst>
                </a:gridCol>
                <a:gridCol w="1773730">
                  <a:extLst>
                    <a:ext uri="{9D8B030D-6E8A-4147-A177-3AD203B41FA5}">
                      <a16:colId xmlns:a16="http://schemas.microsoft.com/office/drawing/2014/main" val="3395141124"/>
                    </a:ext>
                  </a:extLst>
                </a:gridCol>
              </a:tblGrid>
              <a:tr h="370840">
                <a:tc>
                  <a:txBody>
                    <a:bodyPr/>
                    <a:lstStyle/>
                    <a:p>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Total Assets</a:t>
                      </a:r>
                      <a:endParaRPr lang="en-IN" dirty="0"/>
                    </a:p>
                  </a:txBody>
                  <a:tcPr/>
                </a:tc>
                <a:extLst>
                  <a:ext uri="{0D108BD9-81ED-4DB2-BD59-A6C34878D82A}">
                    <a16:rowId xmlns:a16="http://schemas.microsoft.com/office/drawing/2014/main" val="1527551049"/>
                  </a:ext>
                </a:extLst>
              </a:tr>
              <a:tr h="370840">
                <a:tc>
                  <a:txBody>
                    <a:bodyPr/>
                    <a:lstStyle/>
                    <a:p>
                      <a:endParaRPr lang="en-IN"/>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Total  Liabilities</a:t>
                      </a:r>
                      <a:endParaRPr lang="en-IN" b="1" dirty="0"/>
                    </a:p>
                  </a:txBody>
                  <a:tcPr/>
                </a:tc>
                <a:extLst>
                  <a:ext uri="{0D108BD9-81ED-4DB2-BD59-A6C34878D82A}">
                    <a16:rowId xmlns:a16="http://schemas.microsoft.com/office/drawing/2014/main" val="1136264467"/>
                  </a:ext>
                </a:extLst>
              </a:tr>
              <a:tr h="370840">
                <a:tc>
                  <a:txBody>
                    <a:bodyPr/>
                    <a:lstStyle/>
                    <a:p>
                      <a:endParaRPr lang="en-IN"/>
                    </a:p>
                  </a:txBody>
                  <a:tcPr/>
                </a:tc>
                <a:tc>
                  <a:txBody>
                    <a:bodyPr/>
                    <a:lstStyle/>
                    <a:p>
                      <a:r>
                        <a:rPr lang="en-US" dirty="0"/>
                        <a:t>Net Worth</a:t>
                      </a:r>
                      <a:endParaRPr lang="en-IN" dirty="0"/>
                    </a:p>
                  </a:txBody>
                  <a:tcPr/>
                </a:tc>
                <a:extLst>
                  <a:ext uri="{0D108BD9-81ED-4DB2-BD59-A6C34878D82A}">
                    <a16:rowId xmlns:a16="http://schemas.microsoft.com/office/drawing/2014/main" val="4217784926"/>
                  </a:ext>
                </a:extLst>
              </a:tr>
            </a:tbl>
          </a:graphicData>
        </a:graphic>
      </p:graphicFrame>
    </p:spTree>
    <p:extLst>
      <p:ext uri="{BB962C8B-B14F-4D97-AF65-F5344CB8AC3E}">
        <p14:creationId xmlns:p14="http://schemas.microsoft.com/office/powerpoint/2010/main" val="1003768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317241"/>
            <a:ext cx="11056776" cy="6298163"/>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472598" y="437102"/>
            <a:ext cx="6047876"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Times New Roman" panose="02020603050405020304" pitchFamily="18" charset="0"/>
                <a:cs typeface="Times New Roman" panose="02020603050405020304" pitchFamily="18" charset="0"/>
              </a:rPr>
              <a:t>2. Develop your financial goals</a:t>
            </a:r>
            <a:endParaRPr lang="en-US"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1118034" y="1265719"/>
            <a:ext cx="10265313" cy="5078313"/>
          </a:xfrm>
          <a:prstGeom prst="rect">
            <a:avLst/>
          </a:prstGeom>
        </p:spPr>
        <p:txBody>
          <a:bodyPr wrap="square">
            <a:spAutoFit/>
          </a:bodyPr>
          <a:lstStyle/>
          <a:p>
            <a:pPr marL="457200" indent="-457200" algn="just">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Goals should be </a:t>
            </a:r>
            <a:r>
              <a:rPr lang="en-US" sz="2700" dirty="0">
                <a:solidFill>
                  <a:srgbClr val="C00000"/>
                </a:solidFill>
                <a:latin typeface="Times New Roman" panose="02020603050405020304" pitchFamily="18" charset="0"/>
                <a:cs typeface="Times New Roman" panose="02020603050405020304" pitchFamily="18" charset="0"/>
              </a:rPr>
              <a:t>SMART</a:t>
            </a:r>
            <a:r>
              <a:rPr lang="en-US" sz="2700" dirty="0">
                <a:latin typeface="Times New Roman" panose="02020603050405020304" pitchFamily="18" charset="0"/>
                <a:cs typeface="Times New Roman" panose="02020603050405020304" pitchFamily="18" charset="0"/>
              </a:rPr>
              <a:t>, that is </a:t>
            </a:r>
            <a:r>
              <a:rPr lang="en-US" sz="2700" dirty="0">
                <a:solidFill>
                  <a:srgbClr val="0070C0"/>
                </a:solidFill>
                <a:latin typeface="Times New Roman" panose="02020603050405020304" pitchFamily="18" charset="0"/>
                <a:cs typeface="Times New Roman" panose="02020603050405020304" pitchFamily="18" charset="0"/>
              </a:rPr>
              <a:t>specific, measurable, attainable, realistic, and time-based. </a:t>
            </a:r>
          </a:p>
          <a:p>
            <a:pPr marL="457200" indent="-457200" algn="just">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Also develop short-term, intermediate, and long-term goals. Developing each of these types of goals will allow you to achieve successes early in the plan while also keeping your eye toward the future. </a:t>
            </a:r>
          </a:p>
          <a:p>
            <a:pPr marL="457200" indent="-457200" algn="just">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Short-term or intermediate goals may also serve as stepping stones to reach long-term goals.</a:t>
            </a:r>
          </a:p>
          <a:p>
            <a:pPr marL="457200" indent="-457200" algn="just">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When developing your goals, be sure to differentiate between necessities and wants. Establish priorities </a:t>
            </a:r>
          </a:p>
          <a:p>
            <a:pPr marL="457200" indent="-457200" algn="just">
              <a:buFont typeface="Wingdings" panose="05000000000000000000" pitchFamily="2" charset="2"/>
              <a:buChar char="Ø"/>
            </a:pPr>
            <a:r>
              <a:rPr lang="en-US" sz="2700" dirty="0">
                <a:latin typeface="Times New Roman" panose="02020603050405020304" pitchFamily="18" charset="0"/>
                <a:cs typeface="Times New Roman" panose="02020603050405020304" pitchFamily="18" charset="0"/>
              </a:rPr>
              <a:t>Using the worksheet on the next slide, add to, amend or re-record those goals for incorporation into your personal financial plan. </a:t>
            </a:r>
            <a:endParaRPr lang="en-IN"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95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110343" y="634482"/>
            <a:ext cx="1015170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2" name="Table 1"/>
          <p:cNvGraphicFramePr>
            <a:graphicFrameLocks noGrp="1"/>
          </p:cNvGraphicFramePr>
          <p:nvPr/>
        </p:nvGraphicFramePr>
        <p:xfrm>
          <a:off x="2069323" y="876001"/>
          <a:ext cx="8128002" cy="1581060"/>
        </p:xfrm>
        <a:graphic>
          <a:graphicData uri="http://schemas.openxmlformats.org/drawingml/2006/table">
            <a:tbl>
              <a:tblPr firstRow="1" bandRow="1">
                <a:tableStyleId>{5C22544A-7EE6-4342-B048-85BDC9FD1C3A}</a:tableStyleId>
              </a:tblPr>
              <a:tblGrid>
                <a:gridCol w="888481">
                  <a:extLst>
                    <a:ext uri="{9D8B030D-6E8A-4147-A177-3AD203B41FA5}">
                      <a16:colId xmlns:a16="http://schemas.microsoft.com/office/drawing/2014/main" val="828861521"/>
                    </a:ext>
                  </a:extLst>
                </a:gridCol>
                <a:gridCol w="1959429">
                  <a:extLst>
                    <a:ext uri="{9D8B030D-6E8A-4147-A177-3AD203B41FA5}">
                      <a16:colId xmlns:a16="http://schemas.microsoft.com/office/drawing/2014/main" val="2532513238"/>
                    </a:ext>
                  </a:extLst>
                </a:gridCol>
                <a:gridCol w="1216091">
                  <a:extLst>
                    <a:ext uri="{9D8B030D-6E8A-4147-A177-3AD203B41FA5}">
                      <a16:colId xmlns:a16="http://schemas.microsoft.com/office/drawing/2014/main" val="3142981546"/>
                    </a:ext>
                  </a:extLst>
                </a:gridCol>
                <a:gridCol w="1041917">
                  <a:extLst>
                    <a:ext uri="{9D8B030D-6E8A-4147-A177-3AD203B41FA5}">
                      <a16:colId xmlns:a16="http://schemas.microsoft.com/office/drawing/2014/main" val="3199206643"/>
                    </a:ext>
                  </a:extLst>
                </a:gridCol>
                <a:gridCol w="1483567">
                  <a:extLst>
                    <a:ext uri="{9D8B030D-6E8A-4147-A177-3AD203B41FA5}">
                      <a16:colId xmlns:a16="http://schemas.microsoft.com/office/drawing/2014/main" val="4004794835"/>
                    </a:ext>
                  </a:extLst>
                </a:gridCol>
                <a:gridCol w="1538517">
                  <a:extLst>
                    <a:ext uri="{9D8B030D-6E8A-4147-A177-3AD203B41FA5}">
                      <a16:colId xmlns:a16="http://schemas.microsoft.com/office/drawing/2014/main" val="3127830880"/>
                    </a:ext>
                  </a:extLst>
                </a:gridCol>
              </a:tblGrid>
              <a:tr h="468540">
                <a:tc gridSpan="6">
                  <a:txBody>
                    <a:bodyPr/>
                    <a:lstStyle/>
                    <a:p>
                      <a:pPr algn="ctr"/>
                      <a:r>
                        <a:rPr lang="en-US" sz="2400" dirty="0">
                          <a:latin typeface="Times New Roman" panose="02020603050405020304" pitchFamily="18" charset="0"/>
                          <a:cs typeface="Times New Roman" panose="02020603050405020304" pitchFamily="18" charset="0"/>
                        </a:rPr>
                        <a:t>Short-Term Goals (Less than 1 year)</a:t>
                      </a:r>
                      <a:endParaRPr lang="en-IN" sz="2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475291347"/>
                  </a:ext>
                </a:extLst>
              </a:tr>
              <a:tr h="370840">
                <a:tc>
                  <a:txBody>
                    <a:bodyPr/>
                    <a:lstStyle/>
                    <a:p>
                      <a:pPr algn="ctr"/>
                      <a:r>
                        <a:rPr lang="en-US" dirty="0"/>
                        <a:t>Priority</a:t>
                      </a:r>
                      <a:endParaRPr lang="en-IN" dirty="0"/>
                    </a:p>
                  </a:txBody>
                  <a:tcPr/>
                </a:tc>
                <a:tc>
                  <a:txBody>
                    <a:bodyPr/>
                    <a:lstStyle/>
                    <a:p>
                      <a:pPr algn="ctr"/>
                      <a:r>
                        <a:rPr lang="en-US" dirty="0"/>
                        <a:t>Goal</a:t>
                      </a:r>
                      <a:endParaRPr lang="en-IN" dirty="0"/>
                    </a:p>
                  </a:txBody>
                  <a:tcPr/>
                </a:tc>
                <a:tc>
                  <a:txBody>
                    <a:bodyPr/>
                    <a:lstStyle/>
                    <a:p>
                      <a:pPr algn="ctr"/>
                      <a:r>
                        <a:rPr lang="en-US" dirty="0"/>
                        <a:t>Total Cost</a:t>
                      </a:r>
                      <a:endParaRPr lang="en-IN" dirty="0"/>
                    </a:p>
                  </a:txBody>
                  <a:tcPr/>
                </a:tc>
                <a:tc>
                  <a:txBody>
                    <a:bodyPr/>
                    <a:lstStyle/>
                    <a:p>
                      <a:pPr algn="ctr"/>
                      <a:r>
                        <a:rPr lang="en-US" dirty="0"/>
                        <a:t>Duration </a:t>
                      </a:r>
                      <a:endParaRPr lang="en-IN" dirty="0"/>
                    </a:p>
                  </a:txBody>
                  <a:tcPr/>
                </a:tc>
                <a:tc>
                  <a:txBody>
                    <a:bodyPr/>
                    <a:lstStyle/>
                    <a:p>
                      <a:pPr algn="ctr"/>
                      <a:r>
                        <a:rPr lang="en-US" dirty="0"/>
                        <a:t>Monthly cost</a:t>
                      </a:r>
                      <a:endParaRPr lang="en-IN" dirty="0"/>
                    </a:p>
                  </a:txBody>
                  <a:tcPr/>
                </a:tc>
                <a:tc>
                  <a:txBody>
                    <a:bodyPr/>
                    <a:lstStyle/>
                    <a:p>
                      <a:pPr algn="ctr"/>
                      <a:r>
                        <a:rPr lang="en-US" dirty="0"/>
                        <a:t>Target Date</a:t>
                      </a:r>
                      <a:endParaRPr lang="en-IN" dirty="0"/>
                    </a:p>
                  </a:txBody>
                  <a:tcPr/>
                </a:tc>
                <a:extLst>
                  <a:ext uri="{0D108BD9-81ED-4DB2-BD59-A6C34878D82A}">
                    <a16:rowId xmlns:a16="http://schemas.microsoft.com/office/drawing/2014/main" val="3348573813"/>
                  </a:ext>
                </a:extLst>
              </a:tr>
              <a:tr h="37084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42440833"/>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536489870"/>
                  </a:ext>
                </a:extLst>
              </a:tr>
            </a:tbl>
          </a:graphicData>
        </a:graphic>
      </p:graphicFrame>
      <p:graphicFrame>
        <p:nvGraphicFramePr>
          <p:cNvPr id="5" name="Table 4"/>
          <p:cNvGraphicFramePr>
            <a:graphicFrameLocks noGrp="1"/>
          </p:cNvGraphicFramePr>
          <p:nvPr/>
        </p:nvGraphicFramePr>
        <p:xfrm>
          <a:off x="2069323" y="2694453"/>
          <a:ext cx="8128002" cy="1581060"/>
        </p:xfrm>
        <a:graphic>
          <a:graphicData uri="http://schemas.openxmlformats.org/drawingml/2006/table">
            <a:tbl>
              <a:tblPr firstRow="1" bandRow="1">
                <a:tableStyleId>{5C22544A-7EE6-4342-B048-85BDC9FD1C3A}</a:tableStyleId>
              </a:tblPr>
              <a:tblGrid>
                <a:gridCol w="897812">
                  <a:extLst>
                    <a:ext uri="{9D8B030D-6E8A-4147-A177-3AD203B41FA5}">
                      <a16:colId xmlns:a16="http://schemas.microsoft.com/office/drawing/2014/main" val="828861521"/>
                    </a:ext>
                  </a:extLst>
                </a:gridCol>
                <a:gridCol w="1931437">
                  <a:extLst>
                    <a:ext uri="{9D8B030D-6E8A-4147-A177-3AD203B41FA5}">
                      <a16:colId xmlns:a16="http://schemas.microsoft.com/office/drawing/2014/main" val="2532513238"/>
                    </a:ext>
                  </a:extLst>
                </a:gridCol>
                <a:gridCol w="1234752">
                  <a:extLst>
                    <a:ext uri="{9D8B030D-6E8A-4147-A177-3AD203B41FA5}">
                      <a16:colId xmlns:a16="http://schemas.microsoft.com/office/drawing/2014/main" val="3142981546"/>
                    </a:ext>
                  </a:extLst>
                </a:gridCol>
                <a:gridCol w="1051248">
                  <a:extLst>
                    <a:ext uri="{9D8B030D-6E8A-4147-A177-3AD203B41FA5}">
                      <a16:colId xmlns:a16="http://schemas.microsoft.com/office/drawing/2014/main" val="3199206643"/>
                    </a:ext>
                  </a:extLst>
                </a:gridCol>
                <a:gridCol w="1483567">
                  <a:extLst>
                    <a:ext uri="{9D8B030D-6E8A-4147-A177-3AD203B41FA5}">
                      <a16:colId xmlns:a16="http://schemas.microsoft.com/office/drawing/2014/main" val="4004794835"/>
                    </a:ext>
                  </a:extLst>
                </a:gridCol>
                <a:gridCol w="1529186">
                  <a:extLst>
                    <a:ext uri="{9D8B030D-6E8A-4147-A177-3AD203B41FA5}">
                      <a16:colId xmlns:a16="http://schemas.microsoft.com/office/drawing/2014/main" val="3127830880"/>
                    </a:ext>
                  </a:extLst>
                </a:gridCol>
              </a:tblGrid>
              <a:tr h="468540">
                <a:tc gridSpan="6">
                  <a:txBody>
                    <a:bodyPr/>
                    <a:lstStyle/>
                    <a:p>
                      <a:pPr algn="ctr"/>
                      <a:r>
                        <a:rPr lang="en-IN" sz="2400" dirty="0"/>
                        <a:t>Intermediate Goals (1-10 years)</a:t>
                      </a:r>
                      <a:endParaRPr lang="en-IN" sz="2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475291347"/>
                  </a:ext>
                </a:extLst>
              </a:tr>
              <a:tr h="370840">
                <a:tc>
                  <a:txBody>
                    <a:bodyPr/>
                    <a:lstStyle/>
                    <a:p>
                      <a:pPr algn="ctr"/>
                      <a:r>
                        <a:rPr lang="en-US" dirty="0"/>
                        <a:t>Priority</a:t>
                      </a:r>
                      <a:endParaRPr lang="en-IN" dirty="0"/>
                    </a:p>
                  </a:txBody>
                  <a:tcPr/>
                </a:tc>
                <a:tc>
                  <a:txBody>
                    <a:bodyPr/>
                    <a:lstStyle/>
                    <a:p>
                      <a:pPr algn="ctr"/>
                      <a:r>
                        <a:rPr lang="en-US" dirty="0"/>
                        <a:t>Goal</a:t>
                      </a:r>
                      <a:endParaRPr lang="en-IN" dirty="0"/>
                    </a:p>
                  </a:txBody>
                  <a:tcPr/>
                </a:tc>
                <a:tc>
                  <a:txBody>
                    <a:bodyPr/>
                    <a:lstStyle/>
                    <a:p>
                      <a:pPr algn="ctr"/>
                      <a:r>
                        <a:rPr lang="en-US" dirty="0"/>
                        <a:t>Total Cost</a:t>
                      </a:r>
                      <a:endParaRPr lang="en-IN" dirty="0"/>
                    </a:p>
                  </a:txBody>
                  <a:tcPr/>
                </a:tc>
                <a:tc>
                  <a:txBody>
                    <a:bodyPr/>
                    <a:lstStyle/>
                    <a:p>
                      <a:pPr algn="ctr"/>
                      <a:r>
                        <a:rPr lang="en-US" dirty="0"/>
                        <a:t>Duration </a:t>
                      </a:r>
                      <a:endParaRPr lang="en-IN" dirty="0"/>
                    </a:p>
                  </a:txBody>
                  <a:tcPr/>
                </a:tc>
                <a:tc>
                  <a:txBody>
                    <a:bodyPr/>
                    <a:lstStyle/>
                    <a:p>
                      <a:pPr algn="ctr"/>
                      <a:r>
                        <a:rPr lang="en-US" dirty="0"/>
                        <a:t>Monthly cost</a:t>
                      </a:r>
                      <a:endParaRPr lang="en-IN" dirty="0"/>
                    </a:p>
                  </a:txBody>
                  <a:tcPr/>
                </a:tc>
                <a:tc>
                  <a:txBody>
                    <a:bodyPr/>
                    <a:lstStyle/>
                    <a:p>
                      <a:pPr algn="ctr"/>
                      <a:r>
                        <a:rPr lang="en-US" dirty="0"/>
                        <a:t>Target Date</a:t>
                      </a:r>
                      <a:endParaRPr lang="en-IN" dirty="0"/>
                    </a:p>
                  </a:txBody>
                  <a:tcPr/>
                </a:tc>
                <a:extLst>
                  <a:ext uri="{0D108BD9-81ED-4DB2-BD59-A6C34878D82A}">
                    <a16:rowId xmlns:a16="http://schemas.microsoft.com/office/drawing/2014/main" val="3348573813"/>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42440833"/>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536489870"/>
                  </a:ext>
                </a:extLst>
              </a:tr>
            </a:tbl>
          </a:graphicData>
        </a:graphic>
      </p:graphicFrame>
      <p:graphicFrame>
        <p:nvGraphicFramePr>
          <p:cNvPr id="6" name="Table 5"/>
          <p:cNvGraphicFramePr>
            <a:graphicFrameLocks noGrp="1"/>
          </p:cNvGraphicFramePr>
          <p:nvPr/>
        </p:nvGraphicFramePr>
        <p:xfrm>
          <a:off x="2069323" y="4512905"/>
          <a:ext cx="8128002" cy="1581060"/>
        </p:xfrm>
        <a:graphic>
          <a:graphicData uri="http://schemas.openxmlformats.org/drawingml/2006/table">
            <a:tbl>
              <a:tblPr firstRow="1" bandRow="1">
                <a:tableStyleId>{5C22544A-7EE6-4342-B048-85BDC9FD1C3A}</a:tableStyleId>
              </a:tblPr>
              <a:tblGrid>
                <a:gridCol w="897812">
                  <a:extLst>
                    <a:ext uri="{9D8B030D-6E8A-4147-A177-3AD203B41FA5}">
                      <a16:colId xmlns:a16="http://schemas.microsoft.com/office/drawing/2014/main" val="828861521"/>
                    </a:ext>
                  </a:extLst>
                </a:gridCol>
                <a:gridCol w="1922106">
                  <a:extLst>
                    <a:ext uri="{9D8B030D-6E8A-4147-A177-3AD203B41FA5}">
                      <a16:colId xmlns:a16="http://schemas.microsoft.com/office/drawing/2014/main" val="2532513238"/>
                    </a:ext>
                  </a:extLst>
                </a:gridCol>
                <a:gridCol w="1244083">
                  <a:extLst>
                    <a:ext uri="{9D8B030D-6E8A-4147-A177-3AD203B41FA5}">
                      <a16:colId xmlns:a16="http://schemas.microsoft.com/office/drawing/2014/main" val="3142981546"/>
                    </a:ext>
                  </a:extLst>
                </a:gridCol>
                <a:gridCol w="1041917">
                  <a:extLst>
                    <a:ext uri="{9D8B030D-6E8A-4147-A177-3AD203B41FA5}">
                      <a16:colId xmlns:a16="http://schemas.microsoft.com/office/drawing/2014/main" val="3199206643"/>
                    </a:ext>
                  </a:extLst>
                </a:gridCol>
                <a:gridCol w="1483567">
                  <a:extLst>
                    <a:ext uri="{9D8B030D-6E8A-4147-A177-3AD203B41FA5}">
                      <a16:colId xmlns:a16="http://schemas.microsoft.com/office/drawing/2014/main" val="4004794835"/>
                    </a:ext>
                  </a:extLst>
                </a:gridCol>
                <a:gridCol w="1538517">
                  <a:extLst>
                    <a:ext uri="{9D8B030D-6E8A-4147-A177-3AD203B41FA5}">
                      <a16:colId xmlns:a16="http://schemas.microsoft.com/office/drawing/2014/main" val="3127830880"/>
                    </a:ext>
                  </a:extLst>
                </a:gridCol>
              </a:tblGrid>
              <a:tr h="468540">
                <a:tc gridSpan="6">
                  <a:txBody>
                    <a:bodyPr/>
                    <a:lstStyle/>
                    <a:p>
                      <a:pPr algn="ctr"/>
                      <a:r>
                        <a:rPr lang="en-US" sz="2400" dirty="0"/>
                        <a:t>Long-Term Goals (Over 10 years)</a:t>
                      </a:r>
                      <a:endParaRPr lang="en-IN" sz="24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475291347"/>
                  </a:ext>
                </a:extLst>
              </a:tr>
              <a:tr h="370840">
                <a:tc>
                  <a:txBody>
                    <a:bodyPr/>
                    <a:lstStyle/>
                    <a:p>
                      <a:pPr algn="ctr"/>
                      <a:r>
                        <a:rPr lang="en-US" dirty="0"/>
                        <a:t>Priority</a:t>
                      </a:r>
                      <a:endParaRPr lang="en-IN" dirty="0"/>
                    </a:p>
                  </a:txBody>
                  <a:tcPr/>
                </a:tc>
                <a:tc>
                  <a:txBody>
                    <a:bodyPr/>
                    <a:lstStyle/>
                    <a:p>
                      <a:pPr algn="ctr"/>
                      <a:r>
                        <a:rPr lang="en-US" dirty="0"/>
                        <a:t>Goal</a:t>
                      </a:r>
                      <a:endParaRPr lang="en-IN" dirty="0"/>
                    </a:p>
                  </a:txBody>
                  <a:tcPr/>
                </a:tc>
                <a:tc>
                  <a:txBody>
                    <a:bodyPr/>
                    <a:lstStyle/>
                    <a:p>
                      <a:pPr algn="ctr"/>
                      <a:r>
                        <a:rPr lang="en-US" dirty="0"/>
                        <a:t>Total Cost</a:t>
                      </a:r>
                      <a:endParaRPr lang="en-IN" dirty="0"/>
                    </a:p>
                  </a:txBody>
                  <a:tcPr/>
                </a:tc>
                <a:tc>
                  <a:txBody>
                    <a:bodyPr/>
                    <a:lstStyle/>
                    <a:p>
                      <a:pPr algn="ctr"/>
                      <a:r>
                        <a:rPr lang="en-US" dirty="0"/>
                        <a:t>Duration </a:t>
                      </a:r>
                      <a:endParaRPr lang="en-IN" dirty="0"/>
                    </a:p>
                  </a:txBody>
                  <a:tcPr/>
                </a:tc>
                <a:tc>
                  <a:txBody>
                    <a:bodyPr/>
                    <a:lstStyle/>
                    <a:p>
                      <a:pPr algn="ctr"/>
                      <a:r>
                        <a:rPr lang="en-US" dirty="0"/>
                        <a:t>Monthly cost</a:t>
                      </a:r>
                      <a:endParaRPr lang="en-IN" dirty="0"/>
                    </a:p>
                  </a:txBody>
                  <a:tcPr/>
                </a:tc>
                <a:tc>
                  <a:txBody>
                    <a:bodyPr/>
                    <a:lstStyle/>
                    <a:p>
                      <a:pPr algn="ctr"/>
                      <a:r>
                        <a:rPr lang="en-US" dirty="0"/>
                        <a:t>Target Date</a:t>
                      </a:r>
                      <a:endParaRPr lang="en-IN" dirty="0"/>
                    </a:p>
                  </a:txBody>
                  <a:tcPr/>
                </a:tc>
                <a:extLst>
                  <a:ext uri="{0D108BD9-81ED-4DB2-BD59-A6C34878D82A}">
                    <a16:rowId xmlns:a16="http://schemas.microsoft.com/office/drawing/2014/main" val="3348573813"/>
                  </a:ext>
                </a:extLst>
              </a:tr>
              <a:tr h="370840">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42440833"/>
                  </a:ext>
                </a:extLst>
              </a:tr>
              <a:tr h="37084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536489870"/>
                  </a:ext>
                </a:extLst>
              </a:tr>
            </a:tbl>
          </a:graphicData>
        </a:graphic>
      </p:graphicFrame>
      <p:sp>
        <p:nvSpPr>
          <p:cNvPr id="7" name="Rounded Rectangle 6"/>
          <p:cNvSpPr/>
          <p:nvPr/>
        </p:nvSpPr>
        <p:spPr>
          <a:xfrm>
            <a:off x="3779040" y="318756"/>
            <a:ext cx="4814312"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dirty="0">
                <a:solidFill>
                  <a:srgbClr val="0070C0"/>
                </a:solidFill>
                <a:latin typeface="Times New Roman" panose="02020603050405020304" pitchFamily="18" charset="0"/>
                <a:cs typeface="Times New Roman" panose="02020603050405020304" pitchFamily="18" charset="0"/>
              </a:rPr>
              <a:t>Financial Plan Goals Worksheet</a:t>
            </a:r>
            <a:endParaRPr lang="en-US" sz="2800"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4142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151341" y="795404"/>
            <a:ext cx="7423492" cy="445568"/>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Times New Roman" panose="02020603050405020304" pitchFamily="18" charset="0"/>
                <a:cs typeface="Times New Roman" panose="02020603050405020304" pitchFamily="18" charset="0"/>
              </a:rPr>
              <a:t>3. Identify alternative courses of action</a:t>
            </a:r>
            <a:endParaRPr lang="en-US"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1151340" y="1401894"/>
            <a:ext cx="10343973" cy="3970318"/>
          </a:xfrm>
          <a:prstGeom prst="rect">
            <a:avLst/>
          </a:prstGeom>
        </p:spPr>
        <p:txBody>
          <a:bodyPr wrap="square">
            <a:spAutoFit/>
          </a:bodyPr>
          <a:lstStyle/>
          <a:p>
            <a:pPr marL="285750" indent="-285750">
              <a:buFont typeface="Wingdings" panose="05000000000000000000" pitchFamily="2" charset="2"/>
              <a:buChar char="Ø"/>
            </a:pPr>
            <a:r>
              <a:rPr lang="en-US" sz="2800" dirty="0"/>
              <a:t>You will have to devise strategies to help you bridge the gap from where you are today to where you would like to be.</a:t>
            </a:r>
          </a:p>
          <a:p>
            <a:pPr marL="285750" indent="-285750">
              <a:buFont typeface="Wingdings" panose="05000000000000000000" pitchFamily="2" charset="2"/>
              <a:buChar char="Ø"/>
            </a:pPr>
            <a:r>
              <a:rPr lang="en-US" sz="2800" dirty="0"/>
              <a:t>Alternative courses of actions will fall into one of two categories: </a:t>
            </a:r>
          </a:p>
          <a:p>
            <a:r>
              <a:rPr lang="en-US" sz="2800" dirty="0"/>
              <a:t>	</a:t>
            </a:r>
            <a:r>
              <a:rPr lang="en-US" sz="2800" dirty="0">
                <a:solidFill>
                  <a:srgbClr val="FF0000"/>
                </a:solidFill>
              </a:rPr>
              <a:t>Reallocating existing resources or</a:t>
            </a:r>
            <a:r>
              <a:rPr lang="en-US" sz="2800" dirty="0"/>
              <a:t> </a:t>
            </a:r>
            <a:r>
              <a:rPr lang="en-US" sz="2800" dirty="0">
                <a:solidFill>
                  <a:srgbClr val="0070C0"/>
                </a:solidFill>
              </a:rPr>
              <a:t>Generating new ones.</a:t>
            </a:r>
          </a:p>
          <a:p>
            <a:pPr marL="285750" indent="-285750">
              <a:buFont typeface="Wingdings" panose="05000000000000000000" pitchFamily="2" charset="2"/>
              <a:buChar char="Ø"/>
            </a:pPr>
            <a:r>
              <a:rPr lang="en-US" sz="2800" dirty="0">
                <a:solidFill>
                  <a:srgbClr val="FF0000"/>
                </a:solidFill>
              </a:rPr>
              <a:t>Existing resources </a:t>
            </a:r>
            <a:r>
              <a:rPr lang="en-US" sz="2800" dirty="0"/>
              <a:t>can be utilized by earmarking current savings or shifting current allocations as in the example above. </a:t>
            </a:r>
          </a:p>
          <a:p>
            <a:pPr marL="285750" indent="-285750">
              <a:buFont typeface="Wingdings" panose="05000000000000000000" pitchFamily="2" charset="2"/>
              <a:buChar char="Ø"/>
            </a:pPr>
            <a:r>
              <a:rPr lang="en-US" sz="2800" dirty="0">
                <a:solidFill>
                  <a:srgbClr val="0070C0"/>
                </a:solidFill>
              </a:rPr>
              <a:t>Generating new resources </a:t>
            </a:r>
            <a:r>
              <a:rPr lang="en-US" sz="2800" dirty="0"/>
              <a:t>may require changing jobs to improve your wage outlook, taking on additional hours or investing your savings more aggressively to generate higher rates of return.</a:t>
            </a:r>
            <a:endParaRPr lang="en-IN" sz="2800" dirty="0">
              <a:solidFill>
                <a:srgbClr val="0070C0"/>
              </a:solidFill>
            </a:endParaRPr>
          </a:p>
        </p:txBody>
      </p:sp>
    </p:spTree>
    <p:extLst>
      <p:ext uri="{BB962C8B-B14F-4D97-AF65-F5344CB8AC3E}">
        <p14:creationId xmlns:p14="http://schemas.microsoft.com/office/powerpoint/2010/main" val="268222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438539"/>
            <a:ext cx="11056776" cy="6279501"/>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3443277" y="139191"/>
            <a:ext cx="5324105" cy="473560"/>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rgbClr val="0070C0"/>
                </a:solidFill>
                <a:latin typeface="Times New Roman" panose="02020603050405020304" pitchFamily="18" charset="0"/>
                <a:cs typeface="Times New Roman" panose="02020603050405020304" pitchFamily="18" charset="0"/>
              </a:rPr>
              <a:t>Goal Strategies Worksheet</a:t>
            </a:r>
            <a:endParaRPr lang="en-US" sz="3600" dirty="0">
              <a:solidFill>
                <a:srgbClr val="0070C0"/>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2041330" y="633626"/>
          <a:ext cx="8128000" cy="1854200"/>
        </p:xfrm>
        <a:graphic>
          <a:graphicData uri="http://schemas.openxmlformats.org/drawingml/2006/table">
            <a:tbl>
              <a:tblPr firstRow="1" bandRow="1">
                <a:tableStyleId>{8A107856-5554-42FB-B03E-39F5DBC370BA}</a:tableStyleId>
              </a:tblPr>
              <a:tblGrid>
                <a:gridCol w="4064000">
                  <a:extLst>
                    <a:ext uri="{9D8B030D-6E8A-4147-A177-3AD203B41FA5}">
                      <a16:colId xmlns:a16="http://schemas.microsoft.com/office/drawing/2014/main" val="440695683"/>
                    </a:ext>
                  </a:extLst>
                </a:gridCol>
                <a:gridCol w="4064000">
                  <a:extLst>
                    <a:ext uri="{9D8B030D-6E8A-4147-A177-3AD203B41FA5}">
                      <a16:colId xmlns:a16="http://schemas.microsoft.com/office/drawing/2014/main" val="2550982218"/>
                    </a:ext>
                  </a:extLst>
                </a:gridCol>
              </a:tblGrid>
              <a:tr h="370840">
                <a:tc gridSpan="2">
                  <a:txBody>
                    <a:bodyPr/>
                    <a:lstStyle/>
                    <a:p>
                      <a:r>
                        <a:rPr lang="en-IN" dirty="0"/>
                        <a:t>Short-term Goal:</a:t>
                      </a:r>
                    </a:p>
                  </a:txBody>
                  <a:tcPr/>
                </a:tc>
                <a:tc hMerge="1">
                  <a:txBody>
                    <a:bodyPr/>
                    <a:lstStyle/>
                    <a:p>
                      <a:endParaRPr lang="en-IN" dirty="0"/>
                    </a:p>
                  </a:txBody>
                  <a:tcPr/>
                </a:tc>
                <a:extLst>
                  <a:ext uri="{0D108BD9-81ED-4DB2-BD59-A6C34878D82A}">
                    <a16:rowId xmlns:a16="http://schemas.microsoft.com/office/drawing/2014/main" val="1987922020"/>
                  </a:ext>
                </a:extLst>
              </a:tr>
              <a:tr h="370840">
                <a:tc>
                  <a:txBody>
                    <a:bodyPr/>
                    <a:lstStyle/>
                    <a:p>
                      <a:r>
                        <a:rPr lang="en-IN" dirty="0"/>
                        <a:t>Target Date:</a:t>
                      </a:r>
                    </a:p>
                  </a:txBody>
                  <a:tcPr/>
                </a:tc>
                <a:tc>
                  <a:txBody>
                    <a:bodyPr/>
                    <a:lstStyle/>
                    <a:p>
                      <a:r>
                        <a:rPr lang="en-IN" dirty="0"/>
                        <a:t>Monthly Cost: </a:t>
                      </a:r>
                    </a:p>
                  </a:txBody>
                  <a:tcPr/>
                </a:tc>
                <a:extLst>
                  <a:ext uri="{0D108BD9-81ED-4DB2-BD59-A6C34878D82A}">
                    <a16:rowId xmlns:a16="http://schemas.microsoft.com/office/drawing/2014/main" val="2071429502"/>
                  </a:ext>
                </a:extLst>
              </a:tr>
              <a:tr h="370840">
                <a:tc gridSpan="2">
                  <a:txBody>
                    <a:bodyPr/>
                    <a:lstStyle/>
                    <a:p>
                      <a:r>
                        <a:rPr lang="en-IN" dirty="0"/>
                        <a:t>Strategy 1:</a:t>
                      </a:r>
                    </a:p>
                  </a:txBody>
                  <a:tcPr/>
                </a:tc>
                <a:tc hMerge="1">
                  <a:txBody>
                    <a:bodyPr/>
                    <a:lstStyle/>
                    <a:p>
                      <a:endParaRPr lang="en-IN" dirty="0"/>
                    </a:p>
                  </a:txBody>
                  <a:tcPr/>
                </a:tc>
                <a:extLst>
                  <a:ext uri="{0D108BD9-81ED-4DB2-BD59-A6C34878D82A}">
                    <a16:rowId xmlns:a16="http://schemas.microsoft.com/office/drawing/2014/main" val="3969237073"/>
                  </a:ext>
                </a:extLst>
              </a:tr>
              <a:tr h="370840">
                <a:tc gridSpan="2">
                  <a:txBody>
                    <a:bodyPr/>
                    <a:lstStyle/>
                    <a:p>
                      <a:r>
                        <a:rPr lang="en-IN" dirty="0"/>
                        <a:t>Strategy 2:</a:t>
                      </a:r>
                    </a:p>
                  </a:txBody>
                  <a:tcPr/>
                </a:tc>
                <a:tc hMerge="1">
                  <a:txBody>
                    <a:bodyPr/>
                    <a:lstStyle/>
                    <a:p>
                      <a:endParaRPr lang="en-IN" dirty="0"/>
                    </a:p>
                  </a:txBody>
                  <a:tcPr/>
                </a:tc>
                <a:extLst>
                  <a:ext uri="{0D108BD9-81ED-4DB2-BD59-A6C34878D82A}">
                    <a16:rowId xmlns:a16="http://schemas.microsoft.com/office/drawing/2014/main" val="1497866572"/>
                  </a:ext>
                </a:extLst>
              </a:tr>
              <a:tr h="370840">
                <a:tc gridSpan="2">
                  <a:txBody>
                    <a:bodyPr/>
                    <a:lstStyle/>
                    <a:p>
                      <a:r>
                        <a:rPr lang="en-IN" dirty="0"/>
                        <a:t>Strategy 3:</a:t>
                      </a:r>
                    </a:p>
                  </a:txBody>
                  <a:tcPr/>
                </a:tc>
                <a:tc hMerge="1">
                  <a:txBody>
                    <a:bodyPr/>
                    <a:lstStyle/>
                    <a:p>
                      <a:endParaRPr lang="en-IN" dirty="0"/>
                    </a:p>
                  </a:txBody>
                  <a:tcPr/>
                </a:tc>
                <a:extLst>
                  <a:ext uri="{0D108BD9-81ED-4DB2-BD59-A6C34878D82A}">
                    <a16:rowId xmlns:a16="http://schemas.microsoft.com/office/drawing/2014/main" val="1866512276"/>
                  </a:ext>
                </a:extLst>
              </a:tr>
            </a:tbl>
          </a:graphicData>
        </a:graphic>
      </p:graphicFrame>
      <p:graphicFrame>
        <p:nvGraphicFramePr>
          <p:cNvPr id="5" name="Table 4"/>
          <p:cNvGraphicFramePr>
            <a:graphicFrameLocks noGrp="1"/>
          </p:cNvGraphicFramePr>
          <p:nvPr/>
        </p:nvGraphicFramePr>
        <p:xfrm>
          <a:off x="2041329" y="2787174"/>
          <a:ext cx="8128000" cy="1854200"/>
        </p:xfrm>
        <a:graphic>
          <a:graphicData uri="http://schemas.openxmlformats.org/drawingml/2006/table">
            <a:tbl>
              <a:tblPr firstRow="1" bandRow="1">
                <a:tableStyleId>{8A107856-5554-42FB-B03E-39F5DBC370BA}</a:tableStyleId>
              </a:tblPr>
              <a:tblGrid>
                <a:gridCol w="4064000">
                  <a:extLst>
                    <a:ext uri="{9D8B030D-6E8A-4147-A177-3AD203B41FA5}">
                      <a16:colId xmlns:a16="http://schemas.microsoft.com/office/drawing/2014/main" val="440695683"/>
                    </a:ext>
                  </a:extLst>
                </a:gridCol>
                <a:gridCol w="4064000">
                  <a:extLst>
                    <a:ext uri="{9D8B030D-6E8A-4147-A177-3AD203B41FA5}">
                      <a16:colId xmlns:a16="http://schemas.microsoft.com/office/drawing/2014/main" val="2550982218"/>
                    </a:ext>
                  </a:extLst>
                </a:gridCol>
              </a:tblGrid>
              <a:tr h="370840">
                <a:tc gridSpan="2">
                  <a:txBody>
                    <a:bodyPr/>
                    <a:lstStyle/>
                    <a:p>
                      <a:r>
                        <a:rPr lang="en-IN" dirty="0"/>
                        <a:t>Intermediate Goal:</a:t>
                      </a:r>
                    </a:p>
                  </a:txBody>
                  <a:tcPr/>
                </a:tc>
                <a:tc hMerge="1">
                  <a:txBody>
                    <a:bodyPr/>
                    <a:lstStyle/>
                    <a:p>
                      <a:endParaRPr lang="en-IN" dirty="0"/>
                    </a:p>
                  </a:txBody>
                  <a:tcPr/>
                </a:tc>
                <a:extLst>
                  <a:ext uri="{0D108BD9-81ED-4DB2-BD59-A6C34878D82A}">
                    <a16:rowId xmlns:a16="http://schemas.microsoft.com/office/drawing/2014/main" val="1987922020"/>
                  </a:ext>
                </a:extLst>
              </a:tr>
              <a:tr h="370840">
                <a:tc>
                  <a:txBody>
                    <a:bodyPr/>
                    <a:lstStyle/>
                    <a:p>
                      <a:r>
                        <a:rPr lang="en-IN" dirty="0"/>
                        <a:t>Target Date:</a:t>
                      </a:r>
                    </a:p>
                  </a:txBody>
                  <a:tcPr/>
                </a:tc>
                <a:tc>
                  <a:txBody>
                    <a:bodyPr/>
                    <a:lstStyle/>
                    <a:p>
                      <a:r>
                        <a:rPr lang="en-IN" dirty="0"/>
                        <a:t>Monthly Cost: </a:t>
                      </a:r>
                    </a:p>
                  </a:txBody>
                  <a:tcPr/>
                </a:tc>
                <a:extLst>
                  <a:ext uri="{0D108BD9-81ED-4DB2-BD59-A6C34878D82A}">
                    <a16:rowId xmlns:a16="http://schemas.microsoft.com/office/drawing/2014/main" val="2071429502"/>
                  </a:ext>
                </a:extLst>
              </a:tr>
              <a:tr h="370840">
                <a:tc gridSpan="2">
                  <a:txBody>
                    <a:bodyPr/>
                    <a:lstStyle/>
                    <a:p>
                      <a:r>
                        <a:rPr lang="en-IN" dirty="0"/>
                        <a:t>Strategy 1:</a:t>
                      </a:r>
                    </a:p>
                  </a:txBody>
                  <a:tcPr/>
                </a:tc>
                <a:tc hMerge="1">
                  <a:txBody>
                    <a:bodyPr/>
                    <a:lstStyle/>
                    <a:p>
                      <a:endParaRPr lang="en-IN" dirty="0"/>
                    </a:p>
                  </a:txBody>
                  <a:tcPr/>
                </a:tc>
                <a:extLst>
                  <a:ext uri="{0D108BD9-81ED-4DB2-BD59-A6C34878D82A}">
                    <a16:rowId xmlns:a16="http://schemas.microsoft.com/office/drawing/2014/main" val="3969237073"/>
                  </a:ext>
                </a:extLst>
              </a:tr>
              <a:tr h="370840">
                <a:tc gridSpan="2">
                  <a:txBody>
                    <a:bodyPr/>
                    <a:lstStyle/>
                    <a:p>
                      <a:r>
                        <a:rPr lang="en-IN" dirty="0"/>
                        <a:t>Strategy 2:</a:t>
                      </a:r>
                    </a:p>
                  </a:txBody>
                  <a:tcPr/>
                </a:tc>
                <a:tc hMerge="1">
                  <a:txBody>
                    <a:bodyPr/>
                    <a:lstStyle/>
                    <a:p>
                      <a:endParaRPr lang="en-IN" dirty="0"/>
                    </a:p>
                  </a:txBody>
                  <a:tcPr/>
                </a:tc>
                <a:extLst>
                  <a:ext uri="{0D108BD9-81ED-4DB2-BD59-A6C34878D82A}">
                    <a16:rowId xmlns:a16="http://schemas.microsoft.com/office/drawing/2014/main" val="1497866572"/>
                  </a:ext>
                </a:extLst>
              </a:tr>
              <a:tr h="370840">
                <a:tc gridSpan="2">
                  <a:txBody>
                    <a:bodyPr/>
                    <a:lstStyle/>
                    <a:p>
                      <a:r>
                        <a:rPr lang="en-IN" dirty="0"/>
                        <a:t>Strategy 3:</a:t>
                      </a:r>
                    </a:p>
                  </a:txBody>
                  <a:tcPr/>
                </a:tc>
                <a:tc hMerge="1">
                  <a:txBody>
                    <a:bodyPr/>
                    <a:lstStyle/>
                    <a:p>
                      <a:endParaRPr lang="en-IN" dirty="0"/>
                    </a:p>
                  </a:txBody>
                  <a:tcPr/>
                </a:tc>
                <a:extLst>
                  <a:ext uri="{0D108BD9-81ED-4DB2-BD59-A6C34878D82A}">
                    <a16:rowId xmlns:a16="http://schemas.microsoft.com/office/drawing/2014/main" val="1866512276"/>
                  </a:ext>
                </a:extLst>
              </a:tr>
            </a:tbl>
          </a:graphicData>
        </a:graphic>
      </p:graphicFrame>
      <p:graphicFrame>
        <p:nvGraphicFramePr>
          <p:cNvPr id="6" name="Table 5"/>
          <p:cNvGraphicFramePr>
            <a:graphicFrameLocks noGrp="1"/>
          </p:cNvGraphicFramePr>
          <p:nvPr/>
        </p:nvGraphicFramePr>
        <p:xfrm>
          <a:off x="2041329" y="4863840"/>
          <a:ext cx="8128000" cy="1854200"/>
        </p:xfrm>
        <a:graphic>
          <a:graphicData uri="http://schemas.openxmlformats.org/drawingml/2006/table">
            <a:tbl>
              <a:tblPr firstRow="1" bandRow="1">
                <a:tableStyleId>{8A107856-5554-42FB-B03E-39F5DBC370BA}</a:tableStyleId>
              </a:tblPr>
              <a:tblGrid>
                <a:gridCol w="4064000">
                  <a:extLst>
                    <a:ext uri="{9D8B030D-6E8A-4147-A177-3AD203B41FA5}">
                      <a16:colId xmlns:a16="http://schemas.microsoft.com/office/drawing/2014/main" val="440695683"/>
                    </a:ext>
                  </a:extLst>
                </a:gridCol>
                <a:gridCol w="4064000">
                  <a:extLst>
                    <a:ext uri="{9D8B030D-6E8A-4147-A177-3AD203B41FA5}">
                      <a16:colId xmlns:a16="http://schemas.microsoft.com/office/drawing/2014/main" val="2550982218"/>
                    </a:ext>
                  </a:extLst>
                </a:gridCol>
              </a:tblGrid>
              <a:tr h="370840">
                <a:tc gridSpan="2">
                  <a:txBody>
                    <a:bodyPr/>
                    <a:lstStyle/>
                    <a:p>
                      <a:r>
                        <a:rPr lang="en-IN" dirty="0"/>
                        <a:t>Long-term Goal: </a:t>
                      </a:r>
                    </a:p>
                  </a:txBody>
                  <a:tcPr/>
                </a:tc>
                <a:tc hMerge="1">
                  <a:txBody>
                    <a:bodyPr/>
                    <a:lstStyle/>
                    <a:p>
                      <a:endParaRPr lang="en-IN" dirty="0"/>
                    </a:p>
                  </a:txBody>
                  <a:tcPr/>
                </a:tc>
                <a:extLst>
                  <a:ext uri="{0D108BD9-81ED-4DB2-BD59-A6C34878D82A}">
                    <a16:rowId xmlns:a16="http://schemas.microsoft.com/office/drawing/2014/main" val="1987922020"/>
                  </a:ext>
                </a:extLst>
              </a:tr>
              <a:tr h="370840">
                <a:tc>
                  <a:txBody>
                    <a:bodyPr/>
                    <a:lstStyle/>
                    <a:p>
                      <a:r>
                        <a:rPr lang="en-IN" dirty="0"/>
                        <a:t>Target Date:</a:t>
                      </a:r>
                    </a:p>
                  </a:txBody>
                  <a:tcPr/>
                </a:tc>
                <a:tc>
                  <a:txBody>
                    <a:bodyPr/>
                    <a:lstStyle/>
                    <a:p>
                      <a:r>
                        <a:rPr lang="en-IN" dirty="0"/>
                        <a:t>Monthly Cost: </a:t>
                      </a:r>
                    </a:p>
                  </a:txBody>
                  <a:tcPr/>
                </a:tc>
                <a:extLst>
                  <a:ext uri="{0D108BD9-81ED-4DB2-BD59-A6C34878D82A}">
                    <a16:rowId xmlns:a16="http://schemas.microsoft.com/office/drawing/2014/main" val="2071429502"/>
                  </a:ext>
                </a:extLst>
              </a:tr>
              <a:tr h="370840">
                <a:tc gridSpan="2">
                  <a:txBody>
                    <a:bodyPr/>
                    <a:lstStyle/>
                    <a:p>
                      <a:r>
                        <a:rPr lang="en-IN" dirty="0"/>
                        <a:t>Strategy 1:</a:t>
                      </a:r>
                    </a:p>
                  </a:txBody>
                  <a:tcPr/>
                </a:tc>
                <a:tc hMerge="1">
                  <a:txBody>
                    <a:bodyPr/>
                    <a:lstStyle/>
                    <a:p>
                      <a:endParaRPr lang="en-IN" dirty="0"/>
                    </a:p>
                  </a:txBody>
                  <a:tcPr/>
                </a:tc>
                <a:extLst>
                  <a:ext uri="{0D108BD9-81ED-4DB2-BD59-A6C34878D82A}">
                    <a16:rowId xmlns:a16="http://schemas.microsoft.com/office/drawing/2014/main" val="3969237073"/>
                  </a:ext>
                </a:extLst>
              </a:tr>
              <a:tr h="370840">
                <a:tc gridSpan="2">
                  <a:txBody>
                    <a:bodyPr/>
                    <a:lstStyle/>
                    <a:p>
                      <a:r>
                        <a:rPr lang="en-IN" dirty="0"/>
                        <a:t>Strategy 2:</a:t>
                      </a:r>
                    </a:p>
                  </a:txBody>
                  <a:tcPr/>
                </a:tc>
                <a:tc hMerge="1">
                  <a:txBody>
                    <a:bodyPr/>
                    <a:lstStyle/>
                    <a:p>
                      <a:endParaRPr lang="en-IN" dirty="0"/>
                    </a:p>
                  </a:txBody>
                  <a:tcPr/>
                </a:tc>
                <a:extLst>
                  <a:ext uri="{0D108BD9-81ED-4DB2-BD59-A6C34878D82A}">
                    <a16:rowId xmlns:a16="http://schemas.microsoft.com/office/drawing/2014/main" val="1497866572"/>
                  </a:ext>
                </a:extLst>
              </a:tr>
              <a:tr h="370840">
                <a:tc gridSpan="2">
                  <a:txBody>
                    <a:bodyPr/>
                    <a:lstStyle/>
                    <a:p>
                      <a:r>
                        <a:rPr lang="en-IN" dirty="0"/>
                        <a:t>Strategy 3:</a:t>
                      </a:r>
                    </a:p>
                  </a:txBody>
                  <a:tcPr/>
                </a:tc>
                <a:tc hMerge="1">
                  <a:txBody>
                    <a:bodyPr/>
                    <a:lstStyle/>
                    <a:p>
                      <a:endParaRPr lang="en-IN" dirty="0"/>
                    </a:p>
                  </a:txBody>
                  <a:tcPr/>
                </a:tc>
                <a:extLst>
                  <a:ext uri="{0D108BD9-81ED-4DB2-BD59-A6C34878D82A}">
                    <a16:rowId xmlns:a16="http://schemas.microsoft.com/office/drawing/2014/main" val="1866512276"/>
                  </a:ext>
                </a:extLst>
              </a:tr>
            </a:tbl>
          </a:graphicData>
        </a:graphic>
      </p:graphicFrame>
    </p:spTree>
    <p:extLst>
      <p:ext uri="{BB962C8B-B14F-4D97-AF65-F5344CB8AC3E}">
        <p14:creationId xmlns:p14="http://schemas.microsoft.com/office/powerpoint/2010/main" val="335551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132680" y="823396"/>
            <a:ext cx="4512340" cy="473560"/>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Times New Roman" panose="02020603050405020304" pitchFamily="18" charset="0"/>
                <a:cs typeface="Times New Roman" panose="02020603050405020304" pitchFamily="18" charset="0"/>
              </a:rPr>
              <a:t>4. Evaluate alternatives</a:t>
            </a:r>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1132680" y="1553576"/>
            <a:ext cx="10241336" cy="3970318"/>
          </a:xfrm>
          <a:prstGeom prst="rect">
            <a:avLst/>
          </a:prstGeom>
        </p:spPr>
        <p:txBody>
          <a:bodyPr wrap="square">
            <a:spAutoFit/>
          </a:bodyPr>
          <a:lstStyle/>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Once you have given serious thought to the options available that could </a:t>
            </a:r>
            <a:r>
              <a:rPr lang="en-US" sz="2800" dirty="0">
                <a:solidFill>
                  <a:srgbClr val="0070C0"/>
                </a:solidFill>
                <a:latin typeface="Times New Roman" panose="02020603050405020304" pitchFamily="18" charset="0"/>
                <a:cs typeface="Times New Roman" panose="02020603050405020304" pitchFamily="18" charset="0"/>
              </a:rPr>
              <a:t>lead you to your goals</a:t>
            </a:r>
            <a:r>
              <a:rPr lang="en-US" sz="2800" dirty="0">
                <a:latin typeface="Times New Roman" panose="02020603050405020304" pitchFamily="18" charset="0"/>
                <a:cs typeface="Times New Roman" panose="02020603050405020304" pitchFamily="18" charset="0"/>
              </a:rPr>
              <a:t>, you may begin to realize just how many options there are. So, which courses of action should you take to achieve your desired goals? </a:t>
            </a:r>
          </a:p>
          <a:p>
            <a:pPr marL="285750" indent="-285750" algn="just">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The answer is: that depends</a:t>
            </a:r>
          </a:p>
          <a:p>
            <a:pPr marL="285750" indent="-285750" algn="just">
              <a:buFont typeface="Wingdings" panose="05000000000000000000" pitchFamily="2" charset="2"/>
              <a:buChar char="Ø"/>
            </a:pPr>
            <a:r>
              <a:rPr lang="en-US" sz="2800" dirty="0"/>
              <a:t>Before you can select strategies to complete your financial plan, you’ll have to thoroughly evaluate and weigh your options.</a:t>
            </a:r>
          </a:p>
          <a:p>
            <a:pPr marL="285750" indent="-285750" algn="just">
              <a:buFont typeface="Wingdings" panose="05000000000000000000" pitchFamily="2" charset="2"/>
              <a:buChar char="Ø"/>
            </a:pPr>
            <a:r>
              <a:rPr lang="en-US" sz="2800" dirty="0"/>
              <a:t>When assessing your options consider the </a:t>
            </a:r>
            <a:r>
              <a:rPr lang="en-US" sz="2800" dirty="0">
                <a:solidFill>
                  <a:srgbClr val="0070C0"/>
                </a:solidFill>
              </a:rPr>
              <a:t>pros</a:t>
            </a:r>
            <a:r>
              <a:rPr lang="en-US" sz="2800" dirty="0"/>
              <a:t> and </a:t>
            </a:r>
            <a:r>
              <a:rPr lang="en-US" sz="2800" dirty="0">
                <a:solidFill>
                  <a:srgbClr val="0070C0"/>
                </a:solidFill>
              </a:rPr>
              <a:t>cons</a:t>
            </a:r>
            <a:r>
              <a:rPr lang="en-US" sz="2800" dirty="0"/>
              <a:t> of each option.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77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3671101" y="396379"/>
            <a:ext cx="5282116"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chemeClr val="tx1"/>
                </a:solidFill>
              </a:rPr>
              <a:t>Goal:________________</a:t>
            </a:r>
            <a:endParaRPr lang="en-US" sz="3600" dirty="0">
              <a:solidFill>
                <a:schemeClr val="tx1"/>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2248159" y="1587414"/>
          <a:ext cx="8128000" cy="1483360"/>
        </p:xfrm>
        <a:graphic>
          <a:graphicData uri="http://schemas.openxmlformats.org/drawingml/2006/table">
            <a:tbl>
              <a:tblPr firstRow="1" bandRow="1">
                <a:tableStyleId>{C4B1156A-380E-4F78-BDF5-A606A8083BF9}</a:tableStyleId>
              </a:tblPr>
              <a:tblGrid>
                <a:gridCol w="4064000">
                  <a:extLst>
                    <a:ext uri="{9D8B030D-6E8A-4147-A177-3AD203B41FA5}">
                      <a16:colId xmlns:a16="http://schemas.microsoft.com/office/drawing/2014/main" val="1605110449"/>
                    </a:ext>
                  </a:extLst>
                </a:gridCol>
                <a:gridCol w="4064000">
                  <a:extLst>
                    <a:ext uri="{9D8B030D-6E8A-4147-A177-3AD203B41FA5}">
                      <a16:colId xmlns:a16="http://schemas.microsoft.com/office/drawing/2014/main" val="1158414777"/>
                    </a:ext>
                  </a:extLst>
                </a:gridCol>
              </a:tblGrid>
              <a:tr h="370840">
                <a:tc gridSpan="2">
                  <a:txBody>
                    <a:bodyPr/>
                    <a:lstStyle/>
                    <a:p>
                      <a:r>
                        <a:rPr lang="en-IN" dirty="0"/>
                        <a:t>Strategy 1:</a:t>
                      </a:r>
                    </a:p>
                  </a:txBody>
                  <a:tcPr/>
                </a:tc>
                <a:tc hMerge="1">
                  <a:txBody>
                    <a:bodyPr/>
                    <a:lstStyle/>
                    <a:p>
                      <a:endParaRPr lang="en-IN" dirty="0"/>
                    </a:p>
                  </a:txBody>
                  <a:tcPr/>
                </a:tc>
                <a:extLst>
                  <a:ext uri="{0D108BD9-81ED-4DB2-BD59-A6C34878D82A}">
                    <a16:rowId xmlns:a16="http://schemas.microsoft.com/office/drawing/2014/main" val="2269027252"/>
                  </a:ext>
                </a:extLst>
              </a:tr>
              <a:tr h="370840">
                <a:tc>
                  <a:txBody>
                    <a:bodyPr/>
                    <a:lstStyle/>
                    <a:p>
                      <a:pPr algn="ctr"/>
                      <a:r>
                        <a:rPr lang="en-IN" dirty="0"/>
                        <a:t>Pros</a:t>
                      </a:r>
                    </a:p>
                  </a:txBody>
                  <a:tcPr/>
                </a:tc>
                <a:tc>
                  <a:txBody>
                    <a:bodyPr/>
                    <a:lstStyle/>
                    <a:p>
                      <a:pPr algn="ctr"/>
                      <a:r>
                        <a:rPr lang="en-IN" dirty="0"/>
                        <a:t>Cons</a:t>
                      </a:r>
                    </a:p>
                  </a:txBody>
                  <a:tcPr/>
                </a:tc>
                <a:extLst>
                  <a:ext uri="{0D108BD9-81ED-4DB2-BD59-A6C34878D82A}">
                    <a16:rowId xmlns:a16="http://schemas.microsoft.com/office/drawing/2014/main" val="338918774"/>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3474112761"/>
                  </a:ext>
                </a:extLst>
              </a:tr>
              <a:tr h="370840">
                <a:tc>
                  <a:txBody>
                    <a:bodyPr/>
                    <a:lstStyle/>
                    <a:p>
                      <a:endParaRPr lang="en-IN"/>
                    </a:p>
                  </a:txBody>
                  <a:tcPr/>
                </a:tc>
                <a:tc>
                  <a:txBody>
                    <a:bodyPr/>
                    <a:lstStyle/>
                    <a:p>
                      <a:endParaRPr lang="en-IN" dirty="0"/>
                    </a:p>
                  </a:txBody>
                  <a:tcPr/>
                </a:tc>
                <a:extLst>
                  <a:ext uri="{0D108BD9-81ED-4DB2-BD59-A6C34878D82A}">
                    <a16:rowId xmlns:a16="http://schemas.microsoft.com/office/drawing/2014/main" val="820978963"/>
                  </a:ext>
                </a:extLst>
              </a:tr>
            </a:tbl>
          </a:graphicData>
        </a:graphic>
      </p:graphicFrame>
      <p:graphicFrame>
        <p:nvGraphicFramePr>
          <p:cNvPr id="6" name="Table 5"/>
          <p:cNvGraphicFramePr>
            <a:graphicFrameLocks noGrp="1"/>
          </p:cNvGraphicFramePr>
          <p:nvPr/>
        </p:nvGraphicFramePr>
        <p:xfrm>
          <a:off x="2248159" y="4023706"/>
          <a:ext cx="8128000" cy="1483360"/>
        </p:xfrm>
        <a:graphic>
          <a:graphicData uri="http://schemas.openxmlformats.org/drawingml/2006/table">
            <a:tbl>
              <a:tblPr firstRow="1" bandRow="1">
                <a:tableStyleId>{C4B1156A-380E-4F78-BDF5-A606A8083BF9}</a:tableStyleId>
              </a:tblPr>
              <a:tblGrid>
                <a:gridCol w="4064000">
                  <a:extLst>
                    <a:ext uri="{9D8B030D-6E8A-4147-A177-3AD203B41FA5}">
                      <a16:colId xmlns:a16="http://schemas.microsoft.com/office/drawing/2014/main" val="1605110449"/>
                    </a:ext>
                  </a:extLst>
                </a:gridCol>
                <a:gridCol w="4064000">
                  <a:extLst>
                    <a:ext uri="{9D8B030D-6E8A-4147-A177-3AD203B41FA5}">
                      <a16:colId xmlns:a16="http://schemas.microsoft.com/office/drawing/2014/main" val="1158414777"/>
                    </a:ext>
                  </a:extLst>
                </a:gridCol>
              </a:tblGrid>
              <a:tr h="370840">
                <a:tc gridSpan="2">
                  <a:txBody>
                    <a:bodyPr/>
                    <a:lstStyle/>
                    <a:p>
                      <a:r>
                        <a:rPr lang="en-IN" dirty="0"/>
                        <a:t>Strategy 1:</a:t>
                      </a:r>
                    </a:p>
                  </a:txBody>
                  <a:tcPr/>
                </a:tc>
                <a:tc hMerge="1">
                  <a:txBody>
                    <a:bodyPr/>
                    <a:lstStyle/>
                    <a:p>
                      <a:endParaRPr lang="en-IN" dirty="0"/>
                    </a:p>
                  </a:txBody>
                  <a:tcPr/>
                </a:tc>
                <a:extLst>
                  <a:ext uri="{0D108BD9-81ED-4DB2-BD59-A6C34878D82A}">
                    <a16:rowId xmlns:a16="http://schemas.microsoft.com/office/drawing/2014/main" val="2269027252"/>
                  </a:ext>
                </a:extLst>
              </a:tr>
              <a:tr h="370840">
                <a:tc>
                  <a:txBody>
                    <a:bodyPr/>
                    <a:lstStyle/>
                    <a:p>
                      <a:pPr algn="ctr"/>
                      <a:r>
                        <a:rPr lang="en-IN" dirty="0"/>
                        <a:t>Pros</a:t>
                      </a:r>
                    </a:p>
                  </a:txBody>
                  <a:tcPr/>
                </a:tc>
                <a:tc>
                  <a:txBody>
                    <a:bodyPr/>
                    <a:lstStyle/>
                    <a:p>
                      <a:pPr algn="ctr"/>
                      <a:r>
                        <a:rPr lang="en-IN" dirty="0"/>
                        <a:t>Cons</a:t>
                      </a:r>
                    </a:p>
                  </a:txBody>
                  <a:tcPr/>
                </a:tc>
                <a:extLst>
                  <a:ext uri="{0D108BD9-81ED-4DB2-BD59-A6C34878D82A}">
                    <a16:rowId xmlns:a16="http://schemas.microsoft.com/office/drawing/2014/main" val="338918774"/>
                  </a:ext>
                </a:extLst>
              </a:tr>
              <a:tr h="370840">
                <a:tc>
                  <a:txBody>
                    <a:bodyPr/>
                    <a:lstStyle/>
                    <a:p>
                      <a:endParaRPr lang="en-IN"/>
                    </a:p>
                  </a:txBody>
                  <a:tcPr/>
                </a:tc>
                <a:tc>
                  <a:txBody>
                    <a:bodyPr/>
                    <a:lstStyle/>
                    <a:p>
                      <a:endParaRPr lang="en-IN"/>
                    </a:p>
                  </a:txBody>
                  <a:tcPr/>
                </a:tc>
                <a:extLst>
                  <a:ext uri="{0D108BD9-81ED-4DB2-BD59-A6C34878D82A}">
                    <a16:rowId xmlns:a16="http://schemas.microsoft.com/office/drawing/2014/main" val="3474112761"/>
                  </a:ext>
                </a:extLst>
              </a:tr>
              <a:tr h="370840">
                <a:tc>
                  <a:txBody>
                    <a:bodyPr/>
                    <a:lstStyle/>
                    <a:p>
                      <a:endParaRPr lang="en-IN"/>
                    </a:p>
                  </a:txBody>
                  <a:tcPr/>
                </a:tc>
                <a:tc>
                  <a:txBody>
                    <a:bodyPr/>
                    <a:lstStyle/>
                    <a:p>
                      <a:endParaRPr lang="en-IN" dirty="0"/>
                    </a:p>
                  </a:txBody>
                  <a:tcPr/>
                </a:tc>
                <a:extLst>
                  <a:ext uri="{0D108BD9-81ED-4DB2-BD59-A6C34878D82A}">
                    <a16:rowId xmlns:a16="http://schemas.microsoft.com/office/drawing/2014/main" val="820978963"/>
                  </a:ext>
                </a:extLst>
              </a:tr>
            </a:tbl>
          </a:graphicData>
        </a:graphic>
      </p:graphicFrame>
    </p:spTree>
    <p:extLst>
      <p:ext uri="{BB962C8B-B14F-4D97-AF65-F5344CB8AC3E}">
        <p14:creationId xmlns:p14="http://schemas.microsoft.com/office/powerpoint/2010/main" val="3911395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95293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127364" y="823394"/>
            <a:ext cx="9612171"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Times New Roman" panose="02020603050405020304" pitchFamily="18" charset="0"/>
                <a:cs typeface="Times New Roman" panose="02020603050405020304" pitchFamily="18" charset="0"/>
              </a:rPr>
              <a:t>5. Create and implement your financial action plan</a:t>
            </a:r>
            <a:endParaRPr lang="en-US" sz="3600" dirty="0">
              <a:latin typeface="Times New Roman" panose="02020603050405020304" pitchFamily="18" charset="0"/>
              <a:cs typeface="Times New Roman" panose="02020603050405020304" pitchFamily="18" charset="0"/>
            </a:endParaRPr>
          </a:p>
        </p:txBody>
      </p:sp>
      <p:sp>
        <p:nvSpPr>
          <p:cNvPr id="2" name="Rectangle 1"/>
          <p:cNvSpPr/>
          <p:nvPr/>
        </p:nvSpPr>
        <p:spPr>
          <a:xfrm>
            <a:off x="1026367" y="1380639"/>
            <a:ext cx="10571583" cy="4893647"/>
          </a:xfrm>
          <a:prstGeom prst="rect">
            <a:avLst/>
          </a:prstGeom>
        </p:spPr>
        <p:txBody>
          <a:bodyPr wrap="square">
            <a:spAutoFit/>
          </a:bodyPr>
          <a:lstStyle/>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Having identified options for reaching your goals and having weighed each strategy, it’s now easier to look at the cost of your goals in terms of your current situation. </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can help you to prioritize your goals as you consider how much it will cost you to implement each one.</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Finalizing your plan will require you to make decisions as to which goals to pursue and the best courses of action to take.</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Once you’ve gone through the effort of creating your plan, discipline is paramount.</a:t>
            </a:r>
          </a:p>
          <a:p>
            <a:pPr marL="285750" indent="-285750" algn="just">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 conscious about establishing actionable steps you can take to lead you to success when creating your plan. Having concrete steps to take will help you ensure you are doing what you need to do to stay on track to accomplish your goals.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128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127365" y="823394"/>
            <a:ext cx="6253150"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solidFill>
                  <a:schemeClr val="tx1"/>
                </a:solidFill>
                <a:latin typeface="Times New Roman" panose="02020603050405020304" pitchFamily="18" charset="0"/>
                <a:cs typeface="Times New Roman" panose="02020603050405020304" pitchFamily="18" charset="0"/>
              </a:rPr>
              <a:t>6. Review and Revise your Plan</a:t>
            </a:r>
          </a:p>
        </p:txBody>
      </p:sp>
      <p:sp>
        <p:nvSpPr>
          <p:cNvPr id="2" name="Rectangle 1"/>
          <p:cNvSpPr/>
          <p:nvPr/>
        </p:nvSpPr>
        <p:spPr>
          <a:xfrm>
            <a:off x="1127364" y="1659590"/>
            <a:ext cx="10218659" cy="4093428"/>
          </a:xfrm>
          <a:prstGeom prst="rect">
            <a:avLst/>
          </a:prstGeom>
        </p:spPr>
        <p:txBody>
          <a:bodyPr wrap="square">
            <a:spAutoFit/>
          </a:bodyPr>
          <a:lstStyle/>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One fact remains: life happens. For this reason, it is important to review your plan often and revise it as needed. </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Reviewing your financial plan can help you to gauge your progress toward meeting your goals.</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Your financial situation will change from time to time. You may incur unplanned expenses or receive unplanned incomes. These events may require you to change the path you will follow to reach your goal. </a:t>
            </a:r>
          </a:p>
          <a:p>
            <a:pPr marL="285750" indent="-285750"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The fact is your life will change. Your financial plan will have to change too. Be faithful in reevaluating your plan from time to time to ensure your goals haven’t changed and that you are on pace to reach those goals.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774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02637" y="1847462"/>
            <a:ext cx="11971176" cy="291115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6000" dirty="0">
                <a:latin typeface="Times New Roman" panose="02020603050405020304" pitchFamily="18" charset="0"/>
                <a:cs typeface="Times New Roman" panose="02020603050405020304" pitchFamily="18" charset="0"/>
              </a:rPr>
              <a:t>Money Management Skills</a:t>
            </a:r>
          </a:p>
        </p:txBody>
      </p:sp>
    </p:spTree>
    <p:extLst>
      <p:ext uri="{BB962C8B-B14F-4D97-AF65-F5344CB8AC3E}">
        <p14:creationId xmlns:p14="http://schemas.microsoft.com/office/powerpoint/2010/main" val="6035137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37804" y="559837"/>
            <a:ext cx="10915996" cy="569866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Content Placeholder 2"/>
          <p:cNvSpPr>
            <a:spLocks noGrp="1"/>
          </p:cNvSpPr>
          <p:nvPr>
            <p:ph idx="1"/>
          </p:nvPr>
        </p:nvSpPr>
        <p:spPr>
          <a:xfrm>
            <a:off x="838200" y="1321772"/>
            <a:ext cx="10515600" cy="4351338"/>
          </a:xfrm>
        </p:spPr>
        <p:txBody>
          <a:bodyPr>
            <a:normAutofit/>
          </a:bodyPr>
          <a:lstStyle/>
          <a:p>
            <a:pPr lvl="0"/>
            <a:r>
              <a:rPr lang="en-IN" sz="3600" dirty="0">
                <a:latin typeface="Times New Roman" panose="02020603050405020304" pitchFamily="18" charset="0"/>
                <a:cs typeface="Times New Roman" panose="02020603050405020304" pitchFamily="18" charset="0"/>
              </a:rPr>
              <a:t>Set Realistic Financial Goals</a:t>
            </a:r>
          </a:p>
          <a:p>
            <a:pPr lvl="0"/>
            <a:r>
              <a:rPr lang="en-IN" sz="3600" dirty="0">
                <a:latin typeface="Times New Roman" panose="02020603050405020304" pitchFamily="18" charset="0"/>
                <a:cs typeface="Times New Roman" panose="02020603050405020304" pitchFamily="18" charset="0"/>
              </a:rPr>
              <a:t>Create a Personal Budget</a:t>
            </a:r>
          </a:p>
          <a:p>
            <a:pPr lvl="0"/>
            <a:r>
              <a:rPr lang="en-IN" sz="3600" dirty="0">
                <a:latin typeface="Times New Roman" panose="02020603050405020304" pitchFamily="18" charset="0"/>
                <a:cs typeface="Times New Roman" panose="02020603050405020304" pitchFamily="18" charset="0"/>
              </a:rPr>
              <a:t>Limit Credit Card Expenses</a:t>
            </a:r>
          </a:p>
          <a:p>
            <a:pPr lvl="0"/>
            <a:r>
              <a:rPr lang="en-IN" sz="3600" dirty="0">
                <a:latin typeface="Times New Roman" panose="02020603050405020304" pitchFamily="18" charset="0"/>
                <a:cs typeface="Times New Roman" panose="02020603050405020304" pitchFamily="18" charset="0"/>
              </a:rPr>
              <a:t>Contribute to Savings</a:t>
            </a:r>
          </a:p>
          <a:p>
            <a:pPr lvl="0"/>
            <a:r>
              <a:rPr lang="en-IN" sz="3600" dirty="0">
                <a:latin typeface="Times New Roman" panose="02020603050405020304" pitchFamily="18" charset="0"/>
                <a:cs typeface="Times New Roman" panose="02020603050405020304" pitchFamily="18" charset="0"/>
              </a:rPr>
              <a:t>Be Consistent</a:t>
            </a:r>
          </a:p>
          <a:p>
            <a:pPr marL="0" indent="0">
              <a:buNone/>
            </a:pPr>
            <a:endParaRPr lang="en-IN" dirty="0"/>
          </a:p>
        </p:txBody>
      </p:sp>
      <p:sp>
        <p:nvSpPr>
          <p:cNvPr id="5" name="Rounded Rectangle 4"/>
          <p:cNvSpPr/>
          <p:nvPr/>
        </p:nvSpPr>
        <p:spPr>
          <a:xfrm>
            <a:off x="3254744" y="356864"/>
            <a:ext cx="5282116" cy="5572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latin typeface="Times New Roman" panose="02020603050405020304" pitchFamily="18" charset="0"/>
                <a:cs typeface="Times New Roman" panose="02020603050405020304" pitchFamily="18" charset="0"/>
              </a:rPr>
              <a:t>Money Management Skills</a:t>
            </a:r>
          </a:p>
        </p:txBody>
      </p:sp>
    </p:spTree>
    <p:extLst>
      <p:ext uri="{BB962C8B-B14F-4D97-AF65-F5344CB8AC3E}">
        <p14:creationId xmlns:p14="http://schemas.microsoft.com/office/powerpoint/2010/main" val="3868938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72363" y="357296"/>
            <a:ext cx="10915996" cy="6192793"/>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5" name="Rounded Rectangle 4"/>
          <p:cNvSpPr/>
          <p:nvPr/>
        </p:nvSpPr>
        <p:spPr>
          <a:xfrm>
            <a:off x="1392440" y="629898"/>
            <a:ext cx="6109372" cy="39891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IN" sz="3600" dirty="0">
                <a:solidFill>
                  <a:schemeClr val="tx1"/>
                </a:solidFill>
                <a:latin typeface="Times New Roman" panose="02020603050405020304" pitchFamily="18" charset="0"/>
                <a:cs typeface="Times New Roman" panose="02020603050405020304" pitchFamily="18" charset="0"/>
              </a:rPr>
              <a:t>1. Set Realistic Financial Goals</a:t>
            </a:r>
          </a:p>
        </p:txBody>
      </p:sp>
      <p:sp>
        <p:nvSpPr>
          <p:cNvPr id="6" name="Rectangle 5"/>
          <p:cNvSpPr/>
          <p:nvPr/>
        </p:nvSpPr>
        <p:spPr>
          <a:xfrm>
            <a:off x="1183536" y="1447271"/>
            <a:ext cx="4641072" cy="1815882"/>
          </a:xfrm>
          <a:prstGeom prst="rect">
            <a:avLst/>
          </a:prstGeom>
        </p:spPr>
        <p:txBody>
          <a:bodyPr wrap="square">
            <a:spAutoFit/>
          </a:bodyPr>
          <a:lstStyle/>
          <a:p>
            <a:r>
              <a:rPr lang="en-IN" sz="2800" dirty="0">
                <a:latin typeface="Times New Roman" panose="02020603050405020304" pitchFamily="18" charset="0"/>
                <a:cs typeface="Times New Roman" panose="02020603050405020304" pitchFamily="18" charset="0"/>
              </a:rPr>
              <a:t>“knowing where you stand financially and create where you want to be in five, 10, or 25 years in the future”</a:t>
            </a:r>
          </a:p>
        </p:txBody>
      </p:sp>
      <p:pic>
        <p:nvPicPr>
          <p:cNvPr id="7" name="Picture 6" descr="retirement"/>
          <p:cNvPicPr/>
          <p:nvPr/>
        </p:nvPicPr>
        <p:blipFill>
          <a:blip r:embed="rId2">
            <a:extLst>
              <a:ext uri="{28A0092B-C50C-407E-A947-70E740481C1C}">
                <a14:useLocalDpi xmlns:a14="http://schemas.microsoft.com/office/drawing/2010/main" val="0"/>
              </a:ext>
            </a:extLst>
          </a:blip>
          <a:srcRect/>
          <a:stretch>
            <a:fillRect/>
          </a:stretch>
        </p:blipFill>
        <p:spPr bwMode="auto">
          <a:xfrm>
            <a:off x="6964455" y="1110343"/>
            <a:ext cx="3429847" cy="2034073"/>
          </a:xfrm>
          <a:prstGeom prst="rect">
            <a:avLst/>
          </a:prstGeom>
          <a:noFill/>
          <a:ln>
            <a:noFill/>
          </a:ln>
        </p:spPr>
      </p:pic>
      <p:sp>
        <p:nvSpPr>
          <p:cNvPr id="8" name="Rectangle 7"/>
          <p:cNvSpPr/>
          <p:nvPr/>
        </p:nvSpPr>
        <p:spPr>
          <a:xfrm>
            <a:off x="2773369" y="3410207"/>
            <a:ext cx="7191723" cy="2807820"/>
          </a:xfrm>
          <a:prstGeom prst="rect">
            <a:avLst/>
          </a:prstGeom>
        </p:spPr>
        <p:txBody>
          <a:bodyPr wrap="square">
            <a:spAutoFit/>
          </a:bodyPr>
          <a:lstStyle/>
          <a:p>
            <a:pPr algn="just">
              <a:lnSpc>
                <a:spcPct val="107000"/>
              </a:lnSpc>
              <a:spcAft>
                <a:spcPts val="800"/>
              </a:spcAf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People should prioritize simple wins: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Pay off credit card debt</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Cut out unnecessary expenses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Avoid changes to your plan or goals</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Understand your relationship to money</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240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38002" y="238560"/>
            <a:ext cx="10915996" cy="6078264"/>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257993" y="776741"/>
            <a:ext cx="5432056"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chemeClr val="tx1"/>
                </a:solidFill>
                <a:latin typeface="Times New Roman" panose="02020603050405020304" pitchFamily="18" charset="0"/>
                <a:cs typeface="Times New Roman" panose="02020603050405020304" pitchFamily="18" charset="0"/>
              </a:rPr>
              <a:t>2. Create a Personal Budget</a:t>
            </a:r>
          </a:p>
        </p:txBody>
      </p:sp>
      <p:pic>
        <p:nvPicPr>
          <p:cNvPr id="6" name="Picture 5" descr="no financial plan or budget"/>
          <p:cNvPicPr/>
          <p:nvPr/>
        </p:nvPicPr>
        <p:blipFill>
          <a:blip r:embed="rId2">
            <a:extLst>
              <a:ext uri="{28A0092B-C50C-407E-A947-70E740481C1C}">
                <a14:useLocalDpi xmlns:a14="http://schemas.microsoft.com/office/drawing/2010/main" val="0"/>
              </a:ext>
            </a:extLst>
          </a:blip>
          <a:srcRect/>
          <a:stretch>
            <a:fillRect/>
          </a:stretch>
        </p:blipFill>
        <p:spPr bwMode="auto">
          <a:xfrm>
            <a:off x="7406601" y="1055363"/>
            <a:ext cx="3737405" cy="1931728"/>
          </a:xfrm>
          <a:prstGeom prst="rect">
            <a:avLst/>
          </a:prstGeom>
          <a:noFill/>
          <a:ln>
            <a:noFill/>
          </a:ln>
        </p:spPr>
      </p:pic>
      <p:sp>
        <p:nvSpPr>
          <p:cNvPr id="3" name="Rectangle 2"/>
          <p:cNvSpPr/>
          <p:nvPr/>
        </p:nvSpPr>
        <p:spPr>
          <a:xfrm>
            <a:off x="900610" y="1743970"/>
            <a:ext cx="6096000" cy="2858475"/>
          </a:xfrm>
          <a:prstGeom prst="rect">
            <a:avLst/>
          </a:prstGeom>
        </p:spPr>
        <p:txBody>
          <a:bodyPr>
            <a:spAutoFit/>
          </a:bodyPr>
          <a:lstStyle/>
          <a:p>
            <a:pPr marL="457200" indent="-457200" algn="just">
              <a:lnSpc>
                <a:spcPct val="107000"/>
              </a:lnSpc>
              <a:spcAft>
                <a:spcPts val="0"/>
              </a:spcAf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Having a budget is crucial to managing money effectively. </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Budgets keep track of expenses, help keep people out of debt, and help people organize their financial priorities</a:t>
            </a:r>
            <a:r>
              <a:rPr lang="en-IN" dirty="0">
                <a:solidFill>
                  <a:srgbClr val="6A797D"/>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900610" y="4689263"/>
            <a:ext cx="9540345" cy="954107"/>
          </a:xfrm>
          <a:prstGeom prst="rect">
            <a:avLst/>
          </a:prstGeom>
        </p:spPr>
        <p:txBody>
          <a:bodyPr wrap="square">
            <a:spAutoFit/>
          </a:bodyPr>
          <a:lstStyle/>
          <a:p>
            <a:pPr marL="457200" indent="-457200">
              <a:buFont typeface="Wingdings" panose="05000000000000000000" pitchFamily="2" charset="2"/>
              <a:buChar char="Ø"/>
            </a:pPr>
            <a:r>
              <a:rPr lang="en-IN" sz="2800" dirty="0">
                <a:latin typeface="Times New Roman" panose="02020603050405020304" pitchFamily="18" charset="0"/>
                <a:ea typeface="Calibri" panose="020F0502020204030204" pitchFamily="34" charset="0"/>
                <a:cs typeface="Times New Roman" panose="02020603050405020304" pitchFamily="18" charset="0"/>
              </a:rPr>
              <a:t>It is important to note that budgets can change over time. The first budget you create will not be the one you’ll have forever.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489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47333" y="270587"/>
            <a:ext cx="10915996" cy="6018245"/>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174017" y="524815"/>
            <a:ext cx="5879926"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chemeClr val="tx1"/>
                </a:solidFill>
                <a:latin typeface="Times New Roman" panose="02020603050405020304" pitchFamily="18" charset="0"/>
                <a:cs typeface="Times New Roman" panose="02020603050405020304" pitchFamily="18" charset="0"/>
              </a:rPr>
              <a:t>3. Limit Credit Card Expenses</a:t>
            </a:r>
            <a:endParaRPr lang="en-US" sz="3600" dirty="0">
              <a:solidFill>
                <a:schemeClr val="tx1"/>
              </a:solidFill>
              <a:latin typeface="Times New Roman" panose="02020603050405020304" pitchFamily="18" charset="0"/>
              <a:cs typeface="Times New Roman" panose="02020603050405020304" pitchFamily="18" charset="0"/>
            </a:endParaRPr>
          </a:p>
        </p:txBody>
      </p:sp>
      <p:pic>
        <p:nvPicPr>
          <p:cNvPr id="6" name="Picture 5" descr="credit cards "/>
          <p:cNvPicPr/>
          <p:nvPr/>
        </p:nvPicPr>
        <p:blipFill>
          <a:blip r:embed="rId2">
            <a:extLst>
              <a:ext uri="{28A0092B-C50C-407E-A947-70E740481C1C}">
                <a14:useLocalDpi xmlns:a14="http://schemas.microsoft.com/office/drawing/2010/main" val="0"/>
              </a:ext>
            </a:extLst>
          </a:blip>
          <a:srcRect/>
          <a:stretch>
            <a:fillRect/>
          </a:stretch>
        </p:blipFill>
        <p:spPr bwMode="auto">
          <a:xfrm>
            <a:off x="7370537" y="1082059"/>
            <a:ext cx="3341005" cy="1829091"/>
          </a:xfrm>
          <a:prstGeom prst="rect">
            <a:avLst/>
          </a:prstGeom>
          <a:noFill/>
          <a:ln>
            <a:noFill/>
          </a:ln>
        </p:spPr>
      </p:pic>
      <p:sp>
        <p:nvSpPr>
          <p:cNvPr id="3" name="Rectangle 2"/>
          <p:cNvSpPr/>
          <p:nvPr/>
        </p:nvSpPr>
        <p:spPr>
          <a:xfrm>
            <a:off x="1070492" y="1270973"/>
            <a:ext cx="5246332" cy="954107"/>
          </a:xfrm>
          <a:prstGeom prst="rect">
            <a:avLst/>
          </a:prstGeom>
        </p:spPr>
        <p:txBody>
          <a:bodyPr wrap="square">
            <a:spAutoFit/>
          </a:bodyPr>
          <a:lstStyle/>
          <a:p>
            <a:pPr algn="just">
              <a:spcAft>
                <a:spcPts val="0"/>
              </a:spcAft>
            </a:pPr>
            <a:r>
              <a:rPr lang="en-IN" sz="2800" dirty="0">
                <a:latin typeface="Times New Roman" panose="02020603050405020304" pitchFamily="18" charset="0"/>
                <a:ea typeface="Times New Roman" panose="02020603050405020304" pitchFamily="18" charset="0"/>
              </a:rPr>
              <a:t>A simple swipe can do more harm than good</a:t>
            </a:r>
            <a:r>
              <a:rPr lang="en-IN" dirty="0">
                <a:solidFill>
                  <a:srgbClr val="6A797D"/>
                </a:solidFill>
                <a:latin typeface="Times New Roman" panose="02020603050405020304" pitchFamily="18" charset="0"/>
                <a:ea typeface="Times New Roman" panose="02020603050405020304" pitchFamily="18" charset="0"/>
              </a:rPr>
              <a:t>. </a:t>
            </a:r>
            <a:endParaRPr lang="en-IN" dirty="0">
              <a:latin typeface="Times New Roman" panose="02020603050405020304" pitchFamily="18" charset="0"/>
              <a:ea typeface="Times New Roman" panose="02020603050405020304" pitchFamily="18" charset="0"/>
            </a:endParaRPr>
          </a:p>
        </p:txBody>
      </p:sp>
      <p:sp>
        <p:nvSpPr>
          <p:cNvPr id="7" name="Rectangle 6"/>
          <p:cNvSpPr/>
          <p:nvPr/>
        </p:nvSpPr>
        <p:spPr>
          <a:xfrm>
            <a:off x="1070492" y="3936058"/>
            <a:ext cx="9174520" cy="1815882"/>
          </a:xfrm>
          <a:prstGeom prst="rect">
            <a:avLst/>
          </a:prstGeom>
        </p:spPr>
        <p:txBody>
          <a:bodyPr wrap="square">
            <a:spAutoFit/>
          </a:bodyPr>
          <a:lstStyle/>
          <a:p>
            <a:pPr algn="just"/>
            <a:r>
              <a:rPr lang="en-IN" sz="28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Psychology behind credit card spending</a:t>
            </a:r>
            <a:r>
              <a:rPr lang="en-IN" sz="2800" dirty="0">
                <a:latin typeface="Times New Roman" panose="02020603050405020304" pitchFamily="18" charset="0"/>
                <a:ea typeface="Times New Roman" panose="02020603050405020304" pitchFamily="18" charset="0"/>
              </a:rPr>
              <a:t>. Since consumers aren’t spending “real” money, they’re more likely to make use of their </a:t>
            </a:r>
            <a:r>
              <a:rPr lang="en-IN" sz="2800" dirty="0">
                <a:solidFill>
                  <a:srgbClr val="C00000"/>
                </a:solidFill>
                <a:latin typeface="Times New Roman" panose="02020603050405020304" pitchFamily="18" charset="0"/>
                <a:ea typeface="Times New Roman" panose="02020603050405020304" pitchFamily="18" charset="0"/>
              </a:rPr>
              <a:t>plastic cards</a:t>
            </a:r>
            <a:r>
              <a:rPr lang="en-IN" sz="2800" dirty="0">
                <a:latin typeface="Times New Roman" panose="02020603050405020304" pitchFamily="18" charset="0"/>
                <a:ea typeface="Times New Roman" panose="02020603050405020304" pitchFamily="18" charset="0"/>
              </a:rPr>
              <a:t>. The bill that comes at the end of the month is in the back of their minds.</a:t>
            </a:r>
            <a:endParaRPr lang="en-IN" sz="2800" dirty="0"/>
          </a:p>
        </p:txBody>
      </p:sp>
      <p:sp>
        <p:nvSpPr>
          <p:cNvPr id="8" name="Rectangle 7"/>
          <p:cNvSpPr/>
          <p:nvPr/>
        </p:nvSpPr>
        <p:spPr>
          <a:xfrm>
            <a:off x="1070492" y="2342867"/>
            <a:ext cx="5479598" cy="1475404"/>
          </a:xfrm>
          <a:prstGeom prst="rect">
            <a:avLst/>
          </a:prstGeom>
        </p:spPr>
        <p:txBody>
          <a:bodyPr wrap="square">
            <a:spAutoFit/>
          </a:bodyPr>
          <a:lstStyle/>
          <a:p>
            <a:pPr algn="just">
              <a:lnSpc>
                <a:spcPct val="107000"/>
              </a:lnSpc>
              <a:spcAft>
                <a:spcPts val="0"/>
              </a:spcAft>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According to Wallet hub, the average American household has over $7,000 in credit card debt. </a:t>
            </a:r>
            <a:endParaRPr lang="en-IN" sz="28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738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90451" y="207818"/>
            <a:ext cx="11072553" cy="630936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071381" y="459476"/>
            <a:ext cx="4760252"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chemeClr val="tx1"/>
                </a:solidFill>
                <a:latin typeface="Times New Roman" panose="02020603050405020304" pitchFamily="18" charset="0"/>
                <a:cs typeface="Times New Roman" panose="02020603050405020304" pitchFamily="18" charset="0"/>
              </a:rPr>
              <a:t>4. Contribute to Savings</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3" name="Rectangle 2"/>
          <p:cNvSpPr/>
          <p:nvPr/>
        </p:nvSpPr>
        <p:spPr>
          <a:xfrm>
            <a:off x="1087685" y="1660265"/>
            <a:ext cx="9658823" cy="3865161"/>
          </a:xfrm>
          <a:prstGeom prst="rect">
            <a:avLst/>
          </a:prstGeom>
        </p:spPr>
        <p:txBody>
          <a:bodyPr wrap="square">
            <a:spAutoFit/>
          </a:bodyPr>
          <a:lstStyle/>
          <a:p>
            <a:pPr marL="285750" indent="-285750" algn="jus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A </a:t>
            </a:r>
            <a:r>
              <a:rPr lang="en-IN" sz="28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goal</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for expert money managers is to </a:t>
            </a:r>
            <a:r>
              <a:rPr lang="en-IN" sz="28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grow wealth and stability</a:t>
            </a:r>
            <a:r>
              <a:rPr lang="en-IN" sz="2800" dirty="0">
                <a:latin typeface="Times New Roman" panose="02020603050405020304" pitchFamily="18" charset="0"/>
                <a:ea typeface="Times New Roman" panose="02020603050405020304" pitchFamily="18" charset="0"/>
                <a:cs typeface="Times New Roman" panose="02020603050405020304" pitchFamily="18" charset="0"/>
              </a:rPr>
              <a:t> through financial security.</a:t>
            </a:r>
          </a:p>
          <a:p>
            <a:pPr marL="457200" indent="-457200" algn="just">
              <a:lnSpc>
                <a:spcPct val="107000"/>
              </a:lnSpc>
              <a:spcAft>
                <a:spcPts val="800"/>
              </a:spcAf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Experts believe that savings accounts are the best place to start investing and managing money</a:t>
            </a:r>
          </a:p>
          <a:p>
            <a:pPr marL="285750" indent="-285750" algn="just">
              <a:lnSpc>
                <a:spcPct val="107000"/>
              </a:lnSpc>
              <a:spcAft>
                <a:spcPts val="800"/>
              </a:spcAf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A savings account is important because it is the backstop for your financial life.</a:t>
            </a: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lgn="jus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cs typeface="Times New Roman" panose="02020603050405020304" pitchFamily="18" charset="0"/>
              </a:rPr>
              <a:t>Overall, consistent saving allows people to meet their money management goals</a:t>
            </a:r>
            <a:r>
              <a:rPr lang="en-IN" dirty="0">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223715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774440" y="290775"/>
            <a:ext cx="10394303" cy="597006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1369960" y="487494"/>
            <a:ext cx="3388651" cy="538874"/>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chemeClr val="tx1"/>
                </a:solidFill>
                <a:latin typeface="Times New Roman" panose="02020603050405020304" pitchFamily="18" charset="0"/>
                <a:cs typeface="Times New Roman" panose="02020603050405020304" pitchFamily="18" charset="0"/>
              </a:rPr>
              <a:t>5. Be Consistent </a:t>
            </a:r>
            <a:endParaRPr lang="en-US" sz="36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369961" y="1414130"/>
            <a:ext cx="9481541" cy="4401205"/>
          </a:xfrm>
          <a:prstGeom prst="rect">
            <a:avLst/>
          </a:prstGeom>
        </p:spPr>
        <p:txBody>
          <a:bodyPr wrap="square">
            <a:spAutoFit/>
          </a:bodyPr>
          <a:lstStyle/>
          <a:p>
            <a:pPr marL="457200" indent="-457200" algn="jus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rPr>
              <a:t>To put all of your money management skills to use, you must be consistent. </a:t>
            </a:r>
          </a:p>
          <a:p>
            <a:pPr marL="457200" indent="-457200" algn="jus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rPr>
              <a:t>People who have </a:t>
            </a:r>
            <a:r>
              <a:rPr lang="en-IN" sz="2800" dirty="0">
                <a:solidFill>
                  <a:srgbClr val="C00000"/>
                </a:solidFill>
                <a:latin typeface="Times New Roman" panose="02020603050405020304" pitchFamily="18" charset="0"/>
                <a:ea typeface="Times New Roman" panose="02020603050405020304" pitchFamily="18" charset="0"/>
              </a:rPr>
              <a:t>successful saving habits</a:t>
            </a:r>
            <a:r>
              <a:rPr lang="en-IN" sz="2800" dirty="0">
                <a:latin typeface="Times New Roman" panose="02020603050405020304" pitchFamily="18" charset="0"/>
                <a:ea typeface="Times New Roman" panose="02020603050405020304" pitchFamily="18" charset="0"/>
              </a:rPr>
              <a:t> stick to their goals and only change them when life events such as pay raises and career changes occur. </a:t>
            </a:r>
          </a:p>
          <a:p>
            <a:pPr marL="457200" indent="-457200" algn="jus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rPr>
              <a:t>“A financial plan is simply a guide,” Hyde said. “You’re stating where you want to go.”</a:t>
            </a:r>
          </a:p>
          <a:p>
            <a:pPr marL="457200" indent="-457200" algn="just">
              <a:buFont typeface="Wingdings" panose="05000000000000000000" pitchFamily="2" charset="2"/>
              <a:buChar char="Ø"/>
            </a:pPr>
            <a:r>
              <a:rPr lang="en-IN" sz="2800" dirty="0">
                <a:latin typeface="Times New Roman" panose="02020603050405020304" pitchFamily="18" charset="0"/>
                <a:ea typeface="Times New Roman" panose="02020603050405020304" pitchFamily="18" charset="0"/>
              </a:rPr>
              <a:t>Without consistency, it is easy for money management beginners to </a:t>
            </a:r>
            <a:r>
              <a:rPr lang="en-IN" sz="2800" dirty="0">
                <a:solidFill>
                  <a:srgbClr val="C00000"/>
                </a:solidFill>
                <a:latin typeface="Times New Roman" panose="02020603050405020304" pitchFamily="18" charset="0"/>
                <a:ea typeface="Times New Roman" panose="02020603050405020304" pitchFamily="18" charset="0"/>
              </a:rPr>
              <a:t>fall back into old habits</a:t>
            </a:r>
            <a:r>
              <a:rPr lang="en-IN" sz="2800" dirty="0">
                <a:latin typeface="Times New Roman" panose="02020603050405020304" pitchFamily="18" charset="0"/>
                <a:ea typeface="Times New Roman" panose="02020603050405020304" pitchFamily="18" charset="0"/>
              </a:rPr>
              <a:t> or make money mistakes.</a:t>
            </a:r>
          </a:p>
        </p:txBody>
      </p:sp>
    </p:spTree>
    <p:extLst>
      <p:ext uri="{BB962C8B-B14F-4D97-AF65-F5344CB8AC3E}">
        <p14:creationId xmlns:p14="http://schemas.microsoft.com/office/powerpoint/2010/main" val="27820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2216" y="186612"/>
            <a:ext cx="10915996" cy="6522097"/>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Content Placeholder 1"/>
          <p:cNvSpPr>
            <a:spLocks noGrp="1"/>
          </p:cNvSpPr>
          <p:nvPr>
            <p:ph idx="1"/>
          </p:nvPr>
        </p:nvSpPr>
        <p:spPr>
          <a:xfrm>
            <a:off x="1210604" y="1190759"/>
            <a:ext cx="10060776" cy="5256694"/>
          </a:xfrm>
        </p:spPr>
        <p:txBody>
          <a:bodyPr>
            <a:normAutofit fontScale="92500" lnSpcReduction="10000"/>
          </a:bodyPr>
          <a:lstStyle/>
          <a:p>
            <a:pPr marL="0" lvl="0" indent="0">
              <a:buNone/>
            </a:pPr>
            <a:r>
              <a:rPr lang="en-IN" sz="3600" dirty="0">
                <a:solidFill>
                  <a:srgbClr val="0070C0"/>
                </a:solidFill>
                <a:latin typeface="Times New Roman" panose="02020603050405020304" pitchFamily="18" charset="0"/>
                <a:cs typeface="Times New Roman" panose="02020603050405020304" pitchFamily="18" charset="0"/>
              </a:rPr>
              <a:t>1. Delaying on a Financial Plan</a:t>
            </a:r>
          </a:p>
          <a:p>
            <a:pPr marL="0" indent="0" algn="just">
              <a:buNone/>
            </a:pPr>
            <a:r>
              <a:rPr lang="en-IN" dirty="0">
                <a:solidFill>
                  <a:srgbClr val="C00000"/>
                </a:solidFill>
                <a:latin typeface="Times New Roman" panose="02020603050405020304" pitchFamily="18" charset="0"/>
                <a:cs typeface="Times New Roman" panose="02020603050405020304" pitchFamily="18" charset="0"/>
              </a:rPr>
              <a:t>Not having a financial plan </a:t>
            </a:r>
            <a:r>
              <a:rPr lang="en-IN" dirty="0">
                <a:latin typeface="Times New Roman" panose="02020603050405020304" pitchFamily="18" charset="0"/>
                <a:cs typeface="Times New Roman" panose="02020603050405020304" pitchFamily="18" charset="0"/>
              </a:rPr>
              <a:t>leads to bigger financial risks. Without a financial plan, people are more likely </a:t>
            </a:r>
            <a:r>
              <a:rPr lang="en-IN" dirty="0">
                <a:solidFill>
                  <a:srgbClr val="C00000"/>
                </a:solidFill>
                <a:latin typeface="Times New Roman" panose="02020603050405020304" pitchFamily="18" charset="0"/>
                <a:cs typeface="Times New Roman" panose="02020603050405020304" pitchFamily="18" charset="0"/>
              </a:rPr>
              <a:t>to be unprepared</a:t>
            </a:r>
            <a:r>
              <a:rPr lang="en-IN" dirty="0">
                <a:latin typeface="Times New Roman" panose="02020603050405020304" pitchFamily="18" charset="0"/>
                <a:cs typeface="Times New Roman" panose="02020603050405020304" pitchFamily="18" charset="0"/>
              </a:rPr>
              <a:t> for unexpected surprises. </a:t>
            </a:r>
            <a:endParaRPr lang="en-IN" sz="3600" dirty="0">
              <a:latin typeface="Times New Roman" panose="02020603050405020304" pitchFamily="18" charset="0"/>
              <a:cs typeface="Times New Roman" panose="02020603050405020304" pitchFamily="18" charset="0"/>
            </a:endParaRPr>
          </a:p>
          <a:p>
            <a:pPr marL="0" lvl="0" indent="0">
              <a:buNone/>
            </a:pPr>
            <a:r>
              <a:rPr lang="en-IN" sz="3600" dirty="0">
                <a:solidFill>
                  <a:srgbClr val="0070C0"/>
                </a:solidFill>
                <a:latin typeface="Times New Roman" panose="02020603050405020304" pitchFamily="18" charset="0"/>
                <a:cs typeface="Times New Roman" panose="02020603050405020304" pitchFamily="18" charset="0"/>
              </a:rPr>
              <a:t>2. Spending Mindlessly</a:t>
            </a:r>
          </a:p>
          <a:p>
            <a:pPr algn="just"/>
            <a:r>
              <a:rPr lang="en-IN" dirty="0">
                <a:latin typeface="Times New Roman" panose="02020603050405020304" pitchFamily="18" charset="0"/>
                <a:cs typeface="Times New Roman" panose="02020603050405020304" pitchFamily="18" charset="0"/>
              </a:rPr>
              <a:t>Using </a:t>
            </a:r>
            <a:r>
              <a:rPr lang="en-IN" dirty="0">
                <a:solidFill>
                  <a:srgbClr val="C00000"/>
                </a:solidFill>
                <a:latin typeface="Times New Roman" panose="02020603050405020304" pitchFamily="18" charset="0"/>
                <a:cs typeface="Times New Roman" panose="02020603050405020304" pitchFamily="18" charset="0"/>
              </a:rPr>
              <a:t>shiny credit cards </a:t>
            </a:r>
            <a:r>
              <a:rPr lang="en-IN" dirty="0">
                <a:latin typeface="Times New Roman" panose="02020603050405020304" pitchFamily="18" charset="0"/>
                <a:cs typeface="Times New Roman" panose="02020603050405020304" pitchFamily="18" charset="0"/>
              </a:rPr>
              <a:t>for every purchase can lead spenders </a:t>
            </a:r>
            <a:r>
              <a:rPr lang="en-IN" dirty="0">
                <a:solidFill>
                  <a:srgbClr val="C00000"/>
                </a:solidFill>
                <a:latin typeface="Times New Roman" panose="02020603050405020304" pitchFamily="18" charset="0"/>
                <a:cs typeface="Times New Roman" panose="02020603050405020304" pitchFamily="18" charset="0"/>
              </a:rPr>
              <a:t>down a dull path. </a:t>
            </a:r>
          </a:p>
          <a:p>
            <a:pPr algn="just"/>
            <a:r>
              <a:rPr lang="en-IN" dirty="0">
                <a:latin typeface="Times New Roman" panose="02020603050405020304" pitchFamily="18" charset="0"/>
                <a:cs typeface="Times New Roman" panose="02020603050405020304" pitchFamily="18" charset="0"/>
              </a:rPr>
              <a:t>“As long as you have control of your spending daily, you’ll remain confident.”</a:t>
            </a:r>
            <a:endParaRPr lang="en-IN" sz="3600" dirty="0">
              <a:latin typeface="Times New Roman" panose="02020603050405020304" pitchFamily="18" charset="0"/>
              <a:cs typeface="Times New Roman" panose="02020603050405020304" pitchFamily="18" charset="0"/>
            </a:endParaRPr>
          </a:p>
          <a:p>
            <a:pPr marL="0" lvl="0" indent="0">
              <a:buNone/>
            </a:pPr>
            <a:r>
              <a:rPr lang="en-IN" sz="3600" dirty="0">
                <a:solidFill>
                  <a:srgbClr val="0070C0"/>
                </a:solidFill>
                <a:latin typeface="Times New Roman" panose="02020603050405020304" pitchFamily="18" charset="0"/>
                <a:cs typeface="Times New Roman" panose="02020603050405020304" pitchFamily="18" charset="0"/>
              </a:rPr>
              <a:t>3. Letting Payments Pile Up</a:t>
            </a:r>
          </a:p>
          <a:p>
            <a:pPr marL="0" indent="0" algn="just">
              <a:buNone/>
            </a:pPr>
            <a:r>
              <a:rPr lang="en-IN" dirty="0">
                <a:latin typeface="Times New Roman" panose="02020603050405020304" pitchFamily="18" charset="0"/>
                <a:cs typeface="Times New Roman" panose="02020603050405020304" pitchFamily="18" charset="0"/>
              </a:rPr>
              <a:t>If you let </a:t>
            </a:r>
            <a:r>
              <a:rPr lang="en-IN" dirty="0">
                <a:solidFill>
                  <a:srgbClr val="C00000"/>
                </a:solidFill>
                <a:latin typeface="Times New Roman" panose="02020603050405020304" pitchFamily="18" charset="0"/>
                <a:cs typeface="Times New Roman" panose="02020603050405020304" pitchFamily="18" charset="0"/>
              </a:rPr>
              <a:t>payments pile up</a:t>
            </a:r>
            <a:r>
              <a:rPr lang="en-IN" dirty="0">
                <a:latin typeface="Times New Roman" panose="02020603050405020304" pitchFamily="18" charset="0"/>
                <a:cs typeface="Times New Roman" panose="02020603050405020304" pitchFamily="18" charset="0"/>
              </a:rPr>
              <a:t>, it only hurts in the long run. But the coronavirus pandemic has made it more difficult for people to stay on top of their payments.</a:t>
            </a:r>
          </a:p>
          <a:p>
            <a:pPr marL="0" lvl="0" indent="0">
              <a:buNone/>
            </a:pPr>
            <a:endParaRPr lang="en-IN" sz="3600" dirty="0">
              <a:solidFill>
                <a:srgbClr val="0070C0"/>
              </a:solidFill>
              <a:latin typeface="Times New Roman" panose="02020603050405020304" pitchFamily="18" charset="0"/>
              <a:cs typeface="Times New Roman" panose="02020603050405020304" pitchFamily="18" charset="0"/>
            </a:endParaRPr>
          </a:p>
          <a:p>
            <a:pPr marL="0" lvl="0" indent="0">
              <a:buNone/>
            </a:pPr>
            <a:endParaRPr lang="en-IN" sz="3600" dirty="0">
              <a:solidFill>
                <a:srgbClr val="0070C0"/>
              </a:solidFill>
              <a:latin typeface="Times New Roman" panose="02020603050405020304" pitchFamily="18" charset="0"/>
              <a:cs typeface="Times New Roman" panose="02020603050405020304" pitchFamily="18" charset="0"/>
            </a:endParaRPr>
          </a:p>
          <a:p>
            <a:endParaRPr lang="en-IN" dirty="0"/>
          </a:p>
        </p:txBody>
      </p:sp>
      <p:sp>
        <p:nvSpPr>
          <p:cNvPr id="5" name="Rounded Rectangle 4"/>
          <p:cNvSpPr/>
          <p:nvPr/>
        </p:nvSpPr>
        <p:spPr>
          <a:xfrm>
            <a:off x="1210604" y="410063"/>
            <a:ext cx="6971607"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3600" dirty="0">
                <a:solidFill>
                  <a:schemeClr val="tx1"/>
                </a:solidFill>
                <a:latin typeface="Times New Roman" panose="02020603050405020304" pitchFamily="18" charset="0"/>
                <a:cs typeface="Times New Roman" panose="02020603050405020304" pitchFamily="18" charset="0"/>
              </a:rPr>
              <a:t>Common Money Mistakes to Avoid</a:t>
            </a:r>
          </a:p>
        </p:txBody>
      </p:sp>
    </p:spTree>
    <p:extLst>
      <p:ext uri="{BB962C8B-B14F-4D97-AF65-F5344CB8AC3E}">
        <p14:creationId xmlns:p14="http://schemas.microsoft.com/office/powerpoint/2010/main" val="4137866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74645" y="1520890"/>
            <a:ext cx="12014718" cy="315069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5400" dirty="0">
                <a:latin typeface="Times New Roman" panose="02020603050405020304" pitchFamily="18" charset="0"/>
                <a:cs typeface="Times New Roman" panose="02020603050405020304" pitchFamily="18" charset="0"/>
              </a:rPr>
              <a:t>Taxes in Your Financial Plan</a:t>
            </a:r>
          </a:p>
        </p:txBody>
      </p:sp>
    </p:spTree>
    <p:extLst>
      <p:ext uri="{BB962C8B-B14F-4D97-AF65-F5344CB8AC3E}">
        <p14:creationId xmlns:p14="http://schemas.microsoft.com/office/powerpoint/2010/main" val="42791096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3254743" y="356864"/>
            <a:ext cx="5544023" cy="5572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latin typeface="Times New Roman" panose="02020603050405020304" pitchFamily="18" charset="0"/>
                <a:cs typeface="Times New Roman" panose="02020603050405020304" pitchFamily="18" charset="0"/>
              </a:rPr>
              <a:t>Taxes in Your Financial Plan</a:t>
            </a:r>
          </a:p>
        </p:txBody>
      </p:sp>
      <p:sp>
        <p:nvSpPr>
          <p:cNvPr id="5" name="Rectangle 4"/>
          <p:cNvSpPr/>
          <p:nvPr/>
        </p:nvSpPr>
        <p:spPr>
          <a:xfrm>
            <a:off x="1256283" y="868825"/>
            <a:ext cx="10490240" cy="5632311"/>
          </a:xfrm>
          <a:prstGeom prst="rect">
            <a:avLst/>
          </a:prstGeom>
        </p:spPr>
        <p:txBody>
          <a:bodyPr wrap="square">
            <a:spAutoFit/>
          </a:bodyPr>
          <a:lstStyle/>
          <a:p>
            <a:pPr marL="285750" indent="-285750" algn="just">
              <a:buFont typeface="Wingdings" panose="05000000000000000000" pitchFamily="2" charset="2"/>
              <a:buChar char="Ø"/>
            </a:pPr>
            <a:r>
              <a:rPr lang="en-IN" sz="24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Tax planning </a:t>
            </a:r>
            <a:r>
              <a:rPr lang="en-IN" sz="2400" dirty="0">
                <a:solidFill>
                  <a:srgbClr val="202124"/>
                </a:solidFill>
                <a:latin typeface="Times New Roman" panose="02020603050405020304" pitchFamily="18" charset="0"/>
                <a:ea typeface="Calibri" panose="020F0502020204030204" pitchFamily="34" charset="0"/>
                <a:cs typeface="Times New Roman" panose="02020603050405020304" pitchFamily="18" charset="0"/>
              </a:rPr>
              <a:t>is the analysis of a financial situation or plan to ensure that all elements work together to allow you to pay the lowest taxes possible.</a:t>
            </a:r>
          </a:p>
          <a:p>
            <a:pPr marL="285750" indent="-28575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Proper tax planning makes it easier to build your personal finances and afford the things you want.</a:t>
            </a:r>
          </a:p>
          <a:p>
            <a:pPr marL="285750" indent="-28575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Taxation becomes relevant at various stages of your financial plan.</a:t>
            </a:r>
          </a:p>
          <a:p>
            <a:pPr marL="285750" indent="-285750" algn="just">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For example, </a:t>
            </a:r>
          </a:p>
          <a:p>
            <a:pPr marL="914400" lvl="1" indent="-457200" algn="just">
              <a:buFont typeface="+mj-lt"/>
              <a:buAutoNum type="arabicPeriod"/>
            </a:pPr>
            <a:r>
              <a:rPr lang="en-IN" sz="2400" dirty="0">
                <a:latin typeface="Times New Roman" panose="02020603050405020304" pitchFamily="18" charset="0"/>
                <a:cs typeface="Times New Roman" panose="02020603050405020304" pitchFamily="18" charset="0"/>
              </a:rPr>
              <a:t>There is a tax rebate when you </a:t>
            </a:r>
            <a:r>
              <a:rPr lang="en-IN" sz="2400" dirty="0">
                <a:solidFill>
                  <a:srgbClr val="C00000"/>
                </a:solidFill>
                <a:latin typeface="Times New Roman" panose="02020603050405020304" pitchFamily="18" charset="0"/>
                <a:cs typeface="Times New Roman" panose="02020603050405020304" pitchFamily="18" charset="0"/>
              </a:rPr>
              <a:t>invest in select categories of 	investments. </a:t>
            </a:r>
          </a:p>
          <a:p>
            <a:pPr marL="914400" lvl="1" indent="-457200" algn="just">
              <a:buFont typeface="+mj-lt"/>
              <a:buAutoNum type="arabicPeriod"/>
            </a:pPr>
            <a:r>
              <a:rPr lang="en-IN" sz="2400" dirty="0">
                <a:latin typeface="Times New Roman" panose="02020603050405020304" pitchFamily="18" charset="0"/>
                <a:cs typeface="Times New Roman" panose="02020603050405020304" pitchFamily="18" charset="0"/>
              </a:rPr>
              <a:t>There is also a </a:t>
            </a:r>
            <a:r>
              <a:rPr lang="en-IN" sz="2400" dirty="0">
                <a:solidFill>
                  <a:srgbClr val="C00000"/>
                </a:solidFill>
                <a:latin typeface="Times New Roman" panose="02020603050405020304" pitchFamily="18" charset="0"/>
                <a:cs typeface="Times New Roman" panose="02020603050405020304" pitchFamily="18" charset="0"/>
              </a:rPr>
              <a:t>tax implication </a:t>
            </a:r>
            <a:r>
              <a:rPr lang="en-IN" sz="2400" dirty="0">
                <a:latin typeface="Times New Roman" panose="02020603050405020304" pitchFamily="18" charset="0"/>
                <a:cs typeface="Times New Roman" panose="02020603050405020304" pitchFamily="18" charset="0"/>
              </a:rPr>
              <a:t>when you earn regular returns in the 	form of interest or dividends. </a:t>
            </a:r>
          </a:p>
          <a:p>
            <a:pPr marL="914400" lvl="1" indent="-457200" algn="just">
              <a:buFont typeface="+mj-lt"/>
              <a:buAutoNum type="arabicPeriod"/>
            </a:pPr>
            <a:r>
              <a:rPr lang="en-IN" sz="2400" dirty="0">
                <a:latin typeface="Times New Roman" panose="02020603050405020304" pitchFamily="18" charset="0"/>
                <a:cs typeface="Times New Roman" panose="02020603050405020304" pitchFamily="18" charset="0"/>
              </a:rPr>
              <a:t>There is a tax implication at the time the capital gains are realized on 	assets.</a:t>
            </a:r>
          </a:p>
          <a:p>
            <a:pPr marL="914400" lvl="1" indent="-457200" algn="just">
              <a:buFont typeface="+mj-lt"/>
              <a:buAutoNum type="arabicPeriod"/>
            </a:pPr>
            <a:r>
              <a:rPr lang="en-IN" sz="2400" dirty="0">
                <a:latin typeface="Times New Roman" panose="02020603050405020304" pitchFamily="18" charset="0"/>
                <a:cs typeface="Times New Roman" panose="02020603050405020304" pitchFamily="18" charset="0"/>
              </a:rPr>
              <a:t> Lastly, there is the all important concept of EET(</a:t>
            </a:r>
            <a:r>
              <a:rPr lang="en-IN" sz="2400" dirty="0"/>
              <a:t>Exempt-Exempt-Taxable)</a:t>
            </a:r>
            <a:r>
              <a:rPr lang="en-IN" sz="2400" dirty="0">
                <a:latin typeface="Times New Roman" panose="02020603050405020304" pitchFamily="18" charset="0"/>
                <a:cs typeface="Times New Roman" panose="02020603050405020304" pitchFamily="18" charset="0"/>
              </a:rPr>
              <a:t> that could change the economics of your financial plan.</a:t>
            </a:r>
          </a:p>
          <a:p>
            <a:pPr marL="914400" lvl="1" indent="-457200" algn="just">
              <a:buFont typeface="+mj-lt"/>
              <a:buAutoNum type="arabicPeriod"/>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41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13916" y="624432"/>
            <a:ext cx="11056776" cy="5784979"/>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2908058" y="732212"/>
            <a:ext cx="5526098" cy="504046"/>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b="1" dirty="0"/>
          </a:p>
          <a:p>
            <a:r>
              <a:rPr lang="en-IN" sz="2800" b="1" dirty="0">
                <a:solidFill>
                  <a:schemeClr val="tx1"/>
                </a:solidFill>
                <a:latin typeface="Times New Roman" panose="02020603050405020304" pitchFamily="18" charset="0"/>
                <a:cs typeface="Times New Roman" panose="02020603050405020304" pitchFamily="18" charset="0"/>
              </a:rPr>
              <a:t>Tax breaks at the time of investing</a:t>
            </a:r>
            <a:br>
              <a:rPr lang="en-IN" sz="2800" dirty="0">
                <a:solidFill>
                  <a:schemeClr val="tx1"/>
                </a:solidFill>
                <a:latin typeface="Times New Roman" panose="02020603050405020304" pitchFamily="18" charset="0"/>
                <a:cs typeface="Times New Roman" panose="02020603050405020304" pitchFamily="18" charset="0"/>
              </a:rPr>
            </a:b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316333" y="1333988"/>
            <a:ext cx="9837337" cy="4401205"/>
          </a:xfrm>
          <a:prstGeom prst="rect">
            <a:avLst/>
          </a:prstGeom>
        </p:spPr>
        <p:txBody>
          <a:bodyPr wrap="square">
            <a:spAutoFit/>
          </a:bodyPr>
          <a:lstStyle/>
          <a:p>
            <a:pPr marL="28575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One of the basic principles of long term investing is that you must not focus overly on the tax aspect. But given a choice, you need to consider a more tax efficient option</a:t>
            </a: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If you need to make an allocation of Rs.100,000 during the year to mutual funds, then should you do it in diversified equity funds or an ELSS(Equity Linked Savings Scheme). Remember, an ELSS is also an equity fund with a 3-year lock period and giving the additional benefit under Section 80C.</a:t>
            </a:r>
          </a:p>
          <a:p>
            <a:pPr marL="28575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The 30% exemption in the year of investing substantially improves your yield on the fund.</a:t>
            </a:r>
          </a:p>
        </p:txBody>
      </p:sp>
    </p:spTree>
    <p:extLst>
      <p:ext uri="{BB962C8B-B14F-4D97-AF65-F5344CB8AC3E}">
        <p14:creationId xmlns:p14="http://schemas.microsoft.com/office/powerpoint/2010/main" val="2129244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8F8F4FE-D55C-CB33-66AF-A4CD73FFFC8B}"/>
              </a:ext>
            </a:extLst>
          </p:cNvPr>
          <p:cNvSpPr/>
          <p:nvPr/>
        </p:nvSpPr>
        <p:spPr>
          <a:xfrm>
            <a:off x="803867" y="690747"/>
            <a:ext cx="11056776" cy="5784979"/>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E3456502-4106-50D5-E06F-2FBFDB754D81}"/>
              </a:ext>
            </a:extLst>
          </p:cNvPr>
          <p:cNvGraphicFramePr>
            <a:graphicFrameLocks noGrp="1"/>
          </p:cNvGraphicFramePr>
          <p:nvPr/>
        </p:nvGraphicFramePr>
        <p:xfrm>
          <a:off x="1467059" y="663690"/>
          <a:ext cx="9616271" cy="5812036"/>
        </p:xfrm>
        <a:graphic>
          <a:graphicData uri="http://schemas.openxmlformats.org/drawingml/2006/table">
            <a:tbl>
              <a:tblPr/>
              <a:tblGrid>
                <a:gridCol w="3218375">
                  <a:extLst>
                    <a:ext uri="{9D8B030D-6E8A-4147-A177-3AD203B41FA5}">
                      <a16:colId xmlns:a16="http://schemas.microsoft.com/office/drawing/2014/main" val="540266040"/>
                    </a:ext>
                  </a:extLst>
                </a:gridCol>
                <a:gridCol w="3198948">
                  <a:extLst>
                    <a:ext uri="{9D8B030D-6E8A-4147-A177-3AD203B41FA5}">
                      <a16:colId xmlns:a16="http://schemas.microsoft.com/office/drawing/2014/main" val="1707641480"/>
                    </a:ext>
                  </a:extLst>
                </a:gridCol>
                <a:gridCol w="3198948">
                  <a:extLst>
                    <a:ext uri="{9D8B030D-6E8A-4147-A177-3AD203B41FA5}">
                      <a16:colId xmlns:a16="http://schemas.microsoft.com/office/drawing/2014/main" val="1561431548"/>
                    </a:ext>
                  </a:extLst>
                </a:gridCol>
              </a:tblGrid>
              <a:tr h="437428">
                <a:tc>
                  <a:txBody>
                    <a:bodyPr/>
                    <a:lstStyle/>
                    <a:p>
                      <a:pPr>
                        <a:buNone/>
                      </a:pPr>
                      <a:r>
                        <a:rPr lang="en-IN" sz="1600" b="1" dirty="0"/>
                        <a:t>Aspect</a:t>
                      </a:r>
                      <a:endParaRPr lang="en-IN" sz="16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ELSS (Equity Linked Savings Scheme)</a:t>
                      </a:r>
                      <a:endParaRPr lang="en-US"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b="1"/>
                        <a:t>Diversified Equity Fund</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3128792"/>
                  </a:ext>
                </a:extLst>
              </a:tr>
              <a:tr h="534083">
                <a:tc>
                  <a:txBody>
                    <a:bodyPr/>
                    <a:lstStyle/>
                    <a:p>
                      <a:pPr>
                        <a:buNone/>
                      </a:pPr>
                      <a:r>
                        <a:rPr lang="en-IN" sz="1600" b="1" dirty="0"/>
                        <a:t>Type of Fund</a:t>
                      </a:r>
                      <a:endParaRPr lang="en-IN" sz="1600" dirty="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 Equity mutual fund with tax-saving benefits under Section 80C</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 Equity mutual fund with no specific tax-saving benefits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9766228"/>
                  </a:ext>
                </a:extLst>
              </a:tr>
              <a:tr h="437428">
                <a:tc>
                  <a:txBody>
                    <a:bodyPr/>
                    <a:lstStyle/>
                    <a:p>
                      <a:pPr>
                        <a:buNone/>
                      </a:pPr>
                      <a:r>
                        <a:rPr lang="en-IN" sz="1600" b="1"/>
                        <a:t>Lock-in Period</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 3 years</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 No lock-in (can redeem anytime)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160493"/>
                  </a:ext>
                </a:extLst>
              </a:tr>
              <a:tr h="534083">
                <a:tc>
                  <a:txBody>
                    <a:bodyPr/>
                    <a:lstStyle/>
                    <a:p>
                      <a:pPr>
                        <a:buNone/>
                      </a:pPr>
                      <a:r>
                        <a:rPr lang="en-IN" sz="1600" b="1"/>
                        <a:t>Tax Benefit on Investment</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 Eligible for deduction under Section 80C (up to ₹1.5 lakh/year)</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 No tax deduction</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2068283"/>
                  </a:ext>
                </a:extLst>
              </a:tr>
              <a:tr h="293837">
                <a:tc>
                  <a:txBody>
                    <a:bodyPr/>
                    <a:lstStyle/>
                    <a:p>
                      <a:pPr>
                        <a:buNone/>
                      </a:pPr>
                      <a:r>
                        <a:rPr lang="en-IN" sz="1600" b="1"/>
                        <a:t>Investment Amount (Example)</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₹1,00,000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₹1,00,000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28275399"/>
                  </a:ext>
                </a:extLst>
              </a:tr>
              <a:tr h="293837">
                <a:tc>
                  <a:txBody>
                    <a:bodyPr/>
                    <a:lstStyle/>
                    <a:p>
                      <a:pPr>
                        <a:buNone/>
                      </a:pPr>
                      <a:r>
                        <a:rPr lang="en-IN" sz="1600" b="1"/>
                        <a:t>Tax Saving (30% slab)</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 ₹30,000 in Year 1</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 ₹0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5094480"/>
                  </a:ext>
                </a:extLst>
              </a:tr>
              <a:tr h="293837">
                <a:tc>
                  <a:txBody>
                    <a:bodyPr/>
                    <a:lstStyle/>
                    <a:p>
                      <a:pPr>
                        <a:buNone/>
                      </a:pPr>
                      <a:r>
                        <a:rPr lang="en-IN" sz="1600" b="1"/>
                        <a:t>Assumed Growth Rate</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12% p.a.</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12% p.a.</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2522239"/>
                  </a:ext>
                </a:extLst>
              </a:tr>
              <a:tr h="293837">
                <a:tc>
                  <a:txBody>
                    <a:bodyPr/>
                    <a:lstStyle/>
                    <a:p>
                      <a:pPr>
                        <a:buNone/>
                      </a:pPr>
                      <a:r>
                        <a:rPr lang="en-IN" sz="1600" b="1"/>
                        <a:t>Value After 3 Years</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₹1,40,500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₹1,40,500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13492251"/>
                  </a:ext>
                </a:extLst>
              </a:tr>
              <a:tr h="293837">
                <a:tc>
                  <a:txBody>
                    <a:bodyPr/>
                    <a:lstStyle/>
                    <a:p>
                      <a:pPr>
                        <a:buNone/>
                      </a:pPr>
                      <a:r>
                        <a:rPr lang="en-IN" sz="1600" b="1"/>
                        <a:t>Capital Gain</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₹40,500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₹40,500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8354597"/>
                  </a:ext>
                </a:extLst>
              </a:tr>
              <a:tr h="293837">
                <a:tc>
                  <a:txBody>
                    <a:bodyPr/>
                    <a:lstStyle/>
                    <a:p>
                      <a:pPr>
                        <a:buNone/>
                      </a:pPr>
                      <a:r>
                        <a:rPr lang="en-IN" sz="1600" b="1"/>
                        <a:t>LTCG Tax @ 10%</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₹4,050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₹4,050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2779786"/>
                  </a:ext>
                </a:extLst>
              </a:tr>
              <a:tr h="293837">
                <a:tc>
                  <a:txBody>
                    <a:bodyPr/>
                    <a:lstStyle/>
                    <a:p>
                      <a:pPr>
                        <a:buNone/>
                      </a:pPr>
                      <a:r>
                        <a:rPr lang="en-IN" sz="1600" b="1"/>
                        <a:t>Post-Tax Value from Fund</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₹1,36,450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₹1,36,450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00898621"/>
                  </a:ext>
                </a:extLst>
              </a:tr>
              <a:tr h="437428">
                <a:tc>
                  <a:txBody>
                    <a:bodyPr/>
                    <a:lstStyle/>
                    <a:p>
                      <a:pPr>
                        <a:buNone/>
                      </a:pPr>
                      <a:r>
                        <a:rPr lang="en-US" sz="1600" b="1"/>
                        <a:t>Effective Total Value (incl. tax saved)</a:t>
                      </a:r>
                      <a:endParaRPr lang="en-US"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t>🟩 ₹1,66,450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t>₹1,36,450</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20842"/>
                  </a:ext>
                </a:extLst>
              </a:tr>
              <a:tr h="534083">
                <a:tc>
                  <a:txBody>
                    <a:bodyPr/>
                    <a:lstStyle/>
                    <a:p>
                      <a:pPr>
                        <a:buNone/>
                      </a:pPr>
                      <a:r>
                        <a:rPr lang="en-IN" sz="1600" b="1"/>
                        <a:t>Effective Advantage</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 Higher post-tax yield due to upfront tax saving</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 Lower post-tax yield, no upfront saving</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49027852"/>
                  </a:ext>
                </a:extLst>
              </a:tr>
              <a:tr h="774330">
                <a:tc>
                  <a:txBody>
                    <a:bodyPr/>
                    <a:lstStyle/>
                    <a:p>
                      <a:pPr>
                        <a:buNone/>
                      </a:pPr>
                      <a:r>
                        <a:rPr lang="en-IN" sz="1600" b="1"/>
                        <a:t>Best For</a:t>
                      </a:r>
                      <a:endParaRPr lang="en-IN" sz="1600"/>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 Investors looking for tax efficiency &amp; long-term equity exposure</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t>🟩 Investors seeking liquidity &amp; equity growth without lock-in</a:t>
                      </a:r>
                    </a:p>
                  </a:txBody>
                  <a:tcPr marL="54392" marR="54392" marT="27196" marB="2719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9071221"/>
                  </a:ext>
                </a:extLst>
              </a:tr>
            </a:tbl>
          </a:graphicData>
        </a:graphic>
      </p:graphicFrame>
    </p:spTree>
    <p:extLst>
      <p:ext uri="{BB962C8B-B14F-4D97-AF65-F5344CB8AC3E}">
        <p14:creationId xmlns:p14="http://schemas.microsoft.com/office/powerpoint/2010/main" val="164341716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90465" y="801949"/>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2339607" y="885683"/>
            <a:ext cx="7896074"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b="1" dirty="0">
                <a:solidFill>
                  <a:schemeClr val="tx1"/>
                </a:solidFill>
                <a:latin typeface="Times New Roman" panose="02020603050405020304" pitchFamily="18" charset="0"/>
                <a:cs typeface="Times New Roman" panose="02020603050405020304" pitchFamily="18" charset="0"/>
              </a:rPr>
              <a:t>Tax implications of regular income on investments</a:t>
            </a:r>
            <a:endParaRPr lang="en-IN" sz="28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1079975" y="1526661"/>
            <a:ext cx="10415339" cy="4832092"/>
          </a:xfrm>
          <a:prstGeom prst="rect">
            <a:avLst/>
          </a:prstGeom>
        </p:spPr>
        <p:txBody>
          <a:bodyPr wrap="square">
            <a:spAutoFit/>
          </a:bodyPr>
          <a:lstStyle/>
          <a:p>
            <a:pPr marL="285750" indent="-285750">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This is an important consideration </a:t>
            </a:r>
            <a:r>
              <a:rPr lang="en-IN" sz="2800" dirty="0">
                <a:latin typeface="Times New Roman" panose="02020603050405020304" pitchFamily="18" charset="0"/>
                <a:ea typeface="Calibri" panose="020F0502020204030204" pitchFamily="34" charset="0"/>
                <a:cs typeface="Times New Roman" panose="02020603050405020304" pitchFamily="18" charset="0"/>
              </a:rPr>
              <a:t>when you have to choose between similar investment products. </a:t>
            </a:r>
          </a:p>
          <a:p>
            <a:pPr marL="285750" indent="-285750">
              <a:buFont typeface="Wingdings" panose="05000000000000000000" pitchFamily="2" charset="2"/>
              <a:buChar char="Ø"/>
            </a:pPr>
            <a:r>
              <a:rPr lang="en-IN" sz="2800" dirty="0">
                <a:latin typeface="Times New Roman" panose="02020603050405020304" pitchFamily="18" charset="0"/>
                <a:ea typeface="Calibri" panose="020F0502020204030204" pitchFamily="34" charset="0"/>
                <a:cs typeface="Times New Roman" panose="02020603050405020304" pitchFamily="18" charset="0"/>
              </a:rPr>
              <a:t>Assume that you have an allocation of 20% to debt products during the year. You can invest in a bank FD but then the interest earned on the FD will be taxed at the peak rate of tax applicable to you. That will substantially reduce your post-tax returns. </a:t>
            </a:r>
          </a:p>
          <a:p>
            <a:pPr marL="285750" indent="-285750">
              <a:buFont typeface="Wingdings" panose="05000000000000000000" pitchFamily="2" charset="2"/>
              <a:buChar char="Ø"/>
            </a:pPr>
            <a:r>
              <a:rPr lang="en-IN" sz="2800" dirty="0">
                <a:latin typeface="Times New Roman" panose="02020603050405020304" pitchFamily="18" charset="0"/>
                <a:ea typeface="Calibri" panose="020F0502020204030204" pitchFamily="34" charset="0"/>
                <a:cs typeface="Times New Roman" panose="02020603050405020304" pitchFamily="18" charset="0"/>
              </a:rPr>
              <a:t>On the contrary, if you invest the money in debt mutual funds and opt for a dividend plan, then the dividend earned by you will be entirely tax-free in your hands. You also get the added benefit of capital appreciation when the interest rates go down, further adding to your post-tax yields.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650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42E825BA-0A37-EA58-7586-DA2019CCF8C9}"/>
              </a:ext>
            </a:extLst>
          </p:cNvPr>
          <p:cNvSpPr/>
          <p:nvPr/>
        </p:nvSpPr>
        <p:spPr>
          <a:xfrm>
            <a:off x="780900" y="625151"/>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 name="Table 5">
            <a:extLst>
              <a:ext uri="{FF2B5EF4-FFF2-40B4-BE49-F238E27FC236}">
                <a16:creationId xmlns:a16="http://schemas.microsoft.com/office/drawing/2014/main" id="{9BD4EB23-E834-43A4-067A-C3649281F7A9}"/>
              </a:ext>
            </a:extLst>
          </p:cNvPr>
          <p:cNvGraphicFramePr>
            <a:graphicFrameLocks noGrp="1"/>
          </p:cNvGraphicFramePr>
          <p:nvPr/>
        </p:nvGraphicFramePr>
        <p:xfrm>
          <a:off x="1386673" y="934497"/>
          <a:ext cx="9967127" cy="4987038"/>
        </p:xfrm>
        <a:graphic>
          <a:graphicData uri="http://schemas.openxmlformats.org/drawingml/2006/table">
            <a:tbl>
              <a:tblPr/>
              <a:tblGrid>
                <a:gridCol w="3221891">
                  <a:extLst>
                    <a:ext uri="{9D8B030D-6E8A-4147-A177-3AD203B41FA5}">
                      <a16:colId xmlns:a16="http://schemas.microsoft.com/office/drawing/2014/main" val="41253100"/>
                    </a:ext>
                  </a:extLst>
                </a:gridCol>
                <a:gridCol w="3372618">
                  <a:extLst>
                    <a:ext uri="{9D8B030D-6E8A-4147-A177-3AD203B41FA5}">
                      <a16:colId xmlns:a16="http://schemas.microsoft.com/office/drawing/2014/main" val="1196926731"/>
                    </a:ext>
                  </a:extLst>
                </a:gridCol>
                <a:gridCol w="3372618">
                  <a:extLst>
                    <a:ext uri="{9D8B030D-6E8A-4147-A177-3AD203B41FA5}">
                      <a16:colId xmlns:a16="http://schemas.microsoft.com/office/drawing/2014/main" val="438158695"/>
                    </a:ext>
                  </a:extLst>
                </a:gridCol>
              </a:tblGrid>
              <a:tr h="474956">
                <a:tc>
                  <a:txBody>
                    <a:bodyPr/>
                    <a:lstStyle/>
                    <a:p>
                      <a:pPr>
                        <a:buNone/>
                      </a:pPr>
                      <a:r>
                        <a:rPr lang="en-IN" b="1" dirty="0"/>
                        <a:t>Aspect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Falling Interest Rates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Rising Interest Rates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4071772"/>
                  </a:ext>
                </a:extLst>
              </a:tr>
              <a:tr h="474956">
                <a:tc>
                  <a:txBody>
                    <a:bodyPr/>
                    <a:lstStyle/>
                    <a:p>
                      <a:pPr>
                        <a:buNone/>
                      </a:pPr>
                      <a:r>
                        <a:rPr lang="en-IN" b="1" dirty="0"/>
                        <a:t>Initial Investment</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9176857"/>
                  </a:ext>
                </a:extLst>
              </a:tr>
              <a:tr h="474956">
                <a:tc>
                  <a:txBody>
                    <a:bodyPr/>
                    <a:lstStyle/>
                    <a:p>
                      <a:pPr>
                        <a:buNone/>
                      </a:pPr>
                      <a:r>
                        <a:rPr lang="en-IN" b="1" dirty="0"/>
                        <a:t>Dividend Payout (6%)</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₹60,000 (tax-free in your hands)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₹60,000 (tax-free in your hands)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32787731"/>
                  </a:ext>
                </a:extLst>
              </a:tr>
              <a:tr h="474956">
                <a:tc>
                  <a:txBody>
                    <a:bodyPr/>
                    <a:lstStyle/>
                    <a:p>
                      <a:pPr>
                        <a:buNone/>
                      </a:pPr>
                      <a:r>
                        <a:rPr lang="en-US" b="1"/>
                        <a:t>Impact on Bond Prices / NAV</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Bond prices rise → NAV increases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Bond prices fall → NAV decreases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9340304"/>
                  </a:ext>
                </a:extLst>
              </a:tr>
              <a:tr h="474956">
                <a:tc>
                  <a:txBody>
                    <a:bodyPr/>
                    <a:lstStyle/>
                    <a:p>
                      <a:pPr>
                        <a:buNone/>
                      </a:pPr>
                      <a:r>
                        <a:rPr lang="en-IN" b="1"/>
                        <a:t>Capital Appreciation / Loss</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+3% NAV gain = ₹30,000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−3% NAV loss = ₹30,000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51635778"/>
                  </a:ext>
                </a:extLst>
              </a:tr>
              <a:tr h="474956">
                <a:tc>
                  <a:txBody>
                    <a:bodyPr/>
                    <a:lstStyle/>
                    <a:p>
                      <a:pPr>
                        <a:buNone/>
                      </a:pPr>
                      <a:r>
                        <a:rPr lang="en-IN" b="1"/>
                        <a:t>Total Annual Post-Tax Return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₹60,000 + ₹30,000 = ₹90,000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₹60,000 − ₹30,000 = ₹30,000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6024279"/>
                  </a:ext>
                </a:extLst>
              </a:tr>
              <a:tr h="474956">
                <a:tc>
                  <a:txBody>
                    <a:bodyPr/>
                    <a:lstStyle/>
                    <a:p>
                      <a:pPr>
                        <a:buNone/>
                      </a:pPr>
                      <a:r>
                        <a:rPr lang="en-IN" b="1"/>
                        <a:t>Post-Tax Yield (%)</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9%</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3%</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53009478"/>
                  </a:ext>
                </a:extLst>
              </a:tr>
              <a:tr h="831173">
                <a:tc>
                  <a:txBody>
                    <a:bodyPr/>
                    <a:lstStyle/>
                    <a:p>
                      <a:pPr>
                        <a:buNone/>
                      </a:pPr>
                      <a:r>
                        <a:rPr lang="en-IN" b="1"/>
                        <a:t>Investor Benefit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Dividend + capital gains → higher returns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Dividend partly offset by capital loss → lower returns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26270926"/>
                  </a:ext>
                </a:extLst>
              </a:tr>
              <a:tr h="831173">
                <a:tc>
                  <a:txBody>
                    <a:bodyPr/>
                    <a:lstStyle/>
                    <a:p>
                      <a:pPr>
                        <a:buNone/>
                      </a:pPr>
                      <a:r>
                        <a:rPr lang="en-IN" b="1"/>
                        <a:t>Key Takeaway</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Falling rates are favorable for debt funds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Rising rates reduce total returns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1519933"/>
                  </a:ext>
                </a:extLst>
              </a:tr>
            </a:tbl>
          </a:graphicData>
        </a:graphic>
      </p:graphicFrame>
    </p:spTree>
    <p:extLst>
      <p:ext uri="{BB962C8B-B14F-4D97-AF65-F5344CB8AC3E}">
        <p14:creationId xmlns:p14="http://schemas.microsoft.com/office/powerpoint/2010/main" val="18303517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93101" y="335902"/>
            <a:ext cx="11056776" cy="618619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2500382" y="57279"/>
            <a:ext cx="6971607"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b="1" dirty="0"/>
          </a:p>
          <a:p>
            <a:endParaRPr lang="en-IN" b="1" dirty="0"/>
          </a:p>
          <a:p>
            <a:r>
              <a:rPr lang="en-IN" sz="2800" b="1" dirty="0">
                <a:solidFill>
                  <a:schemeClr val="tx1"/>
                </a:solidFill>
                <a:latin typeface="Times New Roman" panose="02020603050405020304" pitchFamily="18" charset="0"/>
                <a:cs typeface="Times New Roman" panose="02020603050405020304" pitchFamily="18" charset="0"/>
              </a:rPr>
              <a:t>Tax exemption at the time of booking profits</a:t>
            </a:r>
            <a:br>
              <a:rPr lang="en-IN" dirty="0"/>
            </a:br>
            <a:endParaRPr lang="en-IN" sz="36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403438" y="728260"/>
            <a:ext cx="9995461" cy="5401479"/>
          </a:xfrm>
          <a:prstGeom prst="rect">
            <a:avLst/>
          </a:prstGeom>
        </p:spPr>
        <p:txBody>
          <a:bodyPr wrap="square">
            <a:spAutoFit/>
          </a:bodyPr>
          <a:lstStyle/>
          <a:p>
            <a:pPr marL="285750" indent="-285750" algn="just">
              <a:buFont typeface="Wingdings" panose="05000000000000000000" pitchFamily="2" charset="2"/>
              <a:buChar char="ü"/>
            </a:pPr>
            <a:r>
              <a:rPr lang="en-IN" sz="2300" dirty="0">
                <a:latin typeface="Times New Roman" panose="02020603050405020304" pitchFamily="18" charset="0"/>
                <a:ea typeface="Calibri" panose="020F0502020204030204" pitchFamily="34" charset="0"/>
                <a:cs typeface="Times New Roman" panose="02020603050405020304" pitchFamily="18" charset="0"/>
              </a:rPr>
              <a:t>This factor is very relevant when you are actually comparing</a:t>
            </a:r>
            <a:r>
              <a:rPr lang="en-IN" sz="23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 </a:t>
            </a:r>
            <a:r>
              <a:rPr lang="en-IN" sz="23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equity versus debt.</a:t>
            </a:r>
          </a:p>
          <a:p>
            <a:pPr marL="285750" indent="-28575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The definition of </a:t>
            </a:r>
            <a:r>
              <a:rPr lang="en-IN" sz="2300" dirty="0">
                <a:solidFill>
                  <a:srgbClr val="C00000"/>
                </a:solidFill>
                <a:latin typeface="Times New Roman" panose="02020603050405020304" pitchFamily="18" charset="0"/>
                <a:cs typeface="Times New Roman" panose="02020603050405020304" pitchFamily="18" charset="0"/>
              </a:rPr>
              <a:t>capital gains </a:t>
            </a:r>
            <a:r>
              <a:rPr lang="en-IN" sz="2300" dirty="0">
                <a:latin typeface="Times New Roman" panose="02020603050405020304" pitchFamily="18" charset="0"/>
                <a:cs typeface="Times New Roman" panose="02020603050405020304" pitchFamily="18" charset="0"/>
              </a:rPr>
              <a:t>is much more favourable in the case of equities as compared to debt.</a:t>
            </a:r>
          </a:p>
          <a:p>
            <a:pPr marL="285750" indent="-28575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For example, in case of equities and equity mutual funds, the definition of </a:t>
            </a:r>
            <a:r>
              <a:rPr lang="en-IN" sz="2300" dirty="0">
                <a:solidFill>
                  <a:srgbClr val="C00000"/>
                </a:solidFill>
                <a:latin typeface="Times New Roman" panose="02020603050405020304" pitchFamily="18" charset="0"/>
                <a:cs typeface="Times New Roman" panose="02020603050405020304" pitchFamily="18" charset="0"/>
              </a:rPr>
              <a:t>long term </a:t>
            </a:r>
            <a:r>
              <a:rPr lang="en-IN" sz="2300" dirty="0">
                <a:latin typeface="Times New Roman" panose="02020603050405020304" pitchFamily="18" charset="0"/>
                <a:cs typeface="Times New Roman" panose="02020603050405020304" pitchFamily="18" charset="0"/>
              </a:rPr>
              <a:t>is determined by the </a:t>
            </a:r>
            <a:r>
              <a:rPr lang="en-IN" sz="2300" dirty="0">
                <a:solidFill>
                  <a:srgbClr val="C00000"/>
                </a:solidFill>
                <a:latin typeface="Times New Roman" panose="02020603050405020304" pitchFamily="18" charset="0"/>
                <a:cs typeface="Times New Roman" panose="02020603050405020304" pitchFamily="18" charset="0"/>
              </a:rPr>
              <a:t>holding period of 1 year</a:t>
            </a:r>
            <a:r>
              <a:rPr lang="en-IN" sz="2300" dirty="0">
                <a:latin typeface="Times New Roman" panose="02020603050405020304" pitchFamily="18" charset="0"/>
                <a:cs typeface="Times New Roman" panose="02020603050405020304" pitchFamily="18" charset="0"/>
              </a:rPr>
              <a:t>. Additionally, </a:t>
            </a:r>
            <a:r>
              <a:rPr lang="en-IN" sz="2300" dirty="0">
                <a:solidFill>
                  <a:srgbClr val="C00000"/>
                </a:solidFill>
                <a:latin typeface="Times New Roman" panose="02020603050405020304" pitchFamily="18" charset="0"/>
                <a:cs typeface="Times New Roman" panose="02020603050405020304" pitchFamily="18" charset="0"/>
              </a:rPr>
              <a:t>STCG</a:t>
            </a:r>
            <a:r>
              <a:rPr lang="en-IN" sz="2300" dirty="0">
                <a:latin typeface="Times New Roman" panose="02020603050405020304" pitchFamily="18" charset="0"/>
                <a:cs typeface="Times New Roman" panose="02020603050405020304" pitchFamily="18" charset="0"/>
              </a:rPr>
              <a:t> for equities is charged at a concessional rate of 20% while the </a:t>
            </a:r>
            <a:r>
              <a:rPr lang="en-IN" sz="2300" dirty="0">
                <a:solidFill>
                  <a:srgbClr val="C00000"/>
                </a:solidFill>
                <a:latin typeface="Times New Roman" panose="02020603050405020304" pitchFamily="18" charset="0"/>
                <a:cs typeface="Times New Roman" panose="02020603050405020304" pitchFamily="18" charset="0"/>
              </a:rPr>
              <a:t>LTCG</a:t>
            </a:r>
            <a:r>
              <a:rPr lang="en-IN" sz="2300" dirty="0">
                <a:latin typeface="Times New Roman" panose="02020603050405020304" pitchFamily="18" charset="0"/>
                <a:cs typeface="Times New Roman" panose="02020603050405020304" pitchFamily="18" charset="0"/>
              </a:rPr>
              <a:t> on equities is 12.5%. </a:t>
            </a:r>
          </a:p>
          <a:p>
            <a:pPr marL="285750" indent="-28575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Alternatively, if you own a debt fund with a growth option then it will be long term only if it is held for 3 years. In this case, short term capital gains will be taxed at your peak rate while long term gains will be taxed at 20% after considering indexation (</a:t>
            </a:r>
            <a:r>
              <a:rPr lang="en-US" sz="2300" dirty="0">
                <a:latin typeface="Times New Roman" panose="02020603050405020304" pitchFamily="18" charset="0"/>
                <a:cs typeface="Times New Roman" panose="02020603050405020304" pitchFamily="18" charset="0"/>
              </a:rPr>
              <a:t>if the transfer is made on or before 22nd July 2024 after indexation benefit). For subsequent transfers, the tax rate shall be 12.5% without the indexation benefit.</a:t>
            </a:r>
            <a:r>
              <a:rPr lang="en-IN" sz="2300" dirty="0">
                <a:latin typeface="Times New Roman" panose="02020603050405020304" pitchFamily="18" charset="0"/>
                <a:cs typeface="Times New Roman" panose="02020603050405020304" pitchFamily="18" charset="0"/>
              </a:rPr>
              <a:t> </a:t>
            </a:r>
          </a:p>
          <a:p>
            <a:pPr marL="285750" indent="-28575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A good option for you to consider will be the Balanced Fund plan since it combines the benefits of debt and equity. </a:t>
            </a:r>
          </a:p>
        </p:txBody>
      </p:sp>
    </p:spTree>
    <p:extLst>
      <p:ext uri="{BB962C8B-B14F-4D97-AF65-F5344CB8AC3E}">
        <p14:creationId xmlns:p14="http://schemas.microsoft.com/office/powerpoint/2010/main" val="2742220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8559CB0-3B1C-AFBC-8AD9-4884784853CD}"/>
              </a:ext>
            </a:extLst>
          </p:cNvPr>
          <p:cNvSpPr/>
          <p:nvPr/>
        </p:nvSpPr>
        <p:spPr>
          <a:xfrm>
            <a:off x="793101" y="335902"/>
            <a:ext cx="11056776" cy="618619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5" name="Table 4">
            <a:extLst>
              <a:ext uri="{FF2B5EF4-FFF2-40B4-BE49-F238E27FC236}">
                <a16:creationId xmlns:a16="http://schemas.microsoft.com/office/drawing/2014/main" id="{7894483A-0D3E-710C-63D1-0D867E154161}"/>
              </a:ext>
            </a:extLst>
          </p:cNvPr>
          <p:cNvGraphicFramePr>
            <a:graphicFrameLocks noGrp="1"/>
          </p:cNvGraphicFramePr>
          <p:nvPr/>
        </p:nvGraphicFramePr>
        <p:xfrm>
          <a:off x="1467059" y="479084"/>
          <a:ext cx="9535888" cy="5899832"/>
        </p:xfrm>
        <a:graphic>
          <a:graphicData uri="http://schemas.openxmlformats.org/drawingml/2006/table">
            <a:tbl>
              <a:tblPr/>
              <a:tblGrid>
                <a:gridCol w="2383972">
                  <a:extLst>
                    <a:ext uri="{9D8B030D-6E8A-4147-A177-3AD203B41FA5}">
                      <a16:colId xmlns:a16="http://schemas.microsoft.com/office/drawing/2014/main" val="1187174660"/>
                    </a:ext>
                  </a:extLst>
                </a:gridCol>
                <a:gridCol w="2383972">
                  <a:extLst>
                    <a:ext uri="{9D8B030D-6E8A-4147-A177-3AD203B41FA5}">
                      <a16:colId xmlns:a16="http://schemas.microsoft.com/office/drawing/2014/main" val="124571831"/>
                    </a:ext>
                  </a:extLst>
                </a:gridCol>
                <a:gridCol w="2383972">
                  <a:extLst>
                    <a:ext uri="{9D8B030D-6E8A-4147-A177-3AD203B41FA5}">
                      <a16:colId xmlns:a16="http://schemas.microsoft.com/office/drawing/2014/main" val="3555815891"/>
                    </a:ext>
                  </a:extLst>
                </a:gridCol>
                <a:gridCol w="2383972">
                  <a:extLst>
                    <a:ext uri="{9D8B030D-6E8A-4147-A177-3AD203B41FA5}">
                      <a16:colId xmlns:a16="http://schemas.microsoft.com/office/drawing/2014/main" val="2633553404"/>
                    </a:ext>
                  </a:extLst>
                </a:gridCol>
              </a:tblGrid>
              <a:tr h="700966">
                <a:tc>
                  <a:txBody>
                    <a:bodyPr/>
                    <a:lstStyle/>
                    <a:p>
                      <a:pPr>
                        <a:buNone/>
                      </a:pPr>
                      <a:r>
                        <a:rPr lang="en-IN" sz="1800" b="1" dirty="0"/>
                        <a:t>Feature</a:t>
                      </a:r>
                      <a:endParaRPr lang="en-IN" sz="180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Equity Fund</a:t>
                      </a:r>
                      <a:r>
                        <a:rPr lang="en-IN" sz="1800"/>
                        <a:t>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t>Debt Fund</a:t>
                      </a:r>
                      <a:r>
                        <a:rPr lang="en-IN" sz="1800" dirty="0"/>
                        <a:t>  (Growth Option)🔴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Balanced Fund (Equity-Oriented)</a:t>
                      </a:r>
                      <a:r>
                        <a:rPr lang="en-IN" sz="1800"/>
                        <a:t>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3767235"/>
                  </a:ext>
                </a:extLst>
              </a:tr>
              <a:tr h="399167">
                <a:tc>
                  <a:txBody>
                    <a:bodyPr/>
                    <a:lstStyle/>
                    <a:p>
                      <a:pPr>
                        <a:buNone/>
                      </a:pPr>
                      <a:r>
                        <a:rPr lang="en-IN" sz="1800" b="1" dirty="0"/>
                        <a:t>Initial Investment</a:t>
                      </a:r>
                      <a:endParaRPr lang="en-IN" sz="180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₹5,00,000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₹5,00,000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₹5,00,000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8404301"/>
                  </a:ext>
                </a:extLst>
              </a:tr>
              <a:tr h="700966">
                <a:tc>
                  <a:txBody>
                    <a:bodyPr/>
                    <a:lstStyle/>
                    <a:p>
                      <a:pPr>
                        <a:buNone/>
                      </a:pPr>
                      <a:r>
                        <a:rPr lang="en-US" sz="1800" b="1" u="sng" dirty="0"/>
                        <a:t>Value After 2 Years (10% p.a.)</a:t>
                      </a:r>
                      <a:endParaRPr lang="en-US" sz="1800" u="sng"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₹6,05,000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₹6,05,000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₹6,05,000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8399946"/>
                  </a:ext>
                </a:extLst>
              </a:tr>
              <a:tr h="399167">
                <a:tc>
                  <a:txBody>
                    <a:bodyPr/>
                    <a:lstStyle/>
                    <a:p>
                      <a:pPr>
                        <a:buNone/>
                      </a:pPr>
                      <a:r>
                        <a:rPr lang="en-IN" sz="1800" b="1"/>
                        <a:t>Capital Gain</a:t>
                      </a:r>
                      <a:endParaRPr lang="en-IN"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₹1,05,000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₹1,05,000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₹1,05,000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77594685"/>
                  </a:ext>
                </a:extLst>
              </a:tr>
              <a:tr h="700966">
                <a:tc>
                  <a:txBody>
                    <a:bodyPr/>
                    <a:lstStyle/>
                    <a:p>
                      <a:pPr>
                        <a:buNone/>
                      </a:pPr>
                      <a:r>
                        <a:rPr lang="en-US" sz="1800" b="1"/>
                        <a:t>Holding Period Rule for LTCG</a:t>
                      </a:r>
                      <a:endParaRPr lang="en-US"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&gt;1 year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&gt;3 years ❌ (short term here)</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&gt;1 year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3232421"/>
                  </a:ext>
                </a:extLst>
              </a:tr>
              <a:tr h="700966">
                <a:tc>
                  <a:txBody>
                    <a:bodyPr/>
                    <a:lstStyle/>
                    <a:p>
                      <a:pPr>
                        <a:buNone/>
                      </a:pPr>
                      <a:r>
                        <a:rPr lang="en-IN" sz="1800" b="1"/>
                        <a:t>Tax Rate on Gain</a:t>
                      </a:r>
                      <a:endParaRPr lang="en-IN"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10% on gain above ₹1 lakh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Slab rate (30% assumed)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10% on gain above ₹1 lakh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4730673"/>
                  </a:ext>
                </a:extLst>
              </a:tr>
              <a:tr h="399167">
                <a:tc>
                  <a:txBody>
                    <a:bodyPr/>
                    <a:lstStyle/>
                    <a:p>
                      <a:pPr>
                        <a:buNone/>
                      </a:pPr>
                      <a:r>
                        <a:rPr lang="en-IN" sz="1800" b="1"/>
                        <a:t>Taxable Gain</a:t>
                      </a:r>
                      <a:endParaRPr lang="en-IN"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₹1,05,000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₹5,000</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8783222"/>
                  </a:ext>
                </a:extLst>
              </a:tr>
              <a:tr h="399167">
                <a:tc>
                  <a:txBody>
                    <a:bodyPr/>
                    <a:lstStyle/>
                    <a:p>
                      <a:pPr>
                        <a:buNone/>
                      </a:pPr>
                      <a:r>
                        <a:rPr lang="en-IN" sz="1800" b="1"/>
                        <a:t>Tax Payable</a:t>
                      </a:r>
                      <a:endParaRPr lang="en-IN"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₹500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₹31,500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₹500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88425100"/>
                  </a:ext>
                </a:extLst>
              </a:tr>
              <a:tr h="399167">
                <a:tc>
                  <a:txBody>
                    <a:bodyPr/>
                    <a:lstStyle/>
                    <a:p>
                      <a:pPr>
                        <a:buNone/>
                      </a:pPr>
                      <a:r>
                        <a:rPr lang="en-IN" sz="1800" b="1"/>
                        <a:t>Post-Tax Amount</a:t>
                      </a:r>
                      <a:endParaRPr lang="en-IN"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₹6,04,500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₹5,73,500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₹6,04,500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6745217"/>
                  </a:ext>
                </a:extLst>
              </a:tr>
              <a:tr h="399167">
                <a:tc>
                  <a:txBody>
                    <a:bodyPr/>
                    <a:lstStyle/>
                    <a:p>
                      <a:pPr>
                        <a:buNone/>
                      </a:pPr>
                      <a:r>
                        <a:rPr lang="en-IN" sz="1800" b="1"/>
                        <a:t>Tax Efficiency</a:t>
                      </a:r>
                      <a:endParaRPr lang="en-IN" sz="180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High</a:t>
                      </a:r>
                      <a:r>
                        <a:rPr lang="en-IN" sz="1800"/>
                        <a:t>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Low</a:t>
                      </a:r>
                      <a:r>
                        <a:rPr lang="en-IN" sz="1800"/>
                        <a:t>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dirty="0"/>
                        <a:t>High</a:t>
                      </a:r>
                      <a:r>
                        <a:rPr lang="en-IN" sz="1800" dirty="0"/>
                        <a:t> 🟢</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9967109"/>
                  </a:ext>
                </a:extLst>
              </a:tr>
              <a:tr h="700966">
                <a:tc>
                  <a:txBody>
                    <a:bodyPr/>
                    <a:lstStyle/>
                    <a:p>
                      <a:pPr>
                        <a:buNone/>
                      </a:pPr>
                      <a:r>
                        <a:rPr lang="en-IN" sz="1800" b="1" dirty="0"/>
                        <a:t>Best For</a:t>
                      </a:r>
                      <a:endParaRPr lang="en-IN" sz="1800" dirty="0"/>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Long-term wealth creation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a:t>Short-term, fixed-income allocation</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t>Balanced risk &amp; tax efficiency</a:t>
                      </a:r>
                    </a:p>
                  </a:txBody>
                  <a:tcPr marL="73751" marR="73751" marT="36876" marB="3687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10628"/>
                  </a:ext>
                </a:extLst>
              </a:tr>
            </a:tbl>
          </a:graphicData>
        </a:graphic>
      </p:graphicFrame>
    </p:spTree>
    <p:extLst>
      <p:ext uri="{BB962C8B-B14F-4D97-AF65-F5344CB8AC3E}">
        <p14:creationId xmlns:p14="http://schemas.microsoft.com/office/powerpoint/2010/main" val="71419958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968172" y="749388"/>
            <a:ext cx="7984002"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400" b="1" dirty="0">
                <a:solidFill>
                  <a:schemeClr val="tx1"/>
                </a:solidFill>
                <a:latin typeface="Times New Roman" panose="02020603050405020304" pitchFamily="18" charset="0"/>
                <a:cs typeface="Times New Roman" panose="02020603050405020304" pitchFamily="18" charset="0"/>
              </a:rPr>
              <a:t>Understanding EEE and EET when it comes to redemption</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2" name="Rectangle 1"/>
          <p:cNvSpPr/>
          <p:nvPr/>
        </p:nvSpPr>
        <p:spPr>
          <a:xfrm>
            <a:off x="1037874" y="1421539"/>
            <a:ext cx="10419292" cy="4832092"/>
          </a:xfrm>
          <a:prstGeom prst="rect">
            <a:avLst/>
          </a:prstGeom>
        </p:spPr>
        <p:txBody>
          <a:bodyPr wrap="square">
            <a:spAutoFit/>
          </a:bodyPr>
          <a:lstStyle/>
          <a:p>
            <a:pPr marL="285750" indent="-285750">
              <a:buFont typeface="Wingdings" panose="05000000000000000000" pitchFamily="2" charset="2"/>
              <a:buChar char="Ø"/>
            </a:pP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When you currently invest in an endowment life policy or in a provident fund, it is classified as </a:t>
            </a:r>
            <a:r>
              <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EEE</a:t>
            </a: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 </a:t>
            </a:r>
            <a:r>
              <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(Exempt, Exempt, and Exempt). </a:t>
            </a: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That means, there is tax exemption at the time of investment, tax exemption on returns and also tax exemption on redemption. </a:t>
            </a:r>
          </a:p>
          <a:p>
            <a:pPr marL="285750" indent="-285750">
              <a:buFont typeface="Wingdings" panose="05000000000000000000" pitchFamily="2" charset="2"/>
              <a:buChar char="Ø"/>
            </a:pP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This tends to distort the yield curve and hence the </a:t>
            </a:r>
            <a:r>
              <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CBDT(</a:t>
            </a:r>
            <a:r>
              <a:rPr lang="en-US"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The Central Board of Direct Taxes</a:t>
            </a:r>
            <a:r>
              <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a:t>
            </a: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 has already initiated the plan to shift to </a:t>
            </a:r>
            <a:r>
              <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EET</a:t>
            </a: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 meaning that in the year of redemption it will be treated as income in the hands of the investor. </a:t>
            </a:r>
          </a:p>
          <a:p>
            <a:pPr marL="285750" indent="-285750">
              <a:buFont typeface="Wingdings" panose="05000000000000000000" pitchFamily="2" charset="2"/>
              <a:buChar char="Ø"/>
            </a:pP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If the complete shift to </a:t>
            </a:r>
            <a:r>
              <a:rPr lang="en-IN" sz="2800" dirty="0">
                <a:solidFill>
                  <a:srgbClr val="C00000"/>
                </a:solidFill>
                <a:latin typeface="Times New Roman" panose="02020603050405020304" pitchFamily="18" charset="0"/>
                <a:ea typeface="Calibri" panose="020F0502020204030204" pitchFamily="34" charset="0"/>
                <a:cs typeface="Times New Roman" panose="02020603050405020304" pitchFamily="18" charset="0"/>
              </a:rPr>
              <a:t>EET</a:t>
            </a:r>
            <a:r>
              <a:rPr lang="en-IN" sz="2800" dirty="0">
                <a:solidFill>
                  <a:srgbClr val="504B4B"/>
                </a:solidFill>
                <a:latin typeface="Times New Roman" panose="02020603050405020304" pitchFamily="18" charset="0"/>
                <a:ea typeface="Calibri" panose="020F0502020204030204" pitchFamily="34" charset="0"/>
                <a:cs typeface="Times New Roman" panose="02020603050405020304" pitchFamily="18" charset="0"/>
              </a:rPr>
              <a:t> happens, it could make a huge difference to your post-tax returns.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511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2BE564CF-6E74-B764-E857-5A2D52640D7D}"/>
              </a:ext>
            </a:extLst>
          </p:cNvPr>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graphicFrame>
        <p:nvGraphicFramePr>
          <p:cNvPr id="5" name="Table 4">
            <a:extLst>
              <a:ext uri="{FF2B5EF4-FFF2-40B4-BE49-F238E27FC236}">
                <a16:creationId xmlns:a16="http://schemas.microsoft.com/office/drawing/2014/main" id="{75731B58-CA0B-51E2-1961-E78186E28504}"/>
              </a:ext>
            </a:extLst>
          </p:cNvPr>
          <p:cNvGraphicFramePr>
            <a:graphicFrameLocks noGrp="1"/>
          </p:cNvGraphicFramePr>
          <p:nvPr/>
        </p:nvGraphicFramePr>
        <p:xfrm>
          <a:off x="1976175" y="1507293"/>
          <a:ext cx="8239650" cy="3195335"/>
        </p:xfrm>
        <a:graphic>
          <a:graphicData uri="http://schemas.openxmlformats.org/drawingml/2006/table">
            <a:tbl>
              <a:tblPr/>
              <a:tblGrid>
                <a:gridCol w="2746550">
                  <a:extLst>
                    <a:ext uri="{9D8B030D-6E8A-4147-A177-3AD203B41FA5}">
                      <a16:colId xmlns:a16="http://schemas.microsoft.com/office/drawing/2014/main" val="2908815557"/>
                    </a:ext>
                  </a:extLst>
                </a:gridCol>
                <a:gridCol w="2746550">
                  <a:extLst>
                    <a:ext uri="{9D8B030D-6E8A-4147-A177-3AD203B41FA5}">
                      <a16:colId xmlns:a16="http://schemas.microsoft.com/office/drawing/2014/main" val="4164271834"/>
                    </a:ext>
                  </a:extLst>
                </a:gridCol>
                <a:gridCol w="2746550">
                  <a:extLst>
                    <a:ext uri="{9D8B030D-6E8A-4147-A177-3AD203B41FA5}">
                      <a16:colId xmlns:a16="http://schemas.microsoft.com/office/drawing/2014/main" val="4171392608"/>
                    </a:ext>
                  </a:extLst>
                </a:gridCol>
              </a:tblGrid>
              <a:tr h="473383">
                <a:tc>
                  <a:txBody>
                    <a:bodyPr/>
                    <a:lstStyle/>
                    <a:p>
                      <a:pPr>
                        <a:buNone/>
                      </a:pPr>
                      <a:r>
                        <a:rPr lang="en-IN" b="1" dirty="0"/>
                        <a:t>Particulars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EEE</a:t>
                      </a:r>
                      <a:r>
                        <a:rPr lang="en-IN"/>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EET</a:t>
                      </a:r>
                      <a:r>
                        <a:rPr lang="en-IN"/>
                        <a:t> 🔴 (30% slab)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98340818"/>
                  </a:ext>
                </a:extLst>
              </a:tr>
              <a:tr h="473383">
                <a:tc>
                  <a:txBody>
                    <a:bodyPr/>
                    <a:lstStyle/>
                    <a:p>
                      <a:pPr>
                        <a:buNone/>
                      </a:pPr>
                      <a:r>
                        <a:rPr lang="en-IN"/>
                        <a:t>Initial Investment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8637770"/>
                  </a:ext>
                </a:extLst>
              </a:tr>
              <a:tr h="828420">
                <a:tc>
                  <a:txBody>
                    <a:bodyPr/>
                    <a:lstStyle/>
                    <a:p>
                      <a:pPr>
                        <a:buNone/>
                      </a:pPr>
                      <a:r>
                        <a:rPr lang="en-US"/>
                        <a:t>Maturity Value (10 yrs @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₹1,96,715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₹1,96,715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5560199"/>
                  </a:ext>
                </a:extLst>
              </a:tr>
              <a:tr h="473383">
                <a:tc>
                  <a:txBody>
                    <a:bodyPr/>
                    <a:lstStyle/>
                    <a:p>
                      <a:pPr>
                        <a:buNone/>
                      </a:pPr>
                      <a:r>
                        <a:rPr lang="en-IN"/>
                        <a:t>Tax on Withdrawal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₹59,015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5770443"/>
                  </a:ext>
                </a:extLst>
              </a:tr>
              <a:tr h="473383">
                <a:tc>
                  <a:txBody>
                    <a:bodyPr/>
                    <a:lstStyle/>
                    <a:p>
                      <a:pPr>
                        <a:buNone/>
                      </a:pPr>
                      <a:r>
                        <a:rPr lang="en-IN" b="1"/>
                        <a:t>Post-Tax Value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₹1,96,715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₹1,37,700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4064588"/>
                  </a:ext>
                </a:extLst>
              </a:tr>
              <a:tr h="473383">
                <a:tc>
                  <a:txBody>
                    <a:bodyPr/>
                    <a:lstStyle/>
                    <a:p>
                      <a:pPr>
                        <a:buNone/>
                      </a:pPr>
                      <a:r>
                        <a:rPr lang="en-IN" b="1" dirty="0"/>
                        <a:t>Tax Efficiency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High</a:t>
                      </a:r>
                      <a:r>
                        <a:rPr lang="en-IN"/>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Low</a:t>
                      </a:r>
                      <a:r>
                        <a:rPr lang="en-IN" dirty="0"/>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17324425"/>
                  </a:ext>
                </a:extLst>
              </a:tr>
            </a:tbl>
          </a:graphicData>
        </a:graphic>
      </p:graphicFrame>
      <p:sp>
        <p:nvSpPr>
          <p:cNvPr id="6" name="Rounded Rectangle 4">
            <a:extLst>
              <a:ext uri="{FF2B5EF4-FFF2-40B4-BE49-F238E27FC236}">
                <a16:creationId xmlns:a16="http://schemas.microsoft.com/office/drawing/2014/main" id="{DBEF96F8-8C3C-BBE0-2CF5-9BBFA1C4CD8C}"/>
              </a:ext>
            </a:extLst>
          </p:cNvPr>
          <p:cNvSpPr/>
          <p:nvPr/>
        </p:nvSpPr>
        <p:spPr>
          <a:xfrm>
            <a:off x="1968172" y="749388"/>
            <a:ext cx="7984002"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Impact of Shift from EEE → EET</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5C38E1A-2DA0-E6E9-7A9D-4A40C14F2AC0}"/>
              </a:ext>
            </a:extLst>
          </p:cNvPr>
          <p:cNvSpPr txBox="1"/>
          <p:nvPr/>
        </p:nvSpPr>
        <p:spPr>
          <a:xfrm>
            <a:off x="1446963" y="5114611"/>
            <a:ext cx="10158883" cy="923330"/>
          </a:xfrm>
          <a:prstGeom prst="rect">
            <a:avLst/>
          </a:prstGeom>
          <a:noFill/>
        </p:spPr>
        <p:txBody>
          <a:bodyPr wrap="square" rtlCol="0">
            <a:spAutoFit/>
          </a:bodyPr>
          <a:lstStyle/>
          <a:p>
            <a:r>
              <a:rPr lang="en-US" dirty="0"/>
              <a:t>Under </a:t>
            </a:r>
            <a:r>
              <a:rPr lang="en-US" b="1" dirty="0"/>
              <a:t>EEE</a:t>
            </a:r>
            <a:r>
              <a:rPr lang="en-US" dirty="0"/>
              <a:t>, your money compounds </a:t>
            </a:r>
            <a:r>
              <a:rPr lang="en-US" b="1" dirty="0"/>
              <a:t>without any erosion</a:t>
            </a:r>
            <a:r>
              <a:rPr lang="en-US" dirty="0"/>
              <a:t> from tax at any stage.</a:t>
            </a:r>
            <a:br>
              <a:rPr lang="en-US" dirty="0"/>
            </a:br>
            <a:r>
              <a:rPr lang="en-US" dirty="0"/>
              <a:t>Under </a:t>
            </a:r>
            <a:r>
              <a:rPr lang="en-US" b="1" dirty="0"/>
              <a:t>EET</a:t>
            </a:r>
            <a:r>
              <a:rPr lang="en-US" dirty="0"/>
              <a:t>, even though your investment grows tax-free during the holding period, </a:t>
            </a:r>
            <a:r>
              <a:rPr lang="en-US" b="1" dirty="0"/>
              <a:t>a large chunk is taken away at maturity</a:t>
            </a:r>
            <a:r>
              <a:rPr lang="en-US" dirty="0"/>
              <a:t> — especially painful if you’re in a higher tax bracket.</a:t>
            </a:r>
            <a:endParaRPr lang="en-IN" dirty="0"/>
          </a:p>
        </p:txBody>
      </p:sp>
    </p:spTree>
    <p:extLst>
      <p:ext uri="{BB962C8B-B14F-4D97-AF65-F5344CB8AC3E}">
        <p14:creationId xmlns:p14="http://schemas.microsoft.com/office/powerpoint/2010/main" val="391449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1"/>
            <a:ext cx="11056776" cy="5999583"/>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473048" y="456440"/>
            <a:ext cx="9678220"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b="1" dirty="0">
                <a:solidFill>
                  <a:schemeClr val="tx1"/>
                </a:solidFill>
                <a:latin typeface="Times New Roman" panose="02020603050405020304" pitchFamily="18" charset="0"/>
                <a:cs typeface="Times New Roman" panose="02020603050405020304" pitchFamily="18" charset="0"/>
              </a:rPr>
              <a:t>Difference between tax planning and financial planning based upon some important parameters.</a:t>
            </a:r>
            <a:endParaRPr lang="en-IN" dirty="0">
              <a:solidFill>
                <a:schemeClr val="tx1"/>
              </a:solidFill>
              <a:latin typeface="Times New Roman" panose="02020603050405020304" pitchFamily="18" charset="0"/>
              <a:cs typeface="Times New Roman" panose="02020603050405020304" pitchFamily="18" charset="0"/>
            </a:endParaRPr>
          </a:p>
        </p:txBody>
      </p:sp>
      <p:graphicFrame>
        <p:nvGraphicFramePr>
          <p:cNvPr id="2" name="Table 1"/>
          <p:cNvGraphicFramePr>
            <a:graphicFrameLocks noGrp="1"/>
          </p:cNvGraphicFramePr>
          <p:nvPr/>
        </p:nvGraphicFramePr>
        <p:xfrm>
          <a:off x="1326381" y="1191726"/>
          <a:ext cx="9998112" cy="5402572"/>
        </p:xfrm>
        <a:graphic>
          <a:graphicData uri="http://schemas.openxmlformats.org/drawingml/2006/table">
            <a:tbl>
              <a:tblPr firstRow="1" bandRow="1">
                <a:tableStyleId>{C4B1156A-380E-4F78-BDF5-A606A8083BF9}</a:tableStyleId>
              </a:tblPr>
              <a:tblGrid>
                <a:gridCol w="1434239">
                  <a:extLst>
                    <a:ext uri="{9D8B030D-6E8A-4147-A177-3AD203B41FA5}">
                      <a16:colId xmlns:a16="http://schemas.microsoft.com/office/drawing/2014/main" val="3913439712"/>
                    </a:ext>
                  </a:extLst>
                </a:gridCol>
                <a:gridCol w="4607786">
                  <a:extLst>
                    <a:ext uri="{9D8B030D-6E8A-4147-A177-3AD203B41FA5}">
                      <a16:colId xmlns:a16="http://schemas.microsoft.com/office/drawing/2014/main" val="2423953736"/>
                    </a:ext>
                  </a:extLst>
                </a:gridCol>
                <a:gridCol w="3956087">
                  <a:extLst>
                    <a:ext uri="{9D8B030D-6E8A-4147-A177-3AD203B41FA5}">
                      <a16:colId xmlns:a16="http://schemas.microsoft.com/office/drawing/2014/main" val="3828529804"/>
                    </a:ext>
                  </a:extLst>
                </a:gridCol>
              </a:tblGrid>
              <a:tr h="677283">
                <a:tc>
                  <a:txBody>
                    <a:bodyPr/>
                    <a:lstStyle/>
                    <a:p>
                      <a:pPr algn="ctr">
                        <a:lnSpc>
                          <a:spcPct val="107000"/>
                        </a:lnSpc>
                        <a:spcAft>
                          <a:spcPts val="800"/>
                        </a:spcAft>
                      </a:pPr>
                      <a:r>
                        <a:rPr lang="en-IN" sz="1400" dirty="0">
                          <a:effectLst/>
                        </a:rPr>
                        <a:t>PARAMETERS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ctr">
                        <a:lnSpc>
                          <a:spcPct val="107000"/>
                        </a:lnSpc>
                        <a:spcAft>
                          <a:spcPts val="800"/>
                        </a:spcAft>
                      </a:pPr>
                      <a:r>
                        <a:rPr lang="en-IN" sz="2000" dirty="0">
                          <a:effectLst/>
                        </a:rPr>
                        <a:t>TAX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ctr">
                        <a:lnSpc>
                          <a:spcPct val="107000"/>
                        </a:lnSpc>
                        <a:spcAft>
                          <a:spcPts val="800"/>
                        </a:spcAft>
                      </a:pPr>
                      <a:r>
                        <a:rPr lang="en-IN" sz="2000" dirty="0">
                          <a:effectLst/>
                        </a:rPr>
                        <a:t>FINANCIAL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extLst>
                  <a:ext uri="{0D108BD9-81ED-4DB2-BD59-A6C34878D82A}">
                    <a16:rowId xmlns:a16="http://schemas.microsoft.com/office/drawing/2014/main" val="3220108127"/>
                  </a:ext>
                </a:extLst>
              </a:tr>
              <a:tr h="4532551">
                <a:tc>
                  <a:txBody>
                    <a:bodyPr/>
                    <a:lstStyle/>
                    <a:p>
                      <a:r>
                        <a:rPr lang="en-IN" sz="2400" b="1" kern="1200" dirty="0">
                          <a:effectLst/>
                        </a:rPr>
                        <a:t>Objective</a:t>
                      </a:r>
                      <a:endParaRPr lang="en-IN" sz="2400" b="1"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l">
                        <a:lnSpc>
                          <a:spcPct val="107000"/>
                        </a:lnSpc>
                        <a:spcAft>
                          <a:spcPts val="800"/>
                        </a:spcAft>
                      </a:pPr>
                      <a:r>
                        <a:rPr lang="en-IN" sz="2000" dirty="0">
                          <a:effectLst/>
                        </a:rPr>
                        <a:t>Tax planning is aimed at reducing your tax liability by helping you avail tax benefits allowed under the relevant sections of the Income Tax Act, 1963. </a:t>
                      </a:r>
                    </a:p>
                    <a:p>
                      <a:pPr algn="l">
                        <a:lnSpc>
                          <a:spcPct val="107000"/>
                        </a:lnSpc>
                        <a:spcAft>
                          <a:spcPts val="800"/>
                        </a:spcAft>
                      </a:pPr>
                      <a:endParaRPr lang="en-IN" sz="2000" dirty="0">
                        <a:effectLst/>
                      </a:endParaRPr>
                    </a:p>
                    <a:p>
                      <a:pPr algn="l">
                        <a:lnSpc>
                          <a:spcPct val="107000"/>
                        </a:lnSpc>
                        <a:spcAft>
                          <a:spcPts val="800"/>
                        </a:spcAft>
                      </a:pPr>
                      <a:r>
                        <a:rPr lang="en-IN" sz="2000" dirty="0">
                          <a:effectLst/>
                        </a:rPr>
                        <a:t>As an efficient tax planner, you should always be keen on reducing your tax burden in the short-term.</a:t>
                      </a:r>
                    </a:p>
                    <a:p>
                      <a:pPr algn="l">
                        <a:lnSpc>
                          <a:spcPct val="107000"/>
                        </a:lnSpc>
                        <a:spcAft>
                          <a:spcPts val="800"/>
                        </a:spcAft>
                      </a:pPr>
                      <a:r>
                        <a:rPr lang="en-IN" sz="2000" dirty="0">
                          <a:effectLst/>
                        </a:rPr>
                        <a:t> </a:t>
                      </a:r>
                    </a:p>
                    <a:p>
                      <a:pPr algn="l">
                        <a:lnSpc>
                          <a:spcPct val="107000"/>
                        </a:lnSpc>
                        <a:spcAft>
                          <a:spcPts val="800"/>
                        </a:spcAft>
                      </a:pPr>
                      <a:r>
                        <a:rPr lang="en-IN" sz="2000" dirty="0">
                          <a:effectLst/>
                        </a:rPr>
                        <a:t>Planning your taxes beyond the current year can often be a redundant exercise as the Indian Government announces a new budget each year.</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25" marR="47625" marT="47625" marB="47625"/>
                </a:tc>
                <a:tc>
                  <a:txBody>
                    <a:bodyPr/>
                    <a:lstStyle/>
                    <a:p>
                      <a:pPr algn="l">
                        <a:lnSpc>
                          <a:spcPct val="107000"/>
                        </a:lnSpc>
                        <a:spcAft>
                          <a:spcPts val="800"/>
                        </a:spcAft>
                      </a:pPr>
                      <a:r>
                        <a:rPr lang="en-IN" sz="2000" dirty="0">
                          <a:effectLst/>
                        </a:rPr>
                        <a:t>The primary objective of financial planning is to help you create and manage wealth in order to eventually meet your financial goals in the long run. </a:t>
                      </a:r>
                    </a:p>
                    <a:p>
                      <a:pPr algn="l">
                        <a:lnSpc>
                          <a:spcPct val="107000"/>
                        </a:lnSpc>
                        <a:spcAft>
                          <a:spcPts val="800"/>
                        </a:spcAft>
                      </a:pPr>
                      <a:r>
                        <a:rPr lang="en-IN" sz="2000" dirty="0">
                          <a:effectLst/>
                        </a:rPr>
                        <a:t>An efficient financial planner should look ahead and plan for short-term as well as long-term financial goals.</a:t>
                      </a:r>
                      <a:endParaRPr lang="en-IN"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47625" marR="47625" marT="47625" marB="47625"/>
                </a:tc>
                <a:extLst>
                  <a:ext uri="{0D108BD9-81ED-4DB2-BD59-A6C34878D82A}">
                    <a16:rowId xmlns:a16="http://schemas.microsoft.com/office/drawing/2014/main" val="878224650"/>
                  </a:ext>
                </a:extLst>
              </a:tr>
            </a:tbl>
          </a:graphicData>
        </a:graphic>
      </p:graphicFrame>
    </p:spTree>
    <p:extLst>
      <p:ext uri="{BB962C8B-B14F-4D97-AF65-F5344CB8AC3E}">
        <p14:creationId xmlns:p14="http://schemas.microsoft.com/office/powerpoint/2010/main" val="1309493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 name="Table 5"/>
          <p:cNvGraphicFramePr>
            <a:graphicFrameLocks noGrp="1"/>
          </p:cNvGraphicFramePr>
          <p:nvPr/>
        </p:nvGraphicFramePr>
        <p:xfrm>
          <a:off x="1238595" y="842862"/>
          <a:ext cx="10185268" cy="5082077"/>
        </p:xfrm>
        <a:graphic>
          <a:graphicData uri="http://schemas.openxmlformats.org/drawingml/2006/table">
            <a:tbl>
              <a:tblPr firstRow="1" bandRow="1">
                <a:tableStyleId>{C4B1156A-380E-4F78-BDF5-A606A8083BF9}</a:tableStyleId>
              </a:tblPr>
              <a:tblGrid>
                <a:gridCol w="1367917">
                  <a:extLst>
                    <a:ext uri="{9D8B030D-6E8A-4147-A177-3AD203B41FA5}">
                      <a16:colId xmlns:a16="http://schemas.microsoft.com/office/drawing/2014/main" val="3913439712"/>
                    </a:ext>
                  </a:extLst>
                </a:gridCol>
                <a:gridCol w="4744170">
                  <a:extLst>
                    <a:ext uri="{9D8B030D-6E8A-4147-A177-3AD203B41FA5}">
                      <a16:colId xmlns:a16="http://schemas.microsoft.com/office/drawing/2014/main" val="2423953736"/>
                    </a:ext>
                  </a:extLst>
                </a:gridCol>
                <a:gridCol w="4073181">
                  <a:extLst>
                    <a:ext uri="{9D8B030D-6E8A-4147-A177-3AD203B41FA5}">
                      <a16:colId xmlns:a16="http://schemas.microsoft.com/office/drawing/2014/main" val="3828529804"/>
                    </a:ext>
                  </a:extLst>
                </a:gridCol>
              </a:tblGrid>
              <a:tr h="915713">
                <a:tc>
                  <a:txBody>
                    <a:bodyPr/>
                    <a:lstStyle/>
                    <a:p>
                      <a:pPr algn="ctr">
                        <a:lnSpc>
                          <a:spcPct val="107000"/>
                        </a:lnSpc>
                        <a:spcAft>
                          <a:spcPts val="800"/>
                        </a:spcAft>
                      </a:pPr>
                      <a:r>
                        <a:rPr lang="en-IN" sz="1400" dirty="0">
                          <a:effectLst/>
                        </a:rPr>
                        <a:t>PARAMETERS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ctr">
                        <a:lnSpc>
                          <a:spcPct val="107000"/>
                        </a:lnSpc>
                        <a:spcAft>
                          <a:spcPts val="800"/>
                        </a:spcAft>
                      </a:pPr>
                      <a:r>
                        <a:rPr lang="en-IN" sz="2000" dirty="0">
                          <a:effectLst/>
                        </a:rPr>
                        <a:t>TAX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ctr">
                        <a:lnSpc>
                          <a:spcPct val="107000"/>
                        </a:lnSpc>
                        <a:spcAft>
                          <a:spcPts val="800"/>
                        </a:spcAft>
                      </a:pPr>
                      <a:r>
                        <a:rPr lang="en-IN" sz="2000" dirty="0">
                          <a:effectLst/>
                        </a:rPr>
                        <a:t>FINANCIAL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extLst>
                  <a:ext uri="{0D108BD9-81ED-4DB2-BD59-A6C34878D82A}">
                    <a16:rowId xmlns:a16="http://schemas.microsoft.com/office/drawing/2014/main" val="3220108127"/>
                  </a:ext>
                </a:extLst>
              </a:tr>
              <a:tr h="4166364">
                <a:tc>
                  <a:txBody>
                    <a:bodyPr/>
                    <a:lstStyle/>
                    <a:p>
                      <a:pPr algn="just">
                        <a:lnSpc>
                          <a:spcPct val="107000"/>
                        </a:lnSpc>
                        <a:spcAft>
                          <a:spcPts val="800"/>
                        </a:spcAft>
                      </a:pPr>
                      <a:r>
                        <a:rPr lang="en-IN" sz="2400" b="1" dirty="0">
                          <a:effectLst/>
                        </a:rPr>
                        <a:t>Scope</a:t>
                      </a:r>
                      <a:endParaRPr lang="en-IN" sz="24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l">
                        <a:lnSpc>
                          <a:spcPct val="107000"/>
                        </a:lnSpc>
                        <a:spcAft>
                          <a:spcPts val="800"/>
                        </a:spcAft>
                      </a:pPr>
                      <a:r>
                        <a:rPr lang="en-IN" sz="2000" dirty="0">
                          <a:effectLst/>
                        </a:rPr>
                        <a:t>The scope of tax planning is solely limited to helping you receive the maximum possible tax benefits each successive year. </a:t>
                      </a:r>
                    </a:p>
                    <a:p>
                      <a:pPr algn="l">
                        <a:lnSpc>
                          <a:spcPct val="107000"/>
                        </a:lnSpc>
                        <a:spcAft>
                          <a:spcPts val="800"/>
                        </a:spcAft>
                      </a:pPr>
                      <a:endParaRPr lang="en-IN" sz="2000" dirty="0">
                        <a:effectLst/>
                      </a:endParaRPr>
                    </a:p>
                    <a:p>
                      <a:pPr algn="l">
                        <a:lnSpc>
                          <a:spcPct val="107000"/>
                        </a:lnSpc>
                        <a:spcAft>
                          <a:spcPts val="800"/>
                        </a:spcAft>
                      </a:pPr>
                      <a:r>
                        <a:rPr lang="en-IN" sz="2000" dirty="0">
                          <a:effectLst/>
                        </a:rPr>
                        <a:t>So, even if you employ the services of a professional tax planner, all they can help you with is filing efficient tax returns and helping you invest in tax-free avenues.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l">
                        <a:lnSpc>
                          <a:spcPct val="107000"/>
                        </a:lnSpc>
                        <a:spcAft>
                          <a:spcPts val="800"/>
                        </a:spcAft>
                      </a:pPr>
                      <a:r>
                        <a:rPr lang="en-IN" sz="2000" dirty="0">
                          <a:effectLst/>
                        </a:rPr>
                        <a:t>In contrast, financial planning involves a more holistic approach to managing your wealth. </a:t>
                      </a:r>
                    </a:p>
                    <a:p>
                      <a:pPr algn="l">
                        <a:lnSpc>
                          <a:spcPct val="107000"/>
                        </a:lnSpc>
                        <a:spcAft>
                          <a:spcPts val="800"/>
                        </a:spcAft>
                      </a:pPr>
                      <a:endParaRPr lang="en-IN" sz="2000" dirty="0">
                        <a:effectLst/>
                      </a:endParaRPr>
                    </a:p>
                    <a:p>
                      <a:pPr algn="l">
                        <a:lnSpc>
                          <a:spcPct val="107000"/>
                        </a:lnSpc>
                        <a:spcAft>
                          <a:spcPts val="800"/>
                        </a:spcAft>
                      </a:pPr>
                      <a:r>
                        <a:rPr lang="en-IN" sz="2000" dirty="0">
                          <a:effectLst/>
                        </a:rPr>
                        <a:t>It often covers various aspects such as cash flow management, asset management, insurance, investments, retirement planning, and even tax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extLst>
                  <a:ext uri="{0D108BD9-81ED-4DB2-BD59-A6C34878D82A}">
                    <a16:rowId xmlns:a16="http://schemas.microsoft.com/office/drawing/2014/main" val="878224650"/>
                  </a:ext>
                </a:extLst>
              </a:tr>
            </a:tbl>
          </a:graphicData>
        </a:graphic>
      </p:graphicFrame>
    </p:spTree>
    <p:extLst>
      <p:ext uri="{BB962C8B-B14F-4D97-AF65-F5344CB8AC3E}">
        <p14:creationId xmlns:p14="http://schemas.microsoft.com/office/powerpoint/2010/main" val="162113361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494522"/>
            <a:ext cx="11056776" cy="587828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6" name="Table 5"/>
          <p:cNvGraphicFramePr>
            <a:graphicFrameLocks noGrp="1"/>
          </p:cNvGraphicFramePr>
          <p:nvPr/>
        </p:nvGraphicFramePr>
        <p:xfrm>
          <a:off x="1165138" y="721564"/>
          <a:ext cx="10279839" cy="5508413"/>
        </p:xfrm>
        <a:graphic>
          <a:graphicData uri="http://schemas.openxmlformats.org/drawingml/2006/table">
            <a:tbl>
              <a:tblPr firstRow="1" bandRow="1">
                <a:tableStyleId>{C4B1156A-380E-4F78-BDF5-A606A8083BF9}</a:tableStyleId>
              </a:tblPr>
              <a:tblGrid>
                <a:gridCol w="1367917">
                  <a:extLst>
                    <a:ext uri="{9D8B030D-6E8A-4147-A177-3AD203B41FA5}">
                      <a16:colId xmlns:a16="http://schemas.microsoft.com/office/drawing/2014/main" val="3913439712"/>
                    </a:ext>
                  </a:extLst>
                </a:gridCol>
                <a:gridCol w="4058816">
                  <a:extLst>
                    <a:ext uri="{9D8B030D-6E8A-4147-A177-3AD203B41FA5}">
                      <a16:colId xmlns:a16="http://schemas.microsoft.com/office/drawing/2014/main" val="2423953736"/>
                    </a:ext>
                  </a:extLst>
                </a:gridCol>
                <a:gridCol w="4853106">
                  <a:extLst>
                    <a:ext uri="{9D8B030D-6E8A-4147-A177-3AD203B41FA5}">
                      <a16:colId xmlns:a16="http://schemas.microsoft.com/office/drawing/2014/main" val="3828529804"/>
                    </a:ext>
                  </a:extLst>
                </a:gridCol>
              </a:tblGrid>
              <a:tr h="992533">
                <a:tc>
                  <a:txBody>
                    <a:bodyPr/>
                    <a:lstStyle/>
                    <a:p>
                      <a:pPr algn="ctr">
                        <a:lnSpc>
                          <a:spcPct val="107000"/>
                        </a:lnSpc>
                        <a:spcAft>
                          <a:spcPts val="800"/>
                        </a:spcAft>
                      </a:pPr>
                      <a:r>
                        <a:rPr lang="en-IN" sz="1400" dirty="0">
                          <a:effectLst/>
                        </a:rPr>
                        <a:t>PARAMETERS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ctr">
                        <a:lnSpc>
                          <a:spcPct val="107000"/>
                        </a:lnSpc>
                        <a:spcAft>
                          <a:spcPts val="800"/>
                        </a:spcAft>
                      </a:pPr>
                      <a:r>
                        <a:rPr lang="en-IN" sz="2000" dirty="0">
                          <a:effectLst/>
                        </a:rPr>
                        <a:t>TAX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ctr">
                        <a:lnSpc>
                          <a:spcPct val="107000"/>
                        </a:lnSpc>
                        <a:spcAft>
                          <a:spcPts val="800"/>
                        </a:spcAft>
                      </a:pPr>
                      <a:r>
                        <a:rPr lang="en-IN" sz="2000" dirty="0">
                          <a:effectLst/>
                        </a:rPr>
                        <a:t>FINANCIAL PLANNING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extLst>
                  <a:ext uri="{0D108BD9-81ED-4DB2-BD59-A6C34878D82A}">
                    <a16:rowId xmlns:a16="http://schemas.microsoft.com/office/drawing/2014/main" val="3220108127"/>
                  </a:ext>
                </a:extLst>
              </a:tr>
              <a:tr h="4515880">
                <a:tc>
                  <a:txBody>
                    <a:bodyPr/>
                    <a:lstStyle/>
                    <a:p>
                      <a:pPr algn="just">
                        <a:lnSpc>
                          <a:spcPct val="107000"/>
                        </a:lnSpc>
                        <a:spcAft>
                          <a:spcPts val="800"/>
                        </a:spcAft>
                      </a:pPr>
                      <a:r>
                        <a:rPr lang="en-IN" sz="2000" b="1" dirty="0">
                          <a:effectLst/>
                        </a:rPr>
                        <a:t>Benefits</a:t>
                      </a:r>
                      <a:endParaRPr lang="en-IN"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l">
                        <a:lnSpc>
                          <a:spcPct val="107000"/>
                        </a:lnSpc>
                        <a:spcAft>
                          <a:spcPts val="800"/>
                        </a:spcAft>
                      </a:pPr>
                      <a:r>
                        <a:rPr lang="en-IN" sz="2000" dirty="0">
                          <a:effectLst/>
                        </a:rPr>
                        <a:t>Apart from increasing your overall tax efficiency, efficient tax planning can also enable you to budget and manage your taxes at the beginning of each fiscal year instead of scrambling to file optimum tax returns at the eleventh hour.</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tc>
                  <a:txBody>
                    <a:bodyPr/>
                    <a:lstStyle/>
                    <a:p>
                      <a:pPr algn="l">
                        <a:lnSpc>
                          <a:spcPct val="107000"/>
                        </a:lnSpc>
                        <a:spcAft>
                          <a:spcPts val="800"/>
                        </a:spcAft>
                      </a:pPr>
                      <a:r>
                        <a:rPr lang="en-IN" sz="2000" dirty="0">
                          <a:effectLst/>
                        </a:rPr>
                        <a:t>Financial planning helps increase your savings by planning and tracking your expenditures. </a:t>
                      </a:r>
                    </a:p>
                    <a:p>
                      <a:pPr algn="l">
                        <a:lnSpc>
                          <a:spcPct val="107000"/>
                        </a:lnSpc>
                        <a:spcAft>
                          <a:spcPts val="800"/>
                        </a:spcAft>
                      </a:pPr>
                      <a:r>
                        <a:rPr lang="en-IN" sz="2000" dirty="0">
                          <a:effectLst/>
                        </a:rPr>
                        <a:t>It can also facilitate an overall better standard of living by helping you utilize your money in the best manner possible. </a:t>
                      </a:r>
                    </a:p>
                    <a:p>
                      <a:pPr algn="l">
                        <a:lnSpc>
                          <a:spcPct val="107000"/>
                        </a:lnSpc>
                        <a:spcAft>
                          <a:spcPts val="800"/>
                        </a:spcAft>
                      </a:pPr>
                      <a:r>
                        <a:rPr lang="en-IN" sz="2000" dirty="0">
                          <a:effectLst/>
                        </a:rPr>
                        <a:t>By planning your finances well in advance, you can create an emergency fund to take you through any unforeseen financial obstacles in the future.</a:t>
                      </a:r>
                    </a:p>
                    <a:p>
                      <a:pPr algn="l">
                        <a:lnSpc>
                          <a:spcPct val="107000"/>
                        </a:lnSpc>
                        <a:spcAft>
                          <a:spcPts val="800"/>
                        </a:spcAft>
                      </a:pPr>
                      <a:r>
                        <a:rPr lang="en-IN" sz="2000" dirty="0">
                          <a:effectLst/>
                        </a:rPr>
                        <a:t>In this way, financial planning can also help you attain some peace of mind knowing that your finances are secure at all times.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47625" marR="47625" marT="47625" marB="47625"/>
                </a:tc>
                <a:extLst>
                  <a:ext uri="{0D108BD9-81ED-4DB2-BD59-A6C34878D82A}">
                    <a16:rowId xmlns:a16="http://schemas.microsoft.com/office/drawing/2014/main" val="878224650"/>
                  </a:ext>
                </a:extLst>
              </a:tr>
            </a:tbl>
          </a:graphicData>
        </a:graphic>
      </p:graphicFrame>
    </p:spTree>
    <p:extLst>
      <p:ext uri="{BB962C8B-B14F-4D97-AF65-F5344CB8AC3E}">
        <p14:creationId xmlns:p14="http://schemas.microsoft.com/office/powerpoint/2010/main" val="28535054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056637" y="1957733"/>
            <a:ext cx="8393649" cy="260188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r>
              <a:rPr lang="en-US" sz="6000" dirty="0">
                <a:latin typeface="Times New Roman" panose="02020603050405020304" pitchFamily="18" charset="0"/>
                <a:cs typeface="Times New Roman" panose="02020603050405020304" pitchFamily="18" charset="0"/>
              </a:rPr>
              <a:t>Consumer Credit</a:t>
            </a:r>
          </a:p>
        </p:txBody>
      </p:sp>
    </p:spTree>
    <p:extLst>
      <p:ext uri="{BB962C8B-B14F-4D97-AF65-F5344CB8AC3E}">
        <p14:creationId xmlns:p14="http://schemas.microsoft.com/office/powerpoint/2010/main" val="101874297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06003"/>
            <a:ext cx="11056776" cy="5869442"/>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3" name="Rounded Rectangle 2"/>
          <p:cNvSpPr/>
          <p:nvPr/>
        </p:nvSpPr>
        <p:spPr>
          <a:xfrm>
            <a:off x="4589841" y="155753"/>
            <a:ext cx="3444636" cy="5572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600" dirty="0">
                <a:latin typeface="Times New Roman" panose="02020603050405020304" pitchFamily="18" charset="0"/>
                <a:cs typeface="Times New Roman" panose="02020603050405020304" pitchFamily="18" charset="0"/>
              </a:rPr>
              <a:t>Consumer Credit</a:t>
            </a:r>
          </a:p>
        </p:txBody>
      </p:sp>
      <p:sp>
        <p:nvSpPr>
          <p:cNvPr id="5" name="Rounded Rectangle 4"/>
          <p:cNvSpPr/>
          <p:nvPr/>
        </p:nvSpPr>
        <p:spPr>
          <a:xfrm>
            <a:off x="1387886" y="3514279"/>
            <a:ext cx="4051861" cy="411137"/>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dirty="0">
                <a:solidFill>
                  <a:schemeClr val="tx1"/>
                </a:solidFill>
                <a:latin typeface="Times New Roman" panose="02020603050405020304" pitchFamily="18" charset="0"/>
                <a:cs typeface="Times New Roman" panose="02020603050405020304" pitchFamily="18" charset="0"/>
              </a:rPr>
              <a:t>Types of Consumer Credit</a:t>
            </a:r>
          </a:p>
        </p:txBody>
      </p:sp>
      <p:sp>
        <p:nvSpPr>
          <p:cNvPr id="7" name="Rectangle 6"/>
          <p:cNvSpPr/>
          <p:nvPr/>
        </p:nvSpPr>
        <p:spPr>
          <a:xfrm>
            <a:off x="1266588" y="797510"/>
            <a:ext cx="10443330" cy="2677656"/>
          </a:xfrm>
          <a:prstGeom prst="rect">
            <a:avLst/>
          </a:prstGeom>
        </p:spPr>
        <p:txBody>
          <a:bodyPr wrap="square">
            <a:spAutoFit/>
          </a:bodyPr>
          <a:lstStyle/>
          <a:p>
            <a:pPr marL="285750" indent="-285750">
              <a:buFont typeface="Wingdings" panose="05000000000000000000" pitchFamily="2" charset="2"/>
              <a:buChar char="Ø"/>
            </a:pPr>
            <a:r>
              <a:rPr lang="en-IN" sz="2800" dirty="0">
                <a:solidFill>
                  <a:srgbClr val="333333"/>
                </a:solidFill>
                <a:latin typeface="Times New Roman" panose="02020603050405020304" pitchFamily="18" charset="0"/>
                <a:ea typeface="Times New Roman" panose="02020603050405020304" pitchFamily="18" charset="0"/>
              </a:rPr>
              <a:t>Consumer credit provides </a:t>
            </a:r>
            <a:r>
              <a:rPr lang="en-IN" sz="2800" dirty="0">
                <a:solidFill>
                  <a:srgbClr val="C00000"/>
                </a:solidFill>
                <a:latin typeface="Times New Roman" panose="02020603050405020304" pitchFamily="18" charset="0"/>
                <a:ea typeface="Times New Roman" panose="02020603050405020304" pitchFamily="18" charset="0"/>
              </a:rPr>
              <a:t>access to more spending power</a:t>
            </a:r>
            <a:r>
              <a:rPr lang="en-IN" sz="2800" dirty="0">
                <a:solidFill>
                  <a:srgbClr val="333333"/>
                </a:solidFill>
                <a:latin typeface="Times New Roman" panose="02020603050405020304" pitchFamily="18" charset="0"/>
                <a:ea typeface="Times New Roman" panose="02020603050405020304" pitchFamily="18" charset="0"/>
              </a:rPr>
              <a:t>, which enables you to do things like take out a home loan or make purchases with a credit card. </a:t>
            </a:r>
          </a:p>
          <a:p>
            <a:pPr marL="285750" indent="-285750">
              <a:buFont typeface="Wingdings" panose="05000000000000000000" pitchFamily="2" charset="2"/>
              <a:buChar char="Ø"/>
            </a:pPr>
            <a:r>
              <a:rPr lang="en-IN" sz="2800" dirty="0">
                <a:solidFill>
                  <a:srgbClr val="333333"/>
                </a:solidFill>
                <a:latin typeface="Times New Roman" panose="02020603050405020304" pitchFamily="18" charset="0"/>
                <a:ea typeface="Times New Roman" panose="02020603050405020304" pitchFamily="18" charset="0"/>
              </a:rPr>
              <a:t>Responsible use of consumer credit can open doors to new opportunities, but borrowing also has the potential to result in unmanageable levels of debt.</a:t>
            </a:r>
            <a:endParaRPr lang="en-IN" sz="2800" dirty="0"/>
          </a:p>
        </p:txBody>
      </p:sp>
      <p:sp>
        <p:nvSpPr>
          <p:cNvPr id="8" name="Rectangle 7"/>
          <p:cNvSpPr/>
          <p:nvPr/>
        </p:nvSpPr>
        <p:spPr>
          <a:xfrm>
            <a:off x="1208350" y="4083458"/>
            <a:ext cx="3132589" cy="1116972"/>
          </a:xfrm>
          <a:prstGeom prst="rect">
            <a:avLst/>
          </a:prstGeom>
        </p:spPr>
        <p:txBody>
          <a:bodyPr wrap="none">
            <a:spAutoFit/>
          </a:bodyPr>
          <a:lstStyle/>
          <a:p>
            <a:pPr algn="just">
              <a:lnSpc>
                <a:spcPct val="107000"/>
              </a:lnSpc>
              <a:spcAft>
                <a:spcPts val="800"/>
              </a:spcAft>
            </a:pPr>
            <a:r>
              <a:rPr lang="en-IN" sz="28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1. Instalment Credit </a:t>
            </a:r>
          </a:p>
          <a:p>
            <a:pPr algn="just">
              <a:lnSpc>
                <a:spcPct val="107000"/>
              </a:lnSpc>
              <a:spcAft>
                <a:spcPts val="800"/>
              </a:spcAft>
            </a:pPr>
            <a:r>
              <a:rPr lang="en-IN" sz="28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2. Revolving Credit</a:t>
            </a:r>
            <a:endParaRPr lang="en-IN" sz="2800" dirty="0">
              <a:solidFill>
                <a:srgbClr val="0070C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2949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2" name="Rectangle 1"/>
          <p:cNvSpPr/>
          <p:nvPr/>
        </p:nvSpPr>
        <p:spPr>
          <a:xfrm>
            <a:off x="1191943" y="790510"/>
            <a:ext cx="10406008" cy="5125442"/>
          </a:xfrm>
          <a:prstGeom prst="rect">
            <a:avLst/>
          </a:prstGeom>
        </p:spPr>
        <p:txBody>
          <a:bodyPr wrap="square">
            <a:spAutoFit/>
          </a:bodyPr>
          <a:lstStyle/>
          <a:p>
            <a:pPr algn="just">
              <a:lnSpc>
                <a:spcPct val="107000"/>
              </a:lnSpc>
              <a:spcAft>
                <a:spcPts val="800"/>
              </a:spcAft>
            </a:pPr>
            <a:r>
              <a:rPr lang="en-IN"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1. Instalment Credit: </a:t>
            </a:r>
            <a:r>
              <a:rPr lang="en-IN" sz="2400" dirty="0">
                <a:latin typeface="Times New Roman" panose="02020603050405020304" pitchFamily="18" charset="0"/>
                <a:cs typeface="Times New Roman" panose="02020603050405020304" pitchFamily="18" charset="0"/>
              </a:rPr>
              <a:t>typically refers to loans, such as </a:t>
            </a:r>
            <a:r>
              <a:rPr lang="en-IN" sz="2400" dirty="0">
                <a:solidFill>
                  <a:srgbClr val="C00000"/>
                </a:solidFill>
                <a:latin typeface="Times New Roman" panose="02020603050405020304" pitchFamily="18" charset="0"/>
                <a:cs typeface="Times New Roman" panose="02020603050405020304" pitchFamily="18" charset="0"/>
              </a:rPr>
              <a:t>mortgages, auto loans, personal loans and student loans.</a:t>
            </a:r>
            <a:r>
              <a:rPr lang="en-IN" sz="2400" dirty="0">
                <a:latin typeface="Times New Roman" panose="02020603050405020304" pitchFamily="18" charset="0"/>
                <a:cs typeface="Times New Roman" panose="02020603050405020304" pitchFamily="18" charset="0"/>
              </a:rPr>
              <a:t> With instalment credit, you repay what you borrow in fixed payments made each month over a set period of time, or term. The monthly payments, or instalments, are based on the amount you borrow plus the interest you owe</a:t>
            </a:r>
            <a:r>
              <a:rPr lang="en-IN"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 </a:t>
            </a:r>
          </a:p>
          <a:p>
            <a:pPr algn="just"/>
            <a:r>
              <a:rPr lang="en-IN" sz="24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2. Revolving Credit: </a:t>
            </a:r>
            <a:r>
              <a:rPr lang="en-US" sz="2400" dirty="0">
                <a:latin typeface="Times New Roman" panose="02020603050405020304" pitchFamily="18" charset="0"/>
                <a:cs typeface="Times New Roman" panose="02020603050405020304" pitchFamily="18" charset="0"/>
              </a:rPr>
              <a:t>is a flexible type of loan with a preset credit limit that allows you to borrow, repay, and borrow again as needed, unlike installment loans which have fixed repayment schedules. Here you only pay interest on the amount you borrow and your available credit replenishes as you make payments. It's a versatile tool for managing short-term expenses, building credit, and maintaining cash flow, though high interest rates and potential for debt accumulation are significant drawbacks if not managed wisely.</a:t>
            </a:r>
            <a:endParaRPr lang="en-IN" sz="2400" dirty="0">
              <a:latin typeface="Times New Roman" panose="02020603050405020304" pitchFamily="18"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The most familiar and common type of revolving credit is a </a:t>
            </a:r>
            <a:r>
              <a:rPr lang="en-IN" sz="2400" dirty="0">
                <a:solidFill>
                  <a:srgbClr val="C00000"/>
                </a:solidFill>
                <a:latin typeface="Times New Roman" panose="02020603050405020304" pitchFamily="18" charset="0"/>
                <a:cs typeface="Times New Roman" panose="02020603050405020304" pitchFamily="18" charset="0"/>
              </a:rPr>
              <a:t>credit card</a:t>
            </a:r>
            <a:r>
              <a:rPr lang="en-IN" sz="2400" dirty="0">
                <a:latin typeface="Times New Roman" panose="02020603050405020304" pitchFamily="18" charset="0"/>
                <a:cs typeface="Times New Roman" panose="02020603050405020304" pitchFamily="18" charset="0"/>
              </a:rPr>
              <a:t>.</a:t>
            </a:r>
            <a:endParaRPr lang="en-IN" sz="2400" dirty="0">
              <a:solidFill>
                <a:srgbClr val="0070C0"/>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0666530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B844EF-B4EE-D827-ACD2-B0208922F9CC}"/>
              </a:ext>
            </a:extLst>
          </p:cNvPr>
          <p:cNvPicPr>
            <a:picLocks noChangeAspect="1"/>
          </p:cNvPicPr>
          <p:nvPr/>
        </p:nvPicPr>
        <p:blipFill>
          <a:blip r:embed="rId3"/>
          <a:stretch>
            <a:fillRect/>
          </a:stretch>
        </p:blipFill>
        <p:spPr>
          <a:xfrm>
            <a:off x="569497" y="624597"/>
            <a:ext cx="11053006" cy="6067605"/>
          </a:xfrm>
          <a:prstGeom prst="rect">
            <a:avLst/>
          </a:prstGeom>
        </p:spPr>
      </p:pic>
      <p:graphicFrame>
        <p:nvGraphicFramePr>
          <p:cNvPr id="5" name="Table 4">
            <a:extLst>
              <a:ext uri="{FF2B5EF4-FFF2-40B4-BE49-F238E27FC236}">
                <a16:creationId xmlns:a16="http://schemas.microsoft.com/office/drawing/2014/main" id="{B2B542D9-992B-7E6E-90C7-813A431EFDA3}"/>
              </a:ext>
            </a:extLst>
          </p:cNvPr>
          <p:cNvGraphicFramePr>
            <a:graphicFrameLocks noGrp="1"/>
          </p:cNvGraphicFramePr>
          <p:nvPr/>
        </p:nvGraphicFramePr>
        <p:xfrm>
          <a:off x="1284424" y="624597"/>
          <a:ext cx="9728568" cy="4630716"/>
        </p:xfrm>
        <a:graphic>
          <a:graphicData uri="http://schemas.openxmlformats.org/drawingml/2006/table">
            <a:tbl>
              <a:tblPr/>
              <a:tblGrid>
                <a:gridCol w="1720033">
                  <a:extLst>
                    <a:ext uri="{9D8B030D-6E8A-4147-A177-3AD203B41FA5}">
                      <a16:colId xmlns:a16="http://schemas.microsoft.com/office/drawing/2014/main" val="2060327581"/>
                    </a:ext>
                  </a:extLst>
                </a:gridCol>
                <a:gridCol w="3858567">
                  <a:extLst>
                    <a:ext uri="{9D8B030D-6E8A-4147-A177-3AD203B41FA5}">
                      <a16:colId xmlns:a16="http://schemas.microsoft.com/office/drawing/2014/main" val="1164723528"/>
                    </a:ext>
                  </a:extLst>
                </a:gridCol>
                <a:gridCol w="4149968">
                  <a:extLst>
                    <a:ext uri="{9D8B030D-6E8A-4147-A177-3AD203B41FA5}">
                      <a16:colId xmlns:a16="http://schemas.microsoft.com/office/drawing/2014/main" val="2171190074"/>
                    </a:ext>
                  </a:extLst>
                </a:gridCol>
              </a:tblGrid>
              <a:tr h="334718">
                <a:tc>
                  <a:txBody>
                    <a:bodyPr/>
                    <a:lstStyle/>
                    <a:p>
                      <a:pPr>
                        <a:buNone/>
                      </a:pPr>
                      <a:r>
                        <a:rPr lang="en-IN" sz="1800" b="1" dirty="0"/>
                        <a:t>Feature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Instalment Credit</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t>Revolving Credit</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2489108"/>
                  </a:ext>
                </a:extLst>
              </a:tr>
              <a:tr h="836796">
                <a:tc>
                  <a:txBody>
                    <a:bodyPr/>
                    <a:lstStyle/>
                    <a:p>
                      <a:pPr>
                        <a:buNone/>
                      </a:pPr>
                      <a:r>
                        <a:rPr lang="en-IN" sz="1800" b="1"/>
                        <a:t>Definition</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You borrow a fixed amount once and repay it in equal monthly instalments over a set time.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You have a credit limit and can borrow repeatedly as long as you stay within that limit.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7648862"/>
                  </a:ext>
                </a:extLst>
              </a:tr>
              <a:tr h="585757">
                <a:tc>
                  <a:txBody>
                    <a:bodyPr/>
                    <a:lstStyle/>
                    <a:p>
                      <a:pPr>
                        <a:buNone/>
                      </a:pPr>
                      <a:r>
                        <a:rPr lang="en-IN" sz="1800" b="1"/>
                        <a:t>Examples</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Home loan, car loan, personal loan, student loan.</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Credit cards, personal/business lines of credit.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1950491"/>
                  </a:ext>
                </a:extLst>
              </a:tr>
              <a:tr h="836796">
                <a:tc>
                  <a:txBody>
                    <a:bodyPr/>
                    <a:lstStyle/>
                    <a:p>
                      <a:pPr>
                        <a:buNone/>
                      </a:pPr>
                      <a:r>
                        <a:rPr lang="en-IN" sz="1800" b="1"/>
                        <a:t>Repayment</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Fixed monthly payments (principal + interest) until loan is fully paid.</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Flexible monthly payments — minimum payment required but can pay more.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3968691"/>
                  </a:ext>
                </a:extLst>
              </a:tr>
              <a:tr h="585757">
                <a:tc>
                  <a:txBody>
                    <a:bodyPr/>
                    <a:lstStyle/>
                    <a:p>
                      <a:pPr>
                        <a:buNone/>
                      </a:pPr>
                      <a:r>
                        <a:rPr lang="en-IN" sz="1800" b="1"/>
                        <a:t>Term</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Has a fixed end date (e.g., 5 years, 10 years).</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No fixed end date — account stays open until you close it.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64566878"/>
                  </a:ext>
                </a:extLst>
              </a:tr>
              <a:tr h="585757">
                <a:tc>
                  <a:txBody>
                    <a:bodyPr/>
                    <a:lstStyle/>
                    <a:p>
                      <a:pPr>
                        <a:buNone/>
                      </a:pPr>
                      <a:r>
                        <a:rPr lang="en-IN" sz="1800" b="1"/>
                        <a:t>Interest Charges</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Charged on the remaining loan balance.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Charged on any unpaid balance carried over to the next month.</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8290447"/>
                  </a:ext>
                </a:extLst>
              </a:tr>
              <a:tr h="585757">
                <a:tc>
                  <a:txBody>
                    <a:bodyPr/>
                    <a:lstStyle/>
                    <a:p>
                      <a:pPr>
                        <a:buNone/>
                      </a:pPr>
                      <a:r>
                        <a:rPr lang="en-IN" sz="1800" b="1"/>
                        <a:t>Borrowing Again</a:t>
                      </a:r>
                      <a:endParaRPr lang="en-IN" sz="1800"/>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You must apply for a new loan to borrow more.</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Can borrow again immediately as long as you have available credit.</a:t>
                      </a:r>
                    </a:p>
                  </a:txBody>
                  <a:tcPr marL="83680" marR="83680" marT="41840" marB="418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6122849"/>
                  </a:ext>
                </a:extLst>
              </a:tr>
            </a:tbl>
          </a:graphicData>
        </a:graphic>
      </p:graphicFrame>
      <p:sp>
        <p:nvSpPr>
          <p:cNvPr id="6" name="TextBox 5">
            <a:extLst>
              <a:ext uri="{FF2B5EF4-FFF2-40B4-BE49-F238E27FC236}">
                <a16:creationId xmlns:a16="http://schemas.microsoft.com/office/drawing/2014/main" id="{EB06D536-C53F-7F6D-2E6E-BA97853D71DB}"/>
              </a:ext>
            </a:extLst>
          </p:cNvPr>
          <p:cNvSpPr txBox="1"/>
          <p:nvPr/>
        </p:nvSpPr>
        <p:spPr>
          <a:xfrm>
            <a:off x="874207" y="5373592"/>
            <a:ext cx="10279464" cy="1200329"/>
          </a:xfrm>
          <a:prstGeom prst="rect">
            <a:avLst/>
          </a:prstGeom>
          <a:noFill/>
        </p:spPr>
        <p:txBody>
          <a:bodyPr wrap="square" rtlCol="0">
            <a:spAutoFit/>
          </a:bodyPr>
          <a:lstStyle/>
          <a:p>
            <a:r>
              <a:rPr lang="en-US" dirty="0">
                <a:solidFill>
                  <a:srgbClr val="FF0000"/>
                </a:solidFill>
              </a:rPr>
              <a:t>In short:</a:t>
            </a:r>
          </a:p>
          <a:p>
            <a:r>
              <a:rPr lang="en-US" b="1" dirty="0"/>
              <a:t>Instalment credit </a:t>
            </a:r>
            <a:r>
              <a:rPr lang="en-US" dirty="0"/>
              <a:t>is like taking a taxi for a single trip — fixed route, fixed fare.</a:t>
            </a:r>
          </a:p>
          <a:p>
            <a:r>
              <a:rPr lang="en-US" b="1" dirty="0"/>
              <a:t>Revolving credit </a:t>
            </a:r>
            <a:r>
              <a:rPr lang="en-US" dirty="0"/>
              <a:t>is like renting a car — you can use it as much as you like within limits, but costs depend on how long and how much you use it.</a:t>
            </a:r>
            <a:endParaRPr lang="en-IN" dirty="0"/>
          </a:p>
        </p:txBody>
      </p:sp>
    </p:spTree>
    <p:extLst>
      <p:ext uri="{BB962C8B-B14F-4D97-AF65-F5344CB8AC3E}">
        <p14:creationId xmlns:p14="http://schemas.microsoft.com/office/powerpoint/2010/main" val="24799560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373224"/>
            <a:ext cx="11056776" cy="6083560"/>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098636" y="592252"/>
            <a:ext cx="4919609"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dirty="0">
                <a:solidFill>
                  <a:schemeClr val="tx1"/>
                </a:solidFill>
                <a:latin typeface="Times New Roman" panose="02020603050405020304" pitchFamily="18" charset="0"/>
                <a:cs typeface="Times New Roman" panose="02020603050405020304" pitchFamily="18" charset="0"/>
              </a:rPr>
              <a:t>Advantages of Consumer Credit</a:t>
            </a:r>
          </a:p>
        </p:txBody>
      </p:sp>
      <p:sp>
        <p:nvSpPr>
          <p:cNvPr id="2" name="Rectangle 1"/>
          <p:cNvSpPr/>
          <p:nvPr/>
        </p:nvSpPr>
        <p:spPr>
          <a:xfrm>
            <a:off x="1098636" y="1368524"/>
            <a:ext cx="10378017" cy="4825680"/>
          </a:xfrm>
          <a:prstGeom prst="rect">
            <a:avLst/>
          </a:prstGeom>
        </p:spPr>
        <p:txBody>
          <a:bodyPr wrap="square">
            <a:spAutoFit/>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en-IN" sz="2200" dirty="0">
                <a:latin typeface="Times New Roman" panose="02020603050405020304" pitchFamily="18" charset="0"/>
                <a:ea typeface="Times New Roman" panose="02020603050405020304" pitchFamily="18" charset="0"/>
                <a:cs typeface="Times New Roman" panose="02020603050405020304" pitchFamily="18" charset="0"/>
              </a:rPr>
              <a:t>Building your </a:t>
            </a:r>
            <a:r>
              <a:rPr lang="en-IN" sz="2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credit history</a:t>
            </a:r>
            <a:r>
              <a:rPr lang="en-IN" sz="2200" dirty="0">
                <a:latin typeface="Times New Roman" panose="02020603050405020304" pitchFamily="18" charset="0"/>
                <a:ea typeface="Times New Roman" panose="02020603050405020304" pitchFamily="18" charset="0"/>
                <a:cs typeface="Times New Roman" panose="02020603050405020304" pitchFamily="18" charset="0"/>
              </a:rPr>
              <a:t>: If you establish a solid payment history for consumer credit accounts, including credit cards and personal loans, and otherwise handle credit responsibly, consumer credit can be a valuable tool for building your credit.</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200" dirty="0">
                <a:latin typeface="Times New Roman" panose="02020603050405020304" pitchFamily="18" charset="0"/>
                <a:ea typeface="Times New Roman" panose="02020603050405020304" pitchFamily="18" charset="0"/>
                <a:cs typeface="Times New Roman" panose="02020603050405020304" pitchFamily="18" charset="0"/>
              </a:rPr>
              <a:t>Boosting your </a:t>
            </a:r>
            <a:r>
              <a:rPr lang="en-IN" sz="2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credit score</a:t>
            </a:r>
            <a:r>
              <a:rPr lang="en-IN" sz="2200" dirty="0">
                <a:latin typeface="Times New Roman" panose="02020603050405020304" pitchFamily="18" charset="0"/>
                <a:ea typeface="Times New Roman" panose="02020603050405020304" pitchFamily="18" charset="0"/>
                <a:cs typeface="Times New Roman" panose="02020603050405020304" pitchFamily="18" charset="0"/>
              </a:rPr>
              <a:t>: A positive history of making payments on credit cards, loans and other types of consumer credit can positively affect your credit score.</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200" dirty="0">
                <a:latin typeface="Times New Roman" panose="02020603050405020304" pitchFamily="18" charset="0"/>
                <a:ea typeface="Times New Roman" panose="02020603050405020304" pitchFamily="18" charset="0"/>
                <a:cs typeface="Times New Roman" panose="02020603050405020304" pitchFamily="18" charset="0"/>
              </a:rPr>
              <a:t>Providing </a:t>
            </a:r>
            <a:r>
              <a:rPr lang="en-IN" sz="2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perks and rewards</a:t>
            </a:r>
            <a:r>
              <a:rPr lang="en-IN" sz="2200" dirty="0">
                <a:latin typeface="Times New Roman" panose="02020603050405020304" pitchFamily="18" charset="0"/>
                <a:ea typeface="Times New Roman" panose="02020603050405020304" pitchFamily="18" charset="0"/>
                <a:cs typeface="Times New Roman" panose="02020603050405020304" pitchFamily="18" charset="0"/>
              </a:rPr>
              <a:t>: Consumer credit, particularly credit cards, can deliver goodies like airline miles, hotel points and cash back rewards.</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200" dirty="0">
                <a:latin typeface="Times New Roman" panose="02020603050405020304" pitchFamily="18" charset="0"/>
                <a:ea typeface="Times New Roman" panose="02020603050405020304" pitchFamily="18" charset="0"/>
                <a:cs typeface="Times New Roman" panose="02020603050405020304" pitchFamily="18" charset="0"/>
              </a:rPr>
              <a:t>Protecting you </a:t>
            </a:r>
            <a:r>
              <a:rPr lang="en-IN" sz="2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against fraud</a:t>
            </a:r>
            <a:r>
              <a:rPr lang="en-IN" sz="2200" dirty="0">
                <a:latin typeface="Times New Roman" panose="02020603050405020304" pitchFamily="18" charset="0"/>
                <a:ea typeface="Times New Roman" panose="02020603050405020304" pitchFamily="18" charset="0"/>
                <a:cs typeface="Times New Roman" panose="02020603050405020304" pitchFamily="18" charset="0"/>
              </a:rPr>
              <a:t>: Credit cards provide all sorts of ways to protect yourself against fraud, such as contactless cards, virtual card numbers, card-locking capabilities and little to no cardholder liability for unauthorized purchases.</a:t>
            </a:r>
            <a:endParaRPr lang="en-IN" sz="22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2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Reimbursing</a:t>
            </a:r>
            <a:r>
              <a:rPr lang="en-IN" sz="2200" dirty="0">
                <a:latin typeface="Times New Roman" panose="02020603050405020304" pitchFamily="18" charset="0"/>
                <a:ea typeface="Times New Roman" panose="02020603050405020304" pitchFamily="18" charset="0"/>
                <a:cs typeface="Times New Roman" panose="02020603050405020304" pitchFamily="18" charset="0"/>
              </a:rPr>
              <a:t> certain purchases: Some credit card issuers reimburse you for purchases if you're not satisfied with an item you bought but the merchant won't accept a return.</a:t>
            </a:r>
            <a:endParaRPr lang="en-IN" sz="22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331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401217"/>
            <a:ext cx="11056776" cy="6204856"/>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5" name="Rounded Rectangle 4"/>
          <p:cNvSpPr/>
          <p:nvPr/>
        </p:nvSpPr>
        <p:spPr>
          <a:xfrm>
            <a:off x="1135959" y="596676"/>
            <a:ext cx="5246180" cy="55724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2800" dirty="0">
                <a:solidFill>
                  <a:schemeClr val="tx1"/>
                </a:solidFill>
                <a:latin typeface="Times New Roman" panose="02020603050405020304" pitchFamily="18" charset="0"/>
                <a:cs typeface="Times New Roman" panose="02020603050405020304" pitchFamily="18" charset="0"/>
              </a:rPr>
              <a:t>Disadvantages of Consumer Credit</a:t>
            </a:r>
          </a:p>
        </p:txBody>
      </p:sp>
      <p:sp>
        <p:nvSpPr>
          <p:cNvPr id="2" name="Rectangle 1"/>
          <p:cNvSpPr/>
          <p:nvPr/>
        </p:nvSpPr>
        <p:spPr>
          <a:xfrm>
            <a:off x="1135959" y="1547652"/>
            <a:ext cx="10434000" cy="4784002"/>
          </a:xfrm>
          <a:prstGeom prst="rect">
            <a:avLst/>
          </a:prstGeom>
        </p:spPr>
        <p:txBody>
          <a:bodyPr wrap="square">
            <a:spAutoFit/>
          </a:bodyPr>
          <a:lstStyle/>
          <a:p>
            <a:pPr marL="342900" lvl="0" indent="-342900" algn="just">
              <a:lnSpc>
                <a:spcPct val="107000"/>
              </a:lnSpc>
              <a:spcAft>
                <a:spcPts val="800"/>
              </a:spcAft>
              <a:buSzPts val="1000"/>
              <a:buFont typeface="Symbol" panose="05050102010706020507" pitchFamily="18" charset="2"/>
              <a:buChar char=""/>
              <a:tabLst>
                <a:tab pos="457200" algn="l"/>
              </a:tabLst>
            </a:pPr>
            <a:r>
              <a:rPr lang="en-IN" sz="2600" dirty="0">
                <a:latin typeface="Times New Roman" panose="02020603050405020304" pitchFamily="18" charset="0"/>
                <a:ea typeface="Times New Roman" panose="02020603050405020304" pitchFamily="18" charset="0"/>
                <a:cs typeface="Times New Roman" panose="02020603050405020304" pitchFamily="18" charset="0"/>
              </a:rPr>
              <a:t>Consumer credit can come at a cost, including interest charges and potential fees.</a:t>
            </a:r>
            <a:endParaRPr lang="en-IN" sz="2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600" dirty="0">
                <a:latin typeface="Times New Roman" panose="02020603050405020304" pitchFamily="18" charset="0"/>
                <a:ea typeface="Times New Roman" panose="02020603050405020304" pitchFamily="18" charset="0"/>
                <a:cs typeface="Times New Roman" panose="02020603050405020304" pitchFamily="18" charset="0"/>
              </a:rPr>
              <a:t>Access to consumer credit might enable you to spend beyond your means.</a:t>
            </a:r>
            <a:endParaRPr lang="en-IN" sz="2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600" dirty="0">
                <a:latin typeface="Times New Roman" panose="02020603050405020304" pitchFamily="18" charset="0"/>
                <a:ea typeface="Times New Roman" panose="02020603050405020304" pitchFamily="18" charset="0"/>
                <a:cs typeface="Times New Roman" panose="02020603050405020304" pitchFamily="18" charset="0"/>
              </a:rPr>
              <a:t>Missed payments and high debt levels could damage your credit and impact your ability to obtain credit in the future.</a:t>
            </a:r>
            <a:endParaRPr lang="en-IN" sz="2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600" dirty="0">
                <a:latin typeface="Times New Roman" panose="02020603050405020304" pitchFamily="18" charset="0"/>
                <a:ea typeface="Times New Roman" panose="02020603050405020304" pitchFamily="18" charset="0"/>
                <a:cs typeface="Times New Roman" panose="02020603050405020304" pitchFamily="18" charset="0"/>
              </a:rPr>
              <a:t>Piling up a lot of consumer debt could result in your debt being turned over to a debt collector, who might constantly nag you about paying the debt.</a:t>
            </a:r>
            <a:endParaRPr lang="en-IN" sz="2600" dirty="0">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n-IN" sz="2600" dirty="0">
                <a:latin typeface="Times New Roman" panose="02020603050405020304" pitchFamily="18" charset="0"/>
                <a:ea typeface="Times New Roman" panose="02020603050405020304" pitchFamily="18" charset="0"/>
                <a:cs typeface="Times New Roman" panose="02020603050405020304" pitchFamily="18" charset="0"/>
              </a:rPr>
              <a:t>Some predatory lenders might trap you into borrowing money at </a:t>
            </a:r>
            <a:r>
              <a:rPr lang="en-IN" sz="2600" dirty="0">
                <a:solidFill>
                  <a:srgbClr val="C00000"/>
                </a:solidFill>
                <a:latin typeface="Times New Roman" panose="02020603050405020304" pitchFamily="18" charset="0"/>
                <a:ea typeface="Times New Roman" panose="02020603050405020304" pitchFamily="18" charset="0"/>
                <a:cs typeface="Times New Roman" panose="02020603050405020304" pitchFamily="18" charset="0"/>
              </a:rPr>
              <a:t>sky-high interest rates</a:t>
            </a:r>
            <a:r>
              <a:rPr lang="en-IN" sz="2600"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2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88267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 name="Rounded Rectangle 2"/>
          <p:cNvSpPr/>
          <p:nvPr/>
        </p:nvSpPr>
        <p:spPr>
          <a:xfrm>
            <a:off x="3556194" y="1182993"/>
            <a:ext cx="5282116" cy="55724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3600" dirty="0">
              <a:latin typeface="Times New Roman" panose="02020603050405020304" pitchFamily="18" charset="0"/>
              <a:cs typeface="Times New Roman" panose="02020603050405020304" pitchFamily="18" charset="0"/>
            </a:endParaRPr>
          </a:p>
        </p:txBody>
      </p:sp>
      <p:sp>
        <p:nvSpPr>
          <p:cNvPr id="5" name="Rectangle 4"/>
          <p:cNvSpPr/>
          <p:nvPr/>
        </p:nvSpPr>
        <p:spPr>
          <a:xfrm>
            <a:off x="1539840" y="2283049"/>
            <a:ext cx="9314822" cy="3416320"/>
          </a:xfrm>
          <a:prstGeom prst="rect">
            <a:avLst/>
          </a:prstGeom>
        </p:spPr>
        <p:txBody>
          <a:bodyPr wrap="square">
            <a:spAutoFit/>
          </a:bodyPr>
          <a:lstStyle/>
          <a:p>
            <a:r>
              <a:rPr lang="en-US" sz="2400" b="1" dirty="0"/>
              <a:t>Savings Services</a:t>
            </a:r>
          </a:p>
          <a:p>
            <a:r>
              <a:rPr lang="en-US" sz="2400" dirty="0"/>
              <a:t>Savings services are financial products offered by banks, credit unions, post offices, and other institutions that allow individuals or organizations to store money securely while earning interest.</a:t>
            </a:r>
          </a:p>
          <a:p>
            <a:endParaRPr lang="en-US" sz="2400" dirty="0"/>
          </a:p>
          <a:p>
            <a:endParaRPr lang="en-US" sz="2400" dirty="0"/>
          </a:p>
          <a:p>
            <a:r>
              <a:rPr lang="en-US" sz="2400" b="1" dirty="0"/>
              <a:t>Payment Services</a:t>
            </a:r>
          </a:p>
          <a:p>
            <a:r>
              <a:rPr lang="en-US" sz="2400" dirty="0"/>
              <a:t>Payment services are facilities that enable the transfer of funds from one person/entity to another, physically or electronically.</a:t>
            </a:r>
          </a:p>
        </p:txBody>
      </p:sp>
      <p:sp>
        <p:nvSpPr>
          <p:cNvPr id="6" name="Rectangle 5"/>
          <p:cNvSpPr/>
          <p:nvPr/>
        </p:nvSpPr>
        <p:spPr>
          <a:xfrm>
            <a:off x="4221390" y="1230782"/>
            <a:ext cx="3951723" cy="461665"/>
          </a:xfrm>
          <a:prstGeom prst="rect">
            <a:avLst/>
          </a:prstGeom>
        </p:spPr>
        <p:txBody>
          <a:bodyPr wrap="none">
            <a:spAutoFit/>
          </a:bodyPr>
          <a:lstStyle/>
          <a:p>
            <a:r>
              <a:rPr lang="en-US" sz="2400" dirty="0">
                <a:latin typeface="Times New Roman" panose="02020603050405020304" pitchFamily="18" charset="0"/>
                <a:cs typeface="Times New Roman" panose="02020603050405020304" pitchFamily="18" charset="0"/>
              </a:rPr>
              <a:t>Savings and Payment Services</a:t>
            </a:r>
            <a:endParaRPr lang="en-IN" sz="2400" dirty="0"/>
          </a:p>
        </p:txBody>
      </p:sp>
    </p:spTree>
    <p:extLst>
      <p:ext uri="{BB962C8B-B14F-4D97-AF65-F5344CB8AC3E}">
        <p14:creationId xmlns:p14="http://schemas.microsoft.com/office/powerpoint/2010/main" val="390791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83771" y="634482"/>
            <a:ext cx="11056776" cy="560769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7963A23E-61A2-32DF-63B0-2DE15263FE08}"/>
              </a:ext>
            </a:extLst>
          </p:cNvPr>
          <p:cNvGraphicFramePr>
            <a:graphicFrameLocks noGrp="1"/>
          </p:cNvGraphicFramePr>
          <p:nvPr/>
        </p:nvGraphicFramePr>
        <p:xfrm>
          <a:off x="1550798" y="610660"/>
          <a:ext cx="9857431" cy="5612858"/>
        </p:xfrm>
        <a:graphic>
          <a:graphicData uri="http://schemas.openxmlformats.org/drawingml/2006/table">
            <a:tbl>
              <a:tblPr/>
              <a:tblGrid>
                <a:gridCol w="1567542">
                  <a:extLst>
                    <a:ext uri="{9D8B030D-6E8A-4147-A177-3AD203B41FA5}">
                      <a16:colId xmlns:a16="http://schemas.microsoft.com/office/drawing/2014/main" val="3558785004"/>
                    </a:ext>
                  </a:extLst>
                </a:gridCol>
                <a:gridCol w="3878664">
                  <a:extLst>
                    <a:ext uri="{9D8B030D-6E8A-4147-A177-3AD203B41FA5}">
                      <a16:colId xmlns:a16="http://schemas.microsoft.com/office/drawing/2014/main" val="1044644616"/>
                    </a:ext>
                  </a:extLst>
                </a:gridCol>
                <a:gridCol w="4411225">
                  <a:extLst>
                    <a:ext uri="{9D8B030D-6E8A-4147-A177-3AD203B41FA5}">
                      <a16:colId xmlns:a16="http://schemas.microsoft.com/office/drawing/2014/main" val="1252992975"/>
                    </a:ext>
                  </a:extLst>
                </a:gridCol>
              </a:tblGrid>
              <a:tr h="253008">
                <a:tc>
                  <a:txBody>
                    <a:bodyPr/>
                    <a:lstStyle/>
                    <a:p>
                      <a:pPr>
                        <a:buNone/>
                      </a:pPr>
                      <a:r>
                        <a:rPr lang="en-IN" sz="1800" b="1" dirty="0">
                          <a:latin typeface="+mn-lt"/>
                        </a:rPr>
                        <a:t>Aspect</a:t>
                      </a:r>
                      <a:endParaRPr lang="en-IN" sz="1800" dirty="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latin typeface="+mn-lt"/>
                        </a:rPr>
                        <a:t>Savings Services</a:t>
                      </a:r>
                      <a:endParaRPr lang="en-IN" sz="180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b="1">
                          <a:latin typeface="+mn-lt"/>
                        </a:rPr>
                        <a:t>Payment Services</a:t>
                      </a:r>
                      <a:endParaRPr lang="en-IN" sz="180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4763627"/>
                  </a:ext>
                </a:extLst>
              </a:tr>
              <a:tr h="442763">
                <a:tc>
                  <a:txBody>
                    <a:bodyPr/>
                    <a:lstStyle/>
                    <a:p>
                      <a:pPr>
                        <a:buNone/>
                      </a:pPr>
                      <a:r>
                        <a:rPr lang="en-IN" sz="1800" b="1" dirty="0">
                          <a:latin typeface="+mn-lt"/>
                        </a:rPr>
                        <a:t>Meaning</a:t>
                      </a:r>
                      <a:endParaRPr lang="en-IN" sz="1800" dirty="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Facilities to store money securely, often earning interest.</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mn-lt"/>
                        </a:rPr>
                        <a:t>Facilities to transfer money from one person/entity to another.</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30301153"/>
                  </a:ext>
                </a:extLst>
              </a:tr>
              <a:tr h="442763">
                <a:tc>
                  <a:txBody>
                    <a:bodyPr/>
                    <a:lstStyle/>
                    <a:p>
                      <a:pPr>
                        <a:buNone/>
                      </a:pPr>
                      <a:r>
                        <a:rPr lang="en-IN" sz="1800" b="1" dirty="0">
                          <a:latin typeface="+mn-lt"/>
                        </a:rPr>
                        <a:t>Purpose</a:t>
                      </a:r>
                      <a:endParaRPr lang="en-IN" sz="1800" dirty="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Encourage savings, safety of funds, and interest earnings.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latin typeface="+mn-lt"/>
                        </a:rPr>
                        <a:t>Enable quick, secure, and convenient transactions.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98687917"/>
                  </a:ext>
                </a:extLst>
              </a:tr>
              <a:tr h="822274">
                <a:tc>
                  <a:txBody>
                    <a:bodyPr/>
                    <a:lstStyle/>
                    <a:p>
                      <a:pPr>
                        <a:buNone/>
                      </a:pPr>
                      <a:r>
                        <a:rPr lang="en-IN" sz="1800" b="1">
                          <a:latin typeface="+mn-lt"/>
                        </a:rPr>
                        <a:t>Advantages</a:t>
                      </a:r>
                      <a:endParaRPr lang="en-IN" sz="180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Safe storage of money, Earn interest, Easy withdrawal, Encourages saving habits, Clear records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Convenient and fast, Secure alternative to cash, Instant transfers, Digital proof of payment, Global accessibility</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13502459"/>
                  </a:ext>
                </a:extLst>
              </a:tr>
              <a:tr h="822274">
                <a:tc>
                  <a:txBody>
                    <a:bodyPr/>
                    <a:lstStyle/>
                    <a:p>
                      <a:pPr>
                        <a:buNone/>
                      </a:pPr>
                      <a:r>
                        <a:rPr lang="en-IN" sz="1800" b="1">
                          <a:latin typeface="+mn-lt"/>
                        </a:rPr>
                        <a:t>Disadvantages</a:t>
                      </a:r>
                      <a:endParaRPr lang="en-IN" sz="180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Low interest rates, Withdrawal limits,	 Minimum balance requirements, Opportunity cost</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mn-lt"/>
                        </a:rPr>
                        <a:t>Transaction fees, Technical/network issues, Fraud risks, Requires internet/mobile access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0676431"/>
                  </a:ext>
                </a:extLst>
              </a:tr>
              <a:tr h="1012029">
                <a:tc>
                  <a:txBody>
                    <a:bodyPr/>
                    <a:lstStyle/>
                    <a:p>
                      <a:pPr>
                        <a:buNone/>
                      </a:pPr>
                      <a:r>
                        <a:rPr lang="en-IN" sz="1800" b="1">
                          <a:latin typeface="+mn-lt"/>
                        </a:rPr>
                        <a:t>Sources</a:t>
                      </a:r>
                      <a:endParaRPr lang="en-IN" sz="180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mn-lt"/>
                        </a:rPr>
                        <a:t>Commercial banks, Post office schemes, Credit unions/cooperatives, Microfinance institutions, Fintech savings platforms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800" dirty="0">
                          <a:latin typeface="+mn-lt"/>
                        </a:rPr>
                        <a:t>Bank transfers (NEFT, RTGS, IMPS), Debit/credit cards, Mobile wallets (Paytm, Google Pay), UPI, Cheques &amp; demand drafts, POS machines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8857032"/>
                  </a:ext>
                </a:extLst>
              </a:tr>
              <a:tr h="1012029">
                <a:tc>
                  <a:txBody>
                    <a:bodyPr/>
                    <a:lstStyle/>
                    <a:p>
                      <a:pPr>
                        <a:buNone/>
                      </a:pPr>
                      <a:r>
                        <a:rPr lang="en-IN" sz="1800" b="1">
                          <a:latin typeface="+mn-lt"/>
                        </a:rPr>
                        <a:t>Cost</a:t>
                      </a:r>
                      <a:endParaRPr lang="en-IN" sz="1800">
                        <a:latin typeface="+mn-lt"/>
                      </a:endParaRP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Account maintenance fees, Minimum balance penalties, Withdrawal/service charges, Loss of interest on premature withdrawal</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latin typeface="+mn-lt"/>
                        </a:rPr>
                        <a:t>Transaction fees, Card annual fees, Merchant service charges, Currency conversion charges</a:t>
                      </a:r>
                    </a:p>
                  </a:txBody>
                  <a:tcPr marL="57254" marR="57254" marT="28627" marB="2862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90447951"/>
                  </a:ext>
                </a:extLst>
              </a:tr>
            </a:tbl>
          </a:graphicData>
        </a:graphic>
      </p:graphicFrame>
    </p:spTree>
    <p:extLst>
      <p:ext uri="{BB962C8B-B14F-4D97-AF65-F5344CB8AC3E}">
        <p14:creationId xmlns:p14="http://schemas.microsoft.com/office/powerpoint/2010/main" val="15168205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4181</TotalTime>
  <Words>10432</Words>
  <Application>Microsoft Office PowerPoint</Application>
  <PresentationFormat>Widescreen</PresentationFormat>
  <Paragraphs>1130</Paragraphs>
  <Slides>127</Slides>
  <Notes>44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127</vt:i4>
      </vt:variant>
    </vt:vector>
  </HeadingPairs>
  <TitlesOfParts>
    <vt:vector size="137" baseType="lpstr">
      <vt:lpstr>Aptos</vt:lpstr>
      <vt:lpstr>Arial</vt:lpstr>
      <vt:lpstr>Calibri</vt:lpstr>
      <vt:lpstr>Calibri Light</vt:lpstr>
      <vt:lpstr>Georgia</vt:lpstr>
      <vt:lpstr>Symbol</vt:lpstr>
      <vt:lpstr>Tahoma</vt:lpstr>
      <vt:lpstr>Times New Roman</vt:lpstr>
      <vt:lpstr>Wingdings</vt:lpstr>
      <vt:lpstr>Office Theme</vt:lpstr>
      <vt:lpstr>Personal Finance Management</vt:lpstr>
      <vt:lpstr> The Millionaire’s Secret</vt:lpstr>
      <vt:lpstr>Look at these scenarios</vt:lpstr>
      <vt:lpstr>PowerPoint Presentation</vt:lpstr>
      <vt:lpstr>PowerPoint Presentation</vt:lpstr>
      <vt:lpstr>The Money Management Process</vt:lpstr>
      <vt:lpstr> Remember Budgeting?</vt:lpstr>
      <vt:lpstr>PowerPoint Presentation</vt:lpstr>
      <vt:lpstr>How do you find money for everything?</vt:lpstr>
      <vt:lpstr>Key Points</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“Why do I need to learn about finance..     I am very good in my own area of       specialization”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Banking institutions are financial organizations, also called as depository institutions that accept deposits from the public, provide loans, and offer various financial services to individuals, businesses, and the government.</vt:lpstr>
      <vt:lpstr>PowerPoint Presentation</vt:lpstr>
      <vt:lpstr>PowerPoint Presentation</vt:lpstr>
      <vt:lpstr>PowerPoint Presentation</vt:lpstr>
      <vt:lpstr>Functions of Commercial bank</vt:lpstr>
      <vt:lpstr>PowerPoint Presentation</vt:lpstr>
      <vt:lpstr>PowerPoint Presentation</vt:lpstr>
      <vt:lpstr>PowerPoint Presentation</vt:lpstr>
      <vt:lpstr>PowerPoint Presentation</vt:lpstr>
      <vt:lpstr>Merchant Banks</vt:lpstr>
      <vt:lpstr>Functions of Merchant Banks</vt:lpstr>
      <vt:lpstr>Leading merchant bankers in India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MERITS OF EQUITY SHARES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I need to learn about finance..     I am very good in my own area of       specialization”</dc:title>
  <dc:creator>admin</dc:creator>
  <cp:lastModifiedBy>ABHISHEK PANDEY - 60019220110</cp:lastModifiedBy>
  <cp:revision>108</cp:revision>
  <dcterms:created xsi:type="dcterms:W3CDTF">2021-02-07T05:18:22Z</dcterms:created>
  <dcterms:modified xsi:type="dcterms:W3CDTF">2025-09-19T19:31:11Z</dcterms:modified>
</cp:coreProperties>
</file>