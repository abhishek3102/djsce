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diagrams/data1.xml" ContentType="application/vnd.openxmlformats-officedocument.drawingml.diagramData+xml"/>
  <Override PartName="/ppt/slides/slide5.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4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8.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drawing1.xml" ContentType="application/vnd.ms-office.drawingml.diagramDrawing+xml"/>
  <Override PartName="/ppt/diagrams/colors1.xml" ContentType="application/vnd.openxmlformats-officedocument.drawingml.diagramColor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7" r:id="rId3"/>
    <p:sldId id="265" r:id="rId4"/>
    <p:sldId id="261" r:id="rId5"/>
    <p:sldId id="320" r:id="rId6"/>
    <p:sldId id="321" r:id="rId7"/>
    <p:sldId id="267" r:id="rId8"/>
    <p:sldId id="256" r:id="rId9"/>
    <p:sldId id="266" r:id="rId10"/>
    <p:sldId id="268" r:id="rId11"/>
    <p:sldId id="269" r:id="rId12"/>
    <p:sldId id="272" r:id="rId13"/>
    <p:sldId id="273" r:id="rId14"/>
    <p:sldId id="263" r:id="rId15"/>
    <p:sldId id="271" r:id="rId16"/>
    <p:sldId id="259" r:id="rId17"/>
    <p:sldId id="322" r:id="rId18"/>
    <p:sldId id="310" r:id="rId19"/>
    <p:sldId id="274" r:id="rId20"/>
    <p:sldId id="264" r:id="rId21"/>
    <p:sldId id="275" r:id="rId22"/>
    <p:sldId id="324" r:id="rId23"/>
    <p:sldId id="276" r:id="rId24"/>
    <p:sldId id="277" r:id="rId25"/>
    <p:sldId id="278" r:id="rId26"/>
    <p:sldId id="323" r:id="rId27"/>
    <p:sldId id="279" r:id="rId28"/>
    <p:sldId id="280" r:id="rId29"/>
    <p:sldId id="281" r:id="rId30"/>
    <p:sldId id="282" r:id="rId31"/>
    <p:sldId id="283" r:id="rId32"/>
    <p:sldId id="299" r:id="rId33"/>
    <p:sldId id="300" r:id="rId34"/>
    <p:sldId id="285" r:id="rId35"/>
    <p:sldId id="284" r:id="rId36"/>
    <p:sldId id="286" r:id="rId37"/>
    <p:sldId id="287" r:id="rId38"/>
    <p:sldId id="288" r:id="rId39"/>
    <p:sldId id="289" r:id="rId40"/>
    <p:sldId id="290" r:id="rId41"/>
    <p:sldId id="291" r:id="rId42"/>
    <p:sldId id="292" r:id="rId43"/>
    <p:sldId id="293" r:id="rId44"/>
    <p:sldId id="294" r:id="rId45"/>
    <p:sldId id="295" r:id="rId46"/>
    <p:sldId id="309" r:id="rId47"/>
    <p:sldId id="296" r:id="rId48"/>
    <p:sldId id="297" r:id="rId49"/>
    <p:sldId id="298" r:id="rId50"/>
    <p:sldId id="302" r:id="rId51"/>
    <p:sldId id="301" r:id="rId52"/>
    <p:sldId id="306" r:id="rId53"/>
    <p:sldId id="307" r:id="rId54"/>
    <p:sldId id="308" r:id="rId55"/>
    <p:sldId id="318" r:id="rId56"/>
    <p:sldId id="311" r:id="rId57"/>
    <p:sldId id="312" r:id="rId58"/>
    <p:sldId id="313" r:id="rId59"/>
    <p:sldId id="314" r:id="rId60"/>
    <p:sldId id="315" r:id="rId61"/>
    <p:sldId id="316" r:id="rId62"/>
    <p:sldId id="319" r:id="rId63"/>
    <p:sldId id="31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21" d="100"/>
          <a:sy n="121" d="100"/>
        </p:scale>
        <p:origin x="1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8FAA2A-9692-4812-83B5-13F7D42B42C0}" type="doc">
      <dgm:prSet loTypeId="urn:microsoft.com/office/officeart/2005/8/layout/pyramid1" loCatId="pyramid" qsTypeId="urn:microsoft.com/office/officeart/2005/8/quickstyle/simple3" qsCatId="simple" csTypeId="urn:microsoft.com/office/officeart/2005/8/colors/colorful1" csCatId="colorful" phldr="1"/>
      <dgm:spPr/>
    </dgm:pt>
    <dgm:pt modelId="{85864C98-7D9F-406D-A67A-53D8B0B211E3}">
      <dgm:prSet phldrT="[Text]" custT="1"/>
      <dgm:spPr>
        <a:solidFill>
          <a:srgbClr val="C00000"/>
        </a:solidFill>
      </dgm:spPr>
      <dgm:t>
        <a:bodyPr/>
        <a:lstStyle/>
        <a:p>
          <a:endParaRPr lang="en-IN" sz="1400" b="1" dirty="0" smtClean="0">
            <a:solidFill>
              <a:schemeClr val="bg1"/>
            </a:solidFill>
            <a:latin typeface="Arial" panose="020B0604020202020204" pitchFamily="34" charset="0"/>
            <a:cs typeface="Arial" panose="020B0604020202020204" pitchFamily="34" charset="0"/>
          </a:endParaRPr>
        </a:p>
        <a:p>
          <a:r>
            <a:rPr lang="en-IN" sz="1400" b="1" dirty="0" smtClean="0">
              <a:solidFill>
                <a:schemeClr val="bg1"/>
              </a:solidFill>
              <a:latin typeface="Arial" panose="020B0604020202020204" pitchFamily="34" charset="0"/>
              <a:cs typeface="Arial" panose="020B0604020202020204" pitchFamily="34" charset="0"/>
            </a:rPr>
            <a:t>Rich</a:t>
          </a:r>
        </a:p>
        <a:p>
          <a:r>
            <a:rPr lang="en-IN" sz="1400" b="1" dirty="0" smtClean="0">
              <a:solidFill>
                <a:schemeClr val="bg1"/>
              </a:solidFill>
              <a:latin typeface="Arial" panose="020B0604020202020204" pitchFamily="34" charset="0"/>
              <a:cs typeface="Arial" panose="020B0604020202020204" pitchFamily="34" charset="0"/>
            </a:rPr>
            <a:t>2 </a:t>
          </a:r>
          <a:r>
            <a:rPr lang="en-IN" sz="1400" b="1" dirty="0" err="1" smtClean="0">
              <a:solidFill>
                <a:schemeClr val="bg1"/>
              </a:solidFill>
              <a:latin typeface="Arial" panose="020B0604020202020204" pitchFamily="34" charset="0"/>
              <a:cs typeface="Arial" panose="020B0604020202020204" pitchFamily="34" charset="0"/>
            </a:rPr>
            <a:t>Mn</a:t>
          </a:r>
          <a:endParaRPr lang="en-IN" sz="1400" b="1" dirty="0">
            <a:solidFill>
              <a:schemeClr val="bg1"/>
            </a:solidFill>
            <a:latin typeface="Arial" panose="020B0604020202020204" pitchFamily="34" charset="0"/>
            <a:cs typeface="Arial" panose="020B0604020202020204" pitchFamily="34" charset="0"/>
          </a:endParaRPr>
        </a:p>
      </dgm:t>
    </dgm:pt>
    <dgm:pt modelId="{6CF25292-DAA7-447E-9098-CE3BFA62E195}" type="parTrans" cxnId="{D674319E-E38B-48DF-85C5-4CF3F10D304C}">
      <dgm:prSet/>
      <dgm:spPr/>
      <dgm:t>
        <a:bodyPr/>
        <a:lstStyle/>
        <a:p>
          <a:endParaRPr lang="en-IN" sz="1400">
            <a:latin typeface="Arial" panose="020B0604020202020204" pitchFamily="34" charset="0"/>
            <a:cs typeface="Arial" panose="020B0604020202020204" pitchFamily="34" charset="0"/>
          </a:endParaRPr>
        </a:p>
      </dgm:t>
    </dgm:pt>
    <dgm:pt modelId="{5D4B1A90-ABB6-4D41-BAA9-69CB8A0244A0}" type="sibTrans" cxnId="{D674319E-E38B-48DF-85C5-4CF3F10D304C}">
      <dgm:prSet/>
      <dgm:spPr/>
      <dgm:t>
        <a:bodyPr/>
        <a:lstStyle/>
        <a:p>
          <a:endParaRPr lang="en-IN" sz="1400">
            <a:latin typeface="Arial" panose="020B0604020202020204" pitchFamily="34" charset="0"/>
            <a:cs typeface="Arial" panose="020B0604020202020204" pitchFamily="34" charset="0"/>
          </a:endParaRPr>
        </a:p>
      </dgm:t>
    </dgm:pt>
    <dgm:pt modelId="{AC8620EE-41EB-4FD0-B9CE-813CECEB682D}">
      <dgm:prSet phldrT="[Text]" custT="1"/>
      <dgm:spPr>
        <a:solidFill>
          <a:srgbClr val="FFC000"/>
        </a:solidFill>
      </dgm:spPr>
      <dgm:t>
        <a:bodyPr/>
        <a:lstStyle/>
        <a:p>
          <a:r>
            <a:rPr lang="en-IN" sz="1400" b="1" dirty="0" smtClean="0">
              <a:solidFill>
                <a:schemeClr val="bg1"/>
              </a:solidFill>
              <a:latin typeface="Arial" panose="020B0604020202020204" pitchFamily="34" charset="0"/>
              <a:cs typeface="Arial" panose="020B0604020202020204" pitchFamily="34" charset="0"/>
            </a:rPr>
            <a:t>High Income</a:t>
          </a:r>
        </a:p>
        <a:p>
          <a:r>
            <a:rPr lang="en-IN" sz="1400" b="1" dirty="0" smtClean="0">
              <a:solidFill>
                <a:schemeClr val="bg1"/>
              </a:solidFill>
              <a:latin typeface="Arial" panose="020B0604020202020204" pitchFamily="34" charset="0"/>
              <a:cs typeface="Arial" panose="020B0604020202020204" pitchFamily="34" charset="0"/>
            </a:rPr>
            <a:t>53 </a:t>
          </a:r>
          <a:r>
            <a:rPr lang="en-IN" sz="1400" b="1" dirty="0" err="1" smtClean="0">
              <a:solidFill>
                <a:schemeClr val="bg1"/>
              </a:solidFill>
              <a:latin typeface="Arial" panose="020B0604020202020204" pitchFamily="34" charset="0"/>
              <a:cs typeface="Arial" panose="020B0604020202020204" pitchFamily="34" charset="0"/>
            </a:rPr>
            <a:t>Mn</a:t>
          </a:r>
          <a:r>
            <a:rPr lang="en-IN" sz="1400" b="1" dirty="0" smtClean="0">
              <a:solidFill>
                <a:schemeClr val="bg1"/>
              </a:solidFill>
              <a:latin typeface="Arial" panose="020B0604020202020204" pitchFamily="34" charset="0"/>
              <a:cs typeface="Arial" panose="020B0604020202020204" pitchFamily="34" charset="0"/>
            </a:rPr>
            <a:t> HHs</a:t>
          </a:r>
          <a:endParaRPr lang="en-IN" sz="1400" b="1" dirty="0">
            <a:solidFill>
              <a:schemeClr val="bg1"/>
            </a:solidFill>
            <a:latin typeface="Arial" panose="020B0604020202020204" pitchFamily="34" charset="0"/>
            <a:cs typeface="Arial" panose="020B0604020202020204" pitchFamily="34" charset="0"/>
          </a:endParaRPr>
        </a:p>
      </dgm:t>
    </dgm:pt>
    <dgm:pt modelId="{1FEA93D8-F1AD-4044-9840-4ADEE35A958C}" type="parTrans" cxnId="{F519EEB4-9CB6-43A7-885C-78B98258D15B}">
      <dgm:prSet/>
      <dgm:spPr/>
      <dgm:t>
        <a:bodyPr/>
        <a:lstStyle/>
        <a:p>
          <a:endParaRPr lang="en-IN" sz="1400">
            <a:latin typeface="Arial" panose="020B0604020202020204" pitchFamily="34" charset="0"/>
            <a:cs typeface="Arial" panose="020B0604020202020204" pitchFamily="34" charset="0"/>
          </a:endParaRPr>
        </a:p>
      </dgm:t>
    </dgm:pt>
    <dgm:pt modelId="{DEB07CDB-DE52-46AE-AAB5-F4BFE7FE319B}" type="sibTrans" cxnId="{F519EEB4-9CB6-43A7-885C-78B98258D15B}">
      <dgm:prSet/>
      <dgm:spPr/>
      <dgm:t>
        <a:bodyPr/>
        <a:lstStyle/>
        <a:p>
          <a:endParaRPr lang="en-IN" sz="1400">
            <a:latin typeface="Arial" panose="020B0604020202020204" pitchFamily="34" charset="0"/>
            <a:cs typeface="Arial" panose="020B0604020202020204" pitchFamily="34" charset="0"/>
          </a:endParaRPr>
        </a:p>
      </dgm:t>
    </dgm:pt>
    <dgm:pt modelId="{E1CEB8D8-C33E-43C4-8667-539D1F2836CC}">
      <dgm:prSet phldrT="[Text]" custT="1"/>
      <dgm:spPr>
        <a:gradFill rotWithShape="0">
          <a:gsLst>
            <a:gs pos="100000">
              <a:schemeClr val="accent2"/>
            </a:gs>
            <a:gs pos="100000">
              <a:srgbClr val="002060"/>
            </a:gs>
            <a:gs pos="100000">
              <a:schemeClr val="accent5">
                <a:hueOff val="0"/>
                <a:satOff val="0"/>
                <a:lumOff val="0"/>
                <a:alphaOff val="0"/>
                <a:lumMod val="105000"/>
                <a:satMod val="103000"/>
                <a:tint val="73000"/>
              </a:schemeClr>
            </a:gs>
          </a:gsLst>
          <a:lin ang="5400000" scaled="0"/>
        </a:gradFill>
      </dgm:spPr>
      <dgm:t>
        <a:bodyPr/>
        <a:lstStyle/>
        <a:p>
          <a:r>
            <a:rPr lang="en-IN" sz="1400" b="1" dirty="0" smtClean="0">
              <a:solidFill>
                <a:schemeClr val="bg1"/>
              </a:solidFill>
              <a:latin typeface="Arial" panose="020B0604020202020204" pitchFamily="34" charset="0"/>
              <a:cs typeface="Arial" panose="020B0604020202020204" pitchFamily="34" charset="0"/>
            </a:rPr>
            <a:t>Middle Income</a:t>
          </a:r>
        </a:p>
        <a:p>
          <a:r>
            <a:rPr lang="en-IN" sz="1400" b="1" dirty="0" smtClean="0">
              <a:solidFill>
                <a:schemeClr val="bg1"/>
              </a:solidFill>
              <a:latin typeface="Arial" panose="020B0604020202020204" pitchFamily="34" charset="0"/>
              <a:cs typeface="Arial" panose="020B0604020202020204" pitchFamily="34" charset="0"/>
            </a:rPr>
            <a:t>80 </a:t>
          </a:r>
          <a:r>
            <a:rPr lang="en-IN" sz="1400" b="1" dirty="0" err="1" smtClean="0">
              <a:solidFill>
                <a:schemeClr val="bg1"/>
              </a:solidFill>
              <a:latin typeface="Arial" panose="020B0604020202020204" pitchFamily="34" charset="0"/>
              <a:cs typeface="Arial" panose="020B0604020202020204" pitchFamily="34" charset="0"/>
            </a:rPr>
            <a:t>Mn</a:t>
          </a:r>
          <a:r>
            <a:rPr lang="en-IN" sz="1400" b="1" dirty="0" smtClean="0">
              <a:solidFill>
                <a:schemeClr val="bg1"/>
              </a:solidFill>
              <a:latin typeface="Arial" panose="020B0604020202020204" pitchFamily="34" charset="0"/>
              <a:cs typeface="Arial" panose="020B0604020202020204" pitchFamily="34" charset="0"/>
            </a:rPr>
            <a:t> HHs</a:t>
          </a:r>
        </a:p>
      </dgm:t>
    </dgm:pt>
    <dgm:pt modelId="{A9FC2F4D-C2F7-4AE0-A7B8-B6BA7BF40EDE}" type="parTrans" cxnId="{FEB06942-BA14-4EE2-8B78-F0854D3EFDF5}">
      <dgm:prSet/>
      <dgm:spPr/>
      <dgm:t>
        <a:bodyPr/>
        <a:lstStyle/>
        <a:p>
          <a:endParaRPr lang="en-IN" sz="1400">
            <a:latin typeface="Arial" panose="020B0604020202020204" pitchFamily="34" charset="0"/>
            <a:cs typeface="Arial" panose="020B0604020202020204" pitchFamily="34" charset="0"/>
          </a:endParaRPr>
        </a:p>
      </dgm:t>
    </dgm:pt>
    <dgm:pt modelId="{A2D7760E-736D-4FF6-92E5-653EEB0BE408}" type="sibTrans" cxnId="{FEB06942-BA14-4EE2-8B78-F0854D3EFDF5}">
      <dgm:prSet/>
      <dgm:spPr/>
      <dgm:t>
        <a:bodyPr/>
        <a:lstStyle/>
        <a:p>
          <a:endParaRPr lang="en-IN" sz="1400">
            <a:latin typeface="Arial" panose="020B0604020202020204" pitchFamily="34" charset="0"/>
            <a:cs typeface="Arial" panose="020B0604020202020204" pitchFamily="34" charset="0"/>
          </a:endParaRPr>
        </a:p>
      </dgm:t>
    </dgm:pt>
    <dgm:pt modelId="{C4B0A2D4-3B48-4DF0-AD68-296FE80FD893}">
      <dgm:prSet phldrT="[Text]" custT="1"/>
      <dgm:spPr>
        <a:solidFill>
          <a:schemeClr val="accent5"/>
        </a:solidFill>
      </dgm:spPr>
      <dgm:t>
        <a:bodyPr/>
        <a:lstStyle/>
        <a:p>
          <a:r>
            <a:rPr lang="en-IN" sz="1400" b="1" dirty="0" smtClean="0">
              <a:solidFill>
                <a:schemeClr val="bg1"/>
              </a:solidFill>
              <a:latin typeface="Arial" panose="020B0604020202020204" pitchFamily="34" charset="0"/>
              <a:cs typeface="Arial" panose="020B0604020202020204" pitchFamily="34" charset="0"/>
            </a:rPr>
            <a:t>Low Income</a:t>
          </a:r>
        </a:p>
        <a:p>
          <a:r>
            <a:rPr lang="en-IN" sz="1400" b="1" dirty="0" smtClean="0">
              <a:solidFill>
                <a:schemeClr val="bg1"/>
              </a:solidFill>
              <a:latin typeface="Arial" panose="020B0604020202020204" pitchFamily="34" charset="0"/>
              <a:cs typeface="Arial" panose="020B0604020202020204" pitchFamily="34" charset="0"/>
            </a:rPr>
            <a:t>84 </a:t>
          </a:r>
          <a:r>
            <a:rPr lang="en-IN" sz="1400" b="1" dirty="0" err="1" smtClean="0">
              <a:solidFill>
                <a:schemeClr val="bg1"/>
              </a:solidFill>
              <a:latin typeface="Arial" panose="020B0604020202020204" pitchFamily="34" charset="0"/>
              <a:cs typeface="Arial" panose="020B0604020202020204" pitchFamily="34" charset="0"/>
            </a:rPr>
            <a:t>Mn</a:t>
          </a:r>
          <a:r>
            <a:rPr lang="en-IN" sz="1400" b="1" dirty="0" smtClean="0">
              <a:solidFill>
                <a:schemeClr val="bg1"/>
              </a:solidFill>
              <a:latin typeface="Arial" panose="020B0604020202020204" pitchFamily="34" charset="0"/>
              <a:cs typeface="Arial" panose="020B0604020202020204" pitchFamily="34" charset="0"/>
            </a:rPr>
            <a:t> HHs</a:t>
          </a:r>
        </a:p>
      </dgm:t>
    </dgm:pt>
    <dgm:pt modelId="{518EE433-DAD7-4D0A-B8AE-D50AD1F97F7B}" type="parTrans" cxnId="{86CE3981-E24B-401E-A2B2-72239CA61D4A}">
      <dgm:prSet/>
      <dgm:spPr/>
      <dgm:t>
        <a:bodyPr/>
        <a:lstStyle/>
        <a:p>
          <a:endParaRPr lang="en-IN" sz="1400">
            <a:latin typeface="Arial" panose="020B0604020202020204" pitchFamily="34" charset="0"/>
            <a:cs typeface="Arial" panose="020B0604020202020204" pitchFamily="34" charset="0"/>
          </a:endParaRPr>
        </a:p>
      </dgm:t>
    </dgm:pt>
    <dgm:pt modelId="{60112D7D-E689-4123-A2ED-A8636E751F53}" type="sibTrans" cxnId="{86CE3981-E24B-401E-A2B2-72239CA61D4A}">
      <dgm:prSet/>
      <dgm:spPr/>
      <dgm:t>
        <a:bodyPr/>
        <a:lstStyle/>
        <a:p>
          <a:endParaRPr lang="en-IN" sz="1400">
            <a:latin typeface="Arial" panose="020B0604020202020204" pitchFamily="34" charset="0"/>
            <a:cs typeface="Arial" panose="020B0604020202020204" pitchFamily="34" charset="0"/>
          </a:endParaRPr>
        </a:p>
      </dgm:t>
    </dgm:pt>
    <dgm:pt modelId="{DCEA85D6-A128-4D1F-8B72-F213027F00CA}">
      <dgm:prSet phldrT="[Text]" custT="1"/>
      <dgm:spPr>
        <a:gradFill rotWithShape="0">
          <a:gsLst>
            <a:gs pos="0">
              <a:schemeClr val="accent6">
                <a:hueOff val="0"/>
                <a:satOff val="0"/>
                <a:lumOff val="0"/>
                <a:alphaOff val="0"/>
                <a:lumMod val="110000"/>
                <a:satMod val="105000"/>
                <a:tint val="67000"/>
              </a:schemeClr>
            </a:gs>
            <a:gs pos="100000">
              <a:schemeClr val="accent1">
                <a:lumMod val="75000"/>
              </a:schemeClr>
            </a:gs>
            <a:gs pos="99000">
              <a:schemeClr val="accent4">
                <a:lumMod val="60000"/>
                <a:lumOff val="40000"/>
              </a:schemeClr>
            </a:gs>
          </a:gsLst>
        </a:gradFill>
      </dgm:spPr>
      <dgm:t>
        <a:bodyPr/>
        <a:lstStyle/>
        <a:p>
          <a:r>
            <a:rPr lang="en-IN" sz="1400" b="1" dirty="0" smtClean="0">
              <a:solidFill>
                <a:srgbClr val="002060"/>
              </a:solidFill>
              <a:latin typeface="Arial" panose="020B0604020202020204" pitchFamily="34" charset="0"/>
              <a:cs typeface="Arial" panose="020B0604020202020204" pitchFamily="34" charset="0"/>
            </a:rPr>
            <a:t>Poor </a:t>
          </a:r>
        </a:p>
        <a:p>
          <a:r>
            <a:rPr lang="en-IN" sz="1400" b="1" dirty="0" smtClean="0">
              <a:solidFill>
                <a:srgbClr val="002060"/>
              </a:solidFill>
              <a:latin typeface="Arial" panose="020B0604020202020204" pitchFamily="34" charset="0"/>
              <a:cs typeface="Arial" panose="020B0604020202020204" pitchFamily="34" charset="0"/>
            </a:rPr>
            <a:t>56 </a:t>
          </a:r>
          <a:r>
            <a:rPr lang="en-IN" sz="1400" b="1" dirty="0" err="1" smtClean="0">
              <a:solidFill>
                <a:srgbClr val="002060"/>
              </a:solidFill>
              <a:latin typeface="Arial" panose="020B0604020202020204" pitchFamily="34" charset="0"/>
              <a:cs typeface="Arial" panose="020B0604020202020204" pitchFamily="34" charset="0"/>
            </a:rPr>
            <a:t>Mn</a:t>
          </a:r>
          <a:r>
            <a:rPr lang="en-IN" sz="1400" b="1" dirty="0" smtClean="0">
              <a:solidFill>
                <a:srgbClr val="002060"/>
              </a:solidFill>
              <a:latin typeface="Arial" panose="020B0604020202020204" pitchFamily="34" charset="0"/>
              <a:cs typeface="Arial" panose="020B0604020202020204" pitchFamily="34" charset="0"/>
            </a:rPr>
            <a:t> HHs</a:t>
          </a:r>
        </a:p>
      </dgm:t>
    </dgm:pt>
    <dgm:pt modelId="{3E1767DB-9AB4-4CBE-9905-8EB4D2A9135B}" type="parTrans" cxnId="{CD7D1961-E2D6-4334-B3DE-EB80C554E6D4}">
      <dgm:prSet/>
      <dgm:spPr/>
      <dgm:t>
        <a:bodyPr/>
        <a:lstStyle/>
        <a:p>
          <a:endParaRPr lang="en-IN" sz="1400">
            <a:latin typeface="Arial" panose="020B0604020202020204" pitchFamily="34" charset="0"/>
            <a:cs typeface="Arial" panose="020B0604020202020204" pitchFamily="34" charset="0"/>
          </a:endParaRPr>
        </a:p>
      </dgm:t>
    </dgm:pt>
    <dgm:pt modelId="{8A9721B1-D7E1-4171-8C3A-B54221EF2A92}" type="sibTrans" cxnId="{CD7D1961-E2D6-4334-B3DE-EB80C554E6D4}">
      <dgm:prSet/>
      <dgm:spPr/>
      <dgm:t>
        <a:bodyPr/>
        <a:lstStyle/>
        <a:p>
          <a:endParaRPr lang="en-IN" sz="1400">
            <a:latin typeface="Arial" panose="020B0604020202020204" pitchFamily="34" charset="0"/>
            <a:cs typeface="Arial" panose="020B0604020202020204" pitchFamily="34" charset="0"/>
          </a:endParaRPr>
        </a:p>
      </dgm:t>
    </dgm:pt>
    <dgm:pt modelId="{27AB28AB-913F-4B9D-84DF-58C8A6689E1A}" type="pres">
      <dgm:prSet presAssocID="{EC8FAA2A-9692-4812-83B5-13F7D42B42C0}" presName="Name0" presStyleCnt="0">
        <dgm:presLayoutVars>
          <dgm:dir/>
          <dgm:animLvl val="lvl"/>
          <dgm:resizeHandles val="exact"/>
        </dgm:presLayoutVars>
      </dgm:prSet>
      <dgm:spPr/>
    </dgm:pt>
    <dgm:pt modelId="{817C4400-D8C9-40DE-B72A-A745121E9A3F}" type="pres">
      <dgm:prSet presAssocID="{85864C98-7D9F-406D-A67A-53D8B0B211E3}" presName="Name8" presStyleCnt="0"/>
      <dgm:spPr/>
    </dgm:pt>
    <dgm:pt modelId="{ACD43318-F145-4CA2-9D02-BC9BD972F08B}" type="pres">
      <dgm:prSet presAssocID="{85864C98-7D9F-406D-A67A-53D8B0B211E3}" presName="level" presStyleLbl="node1" presStyleIdx="0" presStyleCnt="5">
        <dgm:presLayoutVars>
          <dgm:chMax val="1"/>
          <dgm:bulletEnabled val="1"/>
        </dgm:presLayoutVars>
      </dgm:prSet>
      <dgm:spPr/>
      <dgm:t>
        <a:bodyPr/>
        <a:lstStyle/>
        <a:p>
          <a:endParaRPr lang="en-IN"/>
        </a:p>
      </dgm:t>
    </dgm:pt>
    <dgm:pt modelId="{A0D711A9-425C-41BD-868C-4BC0A3D44E37}" type="pres">
      <dgm:prSet presAssocID="{85864C98-7D9F-406D-A67A-53D8B0B211E3}" presName="levelTx" presStyleLbl="revTx" presStyleIdx="0" presStyleCnt="0">
        <dgm:presLayoutVars>
          <dgm:chMax val="1"/>
          <dgm:bulletEnabled val="1"/>
        </dgm:presLayoutVars>
      </dgm:prSet>
      <dgm:spPr/>
      <dgm:t>
        <a:bodyPr/>
        <a:lstStyle/>
        <a:p>
          <a:endParaRPr lang="en-IN"/>
        </a:p>
      </dgm:t>
    </dgm:pt>
    <dgm:pt modelId="{93810216-21B2-48EB-818E-136F37ECB8CA}" type="pres">
      <dgm:prSet presAssocID="{AC8620EE-41EB-4FD0-B9CE-813CECEB682D}" presName="Name8" presStyleCnt="0"/>
      <dgm:spPr/>
    </dgm:pt>
    <dgm:pt modelId="{B6E230C8-832A-4AEB-B947-8BFD688A691B}" type="pres">
      <dgm:prSet presAssocID="{AC8620EE-41EB-4FD0-B9CE-813CECEB682D}" presName="level" presStyleLbl="node1" presStyleIdx="1" presStyleCnt="5">
        <dgm:presLayoutVars>
          <dgm:chMax val="1"/>
          <dgm:bulletEnabled val="1"/>
        </dgm:presLayoutVars>
      </dgm:prSet>
      <dgm:spPr/>
      <dgm:t>
        <a:bodyPr/>
        <a:lstStyle/>
        <a:p>
          <a:endParaRPr lang="en-IN"/>
        </a:p>
      </dgm:t>
    </dgm:pt>
    <dgm:pt modelId="{81F8814A-943C-418D-8B0B-D645493CA65D}" type="pres">
      <dgm:prSet presAssocID="{AC8620EE-41EB-4FD0-B9CE-813CECEB682D}" presName="levelTx" presStyleLbl="revTx" presStyleIdx="0" presStyleCnt="0">
        <dgm:presLayoutVars>
          <dgm:chMax val="1"/>
          <dgm:bulletEnabled val="1"/>
        </dgm:presLayoutVars>
      </dgm:prSet>
      <dgm:spPr/>
      <dgm:t>
        <a:bodyPr/>
        <a:lstStyle/>
        <a:p>
          <a:endParaRPr lang="en-IN"/>
        </a:p>
      </dgm:t>
    </dgm:pt>
    <dgm:pt modelId="{9E7D6E7A-879A-4F04-9C74-01DED5B310BD}" type="pres">
      <dgm:prSet presAssocID="{E1CEB8D8-C33E-43C4-8667-539D1F2836CC}" presName="Name8" presStyleCnt="0"/>
      <dgm:spPr/>
    </dgm:pt>
    <dgm:pt modelId="{A4DAA10E-F473-46F6-868C-9AC568C1B0D3}" type="pres">
      <dgm:prSet presAssocID="{E1CEB8D8-C33E-43C4-8667-539D1F2836CC}" presName="level" presStyleLbl="node1" presStyleIdx="2" presStyleCnt="5">
        <dgm:presLayoutVars>
          <dgm:chMax val="1"/>
          <dgm:bulletEnabled val="1"/>
        </dgm:presLayoutVars>
      </dgm:prSet>
      <dgm:spPr/>
      <dgm:t>
        <a:bodyPr/>
        <a:lstStyle/>
        <a:p>
          <a:endParaRPr lang="en-IN"/>
        </a:p>
      </dgm:t>
    </dgm:pt>
    <dgm:pt modelId="{CCB8A34C-5D63-40AE-8305-62E8EC07A563}" type="pres">
      <dgm:prSet presAssocID="{E1CEB8D8-C33E-43C4-8667-539D1F2836CC}" presName="levelTx" presStyleLbl="revTx" presStyleIdx="0" presStyleCnt="0">
        <dgm:presLayoutVars>
          <dgm:chMax val="1"/>
          <dgm:bulletEnabled val="1"/>
        </dgm:presLayoutVars>
      </dgm:prSet>
      <dgm:spPr/>
      <dgm:t>
        <a:bodyPr/>
        <a:lstStyle/>
        <a:p>
          <a:endParaRPr lang="en-IN"/>
        </a:p>
      </dgm:t>
    </dgm:pt>
    <dgm:pt modelId="{9D445C5A-E0BB-46B9-A07A-28F7B10C742D}" type="pres">
      <dgm:prSet presAssocID="{C4B0A2D4-3B48-4DF0-AD68-296FE80FD893}" presName="Name8" presStyleCnt="0"/>
      <dgm:spPr/>
    </dgm:pt>
    <dgm:pt modelId="{42F31B68-1464-4146-A1B2-1DB78F4BF4AE}" type="pres">
      <dgm:prSet presAssocID="{C4B0A2D4-3B48-4DF0-AD68-296FE80FD893}" presName="level" presStyleLbl="node1" presStyleIdx="3" presStyleCnt="5">
        <dgm:presLayoutVars>
          <dgm:chMax val="1"/>
          <dgm:bulletEnabled val="1"/>
        </dgm:presLayoutVars>
      </dgm:prSet>
      <dgm:spPr/>
      <dgm:t>
        <a:bodyPr/>
        <a:lstStyle/>
        <a:p>
          <a:endParaRPr lang="en-IN"/>
        </a:p>
      </dgm:t>
    </dgm:pt>
    <dgm:pt modelId="{41DBEF34-FED3-4547-A2AB-DE525A986AE4}" type="pres">
      <dgm:prSet presAssocID="{C4B0A2D4-3B48-4DF0-AD68-296FE80FD893}" presName="levelTx" presStyleLbl="revTx" presStyleIdx="0" presStyleCnt="0">
        <dgm:presLayoutVars>
          <dgm:chMax val="1"/>
          <dgm:bulletEnabled val="1"/>
        </dgm:presLayoutVars>
      </dgm:prSet>
      <dgm:spPr/>
      <dgm:t>
        <a:bodyPr/>
        <a:lstStyle/>
        <a:p>
          <a:endParaRPr lang="en-IN"/>
        </a:p>
      </dgm:t>
    </dgm:pt>
    <dgm:pt modelId="{164FD1D1-9877-4863-AF75-FAA09643F626}" type="pres">
      <dgm:prSet presAssocID="{DCEA85D6-A128-4D1F-8B72-F213027F00CA}" presName="Name8" presStyleCnt="0"/>
      <dgm:spPr/>
    </dgm:pt>
    <dgm:pt modelId="{D4FEB0CE-2134-4DB3-A449-4122CA483951}" type="pres">
      <dgm:prSet presAssocID="{DCEA85D6-A128-4D1F-8B72-F213027F00CA}" presName="level" presStyleLbl="node1" presStyleIdx="4" presStyleCnt="5">
        <dgm:presLayoutVars>
          <dgm:chMax val="1"/>
          <dgm:bulletEnabled val="1"/>
        </dgm:presLayoutVars>
      </dgm:prSet>
      <dgm:spPr/>
      <dgm:t>
        <a:bodyPr/>
        <a:lstStyle/>
        <a:p>
          <a:endParaRPr lang="en-IN"/>
        </a:p>
      </dgm:t>
    </dgm:pt>
    <dgm:pt modelId="{F6A87F75-41F1-41AA-A88C-874655C6A8B6}" type="pres">
      <dgm:prSet presAssocID="{DCEA85D6-A128-4D1F-8B72-F213027F00CA}" presName="levelTx" presStyleLbl="revTx" presStyleIdx="0" presStyleCnt="0">
        <dgm:presLayoutVars>
          <dgm:chMax val="1"/>
          <dgm:bulletEnabled val="1"/>
        </dgm:presLayoutVars>
      </dgm:prSet>
      <dgm:spPr/>
      <dgm:t>
        <a:bodyPr/>
        <a:lstStyle/>
        <a:p>
          <a:endParaRPr lang="en-IN"/>
        </a:p>
      </dgm:t>
    </dgm:pt>
  </dgm:ptLst>
  <dgm:cxnLst>
    <dgm:cxn modelId="{0952A01A-8236-4EE6-A738-BDBA912B2C36}" type="presOf" srcId="{C4B0A2D4-3B48-4DF0-AD68-296FE80FD893}" destId="{41DBEF34-FED3-4547-A2AB-DE525A986AE4}" srcOrd="1" destOrd="0" presId="urn:microsoft.com/office/officeart/2005/8/layout/pyramid1"/>
    <dgm:cxn modelId="{C3C51F6F-BEB1-4515-8115-678D4660EDA4}" type="presOf" srcId="{E1CEB8D8-C33E-43C4-8667-539D1F2836CC}" destId="{CCB8A34C-5D63-40AE-8305-62E8EC07A563}" srcOrd="1" destOrd="0" presId="urn:microsoft.com/office/officeart/2005/8/layout/pyramid1"/>
    <dgm:cxn modelId="{F80ECE9B-7F94-444E-AD5E-18DDFA8FEB94}" type="presOf" srcId="{EC8FAA2A-9692-4812-83B5-13F7D42B42C0}" destId="{27AB28AB-913F-4B9D-84DF-58C8A6689E1A}" srcOrd="0" destOrd="0" presId="urn:microsoft.com/office/officeart/2005/8/layout/pyramid1"/>
    <dgm:cxn modelId="{73E4D797-1DAD-4101-8477-87B1B3828568}" type="presOf" srcId="{AC8620EE-41EB-4FD0-B9CE-813CECEB682D}" destId="{B6E230C8-832A-4AEB-B947-8BFD688A691B}" srcOrd="0" destOrd="0" presId="urn:microsoft.com/office/officeart/2005/8/layout/pyramid1"/>
    <dgm:cxn modelId="{D674319E-E38B-48DF-85C5-4CF3F10D304C}" srcId="{EC8FAA2A-9692-4812-83B5-13F7D42B42C0}" destId="{85864C98-7D9F-406D-A67A-53D8B0B211E3}" srcOrd="0" destOrd="0" parTransId="{6CF25292-DAA7-447E-9098-CE3BFA62E195}" sibTransId="{5D4B1A90-ABB6-4D41-BAA9-69CB8A0244A0}"/>
    <dgm:cxn modelId="{3B790C72-E44A-42BA-B619-011BAA3D1FB4}" type="presOf" srcId="{85864C98-7D9F-406D-A67A-53D8B0B211E3}" destId="{ACD43318-F145-4CA2-9D02-BC9BD972F08B}" srcOrd="0" destOrd="0" presId="urn:microsoft.com/office/officeart/2005/8/layout/pyramid1"/>
    <dgm:cxn modelId="{661D8EE3-145B-434B-B436-1636991F07F4}" type="presOf" srcId="{DCEA85D6-A128-4D1F-8B72-F213027F00CA}" destId="{D4FEB0CE-2134-4DB3-A449-4122CA483951}" srcOrd="0" destOrd="0" presId="urn:microsoft.com/office/officeart/2005/8/layout/pyramid1"/>
    <dgm:cxn modelId="{F8457774-09F7-46BF-B63D-E76888F091C7}" type="presOf" srcId="{85864C98-7D9F-406D-A67A-53D8B0B211E3}" destId="{A0D711A9-425C-41BD-868C-4BC0A3D44E37}" srcOrd="1" destOrd="0" presId="urn:microsoft.com/office/officeart/2005/8/layout/pyramid1"/>
    <dgm:cxn modelId="{62B70BB4-16F0-483B-A29F-E2082797DBBB}" type="presOf" srcId="{AC8620EE-41EB-4FD0-B9CE-813CECEB682D}" destId="{81F8814A-943C-418D-8B0B-D645493CA65D}" srcOrd="1" destOrd="0" presId="urn:microsoft.com/office/officeart/2005/8/layout/pyramid1"/>
    <dgm:cxn modelId="{CD7D1961-E2D6-4334-B3DE-EB80C554E6D4}" srcId="{EC8FAA2A-9692-4812-83B5-13F7D42B42C0}" destId="{DCEA85D6-A128-4D1F-8B72-F213027F00CA}" srcOrd="4" destOrd="0" parTransId="{3E1767DB-9AB4-4CBE-9905-8EB4D2A9135B}" sibTransId="{8A9721B1-D7E1-4171-8C3A-B54221EF2A92}"/>
    <dgm:cxn modelId="{86CE3981-E24B-401E-A2B2-72239CA61D4A}" srcId="{EC8FAA2A-9692-4812-83B5-13F7D42B42C0}" destId="{C4B0A2D4-3B48-4DF0-AD68-296FE80FD893}" srcOrd="3" destOrd="0" parTransId="{518EE433-DAD7-4D0A-B8AE-D50AD1F97F7B}" sibTransId="{60112D7D-E689-4123-A2ED-A8636E751F53}"/>
    <dgm:cxn modelId="{FEB06942-BA14-4EE2-8B78-F0854D3EFDF5}" srcId="{EC8FAA2A-9692-4812-83B5-13F7D42B42C0}" destId="{E1CEB8D8-C33E-43C4-8667-539D1F2836CC}" srcOrd="2" destOrd="0" parTransId="{A9FC2F4D-C2F7-4AE0-A7B8-B6BA7BF40EDE}" sibTransId="{A2D7760E-736D-4FF6-92E5-653EEB0BE408}"/>
    <dgm:cxn modelId="{EE02C75B-9E04-4FD8-9958-674A3F852314}" type="presOf" srcId="{E1CEB8D8-C33E-43C4-8667-539D1F2836CC}" destId="{A4DAA10E-F473-46F6-868C-9AC568C1B0D3}" srcOrd="0" destOrd="0" presId="urn:microsoft.com/office/officeart/2005/8/layout/pyramid1"/>
    <dgm:cxn modelId="{A3B6555C-3E31-4B53-A617-573B61C7415B}" type="presOf" srcId="{C4B0A2D4-3B48-4DF0-AD68-296FE80FD893}" destId="{42F31B68-1464-4146-A1B2-1DB78F4BF4AE}" srcOrd="0" destOrd="0" presId="urn:microsoft.com/office/officeart/2005/8/layout/pyramid1"/>
    <dgm:cxn modelId="{2C021854-9C62-4490-AF27-7ED33C886F5E}" type="presOf" srcId="{DCEA85D6-A128-4D1F-8B72-F213027F00CA}" destId="{F6A87F75-41F1-41AA-A88C-874655C6A8B6}" srcOrd="1" destOrd="0" presId="urn:microsoft.com/office/officeart/2005/8/layout/pyramid1"/>
    <dgm:cxn modelId="{F519EEB4-9CB6-43A7-885C-78B98258D15B}" srcId="{EC8FAA2A-9692-4812-83B5-13F7D42B42C0}" destId="{AC8620EE-41EB-4FD0-B9CE-813CECEB682D}" srcOrd="1" destOrd="0" parTransId="{1FEA93D8-F1AD-4044-9840-4ADEE35A958C}" sibTransId="{DEB07CDB-DE52-46AE-AAB5-F4BFE7FE319B}"/>
    <dgm:cxn modelId="{DD5EF6FC-D805-432F-B27A-DDF1AB767D27}" type="presParOf" srcId="{27AB28AB-913F-4B9D-84DF-58C8A6689E1A}" destId="{817C4400-D8C9-40DE-B72A-A745121E9A3F}" srcOrd="0" destOrd="0" presId="urn:microsoft.com/office/officeart/2005/8/layout/pyramid1"/>
    <dgm:cxn modelId="{BDFDE928-1834-444D-AFDD-0EFCAE8AED8D}" type="presParOf" srcId="{817C4400-D8C9-40DE-B72A-A745121E9A3F}" destId="{ACD43318-F145-4CA2-9D02-BC9BD972F08B}" srcOrd="0" destOrd="0" presId="urn:microsoft.com/office/officeart/2005/8/layout/pyramid1"/>
    <dgm:cxn modelId="{FA9EA37A-6CB3-4008-890E-6DB5B2AC8045}" type="presParOf" srcId="{817C4400-D8C9-40DE-B72A-A745121E9A3F}" destId="{A0D711A9-425C-41BD-868C-4BC0A3D44E37}" srcOrd="1" destOrd="0" presId="urn:microsoft.com/office/officeart/2005/8/layout/pyramid1"/>
    <dgm:cxn modelId="{CE2B934B-B90D-4D3D-B125-612FE05E4B6E}" type="presParOf" srcId="{27AB28AB-913F-4B9D-84DF-58C8A6689E1A}" destId="{93810216-21B2-48EB-818E-136F37ECB8CA}" srcOrd="1" destOrd="0" presId="urn:microsoft.com/office/officeart/2005/8/layout/pyramid1"/>
    <dgm:cxn modelId="{62507CE6-8AAD-4FA8-A5B4-632953E282C4}" type="presParOf" srcId="{93810216-21B2-48EB-818E-136F37ECB8CA}" destId="{B6E230C8-832A-4AEB-B947-8BFD688A691B}" srcOrd="0" destOrd="0" presId="urn:microsoft.com/office/officeart/2005/8/layout/pyramid1"/>
    <dgm:cxn modelId="{E6BD9790-D999-40B8-9E68-79D88B14CA95}" type="presParOf" srcId="{93810216-21B2-48EB-818E-136F37ECB8CA}" destId="{81F8814A-943C-418D-8B0B-D645493CA65D}" srcOrd="1" destOrd="0" presId="urn:microsoft.com/office/officeart/2005/8/layout/pyramid1"/>
    <dgm:cxn modelId="{81F7F979-D660-4EAB-985B-A28DA8F658EF}" type="presParOf" srcId="{27AB28AB-913F-4B9D-84DF-58C8A6689E1A}" destId="{9E7D6E7A-879A-4F04-9C74-01DED5B310BD}" srcOrd="2" destOrd="0" presId="urn:microsoft.com/office/officeart/2005/8/layout/pyramid1"/>
    <dgm:cxn modelId="{02D42A79-B682-4177-B4A1-FF102BAD0AA5}" type="presParOf" srcId="{9E7D6E7A-879A-4F04-9C74-01DED5B310BD}" destId="{A4DAA10E-F473-46F6-868C-9AC568C1B0D3}" srcOrd="0" destOrd="0" presId="urn:microsoft.com/office/officeart/2005/8/layout/pyramid1"/>
    <dgm:cxn modelId="{F41BE513-84F1-41A9-A2A4-0BA63E0E05E2}" type="presParOf" srcId="{9E7D6E7A-879A-4F04-9C74-01DED5B310BD}" destId="{CCB8A34C-5D63-40AE-8305-62E8EC07A563}" srcOrd="1" destOrd="0" presId="urn:microsoft.com/office/officeart/2005/8/layout/pyramid1"/>
    <dgm:cxn modelId="{791355BD-7E18-453F-9913-4BB46168E205}" type="presParOf" srcId="{27AB28AB-913F-4B9D-84DF-58C8A6689E1A}" destId="{9D445C5A-E0BB-46B9-A07A-28F7B10C742D}" srcOrd="3" destOrd="0" presId="urn:microsoft.com/office/officeart/2005/8/layout/pyramid1"/>
    <dgm:cxn modelId="{5C39D7A3-F613-4A6E-AF68-919BC908A38E}" type="presParOf" srcId="{9D445C5A-E0BB-46B9-A07A-28F7B10C742D}" destId="{42F31B68-1464-4146-A1B2-1DB78F4BF4AE}" srcOrd="0" destOrd="0" presId="urn:microsoft.com/office/officeart/2005/8/layout/pyramid1"/>
    <dgm:cxn modelId="{3314960C-3EBF-459B-8F43-3AAA16D2DA0B}" type="presParOf" srcId="{9D445C5A-E0BB-46B9-A07A-28F7B10C742D}" destId="{41DBEF34-FED3-4547-A2AB-DE525A986AE4}" srcOrd="1" destOrd="0" presId="urn:microsoft.com/office/officeart/2005/8/layout/pyramid1"/>
    <dgm:cxn modelId="{6B326F82-BA25-4C4B-840E-E6172F71D6E7}" type="presParOf" srcId="{27AB28AB-913F-4B9D-84DF-58C8A6689E1A}" destId="{164FD1D1-9877-4863-AF75-FAA09643F626}" srcOrd="4" destOrd="0" presId="urn:microsoft.com/office/officeart/2005/8/layout/pyramid1"/>
    <dgm:cxn modelId="{E6B38F3E-C7B8-49EF-B587-282C76747502}" type="presParOf" srcId="{164FD1D1-9877-4863-AF75-FAA09643F626}" destId="{D4FEB0CE-2134-4DB3-A449-4122CA483951}" srcOrd="0" destOrd="0" presId="urn:microsoft.com/office/officeart/2005/8/layout/pyramid1"/>
    <dgm:cxn modelId="{7AF8855A-2B6B-448F-856A-3688EAB546AC}" type="presParOf" srcId="{164FD1D1-9877-4863-AF75-FAA09643F626}" destId="{F6A87F75-41F1-41AA-A88C-874655C6A8B6}"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43318-F145-4CA2-9D02-BC9BD972F08B}">
      <dsp:nvSpPr>
        <dsp:cNvPr id="0" name=""/>
        <dsp:cNvSpPr/>
      </dsp:nvSpPr>
      <dsp:spPr>
        <a:xfrm>
          <a:off x="2871655" y="0"/>
          <a:ext cx="1435827" cy="1080100"/>
        </a:xfrm>
        <a:prstGeom prst="trapezoid">
          <a:avLst>
            <a:gd name="adj" fmla="val 66467"/>
          </a:avLst>
        </a:prstGeom>
        <a:solidFill>
          <a:srgbClr val="C0000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IN" sz="1400" b="1" kern="1200" dirty="0" smtClean="0">
            <a:solidFill>
              <a:schemeClr val="bg1"/>
            </a:solidFill>
            <a:latin typeface="Arial" panose="020B0604020202020204" pitchFamily="34" charset="0"/>
            <a:cs typeface="Arial" panose="020B0604020202020204" pitchFamily="34" charset="0"/>
          </a:endParaRPr>
        </a:p>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Rich</a:t>
          </a:r>
        </a:p>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2 </a:t>
          </a:r>
          <a:r>
            <a:rPr lang="en-IN" sz="1400" b="1" kern="1200" dirty="0" err="1" smtClean="0">
              <a:solidFill>
                <a:schemeClr val="bg1"/>
              </a:solidFill>
              <a:latin typeface="Arial" panose="020B0604020202020204" pitchFamily="34" charset="0"/>
              <a:cs typeface="Arial" panose="020B0604020202020204" pitchFamily="34" charset="0"/>
            </a:rPr>
            <a:t>Mn</a:t>
          </a:r>
          <a:endParaRPr lang="en-IN" sz="1400" b="1" kern="1200" dirty="0">
            <a:solidFill>
              <a:schemeClr val="bg1"/>
            </a:solidFill>
            <a:latin typeface="Arial" panose="020B0604020202020204" pitchFamily="34" charset="0"/>
            <a:cs typeface="Arial" panose="020B0604020202020204" pitchFamily="34" charset="0"/>
          </a:endParaRPr>
        </a:p>
      </dsp:txBody>
      <dsp:txXfrm>
        <a:off x="2871655" y="0"/>
        <a:ext cx="1435827" cy="1080100"/>
      </dsp:txXfrm>
    </dsp:sp>
    <dsp:sp modelId="{B6E230C8-832A-4AEB-B947-8BFD688A691B}">
      <dsp:nvSpPr>
        <dsp:cNvPr id="0" name=""/>
        <dsp:cNvSpPr/>
      </dsp:nvSpPr>
      <dsp:spPr>
        <a:xfrm>
          <a:off x="2153741" y="1080100"/>
          <a:ext cx="2871655" cy="1080100"/>
        </a:xfrm>
        <a:prstGeom prst="trapezoid">
          <a:avLst>
            <a:gd name="adj" fmla="val 66467"/>
          </a:avLst>
        </a:prstGeom>
        <a:solidFill>
          <a:srgbClr val="FFC00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High Income</a:t>
          </a:r>
        </a:p>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53 </a:t>
          </a:r>
          <a:r>
            <a:rPr lang="en-IN" sz="1400" b="1" kern="1200" dirty="0" err="1" smtClean="0">
              <a:solidFill>
                <a:schemeClr val="bg1"/>
              </a:solidFill>
              <a:latin typeface="Arial" panose="020B0604020202020204" pitchFamily="34" charset="0"/>
              <a:cs typeface="Arial" panose="020B0604020202020204" pitchFamily="34" charset="0"/>
            </a:rPr>
            <a:t>Mn</a:t>
          </a:r>
          <a:r>
            <a:rPr lang="en-IN" sz="1400" b="1" kern="1200" dirty="0" smtClean="0">
              <a:solidFill>
                <a:schemeClr val="bg1"/>
              </a:solidFill>
              <a:latin typeface="Arial" panose="020B0604020202020204" pitchFamily="34" charset="0"/>
              <a:cs typeface="Arial" panose="020B0604020202020204" pitchFamily="34" charset="0"/>
            </a:rPr>
            <a:t> HHs</a:t>
          </a:r>
          <a:endParaRPr lang="en-IN" sz="1400" b="1" kern="1200" dirty="0">
            <a:solidFill>
              <a:schemeClr val="bg1"/>
            </a:solidFill>
            <a:latin typeface="Arial" panose="020B0604020202020204" pitchFamily="34" charset="0"/>
            <a:cs typeface="Arial" panose="020B0604020202020204" pitchFamily="34" charset="0"/>
          </a:endParaRPr>
        </a:p>
      </dsp:txBody>
      <dsp:txXfrm>
        <a:off x="2656281" y="1080100"/>
        <a:ext cx="1866576" cy="1080100"/>
      </dsp:txXfrm>
    </dsp:sp>
    <dsp:sp modelId="{A4DAA10E-F473-46F6-868C-9AC568C1B0D3}">
      <dsp:nvSpPr>
        <dsp:cNvPr id="0" name=""/>
        <dsp:cNvSpPr/>
      </dsp:nvSpPr>
      <dsp:spPr>
        <a:xfrm>
          <a:off x="1435827" y="2160200"/>
          <a:ext cx="4307483" cy="1080100"/>
        </a:xfrm>
        <a:prstGeom prst="trapezoid">
          <a:avLst>
            <a:gd name="adj" fmla="val 66467"/>
          </a:avLst>
        </a:prstGeom>
        <a:gradFill rotWithShape="0">
          <a:gsLst>
            <a:gs pos="100000">
              <a:schemeClr val="accent2"/>
            </a:gs>
            <a:gs pos="100000">
              <a:srgbClr val="002060"/>
            </a:gs>
            <a:gs pos="100000">
              <a:schemeClr val="accent5">
                <a:hueOff val="0"/>
                <a:satOff val="0"/>
                <a:lumOff val="0"/>
                <a:alphaOff val="0"/>
                <a:lumMod val="105000"/>
                <a:satMod val="103000"/>
                <a:tint val="73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Middle Income</a:t>
          </a:r>
        </a:p>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80 </a:t>
          </a:r>
          <a:r>
            <a:rPr lang="en-IN" sz="1400" b="1" kern="1200" dirty="0" err="1" smtClean="0">
              <a:solidFill>
                <a:schemeClr val="bg1"/>
              </a:solidFill>
              <a:latin typeface="Arial" panose="020B0604020202020204" pitchFamily="34" charset="0"/>
              <a:cs typeface="Arial" panose="020B0604020202020204" pitchFamily="34" charset="0"/>
            </a:rPr>
            <a:t>Mn</a:t>
          </a:r>
          <a:r>
            <a:rPr lang="en-IN" sz="1400" b="1" kern="1200" dirty="0" smtClean="0">
              <a:solidFill>
                <a:schemeClr val="bg1"/>
              </a:solidFill>
              <a:latin typeface="Arial" panose="020B0604020202020204" pitchFamily="34" charset="0"/>
              <a:cs typeface="Arial" panose="020B0604020202020204" pitchFamily="34" charset="0"/>
            </a:rPr>
            <a:t> HHs</a:t>
          </a:r>
        </a:p>
      </dsp:txBody>
      <dsp:txXfrm>
        <a:off x="2189637" y="2160200"/>
        <a:ext cx="2799864" cy="1080100"/>
      </dsp:txXfrm>
    </dsp:sp>
    <dsp:sp modelId="{42F31B68-1464-4146-A1B2-1DB78F4BF4AE}">
      <dsp:nvSpPr>
        <dsp:cNvPr id="0" name=""/>
        <dsp:cNvSpPr/>
      </dsp:nvSpPr>
      <dsp:spPr>
        <a:xfrm>
          <a:off x="717913" y="3240301"/>
          <a:ext cx="5743311" cy="1080100"/>
        </a:xfrm>
        <a:prstGeom prst="trapezoid">
          <a:avLst>
            <a:gd name="adj" fmla="val 66467"/>
          </a:avLst>
        </a:prstGeom>
        <a:solidFill>
          <a:schemeClr val="accent5"/>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Low Income</a:t>
          </a:r>
        </a:p>
        <a:p>
          <a:pPr lvl="0" algn="ctr" defTabSz="622300">
            <a:lnSpc>
              <a:spcPct val="90000"/>
            </a:lnSpc>
            <a:spcBef>
              <a:spcPct val="0"/>
            </a:spcBef>
            <a:spcAft>
              <a:spcPct val="35000"/>
            </a:spcAft>
          </a:pPr>
          <a:r>
            <a:rPr lang="en-IN" sz="1400" b="1" kern="1200" dirty="0" smtClean="0">
              <a:solidFill>
                <a:schemeClr val="bg1"/>
              </a:solidFill>
              <a:latin typeface="Arial" panose="020B0604020202020204" pitchFamily="34" charset="0"/>
              <a:cs typeface="Arial" panose="020B0604020202020204" pitchFamily="34" charset="0"/>
            </a:rPr>
            <a:t>84 </a:t>
          </a:r>
          <a:r>
            <a:rPr lang="en-IN" sz="1400" b="1" kern="1200" dirty="0" err="1" smtClean="0">
              <a:solidFill>
                <a:schemeClr val="bg1"/>
              </a:solidFill>
              <a:latin typeface="Arial" panose="020B0604020202020204" pitchFamily="34" charset="0"/>
              <a:cs typeface="Arial" panose="020B0604020202020204" pitchFamily="34" charset="0"/>
            </a:rPr>
            <a:t>Mn</a:t>
          </a:r>
          <a:r>
            <a:rPr lang="en-IN" sz="1400" b="1" kern="1200" dirty="0" smtClean="0">
              <a:solidFill>
                <a:schemeClr val="bg1"/>
              </a:solidFill>
              <a:latin typeface="Arial" panose="020B0604020202020204" pitchFamily="34" charset="0"/>
              <a:cs typeface="Arial" panose="020B0604020202020204" pitchFamily="34" charset="0"/>
            </a:rPr>
            <a:t> HHs</a:t>
          </a:r>
        </a:p>
      </dsp:txBody>
      <dsp:txXfrm>
        <a:off x="1722993" y="3240301"/>
        <a:ext cx="3733152" cy="1080100"/>
      </dsp:txXfrm>
    </dsp:sp>
    <dsp:sp modelId="{D4FEB0CE-2134-4DB3-A449-4122CA483951}">
      <dsp:nvSpPr>
        <dsp:cNvPr id="0" name=""/>
        <dsp:cNvSpPr/>
      </dsp:nvSpPr>
      <dsp:spPr>
        <a:xfrm>
          <a:off x="0" y="4320401"/>
          <a:ext cx="7179139" cy="1080100"/>
        </a:xfrm>
        <a:prstGeom prst="trapezoid">
          <a:avLst>
            <a:gd name="adj" fmla="val 66467"/>
          </a:avLst>
        </a:prstGeom>
        <a:gradFill rotWithShape="0">
          <a:gsLst>
            <a:gs pos="0">
              <a:schemeClr val="accent6">
                <a:hueOff val="0"/>
                <a:satOff val="0"/>
                <a:lumOff val="0"/>
                <a:alphaOff val="0"/>
                <a:lumMod val="110000"/>
                <a:satMod val="105000"/>
                <a:tint val="67000"/>
              </a:schemeClr>
            </a:gs>
            <a:gs pos="100000">
              <a:schemeClr val="accent1">
                <a:lumMod val="75000"/>
              </a:schemeClr>
            </a:gs>
            <a:gs pos="99000">
              <a:schemeClr val="accent4">
                <a:lumMod val="60000"/>
                <a:lumOff val="4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b="1" kern="1200" dirty="0" smtClean="0">
              <a:solidFill>
                <a:srgbClr val="002060"/>
              </a:solidFill>
              <a:latin typeface="Arial" panose="020B0604020202020204" pitchFamily="34" charset="0"/>
              <a:cs typeface="Arial" panose="020B0604020202020204" pitchFamily="34" charset="0"/>
            </a:rPr>
            <a:t>Poor </a:t>
          </a:r>
        </a:p>
        <a:p>
          <a:pPr lvl="0" algn="ctr" defTabSz="622300">
            <a:lnSpc>
              <a:spcPct val="90000"/>
            </a:lnSpc>
            <a:spcBef>
              <a:spcPct val="0"/>
            </a:spcBef>
            <a:spcAft>
              <a:spcPct val="35000"/>
            </a:spcAft>
          </a:pPr>
          <a:r>
            <a:rPr lang="en-IN" sz="1400" b="1" kern="1200" dirty="0" smtClean="0">
              <a:solidFill>
                <a:srgbClr val="002060"/>
              </a:solidFill>
              <a:latin typeface="Arial" panose="020B0604020202020204" pitchFamily="34" charset="0"/>
              <a:cs typeface="Arial" panose="020B0604020202020204" pitchFamily="34" charset="0"/>
            </a:rPr>
            <a:t>56 </a:t>
          </a:r>
          <a:r>
            <a:rPr lang="en-IN" sz="1400" b="1" kern="1200" dirty="0" err="1" smtClean="0">
              <a:solidFill>
                <a:srgbClr val="002060"/>
              </a:solidFill>
              <a:latin typeface="Arial" panose="020B0604020202020204" pitchFamily="34" charset="0"/>
              <a:cs typeface="Arial" panose="020B0604020202020204" pitchFamily="34" charset="0"/>
            </a:rPr>
            <a:t>Mn</a:t>
          </a:r>
          <a:r>
            <a:rPr lang="en-IN" sz="1400" b="1" kern="1200" dirty="0" smtClean="0">
              <a:solidFill>
                <a:srgbClr val="002060"/>
              </a:solidFill>
              <a:latin typeface="Arial" panose="020B0604020202020204" pitchFamily="34" charset="0"/>
              <a:cs typeface="Arial" panose="020B0604020202020204" pitchFamily="34" charset="0"/>
            </a:rPr>
            <a:t> HHs</a:t>
          </a:r>
        </a:p>
      </dsp:txBody>
      <dsp:txXfrm>
        <a:off x="1256349" y="4320401"/>
        <a:ext cx="4666440" cy="108010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388041F-59F5-4F71-A7A1-34266BD56B2A}"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3324680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88041F-59F5-4F71-A7A1-34266BD56B2A}"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4073404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388041F-59F5-4F71-A7A1-34266BD56B2A}"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1116482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388041F-59F5-4F71-A7A1-34266BD56B2A}"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38266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388041F-59F5-4F71-A7A1-34266BD56B2A}" type="datetimeFigureOut">
              <a:rPr lang="en-IN" smtClean="0"/>
              <a:t>06-11-2024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615571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388041F-59F5-4F71-A7A1-34266BD56B2A}" type="datetimeFigureOut">
              <a:rPr lang="en-IN" smtClean="0"/>
              <a:t>06-11-2024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3227509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88041F-59F5-4F71-A7A1-34266BD56B2A}" type="datetimeFigureOut">
              <a:rPr lang="en-IN" smtClean="0"/>
              <a:t>06-11-2024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416324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388041F-59F5-4F71-A7A1-34266BD56B2A}"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2413006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388041F-59F5-4F71-A7A1-34266BD56B2A}"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1834367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88041F-59F5-4F71-A7A1-34266BD56B2A}"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16371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88041F-59F5-4F71-A7A1-34266BD56B2A}"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1A12D-E1AC-4FA1-B3FB-E283725400BA}" type="slidenum">
              <a:rPr lang="en-IN" smtClean="0"/>
              <a:t>‹#›</a:t>
            </a:fld>
            <a:endParaRPr lang="en-IN"/>
          </a:p>
        </p:txBody>
      </p:sp>
    </p:spTree>
    <p:extLst>
      <p:ext uri="{BB962C8B-B14F-4D97-AF65-F5344CB8AC3E}">
        <p14:creationId xmlns:p14="http://schemas.microsoft.com/office/powerpoint/2010/main" val="159817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8041F-59F5-4F71-A7A1-34266BD56B2A}" type="datetimeFigureOut">
              <a:rPr lang="en-IN" smtClean="0"/>
              <a:t>06-11-2024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1A12D-E1AC-4FA1-B3FB-E283725400BA}" type="slidenum">
              <a:rPr lang="en-IN" smtClean="0"/>
              <a:t>‹#›</a:t>
            </a:fld>
            <a:endParaRPr lang="en-IN"/>
          </a:p>
        </p:txBody>
      </p:sp>
    </p:spTree>
    <p:extLst>
      <p:ext uri="{BB962C8B-B14F-4D97-AF65-F5344CB8AC3E}">
        <p14:creationId xmlns:p14="http://schemas.microsoft.com/office/powerpoint/2010/main" val="2912323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ictionary.cambridge.org/dictionary/english/money" TargetMode="External"/><Relationship Id="rId2" Type="http://schemas.openxmlformats.org/officeDocument/2006/relationships/hyperlink" Target="https://dictionary.cambridge.org/dictionary/english/careful" TargetMode="External"/><Relationship Id="rId1" Type="http://schemas.openxmlformats.org/officeDocument/2006/relationships/slideLayout" Target="../slideLayouts/slideLayout2.xml"/><Relationship Id="rId6" Type="http://schemas.openxmlformats.org/officeDocument/2006/relationships/hyperlink" Target="https://dictionary.cambridge.org/dictionary/english/waste" TargetMode="External"/><Relationship Id="rId5" Type="http://schemas.openxmlformats.org/officeDocument/2006/relationships/hyperlink" Target="https://dictionary.cambridge.org/dictionary/english/avoid" TargetMode="External"/><Relationship Id="rId4" Type="http://schemas.openxmlformats.org/officeDocument/2006/relationships/hyperlink" Target="https://dictionary.cambridge.org/dictionary/english/e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en.wikipedia.org/wiki/Microcredit" TargetMode="External"/><Relationship Id="rId13" Type="http://schemas.openxmlformats.org/officeDocument/2006/relationships/hyperlink" Target="https://en.wikipedia.org/wiki/Research_project" TargetMode="External"/><Relationship Id="rId18" Type="http://schemas.openxmlformats.org/officeDocument/2006/relationships/hyperlink" Target="https://en.wikipedia.org/wiki/Grameen_Bank#cite_note-P.S-10" TargetMode="External"/><Relationship Id="rId3" Type="http://schemas.openxmlformats.org/officeDocument/2006/relationships/hyperlink" Target="https://en.wikipedia.org/wiki/Microfinance" TargetMode="External"/><Relationship Id="rId7" Type="http://schemas.openxmlformats.org/officeDocument/2006/relationships/hyperlink" Target="https://en.wikipedia.org/wiki/Grameen_Bank#cite_note-6" TargetMode="External"/><Relationship Id="rId12" Type="http://schemas.openxmlformats.org/officeDocument/2006/relationships/hyperlink" Target="https://en.wikipedia.org/wiki/University_of_Chittagong" TargetMode="External"/><Relationship Id="rId17" Type="http://schemas.openxmlformats.org/officeDocument/2006/relationships/hyperlink" Target="https://en.wikipedia.org/wiki/Grameen_Bank#cite_note-9" TargetMode="External"/><Relationship Id="rId2" Type="http://schemas.openxmlformats.org/officeDocument/2006/relationships/hyperlink" Target="https://en.wikipedia.org/wiki/Bengali_language" TargetMode="External"/><Relationship Id="rId16" Type="http://schemas.openxmlformats.org/officeDocument/2006/relationships/hyperlink" Target="https://en.wikipedia.org/wiki/Nobel_Peace_Prize" TargetMode="External"/><Relationship Id="rId1" Type="http://schemas.openxmlformats.org/officeDocument/2006/relationships/slideLayout" Target="../slideLayouts/slideLayout7.xml"/><Relationship Id="rId6" Type="http://schemas.openxmlformats.org/officeDocument/2006/relationships/hyperlink" Target="https://en.wikipedia.org/wiki/Grameen_Bank#cite_note-Guardian-5" TargetMode="External"/><Relationship Id="rId11" Type="http://schemas.openxmlformats.org/officeDocument/2006/relationships/hyperlink" Target="https://en.wikipedia.org/wiki/Muhammad_Yunus" TargetMode="External"/><Relationship Id="rId5" Type="http://schemas.openxmlformats.org/officeDocument/2006/relationships/hyperlink" Target="https://en.wikipedia.org/wiki/Bangladesh" TargetMode="External"/><Relationship Id="rId15" Type="http://schemas.openxmlformats.org/officeDocument/2006/relationships/hyperlink" Target="https://en.wikipedia.org/wiki/World_Habitat_Award" TargetMode="External"/><Relationship Id="rId10" Type="http://schemas.openxmlformats.org/officeDocument/2006/relationships/hyperlink" Target="https://en.wikipedia.org/wiki/Collateral_(finance)" TargetMode="External"/><Relationship Id="rId4" Type="http://schemas.openxmlformats.org/officeDocument/2006/relationships/hyperlink" Target="https://en.wikipedia.org/wiki/Community_development_bank" TargetMode="External"/><Relationship Id="rId9" Type="http://schemas.openxmlformats.org/officeDocument/2006/relationships/hyperlink" Target="https://en.wikipedia.org/wiki/Grameen_Bank#cite_note-What_is_Microcredit-7" TargetMode="External"/><Relationship Id="rId14" Type="http://schemas.openxmlformats.org/officeDocument/2006/relationships/hyperlink" Target="https://en.wikipedia.org/wiki/Grameen_Bank#cite_note-2021annual-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hyperlink" Target="https://www.bankbazaar.com/personal-loan/cashpor-micro-credit.html" TargetMode="External"/><Relationship Id="rId3" Type="http://schemas.openxmlformats.org/officeDocument/2006/relationships/hyperlink" Target="https://www.bankbazaar.com/personal-loan/esaf-microfinance.html" TargetMode="External"/><Relationship Id="rId7" Type="http://schemas.openxmlformats.org/officeDocument/2006/relationships/hyperlink" Target="https://www.bankbazaar.com/personal-loan/asirvad-microfinance.html" TargetMode="External"/><Relationship Id="rId2" Type="http://schemas.openxmlformats.org/officeDocument/2006/relationships/hyperlink" Target="https://www.bankbazaar.com/personal-loan/equitas-microfinance.html" TargetMode="External"/><Relationship Id="rId1" Type="http://schemas.openxmlformats.org/officeDocument/2006/relationships/slideLayout" Target="../slideLayouts/slideLayout2.xml"/><Relationship Id="rId6" Type="http://schemas.openxmlformats.org/officeDocument/2006/relationships/hyperlink" Target="https://www.bankbazaar.com/personal-loan/bss-microfinance.html" TargetMode="External"/><Relationship Id="rId5" Type="http://schemas.openxmlformats.org/officeDocument/2006/relationships/hyperlink" Target="https://www.bankbazaar.com/personal-loan/annapurna-microfinance.html" TargetMode="External"/><Relationship Id="rId4" Type="http://schemas.openxmlformats.org/officeDocument/2006/relationships/hyperlink" Target="https://www.bankbazaar.com/personal-loan/fusion-microfinance.html" TargetMode="External"/><Relationship Id="rId9" Type="http://schemas.openxmlformats.org/officeDocument/2006/relationships/hyperlink" Target="https://www.bankbazaar.com/personal-loan/bandhan-financial-services.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334" y="4925619"/>
            <a:ext cx="1797265" cy="130628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30" y="2371267"/>
            <a:ext cx="1797265" cy="1407323"/>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r="12370"/>
          <a:stretch/>
        </p:blipFill>
        <p:spPr>
          <a:xfrm>
            <a:off x="10139688" y="2371268"/>
            <a:ext cx="1925777" cy="1407323"/>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6391" y="4923900"/>
            <a:ext cx="1869074" cy="1309722"/>
          </a:xfrm>
          <a:prstGeom prst="rect">
            <a:avLst/>
          </a:prstGeom>
        </p:spPr>
      </p:pic>
      <p:sp>
        <p:nvSpPr>
          <p:cNvPr id="8" name="Rounded Rectangle 7"/>
          <p:cNvSpPr/>
          <p:nvPr/>
        </p:nvSpPr>
        <p:spPr>
          <a:xfrm>
            <a:off x="1990599" y="2357513"/>
            <a:ext cx="2832315" cy="882515"/>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accent1"/>
              </a:buClr>
            </a:pPr>
            <a:r>
              <a:rPr lang="en-IN" sz="1500" dirty="0"/>
              <a:t>Women are often among the most vulnerable and poorest members of low-income societies</a:t>
            </a:r>
          </a:p>
        </p:txBody>
      </p:sp>
      <p:sp>
        <p:nvSpPr>
          <p:cNvPr id="9" name="Rounded Rectangle 8"/>
          <p:cNvSpPr/>
          <p:nvPr/>
        </p:nvSpPr>
        <p:spPr>
          <a:xfrm>
            <a:off x="2107587" y="5345468"/>
            <a:ext cx="2832315" cy="886433"/>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accent1"/>
              </a:buClr>
            </a:pPr>
            <a:r>
              <a:rPr lang="en-IN" sz="1600" dirty="0"/>
              <a:t>70% of the world’s poor are women</a:t>
            </a:r>
          </a:p>
        </p:txBody>
      </p:sp>
      <p:sp>
        <p:nvSpPr>
          <p:cNvPr id="10" name="Rounded Rectangle 9"/>
          <p:cNvSpPr/>
          <p:nvPr/>
        </p:nvSpPr>
        <p:spPr>
          <a:xfrm>
            <a:off x="4584779" y="3858367"/>
            <a:ext cx="2832315" cy="886433"/>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accent1"/>
              </a:buClr>
            </a:pPr>
            <a:r>
              <a:rPr lang="en-IN" sz="1600" dirty="0">
                <a:solidFill>
                  <a:sysClr val="windowText" lastClr="000000"/>
                </a:solidFill>
              </a:rPr>
              <a:t>Microfinance is a powerful instrument of social change, particularly for women</a:t>
            </a:r>
          </a:p>
        </p:txBody>
      </p:sp>
      <p:sp>
        <p:nvSpPr>
          <p:cNvPr id="11" name="Rounded Rectangle 10"/>
          <p:cNvSpPr/>
          <p:nvPr/>
        </p:nvSpPr>
        <p:spPr>
          <a:xfrm>
            <a:off x="6904882" y="2371267"/>
            <a:ext cx="2832315" cy="886433"/>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accent1"/>
              </a:buClr>
            </a:pPr>
            <a:r>
              <a:rPr lang="en-IN" sz="1600" dirty="0">
                <a:solidFill>
                  <a:sysClr val="windowText" lastClr="000000"/>
                </a:solidFill>
              </a:rPr>
              <a:t>O</a:t>
            </a:r>
            <a:r>
              <a:rPr lang="en-IN" sz="1600" dirty="0" smtClean="0">
                <a:solidFill>
                  <a:sysClr val="windowText" lastClr="000000"/>
                </a:solidFill>
              </a:rPr>
              <a:t>bvious </a:t>
            </a:r>
            <a:r>
              <a:rPr lang="en-IN" sz="1600" dirty="0">
                <a:solidFill>
                  <a:sysClr val="windowText" lastClr="000000"/>
                </a:solidFill>
              </a:rPr>
              <a:t>economic and social benefits to </a:t>
            </a:r>
            <a:r>
              <a:rPr lang="en-IN" sz="1600" dirty="0" smtClean="0">
                <a:solidFill>
                  <a:sysClr val="windowText" lastClr="000000"/>
                </a:solidFill>
              </a:rPr>
              <a:t>involving </a:t>
            </a:r>
            <a:r>
              <a:rPr lang="en-IN" sz="1600" dirty="0">
                <a:solidFill>
                  <a:sysClr val="windowText" lastClr="000000"/>
                </a:solidFill>
              </a:rPr>
              <a:t>women in microfinance programs</a:t>
            </a:r>
          </a:p>
        </p:txBody>
      </p:sp>
      <p:sp>
        <p:nvSpPr>
          <p:cNvPr id="12" name="Rounded Rectangle 11"/>
          <p:cNvSpPr/>
          <p:nvPr/>
        </p:nvSpPr>
        <p:spPr>
          <a:xfrm>
            <a:off x="6904882" y="5345469"/>
            <a:ext cx="2832315" cy="886433"/>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accent1"/>
              </a:buClr>
            </a:pPr>
            <a:r>
              <a:rPr lang="en-IN" sz="1600" dirty="0" smtClean="0">
                <a:solidFill>
                  <a:sysClr val="windowText" lastClr="000000"/>
                </a:solidFill>
              </a:rPr>
              <a:t>Women are the family </a:t>
            </a:r>
            <a:r>
              <a:rPr lang="en-IN" sz="1600" dirty="0">
                <a:solidFill>
                  <a:sysClr val="windowText" lastClr="000000"/>
                </a:solidFill>
              </a:rPr>
              <a:t>nucleus, that is vital for societal improvement and progress</a:t>
            </a:r>
          </a:p>
        </p:txBody>
      </p:sp>
      <p:sp>
        <p:nvSpPr>
          <p:cNvPr id="13" name="Rectangle 12"/>
          <p:cNvSpPr/>
          <p:nvPr/>
        </p:nvSpPr>
        <p:spPr>
          <a:xfrm>
            <a:off x="147924" y="1037760"/>
            <a:ext cx="11899934" cy="1258421"/>
          </a:xfrm>
          <a:prstGeom prst="rect">
            <a:avLst/>
          </a:prstGeom>
        </p:spPr>
        <p:txBody>
          <a:bodyPr wrap="square">
            <a:spAutoFit/>
          </a:bodyPr>
          <a:lstStyle/>
          <a:p>
            <a:pPr indent="457200" algn="just">
              <a:lnSpc>
                <a:spcPct val="107000"/>
              </a:lnSpc>
              <a:spcAft>
                <a:spcPts val="8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Microfinance was developed as an alternative to provide loans to poor people with the goal of creating financial inclusion and equality. Muhammad </a:t>
            </a:r>
            <a:r>
              <a:rPr lang="en-IN" sz="2400" dirty="0" err="1">
                <a:latin typeface="Times New Roman" panose="02020603050405020304" pitchFamily="18" charset="0"/>
                <a:ea typeface="Calibri" panose="020F0502020204030204" pitchFamily="34" charset="0"/>
                <a:cs typeface="Times New Roman" panose="02020603050405020304" pitchFamily="18" charset="0"/>
              </a:rPr>
              <a:t>Yunus</a:t>
            </a:r>
            <a:r>
              <a:rPr lang="en-IN" sz="2400" dirty="0">
                <a:latin typeface="Times New Roman" panose="02020603050405020304" pitchFamily="18" charset="0"/>
                <a:ea typeface="Calibri" panose="020F0502020204030204" pitchFamily="34" charset="0"/>
                <a:cs typeface="Times New Roman" panose="02020603050405020304" pitchFamily="18" charset="0"/>
              </a:rPr>
              <a:t>, a Nobel Prize winner, introduced the concept of Microfinance in Bangladesh in the form of the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Grameen</a:t>
            </a:r>
            <a:r>
              <a:rPr lang="en-IN" sz="2400" dirty="0">
                <a:latin typeface="Times New Roman" panose="02020603050405020304" pitchFamily="18" charset="0"/>
                <a:ea typeface="Calibri" panose="020F0502020204030204" pitchFamily="34" charset="0"/>
                <a:cs typeface="Times New Roman" panose="02020603050405020304" pitchFamily="18" charset="0"/>
              </a:rPr>
              <a:t> Bank".</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4" name="Straight Connector 1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5" name="Rectangle 14"/>
          <p:cNvSpPr/>
          <p:nvPr/>
        </p:nvSpPr>
        <p:spPr>
          <a:xfrm>
            <a:off x="4689511" y="185250"/>
            <a:ext cx="2812976" cy="584775"/>
          </a:xfrm>
          <a:prstGeom prst="rect">
            <a:avLst/>
          </a:prstGeom>
        </p:spPr>
        <p:txBody>
          <a:bodyPr wrap="square">
            <a:spAutoFit/>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Microfinance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9623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6828" y="1252234"/>
            <a:ext cx="11172306" cy="1569660"/>
          </a:xfrm>
          <a:prstGeom prst="rect">
            <a:avLst/>
          </a:prstGeom>
        </p:spPr>
        <p:txBody>
          <a:bodyPr wrap="square">
            <a:spAutoFit/>
          </a:bodyPr>
          <a:lstStyle/>
          <a:p>
            <a:pPr algn="just"/>
            <a:r>
              <a:rPr lang="en-IN" sz="2400" dirty="0" smtClean="0">
                <a:solidFill>
                  <a:schemeClr val="accent1">
                    <a:lumMod val="50000"/>
                  </a:schemeClr>
                </a:solidFill>
                <a:latin typeface="Times New Roman" panose="02020603050405020304" pitchFamily="18" charset="0"/>
                <a:ea typeface="Calibri" panose="020F0502020204030204" pitchFamily="34" charset="0"/>
              </a:rPr>
              <a:t>Microcredit</a:t>
            </a:r>
            <a:r>
              <a:rPr lang="en-IN" sz="2400" dirty="0">
                <a:solidFill>
                  <a:schemeClr val="accent1">
                    <a:lumMod val="50000"/>
                  </a:schemeClr>
                </a:solidFill>
                <a:latin typeface="Times New Roman" panose="02020603050405020304" pitchFamily="18" charset="0"/>
                <a:ea typeface="Calibri" panose="020F0502020204030204" pitchFamily="34" charset="0"/>
              </a:rPr>
              <a:t>, or microfinance, is banking the </a:t>
            </a:r>
            <a:r>
              <a:rPr lang="en-IN" sz="2400" dirty="0" err="1">
                <a:solidFill>
                  <a:schemeClr val="accent1">
                    <a:lumMod val="50000"/>
                  </a:schemeClr>
                </a:solidFill>
                <a:latin typeface="Times New Roman" panose="02020603050405020304" pitchFamily="18" charset="0"/>
                <a:ea typeface="Calibri" panose="020F0502020204030204" pitchFamily="34" charset="0"/>
              </a:rPr>
              <a:t>unbankables</a:t>
            </a:r>
            <a:r>
              <a:rPr lang="en-IN" sz="2400" dirty="0">
                <a:solidFill>
                  <a:schemeClr val="accent1">
                    <a:lumMod val="50000"/>
                  </a:schemeClr>
                </a:solidFill>
                <a:latin typeface="Times New Roman" panose="02020603050405020304" pitchFamily="18" charset="0"/>
                <a:ea typeface="Calibri" panose="020F0502020204030204" pitchFamily="34" charset="0"/>
              </a:rPr>
              <a:t>, bringing credit, savings and other essential financial services within the reach of millions of people who are too poor to be served by regular banks, in most cases because they are unable to offer sufficient collateral.</a:t>
            </a:r>
            <a:endParaRPr lang="en-IN" sz="2400" dirty="0">
              <a:solidFill>
                <a:schemeClr val="accent1">
                  <a:lumMod val="50000"/>
                </a:schemeClr>
              </a:solidFill>
            </a:endParaRPr>
          </a:p>
        </p:txBody>
      </p:sp>
      <p:cxnSp>
        <p:nvCxnSpPr>
          <p:cNvPr id="5" name="Straight Connector 4"/>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a:off x="706582" y="3105835"/>
            <a:ext cx="11072552" cy="553998"/>
          </a:xfrm>
          <a:prstGeom prst="rect">
            <a:avLst/>
          </a:prstGeom>
        </p:spPr>
        <p:txBody>
          <a:bodyPr wrap="square">
            <a:spAutoFit/>
          </a:bodyPr>
          <a:lstStyle/>
          <a:p>
            <a:r>
              <a:rPr lang="en-IN" sz="3000" dirty="0">
                <a:solidFill>
                  <a:srgbClr val="C00000"/>
                </a:solidFill>
                <a:latin typeface="Times New Roman" panose="02020603050405020304" pitchFamily="18" charset="0"/>
                <a:ea typeface="Calibri" panose="020F0502020204030204" pitchFamily="34" charset="0"/>
              </a:rPr>
              <a:t>In general, banks are for people with money, not for people </a:t>
            </a:r>
            <a:r>
              <a:rPr lang="en-IN" sz="3000" dirty="0" smtClean="0">
                <a:solidFill>
                  <a:srgbClr val="C00000"/>
                </a:solidFill>
                <a:latin typeface="Times New Roman" panose="02020603050405020304" pitchFamily="18" charset="0"/>
                <a:ea typeface="Calibri" panose="020F0502020204030204" pitchFamily="34" charset="0"/>
              </a:rPr>
              <a:t>without.</a:t>
            </a:r>
            <a:endParaRPr lang="en-IN" sz="3000" dirty="0">
              <a:solidFill>
                <a:srgbClr val="C00000"/>
              </a:solidFill>
            </a:endParaRPr>
          </a:p>
        </p:txBody>
      </p:sp>
      <p:sp>
        <p:nvSpPr>
          <p:cNvPr id="7" name="Rectangle 6"/>
          <p:cNvSpPr/>
          <p:nvPr/>
        </p:nvSpPr>
        <p:spPr>
          <a:xfrm>
            <a:off x="606828" y="4325127"/>
            <a:ext cx="11172306" cy="1815882"/>
          </a:xfrm>
          <a:prstGeom prst="rect">
            <a:avLst/>
          </a:prstGeom>
        </p:spPr>
        <p:txBody>
          <a:bodyPr wrap="square">
            <a:spAutoFit/>
          </a:bodyPr>
          <a:lstStyle/>
          <a:p>
            <a:pPr algn="just"/>
            <a:r>
              <a:rPr lang="en-IN" sz="2800" dirty="0" smtClean="0">
                <a:latin typeface="Times New Roman" panose="02020603050405020304" pitchFamily="18" charset="0"/>
                <a:ea typeface="Calibri" panose="020F0502020204030204" pitchFamily="34" charset="0"/>
              </a:rPr>
              <a:t>Microcredit </a:t>
            </a:r>
            <a:r>
              <a:rPr lang="en-IN" sz="2800" dirty="0">
                <a:latin typeface="Times New Roman" panose="02020603050405020304" pitchFamily="18" charset="0"/>
                <a:ea typeface="Calibri" panose="020F0502020204030204" pitchFamily="34" charset="0"/>
              </a:rPr>
              <a:t>is based on the premise that the </a:t>
            </a:r>
            <a:r>
              <a:rPr lang="en-IN" sz="2800" dirty="0">
                <a:solidFill>
                  <a:srgbClr val="C00000"/>
                </a:solidFill>
                <a:latin typeface="Times New Roman" panose="02020603050405020304" pitchFamily="18" charset="0"/>
                <a:ea typeface="Calibri" panose="020F0502020204030204" pitchFamily="34" charset="0"/>
              </a:rPr>
              <a:t>poor have skills </a:t>
            </a:r>
            <a:r>
              <a:rPr lang="en-IN" sz="2800" dirty="0">
                <a:latin typeface="Times New Roman" panose="02020603050405020304" pitchFamily="18" charset="0"/>
                <a:ea typeface="Calibri" panose="020F0502020204030204" pitchFamily="34" charset="0"/>
              </a:rPr>
              <a:t>which remain unutilized or underutilized. </a:t>
            </a:r>
            <a:endParaRPr lang="en-IN" sz="2800" dirty="0" smtClean="0">
              <a:latin typeface="Times New Roman" panose="02020603050405020304" pitchFamily="18" charset="0"/>
              <a:ea typeface="Calibri" panose="020F0502020204030204" pitchFamily="34" charset="0"/>
            </a:endParaRPr>
          </a:p>
          <a:p>
            <a:pPr algn="just"/>
            <a:r>
              <a:rPr lang="en-IN" sz="2800" dirty="0" smtClean="0">
                <a:latin typeface="Times New Roman" panose="02020603050405020304" pitchFamily="18" charset="0"/>
                <a:ea typeface="Calibri" panose="020F0502020204030204" pitchFamily="34" charset="0"/>
              </a:rPr>
              <a:t>It </a:t>
            </a:r>
            <a:r>
              <a:rPr lang="en-IN" sz="2800" dirty="0">
                <a:latin typeface="Times New Roman" panose="02020603050405020304" pitchFamily="18" charset="0"/>
                <a:ea typeface="Calibri" panose="020F0502020204030204" pitchFamily="34" charset="0"/>
              </a:rPr>
              <a:t>is definitely not the lack of skills which make poor people poor, charity is not the answer to poverty. It only helps poverty to </a:t>
            </a:r>
            <a:r>
              <a:rPr lang="en-IN" sz="2800" dirty="0" smtClean="0">
                <a:latin typeface="Times New Roman" panose="02020603050405020304" pitchFamily="18" charset="0"/>
                <a:ea typeface="Calibri" panose="020F0502020204030204" pitchFamily="34" charset="0"/>
              </a:rPr>
              <a:t>continue.</a:t>
            </a:r>
            <a:endParaRPr lang="en-IN" sz="2800" dirty="0"/>
          </a:p>
        </p:txBody>
      </p:sp>
    </p:spTree>
    <p:extLst>
      <p:ext uri="{BB962C8B-B14F-4D97-AF65-F5344CB8AC3E}">
        <p14:creationId xmlns:p14="http://schemas.microsoft.com/office/powerpoint/2010/main" val="39356211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3000895" y="118748"/>
            <a:ext cx="6226232" cy="707886"/>
          </a:xfrm>
          <a:prstGeom prst="rect">
            <a:avLst/>
          </a:prstGeom>
        </p:spPr>
        <p:txBody>
          <a:bodyPr wrap="square">
            <a:spAutoFit/>
          </a:bodyPr>
          <a:lstStyle/>
          <a:p>
            <a:r>
              <a:rPr lang="en-US" sz="4000" b="1" dirty="0" smtClean="0">
                <a:solidFill>
                  <a:schemeClr val="accent2">
                    <a:lumMod val="50000"/>
                  </a:schemeClr>
                </a:solidFill>
                <a:latin typeface="Times New Roman" panose="02020603050405020304" pitchFamily="18" charset="0"/>
                <a:cs typeface="Times New Roman" panose="02020603050405020304" pitchFamily="18" charset="0"/>
              </a:rPr>
              <a:t>Objectives of Microfinance</a:t>
            </a:r>
            <a:endParaRPr lang="en-IN" sz="4000" dirty="0">
              <a:latin typeface="Times New Roman" panose="02020603050405020304" pitchFamily="18" charset="0"/>
              <a:cs typeface="Times New Roman" panose="02020603050405020304" pitchFamily="18" charset="0"/>
            </a:endParaRPr>
          </a:p>
        </p:txBody>
      </p:sp>
      <p:sp>
        <p:nvSpPr>
          <p:cNvPr id="3" name="Rectangle 2"/>
          <p:cNvSpPr/>
          <p:nvPr/>
        </p:nvSpPr>
        <p:spPr>
          <a:xfrm>
            <a:off x="973768" y="1540225"/>
            <a:ext cx="10156973" cy="3539430"/>
          </a:xfrm>
          <a:prstGeom prst="rect">
            <a:avLst/>
          </a:prstGeom>
        </p:spPr>
        <p:txBody>
          <a:bodyPr wrap="square">
            <a:spAutoFit/>
          </a:bodyPr>
          <a:lstStyle/>
          <a:p>
            <a:pPr marL="285750" indent="-285750">
              <a:buFont typeface="Wingdings" panose="05000000000000000000" pitchFamily="2" charset="2"/>
              <a:buChar char="Ø"/>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To improve the quality of life for the poor</a:t>
            </a:r>
          </a:p>
          <a:p>
            <a:pPr marL="285750" indent="-285750">
              <a:buFont typeface="Wingdings" panose="05000000000000000000" pitchFamily="2" charset="2"/>
              <a:buChar char="Ø"/>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To mobile resources for variable productive income generating activity.</a:t>
            </a:r>
          </a:p>
          <a:p>
            <a:pPr marL="285750" indent="-285750">
              <a:buFont typeface="Wingdings" panose="05000000000000000000" pitchFamily="2" charset="2"/>
              <a:buChar char="Ø"/>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To create opportunities for self employment</a:t>
            </a:r>
          </a:p>
          <a:p>
            <a:pPr marL="285750" indent="-285750">
              <a:buFont typeface="Wingdings" panose="05000000000000000000" pitchFamily="2" charset="2"/>
              <a:buChar char="Ø"/>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To train rural poor in simple skill and contribute to employment and income generation rural areas.</a:t>
            </a:r>
          </a:p>
          <a:p>
            <a:pPr marL="285750" indent="-285750">
              <a:buFont typeface="Wingdings" panose="05000000000000000000" pitchFamily="2" charset="2"/>
              <a:buChar char="Ø"/>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To be a viable financial institution developing sustainable communities. </a:t>
            </a:r>
            <a:endParaRPr lang="en-IN" sz="2800" dirty="0"/>
          </a:p>
        </p:txBody>
      </p:sp>
    </p:spTree>
    <p:extLst>
      <p:ext uri="{BB962C8B-B14F-4D97-AF65-F5344CB8AC3E}">
        <p14:creationId xmlns:p14="http://schemas.microsoft.com/office/powerpoint/2010/main" val="5897276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5" name="Rounded Rectangle 4"/>
          <p:cNvSpPr/>
          <p:nvPr/>
        </p:nvSpPr>
        <p:spPr>
          <a:xfrm>
            <a:off x="615142" y="2319252"/>
            <a:ext cx="1762298" cy="25520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Microfinance Institution’s Function through </a:t>
            </a:r>
            <a:r>
              <a:rPr lang="en-IN" dirty="0"/>
              <a:t>W</a:t>
            </a:r>
            <a:r>
              <a:rPr lang="en-IN" dirty="0" smtClean="0"/>
              <a:t>SHGs</a:t>
            </a:r>
            <a:endParaRPr lang="en-IN" dirty="0"/>
          </a:p>
        </p:txBody>
      </p:sp>
      <p:sp>
        <p:nvSpPr>
          <p:cNvPr id="6" name="Rounded Rectangle 5"/>
          <p:cNvSpPr/>
          <p:nvPr/>
        </p:nvSpPr>
        <p:spPr>
          <a:xfrm>
            <a:off x="3186545" y="2585257"/>
            <a:ext cx="1762298" cy="1995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Women Entrepreneur</a:t>
            </a:r>
            <a:endParaRPr lang="en-IN" dirty="0"/>
          </a:p>
        </p:txBody>
      </p:sp>
      <p:sp>
        <p:nvSpPr>
          <p:cNvPr id="7" name="Rounded Rectangle 6"/>
          <p:cNvSpPr/>
          <p:nvPr/>
        </p:nvSpPr>
        <p:spPr>
          <a:xfrm>
            <a:off x="10147069" y="2319251"/>
            <a:ext cx="1762298" cy="25520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Total family Empowerment</a:t>
            </a:r>
            <a:endParaRPr lang="en-IN" dirty="0"/>
          </a:p>
        </p:txBody>
      </p:sp>
      <p:sp>
        <p:nvSpPr>
          <p:cNvPr id="8" name="Rounded Rectangle 7"/>
          <p:cNvSpPr/>
          <p:nvPr/>
        </p:nvSpPr>
        <p:spPr>
          <a:xfrm>
            <a:off x="6472843" y="1418704"/>
            <a:ext cx="1762298" cy="728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Economic</a:t>
            </a:r>
            <a:endParaRPr lang="en-IN" dirty="0"/>
          </a:p>
        </p:txBody>
      </p:sp>
      <p:sp>
        <p:nvSpPr>
          <p:cNvPr id="9" name="Rounded Rectangle 8"/>
          <p:cNvSpPr/>
          <p:nvPr/>
        </p:nvSpPr>
        <p:spPr>
          <a:xfrm>
            <a:off x="6472843" y="2419002"/>
            <a:ext cx="1762298" cy="728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Social</a:t>
            </a:r>
            <a:endParaRPr lang="en-IN" dirty="0"/>
          </a:p>
        </p:txBody>
      </p:sp>
      <p:sp>
        <p:nvSpPr>
          <p:cNvPr id="10" name="Rounded Rectangle 9"/>
          <p:cNvSpPr/>
          <p:nvPr/>
        </p:nvSpPr>
        <p:spPr>
          <a:xfrm>
            <a:off x="6472843" y="3653441"/>
            <a:ext cx="1762298" cy="728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Health</a:t>
            </a:r>
            <a:endParaRPr lang="en-IN" dirty="0"/>
          </a:p>
        </p:txBody>
      </p:sp>
      <p:sp>
        <p:nvSpPr>
          <p:cNvPr id="11" name="Rounded Rectangle 10"/>
          <p:cNvSpPr/>
          <p:nvPr/>
        </p:nvSpPr>
        <p:spPr>
          <a:xfrm>
            <a:off x="6472843" y="5020885"/>
            <a:ext cx="1762298" cy="728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Education</a:t>
            </a:r>
            <a:endParaRPr lang="en-IN" dirty="0"/>
          </a:p>
        </p:txBody>
      </p:sp>
      <p:sp>
        <p:nvSpPr>
          <p:cNvPr id="12" name="Right Arrow 11"/>
          <p:cNvSpPr/>
          <p:nvPr/>
        </p:nvSpPr>
        <p:spPr>
          <a:xfrm>
            <a:off x="2310938" y="3441468"/>
            <a:ext cx="875607" cy="307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ight Arrow 12"/>
          <p:cNvSpPr/>
          <p:nvPr/>
        </p:nvSpPr>
        <p:spPr>
          <a:xfrm>
            <a:off x="8481754" y="3225338"/>
            <a:ext cx="1584960" cy="6567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Arrow 14"/>
          <p:cNvSpPr/>
          <p:nvPr/>
        </p:nvSpPr>
        <p:spPr>
          <a:xfrm rot="20255453" flipV="1">
            <a:off x="4719273" y="2145951"/>
            <a:ext cx="1832656" cy="239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Arrow 15"/>
          <p:cNvSpPr/>
          <p:nvPr/>
        </p:nvSpPr>
        <p:spPr>
          <a:xfrm flipV="1">
            <a:off x="4982619" y="2816210"/>
            <a:ext cx="1512067" cy="239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ight Arrow 16"/>
          <p:cNvSpPr/>
          <p:nvPr/>
        </p:nvSpPr>
        <p:spPr>
          <a:xfrm flipV="1">
            <a:off x="4948843" y="3977431"/>
            <a:ext cx="1483822" cy="239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ight Arrow 17"/>
          <p:cNvSpPr/>
          <p:nvPr/>
        </p:nvSpPr>
        <p:spPr>
          <a:xfrm rot="1791785" flipV="1">
            <a:off x="4657579" y="4856319"/>
            <a:ext cx="1939947" cy="239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521741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3889" y="408829"/>
            <a:ext cx="10660118" cy="923330"/>
          </a:xfrm>
          <a:prstGeom prst="rect">
            <a:avLst/>
          </a:prstGeom>
        </p:spPr>
        <p:txBody>
          <a:bodyPr wrap="square">
            <a:spAutoFit/>
          </a:bodyPr>
          <a:lstStyle/>
          <a:p>
            <a:pPr algn="just"/>
            <a:r>
              <a:rPr lang="en-US" dirty="0">
                <a:solidFill>
                  <a:srgbClr val="001D35"/>
                </a:solidFill>
                <a:latin typeface="Arial" panose="020B0604020202020204" pitchFamily="34" charset="0"/>
              </a:rPr>
              <a:t>WSHG stands for Women Self Help Group, which is a registered and authenticated group of women. The Government of India has launched several schemes to promote and support WSHGs, including: </a:t>
            </a:r>
            <a:endParaRPr lang="en-IN" dirty="0"/>
          </a:p>
        </p:txBody>
      </p:sp>
      <p:sp>
        <p:nvSpPr>
          <p:cNvPr id="3" name="Rectangle 2"/>
          <p:cNvSpPr/>
          <p:nvPr/>
        </p:nvSpPr>
        <p:spPr>
          <a:xfrm>
            <a:off x="1274378" y="1432485"/>
            <a:ext cx="9288519" cy="1754326"/>
          </a:xfrm>
          <a:prstGeom prst="rect">
            <a:avLst/>
          </a:prstGeom>
        </p:spPr>
        <p:txBody>
          <a:bodyPr wrap="square">
            <a:spAutoFit/>
          </a:bodyPr>
          <a:lstStyle/>
          <a:p>
            <a:pPr algn="just" fontAlgn="ctr">
              <a:lnSpc>
                <a:spcPct val="150000"/>
              </a:lnSpc>
              <a:buFont typeface="Arial" panose="020B0604020202020204" pitchFamily="34" charset="0"/>
              <a:buChar char="•"/>
            </a:pPr>
            <a:r>
              <a:rPr lang="en-US" b="1" dirty="0">
                <a:solidFill>
                  <a:srgbClr val="001D35"/>
                </a:solidFill>
                <a:latin typeface="Arial" panose="020B0604020202020204" pitchFamily="34" charset="0"/>
              </a:rPr>
              <a:t>Mission Shakti</a:t>
            </a:r>
            <a:r>
              <a:rPr lang="en-US" dirty="0">
                <a:solidFill>
                  <a:srgbClr val="001D35"/>
                </a:solidFill>
                <a:latin typeface="Arial" panose="020B0604020202020204" pitchFamily="34" charset="0"/>
              </a:rPr>
              <a:t>: A flagship program that aims to strengthen and form WSHGs </a:t>
            </a:r>
          </a:p>
          <a:p>
            <a:pPr algn="just" fontAlgn="ctr">
              <a:lnSpc>
                <a:spcPct val="150000"/>
              </a:lnSpc>
              <a:buFont typeface="Arial" panose="020B0604020202020204" pitchFamily="34" charset="0"/>
              <a:buChar char="•"/>
            </a:pPr>
            <a:r>
              <a:rPr lang="en-US" b="1" dirty="0">
                <a:solidFill>
                  <a:srgbClr val="001D35"/>
                </a:solidFill>
                <a:latin typeface="Arial" panose="020B0604020202020204" pitchFamily="34" charset="0"/>
              </a:rPr>
              <a:t>Central Sector Scheme</a:t>
            </a:r>
            <a:r>
              <a:rPr lang="en-US" dirty="0">
                <a:solidFill>
                  <a:srgbClr val="001D35"/>
                </a:solidFill>
                <a:latin typeface="Arial" panose="020B0604020202020204" pitchFamily="34" charset="0"/>
              </a:rPr>
              <a:t>: A scheme that provides drones to WSHGs </a:t>
            </a:r>
          </a:p>
          <a:p>
            <a:pPr algn="just">
              <a:lnSpc>
                <a:spcPct val="150000"/>
              </a:lnSpc>
              <a:buFont typeface="Arial" panose="020B0604020202020204" pitchFamily="34" charset="0"/>
              <a:buChar char="•"/>
            </a:pPr>
            <a:r>
              <a:rPr lang="en-US" b="1" dirty="0">
                <a:solidFill>
                  <a:srgbClr val="001D35"/>
                </a:solidFill>
                <a:latin typeface="Arial" panose="020B0604020202020204" pitchFamily="34" charset="0"/>
              </a:rPr>
              <a:t>Scheme for promotion of Women SHGs</a:t>
            </a:r>
            <a:r>
              <a:rPr lang="en-US" dirty="0">
                <a:solidFill>
                  <a:srgbClr val="001D35"/>
                </a:solidFill>
                <a:latin typeface="Arial" panose="020B0604020202020204" pitchFamily="34" charset="0"/>
              </a:rPr>
              <a:t>: A scheme to promote and finance WSHGs in backward districts</a:t>
            </a:r>
            <a:endParaRPr lang="en-US" b="0" i="0" dirty="0">
              <a:solidFill>
                <a:srgbClr val="001D35"/>
              </a:solidFill>
              <a:effectLst/>
              <a:latin typeface="Arial" panose="020B0604020202020204" pitchFamily="34" charset="0"/>
            </a:endParaRPr>
          </a:p>
        </p:txBody>
      </p:sp>
      <p:sp>
        <p:nvSpPr>
          <p:cNvPr id="4" name="Rectangle 3"/>
          <p:cNvSpPr/>
          <p:nvPr/>
        </p:nvSpPr>
        <p:spPr>
          <a:xfrm>
            <a:off x="903889" y="3451574"/>
            <a:ext cx="10660118" cy="1294072"/>
          </a:xfrm>
          <a:prstGeom prst="rect">
            <a:avLst/>
          </a:prstGeom>
        </p:spPr>
        <p:txBody>
          <a:bodyPr wrap="square">
            <a:spAutoFit/>
          </a:bodyPr>
          <a:lstStyle/>
          <a:p>
            <a:pPr algn="just">
              <a:lnSpc>
                <a:spcPct val="150000"/>
              </a:lnSpc>
            </a:pPr>
            <a:r>
              <a:rPr lang="en-US" dirty="0">
                <a:solidFill>
                  <a:srgbClr val="001D35"/>
                </a:solidFill>
                <a:latin typeface="Arial" panose="020B0604020202020204" pitchFamily="34" charset="0"/>
              </a:rPr>
              <a:t>Self-Help Groups (SHGs) are small groups of people who come together to save money and lend to each other. They decide on the purpose, amount, interest rate, and repayment schedule for savings and loans.</a:t>
            </a:r>
            <a:endParaRPr lang="en-IN" dirty="0"/>
          </a:p>
        </p:txBody>
      </p:sp>
      <p:sp>
        <p:nvSpPr>
          <p:cNvPr id="5" name="Rectangle 4"/>
          <p:cNvSpPr/>
          <p:nvPr/>
        </p:nvSpPr>
        <p:spPr>
          <a:xfrm>
            <a:off x="1072055" y="5090087"/>
            <a:ext cx="10326414" cy="400110"/>
          </a:xfrm>
          <a:prstGeom prst="rect">
            <a:avLst/>
          </a:prstGeom>
        </p:spPr>
        <p:txBody>
          <a:bodyPr wrap="square">
            <a:spAutoFit/>
          </a:bodyPr>
          <a:lstStyle/>
          <a:p>
            <a:pPr algn="ctr"/>
            <a:r>
              <a:rPr lang="en-US" sz="2000" b="1" dirty="0">
                <a:solidFill>
                  <a:srgbClr val="001D35"/>
                </a:solidFill>
                <a:latin typeface="Arial" panose="020B0604020202020204" pitchFamily="34" charset="0"/>
              </a:rPr>
              <a:t>As of December 2023, India has nine million SHGs with nearly 100 million members.</a:t>
            </a:r>
            <a:endParaRPr lang="en-IN" sz="2000" b="1" dirty="0"/>
          </a:p>
        </p:txBody>
      </p:sp>
    </p:spTree>
    <p:extLst>
      <p:ext uri="{BB962C8B-B14F-4D97-AF65-F5344CB8AC3E}">
        <p14:creationId xmlns:p14="http://schemas.microsoft.com/office/powerpoint/2010/main" val="10634468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7461" y="424593"/>
            <a:ext cx="10342180" cy="1294072"/>
          </a:xfrm>
          <a:prstGeom prst="rect">
            <a:avLst/>
          </a:prstGeom>
        </p:spPr>
        <p:txBody>
          <a:bodyPr wrap="square">
            <a:spAutoFit/>
          </a:bodyPr>
          <a:lstStyle/>
          <a:p>
            <a:pPr algn="just">
              <a:lnSpc>
                <a:spcPct val="150000"/>
              </a:lnSpc>
            </a:pPr>
            <a:r>
              <a:rPr lang="en-US" dirty="0">
                <a:solidFill>
                  <a:srgbClr val="1F1F1F"/>
                </a:solidFill>
                <a:latin typeface="Arial" panose="020B0604020202020204" pitchFamily="34" charset="0"/>
              </a:rPr>
              <a:t>The Press Information Bureau (PIB) is the nodal agency of the Government of India to disseminate information to the print and electronic media on government policies, </a:t>
            </a:r>
            <a:r>
              <a:rPr lang="en-US" dirty="0" smtClean="0">
                <a:solidFill>
                  <a:srgbClr val="1F1F1F"/>
                </a:solidFill>
                <a:latin typeface="Arial" panose="020B0604020202020204" pitchFamily="34" charset="0"/>
              </a:rPr>
              <a:t>programs, </a:t>
            </a:r>
            <a:r>
              <a:rPr lang="en-US" dirty="0">
                <a:solidFill>
                  <a:srgbClr val="1F1F1F"/>
                </a:solidFill>
                <a:latin typeface="Arial" panose="020B0604020202020204" pitchFamily="34" charset="0"/>
              </a:rPr>
              <a:t>initiatives and achievements.</a:t>
            </a:r>
            <a:endParaRPr lang="en-IN" dirty="0"/>
          </a:p>
        </p:txBody>
      </p:sp>
      <p:pic>
        <p:nvPicPr>
          <p:cNvPr id="4" name="Picture 3"/>
          <p:cNvPicPr>
            <a:picLocks noChangeAspect="1"/>
          </p:cNvPicPr>
          <p:nvPr/>
        </p:nvPicPr>
        <p:blipFill>
          <a:blip r:embed="rId2"/>
          <a:stretch>
            <a:fillRect/>
          </a:stretch>
        </p:blipFill>
        <p:spPr>
          <a:xfrm>
            <a:off x="3249292" y="1441865"/>
            <a:ext cx="6025792" cy="5242714"/>
          </a:xfrm>
          <a:prstGeom prst="rect">
            <a:avLst/>
          </a:prstGeom>
        </p:spPr>
      </p:pic>
    </p:spTree>
    <p:extLst>
      <p:ext uri="{BB962C8B-B14F-4D97-AF65-F5344CB8AC3E}">
        <p14:creationId xmlns:p14="http://schemas.microsoft.com/office/powerpoint/2010/main" val="36538290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66254" y="980902"/>
            <a:ext cx="11554691" cy="5632311"/>
          </a:xfrm>
          <a:prstGeom prst="rect">
            <a:avLst/>
          </a:prstGeom>
        </p:spPr>
        <p:txBody>
          <a:bodyPr wrap="square">
            <a:spAutoFit/>
          </a:bodyPr>
          <a:lstStyle/>
          <a:p>
            <a:pPr algn="just"/>
            <a:r>
              <a:rPr lang="en-IN" sz="3600" dirty="0">
                <a:solidFill>
                  <a:schemeClr val="accent1">
                    <a:lumMod val="50000"/>
                  </a:schemeClr>
                </a:solidFill>
                <a:latin typeface="Times New Roman" panose="02020603050405020304" pitchFamily="18" charset="0"/>
                <a:cs typeface="Times New Roman" panose="02020603050405020304" pitchFamily="18" charset="0"/>
              </a:rPr>
              <a:t>Microfinance is </a:t>
            </a:r>
            <a:r>
              <a:rPr lang="en-IN" sz="3600" dirty="0" smtClean="0">
                <a:solidFill>
                  <a:schemeClr val="accent1">
                    <a:lumMod val="50000"/>
                  </a:schemeClr>
                </a:solidFill>
                <a:latin typeface="Times New Roman" panose="02020603050405020304" pitchFamily="18" charset="0"/>
                <a:cs typeface="Times New Roman" panose="02020603050405020304" pitchFamily="18" charset="0"/>
              </a:rPr>
              <a:t>an </a:t>
            </a:r>
            <a:r>
              <a:rPr lang="en-IN" sz="3600" dirty="0" smtClean="0">
                <a:solidFill>
                  <a:srgbClr val="FF0000"/>
                </a:solidFill>
                <a:latin typeface="Times New Roman" panose="02020603050405020304" pitchFamily="18" charset="0"/>
                <a:cs typeface="Times New Roman" panose="02020603050405020304" pitchFamily="18" charset="0"/>
              </a:rPr>
              <a:t>economic development tool </a:t>
            </a:r>
            <a:r>
              <a:rPr lang="en-IN" sz="3600" dirty="0" smtClean="0">
                <a:solidFill>
                  <a:schemeClr val="accent1">
                    <a:lumMod val="50000"/>
                  </a:schemeClr>
                </a:solidFill>
                <a:latin typeface="Times New Roman" panose="02020603050405020304" pitchFamily="18" charset="0"/>
                <a:cs typeface="Times New Roman" panose="02020603050405020304" pitchFamily="18" charset="0"/>
              </a:rPr>
              <a:t>whose objective is to assist the poor to work way their </a:t>
            </a:r>
            <a:r>
              <a:rPr lang="en-IN" sz="3600" dirty="0" smtClean="0">
                <a:solidFill>
                  <a:srgbClr val="FF0000"/>
                </a:solidFill>
                <a:latin typeface="Times New Roman" panose="02020603050405020304" pitchFamily="18" charset="0"/>
                <a:cs typeface="Times New Roman" panose="02020603050405020304" pitchFamily="18" charset="0"/>
              </a:rPr>
              <a:t>way out of poverty</a:t>
            </a:r>
            <a:r>
              <a:rPr lang="en-IN" sz="3600" dirty="0" smtClean="0">
                <a:solidFill>
                  <a:schemeClr val="accent1">
                    <a:lumMod val="50000"/>
                  </a:schemeClr>
                </a:solidFill>
                <a:latin typeface="Times New Roman" panose="02020603050405020304" pitchFamily="18" charset="0"/>
                <a:cs typeface="Times New Roman" panose="02020603050405020304" pitchFamily="18" charset="0"/>
              </a:rPr>
              <a:t>. It covers a range of services which include, in addition to provision of credit, many other services such as savings, insurance, money transfer, counselling etc. - RBI (Reserve Bank of India).</a:t>
            </a:r>
          </a:p>
          <a:p>
            <a:pPr algn="just"/>
            <a:r>
              <a:rPr lang="en-IN" sz="3600" dirty="0" smtClean="0">
                <a:solidFill>
                  <a:schemeClr val="accent1">
                    <a:lumMod val="50000"/>
                  </a:schemeClr>
                </a:solidFill>
                <a:latin typeface="Times New Roman" panose="02020603050405020304" pitchFamily="18" charset="0"/>
                <a:cs typeface="Times New Roman" panose="02020603050405020304" pitchFamily="18" charset="0"/>
              </a:rPr>
              <a:t>Microfinance refers to the provision of affordable financial services extended to socially and economically poor and disadvantaged segments of the society to enable them to increase their income levels and standard of living.</a:t>
            </a:r>
            <a:endParaRPr lang="en-IN" sz="36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4440679" y="153272"/>
            <a:ext cx="3005840" cy="769441"/>
          </a:xfrm>
          <a:prstGeom prst="rect">
            <a:avLst/>
          </a:prstGeom>
        </p:spPr>
        <p:txBody>
          <a:bodyPr wrap="square">
            <a:spAutoFit/>
          </a:bodyPr>
          <a:lstStyle/>
          <a:p>
            <a:r>
              <a:rPr lang="en-IN" sz="4400" dirty="0" smtClean="0">
                <a:solidFill>
                  <a:srgbClr val="7030A0"/>
                </a:solidFill>
                <a:latin typeface="Times New Roman" panose="02020603050405020304" pitchFamily="18" charset="0"/>
                <a:cs typeface="Times New Roman" panose="02020603050405020304" pitchFamily="18" charset="0"/>
              </a:rPr>
              <a:t>Introduction</a:t>
            </a:r>
            <a:endParaRPr lang="en-IN" sz="4400" dirty="0">
              <a:solidFill>
                <a:srgbClr val="7030A0"/>
              </a:solidFill>
            </a:endParaRPr>
          </a:p>
        </p:txBody>
      </p:sp>
    </p:spTree>
    <p:extLst>
      <p:ext uri="{BB962C8B-B14F-4D97-AF65-F5344CB8AC3E}">
        <p14:creationId xmlns:p14="http://schemas.microsoft.com/office/powerpoint/2010/main" val="29229736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9" name="Rectangle 8"/>
          <p:cNvSpPr/>
          <p:nvPr/>
        </p:nvSpPr>
        <p:spPr>
          <a:xfrm>
            <a:off x="4689511" y="185250"/>
            <a:ext cx="2812976" cy="584775"/>
          </a:xfrm>
          <a:prstGeom prst="rect">
            <a:avLst/>
          </a:prstGeom>
        </p:spPr>
        <p:txBody>
          <a:bodyPr wrap="square">
            <a:spAutoFit/>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Microfinance</a:t>
            </a:r>
            <a:endParaRPr lang="en-IN" sz="3200" dirty="0">
              <a:latin typeface="Times New Roman" panose="02020603050405020304" pitchFamily="18" charset="0"/>
              <a:cs typeface="Times New Roman" panose="02020603050405020304" pitchFamily="18" charset="0"/>
            </a:endParaRPr>
          </a:p>
        </p:txBody>
      </p:sp>
      <p:sp>
        <p:nvSpPr>
          <p:cNvPr id="10" name="Rectangle 9"/>
          <p:cNvSpPr/>
          <p:nvPr/>
        </p:nvSpPr>
        <p:spPr>
          <a:xfrm>
            <a:off x="103684" y="3180787"/>
            <a:ext cx="11884875" cy="3046988"/>
          </a:xfrm>
          <a:prstGeom prst="rect">
            <a:avLst/>
          </a:prstGeom>
        </p:spPr>
        <p:txBody>
          <a:bodyPr wrap="square">
            <a:spAutoFit/>
          </a:bodyPr>
          <a:lstStyle/>
          <a:p>
            <a:pPr algn="just"/>
            <a:r>
              <a:rPr lang="en-IN" sz="2400" dirty="0" smtClean="0">
                <a:solidFill>
                  <a:schemeClr val="accent1">
                    <a:lumMod val="50000"/>
                  </a:schemeClr>
                </a:solidFill>
                <a:latin typeface="Times New Roman" panose="02020603050405020304" pitchFamily="18" charset="0"/>
                <a:cs typeface="Times New Roman" panose="02020603050405020304" pitchFamily="18" charset="0"/>
              </a:rPr>
              <a:t>Microfinance institutions </a:t>
            </a:r>
            <a:r>
              <a:rPr lang="en-IN" sz="2400" dirty="0">
                <a:solidFill>
                  <a:schemeClr val="accent1">
                    <a:lumMod val="50000"/>
                  </a:schemeClr>
                </a:solidFill>
                <a:latin typeface="Times New Roman" panose="02020603050405020304" pitchFamily="18" charset="0"/>
                <a:cs typeface="Times New Roman" panose="02020603050405020304" pitchFamily="18" charset="0"/>
              </a:rPr>
              <a:t>commonly tend to use new methods developed </a:t>
            </a:r>
            <a:r>
              <a:rPr lang="en-IN" sz="2400" dirty="0" smtClean="0">
                <a:solidFill>
                  <a:schemeClr val="accent1">
                    <a:lumMod val="50000"/>
                  </a:schemeClr>
                </a:solidFill>
                <a:latin typeface="Times New Roman" panose="02020603050405020304" pitchFamily="18" charset="0"/>
                <a:cs typeface="Times New Roman" panose="02020603050405020304" pitchFamily="18" charset="0"/>
              </a:rPr>
              <a:t>include, </a:t>
            </a:r>
            <a:r>
              <a:rPr lang="en-IN" sz="2400" dirty="0">
                <a:solidFill>
                  <a:schemeClr val="accent1">
                    <a:lumMod val="50000"/>
                  </a:schemeClr>
                </a:solidFill>
                <a:latin typeface="Times New Roman" panose="02020603050405020304" pitchFamily="18" charset="0"/>
                <a:cs typeface="Times New Roman" panose="02020603050405020304" pitchFamily="18" charset="0"/>
              </a:rPr>
              <a:t>group lending and liability, pre-loan savings requirements, gradually increasing loan sizes, and an implicit guarantee of ready access to future loans if present loans are repaid fully and </a:t>
            </a:r>
            <a:r>
              <a:rPr lang="en-IN" sz="2400" dirty="0" smtClean="0">
                <a:solidFill>
                  <a:schemeClr val="accent1">
                    <a:lumMod val="50000"/>
                  </a:schemeClr>
                </a:solidFill>
                <a:latin typeface="Times New Roman" panose="02020603050405020304" pitchFamily="18" charset="0"/>
                <a:cs typeface="Times New Roman" panose="02020603050405020304" pitchFamily="18" charset="0"/>
              </a:rPr>
              <a:t>promptly.</a:t>
            </a:r>
          </a:p>
          <a:p>
            <a:pPr algn="just"/>
            <a:endParaRPr lang="en-IN" sz="2400" dirty="0" smtClean="0">
              <a:solidFill>
                <a:schemeClr val="accent1">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2400" dirty="0" smtClean="0">
                <a:solidFill>
                  <a:schemeClr val="accent1">
                    <a:lumMod val="50000"/>
                  </a:schemeClr>
                </a:solidFill>
                <a:latin typeface="Times New Roman" panose="02020603050405020304" pitchFamily="18" charset="0"/>
                <a:ea typeface="Calibri" panose="020F0502020204030204" pitchFamily="34" charset="0"/>
              </a:rPr>
              <a:t>Microfinance </a:t>
            </a:r>
            <a:r>
              <a:rPr lang="en-IN" sz="2400" dirty="0">
                <a:solidFill>
                  <a:schemeClr val="accent1">
                    <a:lumMod val="50000"/>
                  </a:schemeClr>
                </a:solidFill>
                <a:latin typeface="Times New Roman" panose="02020603050405020304" pitchFamily="18" charset="0"/>
                <a:ea typeface="Calibri" panose="020F0502020204030204" pitchFamily="34" charset="0"/>
              </a:rPr>
              <a:t>organizations envision a world in which low-income households has permanent access to a range of high quality and affordable financial services offered by a range of retail providers to finance income-producing activities, build assets, stabilize consumption, and protect against risks. </a:t>
            </a:r>
            <a:endParaRPr lang="en-IN" sz="2400" dirty="0">
              <a:solidFill>
                <a:schemeClr val="accent1">
                  <a:lumMod val="50000"/>
                </a:schemeClr>
              </a:solidFill>
            </a:endParaRPr>
          </a:p>
        </p:txBody>
      </p:sp>
      <p:sp>
        <p:nvSpPr>
          <p:cNvPr id="11" name="Rectangle 10"/>
          <p:cNvSpPr/>
          <p:nvPr/>
        </p:nvSpPr>
        <p:spPr>
          <a:xfrm>
            <a:off x="103683" y="1133590"/>
            <a:ext cx="11884875" cy="1569660"/>
          </a:xfrm>
          <a:prstGeom prst="rect">
            <a:avLst/>
          </a:prstGeom>
        </p:spPr>
        <p:txBody>
          <a:bodyPr wrap="square">
            <a:spAutoFit/>
          </a:bodyPr>
          <a:lstStyle/>
          <a:p>
            <a:pPr algn="just"/>
            <a:r>
              <a:rPr lang="en-IN" sz="2400" dirty="0">
                <a:solidFill>
                  <a:schemeClr val="accent1">
                    <a:lumMod val="50000"/>
                  </a:schemeClr>
                </a:solidFill>
                <a:latin typeface="Times New Roman" panose="02020603050405020304" pitchFamily="18" charset="0"/>
                <a:cs typeface="Times New Roman" panose="02020603050405020304" pitchFamily="18" charset="0"/>
              </a:rPr>
              <a:t>Microfinance is often defined as financial services for poor and low-income clients offered by different types of service providers. </a:t>
            </a:r>
          </a:p>
          <a:p>
            <a:pPr algn="just"/>
            <a:r>
              <a:rPr lang="en-IN" sz="2400" dirty="0">
                <a:solidFill>
                  <a:schemeClr val="accent1">
                    <a:lumMod val="50000"/>
                  </a:schemeClr>
                </a:solidFill>
                <a:latin typeface="Times New Roman" panose="02020603050405020304" pitchFamily="18" charset="0"/>
                <a:cs typeface="Times New Roman" panose="02020603050405020304" pitchFamily="18" charset="0"/>
              </a:rPr>
              <a:t>The term is often used more narrowly to refer to loans and other services from providers that identify themselves as “microfinance institutions” (MFIs).</a:t>
            </a:r>
            <a:endParaRPr lang="en-IN" sz="2400" dirty="0"/>
          </a:p>
        </p:txBody>
      </p:sp>
    </p:spTree>
    <p:extLst>
      <p:ext uri="{BB962C8B-B14F-4D97-AF65-F5344CB8AC3E}">
        <p14:creationId xmlns:p14="http://schemas.microsoft.com/office/powerpoint/2010/main" val="42206339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809703" y="3294212"/>
            <a:ext cx="10720050" cy="3046988"/>
          </a:xfrm>
          <a:prstGeom prst="rect">
            <a:avLst/>
          </a:prstGeom>
        </p:spPr>
        <p:txBody>
          <a:bodyPr wrap="square">
            <a:spAutoFit/>
          </a:bodyPr>
          <a:lstStyle/>
          <a:p>
            <a:pPr marL="285750" indent="-285750">
              <a:buFont typeface="Wingdings" panose="05000000000000000000" pitchFamily="2" charset="2"/>
              <a:buChar char="Ø"/>
            </a:pPr>
            <a:r>
              <a:rPr lang="en-IN" sz="3200" dirty="0" smtClean="0">
                <a:solidFill>
                  <a:schemeClr val="accent1">
                    <a:lumMod val="50000"/>
                  </a:schemeClr>
                </a:solidFill>
                <a:latin typeface="Times New Roman" panose="02020603050405020304" pitchFamily="18" charset="0"/>
              </a:rPr>
              <a:t>The formula for beating extreme poverty.</a:t>
            </a:r>
          </a:p>
          <a:p>
            <a:pPr marL="285750" indent="-285750">
              <a:buFont typeface="Wingdings" panose="05000000000000000000" pitchFamily="2" charset="2"/>
              <a:buChar char="Ø"/>
            </a:pPr>
            <a:r>
              <a:rPr lang="en-IN" sz="3200" dirty="0" smtClean="0">
                <a:solidFill>
                  <a:schemeClr val="accent1">
                    <a:lumMod val="50000"/>
                  </a:schemeClr>
                </a:solidFill>
                <a:latin typeface="Times New Roman" panose="02020603050405020304" pitchFamily="18" charset="0"/>
              </a:rPr>
              <a:t>Boost agriculture and promote food security.</a:t>
            </a:r>
          </a:p>
          <a:p>
            <a:pPr marL="285750" indent="-285750">
              <a:buFont typeface="Wingdings" panose="05000000000000000000" pitchFamily="2" charset="2"/>
              <a:buChar char="Ø"/>
            </a:pPr>
            <a:r>
              <a:rPr lang="en-IN" sz="3200" dirty="0" smtClean="0">
                <a:solidFill>
                  <a:schemeClr val="accent1">
                    <a:lumMod val="50000"/>
                  </a:schemeClr>
                </a:solidFill>
                <a:latin typeface="Times New Roman" panose="02020603050405020304" pitchFamily="18" charset="0"/>
              </a:rPr>
              <a:t>Access to health care </a:t>
            </a:r>
          </a:p>
          <a:p>
            <a:pPr marL="285750" indent="-285750">
              <a:buFont typeface="Wingdings" panose="05000000000000000000" pitchFamily="2" charset="2"/>
              <a:buChar char="Ø"/>
            </a:pPr>
            <a:r>
              <a:rPr lang="en-IN" sz="3200" dirty="0" smtClean="0">
                <a:solidFill>
                  <a:schemeClr val="accent1">
                    <a:lumMod val="50000"/>
                  </a:schemeClr>
                </a:solidFill>
                <a:latin typeface="Times New Roman" panose="02020603050405020304" pitchFamily="18" charset="0"/>
              </a:rPr>
              <a:t>Promotes gender equality.</a:t>
            </a:r>
          </a:p>
          <a:p>
            <a:pPr marL="285750" indent="-285750">
              <a:buFont typeface="Wingdings" panose="05000000000000000000" pitchFamily="2" charset="2"/>
              <a:buChar char="Ø"/>
            </a:pPr>
            <a:r>
              <a:rPr lang="en-IN" sz="3200" dirty="0" smtClean="0">
                <a:solidFill>
                  <a:schemeClr val="accent1">
                    <a:lumMod val="50000"/>
                  </a:schemeClr>
                </a:solidFill>
                <a:latin typeface="Times New Roman" panose="02020603050405020304" pitchFamily="18" charset="0"/>
              </a:rPr>
              <a:t>Promotes inclusive economic growth and stimulates productive employment for the poor.</a:t>
            </a:r>
          </a:p>
        </p:txBody>
      </p:sp>
      <p:sp>
        <p:nvSpPr>
          <p:cNvPr id="4" name="Rectangle 3"/>
          <p:cNvSpPr/>
          <p:nvPr/>
        </p:nvSpPr>
        <p:spPr>
          <a:xfrm>
            <a:off x="609600" y="1174465"/>
            <a:ext cx="10972800" cy="1569660"/>
          </a:xfrm>
          <a:prstGeom prst="rect">
            <a:avLst/>
          </a:prstGeom>
        </p:spPr>
        <p:txBody>
          <a:bodyPr wrap="square">
            <a:spAutoFit/>
          </a:bodyPr>
          <a:lstStyle/>
          <a:p>
            <a:r>
              <a:rPr lang="en-IN" sz="3200" dirty="0" smtClean="0">
                <a:solidFill>
                  <a:srgbClr val="C00000"/>
                </a:solidFill>
                <a:latin typeface="Times New Roman" panose="02020603050405020304" pitchFamily="18" charset="0"/>
                <a:ea typeface="Calibri" panose="020F0502020204030204" pitchFamily="34" charset="0"/>
              </a:rPr>
              <a:t>Microfinance</a:t>
            </a:r>
            <a:r>
              <a:rPr lang="en-IN" sz="3200" dirty="0" smtClean="0">
                <a:solidFill>
                  <a:schemeClr val="accent1">
                    <a:lumMod val="50000"/>
                  </a:schemeClr>
                </a:solidFill>
                <a:latin typeface="Times New Roman" panose="02020603050405020304" pitchFamily="18" charset="0"/>
                <a:ea typeface="Calibri" panose="020F0502020204030204" pitchFamily="34" charset="0"/>
              </a:rPr>
              <a:t> aims at assisting communities of the  economically excluded to achieve greater levels of asset creation and income security at household and community level.</a:t>
            </a:r>
            <a:endParaRPr lang="en-IN" sz="3200" dirty="0"/>
          </a:p>
        </p:txBody>
      </p:sp>
    </p:spTree>
    <p:extLst>
      <p:ext uri="{BB962C8B-B14F-4D97-AF65-F5344CB8AC3E}">
        <p14:creationId xmlns:p14="http://schemas.microsoft.com/office/powerpoint/2010/main" val="18707220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950474" y="211461"/>
            <a:ext cx="6291052" cy="769441"/>
          </a:xfrm>
          <a:prstGeom prst="rect">
            <a:avLst/>
          </a:prstGeom>
        </p:spPr>
        <p:txBody>
          <a:bodyPr wrap="square">
            <a:spAutoFit/>
          </a:bodyPr>
          <a:lstStyle/>
          <a:p>
            <a:r>
              <a:rPr lang="en-IN" sz="4400" dirty="0" smtClean="0">
                <a:solidFill>
                  <a:srgbClr val="7030A0"/>
                </a:solidFill>
                <a:latin typeface="Times New Roman" panose="02020603050405020304" pitchFamily="18" charset="0"/>
                <a:cs typeface="Times New Roman" panose="02020603050405020304" pitchFamily="18" charset="0"/>
              </a:rPr>
              <a:t>Evolution of Microfinance</a:t>
            </a:r>
            <a:endParaRPr lang="en-IN" sz="4400" dirty="0">
              <a:solidFill>
                <a:srgbClr val="7030A0"/>
              </a:solidFill>
            </a:endParaRPr>
          </a:p>
        </p:txBody>
      </p:sp>
      <p:sp>
        <p:nvSpPr>
          <p:cNvPr id="4" name="Rectangle 3"/>
          <p:cNvSpPr/>
          <p:nvPr/>
        </p:nvSpPr>
        <p:spPr>
          <a:xfrm>
            <a:off x="307023" y="980902"/>
            <a:ext cx="11247668" cy="5970865"/>
          </a:xfrm>
          <a:prstGeom prst="rect">
            <a:avLst/>
          </a:prstGeom>
        </p:spPr>
        <p:txBody>
          <a:bodyPr wrap="square">
            <a:spAutoFit/>
          </a:bodyPr>
          <a:lstStyle/>
          <a:p>
            <a:pPr marL="457200" indent="-457200">
              <a:buFont typeface="Arial" panose="020B0604020202020204" pitchFamily="34" charset="0"/>
              <a:buChar char="•"/>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Concept of Microfinance was introduces by Mohammad </a:t>
            </a:r>
            <a:r>
              <a:rPr lang="en-IN" sz="2800" dirty="0" err="1" smtClean="0">
                <a:solidFill>
                  <a:schemeClr val="accent1">
                    <a:lumMod val="50000"/>
                  </a:schemeClr>
                </a:solidFill>
                <a:latin typeface="Times New Roman" panose="02020603050405020304" pitchFamily="18" charset="0"/>
                <a:cs typeface="Times New Roman" panose="02020603050405020304" pitchFamily="18" charset="0"/>
              </a:rPr>
              <a:t>Yunus</a:t>
            </a: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 (1974), Nobel Prize winner (2006) in the form of </a:t>
            </a:r>
            <a:r>
              <a:rPr lang="en-IN" sz="2800" dirty="0" err="1" smtClean="0">
                <a:solidFill>
                  <a:schemeClr val="accent1">
                    <a:lumMod val="50000"/>
                  </a:schemeClr>
                </a:solidFill>
                <a:latin typeface="Times New Roman" panose="02020603050405020304" pitchFamily="18" charset="0"/>
                <a:cs typeface="Times New Roman" panose="02020603050405020304" pitchFamily="18" charset="0"/>
              </a:rPr>
              <a:t>Grameen</a:t>
            </a: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 Bank.</a:t>
            </a:r>
          </a:p>
          <a:p>
            <a:pPr marL="457200" indent="-457200">
              <a:buFont typeface="Arial" panose="020B0604020202020204" pitchFamily="34" charset="0"/>
              <a:buChar char="•"/>
            </a:pPr>
            <a:endParaRPr lang="en-IN" sz="2800" dirty="0" smtClean="0">
              <a:solidFill>
                <a:schemeClr val="accent1">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In India, the Microfinance evolved with the establishment of SIDBI 	(Small Industrial Development Bank of India) on April 02, 1990 under 	Small </a:t>
            </a:r>
            <a:r>
              <a:rPr lang="en-IN" sz="2800" dirty="0">
                <a:solidFill>
                  <a:schemeClr val="accent1">
                    <a:lumMod val="50000"/>
                  </a:schemeClr>
                </a:solidFill>
                <a:latin typeface="Times New Roman" panose="02020603050405020304" pitchFamily="18" charset="0"/>
                <a:cs typeface="Times New Roman" panose="02020603050405020304" pitchFamily="18" charset="0"/>
              </a:rPr>
              <a:t>Industrial Development Bank of </a:t>
            </a: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India act 1989.</a:t>
            </a:r>
          </a:p>
          <a:p>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	NABARD in 1992 initiated the concept of microfinance and 	established the link between Self Help Groups (SHGs), Non 	Government Organization and Bank.</a:t>
            </a:r>
          </a:p>
          <a:p>
            <a:endParaRPr lang="en-IN" sz="2800" dirty="0" smtClean="0">
              <a:solidFill>
                <a:schemeClr val="accent1">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In 2006, NABARD (</a:t>
            </a:r>
            <a:r>
              <a:rPr lang="en-US" sz="2800" dirty="0">
                <a:latin typeface="Times New Roman" panose="02020603050405020304" pitchFamily="18" charset="0"/>
                <a:cs typeface="Times New Roman" panose="02020603050405020304" pitchFamily="18" charset="0"/>
              </a:rPr>
              <a:t>National Bank for Agriculture and Rural </a:t>
            </a:r>
            <a:r>
              <a:rPr lang="en-US" sz="2800" dirty="0" smtClean="0">
                <a:latin typeface="Times New Roman" panose="02020603050405020304" pitchFamily="18" charset="0"/>
                <a:cs typeface="Times New Roman" panose="02020603050405020304" pitchFamily="18" charset="0"/>
              </a:rPr>
              <a:t>Development) </a:t>
            </a:r>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launched MEDP </a:t>
            </a:r>
            <a:r>
              <a:rPr lang="en-IN" sz="2800" dirty="0">
                <a:latin typeface="Times New Roman" panose="02020603050405020304" pitchFamily="18" charset="0"/>
                <a:cs typeface="Times New Roman" panose="02020603050405020304" pitchFamily="18" charset="0"/>
              </a:rPr>
              <a:t>Micro Enterprise Development </a:t>
            </a:r>
            <a:r>
              <a:rPr lang="en-IN" sz="2800" dirty="0" smtClean="0">
                <a:latin typeface="Times New Roman" panose="02020603050405020304" pitchFamily="18" charset="0"/>
                <a:cs typeface="Times New Roman" panose="02020603050405020304" pitchFamily="18" charset="0"/>
              </a:rPr>
              <a:t>Programme for skill development </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089317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950474" y="211461"/>
            <a:ext cx="6291052" cy="769441"/>
          </a:xfrm>
          <a:prstGeom prst="rect">
            <a:avLst/>
          </a:prstGeom>
        </p:spPr>
        <p:txBody>
          <a:bodyPr wrap="square">
            <a:spAutoFit/>
          </a:bodyPr>
          <a:lstStyle/>
          <a:p>
            <a:r>
              <a:rPr lang="en-IN" sz="4400" dirty="0" smtClean="0">
                <a:solidFill>
                  <a:srgbClr val="7030A0"/>
                </a:solidFill>
                <a:latin typeface="Times New Roman" panose="02020603050405020304" pitchFamily="18" charset="0"/>
                <a:cs typeface="Times New Roman" panose="02020603050405020304" pitchFamily="18" charset="0"/>
              </a:rPr>
              <a:t>Features of Microfinance</a:t>
            </a:r>
            <a:endParaRPr lang="en-IN" sz="4400" dirty="0">
              <a:solidFill>
                <a:srgbClr val="7030A0"/>
              </a:solidFill>
            </a:endParaRPr>
          </a:p>
        </p:txBody>
      </p:sp>
      <p:sp>
        <p:nvSpPr>
          <p:cNvPr id="4" name="Rectangle 3"/>
          <p:cNvSpPr/>
          <p:nvPr/>
        </p:nvSpPr>
        <p:spPr>
          <a:xfrm>
            <a:off x="666187" y="1322822"/>
            <a:ext cx="10589245" cy="4801314"/>
          </a:xfrm>
          <a:prstGeom prst="rect">
            <a:avLst/>
          </a:prstGeom>
        </p:spPr>
        <p:txBody>
          <a:bodyPr wrap="square">
            <a:spAutoFit/>
          </a:bodyPr>
          <a:lstStyle/>
          <a:p>
            <a:pPr marL="285750" indent="-285750">
              <a:buFont typeface="Arial" panose="020B0604020202020204" pitchFamily="34" charset="0"/>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 borrowers are low income groups</a:t>
            </a:r>
          </a:p>
          <a:p>
            <a:pPr marL="285750" indent="-285750">
              <a:buFont typeface="Arial" panose="020B0604020202020204" pitchFamily="34" charset="0"/>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 loans are for small amounts</a:t>
            </a:r>
          </a:p>
          <a:p>
            <a:pPr marL="285750" indent="-285750">
              <a:buFont typeface="Arial" panose="020B0604020202020204" pitchFamily="34" charset="0"/>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 loans are without collateral</a:t>
            </a:r>
          </a:p>
          <a:p>
            <a:pPr marL="285750" indent="-285750">
              <a:buFont typeface="Arial" panose="020B0604020202020204" pitchFamily="34" charset="0"/>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Loans are generally taken for income generating activities, although the loans are also provided for consumption, housing and other purpose.</a:t>
            </a:r>
          </a:p>
          <a:p>
            <a:pPr marL="285750" indent="-285750">
              <a:buFont typeface="Arial" panose="020B0604020202020204" pitchFamily="34" charset="0"/>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 tenure of the loan is short.</a:t>
            </a:r>
          </a:p>
          <a:p>
            <a:pPr marL="285750" indent="-285750">
              <a:buFont typeface="Arial" panose="020B0604020202020204" pitchFamily="34" charset="0"/>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 frequency of the repayment is greater than for traditional commercial loans.</a:t>
            </a:r>
          </a:p>
          <a:p>
            <a:r>
              <a:rPr lang="en-IN" dirty="0" smtClean="0">
                <a:solidFill>
                  <a:schemeClr val="accent1">
                    <a:lumMod val="50000"/>
                  </a:schemeClr>
                </a:solidFill>
                <a:latin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4444114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950474" y="211461"/>
            <a:ext cx="6767104" cy="769441"/>
          </a:xfrm>
          <a:prstGeom prst="rect">
            <a:avLst/>
          </a:prstGeom>
        </p:spPr>
        <p:txBody>
          <a:bodyPr wrap="square">
            <a:spAutoFit/>
          </a:bodyPr>
          <a:lstStyle/>
          <a:p>
            <a:r>
              <a:rPr lang="en-IN" sz="4400" dirty="0" smtClean="0">
                <a:solidFill>
                  <a:srgbClr val="7030A0"/>
                </a:solidFill>
                <a:latin typeface="Times New Roman" panose="02020603050405020304" pitchFamily="18" charset="0"/>
                <a:cs typeface="Times New Roman" panose="02020603050405020304" pitchFamily="18" charset="0"/>
              </a:rPr>
              <a:t>Microcredit vs. Microfinance </a:t>
            </a:r>
            <a:endParaRPr lang="en-IN" sz="4400" dirty="0">
              <a:solidFill>
                <a:srgbClr val="7030A0"/>
              </a:solidFill>
            </a:endParaRPr>
          </a:p>
        </p:txBody>
      </p:sp>
      <p:sp>
        <p:nvSpPr>
          <p:cNvPr id="4" name="Rectangle 3"/>
          <p:cNvSpPr/>
          <p:nvPr/>
        </p:nvSpPr>
        <p:spPr>
          <a:xfrm>
            <a:off x="666187" y="1322822"/>
            <a:ext cx="10589245" cy="5016758"/>
          </a:xfrm>
          <a:prstGeom prst="rect">
            <a:avLst/>
          </a:prstGeom>
        </p:spPr>
        <p:txBody>
          <a:bodyPr wrap="square">
            <a:spAutoFit/>
          </a:bodyPr>
          <a:lstStyle/>
          <a:p>
            <a:pPr algn="just"/>
            <a:r>
              <a:rPr lang="en-IN" sz="3200" dirty="0" smtClean="0">
                <a:solidFill>
                  <a:srgbClr val="FF0000"/>
                </a:solidFill>
                <a:latin typeface="Times New Roman" panose="02020603050405020304" pitchFamily="18" charset="0"/>
                <a:cs typeface="Times New Roman" panose="02020603050405020304" pitchFamily="18" charset="0"/>
              </a:rPr>
              <a:t>Microcredit</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 refers to very small loans for unsalaried borrowers with little or no collateral, provided by legally registered institutions. Currently, consumer credit provided to salaried workers based automated credit scoring is usually not included in microcredit. </a:t>
            </a:r>
          </a:p>
          <a:p>
            <a:pPr algn="just"/>
            <a:endParaRPr lang="en-IN" sz="3200" dirty="0" smtClean="0">
              <a:solidFill>
                <a:schemeClr val="accent1">
                  <a:lumMod val="50000"/>
                </a:schemeClr>
              </a:solidFill>
              <a:latin typeface="Times New Roman" panose="02020603050405020304" pitchFamily="18" charset="0"/>
              <a:cs typeface="Times New Roman" panose="02020603050405020304" pitchFamily="18" charset="0"/>
            </a:endParaRPr>
          </a:p>
          <a:p>
            <a:pPr algn="just"/>
            <a:r>
              <a:rPr lang="en-IN" sz="3200" dirty="0" smtClean="0">
                <a:solidFill>
                  <a:srgbClr val="FF0000"/>
                </a:solidFill>
                <a:latin typeface="Times New Roman" panose="02020603050405020304" pitchFamily="18" charset="0"/>
                <a:cs typeface="Times New Roman" panose="02020603050405020304" pitchFamily="18" charset="0"/>
              </a:rPr>
              <a:t>Microfinance </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refers to micro credit, small savings, insurance and money transfers of poor and low income people. Microfinance is a broad category of financial services which includes microcredit also.</a:t>
            </a:r>
            <a:endParaRPr lang="en-IN" sz="3200" dirty="0"/>
          </a:p>
        </p:txBody>
      </p:sp>
    </p:spTree>
    <p:extLst>
      <p:ext uri="{BB962C8B-B14F-4D97-AF65-F5344CB8AC3E}">
        <p14:creationId xmlns:p14="http://schemas.microsoft.com/office/powerpoint/2010/main" val="31867576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 name="Rectangle 3"/>
          <p:cNvSpPr/>
          <p:nvPr/>
        </p:nvSpPr>
        <p:spPr>
          <a:xfrm>
            <a:off x="666187" y="1322822"/>
            <a:ext cx="10589245" cy="369332"/>
          </a:xfrm>
          <a:prstGeom prst="rect">
            <a:avLst/>
          </a:prstGeom>
        </p:spPr>
        <p:txBody>
          <a:bodyPr wrap="square">
            <a:spAutoFit/>
          </a:bodyPr>
          <a:lstStyle/>
          <a:p>
            <a:r>
              <a:rPr lang="en-IN" dirty="0" smtClean="0">
                <a:solidFill>
                  <a:schemeClr val="accent1">
                    <a:lumMod val="50000"/>
                  </a:schemeClr>
                </a:solidFill>
                <a:latin typeface="Times New Roman" panose="02020603050405020304" pitchFamily="18" charset="0"/>
                <a:cs typeface="Times New Roman" panose="02020603050405020304" pitchFamily="18" charset="0"/>
              </a:rPr>
              <a:t> </a:t>
            </a:r>
            <a:endParaRPr lang="en-IN" dirty="0"/>
          </a:p>
        </p:txBody>
      </p:sp>
      <p:sp>
        <p:nvSpPr>
          <p:cNvPr id="5" name="Rectangle 4"/>
          <p:cNvSpPr/>
          <p:nvPr/>
        </p:nvSpPr>
        <p:spPr>
          <a:xfrm>
            <a:off x="2950474" y="211461"/>
            <a:ext cx="6767104" cy="769441"/>
          </a:xfrm>
          <a:prstGeom prst="rect">
            <a:avLst/>
          </a:prstGeom>
        </p:spPr>
        <p:txBody>
          <a:bodyPr wrap="square">
            <a:spAutoFit/>
          </a:bodyPr>
          <a:lstStyle/>
          <a:p>
            <a:r>
              <a:rPr lang="en-IN" sz="4400" dirty="0" smtClean="0">
                <a:solidFill>
                  <a:srgbClr val="7030A0"/>
                </a:solidFill>
                <a:latin typeface="Times New Roman" panose="02020603050405020304" pitchFamily="18" charset="0"/>
                <a:cs typeface="Times New Roman" panose="02020603050405020304" pitchFamily="18" charset="0"/>
              </a:rPr>
              <a:t>Need of  Microfinance </a:t>
            </a:r>
            <a:endParaRPr lang="en-IN" sz="4400" dirty="0">
              <a:solidFill>
                <a:srgbClr val="7030A0"/>
              </a:solidFill>
            </a:endParaRPr>
          </a:p>
        </p:txBody>
      </p:sp>
      <p:sp>
        <p:nvSpPr>
          <p:cNvPr id="6" name="Rectangle 5"/>
          <p:cNvSpPr/>
          <p:nvPr/>
        </p:nvSpPr>
        <p:spPr>
          <a:xfrm>
            <a:off x="441342" y="1139942"/>
            <a:ext cx="11309316" cy="5509200"/>
          </a:xfrm>
          <a:prstGeom prst="rect">
            <a:avLst/>
          </a:prstGeom>
        </p:spPr>
        <p:txBody>
          <a:bodyPr wrap="square">
            <a:spAutoFit/>
          </a:bodyPr>
          <a:lstStyle/>
          <a:p>
            <a:pPr algn="just"/>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 Banks have been more or less </a:t>
            </a:r>
            <a:r>
              <a:rPr lang="en-IN" sz="3200" dirty="0" smtClean="0">
                <a:solidFill>
                  <a:srgbClr val="FF0000"/>
                </a:solidFill>
                <a:latin typeface="Times New Roman" panose="02020603050405020304" pitchFamily="18" charset="0"/>
                <a:cs typeface="Times New Roman" panose="02020603050405020304" pitchFamily="18" charset="0"/>
              </a:rPr>
              <a:t>hesitant</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 in providing microfinance to </a:t>
            </a:r>
            <a:r>
              <a:rPr lang="en-IN" sz="3200" dirty="0" smtClean="0">
                <a:solidFill>
                  <a:srgbClr val="FF0000"/>
                </a:solidFill>
                <a:latin typeface="Times New Roman" panose="02020603050405020304" pitchFamily="18" charset="0"/>
                <a:cs typeface="Times New Roman" panose="02020603050405020304" pitchFamily="18" charset="0"/>
              </a:rPr>
              <a:t>poor people </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with little or no cash income as they incur substantial amount to manage the borrowers accounts.</a:t>
            </a:r>
          </a:p>
          <a:p>
            <a:pPr algn="just"/>
            <a:endParaRPr lang="en-IN" sz="3200" dirty="0" smtClean="0">
              <a:solidFill>
                <a:schemeClr val="accent1">
                  <a:lumMod val="50000"/>
                </a:schemeClr>
              </a:solidFill>
              <a:latin typeface="Times New Roman" panose="02020603050405020304" pitchFamily="18" charset="0"/>
              <a:cs typeface="Times New Roman" panose="02020603050405020304" pitchFamily="18" charset="0"/>
            </a:endParaRPr>
          </a:p>
          <a:p>
            <a:pPr algn="just"/>
            <a:r>
              <a:rPr lang="en-IN" sz="3200" dirty="0" smtClean="0">
                <a:solidFill>
                  <a:srgbClr val="FF0000"/>
                </a:solidFill>
                <a:latin typeface="Times New Roman" panose="02020603050405020304" pitchFamily="18" charset="0"/>
                <a:cs typeface="Times New Roman" panose="02020603050405020304" pitchFamily="18" charset="0"/>
              </a:rPr>
              <a:t>The </a:t>
            </a:r>
            <a:r>
              <a:rPr lang="en-IN" sz="3200" dirty="0">
                <a:solidFill>
                  <a:srgbClr val="FF0000"/>
                </a:solidFill>
                <a:latin typeface="Times New Roman" panose="02020603050405020304" pitchFamily="18" charset="0"/>
                <a:cs typeface="Times New Roman" panose="02020603050405020304" pitchFamily="18" charset="0"/>
              </a:rPr>
              <a:t>poor people </a:t>
            </a:r>
            <a:r>
              <a:rPr lang="en-IN" sz="3200" dirty="0" smtClean="0">
                <a:solidFill>
                  <a:srgbClr val="FF0000"/>
                </a:solidFill>
                <a:latin typeface="Times New Roman" panose="02020603050405020304" pitchFamily="18" charset="0"/>
                <a:cs typeface="Times New Roman" panose="02020603050405020304" pitchFamily="18" charset="0"/>
              </a:rPr>
              <a:t>have no or few assets to offer as collateral </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security for the loans to the banks. Thus banks fear having little recourse against the defaulting borrowers.</a:t>
            </a:r>
          </a:p>
          <a:p>
            <a:pPr algn="just"/>
            <a:endParaRPr lang="en-IN" sz="3200" dirty="0" smtClean="0">
              <a:solidFill>
                <a:schemeClr val="accent1">
                  <a:lumMod val="50000"/>
                </a:schemeClr>
              </a:solidFill>
              <a:latin typeface="Times New Roman" panose="02020603050405020304" pitchFamily="18" charset="0"/>
              <a:cs typeface="Times New Roman" panose="02020603050405020304" pitchFamily="18" charset="0"/>
            </a:endParaRPr>
          </a:p>
          <a:p>
            <a:pPr algn="just"/>
            <a:r>
              <a:rPr lang="en-IN" sz="3200" dirty="0">
                <a:solidFill>
                  <a:schemeClr val="accent1">
                    <a:lumMod val="50000"/>
                  </a:schemeClr>
                </a:solidFill>
                <a:latin typeface="Times New Roman" panose="02020603050405020304" pitchFamily="18" charset="0"/>
                <a:cs typeface="Times New Roman" panose="02020603050405020304" pitchFamily="18" charset="0"/>
              </a:rPr>
              <a:t>The majority of t</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he </a:t>
            </a:r>
            <a:r>
              <a:rPr lang="en-IN" sz="3200" dirty="0">
                <a:solidFill>
                  <a:schemeClr val="accent1">
                    <a:lumMod val="50000"/>
                  </a:schemeClr>
                </a:solidFill>
                <a:latin typeface="Times New Roman" panose="02020603050405020304" pitchFamily="18" charset="0"/>
                <a:cs typeface="Times New Roman" panose="02020603050405020304" pitchFamily="18" charset="0"/>
              </a:rPr>
              <a:t>poor people </a:t>
            </a: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does not have saving bank account in the bank and bank need proper identity and address proof before providing microcredit to them.</a:t>
            </a:r>
            <a:endParaRPr lang="en-IN" sz="3200" dirty="0"/>
          </a:p>
        </p:txBody>
      </p:sp>
    </p:spTree>
    <p:extLst>
      <p:ext uri="{BB962C8B-B14F-4D97-AF65-F5344CB8AC3E}">
        <p14:creationId xmlns:p14="http://schemas.microsoft.com/office/powerpoint/2010/main" val="32066219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5" name="Oval 4"/>
          <p:cNvSpPr/>
          <p:nvPr/>
        </p:nvSpPr>
        <p:spPr>
          <a:xfrm>
            <a:off x="5494713" y="3025833"/>
            <a:ext cx="1396538" cy="139653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C00000"/>
                </a:solidFill>
              </a:rPr>
              <a:t>Micro-Finance </a:t>
            </a:r>
            <a:endParaRPr lang="en-IN" b="1" dirty="0">
              <a:solidFill>
                <a:srgbClr val="C00000"/>
              </a:solidFill>
            </a:endParaRPr>
          </a:p>
        </p:txBody>
      </p:sp>
      <p:sp>
        <p:nvSpPr>
          <p:cNvPr id="6" name="Oval 5"/>
          <p:cNvSpPr/>
          <p:nvPr/>
        </p:nvSpPr>
        <p:spPr>
          <a:xfrm>
            <a:off x="5577840" y="5457305"/>
            <a:ext cx="1267555" cy="120603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Saving / Thrift Habit</a:t>
            </a:r>
            <a:endParaRPr lang="en-IN" b="1" dirty="0"/>
          </a:p>
        </p:txBody>
      </p:sp>
      <p:sp>
        <p:nvSpPr>
          <p:cNvPr id="7" name="Oval 6"/>
          <p:cNvSpPr/>
          <p:nvPr/>
        </p:nvSpPr>
        <p:spPr>
          <a:xfrm>
            <a:off x="3222758" y="2493818"/>
            <a:ext cx="1349242" cy="123236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Security</a:t>
            </a:r>
            <a:endParaRPr lang="en-IN" b="1" dirty="0"/>
          </a:p>
        </p:txBody>
      </p:sp>
      <p:sp>
        <p:nvSpPr>
          <p:cNvPr id="8" name="Oval 7"/>
          <p:cNvSpPr/>
          <p:nvPr/>
        </p:nvSpPr>
        <p:spPr>
          <a:xfrm>
            <a:off x="3948545" y="1251238"/>
            <a:ext cx="1274619" cy="1235656"/>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Build Relationship</a:t>
            </a:r>
            <a:endParaRPr lang="en-IN" b="1" dirty="0"/>
          </a:p>
        </p:txBody>
      </p:sp>
      <p:sp>
        <p:nvSpPr>
          <p:cNvPr id="9" name="Oval 8"/>
          <p:cNvSpPr/>
          <p:nvPr/>
        </p:nvSpPr>
        <p:spPr>
          <a:xfrm>
            <a:off x="7041123" y="5087115"/>
            <a:ext cx="1412921" cy="1230557"/>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t>Affordable interest rate</a:t>
            </a:r>
            <a:endParaRPr lang="en-IN" sz="1400" b="1" dirty="0"/>
          </a:p>
        </p:txBody>
      </p:sp>
      <p:sp>
        <p:nvSpPr>
          <p:cNvPr id="10" name="Oval 9"/>
          <p:cNvSpPr/>
          <p:nvPr/>
        </p:nvSpPr>
        <p:spPr>
          <a:xfrm>
            <a:off x="7813963" y="3802379"/>
            <a:ext cx="1305099" cy="117279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Loan Period</a:t>
            </a:r>
          </a:p>
          <a:p>
            <a:pPr algn="ctr"/>
            <a:r>
              <a:rPr lang="en-IN" sz="1400" dirty="0" smtClean="0"/>
              <a:t>6 Months to 3 years</a:t>
            </a:r>
            <a:endParaRPr lang="en-IN" sz="1400" dirty="0"/>
          </a:p>
        </p:txBody>
      </p:sp>
      <p:sp>
        <p:nvSpPr>
          <p:cNvPr id="11" name="Oval 10"/>
          <p:cNvSpPr/>
          <p:nvPr/>
        </p:nvSpPr>
        <p:spPr>
          <a:xfrm>
            <a:off x="7841673" y="2413463"/>
            <a:ext cx="1194262" cy="1186641"/>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t>Loan Range 10000-1,00,000</a:t>
            </a:r>
            <a:endParaRPr lang="en-IN" sz="1400" b="1" dirty="0"/>
          </a:p>
        </p:txBody>
      </p:sp>
      <p:sp>
        <p:nvSpPr>
          <p:cNvPr id="12" name="Oval 11"/>
          <p:cNvSpPr/>
          <p:nvPr/>
        </p:nvSpPr>
        <p:spPr>
          <a:xfrm>
            <a:off x="6927271" y="1300627"/>
            <a:ext cx="1269078" cy="119319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err="1" smtClean="0"/>
              <a:t>Collataral</a:t>
            </a:r>
            <a:r>
              <a:rPr lang="en-IN" sz="1400" b="1" dirty="0" smtClean="0"/>
              <a:t> security</a:t>
            </a:r>
            <a:endParaRPr lang="en-IN" sz="1400" b="1" dirty="0"/>
          </a:p>
        </p:txBody>
      </p:sp>
      <p:sp>
        <p:nvSpPr>
          <p:cNvPr id="13" name="Oval 12"/>
          <p:cNvSpPr/>
          <p:nvPr/>
        </p:nvSpPr>
        <p:spPr>
          <a:xfrm>
            <a:off x="5386646" y="922714"/>
            <a:ext cx="1297274" cy="12586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Lend to Poor</a:t>
            </a:r>
            <a:endParaRPr lang="en-IN" b="1" dirty="0"/>
          </a:p>
        </p:txBody>
      </p:sp>
      <p:sp>
        <p:nvSpPr>
          <p:cNvPr id="14" name="Oval 13"/>
          <p:cNvSpPr/>
          <p:nvPr/>
        </p:nvSpPr>
        <p:spPr>
          <a:xfrm>
            <a:off x="4042118" y="5062451"/>
            <a:ext cx="1452596" cy="1309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Financial Literacy</a:t>
            </a:r>
            <a:endParaRPr lang="en-IN" b="1" dirty="0"/>
          </a:p>
        </p:txBody>
      </p:sp>
      <p:sp>
        <p:nvSpPr>
          <p:cNvPr id="15" name="Oval 14"/>
          <p:cNvSpPr/>
          <p:nvPr/>
        </p:nvSpPr>
        <p:spPr>
          <a:xfrm>
            <a:off x="3222758" y="3802380"/>
            <a:ext cx="1349242" cy="13715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Social Security Scheme</a:t>
            </a:r>
            <a:endParaRPr lang="en-IN" b="1" dirty="0"/>
          </a:p>
        </p:txBody>
      </p:sp>
      <p:cxnSp>
        <p:nvCxnSpPr>
          <p:cNvPr id="17" name="Straight Connector 16"/>
          <p:cNvCxnSpPr>
            <a:stCxn id="13" idx="4"/>
            <a:endCxn id="5" idx="0"/>
          </p:cNvCxnSpPr>
          <p:nvPr/>
        </p:nvCxnSpPr>
        <p:spPr>
          <a:xfrm>
            <a:off x="6035283" y="2181398"/>
            <a:ext cx="157699" cy="84443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0" name="Straight Connector 19"/>
          <p:cNvCxnSpPr>
            <a:stCxn id="12" idx="3"/>
          </p:cNvCxnSpPr>
          <p:nvPr/>
        </p:nvCxnSpPr>
        <p:spPr>
          <a:xfrm flipH="1">
            <a:off x="6567565" y="2319079"/>
            <a:ext cx="545558" cy="83230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1" name="Straight Connector 20"/>
          <p:cNvCxnSpPr>
            <a:stCxn id="11" idx="2"/>
          </p:cNvCxnSpPr>
          <p:nvPr/>
        </p:nvCxnSpPr>
        <p:spPr>
          <a:xfrm flipH="1">
            <a:off x="6845395" y="3006784"/>
            <a:ext cx="996278" cy="46717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2" name="Straight Connector 21"/>
          <p:cNvCxnSpPr/>
          <p:nvPr/>
        </p:nvCxnSpPr>
        <p:spPr>
          <a:xfrm>
            <a:off x="6888438" y="3802379"/>
            <a:ext cx="949498" cy="415474"/>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3" name="Straight Connector 22"/>
          <p:cNvCxnSpPr/>
          <p:nvPr/>
        </p:nvCxnSpPr>
        <p:spPr>
          <a:xfrm>
            <a:off x="6683920" y="4188232"/>
            <a:ext cx="674976" cy="985746"/>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4" name="Straight Connector 23"/>
          <p:cNvCxnSpPr>
            <a:stCxn id="5" idx="4"/>
          </p:cNvCxnSpPr>
          <p:nvPr/>
        </p:nvCxnSpPr>
        <p:spPr>
          <a:xfrm flipH="1">
            <a:off x="6168531" y="4422371"/>
            <a:ext cx="24451" cy="1049481"/>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5" name="Straight Connector 24"/>
          <p:cNvCxnSpPr>
            <a:stCxn id="5" idx="3"/>
          </p:cNvCxnSpPr>
          <p:nvPr/>
        </p:nvCxnSpPr>
        <p:spPr>
          <a:xfrm flipH="1">
            <a:off x="5137265" y="4217853"/>
            <a:ext cx="561966" cy="911272"/>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6" name="Straight Connector 25"/>
          <p:cNvCxnSpPr/>
          <p:nvPr/>
        </p:nvCxnSpPr>
        <p:spPr>
          <a:xfrm flipH="1">
            <a:off x="4551219" y="3908369"/>
            <a:ext cx="957349" cy="331814"/>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7" name="Straight Connector 26"/>
          <p:cNvCxnSpPr/>
          <p:nvPr/>
        </p:nvCxnSpPr>
        <p:spPr>
          <a:xfrm>
            <a:off x="4551219" y="3183775"/>
            <a:ext cx="957349" cy="375458"/>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8" name="Straight Connector 27"/>
          <p:cNvCxnSpPr>
            <a:stCxn id="8" idx="5"/>
          </p:cNvCxnSpPr>
          <p:nvPr/>
        </p:nvCxnSpPr>
        <p:spPr>
          <a:xfrm>
            <a:off x="5036500" y="2305936"/>
            <a:ext cx="706209" cy="872297"/>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48212" y="5856007"/>
            <a:ext cx="3220089" cy="923330"/>
          </a:xfrm>
          <a:prstGeom prst="rect">
            <a:avLst/>
          </a:prstGeom>
        </p:spPr>
        <p:txBody>
          <a:bodyPr wrap="square">
            <a:spAutoFit/>
          </a:bodyPr>
          <a:lstStyle/>
          <a:p>
            <a:r>
              <a:rPr lang="en-US" b="1" dirty="0">
                <a:solidFill>
                  <a:srgbClr val="1D2A57"/>
                </a:solidFill>
                <a:latin typeface="Arial" panose="020B0604020202020204" pitchFamily="34" charset="0"/>
              </a:rPr>
              <a:t>the </a:t>
            </a:r>
            <a:r>
              <a:rPr lang="en-US" b="1" dirty="0">
                <a:solidFill>
                  <a:srgbClr val="1D2A57"/>
                </a:solidFill>
                <a:latin typeface="Arial" panose="020B0604020202020204" pitchFamily="34" charset="0"/>
                <a:hlinkClick r:id="rId2" tooltip="careful"/>
              </a:rPr>
              <a:t>careful</a:t>
            </a:r>
            <a:r>
              <a:rPr lang="en-US" b="1" dirty="0">
                <a:solidFill>
                  <a:srgbClr val="1D2A57"/>
                </a:solidFill>
                <a:latin typeface="Arial" panose="020B0604020202020204" pitchFamily="34" charset="0"/>
              </a:rPr>
              <a:t> use of </a:t>
            </a:r>
            <a:r>
              <a:rPr lang="en-US" b="1" dirty="0">
                <a:solidFill>
                  <a:srgbClr val="1D2A57"/>
                </a:solidFill>
                <a:latin typeface="Arial" panose="020B0604020202020204" pitchFamily="34" charset="0"/>
                <a:hlinkClick r:id="rId3" tooltip="money"/>
              </a:rPr>
              <a:t>money</a:t>
            </a:r>
            <a:r>
              <a:rPr lang="en-US" b="1" dirty="0">
                <a:solidFill>
                  <a:srgbClr val="1D2A57"/>
                </a:solidFill>
                <a:latin typeface="Arial" panose="020B0604020202020204" pitchFamily="34" charset="0"/>
              </a:rPr>
              <a:t>, </a:t>
            </a:r>
            <a:r>
              <a:rPr lang="en-US" b="1" dirty="0">
                <a:solidFill>
                  <a:srgbClr val="1D2A57"/>
                </a:solidFill>
                <a:latin typeface="Arial" panose="020B0604020202020204" pitchFamily="34" charset="0"/>
                <a:hlinkClick r:id="rId4" tooltip="esp"/>
              </a:rPr>
              <a:t>esp</a:t>
            </a:r>
            <a:r>
              <a:rPr lang="en-US" b="1" dirty="0">
                <a:solidFill>
                  <a:srgbClr val="1D2A57"/>
                </a:solidFill>
                <a:latin typeface="Arial" panose="020B0604020202020204" pitchFamily="34" charset="0"/>
              </a:rPr>
              <a:t>. by </a:t>
            </a:r>
            <a:r>
              <a:rPr lang="en-US" b="1" dirty="0">
                <a:solidFill>
                  <a:srgbClr val="1D2A57"/>
                </a:solidFill>
                <a:latin typeface="Arial" panose="020B0604020202020204" pitchFamily="34" charset="0"/>
                <a:hlinkClick r:id="rId5" tooltip="avoiding"/>
              </a:rPr>
              <a:t>avoiding</a:t>
            </a:r>
            <a:r>
              <a:rPr lang="en-US" b="1" dirty="0">
                <a:solidFill>
                  <a:srgbClr val="1D2A57"/>
                </a:solidFill>
                <a:latin typeface="Arial" panose="020B0604020202020204" pitchFamily="34" charset="0"/>
              </a:rPr>
              <a:t> </a:t>
            </a:r>
            <a:r>
              <a:rPr lang="en-US" b="1" dirty="0">
                <a:solidFill>
                  <a:srgbClr val="1D2A57"/>
                </a:solidFill>
                <a:latin typeface="Arial" panose="020B0604020202020204" pitchFamily="34" charset="0"/>
                <a:hlinkClick r:id="rId6" tooltip="waste"/>
              </a:rPr>
              <a:t>waste</a:t>
            </a:r>
            <a:endParaRPr lang="en-IN" dirty="0"/>
          </a:p>
        </p:txBody>
      </p:sp>
    </p:spTree>
    <p:extLst>
      <p:ext uri="{BB962C8B-B14F-4D97-AF65-F5344CB8AC3E}">
        <p14:creationId xmlns:p14="http://schemas.microsoft.com/office/powerpoint/2010/main" val="4436493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3768" y="1540225"/>
            <a:ext cx="10156973" cy="4401205"/>
          </a:xfrm>
          <a:prstGeom prst="rect">
            <a:avLst/>
          </a:prstGeom>
        </p:spPr>
        <p:txBody>
          <a:bodyPr wrap="square">
            <a:spAutoFit/>
          </a:bodyPr>
          <a:lstStyle/>
          <a:p>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MF provides financial services to those whose income is small and unstable.</a:t>
            </a:r>
          </a:p>
          <a:p>
            <a:pPr marL="457200" indent="-457200">
              <a:buFont typeface="Wingdings" panose="05000000000000000000" pitchFamily="2" charset="2"/>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There needs are small and arise suddenly.</a:t>
            </a:r>
          </a:p>
          <a:p>
            <a:pPr marL="457200" indent="-457200">
              <a:buFont typeface="Wingdings" panose="05000000000000000000" pitchFamily="2" charset="2"/>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Banks demand collateral security.</a:t>
            </a:r>
          </a:p>
          <a:p>
            <a:pPr marL="457200" indent="-457200">
              <a:buFont typeface="Wingdings" panose="05000000000000000000" pitchFamily="2" charset="2"/>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Most of the time, they are in need of funds to meet their consumption demands.</a:t>
            </a:r>
          </a:p>
          <a:p>
            <a:pPr marL="457200" indent="-457200">
              <a:buFont typeface="Wingdings" panose="05000000000000000000" pitchFamily="2" charset="2"/>
              <a:buChar char="§"/>
            </a:pPr>
            <a:r>
              <a:rPr lang="en-IN" sz="3200" dirty="0" smtClean="0">
                <a:solidFill>
                  <a:schemeClr val="accent1">
                    <a:lumMod val="50000"/>
                  </a:schemeClr>
                </a:solidFill>
                <a:latin typeface="Times New Roman" panose="02020603050405020304" pitchFamily="18" charset="0"/>
                <a:cs typeface="Times New Roman" panose="02020603050405020304" pitchFamily="18" charset="0"/>
              </a:rPr>
              <a:t>For purpose of investment in income generating activities.</a:t>
            </a:r>
          </a:p>
          <a:p>
            <a:pPr marL="457200" indent="-457200">
              <a:buFont typeface="Wingdings" panose="05000000000000000000" pitchFamily="2" charset="2"/>
              <a:buChar char="§"/>
            </a:pPr>
            <a:endParaRPr lang="en-IN" sz="2800" dirty="0" smtClean="0">
              <a:solidFill>
                <a:schemeClr val="accent1">
                  <a:lumMod val="50000"/>
                </a:schemeClr>
              </a:solidFill>
              <a:latin typeface="Times New Roman" panose="02020603050405020304" pitchFamily="18" charset="0"/>
              <a:cs typeface="Times New Roman" panose="02020603050405020304" pitchFamily="18" charset="0"/>
            </a:endParaRPr>
          </a:p>
          <a:p>
            <a:r>
              <a:rPr lang="en-IN" sz="2800" dirty="0" smtClean="0">
                <a:solidFill>
                  <a:schemeClr val="accent1">
                    <a:lumMod val="50000"/>
                  </a:schemeClr>
                </a:solidFill>
                <a:latin typeface="Times New Roman" panose="02020603050405020304" pitchFamily="18" charset="0"/>
                <a:cs typeface="Times New Roman" panose="02020603050405020304" pitchFamily="18" charset="0"/>
              </a:rPr>
              <a:t> </a:t>
            </a:r>
            <a:endParaRPr lang="en-IN" sz="2800" dirty="0"/>
          </a:p>
        </p:txBody>
      </p:sp>
      <p:cxnSp>
        <p:nvCxnSpPr>
          <p:cNvPr id="3" name="Straight Connector 2"/>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415898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531847311"/>
              </p:ext>
            </p:extLst>
          </p:nvPr>
        </p:nvGraphicFramePr>
        <p:xfrm>
          <a:off x="493507" y="556953"/>
          <a:ext cx="7179139" cy="54005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ight Brace 4"/>
          <p:cNvSpPr/>
          <p:nvPr/>
        </p:nvSpPr>
        <p:spPr>
          <a:xfrm>
            <a:off x="7955279" y="3740727"/>
            <a:ext cx="656705" cy="2216728"/>
          </a:xfrm>
          <a:prstGeom prst="rightBrace">
            <a:avLst>
              <a:gd name="adj1" fmla="val 171224"/>
              <a:gd name="adj2" fmla="val 50000"/>
            </a:avLst>
          </a:prstGeom>
          <a:solidFill>
            <a:srgbClr val="C00000"/>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Flowchart: Alternate Process 5"/>
          <p:cNvSpPr/>
          <p:nvPr/>
        </p:nvSpPr>
        <p:spPr>
          <a:xfrm>
            <a:off x="8611984" y="4237146"/>
            <a:ext cx="1866846" cy="1223890"/>
          </a:xfrm>
          <a:prstGeom prst="flowChartAlternateProcess">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000" b="1" dirty="0" smtClean="0"/>
              <a:t>Micro Finance Customer base</a:t>
            </a:r>
            <a:endParaRPr lang="en-US" sz="2000" b="1" dirty="0"/>
          </a:p>
        </p:txBody>
      </p:sp>
      <p:sp>
        <p:nvSpPr>
          <p:cNvPr id="7" name="Content Placeholder 2"/>
          <p:cNvSpPr txBox="1">
            <a:spLocks/>
          </p:cNvSpPr>
          <p:nvPr/>
        </p:nvSpPr>
        <p:spPr bwMode="auto">
          <a:xfrm>
            <a:off x="493508" y="6127079"/>
            <a:ext cx="8893587" cy="44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 tIns="9144" rIns="9144" bIns="9144">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buClr>
                <a:srgbClr val="FF6600"/>
              </a:buClr>
            </a:pPr>
            <a:r>
              <a:rPr lang="en-US" sz="1400" i="1" dirty="0" smtClean="0">
                <a:solidFill>
                  <a:srgbClr val="000000"/>
                </a:solidFill>
                <a:latin typeface="Calibri"/>
              </a:rPr>
              <a:t>Average monthly income of Households (HHs) in USD: Rich ~1,450; High Income 460; Middle Income ~200; </a:t>
            </a:r>
          </a:p>
          <a:p>
            <a:pPr>
              <a:buClr>
                <a:srgbClr val="FF6600"/>
              </a:buClr>
            </a:pPr>
            <a:r>
              <a:rPr lang="en-US" sz="1400" i="1" dirty="0" smtClean="0">
                <a:solidFill>
                  <a:srgbClr val="000000"/>
                </a:solidFill>
                <a:latin typeface="Calibri"/>
              </a:rPr>
              <a:t>Low Income ~115; Poor is less than USD 55 per month</a:t>
            </a:r>
            <a:endParaRPr lang="en-US" sz="1400" i="1" dirty="0">
              <a:solidFill>
                <a:srgbClr val="000000"/>
              </a:solidFill>
              <a:latin typeface="Calibri"/>
            </a:endParaRPr>
          </a:p>
        </p:txBody>
      </p:sp>
    </p:spTree>
    <p:extLst>
      <p:ext uri="{BB962C8B-B14F-4D97-AF65-F5344CB8AC3E}">
        <p14:creationId xmlns:p14="http://schemas.microsoft.com/office/powerpoint/2010/main" val="20839901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3097" y="1305342"/>
            <a:ext cx="10964917" cy="4662815"/>
          </a:xfrm>
          <a:prstGeom prst="rect">
            <a:avLst/>
          </a:prstGeom>
        </p:spPr>
        <p:txBody>
          <a:bodyPr wrap="square">
            <a:spAutoFit/>
          </a:bodyPr>
          <a:lstStyle/>
          <a:p>
            <a:pPr algn="just">
              <a:lnSpc>
                <a:spcPct val="150000"/>
              </a:lnSpc>
            </a:pPr>
            <a:r>
              <a:rPr lang="en-US" dirty="0">
                <a:solidFill>
                  <a:srgbClr val="001D35"/>
                </a:solidFill>
                <a:latin typeface="Arial" panose="020B0604020202020204" pitchFamily="34" charset="0"/>
              </a:rPr>
              <a:t>Here are some income group criteria in India:</a:t>
            </a:r>
          </a:p>
          <a:p>
            <a:pPr algn="just" fontAlgn="ctr">
              <a:lnSpc>
                <a:spcPct val="150000"/>
              </a:lnSpc>
              <a:buFont typeface="Arial" panose="020B0604020202020204" pitchFamily="34" charset="0"/>
              <a:buChar char="•"/>
            </a:pPr>
            <a:r>
              <a:rPr lang="en-US" b="1" dirty="0">
                <a:solidFill>
                  <a:srgbClr val="001D35"/>
                </a:solidFill>
                <a:latin typeface="Arial" panose="020B0604020202020204" pitchFamily="34" charset="0"/>
              </a:rPr>
              <a:t>Low-Income Group (LIG)</a:t>
            </a:r>
            <a:r>
              <a:rPr lang="en-US" dirty="0">
                <a:solidFill>
                  <a:srgbClr val="001D35"/>
                </a:solidFill>
                <a:latin typeface="Arial" panose="020B0604020202020204" pitchFamily="34" charset="0"/>
              </a:rPr>
              <a:t>: A household with an annual gross income of Rs 3 lakh to Rs 6 lakh. To be eligible for LIG housing, the individual must also not own a house in their name and not have availed any other housing scheme from the Government of India. </a:t>
            </a:r>
          </a:p>
          <a:p>
            <a:pPr algn="just" fontAlgn="ctr">
              <a:lnSpc>
                <a:spcPct val="150000"/>
              </a:lnSpc>
              <a:buFont typeface="Arial" panose="020B0604020202020204" pitchFamily="34" charset="0"/>
              <a:buChar char="•"/>
            </a:pPr>
            <a:r>
              <a:rPr lang="en-US" b="1" dirty="0">
                <a:solidFill>
                  <a:srgbClr val="001D35"/>
                </a:solidFill>
                <a:latin typeface="Arial" panose="020B0604020202020204" pitchFamily="34" charset="0"/>
              </a:rPr>
              <a:t>Middle Income Group (MIG)</a:t>
            </a:r>
            <a:r>
              <a:rPr lang="en-US" dirty="0">
                <a:solidFill>
                  <a:srgbClr val="001D35"/>
                </a:solidFill>
                <a:latin typeface="Arial" panose="020B0604020202020204" pitchFamily="34" charset="0"/>
              </a:rPr>
              <a:t>: There are two categories of MIG: MIG-I and MIG-II. MIG-I households have an annual income between Rs 6 lakh and Rs 12 lakh, while MIG-II households have an annual income between Rs 12 lakh and Rs 18 lakh. </a:t>
            </a:r>
          </a:p>
          <a:p>
            <a:pPr algn="just" fontAlgn="ctr">
              <a:lnSpc>
                <a:spcPct val="150000"/>
              </a:lnSpc>
              <a:buFont typeface="Arial" panose="020B0604020202020204" pitchFamily="34" charset="0"/>
              <a:buChar char="•"/>
            </a:pPr>
            <a:r>
              <a:rPr lang="en-US" b="1" dirty="0" smtClean="0">
                <a:solidFill>
                  <a:srgbClr val="001D35"/>
                </a:solidFill>
                <a:latin typeface="Arial" panose="020B0604020202020204" pitchFamily="34" charset="0"/>
              </a:rPr>
              <a:t>Destitute</a:t>
            </a:r>
            <a:r>
              <a:rPr lang="en-US" dirty="0" smtClean="0">
                <a:solidFill>
                  <a:srgbClr val="001D35"/>
                </a:solidFill>
                <a:latin typeface="Arial" panose="020B0604020202020204" pitchFamily="34" charset="0"/>
              </a:rPr>
              <a:t>:</a:t>
            </a:r>
            <a:r>
              <a:rPr lang="en-US" dirty="0">
                <a:solidFill>
                  <a:srgbClr val="001D35"/>
                </a:solidFill>
                <a:latin typeface="Arial" panose="020B0604020202020204" pitchFamily="34" charset="0"/>
              </a:rPr>
              <a:t> A family with an annual income of under Rs 125,000. </a:t>
            </a:r>
            <a:endParaRPr lang="en-US" dirty="0" smtClean="0">
              <a:solidFill>
                <a:srgbClr val="001D35"/>
              </a:solidFill>
              <a:latin typeface="Arial" panose="020B0604020202020204" pitchFamily="34" charset="0"/>
            </a:endParaRPr>
          </a:p>
          <a:p>
            <a:pPr lvl="1" algn="just" fontAlgn="ctr">
              <a:lnSpc>
                <a:spcPct val="150000"/>
              </a:lnSpc>
              <a:buFont typeface="Arial" panose="020B0604020202020204" pitchFamily="34" charset="0"/>
              <a:buChar char="•"/>
            </a:pPr>
            <a:r>
              <a:rPr lang="en-US" dirty="0"/>
              <a:t>Destitute means lacking something needed or desirable, or lacking possessions and resources, especially suffering extreme poverty. </a:t>
            </a:r>
            <a:endParaRPr lang="en-US" dirty="0">
              <a:solidFill>
                <a:srgbClr val="001D35"/>
              </a:solidFill>
              <a:latin typeface="Arial" panose="020B0604020202020204" pitchFamily="34" charset="0"/>
            </a:endParaRPr>
          </a:p>
          <a:p>
            <a:pPr algn="just">
              <a:lnSpc>
                <a:spcPct val="150000"/>
              </a:lnSpc>
              <a:buFont typeface="Arial" panose="020B0604020202020204" pitchFamily="34" charset="0"/>
              <a:buChar char="•"/>
            </a:pPr>
            <a:r>
              <a:rPr lang="en-US" b="1" dirty="0">
                <a:solidFill>
                  <a:srgbClr val="001D35"/>
                </a:solidFill>
                <a:latin typeface="Arial" panose="020B0604020202020204" pitchFamily="34" charset="0"/>
              </a:rPr>
              <a:t>Super Rich</a:t>
            </a:r>
            <a:r>
              <a:rPr lang="en-US" dirty="0">
                <a:solidFill>
                  <a:srgbClr val="001D35"/>
                </a:solidFill>
                <a:latin typeface="Arial" panose="020B0604020202020204" pitchFamily="34" charset="0"/>
              </a:rPr>
              <a:t>: A family with an annual income of over Rs 2 crore.</a:t>
            </a:r>
            <a:endParaRPr lang="en-US" b="0" i="0" dirty="0">
              <a:solidFill>
                <a:srgbClr val="001D35"/>
              </a:solidFill>
              <a:effectLst/>
              <a:latin typeface="Arial" panose="020B0604020202020204" pitchFamily="34" charset="0"/>
            </a:endParaRPr>
          </a:p>
        </p:txBody>
      </p:sp>
    </p:spTree>
    <p:extLst>
      <p:ext uri="{BB962C8B-B14F-4D97-AF65-F5344CB8AC3E}">
        <p14:creationId xmlns:p14="http://schemas.microsoft.com/office/powerpoint/2010/main" val="4557305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3331" y="1501616"/>
            <a:ext cx="10507287" cy="3539430"/>
          </a:xfrm>
          <a:prstGeom prst="rect">
            <a:avLst/>
          </a:prstGeom>
        </p:spPr>
        <p:txBody>
          <a:bodyPr wrap="square">
            <a:spAutoFit/>
          </a:bodyPr>
          <a:lstStyle/>
          <a:p>
            <a:r>
              <a:rPr lang="en-US" sz="3200" dirty="0">
                <a:solidFill>
                  <a:srgbClr val="34495E"/>
                </a:solidFill>
                <a:latin typeface="Times New Roman" panose="02020603050405020304" pitchFamily="18" charset="0"/>
                <a:cs typeface="Times New Roman" panose="02020603050405020304" pitchFamily="18" charset="0"/>
              </a:rPr>
              <a:t>The different types of institutions that offer microfinance are</a:t>
            </a:r>
            <a:r>
              <a:rPr lang="en-US" sz="3200" dirty="0" smtClean="0">
                <a:solidFill>
                  <a:srgbClr val="34495E"/>
                </a:solidFill>
                <a:latin typeface="Times New Roman" panose="02020603050405020304" pitchFamily="18" charset="0"/>
                <a:cs typeface="Times New Roman" panose="02020603050405020304" pitchFamily="18" charset="0"/>
              </a:rPr>
              <a:t>:</a:t>
            </a:r>
          </a:p>
          <a:p>
            <a:endParaRPr lang="en-US" sz="3200" dirty="0">
              <a:solidFill>
                <a:srgbClr val="34495E"/>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a:solidFill>
                  <a:srgbClr val="34495E"/>
                </a:solidFill>
                <a:latin typeface="Times New Roman" panose="02020603050405020304" pitchFamily="18" charset="0"/>
                <a:cs typeface="Times New Roman" panose="02020603050405020304" pitchFamily="18" charset="0"/>
              </a:rPr>
              <a:t>Credit </a:t>
            </a:r>
            <a:r>
              <a:rPr lang="en-US" sz="3200" b="1" dirty="0" smtClean="0">
                <a:solidFill>
                  <a:srgbClr val="34495E"/>
                </a:solidFill>
                <a:latin typeface="Times New Roman" panose="02020603050405020304" pitchFamily="18" charset="0"/>
                <a:cs typeface="Times New Roman" panose="02020603050405020304" pitchFamily="18" charset="0"/>
              </a:rPr>
              <a:t>unions</a:t>
            </a:r>
          </a:p>
          <a:p>
            <a:pPr>
              <a:buFont typeface="Arial" panose="020B0604020202020204" pitchFamily="34" charset="0"/>
              <a:buChar char="•"/>
            </a:pPr>
            <a:endParaRPr lang="en-US" sz="3200" dirty="0">
              <a:solidFill>
                <a:srgbClr val="34495E"/>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a:solidFill>
                  <a:srgbClr val="34495E"/>
                </a:solidFill>
                <a:latin typeface="Times New Roman" panose="02020603050405020304" pitchFamily="18" charset="0"/>
                <a:cs typeface="Times New Roman" panose="02020603050405020304" pitchFamily="18" charset="0"/>
              </a:rPr>
              <a:t>Non-governmental </a:t>
            </a:r>
            <a:r>
              <a:rPr lang="en-US" sz="3200" b="1" dirty="0" smtClean="0">
                <a:solidFill>
                  <a:srgbClr val="34495E"/>
                </a:solidFill>
                <a:latin typeface="Times New Roman" panose="02020603050405020304" pitchFamily="18" charset="0"/>
                <a:cs typeface="Times New Roman" panose="02020603050405020304" pitchFamily="18" charset="0"/>
              </a:rPr>
              <a:t>organizations</a:t>
            </a:r>
          </a:p>
          <a:p>
            <a:pPr>
              <a:buFont typeface="Arial" panose="020B0604020202020204" pitchFamily="34" charset="0"/>
              <a:buChar char="•"/>
            </a:pPr>
            <a:endParaRPr lang="en-US" sz="3200" dirty="0">
              <a:solidFill>
                <a:srgbClr val="34495E"/>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3200" b="1" dirty="0">
                <a:solidFill>
                  <a:srgbClr val="34495E"/>
                </a:solidFill>
                <a:latin typeface="Times New Roman" panose="02020603050405020304" pitchFamily="18" charset="0"/>
                <a:cs typeface="Times New Roman" panose="02020603050405020304" pitchFamily="18" charset="0"/>
              </a:rPr>
              <a:t>Commercial banks</a:t>
            </a:r>
            <a:endParaRPr lang="en-US" sz="3200" b="0" i="0" dirty="0">
              <a:solidFill>
                <a:srgbClr val="34495E"/>
              </a:solidFill>
              <a:effectLst/>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a:off x="2245420" y="242069"/>
            <a:ext cx="6898580" cy="553357"/>
          </a:xfrm>
          <a:prstGeom prst="rect">
            <a:avLst/>
          </a:prstGeom>
        </p:spPr>
        <p:txBody>
          <a:bodyPr wrap="square">
            <a:spAutoFit/>
          </a:bodyPr>
          <a:lstStyle/>
          <a:p>
            <a:pPr>
              <a:lnSpc>
                <a:spcPct val="107000"/>
              </a:lnSpc>
              <a:spcAft>
                <a:spcPts val="0"/>
              </a:spcAft>
            </a:pPr>
            <a:r>
              <a:rPr lang="en-IN"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Types of microfinance Institutions in India</a:t>
            </a:r>
            <a:endPar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76167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a:off x="505978" y="1422478"/>
            <a:ext cx="11264843" cy="4652749"/>
          </a:xfrm>
          <a:prstGeom prst="rect">
            <a:avLst/>
          </a:prstGeom>
        </p:spPr>
        <p:txBody>
          <a:bodyPr wrap="square">
            <a:spAutoFit/>
          </a:bodyPr>
          <a:lstStyle/>
          <a:p>
            <a:pPr marL="342900" lvl="0" indent="-342900">
              <a:lnSpc>
                <a:spcPct val="107000"/>
              </a:lnSpc>
              <a:spcAft>
                <a:spcPts val="800"/>
              </a:spcAft>
              <a:tabLst>
                <a:tab pos="457200" algn="l"/>
              </a:tabLst>
            </a:pPr>
            <a:r>
              <a:rPr lang="en-IN" sz="2400" b="1" dirty="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1. Joint </a:t>
            </a:r>
            <a:r>
              <a:rPr lang="en-IN" sz="24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liability </a:t>
            </a:r>
            <a:r>
              <a:rPr lang="en-IN" sz="2400" b="1" dirty="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Group (JLG):-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a:t>
            </a:r>
            <a:r>
              <a:rPr lang="en-IN" sz="2400" dirty="0" smtClean="0">
                <a:latin typeface="Times New Roman" panose="02020603050405020304" pitchFamily="18" charset="0"/>
                <a:cs typeface="Times New Roman" panose="02020603050405020304" pitchFamily="18" charset="0"/>
              </a:rPr>
              <a:t>enerally </a:t>
            </a:r>
            <a:r>
              <a:rPr lang="en-IN" sz="2400" dirty="0">
                <a:latin typeface="Times New Roman" panose="02020603050405020304" pitchFamily="18" charset="0"/>
                <a:cs typeface="Times New Roman" panose="02020603050405020304" pitchFamily="18" charset="0"/>
              </a:rPr>
              <a:t>a small, informal group of 4-10 people who seek loans on the basis of mutual assurance.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loans are typically used for agriculture or related operations. This group of debtors includes farmers, rural </a:t>
            </a:r>
            <a:r>
              <a:rPr lang="en-IN" sz="2400" dirty="0" smtClean="0">
                <a:latin typeface="Times New Roman" panose="02020603050405020304" pitchFamily="18" charset="0"/>
                <a:cs typeface="Times New Roman" panose="02020603050405020304" pitchFamily="18" charset="0"/>
              </a:rPr>
              <a:t>labourers, </a:t>
            </a:r>
            <a:r>
              <a:rPr lang="en-IN" sz="2400" dirty="0">
                <a:latin typeface="Times New Roman" panose="02020603050405020304" pitchFamily="18" charset="0"/>
                <a:cs typeface="Times New Roman" panose="02020603050405020304" pitchFamily="18" charset="0"/>
              </a:rPr>
              <a:t>and renters.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Each </a:t>
            </a:r>
            <a:r>
              <a:rPr lang="en-IN" sz="2400" dirty="0">
                <a:latin typeface="Times New Roman" panose="02020603050405020304" pitchFamily="18" charset="0"/>
                <a:cs typeface="Times New Roman" panose="02020603050405020304" pitchFamily="18" charset="0"/>
              </a:rPr>
              <a:t>member of a JLG is equally liable for the timely repayment of the loan. Because it is basic in nature, this entity does not require any financial administration. However, one of the structure's major flaws is personal preferences in credit lending, which has resulted in the system's partial failure.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legitimacy of the Joint Liability Group model has recently gotten a boost thanks to several promotional measures conducted by institutions like Indian Bank, </a:t>
            </a:r>
            <a:r>
              <a:rPr lang="en-IN" sz="2400" dirty="0" err="1">
                <a:latin typeface="Times New Roman" panose="02020603050405020304" pitchFamily="18" charset="0"/>
                <a:cs typeface="Times New Roman" panose="02020603050405020304" pitchFamily="18" charset="0"/>
              </a:rPr>
              <a:t>Karur</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Vysya</a:t>
            </a:r>
            <a:r>
              <a:rPr lang="en-IN" sz="2400" dirty="0">
                <a:latin typeface="Times New Roman" panose="02020603050405020304" pitchFamily="18" charset="0"/>
                <a:cs typeface="Times New Roman" panose="02020603050405020304" pitchFamily="18" charset="0"/>
              </a:rPr>
              <a:t> Bank, and Indian Overseas </a:t>
            </a:r>
            <a:r>
              <a:rPr lang="en-IN" sz="2400" dirty="0" smtClean="0">
                <a:latin typeface="Times New Roman" panose="02020603050405020304" pitchFamily="18" charset="0"/>
                <a:cs typeface="Times New Roman" panose="02020603050405020304" pitchFamily="18" charset="0"/>
              </a:rPr>
              <a:t>Bank</a:t>
            </a:r>
            <a:r>
              <a:rPr lang="en-IN" sz="2400" dirty="0" smtClean="0">
                <a:latin typeface="Times New Roman" panose="02020603050405020304" pitchFamily="18" charset="0"/>
                <a:cs typeface="Times New Roman" panose="02020603050405020304" pitchFamily="18" charset="0"/>
              </a:rPr>
              <a:t>.</a:t>
            </a:r>
            <a:endParaRPr lang="en-IN"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24429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 name="Rectangle 3"/>
          <p:cNvSpPr/>
          <p:nvPr/>
        </p:nvSpPr>
        <p:spPr>
          <a:xfrm>
            <a:off x="282633" y="460918"/>
            <a:ext cx="11296996" cy="5632311"/>
          </a:xfrm>
          <a:prstGeom prst="rect">
            <a:avLst/>
          </a:prstGeom>
        </p:spPr>
        <p:txBody>
          <a:bodyPr wrap="square">
            <a:spAutoFit/>
          </a:bodyPr>
          <a:lstStyle/>
          <a:p>
            <a:r>
              <a:rPr lang="en-IN" sz="24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Self-help </a:t>
            </a:r>
            <a:r>
              <a:rPr lang="en-IN" sz="2400" b="1" dirty="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Group:- </a:t>
            </a:r>
          </a:p>
          <a:p>
            <a:endParaRPr lang="en-IN" sz="2400" b="1" dirty="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A </a:t>
            </a:r>
            <a:r>
              <a:rPr lang="en-IN" sz="2400" dirty="0">
                <a:latin typeface="Times New Roman" panose="02020603050405020304" pitchFamily="18" charset="0"/>
                <a:cs typeface="Times New Roman" panose="02020603050405020304" pitchFamily="18" charset="0"/>
              </a:rPr>
              <a:t>Self-Help Collection is a group of people from similar socioeconomic circumstances who get together to help one other.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These </a:t>
            </a:r>
            <a:r>
              <a:rPr lang="en-IN" sz="2400" dirty="0">
                <a:latin typeface="Times New Roman" panose="02020603050405020304" pitchFamily="18" charset="0"/>
                <a:cs typeface="Times New Roman" panose="02020603050405020304" pitchFamily="18" charset="0"/>
              </a:rPr>
              <a:t>small company owners band together for a limited time to form a shared fund for their mutual business </a:t>
            </a:r>
            <a:r>
              <a:rPr lang="en-IN" sz="2400" dirty="0" smtClean="0">
                <a:latin typeface="Times New Roman" panose="02020603050405020304" pitchFamily="18" charset="0"/>
                <a:cs typeface="Times New Roman" panose="02020603050405020304" pitchFamily="18" charset="0"/>
              </a:rPr>
              <a:t>requirements.</a:t>
            </a: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These </a:t>
            </a:r>
            <a:r>
              <a:rPr lang="en-IN" sz="2400" dirty="0">
                <a:latin typeface="Times New Roman" panose="02020603050405020304" pitchFamily="18" charset="0"/>
                <a:cs typeface="Times New Roman" panose="02020603050405020304" pitchFamily="18" charset="0"/>
              </a:rPr>
              <a:t>organizations are classed as non-profits.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debt collection is handled by the organization.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This </a:t>
            </a:r>
            <a:r>
              <a:rPr lang="en-IN" sz="2400" dirty="0">
                <a:latin typeface="Times New Roman" panose="02020603050405020304" pitchFamily="18" charset="0"/>
                <a:cs typeface="Times New Roman" panose="02020603050405020304" pitchFamily="18" charset="0"/>
              </a:rPr>
              <a:t>type of cooperative financing does not necessitate the use of collateral.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addition, borrowing rates are often cheap. </a:t>
            </a:r>
            <a:endParaRPr lang="en-IN"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Several </a:t>
            </a:r>
            <a:r>
              <a:rPr lang="en-IN" sz="2400" dirty="0">
                <a:latin typeface="Times New Roman" panose="02020603050405020304" pitchFamily="18" charset="0"/>
                <a:cs typeface="Times New Roman" panose="02020603050405020304" pitchFamily="18" charset="0"/>
              </a:rPr>
              <a:t>banks have formed partnerships with SHGs in order to increase financial inclusion in the country's rural areas</a:t>
            </a:r>
            <a:r>
              <a:rPr lang="en-IN" sz="2400"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One of the most important is the NABARD SHG linkage program, which allows numerous self-help groups to borrow money from banks if they can show that their borrowers have made regular payments</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45989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343592" y="276104"/>
            <a:ext cx="11504815" cy="6565259"/>
          </a:xfrm>
          <a:prstGeom prst="rect">
            <a:avLst/>
          </a:prstGeom>
        </p:spPr>
        <p:txBody>
          <a:bodyPr wrap="square">
            <a:spAutoFit/>
          </a:bodyPr>
          <a:lstStyle/>
          <a:p>
            <a:pPr marL="342900" lvl="0" indent="-342900">
              <a:lnSpc>
                <a:spcPct val="107000"/>
              </a:lnSpc>
              <a:spcAft>
                <a:spcPts val="800"/>
              </a:spcAft>
              <a:buFont typeface="+mj-lt"/>
              <a:buAutoNum type="arabicPeriod" startAt="3"/>
              <a:tabLst>
                <a:tab pos="457200" algn="l"/>
              </a:tabLst>
            </a:pPr>
            <a:r>
              <a:rPr lang="en-IN" sz="2800" b="1" dirty="0" err="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Grameen</a:t>
            </a:r>
            <a:r>
              <a:rPr lang="en-IN" sz="28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bank </a:t>
            </a:r>
            <a:r>
              <a:rPr lang="en-IN" sz="2800" b="1" dirty="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model</a:t>
            </a:r>
          </a:p>
          <a:p>
            <a:pPr>
              <a:lnSpc>
                <a:spcPts val="2400"/>
              </a:lnSpc>
              <a:spcAft>
                <a:spcPts val="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838200" indent="-457200">
              <a:spcAft>
                <a:spcPts val="0"/>
              </a:spcAft>
              <a:buFont typeface="Arial" panose="020B0604020202020204" pitchFamily="34" charset="0"/>
              <a:buChar char="•"/>
            </a:pP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Nobel Laureate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Prof.</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Muhammad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Yunus</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developed the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Grameen</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Model in Bangladesh in the 1970s. </a:t>
            </a:r>
            <a:endPar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838200" indent="-457200">
              <a:spcAft>
                <a:spcPts val="0"/>
              </a:spcAft>
              <a:buFont typeface="Arial" panose="020B0604020202020204" pitchFamily="34" charset="0"/>
              <a:buChar char="•"/>
            </a:pP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Regional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Rural Banks (RRBs) have been established in India as a result. The main purpose of this strategy is to boost the rural economy from start to finish. </a:t>
            </a:r>
            <a:endPar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838200" indent="-457200">
              <a:spcAft>
                <a:spcPts val="0"/>
              </a:spcAft>
              <a:buFont typeface="Arial" panose="020B0604020202020204" pitchFamily="34" charset="0"/>
              <a:buChar char="•"/>
            </a:pP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India, however, SHGs have done better as MFIs than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Grameen</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Banks.</a:t>
            </a:r>
            <a:endParaRPr lang="en-IN" sz="28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838200" indent="-457200">
              <a:spcAft>
                <a:spcPts val="0"/>
              </a:spcAft>
              <a:buFont typeface="Arial" panose="020B0604020202020204" pitchFamily="34" charset="0"/>
              <a:buChar char="•"/>
            </a:pP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However</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 India, this approach has not been completely implemented since rural credit and recovery systems are a major issue. These regional banks also failed due to a large volume of non-performing assets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Shastri</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2009). </a:t>
            </a:r>
            <a:endParaRPr lang="en-IN" sz="28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838200" indent="-457200">
              <a:spcAft>
                <a:spcPts val="0"/>
              </a:spcAft>
              <a:buFont typeface="Arial" panose="020B0604020202020204" pitchFamily="34" charset="0"/>
              <a:buChar char="•"/>
            </a:pP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Self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Help Groups have fared better than this approach since they are more suited to India's population density and significantly more sustainable (Dash, 2013).</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16360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2869" y="197346"/>
            <a:ext cx="10389476" cy="5909310"/>
          </a:xfrm>
          <a:prstGeom prst="rect">
            <a:avLst/>
          </a:prstGeom>
        </p:spPr>
        <p:txBody>
          <a:bodyPr wrap="square">
            <a:spAutoFit/>
          </a:bodyPr>
          <a:lstStyle/>
          <a:p>
            <a:pPr algn="just">
              <a:lnSpc>
                <a:spcPct val="150000"/>
              </a:lnSpc>
            </a:pPr>
            <a:r>
              <a:rPr lang="en-US" b="1" i="1" dirty="0" err="1">
                <a:solidFill>
                  <a:srgbClr val="202122"/>
                </a:solidFill>
                <a:latin typeface="Arial" panose="020B0604020202020204" pitchFamily="34" charset="0"/>
              </a:rPr>
              <a:t>Grameen</a:t>
            </a:r>
            <a:r>
              <a:rPr lang="en-US" b="1" i="1" dirty="0">
                <a:solidFill>
                  <a:srgbClr val="202122"/>
                </a:solidFill>
                <a:latin typeface="Arial" panose="020B0604020202020204" pitchFamily="34" charset="0"/>
              </a:rPr>
              <a:t> Bank</a:t>
            </a:r>
            <a:r>
              <a:rPr lang="en-US" dirty="0">
                <a:solidFill>
                  <a:srgbClr val="202122"/>
                </a:solidFill>
                <a:latin typeface="Arial" panose="020B0604020202020204" pitchFamily="34" charset="0"/>
              </a:rPr>
              <a:t> (</a:t>
            </a:r>
            <a:r>
              <a:rPr lang="en-US" dirty="0">
                <a:solidFill>
                  <a:srgbClr val="202122"/>
                </a:solidFill>
                <a:latin typeface="Arial" panose="020B0604020202020204" pitchFamily="34" charset="0"/>
                <a:hlinkClick r:id="rId2" tooltip="Bengali language"/>
              </a:rPr>
              <a:t>Bengali</a:t>
            </a:r>
            <a:r>
              <a:rPr lang="en-US" dirty="0">
                <a:solidFill>
                  <a:srgbClr val="202122"/>
                </a:solidFill>
                <a:latin typeface="Arial" panose="020B0604020202020204" pitchFamily="34" charset="0"/>
              </a:rPr>
              <a:t>: </a:t>
            </a:r>
            <a:r>
              <a:rPr lang="en-US" dirty="0" err="1">
                <a:solidFill>
                  <a:srgbClr val="202122"/>
                </a:solidFill>
                <a:latin typeface="Arial" panose="020B0604020202020204" pitchFamily="34" charset="0"/>
              </a:rPr>
              <a:t>গ্রামীণ</a:t>
            </a:r>
            <a:r>
              <a:rPr lang="en-US" dirty="0">
                <a:solidFill>
                  <a:srgbClr val="202122"/>
                </a:solidFill>
                <a:latin typeface="Arial" panose="020B0604020202020204" pitchFamily="34" charset="0"/>
              </a:rPr>
              <a:t> </a:t>
            </a:r>
            <a:r>
              <a:rPr lang="en-US" dirty="0" err="1">
                <a:solidFill>
                  <a:srgbClr val="202122"/>
                </a:solidFill>
                <a:latin typeface="Arial" panose="020B0604020202020204" pitchFamily="34" charset="0"/>
              </a:rPr>
              <a:t>ব্যাংক</a:t>
            </a:r>
            <a:r>
              <a:rPr lang="en-US" dirty="0">
                <a:solidFill>
                  <a:srgbClr val="202122"/>
                </a:solidFill>
                <a:latin typeface="Arial" panose="020B0604020202020204" pitchFamily="34" charset="0"/>
              </a:rPr>
              <a:t>) is a </a:t>
            </a:r>
            <a:r>
              <a:rPr lang="en-US" dirty="0">
                <a:solidFill>
                  <a:srgbClr val="202122"/>
                </a:solidFill>
                <a:latin typeface="Arial" panose="020B0604020202020204" pitchFamily="34" charset="0"/>
                <a:hlinkClick r:id="rId3" tooltip="Microfinance"/>
              </a:rPr>
              <a:t>microfinance</a:t>
            </a:r>
            <a:r>
              <a:rPr lang="en-US" dirty="0">
                <a:solidFill>
                  <a:srgbClr val="202122"/>
                </a:solidFill>
                <a:latin typeface="Arial" panose="020B0604020202020204" pitchFamily="34" charset="0"/>
              </a:rPr>
              <a:t> specialized </a:t>
            </a:r>
            <a:r>
              <a:rPr lang="en-US" dirty="0">
                <a:solidFill>
                  <a:srgbClr val="202122"/>
                </a:solidFill>
                <a:latin typeface="Arial" panose="020B0604020202020204" pitchFamily="34" charset="0"/>
                <a:hlinkClick r:id="rId4" tooltip="Community development bank"/>
              </a:rPr>
              <a:t>community development bank</a:t>
            </a:r>
            <a:r>
              <a:rPr lang="en-US" dirty="0">
                <a:solidFill>
                  <a:srgbClr val="202122"/>
                </a:solidFill>
                <a:latin typeface="Arial" panose="020B0604020202020204" pitchFamily="34" charset="0"/>
              </a:rPr>
              <a:t> founded in </a:t>
            </a:r>
            <a:r>
              <a:rPr lang="en-US" dirty="0">
                <a:solidFill>
                  <a:srgbClr val="202122"/>
                </a:solidFill>
                <a:latin typeface="Arial" panose="020B0604020202020204" pitchFamily="34" charset="0"/>
                <a:hlinkClick r:id="rId5" tooltip="Bangladesh"/>
              </a:rPr>
              <a:t>Bangladesh</a:t>
            </a:r>
            <a:r>
              <a:rPr lang="en-US" dirty="0">
                <a:solidFill>
                  <a:srgbClr val="202122"/>
                </a:solidFill>
                <a:latin typeface="Arial" panose="020B0604020202020204" pitchFamily="34" charset="0"/>
              </a:rPr>
              <a:t>.</a:t>
            </a:r>
            <a:r>
              <a:rPr lang="en-US" baseline="30000" dirty="0">
                <a:solidFill>
                  <a:srgbClr val="202122"/>
                </a:solidFill>
                <a:latin typeface="Arial" panose="020B0604020202020204" pitchFamily="34" charset="0"/>
                <a:hlinkClick r:id="rId6"/>
              </a:rPr>
              <a:t>[5]</a:t>
            </a:r>
            <a:r>
              <a:rPr lang="en-US" baseline="30000" dirty="0">
                <a:solidFill>
                  <a:srgbClr val="202122"/>
                </a:solidFill>
                <a:latin typeface="Arial" panose="020B0604020202020204" pitchFamily="34" charset="0"/>
                <a:hlinkClick r:id="rId7"/>
              </a:rPr>
              <a:t>[6]</a:t>
            </a:r>
            <a:r>
              <a:rPr lang="en-US" dirty="0">
                <a:solidFill>
                  <a:srgbClr val="202122"/>
                </a:solidFill>
                <a:latin typeface="Arial" panose="020B0604020202020204" pitchFamily="34" charset="0"/>
              </a:rPr>
              <a:t> It provides small loans (known as </a:t>
            </a:r>
            <a:r>
              <a:rPr lang="en-US" dirty="0">
                <a:solidFill>
                  <a:srgbClr val="202122"/>
                </a:solidFill>
                <a:latin typeface="Arial" panose="020B0604020202020204" pitchFamily="34" charset="0"/>
                <a:hlinkClick r:id="rId8" tooltip="Microcredit"/>
              </a:rPr>
              <a:t>microcredit</a:t>
            </a:r>
            <a:r>
              <a:rPr lang="en-US" dirty="0">
                <a:solidFill>
                  <a:srgbClr val="202122"/>
                </a:solidFill>
                <a:latin typeface="Arial" panose="020B0604020202020204" pitchFamily="34" charset="0"/>
              </a:rPr>
              <a:t> or "</a:t>
            </a:r>
            <a:r>
              <a:rPr lang="en-US" dirty="0" err="1">
                <a:solidFill>
                  <a:srgbClr val="202122"/>
                </a:solidFill>
                <a:latin typeface="Arial" panose="020B0604020202020204" pitchFamily="34" charset="0"/>
              </a:rPr>
              <a:t>grameencredit</a:t>
            </a:r>
            <a:r>
              <a:rPr lang="en-US" dirty="0">
                <a:solidFill>
                  <a:srgbClr val="202122"/>
                </a:solidFill>
                <a:latin typeface="Arial" panose="020B0604020202020204" pitchFamily="34" charset="0"/>
              </a:rPr>
              <a:t>")</a:t>
            </a:r>
            <a:r>
              <a:rPr lang="en-US" baseline="30000" dirty="0">
                <a:solidFill>
                  <a:srgbClr val="202122"/>
                </a:solidFill>
                <a:latin typeface="Arial" panose="020B0604020202020204" pitchFamily="34" charset="0"/>
                <a:hlinkClick r:id="rId9"/>
              </a:rPr>
              <a:t>[7]</a:t>
            </a:r>
            <a:r>
              <a:rPr lang="en-US" dirty="0">
                <a:solidFill>
                  <a:srgbClr val="202122"/>
                </a:solidFill>
                <a:latin typeface="Arial" panose="020B0604020202020204" pitchFamily="34" charset="0"/>
              </a:rPr>
              <a:t> to the impoverished without requiring </a:t>
            </a:r>
            <a:r>
              <a:rPr lang="en-US" dirty="0">
                <a:solidFill>
                  <a:srgbClr val="202122"/>
                </a:solidFill>
                <a:latin typeface="Arial" panose="020B0604020202020204" pitchFamily="34" charset="0"/>
                <a:hlinkClick r:id="rId10" tooltip="Collateral (finance)"/>
              </a:rPr>
              <a:t>collateral</a:t>
            </a:r>
            <a:r>
              <a:rPr lang="en-US" dirty="0">
                <a:solidFill>
                  <a:srgbClr val="202122"/>
                </a:solidFill>
                <a:latin typeface="Arial" panose="020B0604020202020204" pitchFamily="34" charset="0"/>
              </a:rPr>
              <a:t>.</a:t>
            </a:r>
          </a:p>
          <a:p>
            <a:pPr algn="just">
              <a:lnSpc>
                <a:spcPct val="150000"/>
              </a:lnSpc>
            </a:pPr>
            <a:r>
              <a:rPr lang="en-US" dirty="0" err="1">
                <a:solidFill>
                  <a:srgbClr val="202122"/>
                </a:solidFill>
                <a:latin typeface="Arial" panose="020B0604020202020204" pitchFamily="34" charset="0"/>
              </a:rPr>
              <a:t>Grameen</a:t>
            </a:r>
            <a:r>
              <a:rPr lang="en-US" dirty="0">
                <a:solidFill>
                  <a:srgbClr val="202122"/>
                </a:solidFill>
                <a:latin typeface="Arial" panose="020B0604020202020204" pitchFamily="34" charset="0"/>
              </a:rPr>
              <a:t> Bank is a statutory public authority. It is originated in 1976, in the work of </a:t>
            </a:r>
            <a:r>
              <a:rPr lang="en-US" dirty="0">
                <a:solidFill>
                  <a:srgbClr val="202122"/>
                </a:solidFill>
                <a:latin typeface="Arial" panose="020B0604020202020204" pitchFamily="34" charset="0"/>
                <a:hlinkClick r:id="rId11" tooltip="Muhammad Yunus"/>
              </a:rPr>
              <a:t>Muhammad </a:t>
            </a:r>
            <a:r>
              <a:rPr lang="en-US" dirty="0" err="1">
                <a:solidFill>
                  <a:srgbClr val="202122"/>
                </a:solidFill>
                <a:latin typeface="Arial" panose="020B0604020202020204" pitchFamily="34" charset="0"/>
                <a:hlinkClick r:id="rId11" tooltip="Muhammad Yunus"/>
              </a:rPr>
              <a:t>Yunus</a:t>
            </a:r>
            <a:r>
              <a:rPr lang="en-US" dirty="0">
                <a:solidFill>
                  <a:srgbClr val="202122"/>
                </a:solidFill>
                <a:latin typeface="Arial" panose="020B0604020202020204" pitchFamily="34" charset="0"/>
              </a:rPr>
              <a:t>, a professor at the </a:t>
            </a:r>
            <a:r>
              <a:rPr lang="en-US" dirty="0">
                <a:solidFill>
                  <a:srgbClr val="202122"/>
                </a:solidFill>
                <a:latin typeface="Arial" panose="020B0604020202020204" pitchFamily="34" charset="0"/>
                <a:hlinkClick r:id="rId12" tooltip="University of Chittagong"/>
              </a:rPr>
              <a:t>University of Chittagong</a:t>
            </a:r>
            <a:r>
              <a:rPr lang="en-US" dirty="0">
                <a:solidFill>
                  <a:srgbClr val="202122"/>
                </a:solidFill>
                <a:latin typeface="Arial" panose="020B0604020202020204" pitchFamily="34" charset="0"/>
              </a:rPr>
              <a:t>, who launched a </a:t>
            </a:r>
            <a:r>
              <a:rPr lang="en-US" dirty="0">
                <a:solidFill>
                  <a:srgbClr val="202122"/>
                </a:solidFill>
                <a:latin typeface="Arial" panose="020B0604020202020204" pitchFamily="34" charset="0"/>
                <a:hlinkClick r:id="rId13" tooltip="Research project"/>
              </a:rPr>
              <a:t>research project</a:t>
            </a:r>
            <a:r>
              <a:rPr lang="en-US" dirty="0">
                <a:solidFill>
                  <a:srgbClr val="202122"/>
                </a:solidFill>
                <a:latin typeface="Arial" panose="020B0604020202020204" pitchFamily="34" charset="0"/>
              </a:rPr>
              <a:t> to study how to design a credit delivery system to provide banking services to the rural poor. In October 1983 the </a:t>
            </a:r>
            <a:r>
              <a:rPr lang="en-US" dirty="0" err="1">
                <a:solidFill>
                  <a:srgbClr val="202122"/>
                </a:solidFill>
                <a:latin typeface="Arial" panose="020B0604020202020204" pitchFamily="34" charset="0"/>
              </a:rPr>
              <a:t>Grameen</a:t>
            </a:r>
            <a:r>
              <a:rPr lang="en-US" dirty="0">
                <a:solidFill>
                  <a:srgbClr val="202122"/>
                </a:solidFill>
                <a:latin typeface="Arial" panose="020B0604020202020204" pitchFamily="34" charset="0"/>
              </a:rPr>
              <a:t> Bank was authorized by national legislation to operate as an independent bank.</a:t>
            </a:r>
          </a:p>
          <a:p>
            <a:pPr algn="just">
              <a:lnSpc>
                <a:spcPct val="150000"/>
              </a:lnSpc>
            </a:pPr>
            <a:r>
              <a:rPr lang="en-US" dirty="0">
                <a:solidFill>
                  <a:srgbClr val="202122"/>
                </a:solidFill>
                <a:latin typeface="Arial" panose="020B0604020202020204" pitchFamily="34" charset="0"/>
              </a:rPr>
              <a:t>The bank grew significantly between 2003 and 2007. As of January 2022, the total borrowers of the bank number nearly 9.5 million, and 96.81% of those are women.</a:t>
            </a:r>
            <a:r>
              <a:rPr lang="en-US" baseline="30000" dirty="0">
                <a:solidFill>
                  <a:srgbClr val="202122"/>
                </a:solidFill>
                <a:latin typeface="Arial" panose="020B0604020202020204" pitchFamily="34" charset="0"/>
                <a:hlinkClick r:id="rId14"/>
              </a:rPr>
              <a:t>[8]</a:t>
            </a:r>
            <a:r>
              <a:rPr lang="en-US" dirty="0">
                <a:solidFill>
                  <a:srgbClr val="202122"/>
                </a:solidFill>
                <a:latin typeface="Arial" panose="020B0604020202020204" pitchFamily="34" charset="0"/>
              </a:rPr>
              <a:t> In 1998 the Bank's "Low-cost Housing Program" won a </a:t>
            </a:r>
            <a:r>
              <a:rPr lang="en-US" dirty="0">
                <a:solidFill>
                  <a:srgbClr val="202122"/>
                </a:solidFill>
                <a:latin typeface="Arial" panose="020B0604020202020204" pitchFamily="34" charset="0"/>
                <a:hlinkClick r:id="rId15" tooltip="World Habitat Award"/>
              </a:rPr>
              <a:t>World Habitat Award</a:t>
            </a:r>
            <a:r>
              <a:rPr lang="en-US" dirty="0">
                <a:solidFill>
                  <a:srgbClr val="202122"/>
                </a:solidFill>
                <a:latin typeface="Arial" panose="020B0604020202020204" pitchFamily="34" charset="0"/>
              </a:rPr>
              <a:t>. In 2006, the bank and its founder, Muhammad </a:t>
            </a:r>
            <a:r>
              <a:rPr lang="en-US" dirty="0" err="1">
                <a:solidFill>
                  <a:srgbClr val="202122"/>
                </a:solidFill>
                <a:latin typeface="Arial" panose="020B0604020202020204" pitchFamily="34" charset="0"/>
              </a:rPr>
              <a:t>Yunus</a:t>
            </a:r>
            <a:r>
              <a:rPr lang="en-US" dirty="0">
                <a:solidFill>
                  <a:srgbClr val="202122"/>
                </a:solidFill>
                <a:latin typeface="Arial" panose="020B0604020202020204" pitchFamily="34" charset="0"/>
              </a:rPr>
              <a:t>, were jointly awarded the </a:t>
            </a:r>
            <a:r>
              <a:rPr lang="en-US" dirty="0">
                <a:solidFill>
                  <a:srgbClr val="202122"/>
                </a:solidFill>
                <a:latin typeface="Arial" panose="020B0604020202020204" pitchFamily="34" charset="0"/>
                <a:hlinkClick r:id="rId16" tooltip="Nobel Peace Prize"/>
              </a:rPr>
              <a:t>Nobel Peace Prize</a:t>
            </a:r>
            <a:r>
              <a:rPr lang="en-US" dirty="0">
                <a:solidFill>
                  <a:srgbClr val="202122"/>
                </a:solidFill>
                <a:latin typeface="Arial" panose="020B0604020202020204" pitchFamily="34" charset="0"/>
              </a:rPr>
              <a:t>.</a:t>
            </a:r>
            <a:r>
              <a:rPr lang="en-US" baseline="30000" dirty="0">
                <a:solidFill>
                  <a:srgbClr val="202122"/>
                </a:solidFill>
                <a:latin typeface="Arial" panose="020B0604020202020204" pitchFamily="34" charset="0"/>
                <a:hlinkClick r:id="rId17"/>
              </a:rPr>
              <a:t>[9]</a:t>
            </a:r>
            <a:endParaRPr lang="en-US" dirty="0">
              <a:solidFill>
                <a:srgbClr val="202122"/>
              </a:solidFill>
              <a:latin typeface="Arial" panose="020B0604020202020204" pitchFamily="34" charset="0"/>
            </a:endParaRPr>
          </a:p>
          <a:p>
            <a:pPr algn="just">
              <a:lnSpc>
                <a:spcPct val="150000"/>
              </a:lnSpc>
            </a:pPr>
            <a:r>
              <a:rPr lang="en-US" dirty="0">
                <a:solidFill>
                  <a:srgbClr val="202122"/>
                </a:solidFill>
                <a:latin typeface="Arial" panose="020B0604020202020204" pitchFamily="34" charset="0"/>
              </a:rPr>
              <a:t>The bank's success has inspired similar projects in more than 64 countries around the world, including a World Bank initiative to finance </a:t>
            </a:r>
            <a:r>
              <a:rPr lang="en-US" dirty="0" err="1">
                <a:solidFill>
                  <a:srgbClr val="202122"/>
                </a:solidFill>
                <a:latin typeface="Arial" panose="020B0604020202020204" pitchFamily="34" charset="0"/>
              </a:rPr>
              <a:t>Grameen</a:t>
            </a:r>
            <a:r>
              <a:rPr lang="en-US" dirty="0">
                <a:solidFill>
                  <a:srgbClr val="202122"/>
                </a:solidFill>
                <a:latin typeface="Arial" panose="020B0604020202020204" pitchFamily="34" charset="0"/>
              </a:rPr>
              <a:t>-type lending systems.</a:t>
            </a:r>
            <a:r>
              <a:rPr lang="en-US" baseline="30000" dirty="0">
                <a:solidFill>
                  <a:srgbClr val="202122"/>
                </a:solidFill>
                <a:latin typeface="Arial" panose="020B0604020202020204" pitchFamily="34" charset="0"/>
                <a:hlinkClick r:id="rId18"/>
              </a:rPr>
              <a:t>[10</a:t>
            </a:r>
            <a:r>
              <a:rPr lang="en-US" baseline="30000" dirty="0" smtClean="0">
                <a:solidFill>
                  <a:srgbClr val="202122"/>
                </a:solidFill>
                <a:latin typeface="Arial" panose="020B0604020202020204" pitchFamily="34" charset="0"/>
                <a:hlinkClick r:id="rId18"/>
              </a:rPr>
              <a:t>]</a:t>
            </a:r>
            <a:endParaRPr lang="en-US" baseline="30000" dirty="0" smtClean="0">
              <a:solidFill>
                <a:srgbClr val="202122"/>
              </a:solidFill>
              <a:latin typeface="Arial" panose="020B0604020202020204" pitchFamily="34" charset="0"/>
            </a:endParaRPr>
          </a:p>
          <a:p>
            <a:pPr algn="just">
              <a:lnSpc>
                <a:spcPct val="150000"/>
              </a:lnSpc>
            </a:pPr>
            <a:r>
              <a:rPr lang="en-US" b="1" u="sng" dirty="0">
                <a:solidFill>
                  <a:srgbClr val="FF0000"/>
                </a:solidFill>
                <a:latin typeface="Arial" panose="020B0604020202020204" pitchFamily="34" charset="0"/>
              </a:rPr>
              <a:t>https://en.wikipedia.org/wiki/Grameen_Bank</a:t>
            </a:r>
            <a:endParaRPr lang="en-US" b="1" i="0" u="sng" dirty="0">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658919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98763" y="405465"/>
            <a:ext cx="10798233" cy="5139869"/>
          </a:xfrm>
          <a:prstGeom prst="rect">
            <a:avLst/>
          </a:prstGeom>
        </p:spPr>
        <p:txBody>
          <a:bodyPr wrap="square">
            <a:spAutoFit/>
          </a:bodyPr>
          <a:lstStyle/>
          <a:p>
            <a:pPr marL="342900" lvl="0" indent="-342900">
              <a:buFont typeface="+mj-lt"/>
              <a:buAutoNum type="arabicPeriod" startAt="4"/>
              <a:tabLst>
                <a:tab pos="457200" algn="l"/>
              </a:tabLst>
            </a:pPr>
            <a:r>
              <a:rPr lang="en-IN" sz="28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Rural cooperatives</a:t>
            </a:r>
            <a:endParaRPr lang="en-IN" sz="28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838200" indent="-457200">
              <a:buFont typeface="Arial" panose="020B0604020202020204" pitchFamily="34" charset="0"/>
              <a:buChar char="•"/>
            </a:pP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the time of India's independence, rural </a:t>
            </a: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co-operatives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were founded. Poor people's resources were pooled, </a:t>
            </a: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and financial services were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offered through this fund. </a:t>
            </a:r>
            <a:endPar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838200" indent="-457200">
              <a:buFont typeface="Arial" panose="020B0604020202020204" pitchFamily="34" charset="0"/>
              <a:buChar char="•"/>
            </a:pP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This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approach, however, had complicated monitoring systems and was only useful to creditworthy borrowers in rural India. As a result, this strategy did not meet with the expected </a:t>
            </a: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success.</a:t>
            </a:r>
            <a:endParaRPr lang="en-IN" sz="28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838200" indent="-457200">
              <a:buFont typeface="Arial" panose="020B0604020202020204" pitchFamily="34" charset="0"/>
              <a:buChar char="•"/>
            </a:pPr>
            <a:r>
              <a:rPr lang="en-IN"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Furthermore</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this system exclusively served credit-worthy persons in rural regions, excluding a substantial portion of the country's financially disadvantaged population.</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nSpc>
                <a:spcPts val="2400"/>
              </a:lnSpc>
              <a:spcAft>
                <a:spcPts val="0"/>
              </a:spcAft>
            </a:pPr>
            <a:r>
              <a:rPr lang="en-IN" dirty="0">
                <a:solidFill>
                  <a:srgbClr val="000000"/>
                </a:solidFill>
                <a:latin typeface="roboto"/>
                <a:ea typeface="Times New Roman" panose="02020603050405020304" pitchFamily="18"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032529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79367" y="229768"/>
            <a:ext cx="10975570" cy="3231654"/>
          </a:xfrm>
          <a:prstGeom prst="rect">
            <a:avLst/>
          </a:prstGeom>
        </p:spPr>
        <p:txBody>
          <a:bodyPr wrap="square">
            <a:spAutoFit/>
          </a:bodyPr>
          <a:lstStyle/>
          <a:p>
            <a:pPr algn="ctr"/>
            <a:r>
              <a:rPr lang="en-US" sz="3600" dirty="0">
                <a:solidFill>
                  <a:srgbClr val="0070C0"/>
                </a:solidFill>
                <a:latin typeface="Times New Roman" panose="02020603050405020304" pitchFamily="18" charset="0"/>
                <a:cs typeface="Times New Roman" panose="02020603050405020304" pitchFamily="18" charset="0"/>
              </a:rPr>
              <a:t>Who are the clients of microfinance?</a:t>
            </a:r>
            <a:r>
              <a:rPr lang="en-US" sz="3600" dirty="0">
                <a:solidFill>
                  <a:srgbClr val="202124"/>
                </a:solidFill>
                <a:latin typeface="Times New Roman" panose="02020603050405020304" pitchFamily="18" charset="0"/>
                <a:cs typeface="Times New Roman" panose="02020603050405020304" pitchFamily="18" charset="0"/>
              </a:rPr>
              <a:t> </a:t>
            </a:r>
            <a:endParaRPr lang="en-US" sz="3600" dirty="0" smtClean="0">
              <a:solidFill>
                <a:srgbClr val="202124"/>
              </a:solidFill>
              <a:latin typeface="Times New Roman" panose="02020603050405020304" pitchFamily="18" charset="0"/>
              <a:cs typeface="Times New Roman" panose="02020603050405020304" pitchFamily="18" charset="0"/>
            </a:endParaRPr>
          </a:p>
          <a:p>
            <a:endParaRPr lang="en-US" sz="2800" dirty="0">
              <a:solidFill>
                <a:srgbClr val="202124"/>
              </a:solidFill>
              <a:latin typeface="Times New Roman" panose="02020603050405020304" pitchFamily="18" charset="0"/>
              <a:cs typeface="Times New Roman" panose="02020603050405020304" pitchFamily="18" charset="0"/>
            </a:endParaRPr>
          </a:p>
          <a:p>
            <a:endParaRPr lang="en-US" sz="2800" dirty="0" smtClean="0">
              <a:solidFill>
                <a:srgbClr val="202124"/>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solidFill>
                  <a:srgbClr val="202124"/>
                </a:solidFill>
                <a:latin typeface="Times New Roman" panose="02020603050405020304" pitchFamily="18" charset="0"/>
                <a:cs typeface="Times New Roman" panose="02020603050405020304" pitchFamily="18" charset="0"/>
              </a:rPr>
              <a:t>The </a:t>
            </a:r>
            <a:r>
              <a:rPr lang="en-US" sz="2800" dirty="0">
                <a:solidFill>
                  <a:srgbClr val="202124"/>
                </a:solidFill>
                <a:latin typeface="Times New Roman" panose="02020603050405020304" pitchFamily="18" charset="0"/>
                <a:cs typeface="Times New Roman" panose="02020603050405020304" pitchFamily="18" charset="0"/>
              </a:rPr>
              <a:t>typical microfinance clients are </a:t>
            </a:r>
            <a:r>
              <a:rPr lang="en-US" sz="2800" b="1" dirty="0">
                <a:solidFill>
                  <a:srgbClr val="202124"/>
                </a:solidFill>
                <a:latin typeface="Times New Roman" panose="02020603050405020304" pitchFamily="18" charset="0"/>
                <a:cs typeface="Times New Roman" panose="02020603050405020304" pitchFamily="18" charset="0"/>
              </a:rPr>
              <a:t>low-income persons that do not have access to formal financial institutions</a:t>
            </a:r>
            <a:r>
              <a:rPr lang="en-US" sz="2800" dirty="0" smtClean="0">
                <a:solidFill>
                  <a:srgbClr val="202124"/>
                </a:solidFill>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dirty="0" smtClean="0">
                <a:solidFill>
                  <a:srgbClr val="202124"/>
                </a:solidFill>
                <a:latin typeface="Times New Roman" panose="02020603050405020304" pitchFamily="18" charset="0"/>
                <a:cs typeface="Times New Roman" panose="02020603050405020304" pitchFamily="18" charset="0"/>
              </a:rPr>
              <a:t> </a:t>
            </a:r>
            <a:r>
              <a:rPr lang="en-US" sz="2800" dirty="0">
                <a:solidFill>
                  <a:srgbClr val="202124"/>
                </a:solidFill>
                <a:latin typeface="Times New Roman" panose="02020603050405020304" pitchFamily="18" charset="0"/>
                <a:cs typeface="Times New Roman" panose="02020603050405020304" pitchFamily="18" charset="0"/>
              </a:rPr>
              <a:t>Microfinance clients are typically self-employed, often household-based entrepreneurs.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8089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981365" y="155471"/>
            <a:ext cx="6229269" cy="646331"/>
          </a:xfrm>
          <a:prstGeom prst="rect">
            <a:avLst/>
          </a:prstGeom>
        </p:spPr>
        <p:txBody>
          <a:bodyPr wrap="none">
            <a:spAutoFit/>
          </a:bodyPr>
          <a:lstStyle/>
          <a:p>
            <a:r>
              <a:rPr lang="en-IN" sz="3600" b="1" dirty="0">
                <a:solidFill>
                  <a:srgbClr val="0070C0"/>
                </a:solidFill>
                <a:latin typeface="Times New Roman" panose="02020603050405020304" pitchFamily="18" charset="0"/>
                <a:cs typeface="Times New Roman" panose="02020603050405020304" pitchFamily="18" charset="0"/>
              </a:rPr>
              <a:t>Credit Delivery </a:t>
            </a:r>
            <a:r>
              <a:rPr lang="en-IN" sz="3600" b="1" dirty="0" smtClean="0">
                <a:solidFill>
                  <a:srgbClr val="0070C0"/>
                </a:solidFill>
                <a:latin typeface="Times New Roman" panose="02020603050405020304" pitchFamily="18" charset="0"/>
                <a:cs typeface="Times New Roman" panose="02020603050405020304" pitchFamily="18" charset="0"/>
              </a:rPr>
              <a:t>Methodologies</a:t>
            </a:r>
            <a:endParaRPr lang="en-IN" sz="3600" dirty="0">
              <a:solidFill>
                <a:srgbClr val="0070C0"/>
              </a:solidFill>
              <a:latin typeface="Times New Roman" panose="02020603050405020304" pitchFamily="18" charset="0"/>
              <a:cs typeface="Times New Roman" panose="02020603050405020304" pitchFamily="18" charset="0"/>
            </a:endParaRPr>
          </a:p>
        </p:txBody>
      </p:sp>
      <p:sp>
        <p:nvSpPr>
          <p:cNvPr id="4" name="Rectangle 3"/>
          <p:cNvSpPr/>
          <p:nvPr/>
        </p:nvSpPr>
        <p:spPr>
          <a:xfrm>
            <a:off x="1136071" y="3375756"/>
            <a:ext cx="10393681" cy="1384995"/>
          </a:xfrm>
          <a:prstGeom prst="rect">
            <a:avLst/>
          </a:prstGeom>
        </p:spPr>
        <p:txBody>
          <a:bodyPr wrap="square">
            <a:spAutoFit/>
          </a:bodyPr>
          <a:lstStyle/>
          <a:p>
            <a:pPr algn="just"/>
            <a:r>
              <a:rPr lang="en-US" sz="2800" dirty="0">
                <a:solidFill>
                  <a:srgbClr val="202124"/>
                </a:solidFill>
                <a:latin typeface="Times New Roman" panose="02020603050405020304" pitchFamily="18" charset="0"/>
                <a:cs typeface="Times New Roman" panose="02020603050405020304" pitchFamily="18" charset="0"/>
              </a:rPr>
              <a:t>The priority sector lending (PSL) mechanism </a:t>
            </a:r>
            <a:r>
              <a:rPr lang="en-US" sz="2800" b="1" dirty="0">
                <a:solidFill>
                  <a:srgbClr val="202124"/>
                </a:solidFill>
                <a:latin typeface="Times New Roman" panose="02020603050405020304" pitchFamily="18" charset="0"/>
                <a:cs typeface="Times New Roman" panose="02020603050405020304" pitchFamily="18" charset="0"/>
              </a:rPr>
              <a:t>seeks to provide an access to credit for those vulnerable sections of the society, who are often deprived of it due to their perceived lack of credit worthiness</a:t>
            </a:r>
            <a:r>
              <a:rPr lang="en-US" sz="2800" dirty="0">
                <a:solidFill>
                  <a:srgbClr val="202124"/>
                </a:solidFill>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5" name="Rectangle 4"/>
          <p:cNvSpPr/>
          <p:nvPr/>
        </p:nvSpPr>
        <p:spPr>
          <a:xfrm>
            <a:off x="1136071" y="1411826"/>
            <a:ext cx="10393681" cy="1815882"/>
          </a:xfrm>
          <a:prstGeom prst="rect">
            <a:avLst/>
          </a:prstGeom>
        </p:spPr>
        <p:txBody>
          <a:bodyPr wrap="square">
            <a:spAutoFit/>
          </a:bodyPr>
          <a:lstStyle/>
          <a:p>
            <a:pPr algn="just"/>
            <a:r>
              <a:rPr lang="en-US" sz="2800" dirty="0">
                <a:solidFill>
                  <a:srgbClr val="202124"/>
                </a:solidFill>
                <a:latin typeface="Times New Roman" panose="02020603050405020304" pitchFamily="18" charset="0"/>
                <a:cs typeface="Times New Roman" panose="02020603050405020304" pitchFamily="18" charset="0"/>
              </a:rPr>
              <a:t>In this system, the borrowers are allowed to draw funds from the account to the extent of the value of inventories and receivables less stipulated margin within the maximum permissible credit limit granted by the bank.</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3837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434" y="606972"/>
            <a:ext cx="11303876" cy="5909310"/>
          </a:xfrm>
          <a:prstGeom prst="rect">
            <a:avLst/>
          </a:prstGeom>
        </p:spPr>
        <p:txBody>
          <a:bodyPr wrap="square">
            <a:spAutoFit/>
          </a:bodyPr>
          <a:lstStyle/>
          <a:p>
            <a:pPr algn="just" fontAlgn="ctr">
              <a:lnSpc>
                <a:spcPct val="150000"/>
              </a:lnSpc>
            </a:pPr>
            <a:r>
              <a:rPr lang="en-US" dirty="0">
                <a:solidFill>
                  <a:srgbClr val="001D35"/>
                </a:solidFill>
                <a:latin typeface="Arial" panose="020B0604020202020204" pitchFamily="34" charset="0"/>
              </a:rPr>
              <a:t>Priority Sector Lending (PSL) is a Reserve Bank of India (RBI) requirement for banks to provide a portion of their loans to sectors that are important for the economy's development. The goal of PSL is to ensure that these sectors receive adequate credit and to promote inclusive growth. </a:t>
            </a:r>
          </a:p>
          <a:p>
            <a:pPr algn="just">
              <a:lnSpc>
                <a:spcPct val="150000"/>
              </a:lnSpc>
            </a:pPr>
            <a:r>
              <a:rPr lang="en-US" dirty="0">
                <a:solidFill>
                  <a:srgbClr val="001D35"/>
                </a:solidFill>
                <a:latin typeface="Arial" panose="020B0604020202020204" pitchFamily="34" charset="0"/>
              </a:rPr>
              <a:t>The RBI periodically updates the sectors that are eligible for PSL, as well as the limits for loans. The sectors that are eligible for PSL include:</a:t>
            </a:r>
          </a:p>
          <a:p>
            <a:pPr lvl="1" algn="just">
              <a:lnSpc>
                <a:spcPct val="150000"/>
              </a:lnSpc>
              <a:buFont typeface="Arial" panose="020B0604020202020204" pitchFamily="34" charset="0"/>
              <a:buChar char="•"/>
            </a:pPr>
            <a:r>
              <a:rPr lang="en-US" dirty="0">
                <a:solidFill>
                  <a:srgbClr val="001D35"/>
                </a:solidFill>
                <a:latin typeface="Arial" panose="020B0604020202020204" pitchFamily="34" charset="0"/>
              </a:rPr>
              <a:t>Agriculture and allied activities</a:t>
            </a:r>
          </a:p>
          <a:p>
            <a:pPr lvl="1" algn="just">
              <a:lnSpc>
                <a:spcPct val="150000"/>
              </a:lnSpc>
              <a:buFont typeface="Arial" panose="020B0604020202020204" pitchFamily="34" charset="0"/>
              <a:buChar char="•"/>
            </a:pPr>
            <a:r>
              <a:rPr lang="en-US" dirty="0">
                <a:solidFill>
                  <a:srgbClr val="001D35"/>
                </a:solidFill>
                <a:latin typeface="Arial" panose="020B0604020202020204" pitchFamily="34" charset="0"/>
              </a:rPr>
              <a:t>Micro, small, and medium enterprises (MSMEs)</a:t>
            </a:r>
          </a:p>
          <a:p>
            <a:pPr lvl="1" algn="just">
              <a:lnSpc>
                <a:spcPct val="150000"/>
              </a:lnSpc>
              <a:buFont typeface="Arial" panose="020B0604020202020204" pitchFamily="34" charset="0"/>
              <a:buChar char="•"/>
            </a:pPr>
            <a:r>
              <a:rPr lang="en-US" dirty="0">
                <a:solidFill>
                  <a:srgbClr val="001D35"/>
                </a:solidFill>
                <a:latin typeface="Arial" panose="020B0604020202020204" pitchFamily="34" charset="0"/>
              </a:rPr>
              <a:t>Education</a:t>
            </a:r>
          </a:p>
          <a:p>
            <a:pPr lvl="1" algn="just">
              <a:lnSpc>
                <a:spcPct val="150000"/>
              </a:lnSpc>
              <a:buFont typeface="Arial" panose="020B0604020202020204" pitchFamily="34" charset="0"/>
              <a:buChar char="•"/>
            </a:pPr>
            <a:r>
              <a:rPr lang="en-US" dirty="0">
                <a:solidFill>
                  <a:srgbClr val="001D35"/>
                </a:solidFill>
                <a:latin typeface="Arial" panose="020B0604020202020204" pitchFamily="34" charset="0"/>
              </a:rPr>
              <a:t>Housing for the poor</a:t>
            </a:r>
          </a:p>
          <a:p>
            <a:pPr lvl="1" algn="just">
              <a:lnSpc>
                <a:spcPct val="150000"/>
              </a:lnSpc>
              <a:buFont typeface="Arial" panose="020B0604020202020204" pitchFamily="34" charset="0"/>
              <a:buChar char="•"/>
            </a:pPr>
            <a:r>
              <a:rPr lang="en-US" dirty="0">
                <a:solidFill>
                  <a:srgbClr val="001D35"/>
                </a:solidFill>
                <a:latin typeface="Arial" panose="020B0604020202020204" pitchFamily="34" charset="0"/>
              </a:rPr>
              <a:t>Export credit</a:t>
            </a:r>
          </a:p>
          <a:p>
            <a:pPr lvl="1" algn="just">
              <a:lnSpc>
                <a:spcPct val="150000"/>
              </a:lnSpc>
              <a:buFont typeface="Arial" panose="020B0604020202020204" pitchFamily="34" charset="0"/>
              <a:buChar char="•"/>
            </a:pPr>
            <a:r>
              <a:rPr lang="en-US" dirty="0">
                <a:solidFill>
                  <a:srgbClr val="001D35"/>
                </a:solidFill>
                <a:latin typeface="Arial" panose="020B0604020202020204" pitchFamily="34" charset="0"/>
              </a:rPr>
              <a:t>Social infrastructure</a:t>
            </a:r>
          </a:p>
          <a:p>
            <a:pPr lvl="1" algn="just" fontAlgn="ctr">
              <a:lnSpc>
                <a:spcPct val="150000"/>
              </a:lnSpc>
              <a:buFont typeface="Arial" panose="020B0604020202020204" pitchFamily="34" charset="0"/>
              <a:buChar char="•"/>
            </a:pPr>
            <a:r>
              <a:rPr lang="en-US" dirty="0">
                <a:solidFill>
                  <a:srgbClr val="001D35"/>
                </a:solidFill>
                <a:latin typeface="Arial" panose="020B0604020202020204" pitchFamily="34" charset="0"/>
              </a:rPr>
              <a:t>Renewable energy </a:t>
            </a:r>
          </a:p>
          <a:p>
            <a:pPr algn="just" fontAlgn="ctr">
              <a:lnSpc>
                <a:spcPct val="150000"/>
              </a:lnSpc>
            </a:pPr>
            <a:r>
              <a:rPr lang="en-US" dirty="0">
                <a:solidFill>
                  <a:srgbClr val="001D35"/>
                </a:solidFill>
                <a:latin typeface="Arial" panose="020B0604020202020204" pitchFamily="34" charset="0"/>
              </a:rPr>
              <a:t>PSL was formalized in 1972 to help creditworthy sectors that are unable to access credit from formal financial institutions. The RBI requires banks to provide at least 40% of their total loans to priority sectors. </a:t>
            </a:r>
            <a:endParaRPr lang="en-US" dirty="0" smtClean="0">
              <a:solidFill>
                <a:srgbClr val="001D35"/>
              </a:solidFill>
              <a:latin typeface="Arial" panose="020B0604020202020204" pitchFamily="34" charset="0"/>
            </a:endParaRPr>
          </a:p>
        </p:txBody>
      </p:sp>
    </p:spTree>
    <p:extLst>
      <p:ext uri="{BB962C8B-B14F-4D97-AF65-F5344CB8AC3E}">
        <p14:creationId xmlns:p14="http://schemas.microsoft.com/office/powerpoint/2010/main" val="2442602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5" name="Oval 4"/>
          <p:cNvSpPr/>
          <p:nvPr/>
        </p:nvSpPr>
        <p:spPr>
          <a:xfrm>
            <a:off x="2168805" y="1304460"/>
            <a:ext cx="1753986" cy="1620981"/>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Financial Institutions</a:t>
            </a:r>
            <a:endParaRPr lang="en-IN" dirty="0"/>
          </a:p>
        </p:txBody>
      </p:sp>
      <p:sp>
        <p:nvSpPr>
          <p:cNvPr id="6" name="Oval 5"/>
          <p:cNvSpPr/>
          <p:nvPr/>
        </p:nvSpPr>
        <p:spPr>
          <a:xfrm>
            <a:off x="2385753" y="3072938"/>
            <a:ext cx="1305098" cy="130509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Donors</a:t>
            </a:r>
            <a:endParaRPr lang="en-IN" dirty="0"/>
          </a:p>
        </p:txBody>
      </p:sp>
      <p:sp>
        <p:nvSpPr>
          <p:cNvPr id="7" name="Oval 6"/>
          <p:cNvSpPr/>
          <p:nvPr/>
        </p:nvSpPr>
        <p:spPr>
          <a:xfrm>
            <a:off x="2385753" y="4874040"/>
            <a:ext cx="1305098" cy="130509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Private Equity</a:t>
            </a:r>
            <a:endParaRPr lang="en-IN" dirty="0"/>
          </a:p>
        </p:txBody>
      </p:sp>
      <p:sp>
        <p:nvSpPr>
          <p:cNvPr id="8" name="Oval 7"/>
          <p:cNvSpPr/>
          <p:nvPr/>
        </p:nvSpPr>
        <p:spPr>
          <a:xfrm>
            <a:off x="4549833" y="2884516"/>
            <a:ext cx="1305098" cy="1305098"/>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MFI</a:t>
            </a:r>
            <a:endParaRPr lang="en-IN" dirty="0"/>
          </a:p>
        </p:txBody>
      </p:sp>
      <p:sp>
        <p:nvSpPr>
          <p:cNvPr id="9" name="Oval 8"/>
          <p:cNvSpPr/>
          <p:nvPr/>
        </p:nvSpPr>
        <p:spPr>
          <a:xfrm>
            <a:off x="7295805" y="4934977"/>
            <a:ext cx="908857" cy="936558"/>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SHG</a:t>
            </a:r>
            <a:endParaRPr lang="en-IN" dirty="0"/>
          </a:p>
        </p:txBody>
      </p:sp>
      <p:sp>
        <p:nvSpPr>
          <p:cNvPr id="10" name="Oval 9"/>
          <p:cNvSpPr/>
          <p:nvPr/>
        </p:nvSpPr>
        <p:spPr>
          <a:xfrm>
            <a:off x="7196052" y="3139440"/>
            <a:ext cx="933795" cy="89916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SHG</a:t>
            </a:r>
            <a:endParaRPr lang="en-IN" dirty="0"/>
          </a:p>
        </p:txBody>
      </p:sp>
      <p:sp>
        <p:nvSpPr>
          <p:cNvPr id="11" name="Oval 10"/>
          <p:cNvSpPr/>
          <p:nvPr/>
        </p:nvSpPr>
        <p:spPr>
          <a:xfrm>
            <a:off x="7110153" y="1579418"/>
            <a:ext cx="928254" cy="915785"/>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SHG</a:t>
            </a:r>
            <a:endParaRPr lang="en-IN" dirty="0"/>
          </a:p>
        </p:txBody>
      </p:sp>
      <p:sp>
        <p:nvSpPr>
          <p:cNvPr id="12" name="Oval 11"/>
          <p:cNvSpPr/>
          <p:nvPr/>
        </p:nvSpPr>
        <p:spPr>
          <a:xfrm>
            <a:off x="9518073" y="1521229"/>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584574" y="138822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9717576" y="146719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p:cNvSpPr/>
          <p:nvPr/>
        </p:nvSpPr>
        <p:spPr>
          <a:xfrm>
            <a:off x="9717576" y="1625138"/>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9584574" y="1648691"/>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9651076" y="1927167"/>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9784077" y="1903614"/>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p:cNvSpPr/>
          <p:nvPr/>
        </p:nvSpPr>
        <p:spPr>
          <a:xfrm>
            <a:off x="9869975" y="200336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p:cNvSpPr/>
          <p:nvPr/>
        </p:nvSpPr>
        <p:spPr>
          <a:xfrm>
            <a:off x="9651074" y="2075409"/>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p:cNvSpPr/>
          <p:nvPr/>
        </p:nvSpPr>
        <p:spPr>
          <a:xfrm>
            <a:off x="9784073" y="2136370"/>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p:cNvSpPr/>
          <p:nvPr/>
        </p:nvSpPr>
        <p:spPr>
          <a:xfrm>
            <a:off x="9689869" y="243562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p:cNvSpPr/>
          <p:nvPr/>
        </p:nvSpPr>
        <p:spPr>
          <a:xfrm>
            <a:off x="9814552" y="2362199"/>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9933701" y="243562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p:cNvSpPr/>
          <p:nvPr/>
        </p:nvSpPr>
        <p:spPr>
          <a:xfrm>
            <a:off x="9709265" y="2579713"/>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p:cNvSpPr/>
          <p:nvPr/>
        </p:nvSpPr>
        <p:spPr>
          <a:xfrm>
            <a:off x="9856115" y="2588028"/>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p:cNvSpPr/>
          <p:nvPr/>
        </p:nvSpPr>
        <p:spPr>
          <a:xfrm>
            <a:off x="9681549" y="327521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p:cNvSpPr/>
          <p:nvPr/>
        </p:nvSpPr>
        <p:spPr>
          <a:xfrm>
            <a:off x="9792392" y="3179622"/>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p:cNvSpPr/>
          <p:nvPr/>
        </p:nvSpPr>
        <p:spPr>
          <a:xfrm>
            <a:off x="9922616" y="3215641"/>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9784073" y="3384663"/>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p:cNvSpPr/>
          <p:nvPr/>
        </p:nvSpPr>
        <p:spPr>
          <a:xfrm>
            <a:off x="9939236" y="336942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p:cNvSpPr/>
          <p:nvPr/>
        </p:nvSpPr>
        <p:spPr>
          <a:xfrm>
            <a:off x="9748050" y="3772592"/>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p:cNvSpPr/>
          <p:nvPr/>
        </p:nvSpPr>
        <p:spPr>
          <a:xfrm>
            <a:off x="9842268" y="365898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p:cNvSpPr/>
          <p:nvPr/>
        </p:nvSpPr>
        <p:spPr>
          <a:xfrm>
            <a:off x="9989117" y="3725487"/>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p:cNvSpPr/>
          <p:nvPr/>
        </p:nvSpPr>
        <p:spPr>
          <a:xfrm>
            <a:off x="9986338" y="3862653"/>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p:cNvSpPr/>
          <p:nvPr/>
        </p:nvSpPr>
        <p:spPr>
          <a:xfrm>
            <a:off x="9842267" y="390559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p:cNvSpPr/>
          <p:nvPr/>
        </p:nvSpPr>
        <p:spPr>
          <a:xfrm>
            <a:off x="9853335" y="4203467"/>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p:cNvSpPr/>
          <p:nvPr/>
        </p:nvSpPr>
        <p:spPr>
          <a:xfrm>
            <a:off x="9961402" y="4143898"/>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p:cNvSpPr/>
          <p:nvPr/>
        </p:nvSpPr>
        <p:spPr>
          <a:xfrm>
            <a:off x="10094405" y="421871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p:cNvSpPr/>
          <p:nvPr/>
        </p:nvSpPr>
        <p:spPr>
          <a:xfrm>
            <a:off x="9883816" y="434756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p:cNvSpPr/>
          <p:nvPr/>
        </p:nvSpPr>
        <p:spPr>
          <a:xfrm>
            <a:off x="10041750" y="434756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p:cNvSpPr/>
          <p:nvPr/>
        </p:nvSpPr>
        <p:spPr>
          <a:xfrm>
            <a:off x="9817316" y="4817224"/>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p:cNvSpPr/>
          <p:nvPr/>
        </p:nvSpPr>
        <p:spPr>
          <a:xfrm>
            <a:off x="9911533" y="4699462"/>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10066704" y="4718868"/>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10094404" y="4874040"/>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p:cNvSpPr/>
          <p:nvPr/>
        </p:nvSpPr>
        <p:spPr>
          <a:xfrm>
            <a:off x="9928148" y="493498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p:cNvSpPr/>
          <p:nvPr/>
        </p:nvSpPr>
        <p:spPr>
          <a:xfrm>
            <a:off x="9894900" y="5297977"/>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10000202" y="5181596"/>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p:cNvSpPr/>
          <p:nvPr/>
        </p:nvSpPr>
        <p:spPr>
          <a:xfrm>
            <a:off x="10119341" y="5260568"/>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p:cNvSpPr/>
          <p:nvPr/>
        </p:nvSpPr>
        <p:spPr>
          <a:xfrm>
            <a:off x="10119340" y="5396361"/>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9975248" y="5436520"/>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9842267" y="5677592"/>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p:cNvSpPr/>
          <p:nvPr/>
        </p:nvSpPr>
        <p:spPr>
          <a:xfrm>
            <a:off x="9975247" y="5636020"/>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p:cNvSpPr/>
          <p:nvPr/>
        </p:nvSpPr>
        <p:spPr>
          <a:xfrm>
            <a:off x="10108251" y="5694219"/>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9881053" y="5809191"/>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10022333" y="5843835"/>
            <a:ext cx="133003" cy="1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Arrow Connector 57"/>
          <p:cNvCxnSpPr>
            <a:stCxn id="5" idx="6"/>
          </p:cNvCxnSpPr>
          <p:nvPr/>
        </p:nvCxnSpPr>
        <p:spPr>
          <a:xfrm>
            <a:off x="3922791" y="2114951"/>
            <a:ext cx="798021" cy="100999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flipV="1">
            <a:off x="8137461" y="1669470"/>
            <a:ext cx="1329349" cy="37822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6" idx="6"/>
          </p:cNvCxnSpPr>
          <p:nvPr/>
        </p:nvCxnSpPr>
        <p:spPr>
          <a:xfrm flipV="1">
            <a:off x="3690851" y="3656210"/>
            <a:ext cx="845135" cy="6927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flipV="1">
            <a:off x="3667937" y="4116184"/>
            <a:ext cx="1045379" cy="118179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p:cNvCxnSpPr>
            <a:endCxn id="9" idx="1"/>
          </p:cNvCxnSpPr>
          <p:nvPr/>
        </p:nvCxnSpPr>
        <p:spPr>
          <a:xfrm>
            <a:off x="5867389" y="3551612"/>
            <a:ext cx="1561515" cy="152052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p:cNvCxnSpPr>
            <a:endCxn id="10" idx="2"/>
          </p:cNvCxnSpPr>
          <p:nvPr/>
        </p:nvCxnSpPr>
        <p:spPr>
          <a:xfrm>
            <a:off x="5849381" y="3537065"/>
            <a:ext cx="1346671" cy="519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p:cNvCxnSpPr>
            <a:stCxn id="8" idx="6"/>
          </p:cNvCxnSpPr>
          <p:nvPr/>
        </p:nvCxnSpPr>
        <p:spPr>
          <a:xfrm flipV="1">
            <a:off x="5854931" y="2269374"/>
            <a:ext cx="1233057" cy="12676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p:cNvCxnSpPr/>
          <p:nvPr/>
        </p:nvCxnSpPr>
        <p:spPr>
          <a:xfrm flipV="1">
            <a:off x="8149578" y="2003366"/>
            <a:ext cx="1415597" cy="2909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p:cNvCxnSpPr>
            <a:endCxn id="22" idx="1"/>
          </p:cNvCxnSpPr>
          <p:nvPr/>
        </p:nvCxnSpPr>
        <p:spPr>
          <a:xfrm>
            <a:off x="8137462" y="2032458"/>
            <a:ext cx="1571885" cy="4226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a:endCxn id="37" idx="2"/>
          </p:cNvCxnSpPr>
          <p:nvPr/>
        </p:nvCxnSpPr>
        <p:spPr>
          <a:xfrm>
            <a:off x="8149578" y="3699855"/>
            <a:ext cx="1703757" cy="57011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a:endCxn id="32" idx="2"/>
          </p:cNvCxnSpPr>
          <p:nvPr/>
        </p:nvCxnSpPr>
        <p:spPr>
          <a:xfrm>
            <a:off x="8163424" y="3682541"/>
            <a:ext cx="1584626" cy="1565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p:cNvCxnSpPr>
            <a:endCxn id="27" idx="2"/>
          </p:cNvCxnSpPr>
          <p:nvPr/>
        </p:nvCxnSpPr>
        <p:spPr>
          <a:xfrm flipV="1">
            <a:off x="8152007" y="3341717"/>
            <a:ext cx="1529542" cy="34773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endCxn id="52" idx="2"/>
          </p:cNvCxnSpPr>
          <p:nvPr/>
        </p:nvCxnSpPr>
        <p:spPr>
          <a:xfrm>
            <a:off x="8377827" y="5364472"/>
            <a:ext cx="1464440" cy="3796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p:cNvCxnSpPr/>
          <p:nvPr/>
        </p:nvCxnSpPr>
        <p:spPr>
          <a:xfrm>
            <a:off x="8377827" y="5346469"/>
            <a:ext cx="1464440" cy="180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p:cNvCxnSpPr/>
          <p:nvPr/>
        </p:nvCxnSpPr>
        <p:spPr>
          <a:xfrm flipV="1">
            <a:off x="8352200" y="4951609"/>
            <a:ext cx="1329349" cy="37822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4" name="Rectangle 93"/>
          <p:cNvSpPr/>
          <p:nvPr/>
        </p:nvSpPr>
        <p:spPr>
          <a:xfrm>
            <a:off x="133025" y="920635"/>
            <a:ext cx="9385048" cy="369332"/>
          </a:xfrm>
          <a:prstGeom prst="rect">
            <a:avLst/>
          </a:prstGeom>
        </p:spPr>
        <p:txBody>
          <a:bodyPr wrap="square">
            <a:spAutoFit/>
          </a:bodyPr>
          <a:lstStyle/>
          <a:p>
            <a:r>
              <a:rPr lang="en-US" dirty="0">
                <a:solidFill>
                  <a:srgbClr val="222222"/>
                </a:solidFill>
                <a:latin typeface="Georgia" panose="02040502050405020303" pitchFamily="18" charset="0"/>
              </a:rPr>
              <a:t>MFI’s use two basic methods in delivering financial services to their clients.</a:t>
            </a:r>
            <a:endParaRPr lang="en-IN" dirty="0"/>
          </a:p>
        </p:txBody>
      </p:sp>
      <p:sp>
        <p:nvSpPr>
          <p:cNvPr id="95" name="Rectangle 94"/>
          <p:cNvSpPr/>
          <p:nvPr/>
        </p:nvSpPr>
        <p:spPr>
          <a:xfrm>
            <a:off x="11091" y="2527835"/>
            <a:ext cx="2263833" cy="923330"/>
          </a:xfrm>
          <a:prstGeom prst="rect">
            <a:avLst/>
          </a:prstGeom>
        </p:spPr>
        <p:txBody>
          <a:bodyPr wrap="square">
            <a:spAutoFit/>
          </a:bodyPr>
          <a:lstStyle/>
          <a:p>
            <a:pPr>
              <a:buFont typeface="Arial" panose="020B0604020202020204" pitchFamily="34" charset="0"/>
              <a:buChar char="•"/>
            </a:pPr>
            <a:r>
              <a:rPr lang="en-US" dirty="0">
                <a:solidFill>
                  <a:srgbClr val="222222"/>
                </a:solidFill>
                <a:latin typeface="Georgia" panose="02040502050405020303" pitchFamily="18" charset="0"/>
              </a:rPr>
              <a:t>Group Method </a:t>
            </a:r>
            <a:endParaRPr lang="en-US" dirty="0" smtClean="0">
              <a:solidFill>
                <a:srgbClr val="222222"/>
              </a:solidFill>
              <a:latin typeface="Georgia" panose="02040502050405020303" pitchFamily="18" charset="0"/>
            </a:endParaRPr>
          </a:p>
          <a:p>
            <a:endParaRPr lang="en-US" dirty="0">
              <a:solidFill>
                <a:srgbClr val="222222"/>
              </a:solidFill>
              <a:latin typeface="Georgia" panose="02040502050405020303" pitchFamily="18" charset="0"/>
            </a:endParaRPr>
          </a:p>
          <a:p>
            <a:pPr>
              <a:buFont typeface="Arial" panose="020B0604020202020204" pitchFamily="34" charset="0"/>
              <a:buChar char="•"/>
            </a:pPr>
            <a:r>
              <a:rPr lang="en-US" dirty="0">
                <a:solidFill>
                  <a:srgbClr val="222222"/>
                </a:solidFill>
                <a:latin typeface="Georgia" panose="02040502050405020303" pitchFamily="18" charset="0"/>
              </a:rPr>
              <a:t>Individual method</a:t>
            </a:r>
            <a:endParaRPr lang="en-US" b="0" i="0" dirty="0">
              <a:solidFill>
                <a:srgbClr val="222222"/>
              </a:solidFill>
              <a:effectLst/>
              <a:latin typeface="Georgia" panose="02040502050405020303" pitchFamily="18" charset="0"/>
            </a:endParaRPr>
          </a:p>
        </p:txBody>
      </p:sp>
    </p:spTree>
    <p:extLst>
      <p:ext uri="{BB962C8B-B14F-4D97-AF65-F5344CB8AC3E}">
        <p14:creationId xmlns:p14="http://schemas.microsoft.com/office/powerpoint/2010/main" val="20621732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324196" y="311596"/>
            <a:ext cx="11679382" cy="5917004"/>
          </a:xfrm>
          <a:prstGeom prst="rect">
            <a:avLst/>
          </a:prstGeom>
        </p:spPr>
        <p:txBody>
          <a:bodyPr wrap="square">
            <a:spAutoFit/>
          </a:bodyPr>
          <a:lstStyle/>
          <a:p>
            <a:pPr marL="514350" indent="-514350">
              <a:spcAft>
                <a:spcPts val="1500"/>
              </a:spcAft>
              <a:buAutoNum type="arabicPeriod"/>
            </a:pPr>
            <a:r>
              <a:rPr lang="en-IN" sz="2800" b="1" dirty="0" smtClean="0">
                <a:solidFill>
                  <a:srgbClr val="00B0F0"/>
                </a:solidFill>
                <a:latin typeface="Arial" panose="020B0604020202020204" pitchFamily="34" charset="0"/>
                <a:ea typeface="Times New Roman" panose="02020603050405020304" pitchFamily="18" charset="0"/>
              </a:rPr>
              <a:t>Group Method</a:t>
            </a:r>
            <a:endParaRPr lang="en-IN" sz="1400" dirty="0">
              <a:solidFill>
                <a:srgbClr val="00B0F0"/>
              </a:solidFill>
              <a:latin typeface="Times New Roman" panose="02020603050405020304" pitchFamily="18" charset="0"/>
              <a:ea typeface="Times New Roman" panose="02020603050405020304" pitchFamily="18" charset="0"/>
            </a:endParaRPr>
          </a:p>
          <a:p>
            <a:pPr algn="just">
              <a:spcAft>
                <a:spcPts val="1800"/>
              </a:spcAft>
            </a:pP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This is one of the most common methodologies for providing micro-finance. The group method primarily involves a group of individuals, which becomes the basic unit of operation for the MFIs. </a:t>
            </a:r>
            <a:r>
              <a:rPr lang="en-IN" sz="2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MFIs </a:t>
            </a: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have to provide collateral-free loans, group methodologies help in creating social collateral (peer pressure) that can effectively substitute physical collateral. A group becomes a basic unit with which MFIs deal. The advantage of group methodology is that</a:t>
            </a:r>
            <a:endParaRPr lang="en-IN" sz="22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1800"/>
              </a:spcAft>
            </a:pP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Groups are trained to own joint responsibility for loans that are taken by individuals in the group.</a:t>
            </a:r>
            <a:b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br>
            <a:r>
              <a:rPr lang="en-IN" sz="2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Groups </a:t>
            </a: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ensure repayments from all individuals in that group and in case of a default</a:t>
            </a:r>
            <a:b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b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Groups functions as the forum where the credit discipline and other related issues are discussed.</a:t>
            </a:r>
            <a:b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b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Group may have to jointly own the responsibility of defaults and pay on behalf of </a:t>
            </a:r>
            <a:r>
              <a:rPr lang="en-IN" sz="2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defaulting clients</a:t>
            </a: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b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Group also helps credit appraisal and provide opinion on the creditworthiness of each individual </a:t>
            </a:r>
            <a:r>
              <a:rPr lang="en-IN" sz="2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in the group</a:t>
            </a: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b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Groups methodology also helps in controlling cost</a:t>
            </a:r>
            <a:endParaRPr lang="en-IN" sz="22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1800"/>
              </a:spcAft>
            </a:pPr>
            <a:r>
              <a:rPr lang="en-IN" sz="2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This ensures that even without taking any physical collateral, the MFI is able to manage its credit risk (loan-related risk).</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1391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90945" y="1098486"/>
            <a:ext cx="11479877" cy="5601533"/>
          </a:xfrm>
          <a:prstGeom prst="rect">
            <a:avLst/>
          </a:prstGeom>
        </p:spPr>
        <p:txBody>
          <a:bodyPr wrap="square">
            <a:spAutoFit/>
          </a:bodyPr>
          <a:lstStyle/>
          <a:p>
            <a:pPr algn="just">
              <a:spcAft>
                <a:spcPts val="1800"/>
              </a:spcAft>
            </a:pP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MFIs actually deliver the financial service at the client’s location which could be a village in rural areas or a colony/slum in the urban areas. Having a group helps the MFIs in getting all clients at one spot rather than visiting each individual’s house. This helps the MFI in increasing the efficiency of staff and controlling the cost. Group methodology creates a forum where individuals come and discuss, can provide an opinion, and exert social pressure.</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1800"/>
              </a:spcAft>
            </a:pP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The advantage of Group methodology can easily be appreciated by the fact if an MFI employee has to visit each individual house in isolation, it would be very difficult. Also in the absence of a group, if a client refuses to pay there is no forum where such a case can be discussed or there is no method through which the MFI can expert pressure on the client</a:t>
            </a:r>
            <a:r>
              <a:rPr lang="en-IN" sz="2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a:spcAft>
                <a:spcPts val="1800"/>
              </a:spcAft>
            </a:pPr>
            <a:r>
              <a:rPr lang="en-IN" sz="2200" dirty="0">
                <a:latin typeface="Times New Roman" panose="02020603050405020304" pitchFamily="18" charset="0"/>
                <a:cs typeface="Times New Roman" panose="02020603050405020304" pitchFamily="18" charset="0"/>
              </a:rPr>
              <a:t>Group methodology is also important because in case of larger loan defaults financial institutions can take recourse of legal action but in small loans, legal recourse is not an economically sound option. An MFI who may have an outstanding or </a:t>
            </a:r>
            <a:r>
              <a:rPr lang="en-IN" sz="2200" dirty="0" err="1">
                <a:latin typeface="Times New Roman" panose="02020603050405020304" pitchFamily="18" charset="0"/>
                <a:cs typeface="Times New Roman" panose="02020603050405020304" pitchFamily="18" charset="0"/>
              </a:rPr>
              <a:t>Rs</a:t>
            </a:r>
            <a:r>
              <a:rPr lang="en-IN" sz="2200" dirty="0">
                <a:latin typeface="Times New Roman" panose="02020603050405020304" pitchFamily="18" charset="0"/>
                <a:cs typeface="Times New Roman" panose="02020603050405020304" pitchFamily="18" charset="0"/>
              </a:rPr>
              <a:t> 3,000 at default cannot apply legal pressure as the cost of recovery through that method can be higher than the amount to be recovered itself</a:t>
            </a:r>
            <a:r>
              <a:rPr lang="en-IN" sz="2200" dirty="0" smtClean="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52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623455" y="1628507"/>
            <a:ext cx="10981112" cy="3508653"/>
          </a:xfrm>
          <a:prstGeom prst="rect">
            <a:avLst/>
          </a:prstGeom>
        </p:spPr>
        <p:txBody>
          <a:bodyPr wrap="square">
            <a:spAutoFit/>
          </a:bodyPr>
          <a:lstStyle/>
          <a:p>
            <a:pPr>
              <a:spcAft>
                <a:spcPts val="1800"/>
              </a:spcAft>
            </a:pP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MFIs are dealing with are generally poor and may face genuine problems at times. Rather than taking an aggressive/legal approach, which such vulnerable clients it is always better to have a more constructive and collective approach, which is provided by the Groups.</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1800"/>
              </a:spcAft>
            </a:pP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Due to the various advantages, as indicated above provided by groups, this methodology is widely accepted and used in micro-finance across the world.</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1800"/>
              </a:spcAft>
            </a:pPr>
            <a:r>
              <a:rPr lang="en-IN" sz="2400" b="1"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Self-help Group and Joint Liability Groups (</a:t>
            </a:r>
            <a:r>
              <a:rPr lang="en-IN" sz="2400" b="1" dirty="0" err="1">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Grameen</a:t>
            </a:r>
            <a:r>
              <a:rPr lang="en-IN" sz="2400" b="1"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model and its variants) are two common credit delivery models in India.</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5055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07324" y="355082"/>
            <a:ext cx="11205556" cy="6017032"/>
          </a:xfrm>
          <a:prstGeom prst="rect">
            <a:avLst/>
          </a:prstGeom>
        </p:spPr>
        <p:txBody>
          <a:bodyPr wrap="square">
            <a:spAutoFit/>
          </a:bodyPr>
          <a:lstStyle/>
          <a:p>
            <a:pPr>
              <a:spcAft>
                <a:spcPts val="1500"/>
              </a:spcAft>
            </a:pPr>
            <a:r>
              <a:rPr lang="en-IN" sz="2800" b="1" dirty="0">
                <a:solidFill>
                  <a:srgbClr val="00B0F0"/>
                </a:solidFill>
                <a:latin typeface="Arial" panose="020B0604020202020204" pitchFamily="34" charset="0"/>
                <a:ea typeface="Times New Roman" panose="02020603050405020304" pitchFamily="18" charset="0"/>
              </a:rPr>
              <a:t>2. Individual </a:t>
            </a:r>
            <a:r>
              <a:rPr lang="en-IN" sz="2800" b="1" dirty="0" smtClean="0">
                <a:solidFill>
                  <a:srgbClr val="00B0F0"/>
                </a:solidFill>
                <a:latin typeface="Arial" panose="020B0604020202020204" pitchFamily="34" charset="0"/>
                <a:ea typeface="Times New Roman" panose="02020603050405020304" pitchFamily="18" charset="0"/>
              </a:rPr>
              <a:t>Method</a:t>
            </a:r>
          </a:p>
          <a:p>
            <a:pPr>
              <a:spcAft>
                <a:spcPts val="1500"/>
              </a:spcAft>
            </a:pPr>
            <a:endParaRPr lang="en-IN" sz="1400" dirty="0">
              <a:solidFill>
                <a:srgbClr val="00B0F0"/>
              </a:solidFill>
              <a:latin typeface="Times New Roman" panose="02020603050405020304" pitchFamily="18" charset="0"/>
              <a:ea typeface="Times New Roman" panose="02020603050405020304" pitchFamily="18" charset="0"/>
            </a:endParaRPr>
          </a:p>
          <a:p>
            <a:pPr algn="just">
              <a:spcAft>
                <a:spcPts val="1800"/>
              </a:spcAft>
            </a:pPr>
            <a:r>
              <a:rPr lang="en-IN" sz="2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MFIs </a:t>
            </a: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are also increasingly providing loans to individuals. In the Individual lending method, MFIs provide loans to an individual based on his/her own personal creditworthiness. Individual lending is more prevalent with clients who generally need bigger size loans and have the capacity to produce guarantee and generate enough comfort to the MFI. </a:t>
            </a:r>
            <a:endParaRPr lang="en-IN" sz="2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1800"/>
              </a:spcAft>
            </a:pPr>
            <a:r>
              <a:rPr lang="en-IN" sz="2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MFIs </a:t>
            </a: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generally base their decision on personal knowledge of the client, his/her reputation among peers and society, client’s income sources, and business position. MFIs also ask for individual guarantors or take post-dated cheques from clients.</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0"/>
              </a:spcAft>
            </a:pPr>
            <a:r>
              <a:rPr lang="en-IN" sz="24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Individual guarantors come from friends or relatives well known to the borrower and who are ready to take the liability of repaying the loan, should the borrower fail to do so. If the loan is significantly larger, then MFIs may also take some collateral security.</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0"/>
              </a:spcAf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51324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7571" y="515384"/>
            <a:ext cx="11513127" cy="6343403"/>
          </a:xfrm>
          <a:prstGeom prst="rect">
            <a:avLst/>
          </a:prstGeom>
        </p:spPr>
        <p:txBody>
          <a:bodyPr wrap="square">
            <a:spAutoFit/>
          </a:bodyPr>
          <a:lstStyle/>
          <a:p>
            <a:pPr algn="just">
              <a:lnSpc>
                <a:spcPct val="107000"/>
              </a:lnSpc>
              <a:spcAft>
                <a:spcPts val="800"/>
              </a:spcAft>
            </a:pPr>
            <a:r>
              <a:rPr lang="en-IN" sz="2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Concept of SHG </a:t>
            </a:r>
            <a:endParaRPr lang="en-IN" sz="28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Generally </a:t>
            </a:r>
            <a:r>
              <a:rPr lang="en-IN" sz="2200" dirty="0">
                <a:latin typeface="Times New Roman" panose="02020603050405020304" pitchFamily="18" charset="0"/>
                <a:ea typeface="Calibri" panose="020F0502020204030204" pitchFamily="34" charset="0"/>
                <a:cs typeface="Mangal" panose="02040503050203030202" pitchFamily="18" charset="0"/>
              </a:rPr>
              <a:t>Self-Help Group consists of 10 to 20 members.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The </a:t>
            </a:r>
            <a:r>
              <a:rPr lang="en-IN" sz="2200" dirty="0">
                <a:latin typeface="Times New Roman" panose="02020603050405020304" pitchFamily="18" charset="0"/>
                <a:ea typeface="Calibri" panose="020F0502020204030204" pitchFamily="34" charset="0"/>
                <a:cs typeface="Mangal" panose="02040503050203030202" pitchFamily="18" charset="0"/>
              </a:rPr>
              <a:t>member saves some amount that they can afford. It is small amount ranging from </a:t>
            </a:r>
            <a:r>
              <a:rPr lang="en-IN" sz="2200" dirty="0" err="1">
                <a:latin typeface="Times New Roman" panose="02020603050405020304" pitchFamily="18" charset="0"/>
                <a:ea typeface="Calibri" panose="020F0502020204030204" pitchFamily="34" charset="0"/>
                <a:cs typeface="Mangal" panose="02040503050203030202" pitchFamily="18" charset="0"/>
              </a:rPr>
              <a:t>Rs</a:t>
            </a:r>
            <a:r>
              <a:rPr lang="en-IN" sz="2200" dirty="0">
                <a:latin typeface="Times New Roman" panose="02020603050405020304" pitchFamily="18" charset="0"/>
                <a:ea typeface="Calibri" panose="020F0502020204030204" pitchFamily="34" charset="0"/>
                <a:cs typeface="Mangal" panose="02040503050203030202" pitchFamily="18" charset="0"/>
              </a:rPr>
              <a:t>. 10 to 200 per month.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A </a:t>
            </a:r>
            <a:r>
              <a:rPr lang="en-IN" sz="2200" dirty="0">
                <a:latin typeface="Times New Roman" panose="02020603050405020304" pitchFamily="18" charset="0"/>
                <a:ea typeface="Calibri" panose="020F0502020204030204" pitchFamily="34" charset="0"/>
                <a:cs typeface="Mangal" panose="02040503050203030202" pitchFamily="18" charset="0"/>
              </a:rPr>
              <a:t>monthly meeting is organized, where apart from disbursal &amp; repayment of loan, formal and informal discussions are held on many social issues also. Members share their experiences in these groups.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The </a:t>
            </a:r>
            <a:r>
              <a:rPr lang="en-IN" sz="2200" dirty="0">
                <a:latin typeface="Times New Roman" panose="02020603050405020304" pitchFamily="18" charset="0"/>
                <a:ea typeface="Calibri" panose="020F0502020204030204" pitchFamily="34" charset="0"/>
                <a:cs typeface="Mangal" panose="02040503050203030202" pitchFamily="18" charset="0"/>
              </a:rPr>
              <a:t>minutes of these meetings are documented and the accounts are written.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The </a:t>
            </a:r>
            <a:r>
              <a:rPr lang="en-IN" sz="2200" dirty="0">
                <a:latin typeface="Times New Roman" panose="02020603050405020304" pitchFamily="18" charset="0"/>
                <a:ea typeface="Calibri" panose="020F0502020204030204" pitchFamily="34" charset="0"/>
                <a:cs typeface="Mangal" panose="02040503050203030202" pitchFamily="18" charset="0"/>
              </a:rPr>
              <a:t>President, Secretary and Treasurer are three official posts in any SHG. If the SHGs are connected with some NGOs, they take part in other social activities of those NGOs.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The </a:t>
            </a:r>
            <a:r>
              <a:rPr lang="en-IN" sz="2200" dirty="0">
                <a:latin typeface="Times New Roman" panose="02020603050405020304" pitchFamily="18" charset="0"/>
                <a:ea typeface="Calibri" panose="020F0502020204030204" pitchFamily="34" charset="0"/>
                <a:cs typeface="Mangal" panose="02040503050203030202" pitchFamily="18" charset="0"/>
              </a:rPr>
              <a:t>primary focus of self-help groups is to provide emotional and practical support and an exchange of information. Such groups use participatory processes to provide opportunities for people to share knowledge, common experiences, and problems.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a:p>
            <a:pPr marL="285750" indent="-285750" algn="just">
              <a:lnSpc>
                <a:spcPct val="107000"/>
              </a:lnSpc>
              <a:spcAft>
                <a:spcPts val="800"/>
              </a:spcAft>
              <a:buFont typeface="Arial" panose="020B0604020202020204" pitchFamily="34" charset="0"/>
              <a:buChar char="•"/>
            </a:pPr>
            <a:r>
              <a:rPr lang="en-IN" sz="2200" dirty="0" smtClean="0">
                <a:latin typeface="Times New Roman" panose="02020603050405020304" pitchFamily="18" charset="0"/>
                <a:ea typeface="Calibri" panose="020F0502020204030204" pitchFamily="34" charset="0"/>
                <a:cs typeface="Mangal" panose="02040503050203030202" pitchFamily="18" charset="0"/>
              </a:rPr>
              <a:t>Through </a:t>
            </a:r>
            <a:r>
              <a:rPr lang="en-IN" sz="2200" dirty="0">
                <a:latin typeface="Times New Roman" panose="02020603050405020304" pitchFamily="18" charset="0"/>
                <a:ea typeface="Calibri" panose="020F0502020204030204" pitchFamily="34" charset="0"/>
                <a:cs typeface="Mangal" panose="02040503050203030202" pitchFamily="18" charset="0"/>
              </a:rPr>
              <a:t>their participation, members help themselves and others by gaining knowledge and information, and by obtaining and providing emotional and practical support. </a:t>
            </a:r>
            <a:endParaRPr lang="en-IN" sz="2200" dirty="0" smtClean="0">
              <a:latin typeface="Times New Roman" panose="02020603050405020304" pitchFamily="18" charset="0"/>
              <a:ea typeface="Calibri" panose="020F0502020204030204" pitchFamily="34" charset="0"/>
              <a:cs typeface="Mangal" panose="02040503050203030202" pitchFamily="18" charset="0"/>
            </a:endParaRPr>
          </a:p>
        </p:txBody>
      </p:sp>
      <p:cxnSp>
        <p:nvCxnSpPr>
          <p:cNvPr id="5" name="Straight Connector 4"/>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6429893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1821" y="1155468"/>
            <a:ext cx="10999123" cy="5586153"/>
          </a:xfrm>
        </p:spPr>
        <p:txBody>
          <a:bodyPr>
            <a:normAutofit lnSpcReduction="10000"/>
          </a:bodyPr>
          <a:lstStyle/>
          <a:p>
            <a:pPr marL="285750" indent="-285750"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rPr>
              <a:t>These groups have been particularly useful in helping people with chronic health conditions and physical and mental disabilities. Traumatic life events such as death and divorce are also the basis for groups. </a:t>
            </a:r>
          </a:p>
          <a:p>
            <a:pPr marL="285750" indent="-285750"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rPr>
              <a:t>Self-help groups are voluntary, and they are mostly led by members. </a:t>
            </a:r>
            <a:endParaRPr lang="en-IN" sz="2600" dirty="0" smtClean="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07000"/>
              </a:lnSpc>
              <a:spcAft>
                <a:spcPts val="800"/>
              </a:spcAft>
            </a:pPr>
            <a:r>
              <a:rPr lang="en-IN" sz="2600" dirty="0" smtClean="0">
                <a:latin typeface="Times New Roman" panose="02020603050405020304" pitchFamily="18" charset="0"/>
                <a:ea typeface="Calibri" panose="020F0502020204030204" pitchFamily="34" charset="0"/>
                <a:cs typeface="Times New Roman" panose="02020603050405020304" pitchFamily="18" charset="0"/>
              </a:rPr>
              <a:t>Generally</a:t>
            </a:r>
            <a:r>
              <a:rPr lang="en-IN" sz="2600" dirty="0">
                <a:latin typeface="Times New Roman" panose="02020603050405020304" pitchFamily="18" charset="0"/>
                <a:ea typeface="Calibri" panose="020F0502020204030204" pitchFamily="34" charset="0"/>
                <a:cs typeface="Times New Roman" panose="02020603050405020304" pitchFamily="18" charset="0"/>
              </a:rPr>
              <a:t>, groups meet on a regular basis, and are open to new members. </a:t>
            </a:r>
            <a:endParaRPr lang="en-IN" sz="2600" dirty="0" smtClean="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07000"/>
              </a:lnSpc>
              <a:spcAft>
                <a:spcPts val="800"/>
              </a:spcAft>
            </a:pPr>
            <a:r>
              <a:rPr lang="en-IN" sz="2600" dirty="0" smtClean="0">
                <a:latin typeface="Times New Roman" panose="02020603050405020304" pitchFamily="18" charset="0"/>
                <a:ea typeface="Calibri" panose="020F0502020204030204" pitchFamily="34" charset="0"/>
                <a:cs typeface="Times New Roman" panose="02020603050405020304" pitchFamily="18" charset="0"/>
              </a:rPr>
              <a:t>Self-help </a:t>
            </a:r>
            <a:r>
              <a:rPr lang="en-IN" sz="2600" dirty="0">
                <a:latin typeface="Times New Roman" panose="02020603050405020304" pitchFamily="18" charset="0"/>
                <a:ea typeface="Calibri" panose="020F0502020204030204" pitchFamily="34" charset="0"/>
                <a:cs typeface="Times New Roman" panose="02020603050405020304" pitchFamily="18" charset="0"/>
              </a:rPr>
              <a:t>group, nonprofessional organization formed by people with a common problem or situation, for the purpose of pooling resources, 5 gathering information, and offering mutual support, services, or care. </a:t>
            </a:r>
            <a:endParaRPr lang="en-IN" sz="2600" dirty="0" smtClean="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07000"/>
              </a:lnSpc>
              <a:spcAft>
                <a:spcPts val="800"/>
              </a:spcAft>
            </a:pPr>
            <a:r>
              <a:rPr lang="en-IN" sz="26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IN" sz="2600" dirty="0">
                <a:latin typeface="Times New Roman" panose="02020603050405020304" pitchFamily="18" charset="0"/>
                <a:ea typeface="Calibri" panose="020F0502020204030204" pitchFamily="34" charset="0"/>
                <a:cs typeface="Times New Roman" panose="02020603050405020304" pitchFamily="18" charset="0"/>
              </a:rPr>
              <a:t>group should maintain simple basic records such as Minutes book, Attendance register, Loan ledger, General ledger, Cash book, Bank passbook and individual passbooks. </a:t>
            </a:r>
          </a:p>
          <a:p>
            <a:endParaRPr lang="en-IN" dirty="0"/>
          </a:p>
        </p:txBody>
      </p:sp>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8592387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15636" y="268856"/>
            <a:ext cx="10972800" cy="3524747"/>
          </a:xfrm>
          <a:prstGeom prst="rect">
            <a:avLst/>
          </a:prstGeom>
        </p:spPr>
        <p:txBody>
          <a:bodyPr wrap="square">
            <a:spAutoFit/>
          </a:bodyPr>
          <a:lstStyle/>
          <a:p>
            <a:pPr algn="just">
              <a:lnSpc>
                <a:spcPct val="107000"/>
              </a:lnSpc>
              <a:spcAft>
                <a:spcPts val="800"/>
              </a:spcAft>
            </a:pPr>
            <a:r>
              <a:rPr lang="en-IN" sz="2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Defining </a:t>
            </a:r>
            <a:endParaRPr lang="en-IN" sz="2800" b="1"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24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smtClean="0">
                <a:latin typeface="Times New Roman" panose="02020603050405020304" pitchFamily="18" charset="0"/>
                <a:ea typeface="Calibri" panose="020F0502020204030204" pitchFamily="34" charset="0"/>
                <a:cs typeface="Mangal" panose="02040503050203030202" pitchFamily="18" charset="0"/>
              </a:rPr>
              <a:t>SHGs</a:t>
            </a:r>
            <a:r>
              <a:rPr lang="en-IN" sz="2400" dirty="0">
                <a:latin typeface="Times New Roman" panose="02020603050405020304" pitchFamily="18" charset="0"/>
                <a:ea typeface="Calibri" panose="020F0502020204030204" pitchFamily="34" charset="0"/>
                <a:cs typeface="Mangal" panose="02040503050203030202" pitchFamily="18" charset="0"/>
              </a:rPr>
              <a:t>: Self-Help Group (SHG) is a </a:t>
            </a:r>
            <a:r>
              <a:rPr lang="en-IN" sz="2400" dirty="0">
                <a:solidFill>
                  <a:srgbClr val="FF0000"/>
                </a:solidFill>
                <a:latin typeface="Times New Roman" panose="02020603050405020304" pitchFamily="18" charset="0"/>
                <a:ea typeface="Calibri" panose="020F0502020204030204" pitchFamily="34" charset="0"/>
                <a:cs typeface="Mangal" panose="02040503050203030202" pitchFamily="18" charset="0"/>
              </a:rPr>
              <a:t>small voluntary association of poor people</a:t>
            </a:r>
            <a:r>
              <a:rPr lang="en-IN" sz="2400" dirty="0">
                <a:latin typeface="Times New Roman" panose="02020603050405020304" pitchFamily="18" charset="0"/>
                <a:ea typeface="Calibri" panose="020F0502020204030204" pitchFamily="34" charset="0"/>
                <a:cs typeface="Mangal" panose="02040503050203030202" pitchFamily="18" charset="0"/>
              </a:rPr>
              <a:t>, preferably </a:t>
            </a:r>
            <a:r>
              <a:rPr lang="en-IN" sz="2400" dirty="0">
                <a:solidFill>
                  <a:srgbClr val="FF0000"/>
                </a:solidFill>
                <a:latin typeface="Times New Roman" panose="02020603050405020304" pitchFamily="18" charset="0"/>
                <a:ea typeface="Calibri" panose="020F0502020204030204" pitchFamily="34" charset="0"/>
                <a:cs typeface="Mangal" panose="02040503050203030202" pitchFamily="18" charset="0"/>
              </a:rPr>
              <a:t>from the same socio-economic </a:t>
            </a:r>
            <a:r>
              <a:rPr lang="en-IN" sz="2400" dirty="0">
                <a:latin typeface="Times New Roman" panose="02020603050405020304" pitchFamily="18" charset="0"/>
                <a:ea typeface="Calibri" panose="020F0502020204030204" pitchFamily="34" charset="0"/>
                <a:cs typeface="Mangal" panose="02040503050203030202" pitchFamily="18" charset="0"/>
              </a:rPr>
              <a:t>background. They come together for the purpose of solving their common problems through self-help and mutual help. The SHG promotes small savings among its members. The savings are kept with a bank. This common fund is in the name of the SHG. Usually, the number of members in one SHG does not exceed twenty. </a:t>
            </a:r>
            <a:endParaRPr lang="en-IN" sz="24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4" name="Rectangle 3"/>
          <p:cNvSpPr/>
          <p:nvPr/>
        </p:nvSpPr>
        <p:spPr>
          <a:xfrm>
            <a:off x="340822" y="3682579"/>
            <a:ext cx="10972800" cy="3175421"/>
          </a:xfrm>
          <a:prstGeom prst="rect">
            <a:avLst/>
          </a:prstGeom>
        </p:spPr>
        <p:txBody>
          <a:bodyPr wrap="square">
            <a:spAutoFit/>
          </a:bodyPr>
          <a:lstStyle/>
          <a:p>
            <a:pPr algn="just">
              <a:lnSpc>
                <a:spcPct val="107000"/>
              </a:lnSpc>
              <a:spcAft>
                <a:spcPts val="800"/>
              </a:spcAft>
            </a:pPr>
            <a:r>
              <a:rPr lang="en-IN" sz="2400"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Objectives of SHGs: </a:t>
            </a:r>
            <a:endParaRPr lang="en-IN" sz="2400" dirty="0">
              <a:solidFill>
                <a:srgbClr val="00B0F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SHGs comprise very poor people who do not have access to formal financial institutions. They act as the forum for the members to provide space and support to each other. </a:t>
            </a:r>
            <a:endParaRPr lang="en-IN" sz="2400"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IN" sz="2400" dirty="0" smtClean="0">
                <a:latin typeface="Times New Roman" panose="02020603050405020304" pitchFamily="18" charset="0"/>
                <a:ea typeface="Calibri" panose="020F0502020204030204" pitchFamily="34" charset="0"/>
                <a:cs typeface="Times New Roman" panose="02020603050405020304" pitchFamily="18" charset="0"/>
              </a:rPr>
              <a:t>It </a:t>
            </a:r>
            <a:r>
              <a:rPr lang="en-IN" sz="2400" dirty="0">
                <a:latin typeface="Times New Roman" panose="02020603050405020304" pitchFamily="18" charset="0"/>
                <a:ea typeface="Calibri" panose="020F0502020204030204" pitchFamily="34" charset="0"/>
                <a:cs typeface="Times New Roman" panose="02020603050405020304" pitchFamily="18" charset="0"/>
              </a:rPr>
              <a:t>also enables the members to learn to cooperate and work in a group environment. The SHGs provide savings mechanism, which suits the needs of the members. </a:t>
            </a:r>
            <a:endParaRPr lang="en-IN" sz="2400"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IN" sz="2400" dirty="0" smtClean="0">
                <a:latin typeface="Times New Roman" panose="02020603050405020304" pitchFamily="18" charset="0"/>
                <a:ea typeface="Calibri" panose="020F0502020204030204" pitchFamily="34" charset="0"/>
                <a:cs typeface="Times New Roman" panose="02020603050405020304" pitchFamily="18" charset="0"/>
              </a:rPr>
              <a:t>It </a:t>
            </a:r>
            <a:r>
              <a:rPr lang="en-IN" sz="2400" dirty="0">
                <a:latin typeface="Times New Roman" panose="02020603050405020304" pitchFamily="18" charset="0"/>
                <a:ea typeface="Calibri" panose="020F0502020204030204" pitchFamily="34" charset="0"/>
                <a:cs typeface="Times New Roman" panose="02020603050405020304" pitchFamily="18" charset="0"/>
              </a:rPr>
              <a:t>also provides a cost effective delivery mechanism for small credit to its members. The SHGs significantly contribute to the empowerment of poor women.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30719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789709"/>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64622" y="191193"/>
            <a:ext cx="11529753" cy="6740307"/>
          </a:xfrm>
          <a:prstGeom prst="rect">
            <a:avLst/>
          </a:prstGeom>
        </p:spPr>
        <p:txBody>
          <a:bodyPr wrap="square">
            <a:spAutoFit/>
          </a:bodyPr>
          <a:lstStyle/>
          <a:p>
            <a:pPr algn="just"/>
            <a:r>
              <a:rPr lang="en-IN" sz="2800" b="1" dirty="0">
                <a:solidFill>
                  <a:srgbClr val="00B0F0"/>
                </a:solidFill>
                <a:latin typeface="Times New Roman" panose="02020603050405020304" pitchFamily="18" charset="0"/>
                <a:cs typeface="Times New Roman" panose="02020603050405020304" pitchFamily="18" charset="0"/>
              </a:rPr>
              <a:t>Support Base for the formation of SHGs: </a:t>
            </a:r>
            <a:endParaRPr lang="en-IN" sz="2800" b="1" dirty="0" smtClean="0">
              <a:solidFill>
                <a:srgbClr val="00B0F0"/>
              </a:solidFill>
              <a:latin typeface="Times New Roman" panose="02020603050405020304" pitchFamily="18" charset="0"/>
              <a:cs typeface="Times New Roman" panose="02020603050405020304" pitchFamily="18" charset="0"/>
            </a:endParaRPr>
          </a:p>
          <a:p>
            <a:pPr algn="just"/>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Non-Governmental Organisations (NGOs) Social Workers, health workers, village level workers, </a:t>
            </a:r>
            <a:r>
              <a:rPr lang="en-IN" sz="2400" dirty="0" err="1">
                <a:latin typeface="Times New Roman" panose="02020603050405020304" pitchFamily="18" charset="0"/>
                <a:cs typeface="Times New Roman" panose="02020603050405020304" pitchFamily="18" charset="0"/>
              </a:rPr>
              <a:t>etc</a:t>
            </a:r>
            <a:r>
              <a:rPr lang="en-IN" sz="2400" dirty="0">
                <a:latin typeface="Times New Roman" panose="02020603050405020304" pitchFamily="18" charset="0"/>
                <a:cs typeface="Times New Roman" panose="02020603050405020304" pitchFamily="18" charset="0"/>
              </a:rPr>
              <a:t> Informal Associations of local </a:t>
            </a:r>
            <a:r>
              <a:rPr lang="en-IN" sz="2400" dirty="0" smtClean="0">
                <a:latin typeface="Times New Roman" panose="02020603050405020304" pitchFamily="18" charset="0"/>
                <a:cs typeface="Times New Roman" panose="02020603050405020304" pitchFamily="18" charset="0"/>
              </a:rPr>
              <a:t>people, </a:t>
            </a:r>
            <a:r>
              <a:rPr lang="en-IN" sz="2400" dirty="0">
                <a:latin typeface="Times New Roman" panose="02020603050405020304" pitchFamily="18" charset="0"/>
                <a:cs typeface="Times New Roman" panose="02020603050405020304" pitchFamily="18" charset="0"/>
              </a:rPr>
              <a:t>Development oriented government </a:t>
            </a:r>
            <a:r>
              <a:rPr lang="en-IN" sz="2400" dirty="0" smtClean="0">
                <a:latin typeface="Times New Roman" panose="02020603050405020304" pitchFamily="18" charset="0"/>
                <a:cs typeface="Times New Roman" panose="02020603050405020304" pitchFamily="18" charset="0"/>
              </a:rPr>
              <a:t>departments, Banks, </a:t>
            </a:r>
            <a:r>
              <a:rPr lang="en-IN" sz="2400" dirty="0">
                <a:latin typeface="Times New Roman" panose="02020603050405020304" pitchFamily="18" charset="0"/>
                <a:cs typeface="Times New Roman" panose="02020603050405020304" pitchFamily="18" charset="0"/>
              </a:rPr>
              <a:t>Bank personnel and other individuals (in their personal capacities) Farmers' Clubs under the </a:t>
            </a:r>
            <a:r>
              <a:rPr lang="en-IN" sz="2400" dirty="0" err="1">
                <a:latin typeface="Times New Roman" panose="02020603050405020304" pitchFamily="18" charset="0"/>
                <a:cs typeface="Times New Roman" panose="02020603050405020304" pitchFamily="18" charset="0"/>
              </a:rPr>
              <a:t>Vikas</a:t>
            </a:r>
            <a:r>
              <a:rPr lang="en-IN" sz="2400" dirty="0">
                <a:latin typeface="Times New Roman" panose="02020603050405020304" pitchFamily="18" charset="0"/>
                <a:cs typeface="Times New Roman" panose="02020603050405020304" pitchFamily="18" charset="0"/>
              </a:rPr>
              <a:t> Volunteer </a:t>
            </a:r>
            <a:r>
              <a:rPr lang="en-IN" sz="2400" dirty="0" err="1">
                <a:latin typeface="Times New Roman" panose="02020603050405020304" pitchFamily="18" charset="0"/>
                <a:cs typeface="Times New Roman" panose="02020603050405020304" pitchFamily="18" charset="0"/>
              </a:rPr>
              <a:t>Vahini</a:t>
            </a:r>
            <a:r>
              <a:rPr lang="en-IN" sz="2400" dirty="0">
                <a:latin typeface="Times New Roman" panose="02020603050405020304" pitchFamily="18" charset="0"/>
                <a:cs typeface="Times New Roman" panose="02020603050405020304" pitchFamily="18" charset="0"/>
              </a:rPr>
              <a:t> ( VVV) Programme of NABARD Other development institutions </a:t>
            </a:r>
            <a:endParaRPr lang="en-IN"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solidFill>
                  <a:srgbClr val="00B0F0"/>
                </a:solidFill>
                <a:latin typeface="Times New Roman" panose="02020603050405020304" pitchFamily="18" charset="0"/>
                <a:cs typeface="Times New Roman" panose="02020603050405020304" pitchFamily="18" charset="0"/>
              </a:rPr>
              <a:t>Target group of SHGs: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SHG-bank linkage programme is </a:t>
            </a:r>
            <a:r>
              <a:rPr lang="en-IN" sz="2400" dirty="0">
                <a:solidFill>
                  <a:srgbClr val="FF0000"/>
                </a:solidFill>
                <a:latin typeface="Times New Roman" panose="02020603050405020304" pitchFamily="18" charset="0"/>
                <a:cs typeface="Times New Roman" panose="02020603050405020304" pitchFamily="18" charset="0"/>
              </a:rPr>
              <a:t>targeted to reach the poorest sections</a:t>
            </a:r>
            <a:r>
              <a:rPr lang="en-IN" sz="2400" dirty="0">
                <a:latin typeface="Times New Roman" panose="02020603050405020304" pitchFamily="18" charset="0"/>
                <a:cs typeface="Times New Roman" panose="02020603050405020304" pitchFamily="18" charset="0"/>
              </a:rPr>
              <a:t>, which are </a:t>
            </a:r>
            <a:r>
              <a:rPr lang="en-IN" sz="2400" dirty="0">
                <a:solidFill>
                  <a:srgbClr val="FF0000"/>
                </a:solidFill>
                <a:latin typeface="Times New Roman" panose="02020603050405020304" pitchFamily="18" charset="0"/>
                <a:cs typeface="Times New Roman" panose="02020603050405020304" pitchFamily="18" charset="0"/>
              </a:rPr>
              <a:t>bypassed by the formal banking system</a:t>
            </a:r>
            <a:r>
              <a:rPr lang="en-IN" sz="2400" dirty="0">
                <a:latin typeface="Times New Roman" panose="02020603050405020304" pitchFamily="18" charset="0"/>
                <a:cs typeface="Times New Roman" panose="02020603050405020304" pitchFamily="18" charset="0"/>
              </a:rPr>
              <a:t>. Therefore, it is essential that only the </a:t>
            </a:r>
            <a:r>
              <a:rPr lang="en-IN" sz="2400" dirty="0">
                <a:solidFill>
                  <a:srgbClr val="FF0000"/>
                </a:solidFill>
                <a:latin typeface="Times New Roman" panose="02020603050405020304" pitchFamily="18" charset="0"/>
                <a:cs typeface="Times New Roman" panose="02020603050405020304" pitchFamily="18" charset="0"/>
              </a:rPr>
              <a:t>very poor be considered as the target group</a:t>
            </a:r>
            <a:r>
              <a:rPr lang="en-IN" sz="2400" dirty="0">
                <a:latin typeface="Times New Roman" panose="02020603050405020304" pitchFamily="18" charset="0"/>
                <a:cs typeface="Times New Roman" panose="02020603050405020304" pitchFamily="18" charset="0"/>
              </a:rPr>
              <a:t> for the SHG -bank linkage programme</a:t>
            </a:r>
            <a:r>
              <a:rPr lang="en-IN" sz="2400" dirty="0" smtClean="0">
                <a:latin typeface="Times New Roman" panose="02020603050405020304" pitchFamily="18" charset="0"/>
                <a:cs typeface="Times New Roman" panose="02020603050405020304" pitchFamily="18" charset="0"/>
              </a:rPr>
              <a:t>.</a:t>
            </a:r>
          </a:p>
          <a:p>
            <a:pPr algn="just"/>
            <a:r>
              <a:rPr lang="en-IN"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b="1" dirty="0">
                <a:solidFill>
                  <a:srgbClr val="00B0F0"/>
                </a:solidFill>
                <a:latin typeface="Times New Roman" panose="02020603050405020304" pitchFamily="18" charset="0"/>
                <a:cs typeface="Times New Roman" panose="02020603050405020304" pitchFamily="18" charset="0"/>
              </a:rPr>
              <a:t>SHG members: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 SHG can be </a:t>
            </a:r>
            <a:r>
              <a:rPr lang="en-IN" sz="2400" dirty="0">
                <a:solidFill>
                  <a:srgbClr val="FF0000"/>
                </a:solidFill>
                <a:latin typeface="Times New Roman" panose="02020603050405020304" pitchFamily="18" charset="0"/>
                <a:cs typeface="Times New Roman" panose="02020603050405020304" pitchFamily="18" charset="0"/>
              </a:rPr>
              <a:t>all-women group, all-men group, or even a mixed Group</a:t>
            </a:r>
            <a:r>
              <a:rPr lang="en-IN" sz="2400" dirty="0">
                <a:latin typeface="Times New Roman" panose="02020603050405020304" pitchFamily="18" charset="0"/>
                <a:cs typeface="Times New Roman" panose="02020603050405020304" pitchFamily="18" charset="0"/>
              </a:rPr>
              <a:t>. However, it has been the experience that </a:t>
            </a:r>
            <a:r>
              <a:rPr lang="en-IN" sz="2400" dirty="0">
                <a:solidFill>
                  <a:srgbClr val="FF0000"/>
                </a:solidFill>
                <a:latin typeface="Times New Roman" panose="02020603050405020304" pitchFamily="18" charset="0"/>
                <a:cs typeface="Times New Roman" panose="02020603050405020304" pitchFamily="18" charset="0"/>
              </a:rPr>
              <a:t>women's groups perform better in all the important activities </a:t>
            </a:r>
            <a:r>
              <a:rPr lang="en-IN" sz="2400" dirty="0">
                <a:latin typeface="Times New Roman" panose="02020603050405020304" pitchFamily="18" charset="0"/>
                <a:cs typeface="Times New Roman" panose="02020603050405020304" pitchFamily="18" charset="0"/>
              </a:rPr>
              <a:t>of SHGs. </a:t>
            </a:r>
            <a:r>
              <a:rPr lang="en-IN" sz="2400" dirty="0">
                <a:solidFill>
                  <a:srgbClr val="FF0000"/>
                </a:solidFill>
                <a:latin typeface="Times New Roman" panose="02020603050405020304" pitchFamily="18" charset="0"/>
                <a:cs typeface="Times New Roman" panose="02020603050405020304" pitchFamily="18" charset="0"/>
              </a:rPr>
              <a:t>Mixed group is not preferred in many of the places</a:t>
            </a:r>
            <a:r>
              <a:rPr lang="en-IN" sz="2400" dirty="0">
                <a:latin typeface="Times New Roman" panose="02020603050405020304" pitchFamily="18" charset="0"/>
                <a:cs typeface="Times New Roman" panose="02020603050405020304" pitchFamily="18" charset="0"/>
              </a:rPr>
              <a:t>, due to the presence of conflicting interests.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47574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310939" y="475828"/>
            <a:ext cx="11343503" cy="6195927"/>
          </a:xfrm>
          <a:prstGeom prst="rect">
            <a:avLst/>
          </a:prstGeom>
        </p:spPr>
        <p:txBody>
          <a:bodyPr wrap="square">
            <a:spAutoFit/>
          </a:bodyPr>
          <a:lstStyle/>
          <a:p>
            <a:pPr algn="just">
              <a:lnSpc>
                <a:spcPct val="107000"/>
              </a:lnSpc>
              <a:spcAft>
                <a:spcPts val="800"/>
              </a:spcAft>
            </a:pPr>
            <a:r>
              <a:rPr lang="en-IN" sz="2800" b="1" dirty="0">
                <a:solidFill>
                  <a:srgbClr val="0070C0"/>
                </a:solidFill>
                <a:latin typeface="Times New Roman" panose="02020603050405020304" pitchFamily="18" charset="0"/>
                <a:ea typeface="Calibri" panose="020F0502020204030204" pitchFamily="34" charset="0"/>
                <a:cs typeface="Mangal" panose="02040503050203030202" pitchFamily="18" charset="0"/>
              </a:rPr>
              <a:t>Formation and </a:t>
            </a:r>
            <a:r>
              <a:rPr lang="en-IN" sz="28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rPr>
              <a:t>Operation </a:t>
            </a:r>
            <a:r>
              <a:rPr lang="en-IN" sz="2800" b="1" dirty="0">
                <a:solidFill>
                  <a:srgbClr val="0070C0"/>
                </a:solidFill>
                <a:latin typeface="Times New Roman" panose="02020603050405020304" pitchFamily="18" charset="0"/>
                <a:ea typeface="Calibri" panose="020F0502020204030204" pitchFamily="34" charset="0"/>
                <a:cs typeface="Mangal" panose="02040503050203030202" pitchFamily="18" charset="0"/>
              </a:rPr>
              <a:t>of SHGs</a:t>
            </a:r>
            <a:r>
              <a:rPr lang="en-IN" sz="28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rPr>
              <a:t>:</a:t>
            </a:r>
          </a:p>
          <a:p>
            <a:pPr algn="just"/>
            <a:r>
              <a:rPr lang="en-IN" sz="2400" dirty="0">
                <a:latin typeface="Times New Roman" panose="02020603050405020304" pitchFamily="18" charset="0"/>
                <a:cs typeface="Times New Roman" panose="02020603050405020304" pitchFamily="18" charset="0"/>
              </a:rPr>
              <a:t>After seeding the concept of SHG, steps to form the groups are taken up. In this stage, the steps are initiated to name the groups and frame norms and operational guidelines relating to functioning, saving and lending of the groups. In addition, groups can be assisted for selection of office-bearers such as president, secretary and the treasurer and defining their roles and responsibilities. </a:t>
            </a:r>
            <a:endParaRPr lang="en-IN"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solidFill>
                  <a:srgbClr val="00B0F0"/>
                </a:solidFill>
                <a:latin typeface="Times New Roman" panose="02020603050405020304" pitchFamily="18" charset="0"/>
                <a:cs typeface="Times New Roman" panose="02020603050405020304" pitchFamily="18" charset="0"/>
              </a:rPr>
              <a:t>Quality </a:t>
            </a:r>
            <a:r>
              <a:rPr lang="en-IN" sz="2400" b="1" dirty="0" smtClean="0">
                <a:solidFill>
                  <a:srgbClr val="00B0F0"/>
                </a:solidFill>
                <a:latin typeface="Times New Roman" panose="02020603050405020304" pitchFamily="18" charset="0"/>
                <a:cs typeface="Times New Roman" panose="02020603050405020304" pitchFamily="18" charset="0"/>
              </a:rPr>
              <a:t>Check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1) Whether the members are from the poorest category? </a:t>
            </a:r>
          </a:p>
          <a:p>
            <a:pPr algn="just"/>
            <a:r>
              <a:rPr lang="en-IN" sz="2400" dirty="0">
                <a:latin typeface="Times New Roman" panose="02020603050405020304" pitchFamily="18" charset="0"/>
                <a:cs typeface="Times New Roman" panose="02020603050405020304" pitchFamily="18" charset="0"/>
              </a:rPr>
              <a:t>2) What is the motive of the members in forming the SHG? </a:t>
            </a:r>
          </a:p>
          <a:p>
            <a:pPr algn="just"/>
            <a:r>
              <a:rPr lang="en-IN" sz="2400" dirty="0">
                <a:latin typeface="Times New Roman" panose="02020603050405020304" pitchFamily="18" charset="0"/>
                <a:cs typeface="Times New Roman" panose="02020603050405020304" pitchFamily="18" charset="0"/>
              </a:rPr>
              <a:t>3) Whether they framed by-laws and selected the office bearers? And </a:t>
            </a:r>
          </a:p>
          <a:p>
            <a:pPr algn="just"/>
            <a:r>
              <a:rPr lang="en-IN" sz="2400" dirty="0">
                <a:latin typeface="Times New Roman" panose="02020603050405020304" pitchFamily="18" charset="0"/>
                <a:cs typeface="Times New Roman" panose="02020603050405020304" pitchFamily="18" charset="0"/>
              </a:rPr>
              <a:t>4) What is the number of the members? </a:t>
            </a:r>
          </a:p>
          <a:p>
            <a:pPr algn="just"/>
            <a:r>
              <a:rPr lang="en-IN" sz="2400" dirty="0">
                <a:latin typeface="Times New Roman" panose="02020603050405020304" pitchFamily="18" charset="0"/>
                <a:cs typeface="Times New Roman" panose="02020603050405020304" pitchFamily="18" charset="0"/>
              </a:rPr>
              <a:t>After considering the various aspects, if it is found that the group consists of the poorest women and is formed with the motive of initiating and managing savings and credit activities independent of external support, the group can be recognized as an SHG. The group is provided with the necessary inputs for developing bye-laws and role clarity. </a:t>
            </a:r>
          </a:p>
        </p:txBody>
      </p:sp>
    </p:spTree>
    <p:extLst>
      <p:ext uri="{BB962C8B-B14F-4D97-AF65-F5344CB8AC3E}">
        <p14:creationId xmlns:p14="http://schemas.microsoft.com/office/powerpoint/2010/main" val="2647791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673331"/>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39932" y="731520"/>
            <a:ext cx="11779134" cy="6463308"/>
          </a:xfrm>
          <a:prstGeom prst="rect">
            <a:avLst/>
          </a:prstGeom>
        </p:spPr>
        <p:txBody>
          <a:bodyPr wrap="square">
            <a:spAutoFit/>
          </a:bodyPr>
          <a:lstStyle/>
          <a:p>
            <a:r>
              <a:rPr lang="en-IN" sz="2200" dirty="0">
                <a:solidFill>
                  <a:srgbClr val="00B0F0"/>
                </a:solidFill>
                <a:latin typeface="Times New Roman" panose="02020603050405020304" pitchFamily="18" charset="0"/>
                <a:cs typeface="Times New Roman" panose="02020603050405020304" pitchFamily="18" charset="0"/>
              </a:rPr>
              <a:t>Regularizing the group level system </a:t>
            </a:r>
          </a:p>
          <a:p>
            <a:r>
              <a:rPr lang="en-IN" sz="2200" dirty="0">
                <a:latin typeface="Times New Roman" panose="02020603050405020304" pitchFamily="18" charset="0"/>
                <a:cs typeface="Times New Roman" panose="02020603050405020304" pitchFamily="18" charset="0"/>
                <a:sym typeface="Symbol" panose="05050102010706020507" pitchFamily="18" charset="2"/>
              </a:rPr>
              <a:t></a:t>
            </a:r>
            <a:r>
              <a:rPr lang="en-IN" sz="2200" dirty="0">
                <a:latin typeface="Times New Roman" panose="02020603050405020304" pitchFamily="18" charset="0"/>
                <a:cs typeface="Times New Roman" panose="02020603050405020304" pitchFamily="18" charset="0"/>
              </a:rPr>
              <a:t> The minutes are written every month and read at the end of every meeting; </a:t>
            </a:r>
          </a:p>
          <a:p>
            <a:r>
              <a:rPr lang="en-IN" sz="2200" dirty="0">
                <a:latin typeface="Times New Roman" panose="02020603050405020304" pitchFamily="18" charset="0"/>
                <a:cs typeface="Times New Roman" panose="02020603050405020304" pitchFamily="18" charset="0"/>
                <a:sym typeface="Symbol" panose="05050102010706020507" pitchFamily="18" charset="2"/>
              </a:rPr>
              <a:t></a:t>
            </a:r>
            <a:r>
              <a:rPr lang="en-IN" sz="2200" dirty="0">
                <a:latin typeface="Times New Roman" panose="02020603050405020304" pitchFamily="18" charset="0"/>
                <a:cs typeface="Times New Roman" panose="02020603050405020304" pitchFamily="18" charset="0"/>
              </a:rPr>
              <a:t> Simple accounting system and necessary books are opened and maintained from the first day itself. </a:t>
            </a:r>
          </a:p>
          <a:p>
            <a:r>
              <a:rPr lang="en-IN" sz="2200" dirty="0">
                <a:latin typeface="Times New Roman" panose="02020603050405020304" pitchFamily="18" charset="0"/>
                <a:cs typeface="Times New Roman" panose="02020603050405020304" pitchFamily="18" charset="0"/>
                <a:sym typeface="Symbol" panose="05050102010706020507" pitchFamily="18" charset="2"/>
              </a:rPr>
              <a:t></a:t>
            </a:r>
            <a:r>
              <a:rPr lang="en-IN" sz="2200" dirty="0">
                <a:latin typeface="Times New Roman" panose="02020603050405020304" pitchFamily="18" charset="0"/>
                <a:cs typeface="Times New Roman" panose="02020603050405020304" pitchFamily="18" charset="0"/>
              </a:rPr>
              <a:t> Awareness of the norms of the groups among all members is created and  </a:t>
            </a:r>
          </a:p>
          <a:p>
            <a:pPr marL="285750" indent="-285750">
              <a:buFont typeface="Symbol" panose="05050102010706020507" pitchFamily="18" charset="2"/>
              <a:buChar char="·"/>
            </a:pPr>
            <a:r>
              <a:rPr lang="en-IN" sz="2200" dirty="0" smtClean="0">
                <a:latin typeface="Times New Roman" panose="02020603050405020304" pitchFamily="18" charset="0"/>
                <a:cs typeface="Times New Roman" panose="02020603050405020304" pitchFamily="18" charset="0"/>
              </a:rPr>
              <a:t>Training </a:t>
            </a:r>
            <a:r>
              <a:rPr lang="en-IN" sz="2200" dirty="0">
                <a:latin typeface="Times New Roman" panose="02020603050405020304" pitchFamily="18" charset="0"/>
                <a:cs typeface="Times New Roman" panose="02020603050405020304" pitchFamily="18" charset="0"/>
              </a:rPr>
              <a:t>is imparted to the office-bearers and group accountants for clarifying their role. </a:t>
            </a:r>
            <a:endParaRPr lang="en-IN" sz="2200" dirty="0" smtClean="0">
              <a:latin typeface="Times New Roman" panose="02020603050405020304" pitchFamily="18" charset="0"/>
              <a:cs typeface="Times New Roman" panose="02020603050405020304" pitchFamily="18" charset="0"/>
            </a:endParaRPr>
          </a:p>
          <a:p>
            <a:r>
              <a:rPr lang="en-IN" sz="2200" b="1" dirty="0">
                <a:solidFill>
                  <a:srgbClr val="0070C0"/>
                </a:solidFill>
                <a:latin typeface="Times New Roman" panose="02020603050405020304" pitchFamily="18" charset="0"/>
                <a:cs typeface="Times New Roman" panose="02020603050405020304" pitchFamily="18" charset="0"/>
              </a:rPr>
              <a:t>Process of Team Development: </a:t>
            </a:r>
            <a:endParaRPr lang="en-IN" sz="2200" dirty="0">
              <a:solidFill>
                <a:srgbClr val="0070C0"/>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 survey is made to get the number of helpless women from each family in a particular village. </a:t>
            </a: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Next step is to make aware of this team to the rest of the villages.  </a:t>
            </a: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Illiterates of the village are also made aware of this team. </a:t>
            </a: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 team consist of 10 to 20 women and remembers from one team are restricted to join other teams. </a:t>
            </a: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Ladies from family’s poor in income, education, job and assets are only eligible to be the member of this self-help group. </a:t>
            </a: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Team should not be farmed with making false offerings of loans </a:t>
            </a:r>
          </a:p>
          <a:p>
            <a:pPr marL="342900" lvl="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Only one person from each family can be included in teams. </a:t>
            </a:r>
          </a:p>
          <a:p>
            <a:r>
              <a:rPr lang="en-IN" sz="2200" dirty="0" smtClean="0">
                <a:latin typeface="Times New Roman" panose="02020603050405020304" pitchFamily="18" charset="0"/>
                <a:cs typeface="Times New Roman" panose="02020603050405020304" pitchFamily="18" charset="0"/>
              </a:rPr>
              <a:t>	</a:t>
            </a:r>
            <a:r>
              <a:rPr lang="en-IN" sz="2200" dirty="0" smtClean="0">
                <a:solidFill>
                  <a:srgbClr val="00B0F0"/>
                </a:solidFill>
                <a:latin typeface="Times New Roman" panose="02020603050405020304" pitchFamily="18" charset="0"/>
                <a:cs typeface="Times New Roman" panose="02020603050405020304" pitchFamily="18" charset="0"/>
              </a:rPr>
              <a:t>Eligibility </a:t>
            </a:r>
            <a:r>
              <a:rPr lang="en-IN" sz="2200" dirty="0">
                <a:solidFill>
                  <a:srgbClr val="00B0F0"/>
                </a:solidFill>
                <a:latin typeface="Times New Roman" panose="02020603050405020304" pitchFamily="18" charset="0"/>
                <a:cs typeface="Times New Roman" panose="02020603050405020304" pitchFamily="18" charset="0"/>
              </a:rPr>
              <a:t>for membership:  </a:t>
            </a:r>
          </a:p>
          <a:p>
            <a:pPr marL="800100" lvl="1" indent="-342900">
              <a:buFont typeface="Wingdings" panose="05000000000000000000" pitchFamily="2" charset="2"/>
              <a:buChar char="v"/>
            </a:pPr>
            <a:r>
              <a:rPr lang="en-IN" sz="2200" dirty="0" smtClean="0">
                <a:latin typeface="Times New Roman" panose="02020603050405020304" pitchFamily="18" charset="0"/>
                <a:cs typeface="Times New Roman" panose="02020603050405020304" pitchFamily="18" charset="0"/>
              </a:rPr>
              <a:t>Belonging </a:t>
            </a:r>
            <a:r>
              <a:rPr lang="en-IN" sz="2200" dirty="0">
                <a:latin typeface="Times New Roman" panose="02020603050405020304" pitchFamily="18" charset="0"/>
                <a:cs typeface="Times New Roman" panose="02020603050405020304" pitchFamily="18" charset="0"/>
              </a:rPr>
              <a:t>to poor family. </a:t>
            </a:r>
            <a:endParaRPr lang="en-IN" sz="2200" dirty="0" smtClean="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IN" sz="2200" dirty="0" smtClean="0">
                <a:latin typeface="Times New Roman" panose="02020603050405020304" pitchFamily="18" charset="0"/>
                <a:cs typeface="Times New Roman" panose="02020603050405020304" pitchFamily="18" charset="0"/>
              </a:rPr>
              <a:t>Residing </a:t>
            </a:r>
            <a:r>
              <a:rPr lang="en-IN" sz="2200" dirty="0">
                <a:latin typeface="Times New Roman" panose="02020603050405020304" pitchFamily="18" charset="0"/>
                <a:cs typeface="Times New Roman" panose="02020603050405020304" pitchFamily="18" charset="0"/>
              </a:rPr>
              <a:t>in same village </a:t>
            </a:r>
            <a:endParaRPr lang="en-IN" sz="2200" dirty="0" smtClean="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IN" sz="2200" dirty="0" smtClean="0">
                <a:latin typeface="Times New Roman" panose="02020603050405020304" pitchFamily="18" charset="0"/>
                <a:cs typeface="Times New Roman" panose="02020603050405020304" pitchFamily="18" charset="0"/>
              </a:rPr>
              <a:t>The </a:t>
            </a:r>
            <a:r>
              <a:rPr lang="en-IN" sz="2200" dirty="0">
                <a:latin typeface="Times New Roman" panose="02020603050405020304" pitchFamily="18" charset="0"/>
                <a:cs typeface="Times New Roman" panose="02020603050405020304" pitchFamily="18" charset="0"/>
              </a:rPr>
              <a:t>age limit for women is 16-60 year. </a:t>
            </a:r>
          </a:p>
          <a:p>
            <a:pPr marL="285750" indent="-285750">
              <a:buFont typeface="Symbol" panose="05050102010706020507" pitchFamily="18" charset="2"/>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63738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30232" y="305112"/>
            <a:ext cx="11640589" cy="5944256"/>
          </a:xfrm>
          <a:prstGeom prst="rect">
            <a:avLst/>
          </a:prstGeom>
        </p:spPr>
        <p:txBody>
          <a:bodyPr wrap="square">
            <a:spAutoFit/>
          </a:bodyPr>
          <a:lstStyle/>
          <a:p>
            <a:pPr algn="just">
              <a:lnSpc>
                <a:spcPct val="107000"/>
              </a:lnSpc>
              <a:spcAft>
                <a:spcPts val="800"/>
              </a:spcAft>
            </a:pPr>
            <a:r>
              <a:rPr lang="en-IN"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Team Administration: </a:t>
            </a:r>
            <a:endParaRPr lang="en-IN" sz="3200" b="1"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26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IN" sz="2600" dirty="0">
                <a:latin typeface="Times New Roman" panose="02020603050405020304" pitchFamily="18" charset="0"/>
                <a:ea typeface="Calibri" panose="020F0502020204030204" pitchFamily="34" charset="0"/>
                <a:cs typeface="Times New Roman" panose="02020603050405020304" pitchFamily="18" charset="0"/>
              </a:rPr>
              <a:t> Two representatives are to be selected from each teams for mere guiding purpose. Every member is equal. They are elected to continue for 2 years. </a:t>
            </a:r>
          </a:p>
          <a:p>
            <a:pPr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IN" sz="2600" dirty="0">
                <a:latin typeface="Times New Roman" panose="02020603050405020304" pitchFamily="18" charset="0"/>
                <a:ea typeface="Calibri" panose="020F0502020204030204" pitchFamily="34" charset="0"/>
                <a:cs typeface="Times New Roman" panose="02020603050405020304" pitchFamily="18" charset="0"/>
              </a:rPr>
              <a:t> Initial expenses of the team for 3 years would be undertaken by government and later they have to manage with their profit. </a:t>
            </a:r>
          </a:p>
          <a:p>
            <a:pPr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IN" sz="2600" dirty="0">
                <a:latin typeface="Times New Roman" panose="02020603050405020304" pitchFamily="18" charset="0"/>
                <a:ea typeface="Calibri" panose="020F0502020204030204" pitchFamily="34" charset="0"/>
                <a:cs typeface="Times New Roman" panose="02020603050405020304" pitchFamily="18" charset="0"/>
              </a:rPr>
              <a:t> A proper financial records of the team has to be kept and maintained by the member of the team and if they are illiterate some other ladies can be kept after being paid, but not any gents. </a:t>
            </a:r>
          </a:p>
          <a:p>
            <a:pPr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IN" sz="2600" dirty="0">
                <a:latin typeface="Times New Roman" panose="02020603050405020304" pitchFamily="18" charset="0"/>
                <a:ea typeface="Calibri" panose="020F0502020204030204" pitchFamily="34" charset="0"/>
                <a:cs typeface="Times New Roman" panose="02020603050405020304" pitchFamily="18" charset="0"/>
              </a:rPr>
              <a:t> They have to maintain a joint account in the name of their team in any of the banks. </a:t>
            </a:r>
          </a:p>
          <a:p>
            <a:pPr algn="just">
              <a:lnSpc>
                <a:spcPct val="107000"/>
              </a:lnSpc>
              <a:spcAft>
                <a:spcPts val="800"/>
              </a:spcAft>
            </a:pPr>
            <a:r>
              <a:rPr lang="en-IN" sz="26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IN" sz="2600" dirty="0">
                <a:latin typeface="Times New Roman" panose="02020603050405020304" pitchFamily="18" charset="0"/>
                <a:ea typeface="Calibri" panose="020F0502020204030204" pitchFamily="34" charset="0"/>
                <a:cs typeface="Times New Roman" panose="02020603050405020304" pitchFamily="18" charset="0"/>
              </a:rPr>
              <a:t> The main of this project is that they develop and flourish by making other sub units under them and taking up its administration all by themselves. </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343334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59971" y="327418"/>
            <a:ext cx="11272058" cy="5039649"/>
          </a:xfrm>
          <a:prstGeom prst="rect">
            <a:avLst/>
          </a:prstGeom>
        </p:spPr>
        <p:txBody>
          <a:bodyPr wrap="square">
            <a:spAutoFit/>
          </a:bodyPr>
          <a:lstStyle/>
          <a:p>
            <a:pPr algn="just">
              <a:lnSpc>
                <a:spcPct val="107000"/>
              </a:lnSpc>
              <a:spcAft>
                <a:spcPts val="800"/>
              </a:spcAft>
            </a:pPr>
            <a:r>
              <a:rPr lang="en-IN" sz="3200" b="1" dirty="0">
                <a:solidFill>
                  <a:srgbClr val="0070C0"/>
                </a:solidFill>
                <a:latin typeface="Times New Roman" panose="02020603050405020304" pitchFamily="18" charset="0"/>
                <a:ea typeface="Calibri" panose="020F0502020204030204" pitchFamily="34" charset="0"/>
                <a:cs typeface="Mangal" panose="02040503050203030202" pitchFamily="18" charset="0"/>
              </a:rPr>
              <a:t>Issue of Loans: </a:t>
            </a:r>
            <a:endParaRPr lang="en-IN" sz="32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endParaRPr>
          </a:p>
          <a:p>
            <a:pPr algn="just">
              <a:lnSpc>
                <a:spcPct val="107000"/>
              </a:lnSpc>
              <a:spcAft>
                <a:spcPts val="800"/>
              </a:spcAft>
            </a:pPr>
            <a:endParaRPr lang="en-IN" sz="1600" dirty="0">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07000"/>
              </a:lnSpc>
              <a:spcAft>
                <a:spcPts val="0"/>
              </a:spcAft>
              <a:buFont typeface="Wingdings" panose="05000000000000000000" pitchFamily="2"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team starts issuing the loan after 3 months and it’s up to the team members about fixing the interest rate, repayment, maximum loan and etc. </a:t>
            </a:r>
          </a:p>
          <a:p>
            <a:pPr marL="342900" lvl="0" indent="-342900" algn="just">
              <a:lnSpc>
                <a:spcPct val="107000"/>
              </a:lnSpc>
              <a:spcAft>
                <a:spcPts val="0"/>
              </a:spcAft>
              <a:buFont typeface="Wingdings" panose="05000000000000000000" pitchFamily="2"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repayment of instalment amount depends upon the loan taken </a:t>
            </a:r>
            <a:r>
              <a:rPr lang="en-IN" sz="2400" dirty="0" err="1">
                <a:latin typeface="Times New Roman" panose="02020603050405020304" pitchFamily="18" charset="0"/>
                <a:ea typeface="Calibri" panose="020F0502020204030204" pitchFamily="34" charset="0"/>
                <a:cs typeface="Times New Roman" panose="02020603050405020304" pitchFamily="18" charset="0"/>
              </a:rPr>
              <a:t>i.e</a:t>
            </a:r>
            <a:r>
              <a:rPr lang="en-IN" sz="2400" dirty="0">
                <a:latin typeface="Times New Roman" panose="02020603050405020304" pitchFamily="18" charset="0"/>
                <a:ea typeface="Calibri" panose="020F0502020204030204" pitchFamily="34" charset="0"/>
                <a:cs typeface="Times New Roman" panose="02020603050405020304" pitchFamily="18" charset="0"/>
              </a:rPr>
              <a:t> higher the loan, higher the repayment amount. During initial period small loans are issued so that they can be repaid completely within 6 months. </a:t>
            </a:r>
          </a:p>
          <a:p>
            <a:pPr marL="342900" lvl="0" indent="-342900" algn="just">
              <a:lnSpc>
                <a:spcPct val="107000"/>
              </a:lnSpc>
              <a:spcAft>
                <a:spcPts val="0"/>
              </a:spcAft>
              <a:buFont typeface="Wingdings" panose="05000000000000000000" pitchFamily="2"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team also issues loan for the medical expenses, education expenses, business investment or any other emergency expenses of the members. </a:t>
            </a:r>
          </a:p>
          <a:p>
            <a:pPr marL="342900" lvl="0" indent="-342900" algn="just">
              <a:lnSpc>
                <a:spcPct val="107000"/>
              </a:lnSpc>
              <a:spcAft>
                <a:spcPts val="800"/>
              </a:spcAft>
              <a:buFont typeface="Wingdings" panose="05000000000000000000" pitchFamily="2"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teams can issue loans only to the team members and they have to maintain proper record of the cash repaid by the members and have to give them the correct receipts regularly.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80587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47474" y="433263"/>
            <a:ext cx="11831166" cy="6319038"/>
          </a:xfrm>
          <a:prstGeom prst="rect">
            <a:avLst/>
          </a:prstGeom>
        </p:spPr>
        <p:txBody>
          <a:bodyPr wrap="square">
            <a:spAutoFit/>
          </a:bodyPr>
          <a:lstStyle/>
          <a:p>
            <a:pPr algn="just">
              <a:lnSpc>
                <a:spcPct val="107000"/>
              </a:lnSpc>
              <a:spcAft>
                <a:spcPts val="800"/>
              </a:spcAft>
            </a:pPr>
            <a:r>
              <a:rPr lang="en-IN" sz="2800" b="1" dirty="0">
                <a:solidFill>
                  <a:srgbClr val="0070C0"/>
                </a:solidFill>
                <a:latin typeface="Times New Roman" panose="02020603050405020304" pitchFamily="18" charset="0"/>
                <a:ea typeface="Calibri" panose="020F0502020204030204" pitchFamily="34" charset="0"/>
                <a:cs typeface="Mangal" panose="02040503050203030202" pitchFamily="18" charset="0"/>
              </a:rPr>
              <a:t>Indicators of a good SHG</a:t>
            </a:r>
            <a:r>
              <a:rPr lang="en-IN" sz="28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rPr>
              <a:t>:</a:t>
            </a:r>
            <a:endParaRPr lang="en-IN" sz="2800"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endParaRPr>
          </a:p>
          <a:p>
            <a:r>
              <a:rPr lang="en-IN" sz="24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a:solidFill>
                  <a:srgbClr val="00B0F0"/>
                </a:solidFill>
                <a:latin typeface="Times New Roman" panose="02020603050405020304" pitchFamily="18" charset="0"/>
                <a:cs typeface="Times New Roman" panose="02020603050405020304" pitchFamily="18" charset="0"/>
              </a:rPr>
              <a:t> Homogeneous Membership:</a:t>
            </a:r>
          </a:p>
          <a:p>
            <a:r>
              <a:rPr lang="en-IN" sz="2200" dirty="0">
                <a:latin typeface="Times New Roman" panose="02020603050405020304" pitchFamily="18" charset="0"/>
                <a:cs typeface="Times New Roman" panose="02020603050405020304" pitchFamily="18" charset="0"/>
              </a:rPr>
              <a:t>T</a:t>
            </a:r>
            <a:r>
              <a:rPr lang="en-IN" sz="2200" dirty="0" smtClean="0">
                <a:latin typeface="Times New Roman" panose="02020603050405020304" pitchFamily="18" charset="0"/>
                <a:cs typeface="Times New Roman" panose="02020603050405020304" pitchFamily="18" charset="0"/>
              </a:rPr>
              <a:t>he </a:t>
            </a:r>
            <a:r>
              <a:rPr lang="en-IN" sz="2200" dirty="0">
                <a:latin typeface="Times New Roman" panose="02020603050405020304" pitchFamily="18" charset="0"/>
                <a:cs typeface="Times New Roman" panose="02020603050405020304" pitchFamily="18" charset="0"/>
              </a:rPr>
              <a:t>membership of an SHG may comprise people from comparable socio-economic </a:t>
            </a:r>
            <a:r>
              <a:rPr lang="en-IN" sz="2200" dirty="0" smtClean="0">
                <a:latin typeface="Times New Roman" panose="02020603050405020304" pitchFamily="18" charset="0"/>
                <a:cs typeface="Times New Roman" panose="02020603050405020304" pitchFamily="18" charset="0"/>
              </a:rPr>
              <a:t>background</a:t>
            </a:r>
          </a:p>
          <a:p>
            <a:r>
              <a:rPr lang="en-IN" sz="2400" dirty="0" smtClean="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smtClean="0">
                <a:solidFill>
                  <a:srgbClr val="00B0F0"/>
                </a:solidFill>
                <a:latin typeface="Times New Roman" panose="02020603050405020304" pitchFamily="18" charset="0"/>
                <a:cs typeface="Times New Roman" panose="02020603050405020304" pitchFamily="18" charset="0"/>
              </a:rPr>
              <a:t> </a:t>
            </a:r>
            <a:r>
              <a:rPr lang="en-IN" sz="2400" dirty="0">
                <a:solidFill>
                  <a:srgbClr val="00B0F0"/>
                </a:solidFill>
                <a:latin typeface="Times New Roman" panose="02020603050405020304" pitchFamily="18" charset="0"/>
                <a:cs typeface="Times New Roman" panose="02020603050405020304" pitchFamily="18" charset="0"/>
              </a:rPr>
              <a:t>No discrimination: </a:t>
            </a:r>
          </a:p>
          <a:p>
            <a:r>
              <a:rPr lang="en-IN" sz="2200" dirty="0">
                <a:latin typeface="Times New Roman" panose="02020603050405020304" pitchFamily="18" charset="0"/>
                <a:cs typeface="Times New Roman" panose="02020603050405020304" pitchFamily="18" charset="0"/>
              </a:rPr>
              <a:t>There should not be any discrimination among members based on caste, religion or </a:t>
            </a:r>
            <a:r>
              <a:rPr lang="en-IN" sz="2200" dirty="0" smtClean="0">
                <a:latin typeface="Times New Roman" panose="02020603050405020304" pitchFamily="18" charset="0"/>
                <a:cs typeface="Times New Roman" panose="02020603050405020304" pitchFamily="18" charset="0"/>
              </a:rPr>
              <a:t>political affiliations</a:t>
            </a:r>
            <a:r>
              <a:rPr lang="en-IN" sz="2200" dirty="0">
                <a:latin typeface="Times New Roman" panose="02020603050405020304" pitchFamily="18" charset="0"/>
                <a:cs typeface="Times New Roman" panose="02020603050405020304" pitchFamily="18" charset="0"/>
              </a:rPr>
              <a:t>. </a:t>
            </a:r>
          </a:p>
          <a:p>
            <a:r>
              <a:rPr lang="en-IN" sz="24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a:solidFill>
                  <a:srgbClr val="00B0F0"/>
                </a:solidFill>
                <a:latin typeface="Times New Roman" panose="02020603050405020304" pitchFamily="18" charset="0"/>
                <a:cs typeface="Times New Roman" panose="02020603050405020304" pitchFamily="18" charset="0"/>
              </a:rPr>
              <a:t> Small membership: </a:t>
            </a:r>
          </a:p>
          <a:p>
            <a:r>
              <a:rPr lang="en-IN" sz="2200" dirty="0">
                <a:latin typeface="Times New Roman" panose="02020603050405020304" pitchFamily="18" charset="0"/>
                <a:cs typeface="Times New Roman" panose="02020603050405020304" pitchFamily="18" charset="0"/>
              </a:rPr>
              <a:t>Ideally, the group size may be between 15 and 20, so that the members are participative in all activities of the SHG. In a smaller group, members get opportunity to speak openly and freely. </a:t>
            </a:r>
            <a:endParaRPr lang="en-IN" sz="2200" dirty="0" smtClean="0">
              <a:latin typeface="Times New Roman" panose="02020603050405020304" pitchFamily="18" charset="0"/>
              <a:cs typeface="Times New Roman" panose="02020603050405020304" pitchFamily="18" charset="0"/>
            </a:endParaRPr>
          </a:p>
          <a:p>
            <a:r>
              <a:rPr lang="en-IN" sz="2400" dirty="0" smtClean="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smtClean="0">
                <a:solidFill>
                  <a:srgbClr val="00B0F0"/>
                </a:solidFill>
                <a:latin typeface="Times New Roman" panose="02020603050405020304" pitchFamily="18" charset="0"/>
                <a:cs typeface="Times New Roman" panose="02020603050405020304" pitchFamily="18" charset="0"/>
              </a:rPr>
              <a:t> </a:t>
            </a:r>
            <a:r>
              <a:rPr lang="en-IN" sz="2400" dirty="0">
                <a:solidFill>
                  <a:srgbClr val="00B0F0"/>
                </a:solidFill>
                <a:latin typeface="Times New Roman" panose="02020603050405020304" pitchFamily="18" charset="0"/>
                <a:cs typeface="Times New Roman" panose="02020603050405020304" pitchFamily="18" charset="0"/>
              </a:rPr>
              <a:t>Regular Attendance: </a:t>
            </a:r>
          </a:p>
          <a:p>
            <a:r>
              <a:rPr lang="en-IN" sz="2200" dirty="0">
                <a:latin typeface="Times New Roman" panose="02020603050405020304" pitchFamily="18" charset="0"/>
                <a:cs typeface="Times New Roman" panose="02020603050405020304" pitchFamily="18" charset="0"/>
              </a:rPr>
              <a:t>Total participation in regular group meetings lends strength to the effectiveness of SHGs. T</a:t>
            </a:r>
            <a:r>
              <a:rPr lang="en-IN" sz="2200" dirty="0" smtClean="0">
                <a:latin typeface="Times New Roman" panose="02020603050405020304" pitchFamily="18" charset="0"/>
                <a:cs typeface="Times New Roman" panose="02020603050405020304" pitchFamily="18" charset="0"/>
              </a:rPr>
              <a:t>he </a:t>
            </a:r>
            <a:r>
              <a:rPr lang="en-IN" sz="2200" dirty="0">
                <a:latin typeface="Times New Roman" panose="02020603050405020304" pitchFamily="18" charset="0"/>
                <a:cs typeface="Times New Roman" panose="02020603050405020304" pitchFamily="18" charset="0"/>
              </a:rPr>
              <a:t>SHGs should place strong emphasis on regular attendance in the group meetings. </a:t>
            </a:r>
          </a:p>
          <a:p>
            <a:r>
              <a:rPr lang="en-IN" sz="24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a:solidFill>
                  <a:srgbClr val="00B0F0"/>
                </a:solidFill>
                <a:latin typeface="Times New Roman" panose="02020603050405020304" pitchFamily="18" charset="0"/>
                <a:cs typeface="Times New Roman" panose="02020603050405020304" pitchFamily="18" charset="0"/>
              </a:rPr>
              <a:t> Transparency in functioning: </a:t>
            </a:r>
          </a:p>
          <a:p>
            <a:r>
              <a:rPr lang="en-IN" sz="2200" dirty="0">
                <a:latin typeface="Times New Roman" panose="02020603050405020304" pitchFamily="18" charset="0"/>
                <a:cs typeface="Times New Roman" panose="02020603050405020304" pitchFamily="18" charset="0"/>
              </a:rPr>
              <a:t>It is important that all financial and non-financial transactions are transparent in an SHG. This promotes trust, mutual faith and confidence among its members. </a:t>
            </a:r>
          </a:p>
          <a:p>
            <a:r>
              <a:rPr lang="en-IN" sz="24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a:solidFill>
                  <a:srgbClr val="00B0F0"/>
                </a:solidFill>
                <a:latin typeface="Times New Roman" panose="02020603050405020304" pitchFamily="18" charset="0"/>
                <a:cs typeface="Times New Roman" panose="02020603050405020304" pitchFamily="18" charset="0"/>
              </a:rPr>
              <a:t> Set of Byelaws: </a:t>
            </a:r>
          </a:p>
          <a:p>
            <a:r>
              <a:rPr lang="en-IN" sz="2400" dirty="0">
                <a:latin typeface="Times New Roman" panose="02020603050405020304" pitchFamily="18" charset="0"/>
                <a:cs typeface="Times New Roman" panose="02020603050405020304" pitchFamily="18" charset="0"/>
              </a:rPr>
              <a:t>The SHG may discuss and finalise a set of byelaws, indicating rules and regulations for the SHG's functioning and also roles and responsibilities of members. </a:t>
            </a:r>
            <a:endParaRPr lang="en-IN"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94622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98763" y="1276761"/>
            <a:ext cx="11321935" cy="2800767"/>
          </a:xfrm>
          <a:prstGeom prst="rect">
            <a:avLst/>
          </a:prstGeom>
        </p:spPr>
        <p:txBody>
          <a:bodyPr wrap="square">
            <a:spAutoFit/>
          </a:bodyPr>
          <a:lstStyle/>
          <a:p>
            <a:r>
              <a:rPr lang="en-IN" sz="24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a:solidFill>
                  <a:srgbClr val="00B0F0"/>
                </a:solidFill>
                <a:latin typeface="Times New Roman" panose="02020603050405020304" pitchFamily="18" charset="0"/>
                <a:cs typeface="Times New Roman" panose="02020603050405020304" pitchFamily="18" charset="0"/>
              </a:rPr>
              <a:t> Thrift: </a:t>
            </a:r>
          </a:p>
          <a:p>
            <a:r>
              <a:rPr lang="en-IN" sz="2400" dirty="0">
                <a:latin typeface="Times New Roman" panose="02020603050405020304" pitchFamily="18" charset="0"/>
                <a:cs typeface="Times New Roman" panose="02020603050405020304" pitchFamily="18" charset="0"/>
              </a:rPr>
              <a:t>The habit of thrift (small savings) is fundamental to the SHG and helps in building up a strong common fund. </a:t>
            </a:r>
          </a:p>
          <a:p>
            <a:r>
              <a:rPr lang="en-IN" sz="24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IN" sz="2400" dirty="0">
                <a:solidFill>
                  <a:srgbClr val="00B0F0"/>
                </a:solidFill>
                <a:latin typeface="Times New Roman" panose="02020603050405020304" pitchFamily="18" charset="0"/>
                <a:cs typeface="Times New Roman" panose="02020603050405020304" pitchFamily="18" charset="0"/>
              </a:rPr>
              <a:t> Savings for loaning: </a:t>
            </a:r>
          </a:p>
          <a:p>
            <a:r>
              <a:rPr lang="en-IN" sz="2400" dirty="0">
                <a:latin typeface="Times New Roman" panose="02020603050405020304" pitchFamily="18" charset="0"/>
                <a:cs typeface="Times New Roman" panose="02020603050405020304" pitchFamily="18" charset="0"/>
              </a:rPr>
              <a:t>Once an SHG has accumulated sizeable amount in the form of savings say for a period of about 3-6 months, the members may be allowed to avail loans against their savings for emergent consumption and supplementary income generating credit needs. </a:t>
            </a:r>
          </a:p>
          <a:p>
            <a:endParaRPr lang="en-IN" sz="800" dirty="0">
              <a:latin typeface="Calibri" panose="020F0502020204030204" pitchFamily="34" charset="0"/>
              <a:ea typeface="Calibri" panose="020F0502020204030204" pitchFamily="34" charset="0"/>
              <a:cs typeface="Mangal" panose="02040503050203030202" pitchFamily="18" charset="0"/>
            </a:endParaRPr>
          </a:p>
        </p:txBody>
      </p:sp>
      <p:sp>
        <p:nvSpPr>
          <p:cNvPr id="4" name="Rectangle 3"/>
          <p:cNvSpPr/>
          <p:nvPr/>
        </p:nvSpPr>
        <p:spPr>
          <a:xfrm>
            <a:off x="568701" y="386088"/>
            <a:ext cx="11393313" cy="553357"/>
          </a:xfrm>
          <a:prstGeom prst="rect">
            <a:avLst/>
          </a:prstGeom>
        </p:spPr>
        <p:txBody>
          <a:bodyPr wrap="square">
            <a:spAutoFit/>
          </a:bodyPr>
          <a:lstStyle/>
          <a:p>
            <a:pPr algn="just">
              <a:lnSpc>
                <a:spcPct val="107000"/>
              </a:lnSpc>
              <a:spcAft>
                <a:spcPts val="800"/>
              </a:spcAft>
            </a:pPr>
            <a:r>
              <a:rPr lang="en-IN" sz="2800" b="1" dirty="0">
                <a:solidFill>
                  <a:srgbClr val="0070C0"/>
                </a:solidFill>
                <a:latin typeface="Times New Roman" panose="02020603050405020304" pitchFamily="18" charset="0"/>
                <a:ea typeface="Calibri" panose="020F0502020204030204" pitchFamily="34" charset="0"/>
                <a:cs typeface="Mangal" panose="02040503050203030202" pitchFamily="18" charset="0"/>
              </a:rPr>
              <a:t>Indicators of a good SHG</a:t>
            </a:r>
            <a:r>
              <a:rPr lang="en-IN" sz="28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rPr>
              <a:t>:                                                           </a:t>
            </a:r>
            <a:r>
              <a:rPr lang="en-IN" sz="20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rPr>
              <a:t>continue…</a:t>
            </a:r>
            <a:r>
              <a:rPr lang="en-IN" sz="2800" b="1" dirty="0" smtClean="0">
                <a:solidFill>
                  <a:srgbClr val="0070C0"/>
                </a:solidFill>
                <a:latin typeface="Times New Roman" panose="02020603050405020304" pitchFamily="18" charset="0"/>
                <a:ea typeface="Calibri" panose="020F0502020204030204" pitchFamily="34" charset="0"/>
                <a:cs typeface="Mangal" panose="02040503050203030202" pitchFamily="18" charset="0"/>
              </a:rPr>
              <a:t>                        </a:t>
            </a:r>
            <a:endParaRPr lang="en-IN" sz="2800" dirty="0">
              <a:solidFill>
                <a:srgbClr val="0070C0"/>
              </a:solidFill>
              <a:latin typeface="Times New Roman" panose="02020603050405020304" pitchFamily="18"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2266681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62931" y="1108377"/>
            <a:ext cx="11200320" cy="5816977"/>
          </a:xfrm>
          <a:prstGeom prst="rect">
            <a:avLst/>
          </a:prstGeom>
        </p:spPr>
        <p:txBody>
          <a:bodyPr wrap="square">
            <a:spAutoFit/>
          </a:bodyPr>
          <a:lstStyle/>
          <a:p>
            <a:pPr algn="just"/>
            <a:r>
              <a:rPr lang="en-US" sz="2200" dirty="0" smtClean="0">
                <a:latin typeface="Times New Roman" panose="02020603050405020304" pitchFamily="18" charset="0"/>
                <a:cs typeface="Times New Roman" panose="02020603050405020304" pitchFamily="18" charset="0"/>
              </a:rPr>
              <a:t>A </a:t>
            </a:r>
            <a:r>
              <a:rPr lang="en-US" sz="2200" dirty="0">
                <a:latin typeface="Times New Roman" panose="02020603050405020304" pitchFamily="18" charset="0"/>
                <a:cs typeface="Times New Roman" panose="02020603050405020304" pitchFamily="18" charset="0"/>
              </a:rPr>
              <a:t>Joint Liability Group is usually a group of five to ten who come together to borrow from an MFI. The members in a JLG are also from similar socio-economic backgrounds and usually the same village. A JLG is different from SHGs in that the members share liability, or stand guarantee for each other. If any of the members default, the other members need to pool in money to repay the MFI. This ensures a greater effort on part of the members to ensure that everyone repays, thus ensuring resulting in better accountability and security for the MFI involved</a:t>
            </a:r>
            <a:r>
              <a:rPr lang="en-US" sz="2200" dirty="0" smtClean="0">
                <a:latin typeface="Times New Roman" panose="02020603050405020304" pitchFamily="18" charset="0"/>
                <a:cs typeface="Times New Roman" panose="02020603050405020304" pitchFamily="18" charset="0"/>
              </a:rPr>
              <a:t>.</a:t>
            </a:r>
          </a:p>
          <a:p>
            <a:pPr algn="just"/>
            <a:endParaRPr lang="en-US" sz="2400" dirty="0" smtClean="0"/>
          </a:p>
          <a:p>
            <a:pPr algn="just"/>
            <a:r>
              <a:rPr lang="en-US" sz="2400" dirty="0" smtClean="0"/>
              <a:t>Each </a:t>
            </a:r>
            <a:r>
              <a:rPr lang="en-US" sz="2400" dirty="0"/>
              <a:t>year the group members who want to borrow for seasonal production costs sign a contract in which they accept liability not only for their own individual loans, but also for the loans borrowed by other members of their group and </a:t>
            </a:r>
            <a:r>
              <a:rPr lang="en-US" sz="2400" dirty="0">
                <a:solidFill>
                  <a:srgbClr val="7030A0"/>
                </a:solidFill>
              </a:rPr>
              <a:t>hence the term 'joint-liability'. </a:t>
            </a:r>
            <a:endParaRPr lang="en-US" sz="2400" dirty="0" smtClean="0">
              <a:solidFill>
                <a:srgbClr val="7030A0"/>
              </a:solidFill>
            </a:endParaRPr>
          </a:p>
          <a:p>
            <a:pPr algn="just"/>
            <a:endParaRPr lang="en-US" sz="2400" dirty="0"/>
          </a:p>
          <a:p>
            <a:pPr algn="just"/>
            <a:r>
              <a:rPr lang="en-US" sz="2400" dirty="0" smtClean="0">
                <a:solidFill>
                  <a:srgbClr val="00B050"/>
                </a:solidFill>
              </a:rPr>
              <a:t>A </a:t>
            </a:r>
            <a:r>
              <a:rPr lang="en-US" sz="2400" dirty="0">
                <a:solidFill>
                  <a:srgbClr val="00B050"/>
                </a:solidFill>
              </a:rPr>
              <a:t>basic requirement for joint-liability security for Bank loans is that the farmers concerned, form themselves into groups of people who know and trust each other. These groups may vary in size from a minimum of 4 to a maximum of 10 farmers depending on the need and circumstances. The loans are made by the bank to individual farmers or to the group collectively. </a:t>
            </a:r>
            <a:endParaRPr lang="en-IN" sz="2200" dirty="0">
              <a:solidFill>
                <a:srgbClr val="00B050"/>
              </a:solidFill>
              <a:latin typeface="Times New Roman" panose="02020603050405020304" pitchFamily="18" charset="0"/>
              <a:cs typeface="Times New Roman" panose="02020603050405020304" pitchFamily="18" charset="0"/>
            </a:endParaRPr>
          </a:p>
        </p:txBody>
      </p:sp>
      <p:sp>
        <p:nvSpPr>
          <p:cNvPr id="4" name="Rectangle 3"/>
          <p:cNvSpPr/>
          <p:nvPr/>
        </p:nvSpPr>
        <p:spPr>
          <a:xfrm>
            <a:off x="370996" y="359818"/>
            <a:ext cx="5212261" cy="584775"/>
          </a:xfrm>
          <a:prstGeom prst="rect">
            <a:avLst/>
          </a:prstGeom>
        </p:spPr>
        <p:txBody>
          <a:bodyPr wrap="none">
            <a:spAutoFit/>
          </a:bodyPr>
          <a:lstStyle/>
          <a:p>
            <a:r>
              <a:rPr lang="en-US" sz="3200" b="1" dirty="0">
                <a:solidFill>
                  <a:srgbClr val="00B0F0"/>
                </a:solidFill>
                <a:latin typeface="Times New Roman" panose="02020603050405020304" pitchFamily="18" charset="0"/>
                <a:cs typeface="Times New Roman" panose="02020603050405020304" pitchFamily="18" charset="0"/>
              </a:rPr>
              <a:t>Joint Liability Group (JLG) </a:t>
            </a:r>
            <a:endParaRPr lang="en-IN" sz="32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08157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07323" y="1997839"/>
            <a:ext cx="11355185" cy="3539430"/>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a:t>
            </a:r>
            <a:r>
              <a:rPr lang="en-US" sz="2800" dirty="0" smtClean="0">
                <a:latin typeface="Times New Roman" panose="02020603050405020304" pitchFamily="18" charset="0"/>
                <a:cs typeface="Times New Roman" panose="02020603050405020304" pitchFamily="18" charset="0"/>
              </a:rPr>
              <a:t>amounts</a:t>
            </a:r>
            <a:r>
              <a:rPr lang="en-IN"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borrowed </a:t>
            </a:r>
            <a:r>
              <a:rPr lang="en-US" sz="2800" dirty="0">
                <a:latin typeface="Times New Roman" panose="02020603050405020304" pitchFamily="18" charset="0"/>
                <a:cs typeface="Times New Roman" panose="02020603050405020304" pitchFamily="18" charset="0"/>
              </a:rPr>
              <a:t>by each person depend on his or her individual needs, subject to a maximum of certain prescribed amount in the policy (say Rs. 50,000) which can be borrowed with this form of security. The JLGs should necessarily comprise the farmers or entrepreneurs (undertaking production of the same crops or group of crops or undertaking non-farm activities to ensure cohesive functioning and facilitate procurement of inputs, processing, marketing, etc.)All the members of the JLG should be residing in the same village / compact area and not drawn from different / distant places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8921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57695" y="1443841"/>
            <a:ext cx="11671069" cy="4893647"/>
          </a:xfrm>
          <a:prstGeom prst="rect">
            <a:avLst/>
          </a:prstGeom>
        </p:spPr>
        <p:txBody>
          <a:bodyPr wrap="square">
            <a:spAutoFit/>
          </a:bodyPr>
          <a:lstStyle/>
          <a:p>
            <a:pPr algn="just"/>
            <a:r>
              <a:rPr lang="en-US" sz="2400" dirty="0">
                <a:solidFill>
                  <a:srgbClr val="00B0F0"/>
                </a:solidFill>
                <a:latin typeface="Times New Roman" panose="02020603050405020304" pitchFamily="18" charset="0"/>
                <a:cs typeface="Times New Roman" panose="02020603050405020304" pitchFamily="18" charset="0"/>
              </a:rPr>
              <a:t>Size of the JLG: </a:t>
            </a:r>
            <a:r>
              <a:rPr lang="en-US" sz="2400" dirty="0">
                <a:latin typeface="Times New Roman" panose="02020603050405020304" pitchFamily="18" charset="0"/>
                <a:cs typeface="Times New Roman" panose="02020603050405020304" pitchFamily="18" charset="0"/>
              </a:rPr>
              <a:t>The group should be formed preferably with 4 to 10 members (up to 20 members) to enable the group members to offer mutual guarantee. </a:t>
            </a: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solidFill>
                  <a:srgbClr val="00B0F0"/>
                </a:solidFill>
                <a:latin typeface="Times New Roman" panose="02020603050405020304" pitchFamily="18" charset="0"/>
                <a:cs typeface="Times New Roman" panose="02020603050405020304" pitchFamily="18" charset="0"/>
              </a:rPr>
              <a:t>Formation </a:t>
            </a:r>
            <a:r>
              <a:rPr lang="en-US" sz="2400" dirty="0">
                <a:solidFill>
                  <a:srgbClr val="00B0F0"/>
                </a:solidFill>
                <a:latin typeface="Times New Roman" panose="02020603050405020304" pitchFamily="18" charset="0"/>
                <a:cs typeface="Times New Roman" panose="02020603050405020304" pitchFamily="18" charset="0"/>
              </a:rPr>
              <a:t>of JLGs: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Banks </a:t>
            </a:r>
            <a:r>
              <a:rPr lang="en-US" sz="2400" dirty="0">
                <a:latin typeface="Times New Roman" panose="02020603050405020304" pitchFamily="18" charset="0"/>
                <a:cs typeface="Times New Roman" panose="02020603050405020304" pitchFamily="18" charset="0"/>
              </a:rPr>
              <a:t>may initially form JLGs by using their own staff wherever feasible. Banks may also engage business facilitators like NGOs and other individual rural volunteers to assist banks in promoting the concept and formation of groups. </a:t>
            </a:r>
            <a:endParaRPr lang="en-US" sz="2400"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State </a:t>
            </a:r>
            <a:r>
              <a:rPr lang="en-US" sz="2400" dirty="0">
                <a:latin typeface="Times New Roman" panose="02020603050405020304" pitchFamily="18" charset="0"/>
                <a:cs typeface="Times New Roman" panose="02020603050405020304" pitchFamily="18" charset="0"/>
              </a:rPr>
              <a:t>Government Departments like Agriculture Department also could form JLGs of tenant farmers and small farmers not having clear land title. </a:t>
            </a:r>
            <a:endParaRPr lang="en-US" sz="2400"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JLGs of such eligible farmers can also serve as a conduit for technology transfer, facilitating common access to market information; for training and technology dissemination in activities like soil testing, training, health camps and assessing input requirements.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88839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14993" y="161279"/>
            <a:ext cx="11330247" cy="6740307"/>
          </a:xfrm>
          <a:prstGeom prst="rect">
            <a:avLst/>
          </a:prstGeom>
        </p:spPr>
        <p:txBody>
          <a:bodyPr wrap="square">
            <a:spAutoFit/>
          </a:bodyPr>
          <a:lstStyle/>
          <a:p>
            <a:pPr algn="just"/>
            <a:r>
              <a:rPr lang="en-US" sz="2400" dirty="0" smtClean="0">
                <a:solidFill>
                  <a:srgbClr val="00B0F0"/>
                </a:solidFill>
                <a:latin typeface="Times New Roman" panose="02020603050405020304" pitchFamily="18" charset="0"/>
                <a:cs typeface="Times New Roman" panose="02020603050405020304" pitchFamily="18" charset="0"/>
              </a:rPr>
              <a:t>General </a:t>
            </a:r>
            <a:r>
              <a:rPr lang="en-US" sz="2400" dirty="0">
                <a:solidFill>
                  <a:srgbClr val="00B0F0"/>
                </a:solidFill>
                <a:latin typeface="Times New Roman" panose="02020603050405020304" pitchFamily="18" charset="0"/>
                <a:cs typeface="Times New Roman" panose="02020603050405020304" pitchFamily="18" charset="0"/>
              </a:rPr>
              <a:t>features of JLG: </a:t>
            </a:r>
            <a:endParaRPr lang="en-US" sz="2400" dirty="0" smtClean="0">
              <a:solidFill>
                <a:srgbClr val="00B0F0"/>
              </a:solidFill>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Joint Liability Group (JLG) is an informal group comprising of 4-10 individuals coming together for the purpose of availing bank loan on individual basis or through group mechanism against mutual guarantee. Generally, the members of a JLG would engage in a similar type of economic activity in the Agriculture and Allied Sector. The members would offer a joint undertaking to the bank that enables them to avail loans. JLG members are expected to provide support to each other in carrying out occupational and social activities. </a:t>
            </a: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solidFill>
                  <a:srgbClr val="00B0F0"/>
                </a:solidFill>
                <a:latin typeface="Times New Roman" panose="02020603050405020304" pitchFamily="18" charset="0"/>
                <a:cs typeface="Times New Roman" panose="02020603050405020304" pitchFamily="18" charset="0"/>
              </a:rPr>
              <a:t>Criteria </a:t>
            </a:r>
            <a:r>
              <a:rPr lang="en-US" sz="2400" dirty="0">
                <a:solidFill>
                  <a:srgbClr val="00B0F0"/>
                </a:solidFill>
                <a:latin typeface="Times New Roman" panose="02020603050405020304" pitchFamily="18" charset="0"/>
                <a:cs typeface="Times New Roman" panose="02020603050405020304" pitchFamily="18" charset="0"/>
              </a:rPr>
              <a:t>for membership: </a:t>
            </a:r>
            <a:r>
              <a:rPr lang="en-US" sz="2400" dirty="0">
                <a:latin typeface="Times New Roman" panose="02020603050405020304" pitchFamily="18" charset="0"/>
                <a:cs typeface="Times New Roman" panose="02020603050405020304" pitchFamily="18" charset="0"/>
              </a:rPr>
              <a:t>Members should belong to similar socio-economic status, background and environment carrying out farming and Allied activities and who agree to function as a joint liability group. This way the groups would be homogeneous and organized by likeminded farmers/Individuals and develop mutual trust and respect. The members should be residing in the same village / area / neighborhood and should know and trust each other well enough to take up joint liability for group/ individual Loans. Members who have defaulted to any other formal financial Institution, in the past, are debarred from the Group Membership. More than one person from the same family should not be included in the same JLG.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3597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573579"/>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32756" y="147989"/>
            <a:ext cx="11072553" cy="5940088"/>
          </a:xfrm>
          <a:prstGeom prst="rect">
            <a:avLst/>
          </a:prstGeom>
        </p:spPr>
        <p:txBody>
          <a:bodyPr wrap="square">
            <a:spAutoFit/>
          </a:bodyPr>
          <a:lstStyle/>
          <a:p>
            <a:pPr algn="just"/>
            <a:r>
              <a:rPr lang="en-US" sz="2800" dirty="0">
                <a:solidFill>
                  <a:srgbClr val="00B0F0"/>
                </a:solidFill>
                <a:latin typeface="Times New Roman" panose="02020603050405020304" pitchFamily="18" charset="0"/>
                <a:cs typeface="Times New Roman" panose="02020603050405020304" pitchFamily="18" charset="0"/>
              </a:rPr>
              <a:t>Group Approach: </a:t>
            </a:r>
            <a:endParaRPr lang="en-US" sz="2800" dirty="0" smtClean="0">
              <a:solidFill>
                <a:srgbClr val="00B0F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All </a:t>
            </a:r>
            <a:r>
              <a:rPr lang="en-US" sz="2200" dirty="0">
                <a:latin typeface="Times New Roman" panose="02020603050405020304" pitchFamily="18" charset="0"/>
                <a:cs typeface="Times New Roman" panose="02020603050405020304" pitchFamily="18" charset="0"/>
              </a:rPr>
              <a:t>members of the JLG should be active enough to assume leadership of the group to ensure the activities of the JLG. </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selection of an effective / able / active leader for the JLG is essential as this will ultimately benefit all the JLG members. </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leader fosters a sense of unity, oversees and maintains discipline, shares information and facilitates repayments. For the bank, he is the focal point for group activities. </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JLG should hold regular meetings which must be attended by all the members regularly to discuss issues of mutual interests. </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principles of self - help and group strength need to be emphasized. Group cohesion has to be ensured. Adequate emphasis should be placed on the roles, expectations and functions of the group/ members &amp; the benefits of group dynamics. </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JLG can easily serve as a conduit for technology transfer, facilitating common access to market information, for training and technology dissemination in activities like soil testing, training and assessing input requirements. </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JLGs for specific nonfarm activity, e.g. production of handicrafts / other non-farm products may be federated at village/ block level for development of the product.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33895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573579"/>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232756" y="147989"/>
            <a:ext cx="11072553" cy="3231654"/>
          </a:xfrm>
          <a:prstGeom prst="rect">
            <a:avLst/>
          </a:prstGeom>
        </p:spPr>
        <p:txBody>
          <a:bodyPr wrap="square">
            <a:spAutoFit/>
          </a:bodyPr>
          <a:lstStyle/>
          <a:p>
            <a:pPr algn="just"/>
            <a:r>
              <a:rPr lang="en-US" sz="2800" dirty="0">
                <a:solidFill>
                  <a:srgbClr val="00B0F0"/>
                </a:solidFill>
                <a:latin typeface="Times New Roman" panose="02020603050405020304" pitchFamily="18" charset="0"/>
                <a:cs typeface="Times New Roman" panose="02020603050405020304" pitchFamily="18" charset="0"/>
              </a:rPr>
              <a:t>Group Approach: </a:t>
            </a:r>
            <a:endParaRPr lang="en-US" sz="2800" dirty="0" smtClean="0">
              <a:solidFill>
                <a:srgbClr val="00B0F0"/>
              </a:solidFill>
              <a:latin typeface="Times New Roman" panose="02020603050405020304" pitchFamily="18" charset="0"/>
              <a:cs typeface="Times New Roman" panose="02020603050405020304" pitchFamily="18" charset="0"/>
            </a:endParaRPr>
          </a:p>
          <a:p>
            <a:pPr algn="just"/>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JLG in the clusters on their stabilization could come together in the form of cluster federation or producers' companies with a view to contributing the entire value chain and thereby achieving economies of scale in production and marketing of the product. </a:t>
            </a:r>
            <a:endParaRPr lang="en-US" sz="2200" dirty="0" smtClean="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JLGs and evolving JLG structures are expected to build up empathy and understanding and create responsive lending mechanisms leading to greater interaction and interdependence between the members of JLGs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445612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91191" y="1152758"/>
            <a:ext cx="11579629" cy="4832092"/>
          </a:xfrm>
          <a:prstGeom prst="rect">
            <a:avLst/>
          </a:prstGeom>
        </p:spPr>
        <p:txBody>
          <a:bodyPr wrap="square">
            <a:spAutoFit/>
          </a:bodyPr>
          <a:lstStyle/>
          <a:p>
            <a:pPr algn="just"/>
            <a:r>
              <a:rPr lang="en-US" sz="2800" dirty="0">
                <a:solidFill>
                  <a:srgbClr val="00B0F0"/>
                </a:solidFill>
                <a:latin typeface="Times New Roman" panose="02020603050405020304" pitchFamily="18" charset="0"/>
                <a:cs typeface="Times New Roman" panose="02020603050405020304" pitchFamily="18" charset="0"/>
              </a:rPr>
              <a:t>Credit Assessment</a:t>
            </a:r>
            <a:r>
              <a:rPr lang="en-US" sz="2800" dirty="0" smtClean="0">
                <a:solidFill>
                  <a:srgbClr val="00B0F0"/>
                </a:solidFill>
                <a:latin typeface="Times New Roman" panose="02020603050405020304" pitchFamily="18" charset="0"/>
                <a:cs typeface="Times New Roman" panose="02020603050405020304" pitchFamily="18" charset="0"/>
              </a:rPr>
              <a:t>:</a:t>
            </a:r>
          </a:p>
          <a:p>
            <a:pPr algn="just"/>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JLG would prepare a credit plan for its individual members and an aggregate of that is submitted to the banks. Banks may evolve simple loan application for this purpose. The individual members of JLG would be eligible for bank loan after the bank verifies the individual members‟ credentials. </a:t>
            </a:r>
            <a:endParaRPr lang="en-US" sz="2800" dirty="0" smtClean="0">
              <a:latin typeface="Times New Roman" panose="02020603050405020304" pitchFamily="18" charset="0"/>
              <a:cs typeface="Times New Roman" panose="02020603050405020304" pitchFamily="18" charset="0"/>
            </a:endParaRPr>
          </a:p>
          <a:p>
            <a:pPr algn="just"/>
            <a:endParaRPr lang="en-US" sz="2800" dirty="0" smtClean="0">
              <a:latin typeface="Times New Roman" panose="02020603050405020304" pitchFamily="18" charset="0"/>
              <a:cs typeface="Times New Roman" panose="02020603050405020304" pitchFamily="18" charset="0"/>
            </a:endParaRPr>
          </a:p>
          <a:p>
            <a:pPr algn="just"/>
            <a:r>
              <a:rPr lang="en-US" sz="2800" dirty="0" smtClean="0">
                <a:solidFill>
                  <a:srgbClr val="00B0F0"/>
                </a:solidFill>
                <a:latin typeface="Times New Roman" panose="02020603050405020304" pitchFamily="18" charset="0"/>
                <a:cs typeface="Times New Roman" panose="02020603050405020304" pitchFamily="18" charset="0"/>
              </a:rPr>
              <a:t>Purposes </a:t>
            </a:r>
            <a:r>
              <a:rPr lang="en-US" sz="2800" dirty="0">
                <a:solidFill>
                  <a:srgbClr val="00B0F0"/>
                </a:solidFill>
                <a:latin typeface="Times New Roman" panose="02020603050405020304" pitchFamily="18" charset="0"/>
                <a:cs typeface="Times New Roman" panose="02020603050405020304" pitchFamily="18" charset="0"/>
              </a:rPr>
              <a:t>of credit: </a:t>
            </a:r>
            <a:endParaRPr lang="en-US" sz="2800" dirty="0" smtClean="0">
              <a:solidFill>
                <a:srgbClr val="00B0F0"/>
              </a:solidFill>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finance to JLG is expected to be a flexible credit product addressing the credit requirements of its members including crop production, consumption, marketing and other productive purposes. Banks may consider cash credit, short-term loan or term loan depending upon the purpose of loan.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3465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731520" y="401796"/>
            <a:ext cx="10831484" cy="6386364"/>
          </a:xfrm>
          <a:prstGeom prst="rect">
            <a:avLst/>
          </a:prstGeom>
        </p:spPr>
        <p:txBody>
          <a:bodyPr wrap="square">
            <a:spAutoFit/>
          </a:bodyPr>
          <a:lstStyle/>
          <a:p>
            <a:pPr algn="just"/>
            <a:r>
              <a:rPr lang="en-US" sz="2200" dirty="0">
                <a:solidFill>
                  <a:srgbClr val="0070C0"/>
                </a:solidFill>
                <a:latin typeface="Times New Roman" panose="02020603050405020304" pitchFamily="18" charset="0"/>
                <a:cs typeface="Times New Roman" panose="02020603050405020304" pitchFamily="18" charset="0"/>
              </a:rPr>
              <a:t>JLG MODELS: </a:t>
            </a:r>
            <a:endParaRPr lang="en-US" sz="2200" dirty="0" smtClean="0">
              <a:solidFill>
                <a:srgbClr val="0070C0"/>
              </a:solidFill>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r>
              <a:rPr lang="en-US" sz="2200" dirty="0" smtClean="0">
                <a:latin typeface="Times New Roman" panose="02020603050405020304" pitchFamily="18" charset="0"/>
                <a:cs typeface="Times New Roman" panose="02020603050405020304" pitchFamily="18" charset="0"/>
              </a:rPr>
              <a:t>Banks </a:t>
            </a:r>
            <a:r>
              <a:rPr lang="en-US" sz="2200" dirty="0">
                <a:latin typeface="Times New Roman" panose="02020603050405020304" pitchFamily="18" charset="0"/>
                <a:cs typeface="Times New Roman" panose="02020603050405020304" pitchFamily="18" charset="0"/>
              </a:rPr>
              <a:t>can finance JLG by adopting any of the two models. </a:t>
            </a:r>
            <a:r>
              <a:rPr lang="en-US" sz="2200" dirty="0" smtClean="0">
                <a:latin typeface="Times New Roman" panose="02020603050405020304" pitchFamily="18" charset="0"/>
                <a:cs typeface="Times New Roman" panose="02020603050405020304" pitchFamily="18" charset="0"/>
              </a:rPr>
              <a:t> </a:t>
            </a:r>
          </a:p>
          <a:p>
            <a:pPr algn="just"/>
            <a:endParaRPr lang="en-US" sz="2200" dirty="0" smtClean="0">
              <a:latin typeface="Times New Roman" panose="02020603050405020304" pitchFamily="18" charset="0"/>
              <a:cs typeface="Times New Roman" panose="02020603050405020304" pitchFamily="18" charset="0"/>
            </a:endParaRPr>
          </a:p>
          <a:p>
            <a:pPr algn="just"/>
            <a:r>
              <a:rPr lang="en-US" sz="2300" dirty="0" smtClean="0">
                <a:solidFill>
                  <a:srgbClr val="00B0F0"/>
                </a:solidFill>
                <a:latin typeface="Times New Roman" panose="02020603050405020304" pitchFamily="18" charset="0"/>
                <a:cs typeface="Times New Roman" panose="02020603050405020304" pitchFamily="18" charset="0"/>
              </a:rPr>
              <a:t>Model </a:t>
            </a:r>
            <a:r>
              <a:rPr lang="en-US" sz="2300" dirty="0">
                <a:solidFill>
                  <a:srgbClr val="00B0F0"/>
                </a:solidFill>
                <a:latin typeface="Times New Roman" panose="02020603050405020304" pitchFamily="18" charset="0"/>
                <a:cs typeface="Times New Roman" panose="02020603050405020304" pitchFamily="18" charset="0"/>
              </a:rPr>
              <a:t>A – </a:t>
            </a:r>
            <a:endParaRPr lang="en-US" sz="2300" dirty="0" smtClean="0">
              <a:solidFill>
                <a:srgbClr val="00B0F0"/>
              </a:solidFill>
              <a:latin typeface="Times New Roman" panose="02020603050405020304" pitchFamily="18" charset="0"/>
              <a:cs typeface="Times New Roman" panose="02020603050405020304" pitchFamily="18" charset="0"/>
            </a:endParaRPr>
          </a:p>
          <a:p>
            <a:pPr algn="just"/>
            <a:r>
              <a:rPr lang="en-US" sz="2300" dirty="0" smtClean="0">
                <a:latin typeface="Times New Roman" panose="02020603050405020304" pitchFamily="18" charset="0"/>
                <a:cs typeface="Times New Roman" panose="02020603050405020304" pitchFamily="18" charset="0"/>
              </a:rPr>
              <a:t>Financing </a:t>
            </a:r>
            <a:r>
              <a:rPr lang="en-US" sz="2300" dirty="0">
                <a:latin typeface="Times New Roman" panose="02020603050405020304" pitchFamily="18" charset="0"/>
                <a:cs typeface="Times New Roman" panose="02020603050405020304" pitchFamily="18" charset="0"/>
              </a:rPr>
              <a:t>Individuals in the Group: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Each </a:t>
            </a:r>
            <a:r>
              <a:rPr lang="en-US" sz="2300" dirty="0">
                <a:latin typeface="Times New Roman" panose="02020603050405020304" pitchFamily="18" charset="0"/>
                <a:cs typeface="Times New Roman" panose="02020603050405020304" pitchFamily="18" charset="0"/>
              </a:rPr>
              <a:t>member of the JLG should be provided an individual KCC.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financing branch could assess the credit requirement, based on the crop to be cultivated, available cultivable land / activity to be undertaken and the credit absorption capacity of the individual.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All </a:t>
            </a:r>
            <a:r>
              <a:rPr lang="en-US" sz="2300" dirty="0">
                <a:latin typeface="Times New Roman" panose="02020603050405020304" pitchFamily="18" charset="0"/>
                <a:cs typeface="Times New Roman" panose="02020603050405020304" pitchFamily="18" charset="0"/>
              </a:rPr>
              <a:t>members would jointly execute a loan document, making each one jointly and severally liable for repayment of all loans taken by all individuals belonging to the group.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mutual agreement needs to ensure consensus among all members about the amount of individual debt liability that will be created including liability created out of the individual KCC.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Any </a:t>
            </a:r>
            <a:r>
              <a:rPr lang="en-US" sz="2300" dirty="0">
                <a:latin typeface="Times New Roman" panose="02020603050405020304" pitchFamily="18" charset="0"/>
                <a:cs typeface="Times New Roman" panose="02020603050405020304" pitchFamily="18" charset="0"/>
              </a:rPr>
              <a:t>member opting out of group or joining the group will necessitate a new loan agreement, to be kept on record in the branch. </a:t>
            </a:r>
            <a:endParaRPr lang="en-US" sz="23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93370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36566" y="1368889"/>
            <a:ext cx="10335491" cy="4693593"/>
          </a:xfrm>
          <a:prstGeom prst="rect">
            <a:avLst/>
          </a:prstGeom>
        </p:spPr>
        <p:txBody>
          <a:bodyPr wrap="square">
            <a:spAutoFit/>
          </a:bodyPr>
          <a:lstStyle/>
          <a:p>
            <a:pPr algn="just"/>
            <a:r>
              <a:rPr lang="en-US" sz="2300" dirty="0">
                <a:solidFill>
                  <a:srgbClr val="00B0F0"/>
                </a:solidFill>
                <a:latin typeface="Times New Roman" panose="02020603050405020304" pitchFamily="18" charset="0"/>
                <a:cs typeface="Times New Roman" panose="02020603050405020304" pitchFamily="18" charset="0"/>
              </a:rPr>
              <a:t>Model B – </a:t>
            </a:r>
            <a:endParaRPr lang="en-US" sz="2300" dirty="0" smtClean="0">
              <a:solidFill>
                <a:srgbClr val="00B0F0"/>
              </a:solidFill>
              <a:latin typeface="Times New Roman" panose="02020603050405020304" pitchFamily="18" charset="0"/>
              <a:cs typeface="Times New Roman" panose="02020603050405020304" pitchFamily="18" charset="0"/>
            </a:endParaRPr>
          </a:p>
          <a:p>
            <a:pPr algn="just"/>
            <a:r>
              <a:rPr lang="en-US" sz="2300" dirty="0" smtClean="0">
                <a:latin typeface="Times New Roman" panose="02020603050405020304" pitchFamily="18" charset="0"/>
                <a:cs typeface="Times New Roman" panose="02020603050405020304" pitchFamily="18" charset="0"/>
              </a:rPr>
              <a:t>Financing </a:t>
            </a:r>
            <a:r>
              <a:rPr lang="en-US" sz="2300" dirty="0">
                <a:latin typeface="Times New Roman" panose="02020603050405020304" pitchFamily="18" charset="0"/>
                <a:cs typeface="Times New Roman" panose="02020603050405020304" pitchFamily="18" charset="0"/>
              </a:rPr>
              <a:t>the Group: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JLG functions, operationally, as one borrowing unit.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group would be eligible for accessing one loan, which could be combined credit requirements of all its members.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credit assessment of the group could be based on the micro enterprise / activity to be undertaken.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All </a:t>
            </a:r>
            <a:r>
              <a:rPr lang="en-US" sz="2300" dirty="0">
                <a:latin typeface="Times New Roman" panose="02020603050405020304" pitchFamily="18" charset="0"/>
                <a:cs typeface="Times New Roman" panose="02020603050405020304" pitchFamily="18" charset="0"/>
              </a:rPr>
              <a:t>members would jointly execute the document and own the debt liability jointly and severally.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mutual agreement needs to ensure consensus among all members about the amount of individual debt liability that will be created. </a:t>
            </a:r>
            <a:endParaRPr lang="en-US" sz="23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300" dirty="0" smtClean="0">
                <a:latin typeface="Times New Roman" panose="02020603050405020304" pitchFamily="18" charset="0"/>
                <a:cs typeface="Times New Roman" panose="02020603050405020304" pitchFamily="18" charset="0"/>
              </a:rPr>
              <a:t>Any </a:t>
            </a:r>
            <a:r>
              <a:rPr lang="en-US" sz="2300" dirty="0">
                <a:latin typeface="Times New Roman" panose="02020603050405020304" pitchFamily="18" charset="0"/>
                <a:cs typeface="Times New Roman" panose="02020603050405020304" pitchFamily="18" charset="0"/>
              </a:rPr>
              <a:t>change in the composition of the group, will lead to a new document being registered by the branch. </a:t>
            </a:r>
            <a:endParaRPr lang="en-IN" sz="2300" dirty="0">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583030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4207" y="1263534"/>
            <a:ext cx="10515600" cy="5320146"/>
          </a:xfrm>
        </p:spPr>
        <p:txBody>
          <a:bodyPr>
            <a:normAutofit fontScale="85000" lnSpcReduction="10000"/>
          </a:bodyPr>
          <a:lstStyle/>
          <a:p>
            <a:r>
              <a:rPr lang="en-US" sz="2400" dirty="0">
                <a:solidFill>
                  <a:srgbClr val="00B0F0"/>
                </a:solidFill>
                <a:latin typeface="Times New Roman" panose="02020603050405020304" pitchFamily="18" charset="0"/>
                <a:cs typeface="Times New Roman" panose="02020603050405020304" pitchFamily="18" charset="0"/>
              </a:rPr>
              <a:t>WHO CAN FORM JLGS? </a:t>
            </a:r>
            <a:endParaRPr lang="en-US" sz="2400" dirty="0" smtClean="0">
              <a:solidFill>
                <a:srgbClr val="00B0F0"/>
              </a:solidFill>
              <a:latin typeface="Times New Roman" panose="02020603050405020304" pitchFamily="18" charset="0"/>
              <a:cs typeface="Times New Roman" panose="02020603050405020304" pitchFamily="18" charset="0"/>
            </a:endParaRPr>
          </a:p>
          <a:p>
            <a:pPr marL="0" indent="0" algn="just">
              <a:lnSpc>
                <a:spcPct val="120000"/>
              </a:lnSpc>
              <a:spcBef>
                <a:spcPts val="0"/>
              </a:spcBef>
              <a:buNone/>
            </a:pPr>
            <a:r>
              <a:rPr lang="en-US" sz="2400" dirty="0" smtClean="0">
                <a:latin typeface="Times New Roman" panose="02020603050405020304" pitchFamily="18" charset="0"/>
                <a:cs typeface="Times New Roman" panose="02020603050405020304" pitchFamily="18" charset="0"/>
              </a:rPr>
              <a:t>	</a:t>
            </a:r>
            <a:r>
              <a:rPr lang="en-US" sz="2700" dirty="0" smtClean="0">
                <a:latin typeface="Times New Roman" panose="02020603050405020304" pitchFamily="18" charset="0"/>
                <a:cs typeface="Times New Roman" panose="02020603050405020304" pitchFamily="18" charset="0"/>
              </a:rPr>
              <a:t>Business </a:t>
            </a:r>
            <a:r>
              <a:rPr lang="en-US" sz="2700" dirty="0">
                <a:latin typeface="Times New Roman" panose="02020603050405020304" pitchFamily="18" charset="0"/>
                <a:cs typeface="Times New Roman" panose="02020603050405020304" pitchFamily="18" charset="0"/>
              </a:rPr>
              <a:t>Facilitators, NGOs, Farmers Clubs, Farmers Associations, </a:t>
            </a:r>
            <a:r>
              <a:rPr lang="en-US" sz="2700" dirty="0" smtClean="0">
                <a:latin typeface="Times New Roman" panose="02020603050405020304" pitchFamily="18" charset="0"/>
                <a:cs typeface="Times New Roman" panose="02020603050405020304" pitchFamily="18" charset="0"/>
              </a:rPr>
              <a:t>Panchayat </a:t>
            </a:r>
            <a:r>
              <a:rPr lang="en-US" sz="2700" dirty="0">
                <a:latin typeface="Times New Roman" panose="02020603050405020304" pitchFamily="18" charset="0"/>
                <a:cs typeface="Times New Roman" panose="02020603050405020304" pitchFamily="18" charset="0"/>
              </a:rPr>
              <a:t>Raj Institutions (PRIs), </a:t>
            </a:r>
            <a:r>
              <a:rPr lang="en-US" sz="2700" dirty="0" err="1" smtClean="0">
                <a:latin typeface="Times New Roman" panose="02020603050405020304" pitchFamily="18" charset="0"/>
                <a:cs typeface="Times New Roman" panose="02020603050405020304" pitchFamily="18" charset="0"/>
              </a:rPr>
              <a:t>Krishi</a:t>
            </a:r>
            <a:r>
              <a:rPr lang="en-US" sz="2700" dirty="0" smtClean="0">
                <a:latin typeface="Times New Roman" panose="02020603050405020304" pitchFamily="18" charset="0"/>
                <a:cs typeface="Times New Roman" panose="02020603050405020304" pitchFamily="18" charset="0"/>
              </a:rPr>
              <a:t> </a:t>
            </a:r>
            <a:r>
              <a:rPr lang="en-US" sz="2700" dirty="0" err="1" smtClean="0">
                <a:latin typeface="Times New Roman" panose="02020603050405020304" pitchFamily="18" charset="0"/>
                <a:cs typeface="Times New Roman" panose="02020603050405020304" pitchFamily="18" charset="0"/>
              </a:rPr>
              <a:t>Vikas</a:t>
            </a:r>
            <a:r>
              <a:rPr lang="en-US" sz="2700" dirty="0" smtClean="0">
                <a:latin typeface="Times New Roman" panose="02020603050405020304" pitchFamily="18" charset="0"/>
                <a:cs typeface="Times New Roman" panose="02020603050405020304" pitchFamily="18" charset="0"/>
              </a:rPr>
              <a:t> </a:t>
            </a:r>
            <a:r>
              <a:rPr lang="en-US" sz="2700" dirty="0" err="1" smtClean="0">
                <a:latin typeface="Times New Roman" panose="02020603050405020304" pitchFamily="18" charset="0"/>
                <a:cs typeface="Times New Roman" panose="02020603050405020304" pitchFamily="18" charset="0"/>
              </a:rPr>
              <a:t>Kendras</a:t>
            </a:r>
            <a:r>
              <a:rPr lang="en-US" sz="2700" dirty="0" smtClean="0">
                <a:latin typeface="Times New Roman" panose="02020603050405020304" pitchFamily="18" charset="0"/>
                <a:cs typeface="Times New Roman" panose="02020603050405020304" pitchFamily="18" charset="0"/>
              </a:rPr>
              <a:t> </a:t>
            </a:r>
            <a:r>
              <a:rPr lang="en-US" sz="2700" dirty="0">
                <a:latin typeface="Times New Roman" panose="02020603050405020304" pitchFamily="18" charset="0"/>
                <a:cs typeface="Times New Roman" panose="02020603050405020304" pitchFamily="18" charset="0"/>
              </a:rPr>
              <a:t>(KVKs), State Agriculture Universities (SAUs), Agriculture Technology Management Agency (ATMA), Bank branches, PACS, other cooperatives, Govt. Depts., Producer Associations , Artisan Guilds, Department of SMEs, Small Scale industries / Agro industries, Individuals, Input dealers, and Document writers (in cooperative banks),MFIs / MFOs, etc</a:t>
            </a:r>
            <a:r>
              <a:rPr lang="en-US" sz="2700" dirty="0" smtClean="0">
                <a:latin typeface="Times New Roman" panose="02020603050405020304" pitchFamily="18" charset="0"/>
                <a:cs typeface="Times New Roman" panose="02020603050405020304" pitchFamily="18" charset="0"/>
              </a:rPr>
              <a:t>.</a:t>
            </a:r>
          </a:p>
          <a:p>
            <a:pPr marL="0" indent="0" algn="just">
              <a:buNone/>
            </a:pPr>
            <a:endParaRPr lang="en-US" sz="2700" dirty="0" smtClean="0">
              <a:latin typeface="Times New Roman" panose="02020603050405020304" pitchFamily="18" charset="0"/>
              <a:cs typeface="Times New Roman" panose="02020603050405020304" pitchFamily="18" charset="0"/>
            </a:endParaRPr>
          </a:p>
          <a:p>
            <a:pPr algn="just"/>
            <a:r>
              <a:rPr lang="en-US" sz="2700" dirty="0" smtClean="0">
                <a:solidFill>
                  <a:srgbClr val="00B0F0"/>
                </a:solidFill>
                <a:latin typeface="Times New Roman" panose="02020603050405020304" pitchFamily="18" charset="0"/>
                <a:cs typeface="Times New Roman" panose="02020603050405020304" pitchFamily="18" charset="0"/>
              </a:rPr>
              <a:t>SAVINGS</a:t>
            </a:r>
            <a:r>
              <a:rPr lang="en-US" sz="2700" dirty="0">
                <a:solidFill>
                  <a:srgbClr val="00B0F0"/>
                </a:solidFill>
                <a:latin typeface="Times New Roman" panose="02020603050405020304" pitchFamily="18" charset="0"/>
                <a:cs typeface="Times New Roman" panose="02020603050405020304" pitchFamily="18" charset="0"/>
              </a:rPr>
              <a:t>: </a:t>
            </a:r>
            <a:endParaRPr lang="en-US" sz="2700" dirty="0" smtClean="0">
              <a:solidFill>
                <a:srgbClr val="00B0F0"/>
              </a:solidFill>
              <a:latin typeface="Times New Roman" panose="02020603050405020304" pitchFamily="18" charset="0"/>
              <a:cs typeface="Times New Roman" panose="02020603050405020304" pitchFamily="18" charset="0"/>
            </a:endParaRPr>
          </a:p>
          <a:p>
            <a:pPr marL="0" indent="0" algn="just">
              <a:lnSpc>
                <a:spcPct val="120000"/>
              </a:lnSpc>
              <a:spcBef>
                <a:spcPts val="0"/>
              </a:spcBef>
              <a:buNone/>
            </a:pPr>
            <a:r>
              <a:rPr lang="en-US" sz="2700" dirty="0">
                <a:solidFill>
                  <a:srgbClr val="00B0F0"/>
                </a:solidFill>
                <a:latin typeface="Times New Roman" panose="02020603050405020304" pitchFamily="18" charset="0"/>
                <a:cs typeface="Times New Roman" panose="02020603050405020304" pitchFamily="18" charset="0"/>
              </a:rPr>
              <a:t>	</a:t>
            </a:r>
            <a:r>
              <a:rPr lang="en-US" sz="2700" dirty="0" smtClean="0">
                <a:latin typeface="Times New Roman" panose="02020603050405020304" pitchFamily="18" charset="0"/>
                <a:cs typeface="Times New Roman" panose="02020603050405020304" pitchFamily="18" charset="0"/>
              </a:rPr>
              <a:t>JLG </a:t>
            </a:r>
            <a:r>
              <a:rPr lang="en-US" sz="2700" dirty="0">
                <a:latin typeface="Times New Roman" panose="02020603050405020304" pitchFamily="18" charset="0"/>
                <a:cs typeface="Times New Roman" panose="02020603050405020304" pitchFamily="18" charset="0"/>
              </a:rPr>
              <a:t>members need to be encouraged to save regularly. Branches may open savings account by the JLG / individual members of the JLG to ensure regular savings and thrift habit amongst them. However, the quantum of loan to be given to the groups should be related to the credit needs of the enterprise and not to the quantum of savings.</a:t>
            </a:r>
            <a:endParaRPr lang="en-IN" sz="2700"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302304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4245653" y="3244334"/>
            <a:ext cx="588623" cy="369332"/>
          </a:xfrm>
          <a:prstGeom prst="rect">
            <a:avLst/>
          </a:prstGeom>
        </p:spPr>
        <p:txBody>
          <a:bodyPr wrap="none">
            <a:spAutoFit/>
          </a:bodyPr>
          <a:lstStyle/>
          <a:p>
            <a:pPr marL="342900" lvl="0" indent="-342900">
              <a:spcAft>
                <a:spcPts val="0"/>
              </a:spcAft>
              <a:buSzPts val="1000"/>
              <a:buFont typeface="Wingdings" panose="05000000000000000000" pitchFamily="2" charset="2"/>
              <a:buChar char="Ø"/>
              <a:tabLst>
                <a:tab pos="457200" algn="l"/>
              </a:tabLst>
            </a:pPr>
            <a:r>
              <a:rPr lang="en-IN" dirty="0">
                <a:latin typeface="Times New Roman" panose="02020603050405020304" pitchFamily="18" charset="0"/>
                <a:cs typeface="Times New Roman" panose="02020603050405020304" pitchFamily="18" charset="0"/>
              </a:rPr>
              <a:t> </a:t>
            </a:r>
          </a:p>
        </p:txBody>
      </p:sp>
      <p:sp>
        <p:nvSpPr>
          <p:cNvPr id="4" name="Rectangle 3"/>
          <p:cNvSpPr/>
          <p:nvPr/>
        </p:nvSpPr>
        <p:spPr>
          <a:xfrm>
            <a:off x="339436" y="387507"/>
            <a:ext cx="11346873" cy="6278642"/>
          </a:xfrm>
          <a:prstGeom prst="rect">
            <a:avLst/>
          </a:prstGeom>
        </p:spPr>
        <p:txBody>
          <a:bodyPr wrap="square">
            <a:spAutoFit/>
          </a:bodyPr>
          <a:lstStyle/>
          <a:p>
            <a:pPr algn="just"/>
            <a:r>
              <a:rPr lang="en-US" sz="2800" b="1" dirty="0">
                <a:solidFill>
                  <a:srgbClr val="0070C0"/>
                </a:solidFill>
                <a:latin typeface="Times New Roman" panose="02020603050405020304" pitchFamily="18" charset="0"/>
                <a:cs typeface="Times New Roman" panose="02020603050405020304" pitchFamily="18" charset="0"/>
              </a:rPr>
              <a:t>Difference between JLGs and </a:t>
            </a:r>
            <a:r>
              <a:rPr lang="en-US" sz="2800" b="1" dirty="0" smtClean="0">
                <a:solidFill>
                  <a:srgbClr val="0070C0"/>
                </a:solidFill>
                <a:latin typeface="Times New Roman" panose="02020603050405020304" pitchFamily="18" charset="0"/>
                <a:cs typeface="Times New Roman" panose="02020603050405020304" pitchFamily="18" charset="0"/>
              </a:rPr>
              <a:t>SHGs</a:t>
            </a:r>
          </a:p>
          <a:p>
            <a:pPr algn="just"/>
            <a:endParaRPr lang="en-US" sz="2200" b="1" dirty="0">
              <a:solidFill>
                <a:srgbClr val="34495E"/>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solidFill>
                  <a:srgbClr val="34495E"/>
                </a:solidFill>
                <a:latin typeface="Times New Roman" panose="02020603050405020304" pitchFamily="18" charset="0"/>
                <a:cs typeface="Times New Roman" panose="02020603050405020304" pitchFamily="18" charset="0"/>
              </a:rPr>
              <a:t>SHGs are units oriented to the communities when compared to JLGs. Members own and control SHGs and they decide all terms and conditions associated with the group’s functioning. Banks and NGOs provide support to these units so that they can prosper.</a:t>
            </a:r>
          </a:p>
          <a:p>
            <a:pPr algn="just">
              <a:buFont typeface="Arial" panose="020B0604020202020204" pitchFamily="34" charset="0"/>
              <a:buChar char="•"/>
            </a:pPr>
            <a:r>
              <a:rPr lang="en-US" sz="2200" dirty="0">
                <a:solidFill>
                  <a:srgbClr val="34495E"/>
                </a:solidFill>
                <a:latin typeface="Times New Roman" panose="02020603050405020304" pitchFamily="18" charset="0"/>
                <a:cs typeface="Times New Roman" panose="02020603050405020304" pitchFamily="18" charset="0"/>
              </a:rPr>
              <a:t>SHGs have internal control, but this can lead to conflict among members. JGs are controlled externally by the institutions that promote them. The terms and conditions of the JLG are also determined by the promoting institution. The operations of JLGs are more </a:t>
            </a:r>
            <a:r>
              <a:rPr lang="en-US" sz="2200" dirty="0" err="1">
                <a:solidFill>
                  <a:srgbClr val="34495E"/>
                </a:solidFill>
                <a:latin typeface="Times New Roman" panose="02020603050405020304" pitchFamily="18" charset="0"/>
                <a:cs typeface="Times New Roman" panose="02020603050405020304" pitchFamily="18" charset="0"/>
              </a:rPr>
              <a:t>standardised</a:t>
            </a:r>
            <a:r>
              <a:rPr lang="en-US" sz="2200" dirty="0">
                <a:solidFill>
                  <a:srgbClr val="34495E"/>
                </a:solidFill>
                <a:latin typeface="Times New Roman" panose="02020603050405020304" pitchFamily="18" charset="0"/>
                <a:cs typeface="Times New Roman" panose="02020603050405020304" pitchFamily="18" charset="0"/>
              </a:rPr>
              <a:t> and easier to replicate, when compared to SHGs.</a:t>
            </a:r>
          </a:p>
          <a:p>
            <a:pPr algn="just">
              <a:buFont typeface="Arial" panose="020B0604020202020204" pitchFamily="34" charset="0"/>
              <a:buChar char="•"/>
            </a:pPr>
            <a:r>
              <a:rPr lang="en-US" sz="2200" dirty="0">
                <a:solidFill>
                  <a:srgbClr val="34495E"/>
                </a:solidFill>
                <a:latin typeface="Times New Roman" panose="02020603050405020304" pitchFamily="18" charset="0"/>
                <a:cs typeface="Times New Roman" panose="02020603050405020304" pitchFamily="18" charset="0"/>
              </a:rPr>
              <a:t>Under an SHG, the group members will be required to save before they are eligible for a loan. In a JLG model saving is not compulsory; groups need not build internal capital for inter-loaning. Most of the times, MFIs initiate the formation of JLGs by asking members to form such groups with the motive of getting a loan.</a:t>
            </a:r>
          </a:p>
          <a:p>
            <a:pPr algn="just">
              <a:buFont typeface="Arial" panose="020B0604020202020204" pitchFamily="34" charset="0"/>
              <a:buChar char="•"/>
            </a:pPr>
            <a:r>
              <a:rPr lang="en-US" sz="2200" dirty="0">
                <a:solidFill>
                  <a:srgbClr val="34495E"/>
                </a:solidFill>
                <a:latin typeface="Times New Roman" panose="02020603050405020304" pitchFamily="18" charset="0"/>
                <a:cs typeface="Times New Roman" panose="02020603050405020304" pitchFamily="18" charset="0"/>
              </a:rPr>
              <a:t>Donor agencies support SHGs in skill development and capacity building through NGOs. This process of internal capacity building makes the process of getting a bank loan more time-consuming for an SHG. Since JLGs are managed externally, there is very little focus on capacity building. Hence, these units may find it easier to procure loans. JLGs are hence, referred to as “fast growth models”. SHGs are more </a:t>
            </a:r>
            <a:r>
              <a:rPr lang="en-US" sz="2200" dirty="0" err="1">
                <a:solidFill>
                  <a:srgbClr val="34495E"/>
                </a:solidFill>
                <a:latin typeface="Times New Roman" panose="02020603050405020304" pitchFamily="18" charset="0"/>
                <a:cs typeface="Times New Roman" panose="02020603050405020304" pitchFamily="18" charset="0"/>
              </a:rPr>
              <a:t>decentralised</a:t>
            </a:r>
            <a:r>
              <a:rPr lang="en-US" sz="2200" dirty="0">
                <a:solidFill>
                  <a:srgbClr val="34495E"/>
                </a:solidFill>
                <a:latin typeface="Times New Roman" panose="02020603050405020304" pitchFamily="18" charset="0"/>
                <a:cs typeface="Times New Roman" panose="02020603050405020304" pitchFamily="18" charset="0"/>
              </a:rPr>
              <a:t> and democratic than JLGs</a:t>
            </a:r>
            <a:r>
              <a:rPr lang="en-US" sz="2200" dirty="0" smtClean="0">
                <a:solidFill>
                  <a:srgbClr val="34495E"/>
                </a:solidFill>
                <a:latin typeface="Times New Roman" panose="02020603050405020304" pitchFamily="18" charset="0"/>
                <a:cs typeface="Times New Roman" panose="02020603050405020304" pitchFamily="18" charset="0"/>
              </a:rPr>
              <a:t>.</a:t>
            </a:r>
            <a:endParaRPr lang="en-US" sz="2200" dirty="0">
              <a:solidFill>
                <a:srgbClr val="34495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191039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91192" y="1039196"/>
            <a:ext cx="11463251" cy="2123658"/>
          </a:xfrm>
          <a:prstGeom prst="rect">
            <a:avLst/>
          </a:prstGeom>
        </p:spPr>
        <p:txBody>
          <a:bodyPr wrap="square">
            <a:spAutoFit/>
          </a:bodyPr>
          <a:lstStyle/>
          <a:p>
            <a:pPr algn="just">
              <a:buFont typeface="Arial" panose="020B0604020202020204" pitchFamily="34" charset="0"/>
              <a:buChar char="•"/>
            </a:pPr>
            <a:r>
              <a:rPr lang="en-US" sz="2200" dirty="0">
                <a:solidFill>
                  <a:srgbClr val="34495E"/>
                </a:solidFill>
                <a:latin typeface="Times New Roman" panose="02020603050405020304" pitchFamily="18" charset="0"/>
                <a:cs typeface="Times New Roman" panose="02020603050405020304" pitchFamily="18" charset="0"/>
              </a:rPr>
              <a:t>SHGs are self-managed and self-reliant. Hence, an MFI representative has to spend very little time over the management of the group. This implies that several groups can be managed by a single representative, resulting in low cost management. In the JLG model, the MFI’s employees are responsible for monitoring the routine operations of the group. This makes it an expensive model.</a:t>
            </a:r>
          </a:p>
          <a:p>
            <a:pPr algn="just">
              <a:buFont typeface="Arial" panose="020B0604020202020204" pitchFamily="34" charset="0"/>
              <a:buChar char="•"/>
            </a:pPr>
            <a:r>
              <a:rPr lang="en-US" sz="2200" dirty="0">
                <a:solidFill>
                  <a:srgbClr val="34495E"/>
                </a:solidFill>
                <a:latin typeface="Times New Roman" panose="02020603050405020304" pitchFamily="18" charset="0"/>
                <a:cs typeface="Times New Roman" panose="02020603050405020304" pitchFamily="18" charset="0"/>
              </a:rPr>
              <a:t>JLGs are more immune to internal and external threats as they have better protection from the supporting MFIs. However, they are less empowered in comparison to SHGs.</a:t>
            </a:r>
          </a:p>
        </p:txBody>
      </p:sp>
      <p:graphicFrame>
        <p:nvGraphicFramePr>
          <p:cNvPr id="5" name="Table 4"/>
          <p:cNvGraphicFramePr>
            <a:graphicFrameLocks noGrp="1"/>
          </p:cNvGraphicFramePr>
          <p:nvPr>
            <p:extLst>
              <p:ext uri="{D42A27DB-BD31-4B8C-83A1-F6EECF244321}">
                <p14:modId xmlns:p14="http://schemas.microsoft.com/office/powerpoint/2010/main" val="2910725202"/>
              </p:ext>
            </p:extLst>
          </p:nvPr>
        </p:nvGraphicFramePr>
        <p:xfrm>
          <a:off x="834969" y="3312599"/>
          <a:ext cx="10304086" cy="3491230"/>
        </p:xfrm>
        <a:graphic>
          <a:graphicData uri="http://schemas.openxmlformats.org/drawingml/2006/table">
            <a:tbl>
              <a:tblPr firstRow="1" bandRow="1">
                <a:tableStyleId>{5C22544A-7EE6-4342-B048-85BDC9FD1C3A}</a:tableStyleId>
              </a:tblPr>
              <a:tblGrid>
                <a:gridCol w="2682374">
                  <a:extLst>
                    <a:ext uri="{9D8B030D-6E8A-4147-A177-3AD203B41FA5}">
                      <a16:colId xmlns:a16="http://schemas.microsoft.com/office/drawing/2014/main" val="1736501174"/>
                    </a:ext>
                  </a:extLst>
                </a:gridCol>
                <a:gridCol w="3043330">
                  <a:extLst>
                    <a:ext uri="{9D8B030D-6E8A-4147-A177-3AD203B41FA5}">
                      <a16:colId xmlns:a16="http://schemas.microsoft.com/office/drawing/2014/main" val="1169452858"/>
                    </a:ext>
                  </a:extLst>
                </a:gridCol>
                <a:gridCol w="4578382">
                  <a:extLst>
                    <a:ext uri="{9D8B030D-6E8A-4147-A177-3AD203B41FA5}">
                      <a16:colId xmlns:a16="http://schemas.microsoft.com/office/drawing/2014/main" val="2753285755"/>
                    </a:ext>
                  </a:extLst>
                </a:gridCol>
              </a:tblGrid>
              <a:tr h="370840">
                <a:tc>
                  <a:txBody>
                    <a:bodyPr/>
                    <a:lstStyle/>
                    <a:p>
                      <a:pPr algn="ctr"/>
                      <a:r>
                        <a:rPr lang="en-IN" dirty="0" smtClean="0"/>
                        <a:t>Parameter</a:t>
                      </a:r>
                      <a:endParaRPr lang="en-IN" dirty="0"/>
                    </a:p>
                  </a:txBody>
                  <a:tcPr/>
                </a:tc>
                <a:tc>
                  <a:txBody>
                    <a:bodyPr/>
                    <a:lstStyle/>
                    <a:p>
                      <a:pPr algn="ctr"/>
                      <a:r>
                        <a:rPr lang="en-IN" dirty="0" smtClean="0"/>
                        <a:t>SHG Model</a:t>
                      </a:r>
                      <a:endParaRPr lang="en-IN" dirty="0"/>
                    </a:p>
                  </a:txBody>
                  <a:tcPr/>
                </a:tc>
                <a:tc>
                  <a:txBody>
                    <a:bodyPr/>
                    <a:lstStyle/>
                    <a:p>
                      <a:pPr algn="ctr"/>
                      <a:r>
                        <a:rPr lang="en-IN" dirty="0" smtClean="0"/>
                        <a:t>JLG Model</a:t>
                      </a:r>
                      <a:endParaRPr lang="en-IN" dirty="0"/>
                    </a:p>
                  </a:txBody>
                  <a:tcPr/>
                </a:tc>
                <a:extLst>
                  <a:ext uri="{0D108BD9-81ED-4DB2-BD59-A6C34878D82A}">
                    <a16:rowId xmlns:a16="http://schemas.microsoft.com/office/drawing/2014/main" val="891928324"/>
                  </a:ext>
                </a:extLst>
              </a:tr>
              <a:tr h="370840">
                <a:tc>
                  <a:txBody>
                    <a:bodyPr/>
                    <a:lstStyle/>
                    <a:p>
                      <a:pPr algn="l" fontAlgn="ctr"/>
                      <a:r>
                        <a:rPr lang="en-IN" dirty="0">
                          <a:effectLst/>
                        </a:rPr>
                        <a:t>Financial focus</a:t>
                      </a:r>
                    </a:p>
                  </a:txBody>
                  <a:tcPr marL="142875" marR="142875" marT="85725" marB="85725" anchor="ctr"/>
                </a:tc>
                <a:tc>
                  <a:txBody>
                    <a:bodyPr/>
                    <a:lstStyle/>
                    <a:p>
                      <a:pPr algn="l" fontAlgn="ctr"/>
                      <a:r>
                        <a:rPr lang="en-IN" dirty="0">
                          <a:effectLst/>
                        </a:rPr>
                        <a:t>Based on savings</a:t>
                      </a:r>
                    </a:p>
                  </a:txBody>
                  <a:tcPr marL="142875" marR="142875" marT="85725" marB="85725" anchor="ctr"/>
                </a:tc>
                <a:tc>
                  <a:txBody>
                    <a:bodyPr/>
                    <a:lstStyle/>
                    <a:p>
                      <a:pPr algn="l" fontAlgn="ctr"/>
                      <a:r>
                        <a:rPr lang="en-IN" dirty="0">
                          <a:effectLst/>
                        </a:rPr>
                        <a:t>Based on credit</a:t>
                      </a:r>
                    </a:p>
                  </a:txBody>
                  <a:tcPr marL="142875" marR="142875" marT="85725" marB="85725" anchor="ctr"/>
                </a:tc>
                <a:extLst>
                  <a:ext uri="{0D108BD9-81ED-4DB2-BD59-A6C34878D82A}">
                    <a16:rowId xmlns:a16="http://schemas.microsoft.com/office/drawing/2014/main" val="2878754222"/>
                  </a:ext>
                </a:extLst>
              </a:tr>
              <a:tr h="370840">
                <a:tc>
                  <a:txBody>
                    <a:bodyPr/>
                    <a:lstStyle/>
                    <a:p>
                      <a:pPr algn="l" fontAlgn="ctr"/>
                      <a:r>
                        <a:rPr lang="en-IN" dirty="0">
                          <a:effectLst/>
                        </a:rPr>
                        <a:t>Control and ownership</a:t>
                      </a:r>
                    </a:p>
                  </a:txBody>
                  <a:tcPr marL="142875" marR="142875" marT="85725" marB="85725" anchor="ctr"/>
                </a:tc>
                <a:tc>
                  <a:txBody>
                    <a:bodyPr/>
                    <a:lstStyle/>
                    <a:p>
                      <a:pPr algn="l" fontAlgn="ctr"/>
                      <a:r>
                        <a:rPr lang="en-IN" dirty="0">
                          <a:effectLst/>
                        </a:rPr>
                        <a:t>With members</a:t>
                      </a:r>
                    </a:p>
                  </a:txBody>
                  <a:tcPr marL="142875" marR="142875" marT="85725" marB="85725" anchor="ctr"/>
                </a:tc>
                <a:tc>
                  <a:txBody>
                    <a:bodyPr/>
                    <a:lstStyle/>
                    <a:p>
                      <a:pPr algn="l" fontAlgn="ctr"/>
                      <a:r>
                        <a:rPr lang="en-US">
                          <a:effectLst/>
                        </a:rPr>
                        <a:t>With the promoting microfinance institution</a:t>
                      </a:r>
                    </a:p>
                  </a:txBody>
                  <a:tcPr marL="142875" marR="142875" marT="85725" marB="85725" anchor="ctr"/>
                </a:tc>
                <a:extLst>
                  <a:ext uri="{0D108BD9-81ED-4DB2-BD59-A6C34878D82A}">
                    <a16:rowId xmlns:a16="http://schemas.microsoft.com/office/drawing/2014/main" val="961608062"/>
                  </a:ext>
                </a:extLst>
              </a:tr>
              <a:tr h="370840">
                <a:tc>
                  <a:txBody>
                    <a:bodyPr/>
                    <a:lstStyle/>
                    <a:p>
                      <a:pPr algn="l" fontAlgn="ctr"/>
                      <a:r>
                        <a:rPr lang="en-IN" dirty="0">
                          <a:effectLst/>
                        </a:rPr>
                        <a:t>Capacity targets</a:t>
                      </a:r>
                    </a:p>
                  </a:txBody>
                  <a:tcPr marL="142875" marR="142875" marT="85725" marB="85725" anchor="ctr"/>
                </a:tc>
                <a:tc>
                  <a:txBody>
                    <a:bodyPr/>
                    <a:lstStyle/>
                    <a:p>
                      <a:pPr algn="l" fontAlgn="ctr"/>
                      <a:r>
                        <a:rPr lang="en-IN" dirty="0">
                          <a:effectLst/>
                        </a:rPr>
                        <a:t>Builds internal capacity</a:t>
                      </a:r>
                    </a:p>
                  </a:txBody>
                  <a:tcPr marL="142875" marR="142875" marT="85725" marB="85725" anchor="ctr"/>
                </a:tc>
                <a:tc>
                  <a:txBody>
                    <a:bodyPr/>
                    <a:lstStyle/>
                    <a:p>
                      <a:pPr algn="l" fontAlgn="ctr"/>
                      <a:r>
                        <a:rPr lang="en-IN" dirty="0">
                          <a:effectLst/>
                        </a:rPr>
                        <a:t>Depends on external capacity</a:t>
                      </a:r>
                    </a:p>
                  </a:txBody>
                  <a:tcPr marL="142875" marR="142875" marT="85725" marB="85725" anchor="ctr"/>
                </a:tc>
                <a:extLst>
                  <a:ext uri="{0D108BD9-81ED-4DB2-BD59-A6C34878D82A}">
                    <a16:rowId xmlns:a16="http://schemas.microsoft.com/office/drawing/2014/main" val="1667978870"/>
                  </a:ext>
                </a:extLst>
              </a:tr>
              <a:tr h="370840">
                <a:tc>
                  <a:txBody>
                    <a:bodyPr/>
                    <a:lstStyle/>
                    <a:p>
                      <a:pPr algn="l" fontAlgn="ctr"/>
                      <a:r>
                        <a:rPr lang="en-IN">
                          <a:effectLst/>
                        </a:rPr>
                        <a:t>Functional focus</a:t>
                      </a:r>
                    </a:p>
                  </a:txBody>
                  <a:tcPr marL="142875" marR="142875" marT="85725" marB="85725" anchor="ctr"/>
                </a:tc>
                <a:tc>
                  <a:txBody>
                    <a:bodyPr/>
                    <a:lstStyle/>
                    <a:p>
                      <a:pPr algn="l" fontAlgn="ctr"/>
                      <a:r>
                        <a:rPr lang="en-IN">
                          <a:effectLst/>
                        </a:rPr>
                        <a:t>Poverty</a:t>
                      </a:r>
                    </a:p>
                  </a:txBody>
                  <a:tcPr marL="142875" marR="142875" marT="85725" marB="85725" anchor="ctr"/>
                </a:tc>
                <a:tc>
                  <a:txBody>
                    <a:bodyPr/>
                    <a:lstStyle/>
                    <a:p>
                      <a:pPr algn="l" fontAlgn="ctr"/>
                      <a:r>
                        <a:rPr lang="en-IN" dirty="0">
                          <a:effectLst/>
                        </a:rPr>
                        <a:t>Finance</a:t>
                      </a:r>
                    </a:p>
                  </a:txBody>
                  <a:tcPr marL="142875" marR="142875" marT="85725" marB="85725" anchor="ctr"/>
                </a:tc>
                <a:extLst>
                  <a:ext uri="{0D108BD9-81ED-4DB2-BD59-A6C34878D82A}">
                    <a16:rowId xmlns:a16="http://schemas.microsoft.com/office/drawing/2014/main" val="878304723"/>
                  </a:ext>
                </a:extLst>
              </a:tr>
              <a:tr h="370840">
                <a:tc>
                  <a:txBody>
                    <a:bodyPr/>
                    <a:lstStyle/>
                    <a:p>
                      <a:pPr algn="l" fontAlgn="ctr"/>
                      <a:r>
                        <a:rPr lang="en-IN" dirty="0">
                          <a:effectLst/>
                        </a:rPr>
                        <a:t>Decentralisation</a:t>
                      </a:r>
                    </a:p>
                  </a:txBody>
                  <a:tcPr marL="142875" marR="142875" marT="85725" marB="85725" anchor="ctr"/>
                </a:tc>
                <a:tc>
                  <a:txBody>
                    <a:bodyPr/>
                    <a:lstStyle/>
                    <a:p>
                      <a:pPr algn="l" fontAlgn="ctr"/>
                      <a:r>
                        <a:rPr lang="en-IN">
                          <a:effectLst/>
                        </a:rPr>
                        <a:t>High</a:t>
                      </a:r>
                    </a:p>
                  </a:txBody>
                  <a:tcPr marL="142875" marR="142875" marT="85725" marB="85725" anchor="ctr"/>
                </a:tc>
                <a:tc>
                  <a:txBody>
                    <a:bodyPr/>
                    <a:lstStyle/>
                    <a:p>
                      <a:pPr algn="l" fontAlgn="ctr"/>
                      <a:r>
                        <a:rPr lang="en-IN">
                          <a:effectLst/>
                        </a:rPr>
                        <a:t>Low</a:t>
                      </a:r>
                    </a:p>
                  </a:txBody>
                  <a:tcPr marL="142875" marR="142875" marT="85725" marB="85725" anchor="ctr"/>
                </a:tc>
                <a:extLst>
                  <a:ext uri="{0D108BD9-81ED-4DB2-BD59-A6C34878D82A}">
                    <a16:rowId xmlns:a16="http://schemas.microsoft.com/office/drawing/2014/main" val="206491886"/>
                  </a:ext>
                </a:extLst>
              </a:tr>
              <a:tr h="370840">
                <a:tc>
                  <a:txBody>
                    <a:bodyPr/>
                    <a:lstStyle/>
                    <a:p>
                      <a:pPr algn="l" fontAlgn="ctr"/>
                      <a:r>
                        <a:rPr lang="en-IN">
                          <a:effectLst/>
                        </a:rPr>
                        <a:t>Cost</a:t>
                      </a:r>
                    </a:p>
                  </a:txBody>
                  <a:tcPr marL="142875" marR="142875" marT="85725" marB="85725" anchor="ctr"/>
                </a:tc>
                <a:tc>
                  <a:txBody>
                    <a:bodyPr/>
                    <a:lstStyle/>
                    <a:p>
                      <a:pPr algn="l" fontAlgn="ctr"/>
                      <a:r>
                        <a:rPr lang="en-IN">
                          <a:effectLst/>
                        </a:rPr>
                        <a:t>Low</a:t>
                      </a:r>
                    </a:p>
                  </a:txBody>
                  <a:tcPr marL="142875" marR="142875" marT="85725" marB="85725" anchor="ctr"/>
                </a:tc>
                <a:tc>
                  <a:txBody>
                    <a:bodyPr/>
                    <a:lstStyle/>
                    <a:p>
                      <a:pPr algn="l" fontAlgn="ctr"/>
                      <a:r>
                        <a:rPr lang="en-IN">
                          <a:effectLst/>
                        </a:rPr>
                        <a:t>High</a:t>
                      </a:r>
                    </a:p>
                  </a:txBody>
                  <a:tcPr marL="142875" marR="142875" marT="85725" marB="85725" anchor="ctr"/>
                </a:tc>
                <a:extLst>
                  <a:ext uri="{0D108BD9-81ED-4DB2-BD59-A6C34878D82A}">
                    <a16:rowId xmlns:a16="http://schemas.microsoft.com/office/drawing/2014/main" val="3354834526"/>
                  </a:ext>
                </a:extLst>
              </a:tr>
              <a:tr h="370840">
                <a:tc>
                  <a:txBody>
                    <a:bodyPr/>
                    <a:lstStyle/>
                    <a:p>
                      <a:pPr algn="l" fontAlgn="ctr"/>
                      <a:r>
                        <a:rPr lang="en-IN">
                          <a:effectLst/>
                        </a:rPr>
                        <a:t>Flexibility</a:t>
                      </a:r>
                    </a:p>
                  </a:txBody>
                  <a:tcPr marL="142875" marR="142875" marT="85725" marB="85725" anchor="ctr"/>
                </a:tc>
                <a:tc>
                  <a:txBody>
                    <a:bodyPr/>
                    <a:lstStyle/>
                    <a:p>
                      <a:pPr algn="l" fontAlgn="ctr"/>
                      <a:r>
                        <a:rPr lang="en-IN">
                          <a:effectLst/>
                        </a:rPr>
                        <a:t>High</a:t>
                      </a:r>
                    </a:p>
                  </a:txBody>
                  <a:tcPr marL="142875" marR="142875" marT="85725" marB="85725" anchor="ctr"/>
                </a:tc>
                <a:tc>
                  <a:txBody>
                    <a:bodyPr/>
                    <a:lstStyle/>
                    <a:p>
                      <a:pPr algn="l" fontAlgn="ctr"/>
                      <a:r>
                        <a:rPr lang="en-IN" dirty="0">
                          <a:effectLst/>
                        </a:rPr>
                        <a:t>Low</a:t>
                      </a:r>
                    </a:p>
                  </a:txBody>
                  <a:tcPr marL="142875" marR="142875" marT="85725" marB="85725" anchor="ctr"/>
                </a:tc>
                <a:extLst>
                  <a:ext uri="{0D108BD9-81ED-4DB2-BD59-A6C34878D82A}">
                    <a16:rowId xmlns:a16="http://schemas.microsoft.com/office/drawing/2014/main" val="2844125697"/>
                  </a:ext>
                </a:extLst>
              </a:tr>
            </a:tbl>
          </a:graphicData>
        </a:graphic>
      </p:graphicFrame>
    </p:spTree>
    <p:extLst>
      <p:ext uri="{BB962C8B-B14F-4D97-AF65-F5344CB8AC3E}">
        <p14:creationId xmlns:p14="http://schemas.microsoft.com/office/powerpoint/2010/main" val="311559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 name="Rectangle 2"/>
          <p:cNvSpPr/>
          <p:nvPr/>
        </p:nvSpPr>
        <p:spPr>
          <a:xfrm>
            <a:off x="1077883" y="1319127"/>
            <a:ext cx="7542415" cy="4044056"/>
          </a:xfrm>
          <a:prstGeom prst="rect">
            <a:avLst/>
          </a:prstGeom>
        </p:spPr>
        <p:txBody>
          <a:bodyPr wrap="square">
            <a:spAutoFit/>
          </a:bodyPr>
          <a:lstStyle/>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1. </a:t>
            </a:r>
            <a:r>
              <a:rPr lang="en-IN" sz="2400" b="1" u="sng" dirty="0" err="1">
                <a:latin typeface="Times New Roman" panose="02020603050405020304" pitchFamily="18" charset="0"/>
                <a:ea typeface="Times New Roman" panose="02020603050405020304" pitchFamily="18" charset="0"/>
                <a:cs typeface="Times New Roman" panose="02020603050405020304" pitchFamily="18" charset="0"/>
                <a:hlinkClick r:id="rId2"/>
              </a:rPr>
              <a:t>Equitas</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2"/>
              </a:rPr>
              <a:t> Small Finance</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2. </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3"/>
              </a:rPr>
              <a:t>ESAF Microfinance and Investments (P) Ltd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3. </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4"/>
              </a:rPr>
              <a:t>Fusion Microfinance Pvt Ltd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4. </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5"/>
              </a:rPr>
              <a:t>Annapurna Microfinance Pvt Ltd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5. </a:t>
            </a:r>
            <a:r>
              <a:rPr lang="en-IN" sz="2400" b="1" u="sng" dirty="0" err="1">
                <a:latin typeface="Times New Roman" panose="02020603050405020304" pitchFamily="18" charset="0"/>
                <a:ea typeface="Times New Roman" panose="02020603050405020304" pitchFamily="18" charset="0"/>
                <a:cs typeface="Times New Roman" panose="02020603050405020304" pitchFamily="18" charset="0"/>
              </a:rPr>
              <a:t>Arohan</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 Financial Services Limited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6. </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6"/>
              </a:rPr>
              <a:t>BSS Microfinance Limited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7. </a:t>
            </a:r>
            <a:r>
              <a:rPr lang="en-IN" sz="2400" b="1" u="sng" dirty="0" err="1">
                <a:latin typeface="Times New Roman" panose="02020603050405020304" pitchFamily="18" charset="0"/>
                <a:ea typeface="Times New Roman" panose="02020603050405020304" pitchFamily="18" charset="0"/>
                <a:cs typeface="Times New Roman" panose="02020603050405020304" pitchFamily="18" charset="0"/>
                <a:hlinkClick r:id="rId7"/>
              </a:rPr>
              <a:t>Asirvad</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7"/>
              </a:rPr>
              <a:t> Microfinance Limited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8. </a:t>
            </a:r>
            <a:r>
              <a:rPr lang="en-IN" sz="2400" b="1" u="sng" dirty="0" err="1">
                <a:latin typeface="Times New Roman" panose="02020603050405020304" pitchFamily="18" charset="0"/>
                <a:ea typeface="Times New Roman" panose="02020603050405020304" pitchFamily="18" charset="0"/>
                <a:cs typeface="Times New Roman" panose="02020603050405020304" pitchFamily="18" charset="0"/>
                <a:hlinkClick r:id="rId8"/>
              </a:rPr>
              <a:t>Cashpor</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8"/>
              </a:rPr>
              <a:t> Micro Credit</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9. </a:t>
            </a:r>
            <a:r>
              <a:rPr lang="en-IN" sz="2400" b="1" u="sng" dirty="0" err="1">
                <a:latin typeface="Times New Roman" panose="02020603050405020304" pitchFamily="18" charset="0"/>
                <a:ea typeface="Times New Roman" panose="02020603050405020304" pitchFamily="18" charset="0"/>
                <a:cs typeface="Times New Roman" panose="02020603050405020304" pitchFamily="18" charset="0"/>
                <a:hlinkClick r:id="rId9"/>
              </a:rPr>
              <a:t>Bandhan</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hlinkClick r:id="rId9"/>
              </a:rPr>
              <a:t> Financial Services Limited</a:t>
            </a:r>
            <a:endParaRPr lang="en-IN" sz="2400" b="1"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10. </a:t>
            </a:r>
            <a:r>
              <a:rPr lang="en-IN" sz="2400" b="1" u="sng" dirty="0" err="1">
                <a:latin typeface="Times New Roman" panose="02020603050405020304" pitchFamily="18" charset="0"/>
                <a:ea typeface="Times New Roman" panose="02020603050405020304" pitchFamily="18" charset="0"/>
                <a:cs typeface="Times New Roman" panose="02020603050405020304" pitchFamily="18" charset="0"/>
              </a:rPr>
              <a:t>Fincare</a:t>
            </a:r>
            <a:r>
              <a:rPr lang="en-IN" sz="2400" b="1" u="sng" dirty="0">
                <a:latin typeface="Times New Roman" panose="02020603050405020304" pitchFamily="18" charset="0"/>
                <a:ea typeface="Times New Roman" panose="02020603050405020304" pitchFamily="18" charset="0"/>
                <a:cs typeface="Times New Roman" panose="02020603050405020304" pitchFamily="18" charset="0"/>
              </a:rPr>
              <a:t> Business Services Limited </a:t>
            </a:r>
            <a:endParaRPr lang="en-IN" sz="2400" b="1" u="sng"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p:cNvSpPr/>
          <p:nvPr/>
        </p:nvSpPr>
        <p:spPr>
          <a:xfrm>
            <a:off x="1077883" y="292100"/>
            <a:ext cx="6841681" cy="584775"/>
          </a:xfrm>
          <a:prstGeom prst="rect">
            <a:avLst/>
          </a:prstGeom>
        </p:spPr>
        <p:txBody>
          <a:bodyPr wrap="none">
            <a:spAutoFit/>
          </a:bodyPr>
          <a:lstStyle/>
          <a:p>
            <a:r>
              <a:rPr lang="en-US" sz="3200" b="1" dirty="0" smtClean="0">
                <a:solidFill>
                  <a:srgbClr val="34495E"/>
                </a:solidFill>
                <a:latin typeface="Times New Roman" panose="02020603050405020304" pitchFamily="18" charset="0"/>
                <a:cs typeface="Times New Roman" panose="02020603050405020304" pitchFamily="18" charset="0"/>
              </a:rPr>
              <a:t>Top </a:t>
            </a:r>
            <a:r>
              <a:rPr lang="en-US" sz="3200" b="1" dirty="0">
                <a:solidFill>
                  <a:srgbClr val="34495E"/>
                </a:solidFill>
                <a:latin typeface="Times New Roman" panose="02020603050405020304" pitchFamily="18" charset="0"/>
                <a:cs typeface="Times New Roman" panose="02020603050405020304" pitchFamily="18" charset="0"/>
              </a:rPr>
              <a:t>Microfinance Companies in India</a:t>
            </a:r>
            <a:endParaRPr lang="en-US" sz="3200" b="1" i="0" dirty="0">
              <a:solidFill>
                <a:srgbClr val="34495E"/>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99813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440573" y="484785"/>
            <a:ext cx="10573789" cy="2677656"/>
          </a:xfrm>
          <a:prstGeom prst="rect">
            <a:avLst/>
          </a:prstGeom>
        </p:spPr>
        <p:txBody>
          <a:bodyPr wrap="square">
            <a:spAutoFit/>
          </a:bodyPr>
          <a:lstStyle/>
          <a:p>
            <a:pPr algn="just"/>
            <a:r>
              <a:rPr lang="en-US" sz="2400" b="1" dirty="0">
                <a:solidFill>
                  <a:srgbClr val="0070C0"/>
                </a:solidFill>
                <a:latin typeface="Times New Roman" panose="02020603050405020304" pitchFamily="18" charset="0"/>
                <a:cs typeface="Times New Roman" panose="02020603050405020304" pitchFamily="18" charset="0"/>
              </a:rPr>
              <a:t>Regulations for </a:t>
            </a:r>
            <a:r>
              <a:rPr lang="en-US" sz="2400" b="1" dirty="0" smtClean="0">
                <a:solidFill>
                  <a:srgbClr val="0070C0"/>
                </a:solidFill>
                <a:latin typeface="Times New Roman" panose="02020603050405020304" pitchFamily="18" charset="0"/>
                <a:cs typeface="Times New Roman" panose="02020603050405020304" pitchFamily="18" charset="0"/>
              </a:rPr>
              <a:t>MFIs</a:t>
            </a:r>
          </a:p>
          <a:p>
            <a:pPr algn="just"/>
            <a:endParaRPr lang="en-US" sz="2400" b="1" dirty="0">
              <a:solidFill>
                <a:srgbClr val="34495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regulations pertaining to MFIs are usually based on their statuses. </a:t>
            </a:r>
            <a:endParaRPr lang="en-US" sz="24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microfinance bank will be required to adhere to all banking regulations like traditional banks. </a:t>
            </a:r>
            <a:endParaRPr lang="en-US" sz="24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Cooperatives </a:t>
            </a:r>
            <a:r>
              <a:rPr lang="en-US" sz="2400" dirty="0">
                <a:latin typeface="Times New Roman" panose="02020603050405020304" pitchFamily="18" charset="0"/>
                <a:cs typeface="Times New Roman" panose="02020603050405020304" pitchFamily="18" charset="0"/>
              </a:rPr>
              <a:t>and NGOs will not be expected to comply with the same regulations. However, they may be regulated by similar oversight authorities.</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03489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5" name="Rectangle 4"/>
          <p:cNvSpPr/>
          <p:nvPr/>
        </p:nvSpPr>
        <p:spPr>
          <a:xfrm>
            <a:off x="282633" y="376856"/>
            <a:ext cx="10964487" cy="3108543"/>
          </a:xfrm>
          <a:prstGeom prst="rect">
            <a:avLst/>
          </a:prstGeom>
        </p:spPr>
        <p:txBody>
          <a:bodyPr wrap="square">
            <a:spAutoFit/>
          </a:bodyPr>
          <a:lstStyle/>
          <a:p>
            <a:r>
              <a:rPr lang="en-US" sz="2800" b="1" dirty="0">
                <a:solidFill>
                  <a:srgbClr val="0070C0"/>
                </a:solidFill>
                <a:latin typeface="Times New Roman" panose="02020603050405020304" pitchFamily="18" charset="0"/>
                <a:cs typeface="Times New Roman" panose="02020603050405020304" pitchFamily="18" charset="0"/>
              </a:rPr>
              <a:t>Traditional Banks versus Microfinance </a:t>
            </a:r>
            <a:r>
              <a:rPr lang="en-US" sz="2800" b="1" dirty="0" smtClean="0">
                <a:solidFill>
                  <a:srgbClr val="0070C0"/>
                </a:solidFill>
                <a:latin typeface="Times New Roman" panose="02020603050405020304" pitchFamily="18" charset="0"/>
                <a:cs typeface="Times New Roman" panose="02020603050405020304" pitchFamily="18" charset="0"/>
              </a:rPr>
              <a:t>Institutions</a:t>
            </a:r>
          </a:p>
          <a:p>
            <a:endParaRPr lang="en-US" sz="2400" b="1" dirty="0">
              <a:solidFill>
                <a:srgbClr val="0070C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MFIs, more often than not, function on a unique operating model when compared to traditional lending institutions.</a:t>
            </a:r>
          </a:p>
          <a:p>
            <a:pPr algn="just">
              <a:buFont typeface="Arial" panose="020B0604020202020204" pitchFamily="34" charset="0"/>
              <a:buChar char="•"/>
            </a:pPr>
            <a:r>
              <a:rPr lang="en-US" sz="2400" dirty="0" smtClean="0">
                <a:solidFill>
                  <a:srgbClr val="00B0F0"/>
                </a:solidFill>
                <a:latin typeface="Times New Roman" panose="02020603050405020304" pitchFamily="18" charset="0"/>
                <a:cs typeface="Times New Roman" panose="02020603050405020304" pitchFamily="18" charset="0"/>
              </a:rPr>
              <a:t> Evaluation </a:t>
            </a:r>
            <a:r>
              <a:rPr lang="en-US" sz="2400" dirty="0">
                <a:solidFill>
                  <a:srgbClr val="00B0F0"/>
                </a:solidFill>
                <a:latin typeface="Times New Roman" panose="02020603050405020304" pitchFamily="18" charset="0"/>
                <a:cs typeface="Times New Roman" panose="02020603050405020304" pitchFamily="18" charset="0"/>
              </a:rPr>
              <a:t>of eligibility </a:t>
            </a:r>
            <a:r>
              <a:rPr lang="en-US" sz="2400" dirty="0">
                <a:latin typeface="Times New Roman" panose="02020603050405020304" pitchFamily="18" charset="0"/>
                <a:cs typeface="Times New Roman" panose="02020603050405020304" pitchFamily="18" charset="0"/>
              </a:rPr>
              <a:t>- When loans are provided by microfinance institutions, the </a:t>
            </a:r>
            <a:r>
              <a:rPr lang="en-US" sz="2400" dirty="0">
                <a:solidFill>
                  <a:srgbClr val="FF0000"/>
                </a:solidFill>
                <a:latin typeface="Times New Roman" panose="02020603050405020304" pitchFamily="18" charset="0"/>
                <a:cs typeface="Times New Roman" panose="02020603050405020304" pitchFamily="18" charset="0"/>
              </a:rPr>
              <a:t>eligibility of a borrower </a:t>
            </a:r>
            <a:r>
              <a:rPr lang="en-US" sz="2400" dirty="0">
                <a:latin typeface="Times New Roman" panose="02020603050405020304" pitchFamily="18" charset="0"/>
                <a:cs typeface="Times New Roman" panose="02020603050405020304" pitchFamily="18" charset="0"/>
              </a:rPr>
              <a:t>is not </a:t>
            </a:r>
            <a:r>
              <a:rPr lang="en-US" sz="2400" dirty="0" smtClean="0">
                <a:latin typeface="Times New Roman" panose="02020603050405020304" pitchFamily="18" charset="0"/>
                <a:cs typeface="Times New Roman" panose="02020603050405020304" pitchFamily="18" charset="0"/>
              </a:rPr>
              <a:t>scrutinized </a:t>
            </a:r>
            <a:r>
              <a:rPr lang="en-US" sz="2400" dirty="0">
                <a:latin typeface="Times New Roman" panose="02020603050405020304" pitchFamily="18" charset="0"/>
                <a:cs typeface="Times New Roman" panose="02020603050405020304" pitchFamily="18" charset="0"/>
              </a:rPr>
              <a:t>on the bases of </a:t>
            </a:r>
            <a:r>
              <a:rPr lang="en-US" sz="2400" dirty="0" smtClean="0">
                <a:solidFill>
                  <a:srgbClr val="FF0000"/>
                </a:solidFill>
                <a:latin typeface="Times New Roman" panose="02020603050405020304" pitchFamily="18" charset="0"/>
                <a:cs typeface="Times New Roman" panose="02020603050405020304" pitchFamily="18" charset="0"/>
              </a:rPr>
              <a:t>strong </a:t>
            </a:r>
            <a:r>
              <a:rPr lang="en-US" sz="2400" dirty="0">
                <a:solidFill>
                  <a:srgbClr val="FF0000"/>
                </a:solidFill>
                <a:latin typeface="Times New Roman" panose="02020603050405020304" pitchFamily="18" charset="0"/>
                <a:cs typeface="Times New Roman" panose="02020603050405020304" pitchFamily="18" charset="0"/>
              </a:rPr>
              <a:t>financial guarantees </a:t>
            </a:r>
            <a:r>
              <a:rPr lang="en-US" sz="2400" dirty="0">
                <a:latin typeface="Times New Roman" panose="02020603050405020304" pitchFamily="18" charset="0"/>
                <a:cs typeface="Times New Roman" panose="02020603050405020304" pitchFamily="18" charset="0"/>
              </a:rPr>
              <a:t>like traditional loans. Mainstream banks assess the salary and assets of a loan applicant before granting the loan. Microfinance banks rely more on the “</a:t>
            </a:r>
            <a:r>
              <a:rPr lang="en-US" sz="2400" dirty="0">
                <a:solidFill>
                  <a:srgbClr val="FF0000"/>
                </a:solidFill>
                <a:latin typeface="Times New Roman" panose="02020603050405020304" pitchFamily="18" charset="0"/>
                <a:cs typeface="Times New Roman" panose="02020603050405020304" pitchFamily="18" charset="0"/>
              </a:rPr>
              <a:t>human</a:t>
            </a:r>
            <a:r>
              <a:rPr lang="en-US" sz="2400" dirty="0">
                <a:latin typeface="Times New Roman" panose="02020603050405020304" pitchFamily="18" charset="0"/>
                <a:cs typeface="Times New Roman" panose="02020603050405020304" pitchFamily="18" charset="0"/>
              </a:rPr>
              <a:t>” criteria instead.</a:t>
            </a:r>
            <a:endParaRPr lang="en-US" sz="2400" b="0" i="0" dirty="0">
              <a:effectLst/>
              <a:latin typeface="Times New Roman" panose="02020603050405020304" pitchFamily="18" charset="0"/>
              <a:cs typeface="Times New Roman" panose="02020603050405020304" pitchFamily="18" charset="0"/>
            </a:endParaRPr>
          </a:p>
        </p:txBody>
      </p:sp>
      <p:sp>
        <p:nvSpPr>
          <p:cNvPr id="6" name="Rectangle 5"/>
          <p:cNvSpPr/>
          <p:nvPr/>
        </p:nvSpPr>
        <p:spPr>
          <a:xfrm>
            <a:off x="207819" y="3573473"/>
            <a:ext cx="11421687" cy="3046988"/>
          </a:xfrm>
          <a:prstGeom prst="rect">
            <a:avLst/>
          </a:prstGeom>
        </p:spPr>
        <p:txBody>
          <a:bodyPr wrap="square">
            <a:spAutoFit/>
          </a:bodyPr>
          <a:lstStyle/>
          <a:p>
            <a:pPr algn="just"/>
            <a:r>
              <a:rPr lang="en-US" sz="2400" dirty="0">
                <a:solidFill>
                  <a:srgbClr val="34495E"/>
                </a:solidFill>
                <a:latin typeface="Times New Roman" panose="02020603050405020304" pitchFamily="18" charset="0"/>
                <a:cs typeface="Times New Roman" panose="02020603050405020304" pitchFamily="18" charset="0"/>
              </a:rPr>
              <a:t>If the loan helps in the setup of a new activity that brings income to the borrower, the chances of it being sanctioned are high. The viability evaluation of the loan will include talks with the borrower, and not just the review of the loan application form</a:t>
            </a:r>
            <a:r>
              <a:rPr lang="en-US" sz="2400" dirty="0" smtClean="0">
                <a:solidFill>
                  <a:srgbClr val="34495E"/>
                </a:solidFill>
                <a:latin typeface="Times New Roman" panose="02020603050405020304" pitchFamily="18" charset="0"/>
                <a:cs typeface="Times New Roman" panose="02020603050405020304" pitchFamily="18" charset="0"/>
              </a:rPr>
              <a:t>.</a:t>
            </a:r>
          </a:p>
          <a:p>
            <a:pPr algn="just"/>
            <a:endParaRPr lang="en-US" sz="2400" dirty="0">
              <a:solidFill>
                <a:srgbClr val="34495E"/>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smtClean="0">
                <a:solidFill>
                  <a:srgbClr val="00B0F0"/>
                </a:solidFill>
                <a:latin typeface="Times New Roman" panose="02020603050405020304" pitchFamily="18" charset="0"/>
                <a:cs typeface="Times New Roman" panose="02020603050405020304" pitchFamily="18" charset="0"/>
              </a:rPr>
              <a:t> Group </a:t>
            </a:r>
            <a:r>
              <a:rPr lang="en-US" sz="2400" dirty="0">
                <a:solidFill>
                  <a:srgbClr val="00B0F0"/>
                </a:solidFill>
                <a:latin typeface="Times New Roman" panose="02020603050405020304" pitchFamily="18" charset="0"/>
                <a:cs typeface="Times New Roman" panose="02020603050405020304" pitchFamily="18" charset="0"/>
              </a:rPr>
              <a:t>solidarity as guarantee </a:t>
            </a:r>
            <a:r>
              <a:rPr lang="en-US" sz="2400" dirty="0">
                <a:solidFill>
                  <a:srgbClr val="34495E"/>
                </a:solidFill>
                <a:latin typeface="Times New Roman" panose="02020603050405020304" pitchFamily="18" charset="0"/>
                <a:cs typeface="Times New Roman" panose="02020603050405020304" pitchFamily="18" charset="0"/>
              </a:rPr>
              <a:t>- While traditional banks consider hypothecation as guarantee for some loans, MFIs replace this practice with a group solidarity mechanism. For instance, when investing in mutual funds, each borrower serves as a guarantor for each of the other members in the group. Self-help groups are examples of the same</a:t>
            </a:r>
            <a:r>
              <a:rPr lang="en-US" sz="2400" dirty="0" smtClean="0">
                <a:solidFill>
                  <a:srgbClr val="34495E"/>
                </a:solidFill>
                <a:latin typeface="Times New Roman" panose="02020603050405020304" pitchFamily="18" charset="0"/>
                <a:cs typeface="Times New Roman" panose="02020603050405020304" pitchFamily="18" charset="0"/>
              </a:rPr>
              <a:t>.</a:t>
            </a:r>
            <a:endParaRPr lang="en-US" sz="2400" dirty="0">
              <a:solidFill>
                <a:srgbClr val="34495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3159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473825" y="1166843"/>
            <a:ext cx="11213870" cy="4893647"/>
          </a:xfrm>
          <a:prstGeom prst="rect">
            <a:avLst/>
          </a:prstGeom>
        </p:spPr>
        <p:txBody>
          <a:bodyPr wrap="square">
            <a:spAutoFit/>
          </a:bodyPr>
          <a:lstStyle/>
          <a:p>
            <a:pPr algn="just">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Training </a:t>
            </a:r>
            <a:r>
              <a:rPr lang="en-US" sz="2400" dirty="0" err="1">
                <a:solidFill>
                  <a:srgbClr val="00B0F0"/>
                </a:solidFill>
                <a:latin typeface="Times New Roman" panose="02020603050405020304" pitchFamily="18" charset="0"/>
                <a:cs typeface="Times New Roman" panose="02020603050405020304" pitchFamily="18" charset="0"/>
              </a:rPr>
              <a:t>programmes</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Unlike traditional banks, MFIs are liable to building bonds with the beneficiaries of microloans. They also offer strong support to the borrowers. Since the motive is to help borrowers succeed in their projects, MFIs also undertake training </a:t>
            </a:r>
            <a:r>
              <a:rPr lang="en-US" sz="2400" dirty="0" err="1">
                <a:latin typeface="Times New Roman" panose="02020603050405020304" pitchFamily="18" charset="0"/>
                <a:cs typeface="Times New Roman" panose="02020603050405020304" pitchFamily="18" charset="0"/>
              </a:rPr>
              <a:t>programmes</a:t>
            </a:r>
            <a:r>
              <a:rPr lang="en-US" sz="2400" dirty="0">
                <a:latin typeface="Times New Roman" panose="02020603050405020304" pitchFamily="18" charset="0"/>
                <a:cs typeface="Times New Roman" panose="02020603050405020304" pitchFamily="18" charset="0"/>
              </a:rPr>
              <a:t> that focus primarily on educating beneficiaries on the budgeting of projects</a:t>
            </a:r>
            <a:r>
              <a:rPr lang="en-US" sz="24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smtClean="0">
                <a:solidFill>
                  <a:srgbClr val="00B0F0"/>
                </a:solidFill>
                <a:latin typeface="Times New Roman" panose="02020603050405020304" pitchFamily="18" charset="0"/>
                <a:cs typeface="Times New Roman" panose="02020603050405020304" pitchFamily="18" charset="0"/>
              </a:rPr>
              <a:t> Flexible </a:t>
            </a:r>
            <a:r>
              <a:rPr lang="en-US" sz="2400" dirty="0">
                <a:solidFill>
                  <a:srgbClr val="00B0F0"/>
                </a:solidFill>
                <a:latin typeface="Times New Roman" panose="02020603050405020304" pitchFamily="18" charset="0"/>
                <a:cs typeface="Times New Roman" panose="02020603050405020304" pitchFamily="18" charset="0"/>
              </a:rPr>
              <a:t>repayment schedules </a:t>
            </a:r>
            <a:r>
              <a:rPr lang="en-US" sz="2400" dirty="0">
                <a:latin typeface="Times New Roman" panose="02020603050405020304" pitchFamily="18" charset="0"/>
                <a:cs typeface="Times New Roman" panose="02020603050405020304" pitchFamily="18" charset="0"/>
              </a:rPr>
              <a:t>– MFIs usually configure the repayment method for microloans in such a way that is suits the financial capabilities of the target customer base. Thus, there are MFIs that are likely to provide loans with weekly repayment dates, unlike traditional banks</a:t>
            </a:r>
            <a:r>
              <a:rPr lang="en-US" sz="24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smtClean="0">
                <a:solidFill>
                  <a:srgbClr val="00B0F0"/>
                </a:solidFill>
                <a:latin typeface="Times New Roman" panose="02020603050405020304" pitchFamily="18" charset="0"/>
                <a:cs typeface="Times New Roman" panose="02020603050405020304" pitchFamily="18" charset="0"/>
              </a:rPr>
              <a:t> Flexible </a:t>
            </a:r>
            <a:r>
              <a:rPr lang="en-US" sz="2400" dirty="0">
                <a:solidFill>
                  <a:srgbClr val="00B0F0"/>
                </a:solidFill>
                <a:latin typeface="Times New Roman" panose="02020603050405020304" pitchFamily="18" charset="0"/>
                <a:cs typeface="Times New Roman" panose="02020603050405020304" pitchFamily="18" charset="0"/>
              </a:rPr>
              <a:t>credit schemes </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Micro lending </a:t>
            </a:r>
            <a:r>
              <a:rPr lang="en-US" sz="2400" dirty="0">
                <a:latin typeface="Times New Roman" panose="02020603050405020304" pitchFamily="18" charset="0"/>
                <a:cs typeface="Times New Roman" panose="02020603050405020304" pitchFamily="18" charset="0"/>
              </a:rPr>
              <a:t>has products that are usually adapted to suit the repayment capabilities of borrowers. This is one of the main differences between a traditional lender and an MFI.</a:t>
            </a:r>
          </a:p>
        </p:txBody>
      </p:sp>
    </p:spTree>
    <p:extLst>
      <p:ext uri="{BB962C8B-B14F-4D97-AF65-F5344CB8AC3E}">
        <p14:creationId xmlns:p14="http://schemas.microsoft.com/office/powerpoint/2010/main" val="360144342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232755" y="415605"/>
            <a:ext cx="10623665" cy="3046988"/>
          </a:xfrm>
          <a:prstGeom prst="rect">
            <a:avLst/>
          </a:prstGeom>
        </p:spPr>
        <p:txBody>
          <a:bodyPr wrap="square">
            <a:spAutoFit/>
          </a:bodyPr>
          <a:lstStyle/>
          <a:p>
            <a:pPr algn="just"/>
            <a:r>
              <a:rPr lang="en-US" sz="2400" b="1" dirty="0">
                <a:solidFill>
                  <a:srgbClr val="0070C0"/>
                </a:solidFill>
                <a:latin typeface="Times New Roman" panose="02020603050405020304" pitchFamily="18" charset="0"/>
                <a:cs typeface="Times New Roman" panose="02020603050405020304" pitchFamily="18" charset="0"/>
              </a:rPr>
              <a:t>Process of Granting </a:t>
            </a:r>
            <a:r>
              <a:rPr lang="en-US" sz="2400" b="1" dirty="0" smtClean="0">
                <a:solidFill>
                  <a:srgbClr val="0070C0"/>
                </a:solidFill>
                <a:latin typeface="Times New Roman" panose="02020603050405020304" pitchFamily="18" charset="0"/>
                <a:cs typeface="Times New Roman" panose="02020603050405020304" pitchFamily="18" charset="0"/>
              </a:rPr>
              <a:t>Microloans</a:t>
            </a: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Through the group solidarity mechanism, MFIs instill a sense of mutual confidence within the borrowers.</a:t>
            </a:r>
          </a:p>
          <a:p>
            <a:pPr algn="just"/>
            <a:r>
              <a:rPr lang="en-US" sz="2400" dirty="0">
                <a:latin typeface="Times New Roman" panose="02020603050405020304" pitchFamily="18" charset="0"/>
                <a:cs typeface="Times New Roman" panose="02020603050405020304" pitchFamily="18" charset="0"/>
              </a:rPr>
              <a:t>Before the microloan is sanctioned, a committee examines the requests and evaluates the borrower’s capability to repay. T</a:t>
            </a:r>
            <a:r>
              <a:rPr lang="en-US" sz="2400" dirty="0" smtClean="0">
                <a:latin typeface="Times New Roman" panose="02020603050405020304" pitchFamily="18" charset="0"/>
                <a:cs typeface="Times New Roman" panose="02020603050405020304" pitchFamily="18" charset="0"/>
              </a:rPr>
              <a:t>his </a:t>
            </a:r>
            <a:r>
              <a:rPr lang="en-US" sz="2400" dirty="0">
                <a:latin typeface="Times New Roman" panose="02020603050405020304" pitchFamily="18" charset="0"/>
                <a:cs typeface="Times New Roman" panose="02020603050405020304" pitchFamily="18" charset="0"/>
              </a:rPr>
              <a:t>is primarily based on social and human criteria such as experience in the field, competence, and motivation. The viability of the project is also considered.</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15955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260466" y="230460"/>
            <a:ext cx="11155680" cy="5755422"/>
          </a:xfrm>
          <a:prstGeom prst="rect">
            <a:avLst/>
          </a:prstGeom>
        </p:spPr>
        <p:txBody>
          <a:bodyPr wrap="square">
            <a:spAutoFit/>
          </a:bodyPr>
          <a:lstStyle/>
          <a:p>
            <a:r>
              <a:rPr lang="en-US" sz="2800" b="1" dirty="0">
                <a:solidFill>
                  <a:srgbClr val="0070C0"/>
                </a:solidFill>
                <a:latin typeface="Times New Roman" panose="02020603050405020304" pitchFamily="18" charset="0"/>
                <a:cs typeface="Times New Roman" panose="02020603050405020304" pitchFamily="18" charset="0"/>
              </a:rPr>
              <a:t>How are MFIs Funded</a:t>
            </a:r>
            <a:r>
              <a:rPr lang="en-US" sz="2800" b="1" dirty="0" smtClean="0">
                <a:solidFill>
                  <a:srgbClr val="0070C0"/>
                </a:solidFill>
                <a:latin typeface="Times New Roman" panose="02020603050405020304" pitchFamily="18" charset="0"/>
                <a:cs typeface="Times New Roman" panose="02020603050405020304" pitchFamily="18" charset="0"/>
              </a:rPr>
              <a:t>?</a:t>
            </a:r>
          </a:p>
          <a:p>
            <a:endParaRPr lang="en-US" sz="28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Microfinance Institutions get funding from several sources, such as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Member and customer deposits </a:t>
            </a:r>
            <a:r>
              <a:rPr lang="en-US" sz="2400" dirty="0">
                <a:latin typeface="Times New Roman" panose="02020603050405020304" pitchFamily="18" charset="0"/>
                <a:cs typeface="Times New Roman" panose="02020603050405020304" pitchFamily="18" charset="0"/>
              </a:rPr>
              <a:t>– This is applicable to MFIs that are </a:t>
            </a:r>
            <a:r>
              <a:rPr lang="en-US" sz="2400" dirty="0" err="1">
                <a:latin typeface="Times New Roman" panose="02020603050405020304" pitchFamily="18" charset="0"/>
                <a:cs typeface="Times New Roman" panose="02020603050405020304" pitchFamily="18" charset="0"/>
              </a:rPr>
              <a:t>organised</a:t>
            </a:r>
            <a:r>
              <a:rPr lang="en-US" sz="2400" dirty="0">
                <a:latin typeface="Times New Roman" panose="02020603050405020304" pitchFamily="18" charset="0"/>
                <a:cs typeface="Times New Roman" panose="02020603050405020304" pitchFamily="18" charset="0"/>
              </a:rPr>
              <a:t> as mutual funds, cooperatives, and microfinance banks offering savings products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Subsidies and grants </a:t>
            </a:r>
            <a:r>
              <a:rPr lang="en-US" sz="2400" dirty="0">
                <a:latin typeface="Times New Roman" panose="02020603050405020304" pitchFamily="18" charset="0"/>
                <a:cs typeface="Times New Roman" panose="02020603050405020304" pitchFamily="18" charset="0"/>
              </a:rPr>
              <a:t>– Grants are more prominent when the MFI is just being set up</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Own capital </a:t>
            </a:r>
            <a:r>
              <a:rPr lang="en-US" sz="2400" dirty="0">
                <a:latin typeface="Times New Roman" panose="02020603050405020304" pitchFamily="18" charset="0"/>
                <a:cs typeface="Times New Roman" panose="02020603050405020304" pitchFamily="18" charset="0"/>
              </a:rPr>
              <a:t>– The microfinance institution’s own finance/capital accounts for a part of the funding extended to borrowers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Loans from partner banks </a:t>
            </a:r>
            <a:r>
              <a:rPr lang="en-US" sz="2400" dirty="0">
                <a:latin typeface="Times New Roman" panose="02020603050405020304" pitchFamily="18" charset="0"/>
                <a:cs typeface="Times New Roman" panose="02020603050405020304" pitchFamily="18" charset="0"/>
              </a:rPr>
              <a:t>– This is the primary source of funding for an MFI.</a:t>
            </a:r>
          </a:p>
          <a:p>
            <a:pPr>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Funding received from public investors </a:t>
            </a:r>
            <a:r>
              <a:rPr lang="en-US" sz="2400" dirty="0">
                <a:latin typeface="Times New Roman" panose="02020603050405020304" pitchFamily="18" charset="0"/>
                <a:cs typeface="Times New Roman" panose="02020603050405020304" pitchFamily="18" charset="0"/>
              </a:rPr>
              <a:t>– Bilateral or multilateral </a:t>
            </a:r>
            <a:r>
              <a:rPr lang="en-US" sz="2400" dirty="0" err="1">
                <a:latin typeface="Times New Roman" panose="02020603050405020304" pitchFamily="18" charset="0"/>
                <a:cs typeface="Times New Roman" panose="02020603050405020304" pitchFamily="18" charset="0"/>
              </a:rPr>
              <a:t>organisations</a:t>
            </a:r>
            <a:r>
              <a:rPr lang="en-US" sz="2400" dirty="0">
                <a:latin typeface="Times New Roman" panose="02020603050405020304" pitchFamily="18" charset="0"/>
                <a:cs typeface="Times New Roman" panose="02020603050405020304" pitchFamily="18" charset="0"/>
              </a:rPr>
              <a:t> offer funds to MFIs. This is a source of long-term funding for the MFI.</a:t>
            </a:r>
          </a:p>
          <a:p>
            <a:pPr>
              <a:buFont typeface="Arial" panose="020B0604020202020204" pitchFamily="34" charset="0"/>
              <a:buChar char="•"/>
            </a:pPr>
            <a:r>
              <a:rPr lang="en-US" sz="2400" dirty="0">
                <a:solidFill>
                  <a:srgbClr val="00B0F0"/>
                </a:solidFill>
                <a:latin typeface="Times New Roman" panose="02020603050405020304" pitchFamily="18" charset="0"/>
                <a:cs typeface="Times New Roman" panose="02020603050405020304" pitchFamily="18" charset="0"/>
              </a:rPr>
              <a:t>Funding received from private investors </a:t>
            </a:r>
            <a:r>
              <a:rPr lang="en-US" sz="2400" dirty="0">
                <a:latin typeface="Times New Roman" panose="02020603050405020304" pitchFamily="18" charset="0"/>
                <a:cs typeface="Times New Roman" panose="02020603050405020304" pitchFamily="18" charset="0"/>
              </a:rPr>
              <a:t>– These funds are supplied directly to the MFI or through investment funds that </a:t>
            </a:r>
            <a:r>
              <a:rPr lang="en-US" sz="2400" dirty="0" err="1">
                <a:latin typeface="Times New Roman" panose="02020603050405020304" pitchFamily="18" charset="0"/>
                <a:cs typeface="Times New Roman" panose="02020603050405020304" pitchFamily="18" charset="0"/>
              </a:rPr>
              <a:t>specialise</a:t>
            </a:r>
            <a:r>
              <a:rPr lang="en-US" sz="2400" dirty="0">
                <a:latin typeface="Times New Roman" panose="02020603050405020304" pitchFamily="18" charset="0"/>
                <a:cs typeface="Times New Roman" panose="02020603050405020304" pitchFamily="18" charset="0"/>
              </a:rPr>
              <a:t> in microfinance. This is also a source of long-term funding for the MFI.</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5218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216132" y="328085"/>
            <a:ext cx="11205556" cy="5755422"/>
          </a:xfrm>
          <a:prstGeom prst="rect">
            <a:avLst/>
          </a:prstGeom>
        </p:spPr>
        <p:txBody>
          <a:bodyPr wrap="square">
            <a:spAutoFit/>
          </a:bodyPr>
          <a:lstStyle/>
          <a:p>
            <a:pPr algn="just"/>
            <a:r>
              <a:rPr lang="en-US" sz="3200" b="1" dirty="0">
                <a:solidFill>
                  <a:srgbClr val="0070C0"/>
                </a:solidFill>
                <a:latin typeface="Times New Roman" panose="02020603050405020304" pitchFamily="18" charset="0"/>
                <a:cs typeface="Times New Roman" panose="02020603050405020304" pitchFamily="18" charset="0"/>
              </a:rPr>
              <a:t>Challenges Faced by MFIs in </a:t>
            </a:r>
            <a:r>
              <a:rPr lang="en-US" sz="3200" b="1" dirty="0" smtClean="0">
                <a:solidFill>
                  <a:srgbClr val="0070C0"/>
                </a:solidFill>
                <a:latin typeface="Times New Roman" panose="02020603050405020304" pitchFamily="18" charset="0"/>
                <a:cs typeface="Times New Roman" panose="02020603050405020304" pitchFamily="18" charset="0"/>
              </a:rPr>
              <a:t>India</a:t>
            </a:r>
          </a:p>
          <a:p>
            <a:pPr algn="just"/>
            <a:endParaRPr lang="en-US" sz="2400" b="1" dirty="0">
              <a:solidFill>
                <a:srgbClr val="34495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34495E"/>
                </a:solidFill>
                <a:latin typeface="Times New Roman" panose="02020603050405020304" pitchFamily="18" charset="0"/>
                <a:cs typeface="Times New Roman" panose="02020603050405020304" pitchFamily="18" charset="0"/>
              </a:rPr>
              <a:t>Although microfinance institutions have been profitable in India, there have been regulations and populist politics that have proved to be </a:t>
            </a:r>
            <a:r>
              <a:rPr lang="en-US" sz="2400" dirty="0" err="1">
                <a:solidFill>
                  <a:srgbClr val="34495E"/>
                </a:solidFill>
                <a:latin typeface="Times New Roman" panose="02020603050405020304" pitchFamily="18" charset="0"/>
                <a:cs typeface="Times New Roman" panose="02020603050405020304" pitchFamily="18" charset="0"/>
              </a:rPr>
              <a:t>unfavourable</a:t>
            </a:r>
            <a:r>
              <a:rPr lang="en-US" sz="2400" dirty="0">
                <a:solidFill>
                  <a:srgbClr val="34495E"/>
                </a:solidFill>
                <a:latin typeface="Times New Roman" panose="02020603050405020304" pitchFamily="18" charset="0"/>
                <a:cs typeface="Times New Roman" panose="02020603050405020304" pitchFamily="18" charset="0"/>
              </a:rPr>
              <a:t> to them. The small size of these institutions imply that they will be affected by small adverse developments resulting in fragile finances</a:t>
            </a:r>
            <a:r>
              <a:rPr lang="en-US" sz="2400" dirty="0" smtClean="0">
                <a:solidFill>
                  <a:srgbClr val="34495E"/>
                </a:solidFill>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US" sz="2400" dirty="0">
              <a:solidFill>
                <a:srgbClr val="34495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34495E"/>
                </a:solidFill>
                <a:latin typeface="Times New Roman" panose="02020603050405020304" pitchFamily="18" charset="0"/>
                <a:cs typeface="Times New Roman" panose="02020603050405020304" pitchFamily="18" charset="0"/>
              </a:rPr>
              <a:t>Banks usually have multiple products and an assured deposit structure. On the other hand, micro lending institutions are highly dependent on the market for funding. This means that at the smallest of events affecting business, MFIs could find it difficult to procure financing</a:t>
            </a:r>
            <a:r>
              <a:rPr lang="en-US" sz="2400" dirty="0" smtClean="0">
                <a:solidFill>
                  <a:srgbClr val="34495E"/>
                </a:solidFill>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US" sz="2400" dirty="0">
              <a:solidFill>
                <a:srgbClr val="34495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34495E"/>
                </a:solidFill>
                <a:latin typeface="Times New Roman" panose="02020603050405020304" pitchFamily="18" charset="0"/>
                <a:cs typeface="Times New Roman" panose="02020603050405020304" pitchFamily="18" charset="0"/>
              </a:rPr>
              <a:t>Additionally, banks today have a presence in the </a:t>
            </a:r>
            <a:r>
              <a:rPr lang="en-US" sz="2400" dirty="0" smtClean="0">
                <a:solidFill>
                  <a:srgbClr val="34495E"/>
                </a:solidFill>
                <a:latin typeface="Times New Roman" panose="02020603050405020304" pitchFamily="18" charset="0"/>
                <a:cs typeface="Times New Roman" panose="02020603050405020304" pitchFamily="18" charset="0"/>
              </a:rPr>
              <a:t>micro lending </a:t>
            </a:r>
            <a:r>
              <a:rPr lang="en-US" sz="2400" dirty="0">
                <a:solidFill>
                  <a:srgbClr val="34495E"/>
                </a:solidFill>
                <a:latin typeface="Times New Roman" panose="02020603050405020304" pitchFamily="18" charset="0"/>
                <a:cs typeface="Times New Roman" panose="02020603050405020304" pitchFamily="18" charset="0"/>
              </a:rPr>
              <a:t>space and they are also partnering with MFIs through strategic stakes. MFIs are also finding it difficult to grow independently without any support from anchor investors</a:t>
            </a:r>
            <a:r>
              <a:rPr lang="en-US" sz="2400" dirty="0" smtClean="0">
                <a:solidFill>
                  <a:srgbClr val="34495E"/>
                </a:solidFill>
                <a:latin typeface="Times New Roman" panose="02020603050405020304" pitchFamily="18" charset="0"/>
                <a:cs typeface="Times New Roman" panose="02020603050405020304" pitchFamily="18" charset="0"/>
              </a:rPr>
              <a:t>.</a:t>
            </a:r>
            <a:endParaRPr lang="en-US" sz="2400" dirty="0">
              <a:solidFill>
                <a:srgbClr val="34495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16567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598515" y="1305342"/>
            <a:ext cx="11213869" cy="4893647"/>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34495E"/>
                </a:solidFill>
                <a:latin typeface="Times New Roman" panose="02020603050405020304" pitchFamily="18" charset="0"/>
                <a:cs typeface="Times New Roman" panose="02020603050405020304" pitchFamily="18" charset="0"/>
              </a:rPr>
              <a:t>As of 2017, there were 223 MFIs that included NGO-run units and societies. 47 non-banking finance companies – microfinance institutions (NBFC-MFIs) had also been registered with the Microfinance Institutions Network (MFIN). The top 10 MFIs always find it easy to get bank loans or equities; the smaller entities are usually at a disadvantage here</a:t>
            </a:r>
            <a:r>
              <a:rPr lang="en-US" sz="2400" dirty="0" smtClean="0">
                <a:solidFill>
                  <a:srgbClr val="34495E"/>
                </a:solidFill>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US" sz="2400" dirty="0">
              <a:solidFill>
                <a:srgbClr val="34495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34495E"/>
                </a:solidFill>
                <a:latin typeface="Times New Roman" panose="02020603050405020304" pitchFamily="18" charset="0"/>
                <a:cs typeface="Times New Roman" panose="02020603050405020304" pitchFamily="18" charset="0"/>
              </a:rPr>
              <a:t>Several microfinance institutions have converted into small finance banks. This implies that they can lend at higher interest rates. Moreover, they will have access to deposits that are low-cost. Banks are now some of the largest providers of micro-finance as per MFIN reports. MFI-turned banks are still the major providers of micro finance</a:t>
            </a:r>
            <a:r>
              <a:rPr lang="en-US" sz="2400" dirty="0" smtClean="0">
                <a:solidFill>
                  <a:srgbClr val="34495E"/>
                </a:solidFill>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US" sz="2400" dirty="0">
              <a:solidFill>
                <a:srgbClr val="34495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34495E"/>
                </a:solidFill>
                <a:latin typeface="Times New Roman" panose="02020603050405020304" pitchFamily="18" charset="0"/>
                <a:cs typeface="Times New Roman" panose="02020603050405020304" pitchFamily="18" charset="0"/>
              </a:rPr>
              <a:t>Since financial inclusion is on the rise, MFIs have many more years of opportunity remaining. The key to their survival is the constant backing from investors.</a:t>
            </a:r>
          </a:p>
        </p:txBody>
      </p:sp>
    </p:spTree>
    <p:extLst>
      <p:ext uri="{BB962C8B-B14F-4D97-AF65-F5344CB8AC3E}">
        <p14:creationId xmlns:p14="http://schemas.microsoft.com/office/powerpoint/2010/main" val="398785809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5" name="Rectangle 4"/>
          <p:cNvSpPr/>
          <p:nvPr/>
        </p:nvSpPr>
        <p:spPr>
          <a:xfrm>
            <a:off x="601978" y="351505"/>
            <a:ext cx="8882560" cy="584775"/>
          </a:xfrm>
          <a:prstGeom prst="rect">
            <a:avLst/>
          </a:prstGeom>
        </p:spPr>
        <p:txBody>
          <a:bodyPr wrap="none">
            <a:spAutoFit/>
          </a:bodyPr>
          <a:lstStyle/>
          <a:p>
            <a:r>
              <a:rPr lang="en-IN" sz="3200" dirty="0">
                <a:solidFill>
                  <a:srgbClr val="0070C0"/>
                </a:solidFill>
                <a:latin typeface="Times New Roman" panose="02020603050405020304" pitchFamily="18" charset="0"/>
                <a:cs typeface="Times New Roman" panose="02020603050405020304" pitchFamily="18" charset="0"/>
              </a:rPr>
              <a:t>Demand &amp; Supply of Microfinance Services in India</a:t>
            </a:r>
          </a:p>
        </p:txBody>
      </p:sp>
      <p:sp>
        <p:nvSpPr>
          <p:cNvPr id="6" name="Rectangle 5"/>
          <p:cNvSpPr/>
          <p:nvPr/>
        </p:nvSpPr>
        <p:spPr>
          <a:xfrm>
            <a:off x="399011" y="1167256"/>
            <a:ext cx="11579629" cy="5586145"/>
          </a:xfrm>
          <a:prstGeom prst="rect">
            <a:avLst/>
          </a:prstGeom>
        </p:spPr>
        <p:txBody>
          <a:bodyPr wrap="square">
            <a:spAutoFit/>
          </a:bodyPr>
          <a:lstStyle/>
          <a:p>
            <a:pPr marL="285750" indent="-285750"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E</a:t>
            </a:r>
            <a:r>
              <a:rPr lang="en-US" sz="2100" dirty="0" smtClean="0">
                <a:latin typeface="Times New Roman" panose="02020603050405020304" pitchFamily="18" charset="0"/>
                <a:cs typeface="Times New Roman" panose="02020603050405020304" pitchFamily="18" charset="0"/>
              </a:rPr>
              <a:t>xcept </a:t>
            </a:r>
            <a:r>
              <a:rPr lang="en-US" sz="2100" dirty="0">
                <a:latin typeface="Times New Roman" panose="02020603050405020304" pitchFamily="18" charset="0"/>
                <a:cs typeface="Times New Roman" panose="02020603050405020304" pitchFamily="18" charset="0"/>
              </a:rPr>
              <a:t>Northern and Western region of India, all other regions have demonstrated increasing growth of microfinance demand. </a:t>
            </a:r>
            <a:endParaRPr lang="en-US" sz="21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Assam </a:t>
            </a:r>
            <a:r>
              <a:rPr lang="en-US" sz="2100" dirty="0">
                <a:latin typeface="Times New Roman" panose="02020603050405020304" pitchFamily="18" charset="0"/>
                <a:cs typeface="Times New Roman" panose="02020603050405020304" pitchFamily="18" charset="0"/>
              </a:rPr>
              <a:t>and NER also shows an increasing growth, which is greater than the national growth rate. </a:t>
            </a:r>
            <a:endParaRPr lang="en-US" sz="21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demand from microfinance will increase even more since most of the MFIs in India considers person above the poverty line as its client. </a:t>
            </a:r>
            <a:r>
              <a:rPr lang="en-US" sz="2100" dirty="0" smtClean="0">
                <a:latin typeface="Times New Roman" panose="02020603050405020304" pitchFamily="18" charset="0"/>
                <a:cs typeface="Times New Roman" panose="02020603050405020304" pitchFamily="18" charset="0"/>
              </a:rPr>
              <a:t>However</a:t>
            </a:r>
            <a:r>
              <a:rPr lang="en-US" sz="2100" dirty="0">
                <a:latin typeface="Times New Roman" panose="02020603050405020304" pitchFamily="18" charset="0"/>
                <a:cs typeface="Times New Roman" panose="02020603050405020304" pitchFamily="18" charset="0"/>
              </a:rPr>
              <a:t>, the supply of microfinance is still inadequate and it is highly deficient if the size of loan is higher. </a:t>
            </a:r>
            <a:endParaRPr lang="en-US" sz="21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nascent microfinance market like Assam and NER are considerably deficient in terms of microfinance supply. </a:t>
            </a:r>
            <a:r>
              <a:rPr lang="en-US" sz="2100" dirty="0" smtClean="0">
                <a:latin typeface="Times New Roman" panose="02020603050405020304" pitchFamily="18" charset="0"/>
                <a:cs typeface="Times New Roman" panose="02020603050405020304" pitchFamily="18" charset="0"/>
              </a:rPr>
              <a:t>Although </a:t>
            </a:r>
            <a:r>
              <a:rPr lang="en-US" sz="2100" dirty="0">
                <a:latin typeface="Times New Roman" panose="02020603050405020304" pitchFamily="18" charset="0"/>
                <a:cs typeface="Times New Roman" panose="02020603050405020304" pitchFamily="18" charset="0"/>
              </a:rPr>
              <a:t>in recent times, a number of MFIs have been joined the operation, it is quite insufficient to meet the burgeoning demand. </a:t>
            </a:r>
            <a:endParaRPr lang="en-US" sz="21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Increasing </a:t>
            </a:r>
            <a:r>
              <a:rPr lang="en-US" sz="2100" dirty="0">
                <a:latin typeface="Times New Roman" panose="02020603050405020304" pitchFamily="18" charset="0"/>
                <a:cs typeface="Times New Roman" panose="02020603050405020304" pitchFamily="18" charset="0"/>
              </a:rPr>
              <a:t>rural bank branches and opening the avenues of public-private partnership in the sector may temporarily meet some demand. </a:t>
            </a:r>
            <a:r>
              <a:rPr lang="en-US" sz="2100" dirty="0" smtClean="0">
                <a:latin typeface="Times New Roman" panose="02020603050405020304" pitchFamily="18" charset="0"/>
                <a:cs typeface="Times New Roman" panose="02020603050405020304" pitchFamily="18" charset="0"/>
              </a:rPr>
              <a:t>Moreover</a:t>
            </a:r>
            <a:r>
              <a:rPr lang="en-US" sz="2100" dirty="0">
                <a:latin typeface="Times New Roman" panose="02020603050405020304" pitchFamily="18" charset="0"/>
                <a:cs typeface="Times New Roman" panose="02020603050405020304" pitchFamily="18" charset="0"/>
              </a:rPr>
              <a:t>, in the absence of concrete microfinance regulation, it is quite challenging to attract big MFIs, which may increase supply of microfinance significantly. </a:t>
            </a:r>
            <a:endParaRPr lang="en-US" sz="2100" dirty="0" smtClean="0">
              <a:latin typeface="Times New Roman" panose="02020603050405020304" pitchFamily="18" charset="0"/>
              <a:cs typeface="Times New Roman" panose="02020603050405020304" pitchFamily="18" charset="0"/>
            </a:endParaRPr>
          </a:p>
          <a:p>
            <a:pPr algn="just"/>
            <a:r>
              <a:rPr lang="en-US" sz="2100" dirty="0" smtClean="0">
                <a:latin typeface="Times New Roman" panose="02020603050405020304" pitchFamily="18" charset="0"/>
                <a:cs typeface="Times New Roman" panose="02020603050405020304" pitchFamily="18" charset="0"/>
              </a:rPr>
              <a:t>Therefore</a:t>
            </a:r>
            <a:r>
              <a:rPr lang="en-US" sz="2100" dirty="0">
                <a:latin typeface="Times New Roman" panose="02020603050405020304" pitchFamily="18" charset="0"/>
                <a:cs typeface="Times New Roman" panose="02020603050405020304" pitchFamily="18" charset="0"/>
              </a:rPr>
              <a:t>, it seems that government should make some sort of credible arrangements to helps microfinance sector and for smoother operation. Such type of initiative may attract foreign investment and thus it will become incentive for larger players. </a:t>
            </a:r>
            <a:endParaRPr lang="en-US" sz="2100" dirty="0" smtClean="0">
              <a:latin typeface="Times New Roman" panose="02020603050405020304" pitchFamily="18" charset="0"/>
              <a:cs typeface="Times New Roman" panose="02020603050405020304" pitchFamily="18" charset="0"/>
            </a:endParaRPr>
          </a:p>
          <a:p>
            <a:pPr algn="just"/>
            <a:r>
              <a:rPr lang="en-US" sz="2100" dirty="0" smtClean="0">
                <a:latin typeface="Times New Roman" panose="02020603050405020304" pitchFamily="18" charset="0"/>
                <a:cs typeface="Times New Roman" panose="02020603050405020304" pitchFamily="18" charset="0"/>
              </a:rPr>
              <a:t>On </a:t>
            </a:r>
            <a:r>
              <a:rPr lang="en-US" sz="2100" dirty="0">
                <a:latin typeface="Times New Roman" panose="02020603050405020304" pitchFamily="18" charset="0"/>
                <a:cs typeface="Times New Roman" panose="02020603050405020304" pitchFamily="18" charset="0"/>
              </a:rPr>
              <a:t>the whole, although mismatch remain as a future challenge, it may be reduced considerably if formal banking system and microfinance becomes complementary of each other. </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4006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0" y="922713"/>
            <a:ext cx="12192000" cy="5818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Rectangle 1"/>
          <p:cNvSpPr/>
          <p:nvPr/>
        </p:nvSpPr>
        <p:spPr>
          <a:xfrm>
            <a:off x="893734" y="1388331"/>
            <a:ext cx="10752397" cy="3785652"/>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Most of the NGO-MFIs are changing role from social intermediary to financial intermediary by providing various financial services to SHGs such as loan, savings, micro-insurance, etc.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found that there is a significant improvement in overall economic empowerment index of MFI’s clients after joining the microfinance </a:t>
            </a:r>
            <a:r>
              <a:rPr lang="en-US" sz="2400" dirty="0" err="1">
                <a:latin typeface="Times New Roman" panose="02020603050405020304" pitchFamily="18" charset="0"/>
                <a:cs typeface="Times New Roman" panose="02020603050405020304" pitchFamily="18" charset="0"/>
              </a:rPr>
              <a:t>programme</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also found that social empowerment index of sample SHG members is significantly increased after joining the microfinance </a:t>
            </a:r>
            <a:r>
              <a:rPr lang="en-US" sz="2400" dirty="0" err="1">
                <a:latin typeface="Times New Roman" panose="02020603050405020304" pitchFamily="18" charset="0"/>
                <a:cs typeface="Times New Roman" panose="02020603050405020304" pitchFamily="18" charset="0"/>
              </a:rPr>
              <a:t>programme</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Further</a:t>
            </a:r>
            <a:r>
              <a:rPr lang="en-US" sz="2400" dirty="0">
                <a:latin typeface="Times New Roman" panose="02020603050405020304" pitchFamily="18" charset="0"/>
                <a:cs typeface="Times New Roman" panose="02020603050405020304" pitchFamily="18" charset="0"/>
              </a:rPr>
              <a:t>, findings also revealed that there is a significant improvement in overall Economic and Social Empowerment index of MFI’s clients after joining the microfinance </a:t>
            </a:r>
            <a:r>
              <a:rPr lang="en-US" sz="2400" dirty="0" err="1">
                <a:latin typeface="Times New Roman" panose="02020603050405020304" pitchFamily="18" charset="0"/>
                <a:cs typeface="Times New Roman" panose="02020603050405020304" pitchFamily="18" charset="0"/>
              </a:rPr>
              <a:t>programme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893734" y="368078"/>
            <a:ext cx="6789038" cy="461665"/>
          </a:xfrm>
          <a:prstGeom prst="rect">
            <a:avLst/>
          </a:prstGeom>
        </p:spPr>
        <p:txBody>
          <a:bodyPr wrap="none">
            <a:spAutoFit/>
          </a:bodyPr>
          <a:lstStyle/>
          <a:p>
            <a:r>
              <a:rPr lang="en-IN" sz="2400" b="1" dirty="0">
                <a:solidFill>
                  <a:srgbClr val="0070C0"/>
                </a:solidFill>
                <a:latin typeface="Times New Roman" panose="02020603050405020304" pitchFamily="18" charset="0"/>
                <a:cs typeface="Times New Roman" panose="02020603050405020304" pitchFamily="18" charset="0"/>
              </a:rPr>
              <a:t>Impact assessment and social assessments of </a:t>
            </a:r>
            <a:r>
              <a:rPr lang="en-IN" sz="2400" b="1" dirty="0" smtClean="0">
                <a:solidFill>
                  <a:srgbClr val="0070C0"/>
                </a:solidFill>
                <a:latin typeface="Times New Roman" panose="02020603050405020304" pitchFamily="18" charset="0"/>
                <a:cs typeface="Times New Roman" panose="02020603050405020304" pitchFamily="18" charset="0"/>
              </a:rPr>
              <a:t>MFIs</a:t>
            </a:r>
            <a:endParaRPr lang="en-IN" sz="24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7718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AF94F30A80A547A0A9DF8D665C8EAD" ma:contentTypeVersion="0" ma:contentTypeDescription="Create a new document." ma:contentTypeScope="" ma:versionID="f5358fe23d2c29799d73875960a891d0">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5A6440-1225-45BA-A0D9-AF23ACAD5D95}"/>
</file>

<file path=customXml/itemProps2.xml><?xml version="1.0" encoding="utf-8"?>
<ds:datastoreItem xmlns:ds="http://schemas.openxmlformats.org/officeDocument/2006/customXml" ds:itemID="{69C92DBE-3DC5-4083-8A64-0050EF22769C}"/>
</file>

<file path=customXml/itemProps3.xml><?xml version="1.0" encoding="utf-8"?>
<ds:datastoreItem xmlns:ds="http://schemas.openxmlformats.org/officeDocument/2006/customXml" ds:itemID="{43D717AA-C682-4D21-A328-F418504EA3AB}"/>
</file>

<file path=docProps/app.xml><?xml version="1.0" encoding="utf-8"?>
<Properties xmlns="http://schemas.openxmlformats.org/officeDocument/2006/extended-properties" xmlns:vt="http://schemas.openxmlformats.org/officeDocument/2006/docPropsVTypes">
  <TotalTime>1367</TotalTime>
  <Words>6703</Words>
  <Application>Microsoft Office PowerPoint</Application>
  <PresentationFormat>Widescreen</PresentationFormat>
  <Paragraphs>444</Paragraphs>
  <Slides>63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Arial</vt:lpstr>
      <vt:lpstr>Calibri</vt:lpstr>
      <vt:lpstr>Calibri Light</vt:lpstr>
      <vt:lpstr>Georgia</vt:lpstr>
      <vt:lpstr>Mangal</vt:lpstr>
      <vt:lpstr>roboto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Dhale (Dr.)</dc:creator>
  <cp:lastModifiedBy>Avadhut Samant</cp:lastModifiedBy>
  <cp:revision>70</cp:revision>
  <dcterms:created xsi:type="dcterms:W3CDTF">2022-08-17T07:00:42Z</dcterms:created>
  <dcterms:modified xsi:type="dcterms:W3CDTF">2024-11-06T05:13:46Z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0x010100ECAF94F30A80A547A0A9DF8D665C8EAD</vt:lpwstr>
  </property>
</Properties>
</file>