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3"/>
  </p:notesMasterIdLst>
  <p:sldIdLst>
    <p:sldId id="535" r:id="rId2"/>
    <p:sldId id="257" r:id="rId3"/>
    <p:sldId id="258" r:id="rId4"/>
    <p:sldId id="259" r:id="rId5"/>
    <p:sldId id="615" r:id="rId6"/>
    <p:sldId id="260" r:id="rId7"/>
    <p:sldId id="261" r:id="rId8"/>
    <p:sldId id="262" r:id="rId9"/>
    <p:sldId id="263" r:id="rId10"/>
    <p:sldId id="264" r:id="rId11"/>
    <p:sldId id="265" r:id="rId12"/>
    <p:sldId id="266" r:id="rId13"/>
    <p:sldId id="409" r:id="rId14"/>
    <p:sldId id="536" r:id="rId15"/>
    <p:sldId id="537" r:id="rId16"/>
    <p:sldId id="541" r:id="rId17"/>
    <p:sldId id="538" r:id="rId18"/>
    <p:sldId id="539" r:id="rId19"/>
    <p:sldId id="552" r:id="rId20"/>
    <p:sldId id="553" r:id="rId21"/>
    <p:sldId id="542" r:id="rId22"/>
    <p:sldId id="543" r:id="rId23"/>
    <p:sldId id="544" r:id="rId24"/>
    <p:sldId id="545" r:id="rId25"/>
    <p:sldId id="546" r:id="rId26"/>
    <p:sldId id="547" r:id="rId27"/>
    <p:sldId id="548" r:id="rId28"/>
    <p:sldId id="613" r:id="rId29"/>
    <p:sldId id="612" r:id="rId30"/>
    <p:sldId id="540" r:id="rId31"/>
    <p:sldId id="549" r:id="rId32"/>
    <p:sldId id="550" r:id="rId33"/>
    <p:sldId id="551" r:id="rId34"/>
    <p:sldId id="555" r:id="rId35"/>
    <p:sldId id="556" r:id="rId36"/>
    <p:sldId id="557" r:id="rId37"/>
    <p:sldId id="558" r:id="rId38"/>
    <p:sldId id="559" r:id="rId39"/>
    <p:sldId id="560" r:id="rId40"/>
    <p:sldId id="561" r:id="rId41"/>
    <p:sldId id="562" r:id="rId42"/>
    <p:sldId id="563" r:id="rId43"/>
    <p:sldId id="564" r:id="rId44"/>
    <p:sldId id="643" r:id="rId45"/>
    <p:sldId id="644" r:id="rId46"/>
    <p:sldId id="645" r:id="rId47"/>
    <p:sldId id="646" r:id="rId48"/>
    <p:sldId id="565" r:id="rId49"/>
    <p:sldId id="614" r:id="rId50"/>
    <p:sldId id="566" r:id="rId51"/>
    <p:sldId id="567" r:id="rId52"/>
    <p:sldId id="568" r:id="rId53"/>
    <p:sldId id="569" r:id="rId54"/>
    <p:sldId id="571" r:id="rId55"/>
    <p:sldId id="572" r:id="rId56"/>
    <p:sldId id="573" r:id="rId57"/>
    <p:sldId id="616" r:id="rId58"/>
    <p:sldId id="574" r:id="rId59"/>
    <p:sldId id="575" r:id="rId60"/>
    <p:sldId id="576" r:id="rId61"/>
    <p:sldId id="578" r:id="rId62"/>
    <p:sldId id="579" r:id="rId63"/>
    <p:sldId id="580" r:id="rId64"/>
    <p:sldId id="581" r:id="rId65"/>
    <p:sldId id="582" r:id="rId66"/>
    <p:sldId id="583" r:id="rId67"/>
    <p:sldId id="584" r:id="rId68"/>
    <p:sldId id="585" r:id="rId69"/>
    <p:sldId id="586" r:id="rId70"/>
    <p:sldId id="587" r:id="rId71"/>
    <p:sldId id="588" r:id="rId72"/>
    <p:sldId id="617" r:id="rId73"/>
    <p:sldId id="589" r:id="rId74"/>
    <p:sldId id="590" r:id="rId75"/>
    <p:sldId id="591" r:id="rId76"/>
    <p:sldId id="592" r:id="rId77"/>
    <p:sldId id="593" r:id="rId78"/>
    <p:sldId id="618" r:id="rId79"/>
    <p:sldId id="619" r:id="rId80"/>
    <p:sldId id="594" r:id="rId81"/>
    <p:sldId id="595" r:id="rId82"/>
    <p:sldId id="596" r:id="rId83"/>
    <p:sldId id="597" r:id="rId84"/>
    <p:sldId id="620" r:id="rId85"/>
    <p:sldId id="621" r:id="rId86"/>
    <p:sldId id="622" r:id="rId87"/>
    <p:sldId id="623" r:id="rId88"/>
    <p:sldId id="598" r:id="rId89"/>
    <p:sldId id="599" r:id="rId90"/>
    <p:sldId id="600" r:id="rId91"/>
    <p:sldId id="601" r:id="rId92"/>
    <p:sldId id="602" r:id="rId93"/>
    <p:sldId id="603" r:id="rId94"/>
    <p:sldId id="604" r:id="rId95"/>
    <p:sldId id="605" r:id="rId96"/>
    <p:sldId id="606" r:id="rId97"/>
    <p:sldId id="607" r:id="rId98"/>
    <p:sldId id="608" r:id="rId99"/>
    <p:sldId id="609" r:id="rId100"/>
    <p:sldId id="610" r:id="rId101"/>
    <p:sldId id="611" r:id="rId10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9675" autoAdjust="0"/>
  </p:normalViewPr>
  <p:slideViewPr>
    <p:cSldViewPr snapToGrid="0">
      <p:cViewPr varScale="1">
        <p:scale>
          <a:sx n="58" d="100"/>
          <a:sy n="58" d="100"/>
        </p:scale>
        <p:origin x="96" y="9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B2EE44-1AB5-40A7-B1F1-E177ABE92A3F}"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A4C2C4-6FE2-4473-B21F-ACE5173EB4C6}" type="slidenum">
              <a:rPr lang="en-US" smtClean="0"/>
              <a:t>‹#›</a:t>
            </a:fld>
            <a:endParaRPr lang="en-US"/>
          </a:p>
        </p:txBody>
      </p:sp>
    </p:spTree>
    <p:extLst>
      <p:ext uri="{BB962C8B-B14F-4D97-AF65-F5344CB8AC3E}">
        <p14:creationId xmlns:p14="http://schemas.microsoft.com/office/powerpoint/2010/main" val="4096723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excise duty is a tax levied on domestically produced goods</a:t>
            </a:r>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30</a:t>
            </a:fld>
            <a:endParaRPr lang="en-US"/>
          </a:p>
        </p:txBody>
      </p:sp>
    </p:spTree>
    <p:extLst>
      <p:ext uri="{BB962C8B-B14F-4D97-AF65-F5344CB8AC3E}">
        <p14:creationId xmlns:p14="http://schemas.microsoft.com/office/powerpoint/2010/main" val="3091484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SAC is a six-digit code used to identify and classify services under GST. </a:t>
            </a:r>
            <a:r>
              <a:rPr lang="en-US" sz="1200" b="1" i="0" kern="1200" dirty="0">
                <a:solidFill>
                  <a:schemeClr val="tx1"/>
                </a:solidFill>
                <a:effectLst/>
                <a:latin typeface="+mn-lt"/>
                <a:ea typeface="+mn-ea"/>
                <a:cs typeface="+mn-cs"/>
              </a:rPr>
              <a:t>Full form:</a:t>
            </a:r>
            <a:r>
              <a:rPr lang="en-US" sz="1200" b="0" i="0" kern="1200" dirty="0">
                <a:solidFill>
                  <a:schemeClr val="tx1"/>
                </a:solidFill>
                <a:effectLst/>
                <a:latin typeface="+mn-lt"/>
                <a:ea typeface="+mn-ea"/>
                <a:cs typeface="+mn-cs"/>
              </a:rPr>
              <a:t> Services Accounting Code. </a:t>
            </a:r>
            <a:r>
              <a:rPr lang="en-US" sz="1200" b="1" i="0" kern="1200" dirty="0">
                <a:solidFill>
                  <a:schemeClr val="tx1"/>
                </a:solidFill>
                <a:effectLst/>
                <a:latin typeface="+mn-lt"/>
                <a:ea typeface="+mn-ea"/>
                <a:cs typeface="+mn-cs"/>
              </a:rPr>
              <a:t>Purpose:</a:t>
            </a:r>
            <a:r>
              <a:rPr lang="en-US" sz="1200" b="0" i="0" kern="1200" dirty="0">
                <a:solidFill>
                  <a:schemeClr val="tx1"/>
                </a:solidFill>
                <a:effectLst/>
                <a:latin typeface="+mn-lt"/>
                <a:ea typeface="+mn-ea"/>
                <a:cs typeface="+mn-cs"/>
              </a:rPr>
              <a:t> To determine the correct GST rate for services provided within India.</a:t>
            </a:r>
          </a:p>
          <a:p>
            <a:r>
              <a:rPr lang="en-US" sz="1200" b="0" i="0" kern="1200" dirty="0">
                <a:solidFill>
                  <a:schemeClr val="tx1"/>
                </a:solidFill>
                <a:effectLst/>
                <a:latin typeface="+mn-lt"/>
                <a:ea typeface="+mn-ea"/>
                <a:cs typeface="+mn-cs"/>
              </a:rPr>
              <a:t>The HSN code is an internationally standardized system for classifying goods. </a:t>
            </a:r>
            <a:r>
              <a:rPr lang="en-US" sz="1200" b="1" i="0" kern="1200" dirty="0">
                <a:solidFill>
                  <a:schemeClr val="tx1"/>
                </a:solidFill>
                <a:effectLst/>
                <a:latin typeface="+mn-lt"/>
                <a:ea typeface="+mn-ea"/>
                <a:cs typeface="+mn-cs"/>
              </a:rPr>
              <a:t>Full form:</a:t>
            </a:r>
            <a:r>
              <a:rPr lang="en-US" sz="1200" b="0" i="0" kern="1200" dirty="0">
                <a:solidFill>
                  <a:schemeClr val="tx1"/>
                </a:solidFill>
                <a:effectLst/>
                <a:latin typeface="+mn-lt"/>
                <a:ea typeface="+mn-ea"/>
                <a:cs typeface="+mn-cs"/>
              </a:rPr>
              <a:t> Harmonized System of Nomenclature. </a:t>
            </a:r>
            <a:r>
              <a:rPr lang="en-US" sz="1200" b="1" i="0" kern="1200" dirty="0">
                <a:solidFill>
                  <a:schemeClr val="tx1"/>
                </a:solidFill>
                <a:effectLst/>
                <a:latin typeface="+mn-lt"/>
                <a:ea typeface="+mn-ea"/>
                <a:cs typeface="+mn-cs"/>
              </a:rPr>
              <a:t>Purpose:</a:t>
            </a:r>
            <a:r>
              <a:rPr lang="en-US" sz="1200" b="0" i="0" kern="1200" dirty="0">
                <a:solidFill>
                  <a:schemeClr val="tx1"/>
                </a:solidFill>
                <a:effectLst/>
                <a:latin typeface="+mn-lt"/>
                <a:ea typeface="+mn-ea"/>
                <a:cs typeface="+mn-cs"/>
              </a:rPr>
              <a:t> To systematically classify goods for taxation, customs, and international trade.</a:t>
            </a:r>
          </a:p>
          <a:p>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31</a:t>
            </a:fld>
            <a:endParaRPr lang="en-US"/>
          </a:p>
        </p:txBody>
      </p:sp>
    </p:spTree>
    <p:extLst>
      <p:ext uri="{BB962C8B-B14F-4D97-AF65-F5344CB8AC3E}">
        <p14:creationId xmlns:p14="http://schemas.microsoft.com/office/powerpoint/2010/main" val="1227307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48</a:t>
            </a:fld>
            <a:endParaRPr lang="en-US"/>
          </a:p>
        </p:txBody>
      </p:sp>
    </p:spTree>
    <p:extLst>
      <p:ext uri="{BB962C8B-B14F-4D97-AF65-F5344CB8AC3E}">
        <p14:creationId xmlns:p14="http://schemas.microsoft.com/office/powerpoint/2010/main" val="826881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56</a:t>
            </a:fld>
            <a:endParaRPr lang="en-US"/>
          </a:p>
        </p:txBody>
      </p:sp>
    </p:spTree>
    <p:extLst>
      <p:ext uri="{BB962C8B-B14F-4D97-AF65-F5344CB8AC3E}">
        <p14:creationId xmlns:p14="http://schemas.microsoft.com/office/powerpoint/2010/main" val="2061993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71</a:t>
            </a:fld>
            <a:endParaRPr lang="en-US"/>
          </a:p>
        </p:txBody>
      </p:sp>
    </p:spTree>
    <p:extLst>
      <p:ext uri="{BB962C8B-B14F-4D97-AF65-F5344CB8AC3E}">
        <p14:creationId xmlns:p14="http://schemas.microsoft.com/office/powerpoint/2010/main" val="3768772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73</a:t>
            </a:fld>
            <a:endParaRPr lang="en-US"/>
          </a:p>
        </p:txBody>
      </p:sp>
    </p:spTree>
    <p:extLst>
      <p:ext uri="{BB962C8B-B14F-4D97-AF65-F5344CB8AC3E}">
        <p14:creationId xmlns:p14="http://schemas.microsoft.com/office/powerpoint/2010/main" val="2478487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74</a:t>
            </a:fld>
            <a:endParaRPr lang="en-US"/>
          </a:p>
        </p:txBody>
      </p:sp>
    </p:spTree>
    <p:extLst>
      <p:ext uri="{BB962C8B-B14F-4D97-AF65-F5344CB8AC3E}">
        <p14:creationId xmlns:p14="http://schemas.microsoft.com/office/powerpoint/2010/main" val="4064963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75</a:t>
            </a:fld>
            <a:endParaRPr lang="en-US"/>
          </a:p>
        </p:txBody>
      </p:sp>
    </p:spTree>
    <p:extLst>
      <p:ext uri="{BB962C8B-B14F-4D97-AF65-F5344CB8AC3E}">
        <p14:creationId xmlns:p14="http://schemas.microsoft.com/office/powerpoint/2010/main" val="3050136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76</a:t>
            </a:fld>
            <a:endParaRPr lang="en-US"/>
          </a:p>
        </p:txBody>
      </p:sp>
    </p:spTree>
    <p:extLst>
      <p:ext uri="{BB962C8B-B14F-4D97-AF65-F5344CB8AC3E}">
        <p14:creationId xmlns:p14="http://schemas.microsoft.com/office/powerpoint/2010/main" val="3854410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77</a:t>
            </a:fld>
            <a:endParaRPr lang="en-US"/>
          </a:p>
        </p:txBody>
      </p:sp>
    </p:spTree>
    <p:extLst>
      <p:ext uri="{BB962C8B-B14F-4D97-AF65-F5344CB8AC3E}">
        <p14:creationId xmlns:p14="http://schemas.microsoft.com/office/powerpoint/2010/main" val="4094663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80</a:t>
            </a:fld>
            <a:endParaRPr lang="en-US"/>
          </a:p>
        </p:txBody>
      </p:sp>
    </p:spTree>
    <p:extLst>
      <p:ext uri="{BB962C8B-B14F-4D97-AF65-F5344CB8AC3E}">
        <p14:creationId xmlns:p14="http://schemas.microsoft.com/office/powerpoint/2010/main" val="3092139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81</a:t>
            </a:fld>
            <a:endParaRPr lang="en-US"/>
          </a:p>
        </p:txBody>
      </p:sp>
    </p:spTree>
    <p:extLst>
      <p:ext uri="{BB962C8B-B14F-4D97-AF65-F5344CB8AC3E}">
        <p14:creationId xmlns:p14="http://schemas.microsoft.com/office/powerpoint/2010/main" val="156403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82</a:t>
            </a:fld>
            <a:endParaRPr lang="en-US"/>
          </a:p>
        </p:txBody>
      </p:sp>
    </p:spTree>
    <p:extLst>
      <p:ext uri="{BB962C8B-B14F-4D97-AF65-F5344CB8AC3E}">
        <p14:creationId xmlns:p14="http://schemas.microsoft.com/office/powerpoint/2010/main" val="2782538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83</a:t>
            </a:fld>
            <a:endParaRPr lang="en-US"/>
          </a:p>
        </p:txBody>
      </p:sp>
    </p:spTree>
    <p:extLst>
      <p:ext uri="{BB962C8B-B14F-4D97-AF65-F5344CB8AC3E}">
        <p14:creationId xmlns:p14="http://schemas.microsoft.com/office/powerpoint/2010/main" val="2868065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87</a:t>
            </a:fld>
            <a:endParaRPr lang="en-US"/>
          </a:p>
        </p:txBody>
      </p:sp>
    </p:spTree>
    <p:extLst>
      <p:ext uri="{BB962C8B-B14F-4D97-AF65-F5344CB8AC3E}">
        <p14:creationId xmlns:p14="http://schemas.microsoft.com/office/powerpoint/2010/main" val="3367841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88</a:t>
            </a:fld>
            <a:endParaRPr lang="en-US"/>
          </a:p>
        </p:txBody>
      </p:sp>
    </p:spTree>
    <p:extLst>
      <p:ext uri="{BB962C8B-B14F-4D97-AF65-F5344CB8AC3E}">
        <p14:creationId xmlns:p14="http://schemas.microsoft.com/office/powerpoint/2010/main" val="253654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89</a:t>
            </a:fld>
            <a:endParaRPr lang="en-US"/>
          </a:p>
        </p:txBody>
      </p:sp>
    </p:spTree>
    <p:extLst>
      <p:ext uri="{BB962C8B-B14F-4D97-AF65-F5344CB8AC3E}">
        <p14:creationId xmlns:p14="http://schemas.microsoft.com/office/powerpoint/2010/main" val="960563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90</a:t>
            </a:fld>
            <a:endParaRPr lang="en-US"/>
          </a:p>
        </p:txBody>
      </p:sp>
    </p:spTree>
    <p:extLst>
      <p:ext uri="{BB962C8B-B14F-4D97-AF65-F5344CB8AC3E}">
        <p14:creationId xmlns:p14="http://schemas.microsoft.com/office/powerpoint/2010/main" val="1330386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91</a:t>
            </a:fld>
            <a:endParaRPr lang="en-US"/>
          </a:p>
        </p:txBody>
      </p:sp>
    </p:spTree>
    <p:extLst>
      <p:ext uri="{BB962C8B-B14F-4D97-AF65-F5344CB8AC3E}">
        <p14:creationId xmlns:p14="http://schemas.microsoft.com/office/powerpoint/2010/main" val="957625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92</a:t>
            </a:fld>
            <a:endParaRPr lang="en-US"/>
          </a:p>
        </p:txBody>
      </p:sp>
    </p:spTree>
    <p:extLst>
      <p:ext uri="{BB962C8B-B14F-4D97-AF65-F5344CB8AC3E}">
        <p14:creationId xmlns:p14="http://schemas.microsoft.com/office/powerpoint/2010/main" val="3257776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93</a:t>
            </a:fld>
            <a:endParaRPr lang="en-US"/>
          </a:p>
        </p:txBody>
      </p:sp>
    </p:spTree>
    <p:extLst>
      <p:ext uri="{BB962C8B-B14F-4D97-AF65-F5344CB8AC3E}">
        <p14:creationId xmlns:p14="http://schemas.microsoft.com/office/powerpoint/2010/main" val="1796358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94</a:t>
            </a:fld>
            <a:endParaRPr lang="en-US"/>
          </a:p>
        </p:txBody>
      </p:sp>
    </p:spTree>
    <p:extLst>
      <p:ext uri="{BB962C8B-B14F-4D97-AF65-F5344CB8AC3E}">
        <p14:creationId xmlns:p14="http://schemas.microsoft.com/office/powerpoint/2010/main" val="1890817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95</a:t>
            </a:fld>
            <a:endParaRPr lang="en-US"/>
          </a:p>
        </p:txBody>
      </p:sp>
    </p:spTree>
    <p:extLst>
      <p:ext uri="{BB962C8B-B14F-4D97-AF65-F5344CB8AC3E}">
        <p14:creationId xmlns:p14="http://schemas.microsoft.com/office/powerpoint/2010/main" val="3366240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96</a:t>
            </a:fld>
            <a:endParaRPr lang="en-US"/>
          </a:p>
        </p:txBody>
      </p:sp>
    </p:spTree>
    <p:extLst>
      <p:ext uri="{BB962C8B-B14F-4D97-AF65-F5344CB8AC3E}">
        <p14:creationId xmlns:p14="http://schemas.microsoft.com/office/powerpoint/2010/main" val="2471232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97</a:t>
            </a:fld>
            <a:endParaRPr lang="en-US"/>
          </a:p>
        </p:txBody>
      </p:sp>
    </p:spTree>
    <p:extLst>
      <p:ext uri="{BB962C8B-B14F-4D97-AF65-F5344CB8AC3E}">
        <p14:creationId xmlns:p14="http://schemas.microsoft.com/office/powerpoint/2010/main" val="6725912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98</a:t>
            </a:fld>
            <a:endParaRPr lang="en-US"/>
          </a:p>
        </p:txBody>
      </p:sp>
    </p:spTree>
    <p:extLst>
      <p:ext uri="{BB962C8B-B14F-4D97-AF65-F5344CB8AC3E}">
        <p14:creationId xmlns:p14="http://schemas.microsoft.com/office/powerpoint/2010/main" val="3071524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99</a:t>
            </a:fld>
            <a:endParaRPr lang="en-US"/>
          </a:p>
        </p:txBody>
      </p:sp>
    </p:spTree>
    <p:extLst>
      <p:ext uri="{BB962C8B-B14F-4D97-AF65-F5344CB8AC3E}">
        <p14:creationId xmlns:p14="http://schemas.microsoft.com/office/powerpoint/2010/main" val="68508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100</a:t>
            </a:fld>
            <a:endParaRPr lang="en-US"/>
          </a:p>
        </p:txBody>
      </p:sp>
    </p:spTree>
    <p:extLst>
      <p:ext uri="{BB962C8B-B14F-4D97-AF65-F5344CB8AC3E}">
        <p14:creationId xmlns:p14="http://schemas.microsoft.com/office/powerpoint/2010/main" val="25425946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101</a:t>
            </a:fld>
            <a:endParaRPr lang="en-US"/>
          </a:p>
        </p:txBody>
      </p:sp>
    </p:spTree>
    <p:extLst>
      <p:ext uri="{BB962C8B-B14F-4D97-AF65-F5344CB8AC3E}">
        <p14:creationId xmlns:p14="http://schemas.microsoft.com/office/powerpoint/2010/main" val="3064194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D7AE61-87DC-4554-A01F-182CFC75E7E6}"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63517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7AE61-87DC-4554-A01F-182CFC75E7E6}"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894624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FD7AE61-87DC-4554-A01F-182CFC75E7E6}"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186837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D7AE61-87DC-4554-A01F-182CFC75E7E6}"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492073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7AE61-87DC-4554-A01F-182CFC75E7E6}"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576197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D7AE61-87DC-4554-A01F-182CFC75E7E6}"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915865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D7AE61-87DC-4554-A01F-182CFC75E7E6}"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158845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D7AE61-87DC-4554-A01F-182CFC75E7E6}"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420145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D7AE61-87DC-4554-A01F-182CFC75E7E6}"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218155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7AE61-87DC-4554-A01F-182CFC75E7E6}"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963391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7AE61-87DC-4554-A01F-182CFC75E7E6}"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789902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D7AE61-87DC-4554-A01F-182CFC75E7E6}"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8531E8-CB3B-4585-878D-C855E26057DC}" type="slidenum">
              <a:rPr lang="en-US" smtClean="0"/>
              <a:t>‹#›</a:t>
            </a:fld>
            <a:endParaRPr lang="en-US"/>
          </a:p>
        </p:txBody>
      </p:sp>
    </p:spTree>
    <p:extLst>
      <p:ext uri="{BB962C8B-B14F-4D97-AF65-F5344CB8AC3E}">
        <p14:creationId xmlns:p14="http://schemas.microsoft.com/office/powerpoint/2010/main" val="2650031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cleartax.in/s/place-of-supply-gst/"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35902" y="1548882"/>
            <a:ext cx="11548188" cy="370425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4200" b="1" dirty="0"/>
              <a:t>Goods and Services Tax</a:t>
            </a:r>
            <a:endParaRPr lang="en-US" sz="4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091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49522"/>
          </a:xfrm>
        </p:spPr>
        <p:txBody>
          <a:bodyPr>
            <a:normAutofit fontScale="90000"/>
          </a:bodyPr>
          <a:lstStyle/>
          <a:p>
            <a:r>
              <a:rPr dirty="0"/>
              <a:t>1. Constitutional Framework before GST</a:t>
            </a:r>
          </a:p>
        </p:txBody>
      </p:sp>
      <p:sp>
        <p:nvSpPr>
          <p:cNvPr id="3" name="Content Placeholder 2"/>
          <p:cNvSpPr>
            <a:spLocks noGrp="1"/>
          </p:cNvSpPr>
          <p:nvPr>
            <p:ph idx="1"/>
          </p:nvPr>
        </p:nvSpPr>
        <p:spPr>
          <a:xfrm>
            <a:off x="468283" y="1130559"/>
            <a:ext cx="11255433" cy="5362315"/>
          </a:xfrm>
        </p:spPr>
        <p:txBody>
          <a:bodyPr wrap="square">
            <a:normAutofit fontScale="85000" lnSpcReduction="20000"/>
          </a:bodyPr>
          <a:lstStyle/>
          <a:p>
            <a:pPr marL="0" indent="0">
              <a:buNone/>
            </a:pPr>
            <a:r>
              <a:rPr lang="en-US" dirty="0"/>
              <a:t>Before GST (i.e., before July 1, 2017), India had a complex system of indirect taxes levied by both the Union and the State Governments, often leading to “tax on tax”.</a:t>
            </a:r>
          </a:p>
          <a:p>
            <a:pPr marL="0" indent="0">
              <a:buNone/>
            </a:pPr>
            <a:r>
              <a:rPr lang="en-US" dirty="0"/>
              <a:t>Taxation Powers under the Constitution (Before GST)</a:t>
            </a:r>
          </a:p>
          <a:p>
            <a:r>
              <a:rPr lang="en-US" dirty="0"/>
              <a:t>Union Government (Centre) – had powers to levy taxes on:</a:t>
            </a:r>
          </a:p>
          <a:p>
            <a:pPr lvl="1"/>
            <a:r>
              <a:rPr lang="en-US" dirty="0"/>
              <a:t>Excise duty on manufacture of goods (Central Excise)</a:t>
            </a:r>
          </a:p>
          <a:p>
            <a:pPr lvl="1"/>
            <a:r>
              <a:rPr lang="en-US" dirty="0"/>
              <a:t>Customs duty on imports &amp; exports</a:t>
            </a:r>
          </a:p>
          <a:p>
            <a:pPr lvl="1"/>
            <a:r>
              <a:rPr lang="en-US" dirty="0"/>
              <a:t>Service tax on provision of services</a:t>
            </a:r>
          </a:p>
          <a:p>
            <a:r>
              <a:rPr lang="en-US" dirty="0"/>
              <a:t>State Governments – had powers to levy taxes on:</a:t>
            </a:r>
          </a:p>
          <a:p>
            <a:pPr lvl="1"/>
            <a:r>
              <a:rPr lang="en-US" dirty="0"/>
              <a:t>Sale of goods (State VAT/Sales Tax)</a:t>
            </a:r>
          </a:p>
          <a:p>
            <a:pPr lvl="1"/>
            <a:r>
              <a:rPr lang="en-US" dirty="0"/>
              <a:t>Entry tax, Octroi</a:t>
            </a:r>
          </a:p>
          <a:p>
            <a:pPr lvl="1"/>
            <a:r>
              <a:rPr lang="en-US" dirty="0"/>
              <a:t>Purchase tax</a:t>
            </a:r>
          </a:p>
          <a:p>
            <a:pPr lvl="1"/>
            <a:r>
              <a:rPr lang="en-US" dirty="0"/>
              <a:t>Luxury tax, Entertainment tax</a:t>
            </a:r>
          </a:p>
          <a:p>
            <a:r>
              <a:rPr lang="en-US" dirty="0"/>
              <a:t>Constitutional Basis:</a:t>
            </a:r>
          </a:p>
          <a:p>
            <a:pPr lvl="1"/>
            <a:r>
              <a:rPr lang="en-US" dirty="0"/>
              <a:t>Article 246: Defined division of powers between Centre and States.</a:t>
            </a:r>
          </a:p>
          <a:p>
            <a:pPr lvl="1"/>
            <a:r>
              <a:rPr lang="en-US" dirty="0"/>
              <a:t>List I (Union List) – Central powers.</a:t>
            </a:r>
          </a:p>
          <a:p>
            <a:pPr lvl="1"/>
            <a:r>
              <a:rPr lang="en-US" dirty="0"/>
              <a:t>List II (State List) – State powers.</a:t>
            </a:r>
          </a:p>
          <a:p>
            <a:pPr lvl="1"/>
            <a:r>
              <a:rPr lang="en-US" dirty="0"/>
              <a:t>List III (Concurrent List) – Shared powers.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9399"/>
          </a:xfrm>
        </p:spPr>
        <p:txBody>
          <a:bodyPr>
            <a:normAutofit fontScale="90000"/>
          </a:bodyPr>
          <a:lstStyle/>
          <a:p>
            <a:r>
              <a:rPr dirty="0"/>
              <a:t>2. Concept of VAT (Value Added Tax)</a:t>
            </a:r>
          </a:p>
        </p:txBody>
      </p:sp>
      <p:sp>
        <p:nvSpPr>
          <p:cNvPr id="3" name="Content Placeholder 2"/>
          <p:cNvSpPr>
            <a:spLocks noGrp="1"/>
          </p:cNvSpPr>
          <p:nvPr>
            <p:ph idx="1"/>
          </p:nvPr>
        </p:nvSpPr>
        <p:spPr>
          <a:xfrm>
            <a:off x="598516" y="1280160"/>
            <a:ext cx="11238808" cy="4896803"/>
          </a:xfrm>
        </p:spPr>
        <p:txBody>
          <a:bodyPr wrap="square">
            <a:normAutofit lnSpcReduction="10000"/>
          </a:bodyPr>
          <a:lstStyle/>
          <a:p>
            <a:r>
              <a:rPr lang="en-US" b="1" dirty="0"/>
              <a:t>Meaning:</a:t>
            </a:r>
            <a:br>
              <a:rPr lang="en-US" dirty="0"/>
            </a:br>
            <a:r>
              <a:rPr lang="en-US" dirty="0"/>
              <a:t>Value Added Tax is a tax levied at each stage of value addition in the production and distribution chain.</a:t>
            </a:r>
          </a:p>
          <a:p>
            <a:r>
              <a:rPr lang="en-US" b="1" dirty="0"/>
              <a:t>Example:</a:t>
            </a:r>
            <a:br>
              <a:rPr lang="en-US" dirty="0"/>
            </a:br>
            <a:r>
              <a:rPr lang="en-US" dirty="0"/>
              <a:t>If a manufacturer sells goods for ₹100 + VAT 10% = ₹110.</a:t>
            </a:r>
            <a:br>
              <a:rPr lang="en-US" dirty="0"/>
            </a:br>
            <a:r>
              <a:rPr lang="en-US" dirty="0"/>
              <a:t>Wholesaler sells for ₹150 + VAT 10% = ₹165, but he pays only tax on </a:t>
            </a:r>
            <a:r>
              <a:rPr lang="en-US" b="1" dirty="0"/>
              <a:t>value added (₹50)</a:t>
            </a:r>
            <a:r>
              <a:rPr lang="en-US" dirty="0"/>
              <a:t> = ₹5 to the government (after adjusting input credit ₹10 paid to manufacturer).</a:t>
            </a:r>
          </a:p>
          <a:p>
            <a:r>
              <a:rPr dirty="0"/>
              <a:t>Tax on value added at each stage of production/distribution.</a:t>
            </a:r>
          </a:p>
          <a:p>
            <a:r>
              <a:rPr dirty="0"/>
              <a:t>Variants: Gross Product, Income, Consumption (India uses Consumption variant).</a:t>
            </a:r>
          </a:p>
          <a:p>
            <a:r>
              <a:rPr dirty="0"/>
              <a:t>Methods: Addition, Invoice Credit (used in India), Subtraction.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Defects in Indirect Taxes before GST</a:t>
            </a:r>
          </a:p>
        </p:txBody>
      </p:sp>
      <p:sp>
        <p:nvSpPr>
          <p:cNvPr id="3" name="Content Placeholder 2"/>
          <p:cNvSpPr>
            <a:spLocks noGrp="1"/>
          </p:cNvSpPr>
          <p:nvPr>
            <p:ph idx="1"/>
          </p:nvPr>
        </p:nvSpPr>
        <p:spPr/>
        <p:txBody>
          <a:bodyPr wrap="square"/>
          <a:lstStyle/>
          <a:p>
            <a:endParaRPr/>
          </a:p>
          <a:p>
            <a:r>
              <a:t>Multiplicity of Taxes – Excise, VAT, Service Tax etc.</a:t>
            </a:r>
          </a:p>
          <a:p>
            <a:r>
              <a:t>Cascading Effect – 'Tax on Tax'.</a:t>
            </a:r>
          </a:p>
          <a:p>
            <a:r>
              <a:t>Fragmented System between Centre &amp; States.</a:t>
            </a:r>
          </a:p>
          <a:p>
            <a:r>
              <a:t>Complex Compliance, Narrow Tax Base.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31B39DC-82FC-8764-E452-B92B82A82C77}"/>
              </a:ext>
            </a:extLst>
          </p:cNvPr>
          <p:cNvGraphicFramePr>
            <a:graphicFrameLocks noGrp="1"/>
          </p:cNvGraphicFramePr>
          <p:nvPr>
            <p:extLst>
              <p:ext uri="{D42A27DB-BD31-4B8C-83A1-F6EECF244321}">
                <p14:modId xmlns:p14="http://schemas.microsoft.com/office/powerpoint/2010/main" val="3070709307"/>
              </p:ext>
            </p:extLst>
          </p:nvPr>
        </p:nvGraphicFramePr>
        <p:xfrm>
          <a:off x="838200" y="1280160"/>
          <a:ext cx="10515600" cy="5105796"/>
        </p:xfrm>
        <a:graphic>
          <a:graphicData uri="http://schemas.openxmlformats.org/drawingml/2006/table">
            <a:tbl>
              <a:tblPr/>
              <a:tblGrid>
                <a:gridCol w="757844">
                  <a:extLst>
                    <a:ext uri="{9D8B030D-6E8A-4147-A177-3AD203B41FA5}">
                      <a16:colId xmlns:a16="http://schemas.microsoft.com/office/drawing/2014/main" val="3586033726"/>
                    </a:ext>
                  </a:extLst>
                </a:gridCol>
                <a:gridCol w="2576945">
                  <a:extLst>
                    <a:ext uri="{9D8B030D-6E8A-4147-A177-3AD203B41FA5}">
                      <a16:colId xmlns:a16="http://schemas.microsoft.com/office/drawing/2014/main" val="789325394"/>
                    </a:ext>
                  </a:extLst>
                </a:gridCol>
                <a:gridCol w="7180811">
                  <a:extLst>
                    <a:ext uri="{9D8B030D-6E8A-4147-A177-3AD203B41FA5}">
                      <a16:colId xmlns:a16="http://schemas.microsoft.com/office/drawing/2014/main" val="3932030464"/>
                    </a:ext>
                  </a:extLst>
                </a:gridCol>
              </a:tblGrid>
              <a:tr h="419500">
                <a:tc>
                  <a:txBody>
                    <a:bodyPr/>
                    <a:lstStyle/>
                    <a:p>
                      <a:pPr>
                        <a:buNone/>
                      </a:pPr>
                      <a:r>
                        <a:rPr lang="en-IN" sz="2000" b="1"/>
                        <a:t>Sr. No.</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Defect</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Explanation</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7952860"/>
                  </a:ext>
                </a:extLst>
              </a:tr>
              <a:tr h="734126">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Multiplicity of Taxes</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Many overlapping taxes (excise, VAT, service tax, octroi).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525356"/>
                  </a:ext>
                </a:extLst>
              </a:tr>
              <a:tr h="734126">
                <a:tc>
                  <a:txBody>
                    <a:bodyPr/>
                    <a:lstStyle/>
                    <a:p>
                      <a:pPr>
                        <a:buNone/>
                      </a:pPr>
                      <a:r>
                        <a:rPr lang="en-IN" sz="20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t>Cascading Effect</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“Tax on Tax” due to lack of input credit across goods &amp;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1173492"/>
                  </a:ext>
                </a:extLst>
              </a:tr>
              <a:tr h="734126">
                <a:tc>
                  <a:txBody>
                    <a:bodyPr/>
                    <a:lstStyle/>
                    <a:p>
                      <a:pPr>
                        <a:buNone/>
                      </a:pPr>
                      <a:r>
                        <a:rPr lang="en-IN" sz="20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t>Fragmented System</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Separate taxation by Centre and States without coordination.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6728107"/>
                  </a:ext>
                </a:extLst>
              </a:tr>
              <a:tr h="734126">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Narrow Tax Base</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Many exemptions reduced revenue potential.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269139"/>
                  </a:ext>
                </a:extLst>
              </a:tr>
              <a:tr h="734126">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Complex Compliance</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Multiple returns and authorities created high compliance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9452169"/>
                  </a:ext>
                </a:extLst>
              </a:tr>
              <a:tr h="734126">
                <a:tc>
                  <a:txBody>
                    <a:bodyPr/>
                    <a:lstStyle/>
                    <a:p>
                      <a:pPr>
                        <a:buNone/>
                      </a:pPr>
                      <a:r>
                        <a:rPr lang="en-IN" sz="20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Barriers to Free Trade</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CST and entry tax hindered free movement of goods across states.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344106"/>
                  </a:ext>
                </a:extLst>
              </a:tr>
            </a:tbl>
          </a:graphicData>
        </a:graphic>
      </p:graphicFrame>
      <p:sp>
        <p:nvSpPr>
          <p:cNvPr id="6" name="TextBox 5">
            <a:extLst>
              <a:ext uri="{FF2B5EF4-FFF2-40B4-BE49-F238E27FC236}">
                <a16:creationId xmlns:a16="http://schemas.microsoft.com/office/drawing/2014/main" id="{02C7657B-14FD-4D15-55A8-FBBABAE57B89}"/>
              </a:ext>
            </a:extLst>
          </p:cNvPr>
          <p:cNvSpPr txBox="1"/>
          <p:nvPr/>
        </p:nvSpPr>
        <p:spPr>
          <a:xfrm>
            <a:off x="2930237" y="568920"/>
            <a:ext cx="6093228" cy="369332"/>
          </a:xfrm>
          <a:prstGeom prst="rect">
            <a:avLst/>
          </a:prstGeom>
          <a:noFill/>
        </p:spPr>
        <p:txBody>
          <a:bodyPr wrap="square">
            <a:spAutoFit/>
          </a:bodyPr>
          <a:lstStyle/>
          <a:p>
            <a:r>
              <a:rPr lang="en-US" dirty="0"/>
              <a:t>Major Defects in the Structure of Indirect Taxes prior to GST</a:t>
            </a:r>
            <a:endParaRPr lang="en-IN" dirty="0"/>
          </a:p>
        </p:txBody>
      </p:sp>
    </p:spTree>
    <p:extLst>
      <p:ext uri="{BB962C8B-B14F-4D97-AF65-F5344CB8AC3E}">
        <p14:creationId xmlns:p14="http://schemas.microsoft.com/office/powerpoint/2010/main" val="20338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Rationale for GST</a:t>
            </a:r>
          </a:p>
        </p:txBody>
      </p:sp>
      <p:sp>
        <p:nvSpPr>
          <p:cNvPr id="3" name="Content Placeholder 2"/>
          <p:cNvSpPr>
            <a:spLocks noGrp="1"/>
          </p:cNvSpPr>
          <p:nvPr>
            <p:ph idx="1"/>
          </p:nvPr>
        </p:nvSpPr>
        <p:spPr/>
        <p:txBody>
          <a:bodyPr wrap="square"/>
          <a:lstStyle/>
          <a:p>
            <a:endParaRPr dirty="0"/>
          </a:p>
          <a:p>
            <a:r>
              <a:rPr lang="en-US" dirty="0"/>
              <a:t>To eliminate cascading effect and make goods/services cheaper.</a:t>
            </a:r>
          </a:p>
          <a:p>
            <a:r>
              <a:rPr lang="en-US" dirty="0"/>
              <a:t>To create a unified national market (“One Nation, One Tax”).</a:t>
            </a:r>
          </a:p>
          <a:p>
            <a:r>
              <a:rPr lang="en-US" dirty="0"/>
              <a:t>To simplify tax structure and compliance.</a:t>
            </a:r>
          </a:p>
          <a:p>
            <a:r>
              <a:rPr lang="en-US" dirty="0"/>
              <a:t>To widen tax base and improve revenue efficiency.</a:t>
            </a:r>
          </a:p>
          <a:p>
            <a:r>
              <a:rPr lang="en-US" dirty="0"/>
              <a:t>To ensure seamless input tax credit across goods and services.</a:t>
            </a:r>
          </a:p>
          <a:p>
            <a:r>
              <a:rPr lang="en-US" dirty="0"/>
              <a:t>To enhance transparency and digital governance.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Structure of GST</a:t>
            </a:r>
          </a:p>
        </p:txBody>
      </p:sp>
      <p:graphicFrame>
        <p:nvGraphicFramePr>
          <p:cNvPr id="4" name="Content Placeholder 3">
            <a:extLst>
              <a:ext uri="{FF2B5EF4-FFF2-40B4-BE49-F238E27FC236}">
                <a16:creationId xmlns:a16="http://schemas.microsoft.com/office/drawing/2014/main" id="{585018AA-2946-17BF-3385-E3D38CE27BD0}"/>
              </a:ext>
            </a:extLst>
          </p:cNvPr>
          <p:cNvGraphicFramePr>
            <a:graphicFrameLocks noGrp="1"/>
          </p:cNvGraphicFramePr>
          <p:nvPr>
            <p:ph idx="1"/>
            <p:extLst>
              <p:ext uri="{D42A27DB-BD31-4B8C-83A1-F6EECF244321}">
                <p14:modId xmlns:p14="http://schemas.microsoft.com/office/powerpoint/2010/main" val="395564986"/>
              </p:ext>
            </p:extLst>
          </p:nvPr>
        </p:nvGraphicFramePr>
        <p:xfrm>
          <a:off x="838200" y="1479665"/>
          <a:ext cx="10515600" cy="4705005"/>
        </p:xfrm>
        <a:graphic>
          <a:graphicData uri="http://schemas.openxmlformats.org/drawingml/2006/table">
            <a:tbl>
              <a:tblPr/>
              <a:tblGrid>
                <a:gridCol w="3368040">
                  <a:extLst>
                    <a:ext uri="{9D8B030D-6E8A-4147-A177-3AD203B41FA5}">
                      <a16:colId xmlns:a16="http://schemas.microsoft.com/office/drawing/2014/main" val="642706088"/>
                    </a:ext>
                  </a:extLst>
                </a:gridCol>
                <a:gridCol w="1889760">
                  <a:extLst>
                    <a:ext uri="{9D8B030D-6E8A-4147-A177-3AD203B41FA5}">
                      <a16:colId xmlns:a16="http://schemas.microsoft.com/office/drawing/2014/main" val="2658807964"/>
                    </a:ext>
                  </a:extLst>
                </a:gridCol>
                <a:gridCol w="2628900">
                  <a:extLst>
                    <a:ext uri="{9D8B030D-6E8A-4147-A177-3AD203B41FA5}">
                      <a16:colId xmlns:a16="http://schemas.microsoft.com/office/drawing/2014/main" val="757523725"/>
                    </a:ext>
                  </a:extLst>
                </a:gridCol>
                <a:gridCol w="2628900">
                  <a:extLst>
                    <a:ext uri="{9D8B030D-6E8A-4147-A177-3AD203B41FA5}">
                      <a16:colId xmlns:a16="http://schemas.microsoft.com/office/drawing/2014/main" val="1231549455"/>
                    </a:ext>
                  </a:extLst>
                </a:gridCol>
              </a:tblGrid>
              <a:tr h="723847">
                <a:tc>
                  <a:txBody>
                    <a:bodyPr/>
                    <a:lstStyle/>
                    <a:p>
                      <a:pPr>
                        <a:buNone/>
                      </a:pPr>
                      <a:r>
                        <a:rPr lang="en-IN" sz="2000" b="1"/>
                        <a:t>Component</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Levied by</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Applicable on</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Example</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8268420"/>
                  </a:ext>
                </a:extLst>
              </a:tr>
              <a:tr h="723847">
                <a:tc>
                  <a:txBody>
                    <a:bodyPr/>
                    <a:lstStyle/>
                    <a:p>
                      <a:pPr>
                        <a:buNone/>
                      </a:pPr>
                      <a:r>
                        <a:rPr lang="en-IN" sz="2000" b="1"/>
                        <a:t>CGST</a:t>
                      </a:r>
                      <a:r>
                        <a:rPr lang="en-IN" sz="2000"/>
                        <a:t> (Central 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Central Govt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Intra-State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Within Maharashtra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3430281"/>
                  </a:ext>
                </a:extLst>
              </a:tr>
              <a:tr h="723847">
                <a:tc>
                  <a:txBody>
                    <a:bodyPr/>
                    <a:lstStyle/>
                    <a:p>
                      <a:pPr>
                        <a:buNone/>
                      </a:pPr>
                      <a:r>
                        <a:rPr lang="en-IN" sz="2000" b="1"/>
                        <a:t>SGST</a:t>
                      </a:r>
                      <a:r>
                        <a:rPr lang="en-IN" sz="2000"/>
                        <a:t> (State 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State Govt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Intra-State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Within Maharashtra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63770"/>
                  </a:ext>
                </a:extLst>
              </a:tr>
              <a:tr h="1266732">
                <a:tc>
                  <a:txBody>
                    <a:bodyPr/>
                    <a:lstStyle/>
                    <a:p>
                      <a:pPr>
                        <a:buNone/>
                      </a:pPr>
                      <a:r>
                        <a:rPr lang="en-IN" sz="2000" b="1"/>
                        <a:t>UTGST</a:t>
                      </a:r>
                      <a:r>
                        <a:rPr lang="en-IN" sz="2000"/>
                        <a:t> (Union Territory 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UT Govt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Intra-UT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Within Delhi, Chandigarh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025565"/>
                  </a:ext>
                </a:extLst>
              </a:tr>
              <a:tr h="1266732">
                <a:tc>
                  <a:txBody>
                    <a:bodyPr/>
                    <a:lstStyle/>
                    <a:p>
                      <a:pPr>
                        <a:buNone/>
                      </a:pPr>
                      <a:r>
                        <a:rPr lang="en-IN" sz="2000" b="1"/>
                        <a:t>IGST</a:t>
                      </a:r>
                      <a:r>
                        <a:rPr lang="en-IN" sz="2000"/>
                        <a:t> (Integrated 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Central Govt (shared later)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Inter-State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Maharashtra → Gujarat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28156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GST Council</a:t>
            </a:r>
          </a:p>
        </p:txBody>
      </p:sp>
      <p:sp>
        <p:nvSpPr>
          <p:cNvPr id="3" name="Content Placeholder 2"/>
          <p:cNvSpPr>
            <a:spLocks noGrp="1"/>
          </p:cNvSpPr>
          <p:nvPr>
            <p:ph idx="1"/>
          </p:nvPr>
        </p:nvSpPr>
        <p:spPr/>
        <p:txBody>
          <a:bodyPr wrap="square"/>
          <a:lstStyle/>
          <a:p>
            <a:endParaRPr dirty="0"/>
          </a:p>
          <a:p>
            <a:r>
              <a:rPr dirty="0"/>
              <a:t>Constitutional Body under Article 279A.</a:t>
            </a:r>
          </a:p>
          <a:p>
            <a:r>
              <a:rPr dirty="0"/>
              <a:t>Chairperson: Union Finance Minister.</a:t>
            </a:r>
          </a:p>
          <a:p>
            <a:r>
              <a:rPr dirty="0"/>
              <a:t>Members: Finance Ministers of States.</a:t>
            </a:r>
          </a:p>
          <a:p>
            <a:r>
              <a:rPr dirty="0"/>
              <a:t>Functions: </a:t>
            </a:r>
            <a:endParaRPr lang="en-US" dirty="0"/>
          </a:p>
          <a:p>
            <a:pPr lvl="1"/>
            <a:r>
              <a:rPr lang="en-US" dirty="0"/>
              <a:t>Recommend tax rates, exemptions, threshold limits. </a:t>
            </a:r>
          </a:p>
          <a:p>
            <a:pPr lvl="1"/>
            <a:r>
              <a:rPr lang="en-US" dirty="0"/>
              <a:t>Suggest model GST laws. </a:t>
            </a:r>
          </a:p>
          <a:p>
            <a:pPr lvl="1"/>
            <a:r>
              <a:rPr lang="en-US" dirty="0"/>
              <a:t>Advise on revenue sharing between Centre and States.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GST Network (GSTN)</a:t>
            </a:r>
          </a:p>
        </p:txBody>
      </p:sp>
      <p:sp>
        <p:nvSpPr>
          <p:cNvPr id="3" name="Content Placeholder 2"/>
          <p:cNvSpPr>
            <a:spLocks noGrp="1"/>
          </p:cNvSpPr>
          <p:nvPr>
            <p:ph idx="1"/>
          </p:nvPr>
        </p:nvSpPr>
        <p:spPr/>
        <p:txBody>
          <a:bodyPr wrap="square"/>
          <a:lstStyle/>
          <a:p>
            <a:endParaRPr/>
          </a:p>
          <a:p>
            <a:r>
              <a:t>IT Backbone of GST system.</a:t>
            </a:r>
          </a:p>
          <a:p>
            <a:r>
              <a:t>Handles registration, returns, payments, refunds.</a:t>
            </a:r>
          </a:p>
          <a:p>
            <a:r>
              <a:t>Section 8 non-profit company jointly owned by Centre &amp; States.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State Compensation Mechanism</a:t>
            </a:r>
          </a:p>
        </p:txBody>
      </p:sp>
      <p:sp>
        <p:nvSpPr>
          <p:cNvPr id="3" name="Content Placeholder 2"/>
          <p:cNvSpPr>
            <a:spLocks noGrp="1"/>
          </p:cNvSpPr>
          <p:nvPr>
            <p:ph idx="1"/>
          </p:nvPr>
        </p:nvSpPr>
        <p:spPr/>
        <p:txBody>
          <a:bodyPr wrap="square"/>
          <a:lstStyle/>
          <a:p>
            <a:endParaRPr dirty="0"/>
          </a:p>
          <a:p>
            <a:r>
              <a:rPr dirty="0"/>
              <a:t>To compensate States for revenue loss due to GST.</a:t>
            </a:r>
          </a:p>
          <a:p>
            <a:r>
              <a:rPr lang="en-US" dirty="0"/>
              <a:t>Compensation </a:t>
            </a:r>
            <a:r>
              <a:rPr lang="en-US" dirty="0" err="1"/>
              <a:t>Cess</a:t>
            </a:r>
            <a:r>
              <a:rPr lang="en-US" dirty="0"/>
              <a:t> levied on luxury/sin goods (e.g., tobacco, coal, aerated drinks, cars).</a:t>
            </a:r>
          </a:p>
          <a:p>
            <a:r>
              <a:rPr lang="en-US" dirty="0"/>
              <a:t>States assured 14% annual revenue growth for initial 5 years (till June 2022).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9. Registration under GST</a:t>
            </a:r>
          </a:p>
        </p:txBody>
      </p:sp>
      <p:sp>
        <p:nvSpPr>
          <p:cNvPr id="3" name="Content Placeholder 2"/>
          <p:cNvSpPr>
            <a:spLocks noGrp="1"/>
          </p:cNvSpPr>
          <p:nvPr>
            <p:ph idx="1"/>
          </p:nvPr>
        </p:nvSpPr>
        <p:spPr/>
        <p:txBody>
          <a:bodyPr wrap="square">
            <a:normAutofit fontScale="92500"/>
          </a:bodyPr>
          <a:lstStyle/>
          <a:p>
            <a:pPr marL="0" indent="0">
              <a:buNone/>
            </a:pPr>
            <a:r>
              <a:rPr lang="en-IN" dirty="0"/>
              <a:t>Who must register?</a:t>
            </a:r>
          </a:p>
          <a:p>
            <a:pPr lvl="1"/>
            <a:r>
              <a:rPr lang="en-IN" dirty="0"/>
              <a:t>Businesses with aggregate turnover exceeding ₹40 lakh (₹20 lakh for services; lower for special category states).</a:t>
            </a:r>
          </a:p>
          <a:p>
            <a:pPr lvl="1"/>
            <a:r>
              <a:rPr lang="en-IN" dirty="0"/>
              <a:t>Persons making inter-state supply of taxable goods.</a:t>
            </a:r>
          </a:p>
          <a:p>
            <a:pPr lvl="1"/>
            <a:r>
              <a:rPr lang="en-IN" dirty="0"/>
              <a:t>Casual / Non-resident taxable persons.</a:t>
            </a:r>
          </a:p>
          <a:p>
            <a:pPr lvl="1"/>
            <a:r>
              <a:rPr lang="en-IN" dirty="0"/>
              <a:t>E-commerce operators and TDS </a:t>
            </a:r>
            <a:r>
              <a:rPr lang="en-IN" dirty="0" err="1"/>
              <a:t>deductors</a:t>
            </a:r>
            <a:r>
              <a:rPr lang="en-IN" dirty="0"/>
              <a:t>.</a:t>
            </a:r>
          </a:p>
          <a:p>
            <a:pPr marL="0" indent="0">
              <a:buNone/>
            </a:pPr>
            <a:r>
              <a:rPr lang="en-IN" b="1" dirty="0"/>
              <a:t>Documents required:</a:t>
            </a:r>
          </a:p>
          <a:p>
            <a:pPr marL="0" indent="0">
              <a:buNone/>
            </a:pPr>
            <a:r>
              <a:rPr lang="en-IN" dirty="0"/>
              <a:t>PAN, Aadhaar, Address proof, Bank details, Business constitution documents.</a:t>
            </a:r>
          </a:p>
          <a:p>
            <a:pPr marL="0" indent="0">
              <a:buNone/>
            </a:pPr>
            <a:r>
              <a:rPr lang="en-IN" b="1" dirty="0"/>
              <a:t>Result:</a:t>
            </a:r>
          </a:p>
          <a:p>
            <a:pPr marL="0" indent="0">
              <a:buNone/>
            </a:pPr>
            <a:r>
              <a:rPr lang="en-IN" dirty="0"/>
              <a:t>A unique GSTIN (15-digit) is allotted for each registered entity.</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10. GST Framework Overview (Infographic Summary)</a:t>
            </a:r>
          </a:p>
        </p:txBody>
      </p:sp>
      <p:sp>
        <p:nvSpPr>
          <p:cNvPr id="3" name="Content Placeholder 2"/>
          <p:cNvSpPr>
            <a:spLocks noGrp="1"/>
          </p:cNvSpPr>
          <p:nvPr>
            <p:ph idx="1"/>
          </p:nvPr>
        </p:nvSpPr>
        <p:spPr/>
        <p:txBody>
          <a:bodyPr wrap="square"/>
          <a:lstStyle/>
          <a:p>
            <a:r>
              <a:t>GST Council → GST Structure (CGST, SGST, IGST) → GSTN (Digital System) → State Compensation Fund.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516379" y="59715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solidFill>
                  <a:schemeClr val="tx1"/>
                </a:solidFill>
              </a:rPr>
              <a:t>Value Added Tax, or otherwise called as VAT, is a multi-point tax system, wherein the tax is levied by the state government, at each level of production/distribution of goods.</a:t>
            </a:r>
          </a:p>
          <a:p>
            <a:endParaRPr lang="en-IN" sz="2800" dirty="0">
              <a:solidFill>
                <a:schemeClr val="tx1"/>
              </a:solidFill>
            </a:endParaRPr>
          </a:p>
          <a:p>
            <a:pPr marL="457200" indent="-457200">
              <a:buFont typeface="Wingdings" panose="05000000000000000000" pitchFamily="2" charset="2"/>
              <a:buChar char="Ø"/>
            </a:pPr>
            <a:r>
              <a:rPr lang="en-IN" sz="2800" dirty="0">
                <a:solidFill>
                  <a:schemeClr val="tx1"/>
                </a:solidFill>
              </a:rPr>
              <a:t>In this regime, the tax is levied on the incremental value of the goods, to eliminate the cascading effect, at different levels of sale. It is a type of consumption tax, wherein the value addition made by the firm is equal to the difference between proceeds and the cost of purchases.</a:t>
            </a:r>
          </a:p>
          <a:p>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Value Added Tax(VAT)</a:t>
            </a:r>
          </a:p>
        </p:txBody>
      </p:sp>
    </p:spTree>
    <p:extLst>
      <p:ext uri="{BB962C8B-B14F-4D97-AF65-F5344CB8AC3E}">
        <p14:creationId xmlns:p14="http://schemas.microsoft.com/office/powerpoint/2010/main" val="2259989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516379" y="59715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solidFill>
                  <a:schemeClr val="tx1"/>
                </a:solidFill>
              </a:rPr>
              <a:t>It allows the purchaser of the goods to avail input tax credit, i.e. the tax paid at the previous stage will be deducted from the net tax liability. To avail the input tax credit under VAT system, every dealer is required to obtain registration.</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r>
              <a:rPr lang="en-IN" sz="2800" dirty="0">
                <a:solidFill>
                  <a:schemeClr val="tx1"/>
                </a:solidFill>
              </a:rPr>
              <a:t>In this system, the VAT is levied at different types of rates, 0% is for agricultural goods and items of social importance, 1% gold and silver jewellery, 4% raw material or inputs used in manufacturing and capital goods, 20% for luxury items and remaining items are taxed as per normal slab rate, i.e. 12.5%.</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Value Added Tax(VAT)</a:t>
            </a:r>
          </a:p>
        </p:txBody>
      </p:sp>
    </p:spTree>
    <p:extLst>
      <p:ext uri="{BB962C8B-B14F-4D97-AF65-F5344CB8AC3E}">
        <p14:creationId xmlns:p14="http://schemas.microsoft.com/office/powerpoint/2010/main" val="107355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2" name="Picture 1"/>
          <p:cNvPicPr>
            <a:picLocks noChangeAspect="1"/>
          </p:cNvPicPr>
          <p:nvPr/>
        </p:nvPicPr>
        <p:blipFill>
          <a:blip r:embed="rId2"/>
          <a:stretch>
            <a:fillRect/>
          </a:stretch>
        </p:blipFill>
        <p:spPr>
          <a:xfrm>
            <a:off x="1632857" y="1138336"/>
            <a:ext cx="8733453" cy="4654525"/>
          </a:xfrm>
          <a:prstGeom prst="rect">
            <a:avLst/>
          </a:prstGeom>
        </p:spPr>
      </p:pic>
    </p:spTree>
    <p:extLst>
      <p:ext uri="{BB962C8B-B14F-4D97-AF65-F5344CB8AC3E}">
        <p14:creationId xmlns:p14="http://schemas.microsoft.com/office/powerpoint/2010/main" val="1278706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solidFill>
                  <a:schemeClr val="tx1"/>
                </a:solidFill>
              </a:rPr>
              <a:t>GST stands for Goods and Services Tax, which is a destination based value added tax charged on the production, sale and consumption of goods and services. It is important to note that GST applies to the value addition at each stage, and no other tax would be levied, which results in the elimination of cascading effect.</a:t>
            </a:r>
          </a:p>
          <a:p>
            <a:endParaRPr lang="en-IN" sz="2800" dirty="0">
              <a:solidFill>
                <a:schemeClr val="tx1"/>
              </a:solidFill>
            </a:endParaRPr>
          </a:p>
          <a:p>
            <a:pPr marL="457200" indent="-457200">
              <a:buFont typeface="Wingdings" panose="05000000000000000000" pitchFamily="2" charset="2"/>
              <a:buChar char="Ø"/>
            </a:pPr>
            <a:r>
              <a:rPr lang="en-IN" sz="2800" dirty="0">
                <a:solidFill>
                  <a:schemeClr val="tx1"/>
                </a:solidFill>
              </a:rPr>
              <a:t>In this system, the supplier of the goods or services is eligible to avail input tax credit, i.e. the GST paid on the purchase of goods, will be set off against the GST payable on the supply of goods and services. So, ultimately, the end consumer, bears the tax imposed by the last supplier in the distribution chain</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spTree>
    <p:extLst>
      <p:ext uri="{BB962C8B-B14F-4D97-AF65-F5344CB8AC3E}">
        <p14:creationId xmlns:p14="http://schemas.microsoft.com/office/powerpoint/2010/main" val="1311587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solidFill>
                  <a:schemeClr val="tx1"/>
                </a:solidFill>
              </a:rPr>
              <a:t>GST stands for Goods and Services Tax, which is a destination based value added tax charged on the production, sale and consumption of goods and services. It is important to note that GST applies to the value addition at each stage, and no other tax would be levied, which results in the elimination of cascading effect.</a:t>
            </a:r>
          </a:p>
          <a:p>
            <a:endParaRPr lang="en-IN" sz="2800" dirty="0">
              <a:solidFill>
                <a:schemeClr val="tx1"/>
              </a:solidFill>
            </a:endParaRPr>
          </a:p>
          <a:p>
            <a:pPr marL="457200" indent="-457200">
              <a:buFont typeface="Wingdings" panose="05000000000000000000" pitchFamily="2" charset="2"/>
              <a:buChar char="Ø"/>
            </a:pPr>
            <a:r>
              <a:rPr lang="en-IN" sz="2800" dirty="0">
                <a:solidFill>
                  <a:schemeClr val="tx1"/>
                </a:solidFill>
              </a:rPr>
              <a:t>In this system, the supplier of the goods or services is eligible to avail input tax credit, i.e. the GST paid on the purchase of goods, will be set off against the GST payable on the supply of goods and services. So, ultimately, the end consumer, bears the tax imposed by the last supplier in the distribution chain</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spTree>
    <p:extLst>
      <p:ext uri="{BB962C8B-B14F-4D97-AF65-F5344CB8AC3E}">
        <p14:creationId xmlns:p14="http://schemas.microsoft.com/office/powerpoint/2010/main" val="233513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638002" y="748515"/>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600" dirty="0">
                <a:solidFill>
                  <a:schemeClr val="tx1"/>
                </a:solidFill>
              </a:rPr>
              <a:t>In India, Dual GST has been implemented, which is simultaneously levied by the Central and State government to tax goods and services. The Centre charges the tax on intrastate sales,  called as CGST. </a:t>
            </a:r>
          </a:p>
          <a:p>
            <a:pPr marL="457200" indent="-457200">
              <a:buFont typeface="Wingdings" panose="05000000000000000000" pitchFamily="2" charset="2"/>
              <a:buChar char="Ø"/>
            </a:pPr>
            <a:r>
              <a:rPr lang="en-IN" sz="2600" dirty="0">
                <a:solidFill>
                  <a:schemeClr val="tx1"/>
                </a:solidFill>
              </a:rPr>
              <a:t>States charges tax on the services, called SGST and UTGST in case of Union Territories. </a:t>
            </a:r>
          </a:p>
          <a:p>
            <a:pPr marL="457200" indent="-457200">
              <a:buFont typeface="Wingdings" panose="05000000000000000000" pitchFamily="2" charset="2"/>
              <a:buChar char="Ø"/>
            </a:pPr>
            <a:r>
              <a:rPr lang="en-IN" sz="2600" dirty="0">
                <a:solidFill>
                  <a:schemeClr val="tx1"/>
                </a:solidFill>
              </a:rPr>
              <a:t>For the interstate supply of goods and services that are taxable, are covered under IGST, i.e. Integrated Goods and Services Tax.</a:t>
            </a: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r>
              <a:rPr lang="en-IN" sz="2600" dirty="0">
                <a:solidFill>
                  <a:schemeClr val="tx1"/>
                </a:solidFill>
              </a:rPr>
              <a:t>There are many indirect taxes, which are subsumed after the introduction of GST in India, which are as under:</a:t>
            </a:r>
          </a:p>
          <a:p>
            <a:pPr lvl="0"/>
            <a:r>
              <a:rPr lang="en-IN" sz="2600" dirty="0">
                <a:solidFill>
                  <a:schemeClr val="tx1"/>
                </a:solidFill>
              </a:rPr>
              <a:t>      </a:t>
            </a:r>
            <a:r>
              <a:rPr lang="en-IN" sz="2600" b="1" dirty="0">
                <a:solidFill>
                  <a:schemeClr val="tx1"/>
                </a:solidFill>
              </a:rPr>
              <a:t>At CGST level: </a:t>
            </a:r>
            <a:r>
              <a:rPr lang="en-IN" sz="2600" dirty="0">
                <a:solidFill>
                  <a:schemeClr val="tx1"/>
                </a:solidFill>
              </a:rPr>
              <a:t>Excise Duty, Service tax, surcharge and cess</a:t>
            </a:r>
          </a:p>
          <a:p>
            <a:pPr lvl="0"/>
            <a:r>
              <a:rPr lang="en-IN" sz="2600" dirty="0">
                <a:solidFill>
                  <a:schemeClr val="tx1"/>
                </a:solidFill>
              </a:rPr>
              <a:t>     </a:t>
            </a:r>
            <a:r>
              <a:rPr lang="en-IN" sz="2600" b="1" dirty="0">
                <a:solidFill>
                  <a:schemeClr val="tx1"/>
                </a:solidFill>
              </a:rPr>
              <a:t>At SGST level: </a:t>
            </a:r>
            <a:r>
              <a:rPr lang="en-IN" sz="2600" dirty="0" err="1">
                <a:solidFill>
                  <a:schemeClr val="tx1"/>
                </a:solidFill>
              </a:rPr>
              <a:t>Octroi</a:t>
            </a:r>
            <a:r>
              <a:rPr lang="en-IN" sz="2600" dirty="0">
                <a:solidFill>
                  <a:schemeClr val="tx1"/>
                </a:solidFill>
              </a:rPr>
              <a:t> or Entry tax, VAT, luxury tax, surcharge and cess</a:t>
            </a:r>
          </a:p>
          <a:p>
            <a:pPr lvl="0"/>
            <a:r>
              <a:rPr lang="en-IN" sz="2600" dirty="0">
                <a:solidFill>
                  <a:schemeClr val="tx1"/>
                </a:solidFill>
              </a:rPr>
              <a:t>     </a:t>
            </a:r>
            <a:r>
              <a:rPr lang="en-IN" sz="2600" b="1" dirty="0">
                <a:solidFill>
                  <a:schemeClr val="tx1"/>
                </a:solidFill>
              </a:rPr>
              <a:t>At IGST level: </a:t>
            </a:r>
            <a:r>
              <a:rPr lang="en-IN" sz="2600" dirty="0">
                <a:solidFill>
                  <a:schemeClr val="tx1"/>
                </a:solidFill>
              </a:rPr>
              <a:t>Central Sales Tax</a:t>
            </a:r>
          </a:p>
          <a:p>
            <a:r>
              <a:rPr lang="en-IN" sz="2600" dirty="0">
                <a:solidFill>
                  <a:schemeClr val="tx1"/>
                </a:solidFill>
              </a:rPr>
              <a:t>     </a:t>
            </a:r>
          </a:p>
          <a:p>
            <a:r>
              <a:rPr lang="en-IN" sz="2600" dirty="0">
                <a:solidFill>
                  <a:schemeClr val="tx1"/>
                </a:solidFill>
              </a:rPr>
              <a:t>	GST slabs are fixed at 5%, 12%, 18% and 28%.</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spTree>
    <p:extLst>
      <p:ext uri="{BB962C8B-B14F-4D97-AF65-F5344CB8AC3E}">
        <p14:creationId xmlns:p14="http://schemas.microsoft.com/office/powerpoint/2010/main" val="506033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46479" y="431807"/>
            <a:ext cx="9917944"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algn="ctr"/>
            <a:r>
              <a:rPr lang="en-IN" sz="2600" dirty="0">
                <a:solidFill>
                  <a:schemeClr val="tx1"/>
                </a:solidFill>
              </a:rPr>
              <a:t>Impact of GST on Consumers</a:t>
            </a:r>
          </a:p>
          <a:p>
            <a:pPr algn="ctr"/>
            <a:endParaRPr lang="en-IN" sz="2600" dirty="0">
              <a:solidFill>
                <a:schemeClr val="tx1"/>
              </a:solidFill>
            </a:endParaRPr>
          </a:p>
          <a:p>
            <a:pPr algn="ctr"/>
            <a:endParaRPr lang="en-IN" sz="2600" dirty="0">
              <a:solidFill>
                <a:schemeClr val="tx1"/>
              </a:solidFill>
            </a:endParaRPr>
          </a:p>
          <a:p>
            <a:pPr marL="971550" lvl="1" indent="-514350">
              <a:buFont typeface="+mj-lt"/>
              <a:buAutoNum type="arabicPeriod"/>
            </a:pPr>
            <a:r>
              <a:rPr lang="en-IN" sz="2600" dirty="0">
                <a:solidFill>
                  <a:schemeClr val="tx1"/>
                </a:solidFill>
              </a:rPr>
              <a:t>Simpler Tax system</a:t>
            </a:r>
          </a:p>
          <a:p>
            <a:pPr marL="971550" lvl="1" indent="-514350">
              <a:buFont typeface="+mj-lt"/>
              <a:buAutoNum type="arabicPeriod"/>
            </a:pPr>
            <a:r>
              <a:rPr lang="en-IN" sz="2600" dirty="0">
                <a:solidFill>
                  <a:schemeClr val="tx1"/>
                </a:solidFill>
              </a:rPr>
              <a:t>Reduction in prices of goods &amp; services due to elimination of repeated taxes</a:t>
            </a:r>
          </a:p>
          <a:p>
            <a:pPr marL="971550" lvl="1" indent="-514350">
              <a:buFont typeface="+mj-lt"/>
              <a:buAutoNum type="arabicPeriod"/>
            </a:pPr>
            <a:r>
              <a:rPr lang="en-IN" sz="2600" dirty="0">
                <a:solidFill>
                  <a:schemeClr val="tx1"/>
                </a:solidFill>
              </a:rPr>
              <a:t>Uniform prices throughout the country</a:t>
            </a:r>
          </a:p>
          <a:p>
            <a:pPr marL="971550" lvl="1" indent="-514350">
              <a:buFont typeface="+mj-lt"/>
              <a:buAutoNum type="arabicPeriod"/>
            </a:pPr>
            <a:r>
              <a:rPr lang="en-IN" sz="2600" dirty="0">
                <a:solidFill>
                  <a:schemeClr val="tx1"/>
                </a:solidFill>
              </a:rPr>
              <a:t>Transparency in taxation system</a:t>
            </a:r>
          </a:p>
          <a:p>
            <a:pPr marL="971550" lvl="1" indent="-514350">
              <a:buFont typeface="+mj-lt"/>
              <a:buAutoNum type="arabicPeriod"/>
            </a:pPr>
            <a:r>
              <a:rPr lang="en-IN" sz="2600" dirty="0">
                <a:solidFill>
                  <a:schemeClr val="tx1"/>
                </a:solidFill>
              </a:rPr>
              <a:t>Increase in employment opportunities</a:t>
            </a:r>
          </a:p>
          <a:p>
            <a:pPr lvl="1"/>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spTree>
    <p:extLst>
      <p:ext uri="{BB962C8B-B14F-4D97-AF65-F5344CB8AC3E}">
        <p14:creationId xmlns:p14="http://schemas.microsoft.com/office/powerpoint/2010/main" val="905207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42950" y="497122"/>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algn="ctr"/>
            <a:r>
              <a:rPr lang="en-IN" sz="2600" b="1" dirty="0">
                <a:solidFill>
                  <a:schemeClr val="tx1"/>
                </a:solidFill>
              </a:rPr>
              <a:t>Impact of GST on Traders</a:t>
            </a:r>
          </a:p>
          <a:p>
            <a:pPr algn="ctr"/>
            <a:endParaRPr lang="en-IN" sz="2600" dirty="0">
              <a:solidFill>
                <a:schemeClr val="tx1"/>
              </a:solidFill>
            </a:endParaRPr>
          </a:p>
          <a:p>
            <a:pPr marL="971550" lvl="1" indent="-514350">
              <a:buFont typeface="+mj-lt"/>
              <a:buAutoNum type="arabicPeriod"/>
            </a:pPr>
            <a:r>
              <a:rPr lang="en-IN" sz="2600" dirty="0">
                <a:solidFill>
                  <a:schemeClr val="tx1"/>
                </a:solidFill>
              </a:rPr>
              <a:t>Reduction in multiplicity of taxes</a:t>
            </a:r>
          </a:p>
          <a:p>
            <a:pPr marL="971550" lvl="1" indent="-514350">
              <a:buFont typeface="+mj-lt"/>
              <a:buAutoNum type="arabicPeriod"/>
            </a:pPr>
            <a:r>
              <a:rPr lang="en-IN" sz="2600" dirty="0">
                <a:solidFill>
                  <a:schemeClr val="tx1"/>
                </a:solidFill>
              </a:rPr>
              <a:t>Reducing double taxation through input tax credit</a:t>
            </a:r>
          </a:p>
          <a:p>
            <a:pPr marL="971550" lvl="1" indent="-514350">
              <a:buFont typeface="+mj-lt"/>
              <a:buAutoNum type="arabicPeriod"/>
            </a:pPr>
            <a:r>
              <a:rPr lang="en-IN" sz="2600" dirty="0">
                <a:solidFill>
                  <a:schemeClr val="tx1"/>
                </a:solidFill>
              </a:rPr>
              <a:t>More efficient neutralisation of taxes especially for exports</a:t>
            </a:r>
          </a:p>
          <a:p>
            <a:pPr marL="971550" lvl="1" indent="-514350">
              <a:buFont typeface="+mj-lt"/>
              <a:buAutoNum type="arabicPeriod"/>
            </a:pPr>
            <a:r>
              <a:rPr lang="en-IN" sz="2600" dirty="0">
                <a:solidFill>
                  <a:schemeClr val="tx1"/>
                </a:solidFill>
              </a:rPr>
              <a:t>Development of common national market</a:t>
            </a:r>
          </a:p>
          <a:p>
            <a:pPr marL="971550" lvl="1" indent="-514350">
              <a:buFont typeface="+mj-lt"/>
              <a:buAutoNum type="arabicPeriod"/>
            </a:pPr>
            <a:r>
              <a:rPr lang="en-IN" sz="2600" dirty="0">
                <a:solidFill>
                  <a:schemeClr val="tx1"/>
                </a:solidFill>
              </a:rPr>
              <a:t>Simpler tax rules</a:t>
            </a:r>
          </a:p>
          <a:p>
            <a:pPr marL="971550" lvl="1" indent="-514350">
              <a:buFont typeface="+mj-lt"/>
              <a:buAutoNum type="arabicPeriod"/>
            </a:pPr>
            <a:r>
              <a:rPr lang="en-IN" sz="2600" dirty="0">
                <a:solidFill>
                  <a:schemeClr val="tx1"/>
                </a:solidFill>
              </a:rPr>
              <a:t>Fewer rates and exemptions</a:t>
            </a:r>
          </a:p>
          <a:p>
            <a:pPr marL="971550" lvl="1" indent="-514350">
              <a:buFont typeface="+mj-lt"/>
              <a:buAutoNum type="arabicPeriod"/>
            </a:pPr>
            <a:r>
              <a:rPr lang="en-IN" sz="2600" dirty="0">
                <a:solidFill>
                  <a:schemeClr val="tx1"/>
                </a:solidFill>
              </a:rPr>
              <a:t>Distinction between Goods &amp; Services no longer required</a:t>
            </a:r>
          </a:p>
          <a:p>
            <a:pPr lvl="1"/>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endParaRPr lang="en-IN" sz="2600" dirty="0">
              <a:solidFill>
                <a:schemeClr val="tx1"/>
              </a:solidFill>
            </a:endParaRPr>
          </a:p>
          <a:p>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spTree>
    <p:extLst>
      <p:ext uri="{BB962C8B-B14F-4D97-AF65-F5344CB8AC3E}">
        <p14:creationId xmlns:p14="http://schemas.microsoft.com/office/powerpoint/2010/main" val="65727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2" name="Picture 1"/>
          <p:cNvPicPr>
            <a:picLocks noChangeAspect="1"/>
          </p:cNvPicPr>
          <p:nvPr/>
        </p:nvPicPr>
        <p:blipFill>
          <a:blip r:embed="rId2"/>
          <a:stretch>
            <a:fillRect/>
          </a:stretch>
        </p:blipFill>
        <p:spPr>
          <a:xfrm>
            <a:off x="622788" y="791036"/>
            <a:ext cx="10284697" cy="5368260"/>
          </a:xfrm>
          <a:prstGeom prst="rect">
            <a:avLst/>
          </a:prstGeom>
        </p:spPr>
      </p:pic>
    </p:spTree>
    <p:extLst>
      <p:ext uri="{BB962C8B-B14F-4D97-AF65-F5344CB8AC3E}">
        <p14:creationId xmlns:p14="http://schemas.microsoft.com/office/powerpoint/2010/main" val="1396206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3" name="Picture 2"/>
          <p:cNvPicPr>
            <a:picLocks noChangeAspect="1"/>
          </p:cNvPicPr>
          <p:nvPr/>
        </p:nvPicPr>
        <p:blipFill>
          <a:blip r:embed="rId2"/>
          <a:stretch>
            <a:fillRect/>
          </a:stretch>
        </p:blipFill>
        <p:spPr>
          <a:xfrm>
            <a:off x="2118360" y="895622"/>
            <a:ext cx="8203093" cy="5456576"/>
          </a:xfrm>
          <a:prstGeom prst="rect">
            <a:avLst/>
          </a:prstGeom>
        </p:spPr>
      </p:pic>
    </p:spTree>
    <p:extLst>
      <p:ext uri="{BB962C8B-B14F-4D97-AF65-F5344CB8AC3E}">
        <p14:creationId xmlns:p14="http://schemas.microsoft.com/office/powerpoint/2010/main" val="1001710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2" name="Picture 1"/>
          <p:cNvPicPr>
            <a:picLocks noChangeAspect="1"/>
          </p:cNvPicPr>
          <p:nvPr/>
        </p:nvPicPr>
        <p:blipFill>
          <a:blip r:embed="rId2"/>
          <a:stretch>
            <a:fillRect/>
          </a:stretch>
        </p:blipFill>
        <p:spPr>
          <a:xfrm>
            <a:off x="1376624" y="1427195"/>
            <a:ext cx="9053565" cy="3978818"/>
          </a:xfrm>
          <a:prstGeom prst="rect">
            <a:avLst/>
          </a:prstGeom>
        </p:spPr>
      </p:pic>
    </p:spTree>
    <p:extLst>
      <p:ext uri="{BB962C8B-B14F-4D97-AF65-F5344CB8AC3E}">
        <p14:creationId xmlns:p14="http://schemas.microsoft.com/office/powerpoint/2010/main" val="3044864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2" name="Picture 1"/>
          <p:cNvPicPr>
            <a:picLocks noChangeAspect="1"/>
          </p:cNvPicPr>
          <p:nvPr/>
        </p:nvPicPr>
        <p:blipFill>
          <a:blip r:embed="rId2"/>
          <a:stretch>
            <a:fillRect/>
          </a:stretch>
        </p:blipFill>
        <p:spPr>
          <a:xfrm>
            <a:off x="513378" y="1427195"/>
            <a:ext cx="10413820" cy="2995515"/>
          </a:xfrm>
          <a:prstGeom prst="rect">
            <a:avLst/>
          </a:prstGeom>
        </p:spPr>
      </p:pic>
    </p:spTree>
    <p:extLst>
      <p:ext uri="{BB962C8B-B14F-4D97-AF65-F5344CB8AC3E}">
        <p14:creationId xmlns:p14="http://schemas.microsoft.com/office/powerpoint/2010/main" val="1371918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3" name="Picture 2"/>
          <p:cNvPicPr>
            <a:picLocks noChangeAspect="1"/>
          </p:cNvPicPr>
          <p:nvPr/>
        </p:nvPicPr>
        <p:blipFill>
          <a:blip r:embed="rId2"/>
          <a:stretch>
            <a:fillRect/>
          </a:stretch>
        </p:blipFill>
        <p:spPr>
          <a:xfrm>
            <a:off x="442329" y="965557"/>
            <a:ext cx="10672209" cy="4791431"/>
          </a:xfrm>
          <a:prstGeom prst="rect">
            <a:avLst/>
          </a:prstGeom>
        </p:spPr>
      </p:pic>
      <p:pic>
        <p:nvPicPr>
          <p:cNvPr id="6" name="Picture 5"/>
          <p:cNvPicPr>
            <a:picLocks noChangeAspect="1"/>
          </p:cNvPicPr>
          <p:nvPr/>
        </p:nvPicPr>
        <p:blipFill>
          <a:blip r:embed="rId3"/>
          <a:stretch>
            <a:fillRect/>
          </a:stretch>
        </p:blipFill>
        <p:spPr>
          <a:xfrm>
            <a:off x="3928849" y="5839193"/>
            <a:ext cx="3998400" cy="437733"/>
          </a:xfrm>
          <a:prstGeom prst="rect">
            <a:avLst/>
          </a:prstGeom>
        </p:spPr>
      </p:pic>
    </p:spTree>
    <p:extLst>
      <p:ext uri="{BB962C8B-B14F-4D97-AF65-F5344CB8AC3E}">
        <p14:creationId xmlns:p14="http://schemas.microsoft.com/office/powerpoint/2010/main" val="3916681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GST Slab</a:t>
            </a:r>
          </a:p>
        </p:txBody>
      </p:sp>
      <p:pic>
        <p:nvPicPr>
          <p:cNvPr id="2" name="Picture 1"/>
          <p:cNvPicPr>
            <a:picLocks noChangeAspect="1"/>
          </p:cNvPicPr>
          <p:nvPr/>
        </p:nvPicPr>
        <p:blipFill>
          <a:blip r:embed="rId2"/>
          <a:stretch>
            <a:fillRect/>
          </a:stretch>
        </p:blipFill>
        <p:spPr>
          <a:xfrm>
            <a:off x="1118936" y="791036"/>
            <a:ext cx="9456822" cy="5476510"/>
          </a:xfrm>
          <a:prstGeom prst="rect">
            <a:avLst/>
          </a:prstGeom>
        </p:spPr>
      </p:pic>
    </p:spTree>
    <p:extLst>
      <p:ext uri="{BB962C8B-B14F-4D97-AF65-F5344CB8AC3E}">
        <p14:creationId xmlns:p14="http://schemas.microsoft.com/office/powerpoint/2010/main" val="4176394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GST Slab</a:t>
            </a:r>
          </a:p>
        </p:txBody>
      </p:sp>
      <p:pic>
        <p:nvPicPr>
          <p:cNvPr id="3" name="Picture 2"/>
          <p:cNvPicPr>
            <a:picLocks noChangeAspect="1"/>
          </p:cNvPicPr>
          <p:nvPr/>
        </p:nvPicPr>
        <p:blipFill>
          <a:blip r:embed="rId2"/>
          <a:stretch>
            <a:fillRect/>
          </a:stretch>
        </p:blipFill>
        <p:spPr>
          <a:xfrm>
            <a:off x="1070811" y="737310"/>
            <a:ext cx="9654256" cy="5402044"/>
          </a:xfrm>
          <a:prstGeom prst="rect">
            <a:avLst/>
          </a:prstGeom>
        </p:spPr>
      </p:pic>
    </p:spTree>
    <p:extLst>
      <p:ext uri="{BB962C8B-B14F-4D97-AF65-F5344CB8AC3E}">
        <p14:creationId xmlns:p14="http://schemas.microsoft.com/office/powerpoint/2010/main" val="1873833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1317E3F8-89CA-87CD-9449-2D26D53D5B79}"/>
              </a:ext>
            </a:extLst>
          </p:cNvPr>
          <p:cNvGraphicFramePr>
            <a:graphicFrameLocks noGrp="1"/>
          </p:cNvGraphicFramePr>
          <p:nvPr>
            <p:extLst>
              <p:ext uri="{D42A27DB-BD31-4B8C-83A1-F6EECF244321}">
                <p14:modId xmlns:p14="http://schemas.microsoft.com/office/powerpoint/2010/main" val="3350617642"/>
              </p:ext>
            </p:extLst>
          </p:nvPr>
        </p:nvGraphicFramePr>
        <p:xfrm>
          <a:off x="838200" y="789998"/>
          <a:ext cx="10515600" cy="5935980"/>
        </p:xfrm>
        <a:graphic>
          <a:graphicData uri="http://schemas.openxmlformats.org/drawingml/2006/table">
            <a:tbl>
              <a:tblPr/>
              <a:tblGrid>
                <a:gridCol w="2628900">
                  <a:extLst>
                    <a:ext uri="{9D8B030D-6E8A-4147-A177-3AD203B41FA5}">
                      <a16:colId xmlns:a16="http://schemas.microsoft.com/office/drawing/2014/main" val="791742103"/>
                    </a:ext>
                  </a:extLst>
                </a:gridCol>
                <a:gridCol w="2628900">
                  <a:extLst>
                    <a:ext uri="{9D8B030D-6E8A-4147-A177-3AD203B41FA5}">
                      <a16:colId xmlns:a16="http://schemas.microsoft.com/office/drawing/2014/main" val="3320145997"/>
                    </a:ext>
                  </a:extLst>
                </a:gridCol>
                <a:gridCol w="2628900">
                  <a:extLst>
                    <a:ext uri="{9D8B030D-6E8A-4147-A177-3AD203B41FA5}">
                      <a16:colId xmlns:a16="http://schemas.microsoft.com/office/drawing/2014/main" val="3437813778"/>
                    </a:ext>
                  </a:extLst>
                </a:gridCol>
                <a:gridCol w="2628900">
                  <a:extLst>
                    <a:ext uri="{9D8B030D-6E8A-4147-A177-3AD203B41FA5}">
                      <a16:colId xmlns:a16="http://schemas.microsoft.com/office/drawing/2014/main" val="3571891156"/>
                    </a:ext>
                  </a:extLst>
                </a:gridCol>
              </a:tblGrid>
              <a:tr h="0">
                <a:tc>
                  <a:txBody>
                    <a:bodyPr/>
                    <a:lstStyle/>
                    <a:p>
                      <a:pPr algn="l" fontAlgn="t">
                        <a:lnSpc>
                          <a:spcPts val="1500"/>
                        </a:lnSpc>
                        <a:buNone/>
                      </a:pPr>
                      <a:r>
                        <a:rPr lang="en-IN" b="1">
                          <a:effectLst/>
                        </a:rPr>
                        <a:t>GST Slab Type</a:t>
                      </a:r>
                      <a:endParaRPr lang="en-IN" b="0">
                        <a:effectLst/>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ts val="1500"/>
                        </a:lnSpc>
                        <a:buNone/>
                      </a:pPr>
                      <a:r>
                        <a:rPr lang="en-IN" b="1">
                          <a:effectLst/>
                        </a:rPr>
                        <a:t>Old GST Rate</a:t>
                      </a:r>
                      <a:endParaRPr lang="en-IN" b="0">
                        <a:effectLst/>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ts val="1500"/>
                        </a:lnSpc>
                        <a:buNone/>
                      </a:pPr>
                      <a:r>
                        <a:rPr lang="en-IN" b="1">
                          <a:effectLst/>
                        </a:rPr>
                        <a:t>New GST Rate (2025)</a:t>
                      </a:r>
                      <a:endParaRPr lang="en-IN" b="0">
                        <a:effectLst/>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ts val="1500"/>
                        </a:lnSpc>
                        <a:buNone/>
                      </a:pPr>
                      <a:r>
                        <a:rPr lang="en-IN" b="1">
                          <a:effectLst/>
                        </a:rPr>
                        <a:t>Description</a:t>
                      </a:r>
                      <a:endParaRPr lang="en-IN" b="0">
                        <a:effectLst/>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824802998"/>
                  </a:ext>
                </a:extLst>
              </a:tr>
              <a:tr h="0">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Exempt / NIL</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ct val="100000"/>
                        </a:lnSpc>
                        <a:buNone/>
                      </a:pPr>
                      <a:r>
                        <a:rPr lang="en-IN" sz="2000" dirty="0">
                          <a:effectLst/>
                          <a:latin typeface="Times New Roman" panose="02020603050405020304" pitchFamily="18" charset="0"/>
                          <a:cs typeface="Times New Roman" panose="02020603050405020304" pitchFamily="18" charset="0"/>
                        </a:rPr>
                        <a:t>0%</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IN" sz="2000" dirty="0">
                          <a:effectLst/>
                          <a:latin typeface="Times New Roman" panose="02020603050405020304" pitchFamily="18" charset="0"/>
                          <a:cs typeface="Times New Roman" panose="02020603050405020304" pitchFamily="18" charset="0"/>
                        </a:rPr>
                        <a:t>0%</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US" sz="2000" dirty="0">
                          <a:effectLst/>
                          <a:latin typeface="Times New Roman" panose="02020603050405020304" pitchFamily="18" charset="0"/>
                          <a:cs typeface="Times New Roman" panose="02020603050405020304" pitchFamily="18" charset="0"/>
                        </a:rPr>
                        <a:t>Essential unbranded items, lifesaving drugs, basic education &amp; healthcare</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val="3597566857"/>
                  </a:ext>
                </a:extLst>
              </a:tr>
              <a:tr h="0">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Merit Rate</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ct val="100000"/>
                        </a:lnSpc>
                        <a:buNone/>
                      </a:pPr>
                      <a:r>
                        <a:rPr lang="en-IN" sz="2000" dirty="0">
                          <a:effectLst/>
                          <a:latin typeface="Times New Roman" panose="02020603050405020304" pitchFamily="18" charset="0"/>
                          <a:cs typeface="Times New Roman" panose="02020603050405020304" pitchFamily="18" charset="0"/>
                        </a:rPr>
                        <a:t>5%</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5%</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US" sz="2000">
                          <a:effectLst/>
                          <a:latin typeface="Times New Roman" panose="02020603050405020304" pitchFamily="18" charset="0"/>
                          <a:cs typeface="Times New Roman" panose="02020603050405020304" pitchFamily="18" charset="0"/>
                        </a:rPr>
                        <a:t>Packaged essentials, agriculture goods, dairy, basic services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val="3091041408"/>
                  </a:ext>
                </a:extLst>
              </a:tr>
              <a:tr h="0">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Mid-tier Rate</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ct val="100000"/>
                        </a:lnSpc>
                        <a:buNone/>
                      </a:pPr>
                      <a:r>
                        <a:rPr lang="en-IN" sz="2000" dirty="0">
                          <a:effectLst/>
                          <a:latin typeface="Times New Roman" panose="02020603050405020304" pitchFamily="18" charset="0"/>
                          <a:cs typeface="Times New Roman" panose="02020603050405020304" pitchFamily="18" charset="0"/>
                        </a:rPr>
                        <a:t>12%</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US" sz="2000" b="1">
                          <a:effectLst/>
                          <a:latin typeface="Times New Roman" panose="02020603050405020304" pitchFamily="18" charset="0"/>
                          <a:cs typeface="Times New Roman" panose="02020603050405020304" pitchFamily="18" charset="0"/>
                        </a:rPr>
                        <a:t>Merged into 5% or 18%</a:t>
                      </a:r>
                      <a:endParaRPr lang="en-US" sz="2000">
                        <a:effectLst/>
                        <a:latin typeface="Times New Roman" panose="02020603050405020304" pitchFamily="18" charset="0"/>
                        <a:cs typeface="Times New Roman" panose="02020603050405020304" pitchFamily="18" charset="0"/>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US" sz="2000">
                          <a:effectLst/>
                          <a:latin typeface="Times New Roman" panose="02020603050405020304" pitchFamily="18" charset="0"/>
                          <a:cs typeface="Times New Roman" panose="02020603050405020304" pitchFamily="18" charset="0"/>
                        </a:rPr>
                        <a:t>Previously applied to processed foods, stationery, textiles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val="601910938"/>
                  </a:ext>
                </a:extLst>
              </a:tr>
              <a:tr h="0">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Standard Rate</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18%</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18%</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US" sz="2000">
                          <a:effectLst/>
                          <a:latin typeface="Times New Roman" panose="02020603050405020304" pitchFamily="18" charset="0"/>
                          <a:cs typeface="Times New Roman" panose="02020603050405020304" pitchFamily="18" charset="0"/>
                        </a:rPr>
                        <a:t>Most goods &amp; services including electronics, professional services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val="800364913"/>
                  </a:ext>
                </a:extLst>
              </a:tr>
              <a:tr h="0">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Luxury/Sin Rate</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28% + cess</a:t>
                      </a:r>
                    </a:p>
                  </a:txBody>
                  <a:tcPr marL="114300" marR="76200" marT="76200" marB="5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40%</a:t>
                      </a:r>
                    </a:p>
                  </a:txBody>
                  <a:tcPr marL="114300" marR="76200" marT="76200" marB="5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algn="l" fontAlgn="t">
                        <a:lnSpc>
                          <a:spcPct val="100000"/>
                        </a:lnSpc>
                        <a:buNone/>
                      </a:pPr>
                      <a:r>
                        <a:rPr lang="en-IN" sz="2000" dirty="0">
                          <a:effectLst/>
                          <a:latin typeface="Times New Roman" panose="02020603050405020304" pitchFamily="18" charset="0"/>
                          <a:cs typeface="Times New Roman" panose="02020603050405020304" pitchFamily="18" charset="0"/>
                        </a:rPr>
                        <a:t>Tobacco, pan masala, aerated drinks, luxury cars, casinos</a:t>
                      </a:r>
                    </a:p>
                  </a:txBody>
                  <a:tcPr marL="114300" marR="76200" marT="76200" marB="5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val="2130817173"/>
                  </a:ext>
                </a:extLst>
              </a:tr>
            </a:tbl>
          </a:graphicData>
        </a:graphic>
      </p:graphicFrame>
      <p:sp>
        <p:nvSpPr>
          <p:cNvPr id="8" name="TextBox 7">
            <a:extLst>
              <a:ext uri="{FF2B5EF4-FFF2-40B4-BE49-F238E27FC236}">
                <a16:creationId xmlns:a16="http://schemas.microsoft.com/office/drawing/2014/main" id="{482681D5-5AF7-A3DF-2279-A1EB2B36839A}"/>
              </a:ext>
            </a:extLst>
          </p:cNvPr>
          <p:cNvSpPr txBox="1"/>
          <p:nvPr/>
        </p:nvSpPr>
        <p:spPr>
          <a:xfrm>
            <a:off x="3479243" y="212244"/>
            <a:ext cx="6094324" cy="369332"/>
          </a:xfrm>
          <a:prstGeom prst="rect">
            <a:avLst/>
          </a:prstGeom>
          <a:noFill/>
        </p:spPr>
        <p:txBody>
          <a:bodyPr wrap="square">
            <a:spAutoFit/>
          </a:bodyPr>
          <a:lstStyle/>
          <a:p>
            <a:r>
              <a:rPr lang="en-US" dirty="0"/>
              <a:t>GST Slab Comparison: Old vs New (2025)</a:t>
            </a:r>
            <a:endParaRPr lang="en-IN" dirty="0"/>
          </a:p>
        </p:txBody>
      </p:sp>
    </p:spTree>
    <p:extLst>
      <p:ext uri="{BB962C8B-B14F-4D97-AF65-F5344CB8AC3E}">
        <p14:creationId xmlns:p14="http://schemas.microsoft.com/office/powerpoint/2010/main" val="2442098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972D5B2-87BC-583B-EBBF-19F4998DDD46}"/>
              </a:ext>
            </a:extLst>
          </p:cNvPr>
          <p:cNvGraphicFramePr>
            <a:graphicFrameLocks noGrp="1"/>
          </p:cNvGraphicFramePr>
          <p:nvPr>
            <p:extLst>
              <p:ext uri="{D42A27DB-BD31-4B8C-83A1-F6EECF244321}">
                <p14:modId xmlns:p14="http://schemas.microsoft.com/office/powerpoint/2010/main" val="403967031"/>
              </p:ext>
            </p:extLst>
          </p:nvPr>
        </p:nvGraphicFramePr>
        <p:xfrm>
          <a:off x="998973" y="1372361"/>
          <a:ext cx="10515600" cy="4791075"/>
        </p:xfrm>
        <a:graphic>
          <a:graphicData uri="http://schemas.openxmlformats.org/drawingml/2006/table">
            <a:tbl>
              <a:tblPr/>
              <a:tblGrid>
                <a:gridCol w="2628900">
                  <a:extLst>
                    <a:ext uri="{9D8B030D-6E8A-4147-A177-3AD203B41FA5}">
                      <a16:colId xmlns:a16="http://schemas.microsoft.com/office/drawing/2014/main" val="2047374120"/>
                    </a:ext>
                  </a:extLst>
                </a:gridCol>
                <a:gridCol w="2628900">
                  <a:extLst>
                    <a:ext uri="{9D8B030D-6E8A-4147-A177-3AD203B41FA5}">
                      <a16:colId xmlns:a16="http://schemas.microsoft.com/office/drawing/2014/main" val="3237773823"/>
                    </a:ext>
                  </a:extLst>
                </a:gridCol>
                <a:gridCol w="2628900">
                  <a:extLst>
                    <a:ext uri="{9D8B030D-6E8A-4147-A177-3AD203B41FA5}">
                      <a16:colId xmlns:a16="http://schemas.microsoft.com/office/drawing/2014/main" val="3320273055"/>
                    </a:ext>
                  </a:extLst>
                </a:gridCol>
                <a:gridCol w="2628900">
                  <a:extLst>
                    <a:ext uri="{9D8B030D-6E8A-4147-A177-3AD203B41FA5}">
                      <a16:colId xmlns:a16="http://schemas.microsoft.com/office/drawing/2014/main" val="1607332778"/>
                    </a:ext>
                  </a:extLst>
                </a:gridCol>
              </a:tblGrid>
              <a:tr h="0">
                <a:tc>
                  <a:txBody>
                    <a:bodyPr/>
                    <a:lstStyle/>
                    <a:p>
                      <a:pPr algn="l" fontAlgn="t">
                        <a:lnSpc>
                          <a:spcPct val="100000"/>
                        </a:lnSpc>
                        <a:buNone/>
                      </a:pPr>
                      <a:r>
                        <a:rPr lang="en-IN" sz="2000" b="1" dirty="0">
                          <a:effectLst/>
                          <a:latin typeface="Times New Roman" panose="02020603050405020304" pitchFamily="18" charset="0"/>
                          <a:cs typeface="Times New Roman" panose="02020603050405020304" pitchFamily="18" charset="0"/>
                        </a:rPr>
                        <a:t>Item Category</a:t>
                      </a:r>
                      <a:endParaRPr lang="en-IN" sz="2000" b="0" dirty="0">
                        <a:effectLst/>
                        <a:latin typeface="Times New Roman" panose="02020603050405020304" pitchFamily="18" charset="0"/>
                        <a:cs typeface="Times New Roman" panose="02020603050405020304" pitchFamily="18" charset="0"/>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Old Rate</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New Rate</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lnSpc>
                          <a:spcPct val="100000"/>
                        </a:lnSpc>
                        <a:buNone/>
                      </a:pPr>
                      <a:r>
                        <a:rPr lang="en-IN" sz="2000" b="1">
                          <a:effectLst/>
                          <a:latin typeface="Times New Roman" panose="02020603050405020304" pitchFamily="18" charset="0"/>
                          <a:cs typeface="Times New Roman" panose="02020603050405020304" pitchFamily="18" charset="0"/>
                        </a:rPr>
                        <a:t>Remarks</a:t>
                      </a:r>
                      <a:endParaRPr lang="en-IN" sz="2000" b="0">
                        <a:effectLst/>
                        <a:latin typeface="Times New Roman" panose="02020603050405020304" pitchFamily="18" charset="0"/>
                        <a:cs typeface="Times New Roman" panose="02020603050405020304" pitchFamily="18" charset="0"/>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186800090"/>
                  </a:ext>
                </a:extLst>
              </a:tr>
              <a:tr h="0">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Fresh milk, fruits, vegetables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0%</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0%</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No change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376543162"/>
                  </a:ext>
                </a:extLst>
              </a:tr>
              <a:tr h="0">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Packaged paneer, butter, ghee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12–18%</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Reduced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351792243"/>
                  </a:ext>
                </a:extLst>
              </a:tr>
              <a:tr h="0">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Shampoo, toothpaste, soaps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18%</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Reduced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994033649"/>
                  </a:ext>
                </a:extLst>
              </a:tr>
              <a:tr h="0">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Air conditioners, TVs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28%</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18%</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Reduced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408071969"/>
                  </a:ext>
                </a:extLst>
              </a:tr>
              <a:tr h="0">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Small cars, motorcycles ≤350cc</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28%</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18%</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Reduced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209722256"/>
                  </a:ext>
                </a:extLst>
              </a:tr>
              <a:tr h="0">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Life &amp; health insurance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18%</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0%</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Exempted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56586583"/>
                  </a:ext>
                </a:extLst>
              </a:tr>
              <a:tr h="0">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Tobacco, pan masala</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28% + cess</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a:effectLst/>
                          <a:latin typeface="Times New Roman" panose="02020603050405020304" pitchFamily="18" charset="0"/>
                          <a:cs typeface="Times New Roman" panose="02020603050405020304" pitchFamily="18" charset="0"/>
                        </a:rPr>
                        <a:t>40%</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algn="l" fontAlgn="t">
                        <a:lnSpc>
                          <a:spcPct val="100000"/>
                        </a:lnSpc>
                        <a:buNone/>
                      </a:pPr>
                      <a:r>
                        <a:rPr lang="en-IN" sz="2000" dirty="0">
                          <a:effectLst/>
                          <a:latin typeface="Times New Roman" panose="02020603050405020304" pitchFamily="18" charset="0"/>
                          <a:cs typeface="Times New Roman" panose="02020603050405020304" pitchFamily="18" charset="0"/>
                        </a:rPr>
                        <a:t>Increased</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375855501"/>
                  </a:ext>
                </a:extLst>
              </a:tr>
            </a:tbl>
          </a:graphicData>
        </a:graphic>
      </p:graphicFrame>
      <p:sp>
        <p:nvSpPr>
          <p:cNvPr id="14" name="TextBox 13">
            <a:extLst>
              <a:ext uri="{FF2B5EF4-FFF2-40B4-BE49-F238E27FC236}">
                <a16:creationId xmlns:a16="http://schemas.microsoft.com/office/drawing/2014/main" id="{354556F3-20D8-7491-9638-7787886F18E3}"/>
              </a:ext>
            </a:extLst>
          </p:cNvPr>
          <p:cNvSpPr txBox="1"/>
          <p:nvPr/>
        </p:nvSpPr>
        <p:spPr>
          <a:xfrm>
            <a:off x="3559629" y="694564"/>
            <a:ext cx="6094324" cy="369332"/>
          </a:xfrm>
          <a:prstGeom prst="rect">
            <a:avLst/>
          </a:prstGeom>
          <a:noFill/>
        </p:spPr>
        <p:txBody>
          <a:bodyPr wrap="square">
            <a:spAutoFit/>
          </a:bodyPr>
          <a:lstStyle/>
          <a:p>
            <a:r>
              <a:rPr lang="en-US" dirty="0"/>
              <a:t>Examples of Items Under Each Slab</a:t>
            </a:r>
            <a:endParaRPr lang="en-IN" dirty="0"/>
          </a:p>
        </p:txBody>
      </p:sp>
    </p:spTree>
    <p:extLst>
      <p:ext uri="{BB962C8B-B14F-4D97-AF65-F5344CB8AC3E}">
        <p14:creationId xmlns:p14="http://schemas.microsoft.com/office/powerpoint/2010/main" val="1005558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VAT v/s GST </a:t>
            </a:r>
          </a:p>
        </p:txBody>
      </p:sp>
      <p:graphicFrame>
        <p:nvGraphicFramePr>
          <p:cNvPr id="2" name="Table 1"/>
          <p:cNvGraphicFramePr>
            <a:graphicFrameLocks noGrp="1"/>
          </p:cNvGraphicFramePr>
          <p:nvPr>
            <p:extLst>
              <p:ext uri="{D42A27DB-BD31-4B8C-83A1-F6EECF244321}">
                <p14:modId xmlns:p14="http://schemas.microsoft.com/office/powerpoint/2010/main" val="2675144446"/>
              </p:ext>
            </p:extLst>
          </p:nvPr>
        </p:nvGraphicFramePr>
        <p:xfrm>
          <a:off x="774441" y="1138336"/>
          <a:ext cx="9666513" cy="4692398"/>
        </p:xfrm>
        <a:graphic>
          <a:graphicData uri="http://schemas.openxmlformats.org/drawingml/2006/table">
            <a:tbl>
              <a:tblPr firstRow="1" bandRow="1">
                <a:tableStyleId>{5C22544A-7EE6-4342-B048-85BDC9FD1C3A}</a:tableStyleId>
              </a:tblPr>
              <a:tblGrid>
                <a:gridCol w="2043404">
                  <a:extLst>
                    <a:ext uri="{9D8B030D-6E8A-4147-A177-3AD203B41FA5}">
                      <a16:colId xmlns:a16="http://schemas.microsoft.com/office/drawing/2014/main" val="602336789"/>
                    </a:ext>
                  </a:extLst>
                </a:gridCol>
                <a:gridCol w="4106185">
                  <a:extLst>
                    <a:ext uri="{9D8B030D-6E8A-4147-A177-3AD203B41FA5}">
                      <a16:colId xmlns:a16="http://schemas.microsoft.com/office/drawing/2014/main" val="3231671492"/>
                    </a:ext>
                  </a:extLst>
                </a:gridCol>
                <a:gridCol w="3516924">
                  <a:extLst>
                    <a:ext uri="{9D8B030D-6E8A-4147-A177-3AD203B41FA5}">
                      <a16:colId xmlns:a16="http://schemas.microsoft.com/office/drawing/2014/main" val="2142036151"/>
                    </a:ext>
                  </a:extLst>
                </a:gridCol>
              </a:tblGrid>
              <a:tr h="357673">
                <a:tc>
                  <a:txBody>
                    <a:bodyPr/>
                    <a:lstStyle/>
                    <a:p>
                      <a:pPr algn="ctr">
                        <a:lnSpc>
                          <a:spcPct val="107000"/>
                        </a:lnSpc>
                        <a:spcAft>
                          <a:spcPts val="1200"/>
                        </a:spcAft>
                      </a:pPr>
                      <a:r>
                        <a:rPr lang="en-IN" sz="1400" b="1" cap="all">
                          <a:solidFill>
                            <a:srgbClr val="222222"/>
                          </a:solidFill>
                          <a:effectLst/>
                          <a:latin typeface="Arial" panose="020B0604020202020204" pitchFamily="34" charset="0"/>
                          <a:ea typeface="Calibri" panose="020F0502020204030204" pitchFamily="34" charset="0"/>
                          <a:cs typeface="Times New Roman" panose="02020603050405020304" pitchFamily="18" charset="0"/>
                        </a:rPr>
                        <a:t>BASIS FOR COMPARISON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gn="ctr">
                        <a:lnSpc>
                          <a:spcPct val="107000"/>
                        </a:lnSpc>
                        <a:spcAft>
                          <a:spcPts val="1200"/>
                        </a:spcAft>
                      </a:pPr>
                      <a:r>
                        <a:rPr lang="en-IN" sz="1400" b="1" cap="all">
                          <a:solidFill>
                            <a:srgbClr val="222222"/>
                          </a:solidFill>
                          <a:effectLst/>
                          <a:latin typeface="Arial" panose="020B0604020202020204" pitchFamily="34" charset="0"/>
                          <a:ea typeface="Calibri" panose="020F0502020204030204" pitchFamily="34" charset="0"/>
                          <a:cs typeface="Times New Roman" panose="02020603050405020304" pitchFamily="18" charset="0"/>
                        </a:rPr>
                        <a:t>VAT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gn="ctr">
                        <a:lnSpc>
                          <a:spcPct val="107000"/>
                        </a:lnSpc>
                        <a:spcAft>
                          <a:spcPts val="1200"/>
                        </a:spcAft>
                      </a:pPr>
                      <a:r>
                        <a:rPr lang="en-IN" sz="1400" b="1" cap="all"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GST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221571138"/>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Meaning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VAT is a consumption tax, that is levied on the value addition, at each stage of production/distribution of goods.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GST is a destination based tax, charged on the manufacture, sale and consumption of goods and services.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72644633"/>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Point of taxation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Sale of goods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Supply of goods and services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177899283"/>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Payment Mode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Offline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Online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89572568"/>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Registration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Compulsory if turnover is greater than 10 lakhs.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Compulsory if turnover is greater than 20 lakhs.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861817054"/>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Basis of taxation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Summary based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Transaction based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709692925"/>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Revenue Collection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Seller state collects revenue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Consumer state collects revenue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838839212"/>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Excise Duty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It is levied, on the manufacture of excisable goods.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It is not levied.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799480547"/>
                  </a:ext>
                </a:extLst>
              </a:tr>
              <a:tr h="357673">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Interstate sales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Input credit is not possible in case of interstate sales.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1200"/>
                        </a:spcAft>
                      </a:pPr>
                      <a:r>
                        <a:rPr lang="en-IN" sz="14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Input credit can be availed in case of interstate sales.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555790286"/>
                  </a:ext>
                </a:extLst>
              </a:tr>
            </a:tbl>
          </a:graphicData>
        </a:graphic>
      </p:graphicFrame>
    </p:spTree>
    <p:extLst>
      <p:ext uri="{BB962C8B-B14F-4D97-AF65-F5344CB8AC3E}">
        <p14:creationId xmlns:p14="http://schemas.microsoft.com/office/powerpoint/2010/main" val="1816006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3" name="Picture 2"/>
          <p:cNvPicPr>
            <a:picLocks noChangeAspect="1"/>
          </p:cNvPicPr>
          <p:nvPr/>
        </p:nvPicPr>
        <p:blipFill>
          <a:blip r:embed="rId3"/>
          <a:stretch>
            <a:fillRect/>
          </a:stretch>
        </p:blipFill>
        <p:spPr>
          <a:xfrm>
            <a:off x="1082351" y="949794"/>
            <a:ext cx="9465641" cy="4928492"/>
          </a:xfrm>
          <a:prstGeom prst="rect">
            <a:avLst/>
          </a:prstGeom>
        </p:spPr>
      </p:pic>
    </p:spTree>
    <p:extLst>
      <p:ext uri="{BB962C8B-B14F-4D97-AF65-F5344CB8AC3E}">
        <p14:creationId xmlns:p14="http://schemas.microsoft.com/office/powerpoint/2010/main" val="359227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2" name="Picture 1"/>
          <p:cNvPicPr>
            <a:picLocks noChangeAspect="1"/>
          </p:cNvPicPr>
          <p:nvPr/>
        </p:nvPicPr>
        <p:blipFill>
          <a:blip r:embed="rId2"/>
          <a:stretch>
            <a:fillRect/>
          </a:stretch>
        </p:blipFill>
        <p:spPr>
          <a:xfrm>
            <a:off x="1418254" y="979516"/>
            <a:ext cx="9074613" cy="5274544"/>
          </a:xfrm>
          <a:prstGeom prst="rect">
            <a:avLst/>
          </a:prstGeom>
        </p:spPr>
      </p:pic>
    </p:spTree>
    <p:extLst>
      <p:ext uri="{BB962C8B-B14F-4D97-AF65-F5344CB8AC3E}">
        <p14:creationId xmlns:p14="http://schemas.microsoft.com/office/powerpoint/2010/main" val="4000879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Tax(GST)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119674" y="1996751"/>
            <a:ext cx="9130598" cy="2463281"/>
          </a:xfrm>
          <a:prstGeom prst="rect">
            <a:avLst/>
          </a:prstGeom>
          <a:noFill/>
          <a:ln>
            <a:noFill/>
          </a:ln>
        </p:spPr>
      </p:pic>
    </p:spTree>
    <p:extLst>
      <p:ext uri="{BB962C8B-B14F-4D97-AF65-F5344CB8AC3E}">
        <p14:creationId xmlns:p14="http://schemas.microsoft.com/office/powerpoint/2010/main" val="4000865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r>
              <a:rPr lang="en-IN" sz="2600" dirty="0">
                <a:solidFill>
                  <a:schemeClr val="tx1"/>
                </a:solidFill>
              </a:rPr>
              <a:t>Suppose manufacturer of a watch has sold one watch for `200. (including profit) to the </a:t>
            </a:r>
            <a:r>
              <a:rPr lang="en-IN" sz="2600" dirty="0" err="1">
                <a:solidFill>
                  <a:schemeClr val="tx1"/>
                </a:solidFill>
              </a:rPr>
              <a:t>wholsaler</a:t>
            </a:r>
            <a:r>
              <a:rPr lang="en-IN" sz="2600" dirty="0">
                <a:solidFill>
                  <a:schemeClr val="tx1"/>
                </a:solidFill>
              </a:rPr>
              <a:t>. Wholesaler sold that watch for`300 to the retailer. Retailer sold it to the customer for ` 400. Rate of GST charged at every stage is 12%. Then how each trader pays GST and takes his input tax credit (ITC) at every stage of transaction is shown in the following flow-chart. Observe and study it.</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2" name="Picture 1"/>
          <p:cNvPicPr>
            <a:picLocks noChangeAspect="1"/>
          </p:cNvPicPr>
          <p:nvPr/>
        </p:nvPicPr>
        <p:blipFill>
          <a:blip r:embed="rId2"/>
          <a:stretch>
            <a:fillRect/>
          </a:stretch>
        </p:blipFill>
        <p:spPr>
          <a:xfrm>
            <a:off x="2514241" y="2976820"/>
            <a:ext cx="6726575" cy="3808601"/>
          </a:xfrm>
          <a:prstGeom prst="rect">
            <a:avLst/>
          </a:prstGeom>
        </p:spPr>
      </p:pic>
    </p:spTree>
    <p:extLst>
      <p:ext uri="{BB962C8B-B14F-4D97-AF65-F5344CB8AC3E}">
        <p14:creationId xmlns:p14="http://schemas.microsoft.com/office/powerpoint/2010/main" val="2354572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3" name="Picture 2"/>
          <p:cNvPicPr>
            <a:picLocks noChangeAspect="1"/>
          </p:cNvPicPr>
          <p:nvPr/>
        </p:nvPicPr>
        <p:blipFill>
          <a:blip r:embed="rId2"/>
          <a:stretch>
            <a:fillRect/>
          </a:stretch>
        </p:blipFill>
        <p:spPr>
          <a:xfrm>
            <a:off x="2118360" y="664612"/>
            <a:ext cx="7522127" cy="2841982"/>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2118360" y="3506594"/>
            <a:ext cx="7522127" cy="2772908"/>
          </a:xfrm>
          <a:prstGeom prst="rect">
            <a:avLst/>
          </a:prstGeom>
          <a:noFill/>
          <a:ln>
            <a:noFill/>
          </a:ln>
        </p:spPr>
      </p:pic>
    </p:spTree>
    <p:extLst>
      <p:ext uri="{BB962C8B-B14F-4D97-AF65-F5344CB8AC3E}">
        <p14:creationId xmlns:p14="http://schemas.microsoft.com/office/powerpoint/2010/main" val="2683406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sp>
        <p:nvSpPr>
          <p:cNvPr id="2" name="Rectangle 1"/>
          <p:cNvSpPr/>
          <p:nvPr/>
        </p:nvSpPr>
        <p:spPr>
          <a:xfrm>
            <a:off x="825400" y="819921"/>
            <a:ext cx="9741160" cy="5636864"/>
          </a:xfrm>
          <a:prstGeom prst="rect">
            <a:avLst/>
          </a:prstGeom>
        </p:spPr>
        <p:txBody>
          <a:bodyPr wrap="square">
            <a:spAutoFit/>
          </a:bodyPr>
          <a:lstStyle/>
          <a:p>
            <a:pPr algn="just">
              <a:lnSpc>
                <a:spcPct val="107000"/>
              </a:lnSpc>
              <a:spcAft>
                <a:spcPts val="0"/>
              </a:spcAft>
            </a:pP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What is Input Tax Credit ? (ITC)</a:t>
            </a:r>
            <a:endParaRPr lang="en-IN" sz="2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GST is levied and collected at every stage of trading from manufacturer to consumer. When trader pays GST at the time of purchase, it is called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'Input</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tax' </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he collects GST at the time of sale which is called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'Output tax'.</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the time of paying GST to the government a trader deducts the input tax from the output tax and pays the remaining tax. This deduction of input tax is called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Input Tax Credit</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2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endPar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0"/>
              </a:spcAft>
            </a:pP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GST payable = Output tax - ITC</a:t>
            </a:r>
            <a:endParaRPr lang="en-IN" sz="2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endPar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0"/>
              </a:spcAft>
            </a:pP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short, while paying taxes to the government each trader in the trading chain subtracts the tax paid at the time of purchase from the tax collected at the time of sale and pays the remaining tax.</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3303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sp>
        <p:nvSpPr>
          <p:cNvPr id="2" name="Rectangle 1"/>
          <p:cNvSpPr/>
          <p:nvPr/>
        </p:nvSpPr>
        <p:spPr>
          <a:xfrm>
            <a:off x="1738364" y="1391618"/>
            <a:ext cx="8828195" cy="4493538"/>
          </a:xfrm>
          <a:prstGeom prst="rect">
            <a:avLst/>
          </a:prstGeom>
        </p:spPr>
        <p:txBody>
          <a:bodyPr wrap="square">
            <a:spAutoFit/>
          </a:bodyPr>
          <a:lstStyle/>
          <a:p>
            <a:pPr algn="just"/>
            <a:r>
              <a:rPr lang="en-IN" sz="2600" b="1" dirty="0"/>
              <a:t>Who is covered by GST?</a:t>
            </a:r>
            <a:endParaRPr lang="en-IN" sz="2600" dirty="0"/>
          </a:p>
          <a:p>
            <a:pPr algn="just"/>
            <a:r>
              <a:rPr lang="en-IN" sz="2600" dirty="0"/>
              <a:t>All the businesses except agriculture and having aggregate turnover above Rs. 20 lakh in a financial year are liable to pay GST. For NRI doing business in India, it is mandatory to register under GST irrespective of the turnover of his business.</a:t>
            </a:r>
          </a:p>
          <a:p>
            <a:pPr algn="just"/>
            <a:r>
              <a:rPr lang="en-IN" sz="2600" dirty="0"/>
              <a:t> </a:t>
            </a:r>
          </a:p>
          <a:p>
            <a:pPr algn="just"/>
            <a:r>
              <a:rPr lang="en-IN" sz="2600" b="1" dirty="0"/>
              <a:t>Who is exempted by GST?</a:t>
            </a:r>
            <a:endParaRPr lang="en-IN" sz="2600" dirty="0"/>
          </a:p>
          <a:p>
            <a:pPr algn="just"/>
            <a:r>
              <a:rPr lang="en-IN" sz="2600" dirty="0"/>
              <a:t>Essential commodities like food grain, fruits, vegetables, milk, salt etc. and services like charitable trust activities, transport of water, agriculture related services, education and health care services etc.</a:t>
            </a:r>
          </a:p>
        </p:txBody>
      </p:sp>
    </p:spTree>
    <p:extLst>
      <p:ext uri="{BB962C8B-B14F-4D97-AF65-F5344CB8AC3E}">
        <p14:creationId xmlns:p14="http://schemas.microsoft.com/office/powerpoint/2010/main" val="10128779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554303" y="1222312"/>
            <a:ext cx="8606733" cy="4376056"/>
          </a:xfrm>
          <a:prstGeom prst="rect">
            <a:avLst/>
          </a:prstGeom>
          <a:noFill/>
          <a:ln>
            <a:noFill/>
          </a:ln>
        </p:spPr>
      </p:pic>
    </p:spTree>
    <p:extLst>
      <p:ext uri="{BB962C8B-B14F-4D97-AF65-F5344CB8AC3E}">
        <p14:creationId xmlns:p14="http://schemas.microsoft.com/office/powerpoint/2010/main" val="3584190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3" name="Picture 2"/>
          <p:cNvPicPr>
            <a:picLocks noChangeAspect="1"/>
          </p:cNvPicPr>
          <p:nvPr/>
        </p:nvPicPr>
        <p:blipFill>
          <a:blip r:embed="rId2"/>
          <a:stretch>
            <a:fillRect/>
          </a:stretch>
        </p:blipFill>
        <p:spPr>
          <a:xfrm>
            <a:off x="1730984" y="1138336"/>
            <a:ext cx="8035573" cy="4599991"/>
          </a:xfrm>
          <a:prstGeom prst="rect">
            <a:avLst/>
          </a:prstGeom>
        </p:spPr>
      </p:pic>
    </p:spTree>
    <p:extLst>
      <p:ext uri="{BB962C8B-B14F-4D97-AF65-F5344CB8AC3E}">
        <p14:creationId xmlns:p14="http://schemas.microsoft.com/office/powerpoint/2010/main" val="2848917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450505" y="431807"/>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6" name="Picture 5"/>
          <p:cNvPicPr>
            <a:picLocks noChangeAspect="1"/>
          </p:cNvPicPr>
          <p:nvPr/>
        </p:nvPicPr>
        <p:blipFill>
          <a:blip r:embed="rId2"/>
          <a:stretch>
            <a:fillRect/>
          </a:stretch>
        </p:blipFill>
        <p:spPr>
          <a:xfrm>
            <a:off x="1718268" y="1071801"/>
            <a:ext cx="8762163" cy="4918452"/>
          </a:xfrm>
          <a:prstGeom prst="rect">
            <a:avLst/>
          </a:prstGeom>
        </p:spPr>
      </p:pic>
    </p:spTree>
    <p:extLst>
      <p:ext uri="{BB962C8B-B14F-4D97-AF65-F5344CB8AC3E}">
        <p14:creationId xmlns:p14="http://schemas.microsoft.com/office/powerpoint/2010/main" val="19500640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3" name="Picture 2"/>
          <p:cNvPicPr>
            <a:picLocks noChangeAspect="1"/>
          </p:cNvPicPr>
          <p:nvPr/>
        </p:nvPicPr>
        <p:blipFill>
          <a:blip r:embed="rId2"/>
          <a:stretch>
            <a:fillRect/>
          </a:stretch>
        </p:blipFill>
        <p:spPr>
          <a:xfrm>
            <a:off x="1800598" y="1384564"/>
            <a:ext cx="8590803" cy="4478693"/>
          </a:xfrm>
          <a:prstGeom prst="rect">
            <a:avLst/>
          </a:prstGeom>
        </p:spPr>
      </p:pic>
    </p:spTree>
    <p:extLst>
      <p:ext uri="{BB962C8B-B14F-4D97-AF65-F5344CB8AC3E}">
        <p14:creationId xmlns:p14="http://schemas.microsoft.com/office/powerpoint/2010/main" val="33795542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6" name="Picture 5"/>
          <p:cNvPicPr>
            <a:picLocks noChangeAspect="1"/>
          </p:cNvPicPr>
          <p:nvPr/>
        </p:nvPicPr>
        <p:blipFill>
          <a:blip r:embed="rId2"/>
          <a:stretch>
            <a:fillRect/>
          </a:stretch>
        </p:blipFill>
        <p:spPr>
          <a:xfrm>
            <a:off x="2319143" y="910618"/>
            <a:ext cx="7067453" cy="5426585"/>
          </a:xfrm>
          <a:prstGeom prst="rect">
            <a:avLst/>
          </a:prstGeom>
        </p:spPr>
      </p:pic>
    </p:spTree>
    <p:extLst>
      <p:ext uri="{BB962C8B-B14F-4D97-AF65-F5344CB8AC3E}">
        <p14:creationId xmlns:p14="http://schemas.microsoft.com/office/powerpoint/2010/main" val="3767829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 Service Test(GST)</a:t>
            </a:r>
          </a:p>
        </p:txBody>
      </p:sp>
      <p:pic>
        <p:nvPicPr>
          <p:cNvPr id="2" name="Picture 1"/>
          <p:cNvPicPr>
            <a:picLocks noChangeAspect="1"/>
          </p:cNvPicPr>
          <p:nvPr/>
        </p:nvPicPr>
        <p:blipFill>
          <a:blip r:embed="rId2"/>
          <a:stretch>
            <a:fillRect/>
          </a:stretch>
        </p:blipFill>
        <p:spPr>
          <a:xfrm>
            <a:off x="2118360" y="965328"/>
            <a:ext cx="7973291" cy="5071578"/>
          </a:xfrm>
          <a:prstGeom prst="rect">
            <a:avLst/>
          </a:prstGeom>
        </p:spPr>
      </p:pic>
    </p:spTree>
    <p:extLst>
      <p:ext uri="{BB962C8B-B14F-4D97-AF65-F5344CB8AC3E}">
        <p14:creationId xmlns:p14="http://schemas.microsoft.com/office/powerpoint/2010/main" val="4018598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4">
            <a:extLst>
              <a:ext uri="{FF2B5EF4-FFF2-40B4-BE49-F238E27FC236}">
                <a16:creationId xmlns:a16="http://schemas.microsoft.com/office/drawing/2014/main" id="{CA1942AF-6B6D-5A16-F3E8-0071AAE904A7}"/>
              </a:ext>
            </a:extLst>
          </p:cNvPr>
          <p:cNvSpPr/>
          <p:nvPr/>
        </p:nvSpPr>
        <p:spPr>
          <a:xfrm>
            <a:off x="246743" y="1132113"/>
            <a:ext cx="11800114" cy="5595977"/>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457200" indent="-457200" algn="just">
              <a:buFont typeface="Arial" panose="020B0604020202020204" pitchFamily="34" charset="0"/>
              <a:buChar char="•"/>
            </a:pPr>
            <a:r>
              <a:rPr lang="en-US" sz="2800" dirty="0">
                <a:solidFill>
                  <a:schemeClr val="tx1"/>
                </a:solidFill>
              </a:rPr>
              <a:t>State Compensation Mechanism was created to ensure that states did not lose revenue when India transitioned to the Goods and Services Tax (GST) system on 1 July 2017.</a:t>
            </a:r>
          </a:p>
          <a:p>
            <a:pPr marL="457200" indent="-457200" algn="just">
              <a:buFont typeface="Arial" panose="020B0604020202020204" pitchFamily="34" charset="0"/>
              <a:buChar char="•"/>
            </a:pPr>
            <a:r>
              <a:rPr lang="en-US" sz="2800" dirty="0">
                <a:solidFill>
                  <a:schemeClr val="tx1"/>
                </a:solidFill>
              </a:rPr>
              <a:t>Before GST, states earned significant revenue from state-level taxes such as VAT, entry tax, luxury tax, etc. After GST, many of these taxes were subsumed into a single tax collected jointly by the Centre and the states.</a:t>
            </a:r>
          </a:p>
          <a:p>
            <a:pPr marL="457200" indent="-457200" algn="just">
              <a:buFont typeface="Arial" panose="020B0604020202020204" pitchFamily="34" charset="0"/>
              <a:buChar char="•"/>
            </a:pPr>
            <a:r>
              <a:rPr lang="en-US" sz="2800" dirty="0">
                <a:solidFill>
                  <a:schemeClr val="tx1"/>
                </a:solidFill>
              </a:rPr>
              <a:t>To convince states to adopt GST, the Central Government guaranteed that states’ revenues would not fall below a certain level for five years (from 2017–18 to 2021–22).</a:t>
            </a:r>
          </a:p>
          <a:p>
            <a:pPr marL="457200" indent="-457200" algn="just">
              <a:buFont typeface="Arial" panose="020B0604020202020204" pitchFamily="34" charset="0"/>
              <a:buChar char="•"/>
            </a:pPr>
            <a:r>
              <a:rPr lang="en-US" sz="2800" dirty="0">
                <a:solidFill>
                  <a:schemeClr val="tx1"/>
                </a:solidFill>
              </a:rPr>
              <a:t>The central government is obligated to compensate the states for any revenue loss incurred due to the introduction of GST for a period of five years from the date of its implementation. </a:t>
            </a:r>
          </a:p>
          <a:p>
            <a:pPr algn="just"/>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D521E458-4D88-EB56-8C0A-2994F1309522}"/>
              </a:ext>
            </a:extLst>
          </p:cNvPr>
          <p:cNvSpPr/>
          <p:nvPr/>
        </p:nvSpPr>
        <p:spPr>
          <a:xfrm>
            <a:off x="1912368" y="12990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State Compensation Mechanism in GST</a:t>
            </a:r>
            <a:endParaRPr lang="en-IN" sz="3600" dirty="0"/>
          </a:p>
        </p:txBody>
      </p:sp>
    </p:spTree>
    <p:extLst>
      <p:ext uri="{BB962C8B-B14F-4D97-AF65-F5344CB8AC3E}">
        <p14:creationId xmlns:p14="http://schemas.microsoft.com/office/powerpoint/2010/main" val="402639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4">
            <a:extLst>
              <a:ext uri="{FF2B5EF4-FFF2-40B4-BE49-F238E27FC236}">
                <a16:creationId xmlns:a16="http://schemas.microsoft.com/office/drawing/2014/main" id="{CA1942AF-6B6D-5A16-F3E8-0071AAE904A7}"/>
              </a:ext>
            </a:extLst>
          </p:cNvPr>
          <p:cNvSpPr/>
          <p:nvPr/>
        </p:nvSpPr>
        <p:spPr>
          <a:xfrm>
            <a:off x="441016" y="691185"/>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US" sz="2800" dirty="0">
                <a:solidFill>
                  <a:srgbClr val="FF0000"/>
                </a:solidFill>
                <a:latin typeface="Times New Roman" panose="02020603050405020304" pitchFamily="18" charset="0"/>
                <a:cs typeface="Times New Roman" panose="02020603050405020304" pitchFamily="18" charset="0"/>
              </a:rPr>
              <a:t>Source of Compensation, Cess: </a:t>
            </a:r>
            <a:r>
              <a:rPr lang="en-US" sz="2800" dirty="0">
                <a:solidFill>
                  <a:schemeClr val="tx1"/>
                </a:solidFill>
                <a:latin typeface="Times New Roman" panose="02020603050405020304" pitchFamily="18" charset="0"/>
                <a:cs typeface="Times New Roman" panose="02020603050405020304" pitchFamily="18" charset="0"/>
              </a:rPr>
              <a:t>The GST compensation collected by the central government is done through the GST compensation cess, which is levied on certain luxury and demerit goods, such as </a:t>
            </a:r>
            <a:r>
              <a:rPr lang="en-US" sz="2800" b="1" dirty="0">
                <a:solidFill>
                  <a:schemeClr val="tx1"/>
                </a:solidFill>
                <a:latin typeface="Times New Roman" panose="02020603050405020304" pitchFamily="18" charset="0"/>
                <a:cs typeface="Times New Roman" panose="02020603050405020304" pitchFamily="18" charset="0"/>
              </a:rPr>
              <a:t>cigarettes, aerated drinks, and SUVs.</a:t>
            </a:r>
          </a:p>
          <a:p>
            <a:pPr algn="just"/>
            <a:r>
              <a:rPr lang="en-US" sz="2800" dirty="0">
                <a:solidFill>
                  <a:srgbClr val="FF0000"/>
                </a:solidFill>
                <a:latin typeface="Times New Roman" panose="02020603050405020304" pitchFamily="18" charset="0"/>
                <a:cs typeface="Times New Roman" panose="02020603050405020304" pitchFamily="18" charset="0"/>
              </a:rPr>
              <a:t>Revenue Protection Formula: </a:t>
            </a:r>
            <a:r>
              <a:rPr lang="en-US" sz="2800" dirty="0">
                <a:solidFill>
                  <a:schemeClr val="tx1"/>
                </a:solidFill>
                <a:latin typeface="Times New Roman" panose="02020603050405020304" pitchFamily="18" charset="0"/>
                <a:cs typeface="Times New Roman" panose="02020603050405020304" pitchFamily="18" charset="0"/>
              </a:rPr>
              <a:t>States were assured a 14% annual growth in their revenue based on the base year 2015–16. </a:t>
            </a:r>
          </a:p>
          <a:p>
            <a:pPr algn="just"/>
            <a:endParaRPr lang="en-US" sz="2800" dirty="0">
              <a:solidFill>
                <a:schemeClr val="tx1"/>
              </a:solidFill>
              <a:latin typeface="Times New Roman" panose="02020603050405020304" pitchFamily="18" charset="0"/>
              <a:cs typeface="Times New Roman" panose="02020603050405020304" pitchFamily="18" charset="0"/>
            </a:endParaRPr>
          </a:p>
          <a:p>
            <a:pPr algn="just"/>
            <a:r>
              <a:rPr lang="en-US" sz="2800" dirty="0">
                <a:solidFill>
                  <a:schemeClr val="accent1">
                    <a:lumMod val="75000"/>
                  </a:schemeClr>
                </a:solidFill>
                <a:latin typeface="Times New Roman" panose="02020603050405020304" pitchFamily="18" charset="0"/>
                <a:cs typeface="Times New Roman" panose="02020603050405020304" pitchFamily="18" charset="0"/>
              </a:rPr>
              <a:t>projected revenue for any year  =Base Year Revenue × (1 + 14%)ⁿ</a:t>
            </a:r>
          </a:p>
          <a:p>
            <a:pPr algn="just"/>
            <a:r>
              <a:rPr lang="en-US" sz="2400" dirty="0">
                <a:solidFill>
                  <a:schemeClr val="tx1"/>
                </a:solidFill>
                <a:latin typeface="Times New Roman" panose="02020603050405020304" pitchFamily="18" charset="0"/>
                <a:cs typeface="Times New Roman" panose="02020603050405020304" pitchFamily="18" charset="0"/>
              </a:rPr>
              <a:t>where n = number of years since 2015–16. </a:t>
            </a:r>
          </a:p>
        </p:txBody>
      </p:sp>
      <p:sp>
        <p:nvSpPr>
          <p:cNvPr id="5" name="Rounded Rectangle 3">
            <a:extLst>
              <a:ext uri="{FF2B5EF4-FFF2-40B4-BE49-F238E27FC236}">
                <a16:creationId xmlns:a16="http://schemas.microsoft.com/office/drawing/2014/main" id="{D521E458-4D88-EB56-8C0A-2994F1309522}"/>
              </a:ext>
            </a:extLst>
          </p:cNvPr>
          <p:cNvSpPr/>
          <p:nvPr/>
        </p:nvSpPr>
        <p:spPr>
          <a:xfrm>
            <a:off x="637586" y="0"/>
            <a:ext cx="10161043" cy="5225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t>Key features of State Compensation Mechanism</a:t>
            </a:r>
            <a:endParaRPr lang="en-IN" sz="3600" dirty="0"/>
          </a:p>
        </p:txBody>
      </p:sp>
    </p:spTree>
    <p:extLst>
      <p:ext uri="{BB962C8B-B14F-4D97-AF65-F5344CB8AC3E}">
        <p14:creationId xmlns:p14="http://schemas.microsoft.com/office/powerpoint/2010/main" val="930100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4">
            <a:extLst>
              <a:ext uri="{FF2B5EF4-FFF2-40B4-BE49-F238E27FC236}">
                <a16:creationId xmlns:a16="http://schemas.microsoft.com/office/drawing/2014/main" id="{CA1942AF-6B6D-5A16-F3E8-0071AAE904A7}"/>
              </a:ext>
            </a:extLst>
          </p:cNvPr>
          <p:cNvSpPr/>
          <p:nvPr/>
        </p:nvSpPr>
        <p:spPr>
          <a:xfrm>
            <a:off x="637586" y="82109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US" sz="2800" dirty="0">
                <a:solidFill>
                  <a:srgbClr val="FF0000"/>
                </a:solidFill>
                <a:latin typeface="Times New Roman" panose="02020603050405020304" pitchFamily="18" charset="0"/>
                <a:cs typeface="Times New Roman" panose="02020603050405020304" pitchFamily="18" charset="0"/>
              </a:rPr>
              <a:t>Compensation Amount: </a:t>
            </a:r>
            <a:r>
              <a:rPr lang="en-US" sz="2800" dirty="0">
                <a:solidFill>
                  <a:schemeClr val="tx1"/>
                </a:solidFill>
                <a:latin typeface="Times New Roman" panose="02020603050405020304" pitchFamily="18" charset="0"/>
                <a:cs typeface="Times New Roman" panose="02020603050405020304" pitchFamily="18" charset="0"/>
              </a:rPr>
              <a:t>If a state’s actual GST revenue (SGST + IGST settlement) is less than the projected revenue, the difference is compensated by the Centre.</a:t>
            </a:r>
          </a:p>
          <a:p>
            <a:pPr algn="just"/>
            <a:r>
              <a:rPr lang="en-US" sz="2800" dirty="0">
                <a:solidFill>
                  <a:schemeClr val="tx1"/>
                </a:solidFill>
                <a:latin typeface="Times New Roman" panose="02020603050405020304" pitchFamily="18" charset="0"/>
                <a:cs typeface="Times New Roman" panose="02020603050405020304" pitchFamily="18" charset="0"/>
              </a:rPr>
              <a:t>Compensation = Projected Revenue – Actual Revenue</a:t>
            </a:r>
            <a:br>
              <a:rPr lang="en-US" sz="28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Example, Base Year Revenue (2015–16): ₹10,000 </a:t>
            </a:r>
            <a:r>
              <a:rPr lang="en-US" sz="2400" dirty="0" err="1">
                <a:solidFill>
                  <a:schemeClr val="tx1"/>
                </a:solidFill>
                <a:latin typeface="Times New Roman" panose="02020603050405020304" pitchFamily="18" charset="0"/>
                <a:cs typeface="Times New Roman" panose="02020603050405020304" pitchFamily="18" charset="0"/>
              </a:rPr>
              <a:t>crore</a:t>
            </a:r>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a:solidFill>
                  <a:schemeClr val="tx1"/>
                </a:solidFill>
                <a:latin typeface="Times New Roman" panose="02020603050405020304" pitchFamily="18" charset="0"/>
                <a:cs typeface="Times New Roman" panose="02020603050405020304" pitchFamily="18" charset="0"/>
              </a:rPr>
              <a:t>                 Projected Revenue (for 2019–20):= 10,000 × (1.14)⁴ = ₹16,900 </a:t>
            </a:r>
            <a:r>
              <a:rPr lang="en-US" sz="2400" dirty="0" err="1">
                <a:solidFill>
                  <a:schemeClr val="tx1"/>
                </a:solidFill>
                <a:latin typeface="Times New Roman" panose="02020603050405020304" pitchFamily="18" charset="0"/>
                <a:cs typeface="Times New Roman" panose="02020603050405020304" pitchFamily="18" charset="0"/>
              </a:rPr>
              <a:t>crore</a:t>
            </a:r>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a:solidFill>
                  <a:schemeClr val="tx1"/>
                </a:solidFill>
                <a:latin typeface="Times New Roman" panose="02020603050405020304" pitchFamily="18" charset="0"/>
                <a:cs typeface="Times New Roman" panose="02020603050405020304" pitchFamily="18" charset="0"/>
              </a:rPr>
              <a:t>                 Actual GST Revenue: ₹15,000 </a:t>
            </a:r>
            <a:r>
              <a:rPr lang="en-US" sz="2400" dirty="0" err="1">
                <a:solidFill>
                  <a:schemeClr val="tx1"/>
                </a:solidFill>
                <a:latin typeface="Times New Roman" panose="02020603050405020304" pitchFamily="18" charset="0"/>
                <a:cs typeface="Times New Roman" panose="02020603050405020304" pitchFamily="18" charset="0"/>
              </a:rPr>
              <a:t>crore</a:t>
            </a:r>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dirty="0">
                <a:solidFill>
                  <a:schemeClr val="tx1"/>
                </a:solidFill>
                <a:latin typeface="Times New Roman" panose="02020603050405020304" pitchFamily="18" charset="0"/>
                <a:cs typeface="Times New Roman" panose="02020603050405020304" pitchFamily="18" charset="0"/>
              </a:rPr>
              <a:t>                 Compensation Payable = ₹16,900 – ₹15,000 = ₹1,900 </a:t>
            </a:r>
            <a:r>
              <a:rPr lang="en-US" sz="2400" dirty="0" err="1">
                <a:solidFill>
                  <a:schemeClr val="tx1"/>
                </a:solidFill>
                <a:latin typeface="Times New Roman" panose="02020603050405020304" pitchFamily="18" charset="0"/>
                <a:cs typeface="Times New Roman" panose="02020603050405020304" pitchFamily="18" charset="0"/>
              </a:rPr>
              <a:t>crore</a:t>
            </a:r>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Duration: </a:t>
            </a:r>
            <a:r>
              <a:rPr lang="en-US" sz="2800" dirty="0">
                <a:solidFill>
                  <a:schemeClr val="tx1"/>
                </a:solidFill>
                <a:latin typeface="Times New Roman" panose="02020603050405020304" pitchFamily="18" charset="0"/>
                <a:cs typeface="Times New Roman" panose="02020603050405020304" pitchFamily="18" charset="0"/>
              </a:rPr>
              <a:t>5 years (2017–22)</a:t>
            </a:r>
          </a:p>
          <a:p>
            <a:pPr algn="just"/>
            <a:r>
              <a:rPr lang="en-US" sz="2800" dirty="0">
                <a:solidFill>
                  <a:schemeClr val="tx1"/>
                </a:solidFill>
                <a:latin typeface="Times New Roman" panose="02020603050405020304" pitchFamily="18" charset="0"/>
                <a:cs typeface="Times New Roman" panose="02020603050405020304" pitchFamily="18" charset="0"/>
              </a:rPr>
              <a:t>compensation period ended on 30 June 2022. After this, states no longer receive compensation payments from the Centre for any shortfall in GST revenue growth.</a:t>
            </a:r>
          </a:p>
          <a:p>
            <a:pPr algn="just"/>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D521E458-4D88-EB56-8C0A-2994F1309522}"/>
              </a:ext>
            </a:extLst>
          </p:cNvPr>
          <p:cNvSpPr/>
          <p:nvPr/>
        </p:nvSpPr>
        <p:spPr>
          <a:xfrm>
            <a:off x="637586" y="0"/>
            <a:ext cx="10161043" cy="5225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t>Key features of State Compensation Mechanism</a:t>
            </a:r>
            <a:endParaRPr lang="en-IN" sz="3600" dirty="0"/>
          </a:p>
        </p:txBody>
      </p:sp>
    </p:spTree>
    <p:extLst>
      <p:ext uri="{BB962C8B-B14F-4D97-AF65-F5344CB8AC3E}">
        <p14:creationId xmlns:p14="http://schemas.microsoft.com/office/powerpoint/2010/main" val="84972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4">
            <a:extLst>
              <a:ext uri="{FF2B5EF4-FFF2-40B4-BE49-F238E27FC236}">
                <a16:creationId xmlns:a16="http://schemas.microsoft.com/office/drawing/2014/main" id="{CA1942AF-6B6D-5A16-F3E8-0071AAE904A7}"/>
              </a:ext>
            </a:extLst>
          </p:cNvPr>
          <p:cNvSpPr/>
          <p:nvPr/>
        </p:nvSpPr>
        <p:spPr>
          <a:xfrm>
            <a:off x="637586" y="82109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514350" indent="-514350" algn="just">
              <a:buAutoNum type="alphaLcParenBoth"/>
            </a:pPr>
            <a:r>
              <a:rPr lang="en-US" sz="2800" dirty="0">
                <a:solidFill>
                  <a:schemeClr val="tx1"/>
                </a:solidFill>
                <a:latin typeface="Times New Roman" panose="02020603050405020304" pitchFamily="18" charset="0"/>
                <a:cs typeface="Times New Roman" panose="02020603050405020304" pitchFamily="18" charset="0"/>
              </a:rPr>
              <a:t>No More Compensation for Shortfalls: States will now have to manage on their own GST revenue, without central aid for shortfalls.</a:t>
            </a:r>
          </a:p>
          <a:p>
            <a:pPr marL="514350" indent="-514350" algn="just">
              <a:buAutoNum type="alphaLcParenBoth"/>
            </a:pPr>
            <a:r>
              <a:rPr lang="en-US" sz="2800" dirty="0">
                <a:solidFill>
                  <a:schemeClr val="tx1"/>
                </a:solidFill>
                <a:latin typeface="Times New Roman" panose="02020603050405020304" pitchFamily="18" charset="0"/>
                <a:cs typeface="Times New Roman" panose="02020603050405020304" pitchFamily="18" charset="0"/>
              </a:rPr>
              <a:t>Centre Still Collects GST Compensation Cess (till March 2026) The cess continues, not to pay states, but to repay borrowings the </a:t>
            </a:r>
            <a:r>
              <a:rPr lang="en-US" sz="2800" dirty="0" err="1">
                <a:solidFill>
                  <a:schemeClr val="tx1"/>
                </a:solidFill>
                <a:latin typeface="Times New Roman" panose="02020603050405020304" pitchFamily="18" charset="0"/>
                <a:cs typeface="Times New Roman" panose="02020603050405020304" pitchFamily="18" charset="0"/>
              </a:rPr>
              <a:t>centre</a:t>
            </a:r>
            <a:r>
              <a:rPr lang="en-US" sz="2800" dirty="0">
                <a:solidFill>
                  <a:schemeClr val="tx1"/>
                </a:solidFill>
                <a:latin typeface="Times New Roman" panose="02020603050405020304" pitchFamily="18" charset="0"/>
                <a:cs typeface="Times New Roman" panose="02020603050405020304" pitchFamily="18" charset="0"/>
              </a:rPr>
              <a:t> took during 2020–21 and 2021–22 (COVID years) to meet earlier compensation shortfalls.</a:t>
            </a:r>
          </a:p>
          <a:p>
            <a:pPr marL="514350" indent="-514350" algn="just">
              <a:buAutoNum type="alphaLcParenBoth"/>
            </a:pPr>
            <a:r>
              <a:rPr lang="en-US" sz="2800" dirty="0">
                <a:solidFill>
                  <a:schemeClr val="tx1"/>
                </a:solidFill>
                <a:latin typeface="Times New Roman" panose="02020603050405020304" pitchFamily="18" charset="0"/>
                <a:cs typeface="Times New Roman" panose="02020603050405020304" pitchFamily="18" charset="0"/>
              </a:rPr>
              <a:t>Explore Additional Sources of Revenue: States can levy excise/VAT on items still outside GST e.g. petroleum, alcohol, electricity. Increase property tax, stamp duty, or vehicle tax.</a:t>
            </a:r>
          </a:p>
          <a:p>
            <a:pPr marL="514350" indent="-514350" algn="just">
              <a:buAutoNum type="alphaLcParenBoth"/>
            </a:pP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D521E458-4D88-EB56-8C0A-2994F1309522}"/>
              </a:ext>
            </a:extLst>
          </p:cNvPr>
          <p:cNvSpPr/>
          <p:nvPr/>
        </p:nvSpPr>
        <p:spPr>
          <a:xfrm>
            <a:off x="637586" y="0"/>
            <a:ext cx="10161043" cy="5225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What Happens After the Compensation Period</a:t>
            </a:r>
            <a:endParaRPr lang="en-IN" sz="3600" dirty="0"/>
          </a:p>
        </p:txBody>
      </p:sp>
    </p:spTree>
    <p:extLst>
      <p:ext uri="{BB962C8B-B14F-4D97-AF65-F5344CB8AC3E}">
        <p14:creationId xmlns:p14="http://schemas.microsoft.com/office/powerpoint/2010/main" val="3317014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1399290"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842030" y="41986"/>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Levy and Collection of GST</a:t>
            </a:r>
            <a:endParaRPr lang="en-IN" sz="3600" dirty="0"/>
          </a:p>
        </p:txBody>
      </p:sp>
      <p:sp>
        <p:nvSpPr>
          <p:cNvPr id="3" name="TextBox 2"/>
          <p:cNvSpPr txBox="1"/>
          <p:nvPr/>
        </p:nvSpPr>
        <p:spPr>
          <a:xfrm>
            <a:off x="619648" y="760443"/>
            <a:ext cx="10952703" cy="6001643"/>
          </a:xfrm>
          <a:prstGeom prst="rect">
            <a:avLst/>
          </a:prstGeom>
          <a:noFill/>
        </p:spPr>
        <p:txBody>
          <a:bodyPr wrap="square" rtlCol="0">
            <a:spAutoFit/>
          </a:bodyPr>
          <a:lstStyle/>
          <a:p>
            <a:pPr algn="just"/>
            <a:r>
              <a:rPr lang="en-US" sz="2000" dirty="0"/>
              <a:t>In India, the levy and collection of Goods and Services Tax (GST) are based on the supply of goods and services. </a:t>
            </a:r>
          </a:p>
          <a:p>
            <a:pPr algn="just"/>
            <a:r>
              <a:rPr lang="en-US" sz="2000" b="1" dirty="0"/>
              <a:t>"Levy" </a:t>
            </a:r>
            <a:r>
              <a:rPr lang="en-US" sz="2000" dirty="0"/>
              <a:t>refers to the imposition of a tax by a government authority, while </a:t>
            </a:r>
            <a:r>
              <a:rPr lang="en-US" sz="2000" b="1" dirty="0"/>
              <a:t>"collection" </a:t>
            </a:r>
            <a:r>
              <a:rPr lang="en-US" sz="2000" dirty="0"/>
              <a:t>is the process of gathering the tax from businesses and taxpayers. </a:t>
            </a:r>
          </a:p>
          <a:p>
            <a:pPr algn="just"/>
            <a:endParaRPr lang="en-US" sz="2000" dirty="0"/>
          </a:p>
          <a:p>
            <a:pPr algn="just"/>
            <a:r>
              <a:rPr lang="en-US" sz="2000" dirty="0"/>
              <a:t>The final tax is borne by the end consumer, making GST a consumption-based tax. </a:t>
            </a:r>
          </a:p>
          <a:p>
            <a:pPr algn="just"/>
            <a:endParaRPr lang="en-US" sz="2000" b="1" dirty="0"/>
          </a:p>
          <a:p>
            <a:pPr algn="just"/>
            <a:r>
              <a:rPr lang="en-US" sz="2000" b="1" dirty="0"/>
              <a:t>Key provisions for levy and collection</a:t>
            </a:r>
          </a:p>
          <a:p>
            <a:pPr algn="just"/>
            <a:r>
              <a:rPr lang="en-US" sz="2000" b="1" dirty="0"/>
              <a:t>Taxable event: </a:t>
            </a:r>
            <a:r>
              <a:rPr lang="en-US" sz="2000" dirty="0"/>
              <a:t>The taxable event under GST is the "supply" of goods and services for consideration.</a:t>
            </a:r>
          </a:p>
          <a:p>
            <a:pPr algn="just"/>
            <a:r>
              <a:rPr lang="en-US" sz="2000" b="1" dirty="0"/>
              <a:t>Basis of levy: </a:t>
            </a:r>
            <a:r>
              <a:rPr lang="en-US" sz="2000" dirty="0"/>
              <a:t>The tax is levied on the "transaction value," which is the price actually paid or payable for the supply.</a:t>
            </a:r>
          </a:p>
          <a:p>
            <a:pPr algn="just"/>
            <a:r>
              <a:rPr lang="en-US" sz="2000" b="1" dirty="0"/>
              <a:t>Exemptions:</a:t>
            </a:r>
            <a:r>
              <a:rPr lang="en-US" sz="2000" dirty="0"/>
              <a:t> The government has the power to exempt certain goods and services from GST to serve the public interest.</a:t>
            </a:r>
          </a:p>
          <a:p>
            <a:pPr algn="just"/>
            <a:r>
              <a:rPr lang="en-US" sz="2000" b="1" dirty="0"/>
              <a:t>Composition scheme: </a:t>
            </a:r>
            <a:r>
              <a:rPr lang="en-US" sz="2000" dirty="0"/>
              <a:t>Small taxpayers can opt for a composition scheme, which allows them to pay tax at a lower, fixed rate on their turnover, simplifying compliance.</a:t>
            </a:r>
          </a:p>
          <a:p>
            <a:pPr algn="just"/>
            <a:r>
              <a:rPr lang="en-US" sz="2000" b="1" dirty="0"/>
              <a:t>Online process: </a:t>
            </a:r>
            <a:r>
              <a:rPr lang="en-US" sz="2000" dirty="0"/>
              <a:t>The entire process of GST compliance, including registration, return filing, and payments, is managed online through the Goods and Services Tax Network (GSTN) portal, which increases efficiency and transparency. </a:t>
            </a:r>
          </a:p>
          <a:p>
            <a:pPr algn="just"/>
            <a:endParaRPr lang="en-IN" sz="2400" dirty="0"/>
          </a:p>
        </p:txBody>
      </p:sp>
    </p:spTree>
    <p:extLst>
      <p:ext uri="{BB962C8B-B14F-4D97-AF65-F5344CB8AC3E}">
        <p14:creationId xmlns:p14="http://schemas.microsoft.com/office/powerpoint/2010/main" val="26270929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4">
            <a:extLst>
              <a:ext uri="{FF2B5EF4-FFF2-40B4-BE49-F238E27FC236}">
                <a16:creationId xmlns:a16="http://schemas.microsoft.com/office/drawing/2014/main" id="{CA1942AF-6B6D-5A16-F3E8-0071AAE904A7}"/>
              </a:ext>
            </a:extLst>
          </p:cNvPr>
          <p:cNvSpPr/>
          <p:nvPr/>
        </p:nvSpPr>
        <p:spPr>
          <a:xfrm>
            <a:off x="441016" y="691185"/>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India uses a dual GST system, where both the central government and state governments levy and collect the tax. This structure ensures that both tiers of government have a share of the revenue. The type of GST applied depends on the location of the supplier and the consumer. </a:t>
            </a:r>
          </a:p>
          <a:p>
            <a:r>
              <a:rPr lang="en-US" sz="2000" b="1" dirty="0">
                <a:solidFill>
                  <a:schemeClr val="tx1"/>
                </a:solidFill>
                <a:latin typeface="Times New Roman" panose="02020603050405020304" pitchFamily="18" charset="0"/>
                <a:cs typeface="Times New Roman" panose="02020603050405020304" pitchFamily="18" charset="0"/>
              </a:rPr>
              <a:t>Intra-state supply (within one state or Union Territory)</a:t>
            </a:r>
          </a:p>
          <a:p>
            <a:r>
              <a:rPr lang="en-US" sz="2000" dirty="0">
                <a:solidFill>
                  <a:schemeClr val="tx1"/>
                </a:solidFill>
                <a:latin typeface="Times New Roman" panose="02020603050405020304" pitchFamily="18" charset="0"/>
                <a:cs typeface="Times New Roman" panose="02020603050405020304" pitchFamily="18" charset="0"/>
              </a:rPr>
              <a:t>For transactions within the same state or Union Territory, two components of GST are levied simultaneously: </a:t>
            </a:r>
          </a:p>
          <a:p>
            <a:r>
              <a:rPr lang="en-US" sz="2000" b="1" dirty="0">
                <a:solidFill>
                  <a:schemeClr val="tx1"/>
                </a:solidFill>
                <a:latin typeface="Times New Roman" panose="02020603050405020304" pitchFamily="18" charset="0"/>
                <a:cs typeface="Times New Roman" panose="02020603050405020304" pitchFamily="18" charset="0"/>
              </a:rPr>
              <a:t>Central GST (CGST): </a:t>
            </a:r>
            <a:r>
              <a:rPr lang="en-US" sz="2000" dirty="0">
                <a:solidFill>
                  <a:schemeClr val="tx1"/>
                </a:solidFill>
                <a:latin typeface="Times New Roman" panose="02020603050405020304" pitchFamily="18" charset="0"/>
                <a:cs typeface="Times New Roman" panose="02020603050405020304" pitchFamily="18" charset="0"/>
              </a:rPr>
              <a:t>The tax levied by the central government.</a:t>
            </a:r>
          </a:p>
          <a:p>
            <a:r>
              <a:rPr lang="en-US" sz="2000" b="1" dirty="0">
                <a:solidFill>
                  <a:schemeClr val="tx1"/>
                </a:solidFill>
                <a:latin typeface="Times New Roman" panose="02020603050405020304" pitchFamily="18" charset="0"/>
                <a:cs typeface="Times New Roman" panose="02020603050405020304" pitchFamily="18" charset="0"/>
              </a:rPr>
              <a:t>State GST (SGST) or Union Territory GST (UTGST): </a:t>
            </a:r>
            <a:r>
              <a:rPr lang="en-US" sz="2000" dirty="0">
                <a:solidFill>
                  <a:schemeClr val="tx1"/>
                </a:solidFill>
                <a:latin typeface="Times New Roman" panose="02020603050405020304" pitchFamily="18" charset="0"/>
                <a:cs typeface="Times New Roman" panose="02020603050405020304" pitchFamily="18" charset="0"/>
              </a:rPr>
              <a:t>The tax levied by the respective state or Union Territory government.</a:t>
            </a:r>
          </a:p>
          <a:p>
            <a:r>
              <a:rPr lang="en-US" sz="2000" dirty="0">
                <a:solidFill>
                  <a:schemeClr val="tx1"/>
                </a:solidFill>
                <a:latin typeface="Times New Roman" panose="02020603050405020304" pitchFamily="18" charset="0"/>
                <a:cs typeface="Times New Roman" panose="02020603050405020304" pitchFamily="18" charset="0"/>
              </a:rPr>
              <a:t>For example, if the GST rate is 18%, it is split equally, with 9% going to the central government and 9% to the state government. </a:t>
            </a:r>
          </a:p>
          <a:p>
            <a:r>
              <a:rPr lang="en-US" sz="2000" dirty="0">
                <a:solidFill>
                  <a:schemeClr val="tx1"/>
                </a:solidFill>
                <a:latin typeface="Times New Roman" panose="02020603050405020304" pitchFamily="18" charset="0"/>
                <a:cs typeface="Times New Roman" panose="02020603050405020304" pitchFamily="18" charset="0"/>
              </a:rPr>
              <a:t>Inter-state supply (between different states or Union Territories)</a:t>
            </a:r>
          </a:p>
          <a:p>
            <a:r>
              <a:rPr lang="en-US" sz="2000" dirty="0">
                <a:solidFill>
                  <a:schemeClr val="tx1"/>
                </a:solidFill>
                <a:latin typeface="Times New Roman" panose="02020603050405020304" pitchFamily="18" charset="0"/>
                <a:cs typeface="Times New Roman" panose="02020603050405020304" pitchFamily="18" charset="0"/>
              </a:rPr>
              <a:t>For transactions between states or Union Territories, the central government levies and collects </a:t>
            </a:r>
            <a:r>
              <a:rPr lang="en-US" sz="2000" b="1" dirty="0">
                <a:solidFill>
                  <a:schemeClr val="tx1"/>
                </a:solidFill>
                <a:latin typeface="Times New Roman" panose="02020603050405020304" pitchFamily="18" charset="0"/>
                <a:cs typeface="Times New Roman" panose="02020603050405020304" pitchFamily="18" charset="0"/>
              </a:rPr>
              <a:t>Integrated GST (IGST). </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IGST collected is the sum of the CGST and SGST rates.</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central government then shares the IGST revenue with the destination state, where the goods or services were consumed.</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D521E458-4D88-EB56-8C0A-2994F1309522}"/>
              </a:ext>
            </a:extLst>
          </p:cNvPr>
          <p:cNvSpPr/>
          <p:nvPr/>
        </p:nvSpPr>
        <p:spPr>
          <a:xfrm>
            <a:off x="1912368" y="12990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Dual GST Model</a:t>
            </a:r>
            <a:endParaRPr lang="en-IN" sz="3600" dirty="0"/>
          </a:p>
        </p:txBody>
      </p:sp>
    </p:spTree>
    <p:extLst>
      <p:ext uri="{BB962C8B-B14F-4D97-AF65-F5344CB8AC3E}">
        <p14:creationId xmlns:p14="http://schemas.microsoft.com/office/powerpoint/2010/main" val="38047496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Place and Value of Supply</a:t>
            </a:r>
            <a:endParaRPr lang="en-IN" sz="3600" dirty="0"/>
          </a:p>
        </p:txBody>
      </p:sp>
      <p:sp>
        <p:nvSpPr>
          <p:cNvPr id="3" name="TextBox 2"/>
          <p:cNvSpPr txBox="1"/>
          <p:nvPr/>
        </p:nvSpPr>
        <p:spPr>
          <a:xfrm>
            <a:off x="737118" y="1194318"/>
            <a:ext cx="10011747" cy="5262979"/>
          </a:xfrm>
          <a:prstGeom prst="rect">
            <a:avLst/>
          </a:prstGeom>
          <a:noFill/>
        </p:spPr>
        <p:txBody>
          <a:bodyPr wrap="square" rtlCol="0">
            <a:spAutoFit/>
          </a:bodyPr>
          <a:lstStyle/>
          <a:p>
            <a:pPr marL="342900" indent="-342900">
              <a:buFont typeface="Arial" panose="020B0604020202020204" pitchFamily="34" charset="0"/>
              <a:buChar char="•"/>
            </a:pPr>
            <a:r>
              <a:rPr lang="en-IN" sz="2400" dirty="0"/>
              <a:t>Taxable event: Taxable event is very important matter in every tax law. Its determination is most crucial for the proper implementation of any tax law. Taxable event is that on the happening of which the charge is fixed. It is that event which on its occurrence creates or attracts the liability to tax. Sales, purchase, removal of goods, services, luxury, entertainment and so on, the list goes on.</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Taxable event under GST:  One of the very important feature of the regime of GST is the complete change in the taxable event different altogether from the taxable events witnessed in the indirect taxes as yet. The taxable event in the  GST would be supply of goods and/or services. As per Article 366(1A) of Constitution of India Goods and Services Tax means a tax on supply of goods or services or both except taxes on supply of alcoholic liquor for human consumption. </a:t>
            </a:r>
          </a:p>
        </p:txBody>
      </p:sp>
    </p:spTree>
    <p:extLst>
      <p:ext uri="{BB962C8B-B14F-4D97-AF65-F5344CB8AC3E}">
        <p14:creationId xmlns:p14="http://schemas.microsoft.com/office/powerpoint/2010/main" val="342801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Place and Value of Supply</a:t>
            </a:r>
            <a:endParaRPr lang="en-IN" sz="3600" dirty="0"/>
          </a:p>
        </p:txBody>
      </p:sp>
      <p:sp>
        <p:nvSpPr>
          <p:cNvPr id="3" name="TextBox 2"/>
          <p:cNvSpPr txBox="1"/>
          <p:nvPr/>
        </p:nvSpPr>
        <p:spPr>
          <a:xfrm>
            <a:off x="772559" y="1475672"/>
            <a:ext cx="10011747" cy="4093428"/>
          </a:xfrm>
          <a:prstGeom prst="rect">
            <a:avLst/>
          </a:prstGeom>
          <a:noFill/>
        </p:spPr>
        <p:txBody>
          <a:bodyPr wrap="square" rtlCol="0">
            <a:spAutoFit/>
          </a:bodyPr>
          <a:lstStyle/>
          <a:p>
            <a:pPr marL="457200" lvl="0" indent="-457200" algn="just">
              <a:buFont typeface="Arial" panose="020B0604020202020204" pitchFamily="34" charset="0"/>
              <a:buChar char="•"/>
            </a:pPr>
            <a:r>
              <a:rPr lang="en-IN" sz="2600" b="1" dirty="0"/>
              <a:t>Time of supply</a:t>
            </a:r>
            <a:r>
              <a:rPr lang="en-IN" sz="2600" dirty="0"/>
              <a:t> means the point in time when goods/services are considered supplied’. When the seller knows the ‘time’, it helps him identify due date for payment of taxes.</a:t>
            </a:r>
          </a:p>
          <a:p>
            <a:pPr lvl="0" algn="just"/>
            <a:endParaRPr lang="en-IN" sz="2600" dirty="0"/>
          </a:p>
          <a:p>
            <a:pPr marL="457200" lvl="0" indent="-457200" algn="just">
              <a:buFont typeface="Arial" panose="020B0604020202020204" pitchFamily="34" charset="0"/>
              <a:buChar char="•"/>
            </a:pPr>
            <a:r>
              <a:rPr lang="en-IN" sz="2600" b="1" dirty="0"/>
              <a:t>Place of supply</a:t>
            </a:r>
            <a:r>
              <a:rPr lang="en-IN" sz="2600" dirty="0"/>
              <a:t> is required for determining the right tax to be charged on the invoice, whether IGST or CGST/SGST will apply.</a:t>
            </a:r>
          </a:p>
          <a:p>
            <a:pPr lvl="0" algn="just"/>
            <a:endParaRPr lang="en-IN" sz="2600" dirty="0"/>
          </a:p>
          <a:p>
            <a:pPr marL="457200" lvl="0" indent="-457200" algn="just">
              <a:buFont typeface="Arial" panose="020B0604020202020204" pitchFamily="34" charset="0"/>
              <a:buChar char="•"/>
            </a:pPr>
            <a:r>
              <a:rPr lang="en-IN" sz="2600" b="1" dirty="0"/>
              <a:t>Value of supply</a:t>
            </a:r>
            <a:r>
              <a:rPr lang="en-IN" sz="2600" dirty="0"/>
              <a:t> is important because GST is calculated on the value of the sale. If the value is calculated incorrectly, then the amount of GST charged is also incorrect  </a:t>
            </a:r>
          </a:p>
        </p:txBody>
      </p:sp>
    </p:spTree>
    <p:extLst>
      <p:ext uri="{BB962C8B-B14F-4D97-AF65-F5344CB8AC3E}">
        <p14:creationId xmlns:p14="http://schemas.microsoft.com/office/powerpoint/2010/main" val="36075419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of Goods</a:t>
            </a:r>
            <a:endParaRPr lang="en-IN" sz="3600" dirty="0"/>
          </a:p>
        </p:txBody>
      </p:sp>
      <p:sp>
        <p:nvSpPr>
          <p:cNvPr id="3" name="TextBox 2"/>
          <p:cNvSpPr txBox="1"/>
          <p:nvPr/>
        </p:nvSpPr>
        <p:spPr>
          <a:xfrm>
            <a:off x="1569970" y="1461117"/>
            <a:ext cx="8416926" cy="4493538"/>
          </a:xfrm>
          <a:prstGeom prst="rect">
            <a:avLst/>
          </a:prstGeom>
          <a:noFill/>
        </p:spPr>
        <p:txBody>
          <a:bodyPr wrap="square" rtlCol="0">
            <a:spAutoFit/>
          </a:bodyPr>
          <a:lstStyle/>
          <a:p>
            <a:r>
              <a:rPr lang="en-IN" sz="2600" dirty="0"/>
              <a:t>Time of supply of goods is earliest of:</a:t>
            </a:r>
          </a:p>
          <a:p>
            <a:endParaRPr lang="en-IN" sz="2600" dirty="0"/>
          </a:p>
          <a:p>
            <a:r>
              <a:rPr lang="en-IN" sz="2600" dirty="0"/>
              <a:t>1. Date of issue of invoice</a:t>
            </a:r>
          </a:p>
          <a:p>
            <a:r>
              <a:rPr lang="en-IN" sz="2600" dirty="0"/>
              <a:t>2. Last date on which invoice should have been issued</a:t>
            </a:r>
          </a:p>
          <a:p>
            <a:r>
              <a:rPr lang="en-IN" sz="2600" dirty="0"/>
              <a:t>3. Date of receipt of advance/ payment.</a:t>
            </a:r>
          </a:p>
          <a:p>
            <a:endParaRPr lang="en-IN" sz="2600" dirty="0"/>
          </a:p>
          <a:p>
            <a:r>
              <a:rPr lang="en-IN" sz="2600" dirty="0"/>
              <a:t>For example:</a:t>
            </a:r>
          </a:p>
          <a:p>
            <a:endParaRPr lang="en-IN" sz="2600" dirty="0"/>
          </a:p>
          <a:p>
            <a:r>
              <a:rPr lang="en-IN" sz="2600" dirty="0"/>
              <a:t>Mr. X sold goods to Mr. Y worth Rs 1,00,000. The invoice was issued on 15th January. The payment was received on 31st January. The goods were supplied on 20th January.</a:t>
            </a:r>
          </a:p>
        </p:txBody>
      </p:sp>
    </p:spTree>
    <p:extLst>
      <p:ext uri="{BB962C8B-B14F-4D97-AF65-F5344CB8AC3E}">
        <p14:creationId xmlns:p14="http://schemas.microsoft.com/office/powerpoint/2010/main" val="239001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410871" y="580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801836" y="48001"/>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of Goods</a:t>
            </a:r>
            <a:endParaRPr lang="en-IN" sz="3600" dirty="0"/>
          </a:p>
        </p:txBody>
      </p:sp>
      <p:sp>
        <p:nvSpPr>
          <p:cNvPr id="3" name="TextBox 2"/>
          <p:cNvSpPr txBox="1"/>
          <p:nvPr/>
        </p:nvSpPr>
        <p:spPr>
          <a:xfrm>
            <a:off x="1090126" y="711997"/>
            <a:ext cx="10011747" cy="6031908"/>
          </a:xfrm>
          <a:prstGeom prst="rect">
            <a:avLst/>
          </a:prstGeom>
          <a:noFill/>
        </p:spPr>
        <p:txBody>
          <a:bodyPr wrap="square" rtlCol="0">
            <a:spAutoFit/>
          </a:bodyPr>
          <a:lstStyle/>
          <a:p>
            <a:pPr>
              <a:lnSpc>
                <a:spcPct val="150000"/>
              </a:lnSpc>
            </a:pPr>
            <a:r>
              <a:rPr lang="en-IN" sz="2600" dirty="0"/>
              <a:t>Let us analyze and arrive at the time of supply in this case.</a:t>
            </a:r>
          </a:p>
          <a:p>
            <a:pPr>
              <a:lnSpc>
                <a:spcPct val="150000"/>
              </a:lnSpc>
            </a:pPr>
            <a:r>
              <a:rPr lang="en-IN" sz="2600" dirty="0"/>
              <a:t>Time of supply is earliest of –</a:t>
            </a:r>
          </a:p>
          <a:p>
            <a:pPr>
              <a:lnSpc>
                <a:spcPct val="150000"/>
              </a:lnSpc>
            </a:pPr>
            <a:r>
              <a:rPr lang="en-IN" sz="2600" dirty="0"/>
              <a:t>Date of issue of invoice – 15th January</a:t>
            </a:r>
          </a:p>
          <a:p>
            <a:pPr>
              <a:lnSpc>
                <a:spcPct val="150000"/>
              </a:lnSpc>
            </a:pPr>
            <a:r>
              <a:rPr lang="en-IN" sz="2600" dirty="0"/>
              <a:t>Last date on which invoice should have been issued  – 20th January.</a:t>
            </a:r>
          </a:p>
          <a:p>
            <a:pPr>
              <a:lnSpc>
                <a:spcPct val="150000"/>
              </a:lnSpc>
            </a:pPr>
            <a:r>
              <a:rPr lang="en-IN" sz="2600" dirty="0"/>
              <a:t>Thus the time of supply is 15th January.</a:t>
            </a:r>
          </a:p>
          <a:p>
            <a:pPr>
              <a:lnSpc>
                <a:spcPct val="150000"/>
              </a:lnSpc>
            </a:pPr>
            <a:r>
              <a:rPr lang="en-IN" sz="2600" dirty="0"/>
              <a:t>What will happen if, in the same example an advance of Rs 50,000 is received by Mr. X on 1st January?</a:t>
            </a:r>
          </a:p>
          <a:p>
            <a:pPr>
              <a:lnSpc>
                <a:spcPct val="150000"/>
              </a:lnSpc>
            </a:pPr>
            <a:r>
              <a:rPr lang="en-IN" sz="2600" dirty="0"/>
              <a:t>The time of supply for the advance of Rs 50,000 will be 1st January(since the date of receipt of advance is before the invoice is issued). For the balance Rs 50,000, the time of supply will be 15th January. </a:t>
            </a:r>
          </a:p>
        </p:txBody>
      </p:sp>
    </p:spTree>
    <p:extLst>
      <p:ext uri="{BB962C8B-B14F-4D97-AF65-F5344CB8AC3E}">
        <p14:creationId xmlns:p14="http://schemas.microsoft.com/office/powerpoint/2010/main" val="68982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for Services</a:t>
            </a:r>
            <a:endParaRPr lang="en-IN" sz="3600" dirty="0"/>
          </a:p>
        </p:txBody>
      </p:sp>
      <p:sp>
        <p:nvSpPr>
          <p:cNvPr id="3" name="TextBox 2"/>
          <p:cNvSpPr txBox="1"/>
          <p:nvPr/>
        </p:nvSpPr>
        <p:spPr>
          <a:xfrm>
            <a:off x="857698" y="872770"/>
            <a:ext cx="10011747" cy="5293757"/>
          </a:xfrm>
          <a:prstGeom prst="rect">
            <a:avLst/>
          </a:prstGeom>
          <a:noFill/>
        </p:spPr>
        <p:txBody>
          <a:bodyPr wrap="square" rtlCol="0">
            <a:spAutoFit/>
          </a:bodyPr>
          <a:lstStyle/>
          <a:p>
            <a:pPr algn="just">
              <a:lnSpc>
                <a:spcPct val="150000"/>
              </a:lnSpc>
            </a:pPr>
            <a:r>
              <a:rPr lang="en-IN" sz="2600" dirty="0"/>
              <a:t>Time of supply of services is earliest of:</a:t>
            </a:r>
          </a:p>
          <a:p>
            <a:pPr algn="just">
              <a:lnSpc>
                <a:spcPct val="150000"/>
              </a:lnSpc>
            </a:pPr>
            <a:r>
              <a:rPr lang="en-IN" sz="2600" dirty="0"/>
              <a:t>Date of issue of invoice</a:t>
            </a:r>
          </a:p>
          <a:p>
            <a:pPr algn="just">
              <a:lnSpc>
                <a:spcPct val="150000"/>
              </a:lnSpc>
            </a:pPr>
            <a:r>
              <a:rPr lang="en-IN" sz="2600" dirty="0"/>
              <a:t>Date of receipt of advance/ payment.</a:t>
            </a:r>
          </a:p>
          <a:p>
            <a:pPr algn="just">
              <a:lnSpc>
                <a:spcPct val="150000"/>
              </a:lnSpc>
            </a:pPr>
            <a:r>
              <a:rPr lang="en-IN" sz="2600" dirty="0"/>
              <a:t>Date of provision of services (if invoice is not issued within prescribed period)</a:t>
            </a:r>
          </a:p>
          <a:p>
            <a:pPr algn="just">
              <a:lnSpc>
                <a:spcPct val="150000"/>
              </a:lnSpc>
            </a:pPr>
            <a:r>
              <a:rPr lang="en-IN" sz="2600" dirty="0"/>
              <a:t>Let us understand this using an example:</a:t>
            </a:r>
          </a:p>
          <a:p>
            <a:pPr algn="just"/>
            <a:r>
              <a:rPr lang="en-IN" sz="2600" dirty="0"/>
              <a:t>Mr. A provides services worth Rs 20000 to Mr. B on 1st January. The invoice was issued on 20th January and the payment for the same was received on 1st February.</a:t>
            </a:r>
            <a:endParaRPr lang="en-IN" dirty="0"/>
          </a:p>
          <a:p>
            <a:pPr lvl="0"/>
            <a:r>
              <a:rPr lang="en-IN" sz="2600" dirty="0"/>
              <a:t> </a:t>
            </a:r>
          </a:p>
        </p:txBody>
      </p:sp>
    </p:spTree>
    <p:extLst>
      <p:ext uri="{BB962C8B-B14F-4D97-AF65-F5344CB8AC3E}">
        <p14:creationId xmlns:p14="http://schemas.microsoft.com/office/powerpoint/2010/main" val="155586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for Services</a:t>
            </a:r>
            <a:endParaRPr lang="en-IN" sz="3600" dirty="0"/>
          </a:p>
        </p:txBody>
      </p:sp>
      <p:sp>
        <p:nvSpPr>
          <p:cNvPr id="3" name="TextBox 2"/>
          <p:cNvSpPr txBox="1"/>
          <p:nvPr/>
        </p:nvSpPr>
        <p:spPr>
          <a:xfrm>
            <a:off x="737118" y="1194318"/>
            <a:ext cx="10011747" cy="4370427"/>
          </a:xfrm>
          <a:prstGeom prst="rect">
            <a:avLst/>
          </a:prstGeom>
          <a:noFill/>
        </p:spPr>
        <p:txBody>
          <a:bodyPr wrap="square" rtlCol="0">
            <a:spAutoFit/>
          </a:bodyPr>
          <a:lstStyle/>
          <a:p>
            <a:r>
              <a:rPr lang="en-IN" sz="2600" dirty="0"/>
              <a:t>In the present case, we need to 1st check if the invoice was issued within the prescribed time. The prescribed time is 30 days from the date of supply i.e. 31st January. The invoice was issued on 20th January. This means that the invoice was issued within a prescribed time limit.</a:t>
            </a:r>
          </a:p>
          <a:p>
            <a:endParaRPr lang="en-IN" sz="2600" dirty="0"/>
          </a:p>
          <a:p>
            <a:r>
              <a:rPr lang="en-IN" sz="2600" dirty="0"/>
              <a:t>The time of supply will be earliest of –</a:t>
            </a:r>
          </a:p>
          <a:p>
            <a:pPr lvl="0"/>
            <a:r>
              <a:rPr lang="en-IN" sz="2600" dirty="0"/>
              <a:t>Date of issue of invoice – 20th January</a:t>
            </a:r>
          </a:p>
          <a:p>
            <a:pPr lvl="0"/>
            <a:r>
              <a:rPr lang="en-IN" sz="2600" dirty="0"/>
              <a:t>Date of payment = 1st February</a:t>
            </a:r>
          </a:p>
          <a:p>
            <a:r>
              <a:rPr lang="en-IN" sz="2600" dirty="0"/>
              <a:t>This means that the time of supply of services will be 20th January.</a:t>
            </a:r>
          </a:p>
          <a:p>
            <a:r>
              <a:rPr lang="en-IN" dirty="0"/>
              <a:t> </a:t>
            </a:r>
          </a:p>
          <a:p>
            <a:pPr lvl="0"/>
            <a:r>
              <a:rPr lang="en-IN" sz="2600" dirty="0"/>
              <a:t> </a:t>
            </a:r>
          </a:p>
        </p:txBody>
      </p:sp>
    </p:spTree>
    <p:extLst>
      <p:ext uri="{BB962C8B-B14F-4D97-AF65-F5344CB8AC3E}">
        <p14:creationId xmlns:p14="http://schemas.microsoft.com/office/powerpoint/2010/main" val="2506474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400823" y="590428"/>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Time of Supply under Reverse Charge</a:t>
            </a:r>
            <a:endParaRPr lang="en-IN" sz="3400" dirty="0"/>
          </a:p>
        </p:txBody>
      </p:sp>
      <p:sp>
        <p:nvSpPr>
          <p:cNvPr id="3" name="TextBox 2"/>
          <p:cNvSpPr txBox="1"/>
          <p:nvPr/>
        </p:nvSpPr>
        <p:spPr>
          <a:xfrm>
            <a:off x="1269442" y="949657"/>
            <a:ext cx="9354704" cy="5940088"/>
          </a:xfrm>
          <a:prstGeom prst="rect">
            <a:avLst/>
          </a:prstGeom>
          <a:noFill/>
        </p:spPr>
        <p:txBody>
          <a:bodyPr wrap="square" rtlCol="0">
            <a:spAutoFit/>
          </a:bodyPr>
          <a:lstStyle/>
          <a:p>
            <a:r>
              <a:rPr lang="en-US" sz="2000" dirty="0"/>
              <a:t>Under Reverse Charge Mechanism (RCM), the recipient of goods or services (not the supplier) is liable to pay GST directly to the government.</a:t>
            </a:r>
            <a:endParaRPr lang="en-IN" sz="2000" dirty="0"/>
          </a:p>
          <a:p>
            <a:pPr>
              <a:buNone/>
            </a:pPr>
            <a:r>
              <a:rPr lang="en-US" sz="2000" b="1" dirty="0"/>
              <a:t>Time of Supply – Key Rule</a:t>
            </a:r>
          </a:p>
          <a:p>
            <a:pPr>
              <a:buNone/>
            </a:pPr>
            <a:r>
              <a:rPr lang="en-US" sz="2000" dirty="0"/>
              <a:t>The </a:t>
            </a:r>
            <a:r>
              <a:rPr lang="en-US" sz="2000" b="1" dirty="0"/>
              <a:t>time of supply</a:t>
            </a:r>
            <a:r>
              <a:rPr lang="en-US" sz="2000" dirty="0"/>
              <a:t> determines </a:t>
            </a:r>
            <a:r>
              <a:rPr lang="en-US" sz="2000" b="1" dirty="0"/>
              <a:t>when GST liability arises</a:t>
            </a:r>
            <a:r>
              <a:rPr lang="en-US" sz="2000" dirty="0"/>
              <a:t>.</a:t>
            </a:r>
          </a:p>
          <a:p>
            <a:pPr>
              <a:buNone/>
            </a:pPr>
            <a:r>
              <a:rPr lang="en-US" sz="2000" b="1" dirty="0"/>
              <a:t>For Reverse Charge – Services:</a:t>
            </a:r>
          </a:p>
          <a:p>
            <a:pPr>
              <a:buNone/>
            </a:pPr>
            <a:r>
              <a:rPr lang="en-US" sz="2000" dirty="0"/>
              <a:t>The time of supply for services is the </a:t>
            </a:r>
            <a:r>
              <a:rPr lang="en-US" sz="2000" b="1" dirty="0"/>
              <a:t>earliest of the following:</a:t>
            </a:r>
            <a:endParaRPr lang="en-US" sz="2000" dirty="0"/>
          </a:p>
          <a:p>
            <a:pPr>
              <a:buFont typeface="+mj-lt"/>
              <a:buAutoNum type="arabicPeriod"/>
            </a:pPr>
            <a:r>
              <a:rPr lang="en-US" sz="2000" b="1" dirty="0"/>
              <a:t>Date of payment</a:t>
            </a:r>
            <a:r>
              <a:rPr lang="en-US" sz="2000" dirty="0"/>
              <a:t>, or</a:t>
            </a:r>
          </a:p>
          <a:p>
            <a:pPr>
              <a:buFont typeface="+mj-lt"/>
              <a:buAutoNum type="arabicPeriod"/>
            </a:pPr>
            <a:r>
              <a:rPr lang="en-US" sz="2000" b="1" dirty="0"/>
              <a:t>60 days from the date of issue of invoice</a:t>
            </a:r>
            <a:r>
              <a:rPr lang="en-US" sz="2000" dirty="0"/>
              <a:t> by the supplier.</a:t>
            </a:r>
          </a:p>
          <a:p>
            <a:endParaRPr lang="en-IN" sz="2000" dirty="0"/>
          </a:p>
          <a:p>
            <a:r>
              <a:rPr lang="en-IN" sz="2000" dirty="0"/>
              <a:t>For example:</a:t>
            </a:r>
          </a:p>
          <a:p>
            <a:r>
              <a:rPr lang="en-IN" sz="2000" dirty="0"/>
              <a:t>M/s ABC Pvt. Ltd undertook service of a director Mr. X worth Rs. 50,000 on 15th January. The invoice was raised on 1st February. M/s ABC Pvt Ltd made the payment on 1st May.</a:t>
            </a:r>
          </a:p>
          <a:p>
            <a:r>
              <a:rPr lang="en-US" sz="2000" dirty="0"/>
              <a:t>Step 1: Identify the two possible dates </a:t>
            </a:r>
          </a:p>
          <a:p>
            <a:r>
              <a:rPr lang="en-US" sz="2000" dirty="0"/>
              <a:t>Date of payment: 1 May</a:t>
            </a:r>
          </a:p>
          <a:p>
            <a:r>
              <a:rPr lang="en-US" sz="2000" dirty="0"/>
              <a:t>60 days from invoice date: 1 February + 60 days = 2 April</a:t>
            </a:r>
          </a:p>
          <a:p>
            <a:r>
              <a:rPr lang="en-US" sz="2000" dirty="0"/>
              <a:t>Step 2: Choose the earlier date</a:t>
            </a:r>
          </a:p>
          <a:p>
            <a:pPr lvl="1"/>
            <a:r>
              <a:rPr lang="en-US" sz="2000" dirty="0"/>
              <a:t> Earliest of (1 May, 2 April) = 2 April</a:t>
            </a:r>
          </a:p>
          <a:p>
            <a:pPr lvl="1"/>
            <a:r>
              <a:rPr lang="en-US" sz="2000" dirty="0"/>
              <a:t> Therefore, the Time of Supply = 2 April.</a:t>
            </a:r>
            <a:endParaRPr lang="en-IN" sz="2000" dirty="0"/>
          </a:p>
          <a:p>
            <a:endParaRPr lang="en-IN" sz="2000" dirty="0"/>
          </a:p>
        </p:txBody>
      </p:sp>
    </p:spTree>
    <p:extLst>
      <p:ext uri="{BB962C8B-B14F-4D97-AF65-F5344CB8AC3E}">
        <p14:creationId xmlns:p14="http://schemas.microsoft.com/office/powerpoint/2010/main" val="120067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4">
            <a:extLst>
              <a:ext uri="{FF2B5EF4-FFF2-40B4-BE49-F238E27FC236}">
                <a16:creationId xmlns:a16="http://schemas.microsoft.com/office/drawing/2014/main" id="{B18C0317-4EA7-0DF6-1C58-5F1AB5E906F3}"/>
              </a:ext>
            </a:extLst>
          </p:cNvPr>
          <p:cNvSpPr>
            <a:spLocks noGrp="1"/>
          </p:cNvSpPr>
          <p:nvPr>
            <p:ph idx="1"/>
          </p:nvPr>
        </p:nvSpPr>
        <p:spPr>
          <a:xfrm>
            <a:off x="838200" y="823965"/>
            <a:ext cx="10515600" cy="53529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normAutofit fontScale="77500" lnSpcReduction="20000"/>
          </a:bodyPr>
          <a:lstStyle/>
          <a:p>
            <a:endParaRPr lang="en-US" sz="2800" b="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rPr>
              <a:t>Time of Supply (RCM – Services) =</a:t>
            </a:r>
          </a:p>
          <a:p>
            <a:pPr lvl="1"/>
            <a:r>
              <a:rPr lang="en-US" dirty="0">
                <a:solidFill>
                  <a:schemeClr val="tx1"/>
                </a:solidFill>
              </a:rPr>
              <a:t>Earlier of (Date of Payment, 60 days from Invoice Date)</a:t>
            </a:r>
          </a:p>
          <a:p>
            <a:r>
              <a:rPr lang="en-US" dirty="0">
                <a:solidFill>
                  <a:schemeClr val="tx1"/>
                </a:solidFill>
              </a:rPr>
              <a:t>Time of Supply (RCM – Goods) =</a:t>
            </a:r>
          </a:p>
          <a:p>
            <a:pPr lvl="1"/>
            <a:r>
              <a:rPr lang="en-US" dirty="0">
                <a:solidFill>
                  <a:schemeClr val="tx1"/>
                </a:solidFill>
              </a:rPr>
              <a:t>Earlier of (Date of Payment, 30 days from Invoice Date)</a:t>
            </a: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0" indent="0">
              <a:buNone/>
            </a:pPr>
            <a:r>
              <a:rPr lang="en-IN" sz="2600" dirty="0">
                <a:solidFill>
                  <a:schemeClr val="tx1"/>
                </a:solidFill>
              </a:rPr>
              <a:t>  </a:t>
            </a: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pPr marL="0" indent="0">
              <a:buNone/>
            </a:pP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FFDCD94F-338D-3E29-4BF4-53A73A48E0B9}"/>
              </a:ext>
            </a:extLst>
          </p:cNvPr>
          <p:cNvSpPr>
            <a:spLocks noGrp="1"/>
          </p:cNvSpPr>
          <p:nvPr>
            <p:ph type="title"/>
          </p:nvPr>
        </p:nvSpPr>
        <p:spPr>
          <a:xfrm>
            <a:off x="2120201" y="606287"/>
            <a:ext cx="8168473" cy="5392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IN" sz="3400" b="1" dirty="0"/>
              <a:t>Time of Supply Summary</a:t>
            </a:r>
            <a:endParaRPr lang="en-IN" sz="3400" dirty="0"/>
          </a:p>
        </p:txBody>
      </p:sp>
      <p:graphicFrame>
        <p:nvGraphicFramePr>
          <p:cNvPr id="2" name="Table 1">
            <a:extLst>
              <a:ext uri="{FF2B5EF4-FFF2-40B4-BE49-F238E27FC236}">
                <a16:creationId xmlns:a16="http://schemas.microsoft.com/office/drawing/2014/main" id="{27683AE5-4160-AA50-A001-1A2C8C035259}"/>
              </a:ext>
            </a:extLst>
          </p:cNvPr>
          <p:cNvGraphicFramePr>
            <a:graphicFrameLocks noGrp="1"/>
          </p:cNvGraphicFramePr>
          <p:nvPr>
            <p:extLst>
              <p:ext uri="{D42A27DB-BD31-4B8C-83A1-F6EECF244321}">
                <p14:modId xmlns:p14="http://schemas.microsoft.com/office/powerpoint/2010/main" val="3264301800"/>
              </p:ext>
            </p:extLst>
          </p:nvPr>
        </p:nvGraphicFramePr>
        <p:xfrm>
          <a:off x="2029767" y="3269774"/>
          <a:ext cx="8963130" cy="1737360"/>
        </p:xfrm>
        <a:graphic>
          <a:graphicData uri="http://schemas.openxmlformats.org/drawingml/2006/table">
            <a:tbl>
              <a:tblPr/>
              <a:tblGrid>
                <a:gridCol w="2987710">
                  <a:extLst>
                    <a:ext uri="{9D8B030D-6E8A-4147-A177-3AD203B41FA5}">
                      <a16:colId xmlns:a16="http://schemas.microsoft.com/office/drawing/2014/main" val="690640693"/>
                    </a:ext>
                  </a:extLst>
                </a:gridCol>
                <a:gridCol w="2987710">
                  <a:extLst>
                    <a:ext uri="{9D8B030D-6E8A-4147-A177-3AD203B41FA5}">
                      <a16:colId xmlns:a16="http://schemas.microsoft.com/office/drawing/2014/main" val="987695882"/>
                    </a:ext>
                  </a:extLst>
                </a:gridCol>
                <a:gridCol w="2987710">
                  <a:extLst>
                    <a:ext uri="{9D8B030D-6E8A-4147-A177-3AD203B41FA5}">
                      <a16:colId xmlns:a16="http://schemas.microsoft.com/office/drawing/2014/main" val="778304872"/>
                    </a:ext>
                  </a:extLst>
                </a:gridCol>
              </a:tblGrid>
              <a:tr h="365750">
                <a:tc>
                  <a:txBody>
                    <a:bodyPr/>
                    <a:lstStyle/>
                    <a:p>
                      <a:pPr>
                        <a:buNone/>
                      </a:pPr>
                      <a:r>
                        <a:rPr lang="en-IN" b="1" dirty="0"/>
                        <a:t>Aspect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Goods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Services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4231096"/>
                  </a:ext>
                </a:extLst>
              </a:tr>
              <a:tr h="365750">
                <a:tc>
                  <a:txBody>
                    <a:bodyPr/>
                    <a:lstStyle/>
                    <a:p>
                      <a:pPr>
                        <a:buNone/>
                      </a:pPr>
                      <a:r>
                        <a:rPr lang="en-IN" b="1" dirty="0"/>
                        <a:t>Invoice time limit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time of removal/supply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Within 30 days of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4444990"/>
                  </a:ext>
                </a:extLst>
              </a:tr>
              <a:tr h="365750">
                <a:tc>
                  <a:txBody>
                    <a:bodyPr/>
                    <a:lstStyle/>
                    <a:p>
                      <a:pPr>
                        <a:buNone/>
                      </a:pPr>
                      <a:r>
                        <a:rPr lang="en-IN" b="1"/>
                        <a:t>GST on advance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Not applicable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Applicable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0861228"/>
                  </a:ext>
                </a:extLst>
              </a:tr>
              <a:tr h="365750">
                <a:tc>
                  <a:txBody>
                    <a:bodyPr/>
                    <a:lstStyle/>
                    <a:p>
                      <a:pPr>
                        <a:buNone/>
                      </a:pPr>
                      <a:r>
                        <a:rPr lang="en-IN" b="1"/>
                        <a:t>Time of supply rule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Earlier of invoice/supply/payment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Earlier of invoice/payment/service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550505"/>
                  </a:ext>
                </a:extLst>
              </a:tr>
            </a:tbl>
          </a:graphicData>
        </a:graphic>
      </p:graphicFrame>
    </p:spTree>
    <p:extLst>
      <p:ext uri="{BB962C8B-B14F-4D97-AF65-F5344CB8AC3E}">
        <p14:creationId xmlns:p14="http://schemas.microsoft.com/office/powerpoint/2010/main" val="3127509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Place of Supply</a:t>
            </a:r>
            <a:endParaRPr lang="en-IN" sz="3400" dirty="0"/>
          </a:p>
        </p:txBody>
      </p:sp>
      <p:sp>
        <p:nvSpPr>
          <p:cNvPr id="3" name="TextBox 2"/>
          <p:cNvSpPr txBox="1"/>
          <p:nvPr/>
        </p:nvSpPr>
        <p:spPr>
          <a:xfrm>
            <a:off x="737118" y="1194318"/>
            <a:ext cx="10011747" cy="1969770"/>
          </a:xfrm>
          <a:prstGeom prst="rect">
            <a:avLst/>
          </a:prstGeom>
          <a:noFill/>
        </p:spPr>
        <p:txBody>
          <a:bodyPr wrap="square" rtlCol="0">
            <a:spAutoFit/>
          </a:bodyPr>
          <a:lstStyle/>
          <a:p>
            <a:r>
              <a:rPr lang="en-IN" sz="2400" dirty="0"/>
              <a:t>It is very important to understand the term ‘place of supply’ for determining the right tax to be charged on the invoice.   </a:t>
            </a:r>
          </a:p>
          <a:p>
            <a:r>
              <a:rPr lang="en-IN" sz="2400" dirty="0"/>
              <a:t>Here is an example:</a:t>
            </a:r>
          </a:p>
          <a:p>
            <a:endParaRPr lang="en-IN" sz="2400" dirty="0"/>
          </a:p>
          <a:p>
            <a:pPr lvl="0"/>
            <a:r>
              <a:rPr lang="en-IN" sz="2600" dirty="0"/>
              <a:t> </a:t>
            </a:r>
          </a:p>
        </p:txBody>
      </p:sp>
      <p:graphicFrame>
        <p:nvGraphicFramePr>
          <p:cNvPr id="7" name="Table 6"/>
          <p:cNvGraphicFramePr>
            <a:graphicFrameLocks noGrp="1"/>
          </p:cNvGraphicFramePr>
          <p:nvPr>
            <p:extLst>
              <p:ext uri="{D42A27DB-BD31-4B8C-83A1-F6EECF244321}">
                <p14:modId xmlns:p14="http://schemas.microsoft.com/office/powerpoint/2010/main" val="247792864"/>
              </p:ext>
            </p:extLst>
          </p:nvPr>
        </p:nvGraphicFramePr>
        <p:xfrm>
          <a:off x="1129004" y="2715208"/>
          <a:ext cx="8556172" cy="2099388"/>
        </p:xfrm>
        <a:graphic>
          <a:graphicData uri="http://schemas.openxmlformats.org/drawingml/2006/table">
            <a:tbl>
              <a:tblPr firstRow="1" firstCol="1" bandRow="1">
                <a:tableStyleId>{5C22544A-7EE6-4342-B048-85BDC9FD1C3A}</a:tableStyleId>
              </a:tblPr>
              <a:tblGrid>
                <a:gridCol w="2383125">
                  <a:extLst>
                    <a:ext uri="{9D8B030D-6E8A-4147-A177-3AD203B41FA5}">
                      <a16:colId xmlns:a16="http://schemas.microsoft.com/office/drawing/2014/main" val="2334456445"/>
                    </a:ext>
                  </a:extLst>
                </a:gridCol>
                <a:gridCol w="2000582">
                  <a:extLst>
                    <a:ext uri="{9D8B030D-6E8A-4147-A177-3AD203B41FA5}">
                      <a16:colId xmlns:a16="http://schemas.microsoft.com/office/drawing/2014/main" val="663995743"/>
                    </a:ext>
                  </a:extLst>
                </a:gridCol>
                <a:gridCol w="2000582">
                  <a:extLst>
                    <a:ext uri="{9D8B030D-6E8A-4147-A177-3AD203B41FA5}">
                      <a16:colId xmlns:a16="http://schemas.microsoft.com/office/drawing/2014/main" val="3239522926"/>
                    </a:ext>
                  </a:extLst>
                </a:gridCol>
                <a:gridCol w="2171883">
                  <a:extLst>
                    <a:ext uri="{9D8B030D-6E8A-4147-A177-3AD203B41FA5}">
                      <a16:colId xmlns:a16="http://schemas.microsoft.com/office/drawing/2014/main" val="3451897959"/>
                    </a:ext>
                  </a:extLst>
                </a:gridCol>
              </a:tblGrid>
              <a:tr h="1061700">
                <a:tc>
                  <a:txBody>
                    <a:bodyPr/>
                    <a:lstStyle/>
                    <a:p>
                      <a:pPr algn="just">
                        <a:lnSpc>
                          <a:spcPct val="107000"/>
                        </a:lnSpc>
                        <a:spcAft>
                          <a:spcPts val="800"/>
                        </a:spcAft>
                        <a:tabLst>
                          <a:tab pos="1654175" algn="l"/>
                        </a:tabLst>
                      </a:pPr>
                      <a:r>
                        <a:rPr lang="en-IN" sz="2000">
                          <a:effectLst/>
                        </a:rPr>
                        <a:t>Location of Service Receiver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Place of supply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Nature of Supply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GST Applicable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2583120"/>
                  </a:ext>
                </a:extLst>
              </a:tr>
              <a:tr h="518844">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Intra-state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CGST + SGST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07784700"/>
                  </a:ext>
                </a:extLst>
              </a:tr>
              <a:tr h="518844">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Kerala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Inter-state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dirty="0">
                          <a:effectLst/>
                        </a:rPr>
                        <a:t>IGST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1623863"/>
                  </a:ext>
                </a:extLst>
              </a:tr>
            </a:tbl>
          </a:graphicData>
        </a:graphic>
      </p:graphicFrame>
    </p:spTree>
    <p:extLst>
      <p:ext uri="{BB962C8B-B14F-4D97-AF65-F5344CB8AC3E}">
        <p14:creationId xmlns:p14="http://schemas.microsoft.com/office/powerpoint/2010/main" val="106677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Place of Supply</a:t>
            </a:r>
            <a:endParaRPr lang="en-IN" sz="3400" dirty="0"/>
          </a:p>
        </p:txBody>
      </p:sp>
      <p:sp>
        <p:nvSpPr>
          <p:cNvPr id="3" name="TextBox 2"/>
          <p:cNvSpPr txBox="1"/>
          <p:nvPr/>
        </p:nvSpPr>
        <p:spPr>
          <a:xfrm>
            <a:off x="737118" y="1194318"/>
            <a:ext cx="10011747" cy="1969770"/>
          </a:xfrm>
          <a:prstGeom prst="rect">
            <a:avLst/>
          </a:prstGeom>
          <a:noFill/>
        </p:spPr>
        <p:txBody>
          <a:bodyPr wrap="square" rtlCol="0">
            <a:spAutoFit/>
          </a:bodyPr>
          <a:lstStyle/>
          <a:p>
            <a:r>
              <a:rPr lang="en-IN" sz="2400" dirty="0"/>
              <a:t>It is very important to understand the term ‘</a:t>
            </a:r>
            <a:r>
              <a:rPr lang="en-IN" sz="2400" dirty="0">
                <a:hlinkClick r:id="rId2"/>
              </a:rPr>
              <a:t>place of supply</a:t>
            </a:r>
            <a:r>
              <a:rPr lang="en-IN" sz="2400" dirty="0"/>
              <a:t>’ for determining the right tax to be charged on the invoice.   </a:t>
            </a:r>
          </a:p>
          <a:p>
            <a:r>
              <a:rPr lang="en-IN" sz="2400" dirty="0"/>
              <a:t>Here is an example:</a:t>
            </a:r>
          </a:p>
          <a:p>
            <a:endParaRPr lang="en-IN" sz="2400" dirty="0"/>
          </a:p>
          <a:p>
            <a:pPr lvl="0"/>
            <a:r>
              <a:rPr lang="en-IN" sz="2600" dirty="0"/>
              <a:t> </a:t>
            </a:r>
          </a:p>
        </p:txBody>
      </p:sp>
      <p:graphicFrame>
        <p:nvGraphicFramePr>
          <p:cNvPr id="7" name="Table 6"/>
          <p:cNvGraphicFramePr>
            <a:graphicFrameLocks noGrp="1"/>
          </p:cNvGraphicFramePr>
          <p:nvPr>
            <p:extLst>
              <p:ext uri="{D42A27DB-BD31-4B8C-83A1-F6EECF244321}">
                <p14:modId xmlns:p14="http://schemas.microsoft.com/office/powerpoint/2010/main" val="247792864"/>
              </p:ext>
            </p:extLst>
          </p:nvPr>
        </p:nvGraphicFramePr>
        <p:xfrm>
          <a:off x="1129004" y="2715208"/>
          <a:ext cx="8556172" cy="2099388"/>
        </p:xfrm>
        <a:graphic>
          <a:graphicData uri="http://schemas.openxmlformats.org/drawingml/2006/table">
            <a:tbl>
              <a:tblPr firstRow="1" firstCol="1" bandRow="1">
                <a:tableStyleId>{5C22544A-7EE6-4342-B048-85BDC9FD1C3A}</a:tableStyleId>
              </a:tblPr>
              <a:tblGrid>
                <a:gridCol w="2383125">
                  <a:extLst>
                    <a:ext uri="{9D8B030D-6E8A-4147-A177-3AD203B41FA5}">
                      <a16:colId xmlns:a16="http://schemas.microsoft.com/office/drawing/2014/main" val="2334456445"/>
                    </a:ext>
                  </a:extLst>
                </a:gridCol>
                <a:gridCol w="2000582">
                  <a:extLst>
                    <a:ext uri="{9D8B030D-6E8A-4147-A177-3AD203B41FA5}">
                      <a16:colId xmlns:a16="http://schemas.microsoft.com/office/drawing/2014/main" val="663995743"/>
                    </a:ext>
                  </a:extLst>
                </a:gridCol>
                <a:gridCol w="2000582">
                  <a:extLst>
                    <a:ext uri="{9D8B030D-6E8A-4147-A177-3AD203B41FA5}">
                      <a16:colId xmlns:a16="http://schemas.microsoft.com/office/drawing/2014/main" val="3239522926"/>
                    </a:ext>
                  </a:extLst>
                </a:gridCol>
                <a:gridCol w="2171883">
                  <a:extLst>
                    <a:ext uri="{9D8B030D-6E8A-4147-A177-3AD203B41FA5}">
                      <a16:colId xmlns:a16="http://schemas.microsoft.com/office/drawing/2014/main" val="3451897959"/>
                    </a:ext>
                  </a:extLst>
                </a:gridCol>
              </a:tblGrid>
              <a:tr h="1061700">
                <a:tc>
                  <a:txBody>
                    <a:bodyPr/>
                    <a:lstStyle/>
                    <a:p>
                      <a:pPr algn="just">
                        <a:lnSpc>
                          <a:spcPct val="107000"/>
                        </a:lnSpc>
                        <a:spcAft>
                          <a:spcPts val="800"/>
                        </a:spcAft>
                        <a:tabLst>
                          <a:tab pos="1654175" algn="l"/>
                        </a:tabLst>
                      </a:pPr>
                      <a:r>
                        <a:rPr lang="en-IN" sz="2000">
                          <a:effectLst/>
                        </a:rPr>
                        <a:t>Location of Service Receiver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Place of supply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Nature of Supply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GST Applicable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2583120"/>
                  </a:ext>
                </a:extLst>
              </a:tr>
              <a:tr h="518844">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Intra-state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CGST + SGST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07784700"/>
                  </a:ext>
                </a:extLst>
              </a:tr>
              <a:tr h="518844">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Kerala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Inter-state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dirty="0">
                          <a:effectLst/>
                        </a:rPr>
                        <a:t>IGST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1623863"/>
                  </a:ext>
                </a:extLst>
              </a:tr>
            </a:tbl>
          </a:graphicData>
        </a:graphic>
      </p:graphicFrame>
    </p:spTree>
    <p:extLst>
      <p:ext uri="{BB962C8B-B14F-4D97-AF65-F5344CB8AC3E}">
        <p14:creationId xmlns:p14="http://schemas.microsoft.com/office/powerpoint/2010/main" val="388636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Place of Supply of Goods</a:t>
            </a:r>
            <a:endParaRPr lang="en-IN" sz="3400" dirty="0"/>
          </a:p>
        </p:txBody>
      </p:sp>
      <p:sp>
        <p:nvSpPr>
          <p:cNvPr id="3" name="TextBox 2"/>
          <p:cNvSpPr txBox="1"/>
          <p:nvPr/>
        </p:nvSpPr>
        <p:spPr>
          <a:xfrm>
            <a:off x="955568" y="949657"/>
            <a:ext cx="10011747" cy="5632311"/>
          </a:xfrm>
          <a:prstGeom prst="rect">
            <a:avLst/>
          </a:prstGeom>
          <a:noFill/>
        </p:spPr>
        <p:txBody>
          <a:bodyPr wrap="square" rtlCol="0">
            <a:spAutoFit/>
          </a:bodyPr>
          <a:lstStyle/>
          <a:p>
            <a:r>
              <a:rPr lang="en-IN" sz="2400" dirty="0"/>
              <a:t>Usually, in case of goods, the place of supply is where the goods are delivered.</a:t>
            </a:r>
          </a:p>
          <a:p>
            <a:r>
              <a:rPr lang="en-IN" sz="2400" dirty="0"/>
              <a:t>So,  the place of supply of goods is the place where the ownership of goods changes.</a:t>
            </a:r>
          </a:p>
          <a:p>
            <a:endParaRPr lang="en-IN" sz="2400" dirty="0"/>
          </a:p>
          <a:p>
            <a:r>
              <a:rPr lang="en-IN" sz="2400" dirty="0"/>
              <a:t>If there is no movement of goods then the place of supply is the location of goods at the time of delivery to the recipient.</a:t>
            </a:r>
          </a:p>
          <a:p>
            <a:endParaRPr lang="en-IN" sz="2400" dirty="0"/>
          </a:p>
          <a:p>
            <a:r>
              <a:rPr lang="en-IN" sz="2400" dirty="0"/>
              <a:t>For example: In case of sales in a supermarket, the place of supply is the supermarket itself.</a:t>
            </a:r>
          </a:p>
          <a:p>
            <a:r>
              <a:rPr lang="en-IN" sz="2400" dirty="0"/>
              <a:t>Place of supply in cases where goods that are assembled and installed will be the location where the installation is done.</a:t>
            </a:r>
          </a:p>
          <a:p>
            <a:endParaRPr lang="en-IN" sz="2400" b="1" dirty="0"/>
          </a:p>
          <a:p>
            <a:r>
              <a:rPr lang="en-IN" sz="2400" b="1" dirty="0"/>
              <a:t>For example</a:t>
            </a:r>
            <a:r>
              <a:rPr lang="en-IN" sz="2400" dirty="0"/>
              <a:t>, </a:t>
            </a:r>
            <a:r>
              <a:rPr lang="en-IN" sz="2400" dirty="0">
                <a:solidFill>
                  <a:srgbClr val="C00000"/>
                </a:solidFill>
              </a:rPr>
              <a:t>A supplier located in Kolkata supplies machinery to the recipient in Delhi. The machinery is installed in the factory of the recipient in Kanpur. In this case, the place of supply of machinery will be Kanpur.</a:t>
            </a:r>
          </a:p>
        </p:txBody>
      </p:sp>
    </p:spTree>
    <p:extLst>
      <p:ext uri="{BB962C8B-B14F-4D97-AF65-F5344CB8AC3E}">
        <p14:creationId xmlns:p14="http://schemas.microsoft.com/office/powerpoint/2010/main" val="293282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for Services</a:t>
            </a:r>
          </a:p>
        </p:txBody>
      </p:sp>
      <p:sp>
        <p:nvSpPr>
          <p:cNvPr id="3" name="TextBox 2"/>
          <p:cNvSpPr txBox="1"/>
          <p:nvPr/>
        </p:nvSpPr>
        <p:spPr>
          <a:xfrm>
            <a:off x="737118" y="1194318"/>
            <a:ext cx="10011747" cy="5293757"/>
          </a:xfrm>
          <a:prstGeom prst="rect">
            <a:avLst/>
          </a:prstGeom>
          <a:noFill/>
        </p:spPr>
        <p:txBody>
          <a:bodyPr wrap="square" rtlCol="0">
            <a:spAutoFit/>
          </a:bodyPr>
          <a:lstStyle/>
          <a:p>
            <a:r>
              <a:rPr lang="en-IN" sz="2400" dirty="0"/>
              <a:t>Generally, the place of supply of services is the location of the service recipient.</a:t>
            </a:r>
          </a:p>
          <a:p>
            <a:r>
              <a:rPr lang="en-IN" sz="2400" dirty="0"/>
              <a:t>In cases where the services are provided to an unregistered dealer and their location is not available the location of service provider will be the place of provision of service.</a:t>
            </a:r>
          </a:p>
          <a:p>
            <a:r>
              <a:rPr lang="en-IN" sz="2400" dirty="0"/>
              <a:t>Special provisions have been made to determine the place of supply for the following services:</a:t>
            </a:r>
          </a:p>
          <a:p>
            <a:r>
              <a:rPr lang="en-IN" sz="2400" dirty="0"/>
              <a:t>Services related to immovable property</a:t>
            </a:r>
          </a:p>
          <a:p>
            <a:r>
              <a:rPr lang="en-IN" sz="2400" dirty="0"/>
              <a:t>Restaurant services</a:t>
            </a:r>
          </a:p>
          <a:p>
            <a:r>
              <a:rPr lang="en-IN" sz="2400" dirty="0"/>
              <a:t>Admission to events</a:t>
            </a:r>
          </a:p>
          <a:p>
            <a:r>
              <a:rPr lang="en-IN" sz="2400" dirty="0"/>
              <a:t>Transportation of goods and passengers</a:t>
            </a:r>
          </a:p>
          <a:p>
            <a:r>
              <a:rPr lang="en-IN" sz="2400" dirty="0"/>
              <a:t>Telecom services</a:t>
            </a:r>
          </a:p>
          <a:p>
            <a:r>
              <a:rPr lang="en-IN" sz="2400" dirty="0"/>
              <a:t>Banking, Financial and Insurance services.</a:t>
            </a:r>
          </a:p>
          <a:p>
            <a:r>
              <a:rPr lang="en-IN" sz="2400" dirty="0"/>
              <a:t>In case of services related to immovable property, the location of the property is the place of provision of services.</a:t>
            </a:r>
            <a:r>
              <a:rPr lang="en-IN" sz="2600" dirty="0"/>
              <a:t> </a:t>
            </a:r>
          </a:p>
        </p:txBody>
      </p:sp>
    </p:spTree>
    <p:extLst>
      <p:ext uri="{BB962C8B-B14F-4D97-AF65-F5344CB8AC3E}">
        <p14:creationId xmlns:p14="http://schemas.microsoft.com/office/powerpoint/2010/main" val="3167619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for Services</a:t>
            </a:r>
          </a:p>
        </p:txBody>
      </p:sp>
      <p:sp>
        <p:nvSpPr>
          <p:cNvPr id="3" name="TextBox 2"/>
          <p:cNvSpPr txBox="1"/>
          <p:nvPr/>
        </p:nvSpPr>
        <p:spPr>
          <a:xfrm>
            <a:off x="737118" y="1194318"/>
            <a:ext cx="10011747" cy="5293757"/>
          </a:xfrm>
          <a:prstGeom prst="rect">
            <a:avLst/>
          </a:prstGeom>
          <a:noFill/>
        </p:spPr>
        <p:txBody>
          <a:bodyPr wrap="square" rtlCol="0">
            <a:spAutoFit/>
          </a:bodyPr>
          <a:lstStyle/>
          <a:p>
            <a:r>
              <a:rPr lang="en-IN" sz="2400" dirty="0">
                <a:solidFill>
                  <a:srgbClr val="FF0000"/>
                </a:solidFill>
              </a:rPr>
              <a:t>Example 1:</a:t>
            </a:r>
          </a:p>
          <a:p>
            <a:r>
              <a:rPr lang="en-IN" sz="2400" dirty="0"/>
              <a:t>Mr. Anil from Delhi provides interior designing services to Mr. Ajay(Mumbai). The property is located in </a:t>
            </a:r>
            <a:r>
              <a:rPr lang="en-IN" sz="2400" dirty="0" err="1"/>
              <a:t>Ooty</a:t>
            </a:r>
            <a:r>
              <a:rPr lang="en-IN" sz="2400" dirty="0"/>
              <a:t>(Tamil Nadu).</a:t>
            </a:r>
          </a:p>
          <a:p>
            <a:r>
              <a:rPr lang="en-IN" sz="2400" dirty="0"/>
              <a:t>In this case, place of supply will be the location of the immovable property i.e. </a:t>
            </a:r>
            <a:r>
              <a:rPr lang="en-IN" sz="2400" dirty="0" err="1"/>
              <a:t>Ooty</a:t>
            </a:r>
            <a:r>
              <a:rPr lang="en-IN" sz="2400" dirty="0"/>
              <a:t>, Tamil Nadu.</a:t>
            </a:r>
          </a:p>
          <a:p>
            <a:endParaRPr lang="en-IN" sz="2400" dirty="0"/>
          </a:p>
          <a:p>
            <a:r>
              <a:rPr lang="en-IN" sz="2400" dirty="0">
                <a:solidFill>
                  <a:srgbClr val="FF0000"/>
                </a:solidFill>
              </a:rPr>
              <a:t>Example 2:</a:t>
            </a:r>
          </a:p>
          <a:p>
            <a:r>
              <a:rPr lang="en-IN" sz="2400" dirty="0"/>
              <a:t>A registered taxpayer offers passenger transport services from Bangalore to </a:t>
            </a:r>
            <a:r>
              <a:rPr lang="en-IN" sz="2400" dirty="0" err="1"/>
              <a:t>Hampi</a:t>
            </a:r>
            <a:r>
              <a:rPr lang="en-IN" sz="2400" dirty="0"/>
              <a:t>. The passengers do not have GST registration. What will be the place of supply in this case?</a:t>
            </a:r>
          </a:p>
          <a:p>
            <a:r>
              <a:rPr lang="en-IN" sz="2400" dirty="0"/>
              <a:t>The place of supply is the place from where the departure takes place i.e. Bangalore in this case.</a:t>
            </a:r>
          </a:p>
          <a:p>
            <a:endParaRPr lang="en-IN" sz="2400" dirty="0"/>
          </a:p>
          <a:p>
            <a:pPr lvl="0"/>
            <a:r>
              <a:rPr lang="en-IN" sz="2600" dirty="0"/>
              <a:t> </a:t>
            </a:r>
          </a:p>
        </p:txBody>
      </p:sp>
    </p:spTree>
    <p:extLst>
      <p:ext uri="{BB962C8B-B14F-4D97-AF65-F5344CB8AC3E}">
        <p14:creationId xmlns:p14="http://schemas.microsoft.com/office/powerpoint/2010/main" val="379289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Place of Supply When There is Movement of Goods</a:t>
            </a:r>
          </a:p>
        </p:txBody>
      </p:sp>
      <p:sp>
        <p:nvSpPr>
          <p:cNvPr id="3" name="TextBox 2"/>
          <p:cNvSpPr txBox="1"/>
          <p:nvPr/>
        </p:nvSpPr>
        <p:spPr>
          <a:xfrm>
            <a:off x="737118" y="1194318"/>
            <a:ext cx="10011747" cy="861774"/>
          </a:xfrm>
          <a:prstGeom prst="rect">
            <a:avLst/>
          </a:prstGeom>
          <a:noFill/>
        </p:spPr>
        <p:txBody>
          <a:bodyPr wrap="square" rtlCol="0">
            <a:spAutoFit/>
          </a:bodyPr>
          <a:lstStyle/>
          <a:p>
            <a:endParaRPr lang="en-IN" sz="2400" dirty="0"/>
          </a:p>
          <a:p>
            <a:pPr lvl="0"/>
            <a:r>
              <a:rPr lang="en-IN" sz="2600" dirty="0"/>
              <a:t> </a:t>
            </a:r>
          </a:p>
        </p:txBody>
      </p:sp>
      <p:graphicFrame>
        <p:nvGraphicFramePr>
          <p:cNvPr id="2" name="Table 1"/>
          <p:cNvGraphicFramePr>
            <a:graphicFrameLocks noGrp="1"/>
          </p:cNvGraphicFramePr>
          <p:nvPr>
            <p:extLst>
              <p:ext uri="{D42A27DB-BD31-4B8C-83A1-F6EECF244321}">
                <p14:modId xmlns:p14="http://schemas.microsoft.com/office/powerpoint/2010/main" val="920863797"/>
              </p:ext>
            </p:extLst>
          </p:nvPr>
        </p:nvGraphicFramePr>
        <p:xfrm>
          <a:off x="1259632" y="1520890"/>
          <a:ext cx="8406882" cy="4086807"/>
        </p:xfrm>
        <a:graphic>
          <a:graphicData uri="http://schemas.openxmlformats.org/drawingml/2006/table">
            <a:tbl>
              <a:tblPr firstRow="1" firstCol="1" bandRow="1">
                <a:tableStyleId>{5C22544A-7EE6-4342-B048-85BDC9FD1C3A}</a:tableStyleId>
              </a:tblPr>
              <a:tblGrid>
                <a:gridCol w="4203441">
                  <a:extLst>
                    <a:ext uri="{9D8B030D-6E8A-4147-A177-3AD203B41FA5}">
                      <a16:colId xmlns:a16="http://schemas.microsoft.com/office/drawing/2014/main" val="3885851085"/>
                    </a:ext>
                  </a:extLst>
                </a:gridCol>
                <a:gridCol w="4203441">
                  <a:extLst>
                    <a:ext uri="{9D8B030D-6E8A-4147-A177-3AD203B41FA5}">
                      <a16:colId xmlns:a16="http://schemas.microsoft.com/office/drawing/2014/main" val="1961051945"/>
                    </a:ext>
                  </a:extLst>
                </a:gridCol>
              </a:tblGrid>
              <a:tr h="359432">
                <a:tc>
                  <a:txBody>
                    <a:bodyPr/>
                    <a:lstStyle/>
                    <a:p>
                      <a:pPr algn="just">
                        <a:lnSpc>
                          <a:spcPct val="107000"/>
                        </a:lnSpc>
                        <a:spcAft>
                          <a:spcPts val="800"/>
                        </a:spcAft>
                        <a:tabLst>
                          <a:tab pos="1654175" algn="l"/>
                        </a:tabLst>
                      </a:pPr>
                      <a:r>
                        <a:rPr lang="en-IN" sz="2200">
                          <a:effectLst/>
                        </a:rPr>
                        <a:t>Supply Type</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200">
                          <a:effectLst/>
                        </a:rPr>
                        <a:t>Place of supply</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68361278"/>
                  </a:ext>
                </a:extLst>
              </a:tr>
              <a:tr h="1111559">
                <a:tc>
                  <a:txBody>
                    <a:bodyPr/>
                    <a:lstStyle/>
                    <a:p>
                      <a:pPr algn="just">
                        <a:lnSpc>
                          <a:spcPct val="107000"/>
                        </a:lnSpc>
                        <a:spcAft>
                          <a:spcPts val="0"/>
                        </a:spcAft>
                        <a:tabLst>
                          <a:tab pos="1654175" algn="l"/>
                        </a:tabLst>
                      </a:pPr>
                      <a:r>
                        <a:rPr lang="en-IN" sz="2200">
                          <a:effectLst/>
                        </a:rPr>
                        <a:t>Involves movement of goods, whether by supplier, or buyer or by any other person</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200">
                          <a:effectLst/>
                        </a:rPr>
                        <a:t>Location of the goods when the movement of goods terminates for delivery to the recipient.</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5524064"/>
                  </a:ext>
                </a:extLst>
              </a:tr>
              <a:tr h="2615816">
                <a:tc>
                  <a:txBody>
                    <a:bodyPr/>
                    <a:lstStyle/>
                    <a:p>
                      <a:pPr algn="just">
                        <a:lnSpc>
                          <a:spcPct val="107000"/>
                        </a:lnSpc>
                        <a:spcAft>
                          <a:spcPts val="0"/>
                        </a:spcAft>
                        <a:tabLst>
                          <a:tab pos="1654175" algn="l"/>
                        </a:tabLst>
                      </a:pPr>
                      <a:r>
                        <a:rPr lang="en-IN" sz="2200" dirty="0">
                          <a:effectLst/>
                        </a:rPr>
                        <a:t>Goods are delivered by the seller to the buyer on the directions of a third party (whether or not an agent), before or during the movement of goods, by the way of transfer of title in goods or the documents or some other way</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200" dirty="0">
                          <a:effectLst/>
                        </a:rPr>
                        <a:t>It is assumed that the third person has received the goods and therefore, the place of supply of the goods will be the principal place of business of the third party.</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0967630"/>
                  </a:ext>
                </a:extLst>
              </a:tr>
            </a:tbl>
          </a:graphicData>
        </a:graphic>
      </p:graphicFrame>
    </p:spTree>
    <p:extLst>
      <p:ext uri="{BB962C8B-B14F-4D97-AF65-F5344CB8AC3E}">
        <p14:creationId xmlns:p14="http://schemas.microsoft.com/office/powerpoint/2010/main" val="155815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Place of Supply When There is Movement of Goods</a:t>
            </a:r>
          </a:p>
        </p:txBody>
      </p:sp>
      <p:sp>
        <p:nvSpPr>
          <p:cNvPr id="3" name="TextBox 2"/>
          <p:cNvSpPr txBox="1"/>
          <p:nvPr/>
        </p:nvSpPr>
        <p:spPr>
          <a:xfrm>
            <a:off x="737118" y="1194318"/>
            <a:ext cx="10011747" cy="3416320"/>
          </a:xfrm>
          <a:prstGeom prst="rect">
            <a:avLst/>
          </a:prstGeom>
          <a:noFill/>
        </p:spPr>
        <p:txBody>
          <a:bodyPr wrap="square" rtlCol="0">
            <a:spAutoFit/>
          </a:bodyPr>
          <a:lstStyle/>
          <a:p>
            <a:r>
              <a:rPr lang="en-IN" sz="2400" b="1" dirty="0"/>
              <a:t>Example 1- Intra-state sales</a:t>
            </a:r>
            <a:r>
              <a:rPr lang="en-IN" sz="2400" dirty="0"/>
              <a:t> </a:t>
            </a:r>
            <a:r>
              <a:rPr lang="en-IN" sz="2400" b="1" dirty="0"/>
              <a:t>Mr. Raj of Mumbai, Maharashtra sells 10 TV sets to Mr. Vijay of Nagpur, Maharashtra</a:t>
            </a:r>
            <a:r>
              <a:rPr lang="en-IN" sz="2400" dirty="0"/>
              <a:t> </a:t>
            </a:r>
          </a:p>
          <a:p>
            <a:r>
              <a:rPr lang="en-IN" sz="2400" dirty="0"/>
              <a:t>The place of supply is Nagpur in Maharashtra. Since it is the same state CGST &amp; SGST will be charged. </a:t>
            </a:r>
          </a:p>
          <a:p>
            <a:endParaRPr lang="en-IN" sz="2400" dirty="0"/>
          </a:p>
          <a:p>
            <a:r>
              <a:rPr lang="en-IN" sz="2400" b="1" dirty="0"/>
              <a:t>Example 2-Inter-State sales</a:t>
            </a:r>
            <a:r>
              <a:rPr lang="en-IN" sz="2400" dirty="0"/>
              <a:t> </a:t>
            </a:r>
            <a:r>
              <a:rPr lang="en-IN" sz="2400" b="1" dirty="0"/>
              <a:t>Mr. Raj of Mumbai, Maharashtra sells 30 TV sets to Mr. Vinod of Bangalore, Karnataka</a:t>
            </a:r>
            <a:r>
              <a:rPr lang="en-IN" sz="2400" dirty="0"/>
              <a:t> </a:t>
            </a:r>
          </a:p>
          <a:p>
            <a:r>
              <a:rPr lang="en-IN" sz="2400" dirty="0"/>
              <a:t>The place of supply is Bangalore in Karnataka. Since it is a different state IGST will be charged. </a:t>
            </a:r>
          </a:p>
        </p:txBody>
      </p:sp>
    </p:spTree>
    <p:extLst>
      <p:ext uri="{BB962C8B-B14F-4D97-AF65-F5344CB8AC3E}">
        <p14:creationId xmlns:p14="http://schemas.microsoft.com/office/powerpoint/2010/main" val="286835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Place of Supply When There is Movement of Goods</a:t>
            </a:r>
          </a:p>
        </p:txBody>
      </p:sp>
      <p:sp>
        <p:nvSpPr>
          <p:cNvPr id="3" name="TextBox 2"/>
          <p:cNvSpPr txBox="1"/>
          <p:nvPr/>
        </p:nvSpPr>
        <p:spPr>
          <a:xfrm>
            <a:off x="737118" y="1194318"/>
            <a:ext cx="10011747" cy="1785104"/>
          </a:xfrm>
          <a:prstGeom prst="rect">
            <a:avLst/>
          </a:prstGeom>
          <a:noFill/>
        </p:spPr>
        <p:txBody>
          <a:bodyPr wrap="square" rtlCol="0">
            <a:spAutoFit/>
          </a:bodyPr>
          <a:lstStyle/>
          <a:p>
            <a:r>
              <a:rPr lang="en-IN" sz="2200" b="1" dirty="0"/>
              <a:t>Example 3- Deliver to a 3rd party as per instructions</a:t>
            </a:r>
            <a:r>
              <a:rPr lang="en-IN" sz="2200" dirty="0"/>
              <a:t> </a:t>
            </a:r>
            <a:r>
              <a:rPr lang="en-IN" sz="2200" b="1" dirty="0" err="1"/>
              <a:t>Anand</a:t>
            </a:r>
            <a:r>
              <a:rPr lang="en-IN" sz="2200" b="1" dirty="0"/>
              <a:t> in Lucknow buys goods from Mr. Raj in Mumbai (Maharashtra). The buyer requests the seller to send the goods to Nagpur (Maharashtra)</a:t>
            </a:r>
            <a:r>
              <a:rPr lang="en-IN" sz="2200" dirty="0"/>
              <a:t> </a:t>
            </a:r>
          </a:p>
          <a:p>
            <a:r>
              <a:rPr lang="en-IN" sz="2200" dirty="0"/>
              <a:t>In this case, it will be assumed that the buyer in Lucknow has received the goods &amp; IGST will be charged. Place of supply: Lucknow (UP) GST: IGST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2556587" y="2979422"/>
            <a:ext cx="5990253" cy="3722024"/>
          </a:xfrm>
          <a:prstGeom prst="rect">
            <a:avLst/>
          </a:prstGeom>
          <a:noFill/>
          <a:ln>
            <a:noFill/>
          </a:ln>
        </p:spPr>
      </p:pic>
    </p:spTree>
    <p:extLst>
      <p:ext uri="{BB962C8B-B14F-4D97-AF65-F5344CB8AC3E}">
        <p14:creationId xmlns:p14="http://schemas.microsoft.com/office/powerpoint/2010/main" val="353690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200" dirty="0">
                <a:solidFill>
                  <a:schemeClr val="tx1"/>
                </a:solidFill>
              </a:rPr>
              <a:t>Example 1- No movement of goods:</a:t>
            </a:r>
            <a:r>
              <a:rPr lang="en-IN" sz="2200" b="1" dirty="0">
                <a:solidFill>
                  <a:schemeClr val="tx1"/>
                </a:solidFill>
              </a:rPr>
              <a:t> </a:t>
            </a:r>
            <a:r>
              <a:rPr lang="en-IN" sz="2200" dirty="0">
                <a:solidFill>
                  <a:schemeClr val="tx1"/>
                </a:solidFill>
              </a:rPr>
              <a:t>Sales Heaven Ltd. (Chennai) opens a new showroom in Bangalore. It purchases a building for showroom from ABC Realtors (Bangalore) along with pre-installed workstations</a:t>
            </a:r>
          </a:p>
          <a:p>
            <a:r>
              <a:rPr lang="en-IN" sz="2200" b="1" dirty="0">
                <a:solidFill>
                  <a:schemeClr val="tx1"/>
                </a:solidFill>
              </a:rPr>
              <a:t>Place of supply: Bangalore GST: CGST &amp; SGST There is no movement of goods (work stations), so the place of supply will be the location of such goods at the time of delivery (handing over) to the receiver.</a:t>
            </a:r>
            <a:r>
              <a:rPr lang="en-IN" b="1" dirty="0"/>
              <a:t> </a:t>
            </a:r>
            <a:endParaRPr lang="en-IN" dirty="0"/>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 No Movement of Goods</a:t>
            </a:r>
          </a:p>
        </p:txBody>
      </p:sp>
      <p:graphicFrame>
        <p:nvGraphicFramePr>
          <p:cNvPr id="2" name="Table 1"/>
          <p:cNvGraphicFramePr>
            <a:graphicFrameLocks noGrp="1"/>
          </p:cNvGraphicFramePr>
          <p:nvPr>
            <p:extLst>
              <p:ext uri="{D42A27DB-BD31-4B8C-83A1-F6EECF244321}">
                <p14:modId xmlns:p14="http://schemas.microsoft.com/office/powerpoint/2010/main" val="3681485627"/>
              </p:ext>
            </p:extLst>
          </p:nvPr>
        </p:nvGraphicFramePr>
        <p:xfrm>
          <a:off x="2027085" y="1091683"/>
          <a:ext cx="6659716" cy="2422709"/>
        </p:xfrm>
        <a:graphic>
          <a:graphicData uri="http://schemas.openxmlformats.org/drawingml/2006/table">
            <a:tbl>
              <a:tblPr firstRow="1" firstCol="1" bandRow="1">
                <a:tableStyleId>{5C22544A-7EE6-4342-B048-85BDC9FD1C3A}</a:tableStyleId>
              </a:tblPr>
              <a:tblGrid>
                <a:gridCol w="3329858">
                  <a:extLst>
                    <a:ext uri="{9D8B030D-6E8A-4147-A177-3AD203B41FA5}">
                      <a16:colId xmlns:a16="http://schemas.microsoft.com/office/drawing/2014/main" val="772443154"/>
                    </a:ext>
                  </a:extLst>
                </a:gridCol>
                <a:gridCol w="3329858">
                  <a:extLst>
                    <a:ext uri="{9D8B030D-6E8A-4147-A177-3AD203B41FA5}">
                      <a16:colId xmlns:a16="http://schemas.microsoft.com/office/drawing/2014/main" val="1237998407"/>
                    </a:ext>
                  </a:extLst>
                </a:gridCol>
              </a:tblGrid>
              <a:tr h="301809">
                <a:tc>
                  <a:txBody>
                    <a:bodyPr/>
                    <a:lstStyle/>
                    <a:p>
                      <a:pPr algn="just">
                        <a:lnSpc>
                          <a:spcPct val="107000"/>
                        </a:lnSpc>
                        <a:spcAft>
                          <a:spcPts val="800"/>
                        </a:spcAft>
                        <a:tabLst>
                          <a:tab pos="1654175" algn="l"/>
                        </a:tabLst>
                      </a:pPr>
                      <a:r>
                        <a:rPr lang="en-IN" sz="1400">
                          <a:effectLst/>
                        </a:rPr>
                        <a:t>Supply Type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1400">
                          <a:effectLst/>
                        </a:rPr>
                        <a:t>Place of Supply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1199098"/>
                  </a:ext>
                </a:extLst>
              </a:tr>
              <a:tr h="1021374">
                <a:tc>
                  <a:txBody>
                    <a:bodyPr/>
                    <a:lstStyle/>
                    <a:p>
                      <a:pPr algn="just">
                        <a:lnSpc>
                          <a:spcPct val="107000"/>
                        </a:lnSpc>
                        <a:spcAft>
                          <a:spcPts val="0"/>
                        </a:spcAft>
                        <a:tabLst>
                          <a:tab pos="1654175" algn="l"/>
                        </a:tabLst>
                      </a:pPr>
                      <a:r>
                        <a:rPr lang="en-IN" sz="2200" dirty="0">
                          <a:effectLst/>
                        </a:rPr>
                        <a:t>No movement of goods, either by the supplier or by the recipient</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200" dirty="0">
                          <a:effectLst/>
                        </a:rPr>
                        <a:t>Location of those goods at the time of delivery to the recipient (at the time of ownership transfer)</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728230"/>
                  </a:ext>
                </a:extLst>
              </a:tr>
              <a:tr h="617585">
                <a:tc>
                  <a:txBody>
                    <a:bodyPr/>
                    <a:lstStyle/>
                    <a:p>
                      <a:pPr algn="just">
                        <a:lnSpc>
                          <a:spcPct val="107000"/>
                        </a:lnSpc>
                        <a:spcAft>
                          <a:spcPts val="0"/>
                        </a:spcAft>
                        <a:tabLst>
                          <a:tab pos="1654175" algn="l"/>
                        </a:tabLst>
                      </a:pPr>
                      <a:r>
                        <a:rPr lang="en-IN" sz="2200">
                          <a:effectLst/>
                        </a:rPr>
                        <a:t>Goods are assembled or installed at site</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200" dirty="0">
                          <a:effectLst/>
                        </a:rPr>
                        <a:t>Place of installation or assembly</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8000577"/>
                  </a:ext>
                </a:extLst>
              </a:tr>
            </a:tbl>
          </a:graphicData>
        </a:graphic>
      </p:graphicFrame>
    </p:spTree>
    <p:extLst>
      <p:ext uri="{BB962C8B-B14F-4D97-AF65-F5344CB8AC3E}">
        <p14:creationId xmlns:p14="http://schemas.microsoft.com/office/powerpoint/2010/main" val="371943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11105" y="391887"/>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 No Movement of Goods</a:t>
            </a:r>
          </a:p>
        </p:txBody>
      </p:sp>
      <p:sp>
        <p:nvSpPr>
          <p:cNvPr id="3" name="TextBox 2"/>
          <p:cNvSpPr txBox="1"/>
          <p:nvPr/>
        </p:nvSpPr>
        <p:spPr>
          <a:xfrm>
            <a:off x="485193" y="1184988"/>
            <a:ext cx="10543592" cy="1661993"/>
          </a:xfrm>
          <a:prstGeom prst="rect">
            <a:avLst/>
          </a:prstGeom>
          <a:noFill/>
        </p:spPr>
        <p:txBody>
          <a:bodyPr wrap="square" rtlCol="0">
            <a:spAutoFit/>
          </a:bodyPr>
          <a:lstStyle/>
          <a:p>
            <a:r>
              <a:rPr lang="en-IN" sz="2000" dirty="0">
                <a:solidFill>
                  <a:srgbClr val="FF0000"/>
                </a:solidFill>
              </a:rPr>
              <a:t>Example 2- </a:t>
            </a:r>
            <a:r>
              <a:rPr lang="en-IN" sz="2000" dirty="0"/>
              <a:t>Installing goods: Strong Iron &amp; Steel Ltd. (Jharkhand) asks M/s SAAS Constructions (West Bengal) to build a blast furnace in their Jharkhand steel plant </a:t>
            </a:r>
          </a:p>
          <a:p>
            <a:r>
              <a:rPr lang="en-IN" sz="2000" b="1" dirty="0"/>
              <a:t>Place of supply: Jharkhand GST: CGST &amp; SGST Although M/s SAAS is in West Bengal, the goods (blast furnace) is being installed at site in Jharkhand which will be the place of supply.</a:t>
            </a:r>
            <a:r>
              <a:rPr lang="en-IN" sz="2400" b="1" dirty="0"/>
              <a:t>   </a:t>
            </a:r>
            <a:endParaRPr lang="en-IN" sz="2400" dirty="0"/>
          </a:p>
          <a:p>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1672597191"/>
              </p:ext>
            </p:extLst>
          </p:nvPr>
        </p:nvGraphicFramePr>
        <p:xfrm>
          <a:off x="2272006" y="2576392"/>
          <a:ext cx="6969966" cy="3657600"/>
        </p:xfrm>
        <a:graphic>
          <a:graphicData uri="http://schemas.openxmlformats.org/drawingml/2006/table">
            <a:tbl>
              <a:tblPr firstRow="1" firstCol="1" bandRow="1">
                <a:tableStyleId>{5C22544A-7EE6-4342-B048-85BDC9FD1C3A}</a:tableStyleId>
              </a:tblPr>
              <a:tblGrid>
                <a:gridCol w="1052191">
                  <a:extLst>
                    <a:ext uri="{9D8B030D-6E8A-4147-A177-3AD203B41FA5}">
                      <a16:colId xmlns:a16="http://schemas.microsoft.com/office/drawing/2014/main" val="1617113515"/>
                    </a:ext>
                  </a:extLst>
                </a:gridCol>
                <a:gridCol w="1052191">
                  <a:extLst>
                    <a:ext uri="{9D8B030D-6E8A-4147-A177-3AD203B41FA5}">
                      <a16:colId xmlns:a16="http://schemas.microsoft.com/office/drawing/2014/main" val="1332633354"/>
                    </a:ext>
                  </a:extLst>
                </a:gridCol>
                <a:gridCol w="1052191">
                  <a:extLst>
                    <a:ext uri="{9D8B030D-6E8A-4147-A177-3AD203B41FA5}">
                      <a16:colId xmlns:a16="http://schemas.microsoft.com/office/drawing/2014/main" val="1620417401"/>
                    </a:ext>
                  </a:extLst>
                </a:gridCol>
                <a:gridCol w="1052191">
                  <a:extLst>
                    <a:ext uri="{9D8B030D-6E8A-4147-A177-3AD203B41FA5}">
                      <a16:colId xmlns:a16="http://schemas.microsoft.com/office/drawing/2014/main" val="1941372628"/>
                    </a:ext>
                  </a:extLst>
                </a:gridCol>
                <a:gridCol w="1380601">
                  <a:extLst>
                    <a:ext uri="{9D8B030D-6E8A-4147-A177-3AD203B41FA5}">
                      <a16:colId xmlns:a16="http://schemas.microsoft.com/office/drawing/2014/main" val="793955122"/>
                    </a:ext>
                  </a:extLst>
                </a:gridCol>
                <a:gridCol w="1380601">
                  <a:extLst>
                    <a:ext uri="{9D8B030D-6E8A-4147-A177-3AD203B41FA5}">
                      <a16:colId xmlns:a16="http://schemas.microsoft.com/office/drawing/2014/main" val="3043584366"/>
                    </a:ext>
                  </a:extLst>
                </a:gridCol>
              </a:tblGrid>
              <a:tr h="1177510">
                <a:tc>
                  <a:txBody>
                    <a:bodyPr/>
                    <a:lstStyle/>
                    <a:p>
                      <a:pPr>
                        <a:spcAft>
                          <a:spcPts val="0"/>
                        </a:spcAft>
                      </a:pPr>
                      <a:r>
                        <a:rPr lang="en-IN" sz="1600" dirty="0">
                          <a:effectLst/>
                        </a:rPr>
                        <a:t>Particulars</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dirty="0">
                          <a:effectLst/>
                        </a:rPr>
                        <a:t>Location of the supplier</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dirty="0">
                          <a:effectLst/>
                        </a:rPr>
                        <a:t>Location of the recipient ( Registered office)</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Site of the assembly /installation</a:t>
                      </a:r>
                      <a:endParaRPr lang="en-IN" sz="160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Place of supply</a:t>
                      </a:r>
                      <a:endParaRPr lang="en-IN" sz="160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GST</a:t>
                      </a:r>
                      <a:endParaRPr lang="en-IN" sz="160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73211083"/>
                  </a:ext>
                </a:extLst>
              </a:tr>
              <a:tr h="471004">
                <a:tc rowSpan="5">
                  <a:txBody>
                    <a:bodyPr/>
                    <a:lstStyle/>
                    <a:p>
                      <a:pPr>
                        <a:spcAft>
                          <a:spcPts val="0"/>
                        </a:spcAft>
                      </a:pPr>
                      <a:r>
                        <a:rPr lang="en-IN" sz="1600">
                          <a:effectLst/>
                        </a:rPr>
                        <a:t>Goods are assembled or installed at site</a:t>
                      </a:r>
                      <a:endParaRPr lang="en-IN" sz="1600">
                        <a:effectLst/>
                        <a:latin typeface="Calibri" panose="020F0502020204030204" pitchFamily="34" charset="0"/>
                        <a:cs typeface="Times New Roman" panose="02020603050405020304" pitchFamily="18" charset="0"/>
                      </a:endParaRPr>
                    </a:p>
                  </a:txBody>
                  <a:tcPr marL="68580" marR="68580" marT="0" marB="0" anchor="ctr"/>
                </a:tc>
                <a:tc>
                  <a:txBody>
                    <a:bodyPr/>
                    <a:lstStyle/>
                    <a:p>
                      <a:pPr>
                        <a:spcAft>
                          <a:spcPts val="0"/>
                        </a:spcAft>
                      </a:pPr>
                      <a:r>
                        <a:rPr lang="en-IN" sz="1600" dirty="0">
                          <a:effectLst/>
                        </a:rPr>
                        <a:t>West Bengal</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CGST+SGST</a:t>
                      </a:r>
                      <a:br>
                        <a:rPr lang="en-IN" sz="1600">
                          <a:effectLst/>
                        </a:rPr>
                      </a:b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0611855"/>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CGST+SGST</a:t>
                      </a:r>
                      <a:br>
                        <a:rPr lang="en-IN" sz="1600">
                          <a:effectLst/>
                        </a:rPr>
                      </a:b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2824632"/>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Orissa</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78811823"/>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(Tamil Nadu)</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8375278"/>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499462"/>
                  </a:ext>
                </a:extLst>
              </a:tr>
            </a:tbl>
          </a:graphicData>
        </a:graphic>
      </p:graphicFrame>
    </p:spTree>
    <p:extLst>
      <p:ext uri="{BB962C8B-B14F-4D97-AF65-F5344CB8AC3E}">
        <p14:creationId xmlns:p14="http://schemas.microsoft.com/office/powerpoint/2010/main" val="140653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11105" y="391887"/>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 No Movement of Goods</a:t>
            </a:r>
          </a:p>
        </p:txBody>
      </p:sp>
      <p:sp>
        <p:nvSpPr>
          <p:cNvPr id="3" name="TextBox 2"/>
          <p:cNvSpPr txBox="1"/>
          <p:nvPr/>
        </p:nvSpPr>
        <p:spPr>
          <a:xfrm>
            <a:off x="485193" y="1184988"/>
            <a:ext cx="10543592" cy="1661993"/>
          </a:xfrm>
          <a:prstGeom prst="rect">
            <a:avLst/>
          </a:prstGeom>
          <a:noFill/>
        </p:spPr>
        <p:txBody>
          <a:bodyPr wrap="square" rtlCol="0">
            <a:spAutoFit/>
          </a:bodyPr>
          <a:lstStyle/>
          <a:p>
            <a:r>
              <a:rPr lang="en-IN" sz="2000" dirty="0">
                <a:solidFill>
                  <a:srgbClr val="FF0000"/>
                </a:solidFill>
              </a:rPr>
              <a:t>Example 2- </a:t>
            </a:r>
            <a:r>
              <a:rPr lang="en-IN" sz="2000" dirty="0"/>
              <a:t>Installing goods Strong Iron &amp; Steel Ltd. (Jharkhand) asks M/s SAAS Constructions (West Bengal) to build a blast furnace in their Jharkhand steel plant </a:t>
            </a:r>
          </a:p>
          <a:p>
            <a:r>
              <a:rPr lang="en-IN" sz="2000" b="1" dirty="0"/>
              <a:t>Place of supply: Jharkhand GST: CGST &amp; SGST Although M/s SAAS is in West Bengal, the goods (blast furnace) is being installed at site in Jharkhand which will be the place of supply.</a:t>
            </a:r>
            <a:r>
              <a:rPr lang="en-IN" sz="2400" b="1" dirty="0"/>
              <a:t>   </a:t>
            </a:r>
            <a:endParaRPr lang="en-IN" sz="2400" dirty="0"/>
          </a:p>
          <a:p>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1672597191"/>
              </p:ext>
            </p:extLst>
          </p:nvPr>
        </p:nvGraphicFramePr>
        <p:xfrm>
          <a:off x="2272006" y="2576392"/>
          <a:ext cx="6969966" cy="3657600"/>
        </p:xfrm>
        <a:graphic>
          <a:graphicData uri="http://schemas.openxmlformats.org/drawingml/2006/table">
            <a:tbl>
              <a:tblPr firstRow="1" firstCol="1" bandRow="1">
                <a:tableStyleId>{5C22544A-7EE6-4342-B048-85BDC9FD1C3A}</a:tableStyleId>
              </a:tblPr>
              <a:tblGrid>
                <a:gridCol w="1052191">
                  <a:extLst>
                    <a:ext uri="{9D8B030D-6E8A-4147-A177-3AD203B41FA5}">
                      <a16:colId xmlns:a16="http://schemas.microsoft.com/office/drawing/2014/main" val="1617113515"/>
                    </a:ext>
                  </a:extLst>
                </a:gridCol>
                <a:gridCol w="1052191">
                  <a:extLst>
                    <a:ext uri="{9D8B030D-6E8A-4147-A177-3AD203B41FA5}">
                      <a16:colId xmlns:a16="http://schemas.microsoft.com/office/drawing/2014/main" val="1332633354"/>
                    </a:ext>
                  </a:extLst>
                </a:gridCol>
                <a:gridCol w="1052191">
                  <a:extLst>
                    <a:ext uri="{9D8B030D-6E8A-4147-A177-3AD203B41FA5}">
                      <a16:colId xmlns:a16="http://schemas.microsoft.com/office/drawing/2014/main" val="1620417401"/>
                    </a:ext>
                  </a:extLst>
                </a:gridCol>
                <a:gridCol w="1052191">
                  <a:extLst>
                    <a:ext uri="{9D8B030D-6E8A-4147-A177-3AD203B41FA5}">
                      <a16:colId xmlns:a16="http://schemas.microsoft.com/office/drawing/2014/main" val="1941372628"/>
                    </a:ext>
                  </a:extLst>
                </a:gridCol>
                <a:gridCol w="1380601">
                  <a:extLst>
                    <a:ext uri="{9D8B030D-6E8A-4147-A177-3AD203B41FA5}">
                      <a16:colId xmlns:a16="http://schemas.microsoft.com/office/drawing/2014/main" val="793955122"/>
                    </a:ext>
                  </a:extLst>
                </a:gridCol>
                <a:gridCol w="1380601">
                  <a:extLst>
                    <a:ext uri="{9D8B030D-6E8A-4147-A177-3AD203B41FA5}">
                      <a16:colId xmlns:a16="http://schemas.microsoft.com/office/drawing/2014/main" val="3043584366"/>
                    </a:ext>
                  </a:extLst>
                </a:gridCol>
              </a:tblGrid>
              <a:tr h="1177510">
                <a:tc>
                  <a:txBody>
                    <a:bodyPr/>
                    <a:lstStyle/>
                    <a:p>
                      <a:pPr>
                        <a:spcAft>
                          <a:spcPts val="0"/>
                        </a:spcAft>
                      </a:pPr>
                      <a:r>
                        <a:rPr lang="en-IN" sz="1600" dirty="0">
                          <a:effectLst/>
                        </a:rPr>
                        <a:t>Particulars</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dirty="0">
                          <a:effectLst/>
                        </a:rPr>
                        <a:t>Location of the supplier</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dirty="0">
                          <a:effectLst/>
                        </a:rPr>
                        <a:t>Location of the recipient ( Registered office)</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Site of the assembly /installation</a:t>
                      </a:r>
                      <a:endParaRPr lang="en-IN" sz="160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Place of supply</a:t>
                      </a:r>
                      <a:endParaRPr lang="en-IN" sz="160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GST</a:t>
                      </a:r>
                      <a:endParaRPr lang="en-IN" sz="160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73211083"/>
                  </a:ext>
                </a:extLst>
              </a:tr>
              <a:tr h="471004">
                <a:tc rowSpan="5">
                  <a:txBody>
                    <a:bodyPr/>
                    <a:lstStyle/>
                    <a:p>
                      <a:pPr>
                        <a:spcAft>
                          <a:spcPts val="0"/>
                        </a:spcAft>
                      </a:pPr>
                      <a:r>
                        <a:rPr lang="en-IN" sz="1600">
                          <a:effectLst/>
                        </a:rPr>
                        <a:t>Goods are assembled or installed at site</a:t>
                      </a:r>
                      <a:endParaRPr lang="en-IN" sz="1600">
                        <a:effectLst/>
                        <a:latin typeface="Calibri" panose="020F0502020204030204" pitchFamily="34" charset="0"/>
                        <a:cs typeface="Times New Roman" panose="02020603050405020304" pitchFamily="18" charset="0"/>
                      </a:endParaRPr>
                    </a:p>
                  </a:txBody>
                  <a:tcPr marL="68580" marR="68580" marT="0" marB="0" anchor="ctr"/>
                </a:tc>
                <a:tc>
                  <a:txBody>
                    <a:bodyPr/>
                    <a:lstStyle/>
                    <a:p>
                      <a:pPr>
                        <a:spcAft>
                          <a:spcPts val="0"/>
                        </a:spcAft>
                      </a:pPr>
                      <a:r>
                        <a:rPr lang="en-IN" sz="1600" dirty="0">
                          <a:effectLst/>
                        </a:rPr>
                        <a:t>West Bengal</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CGST+SGST</a:t>
                      </a:r>
                      <a:br>
                        <a:rPr lang="en-IN" sz="1600">
                          <a:effectLst/>
                        </a:rPr>
                      </a:b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0611855"/>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CGST+SGST</a:t>
                      </a:r>
                      <a:br>
                        <a:rPr lang="en-IN" sz="1600">
                          <a:effectLst/>
                        </a:rPr>
                      </a:b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2824632"/>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Orissa</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78811823"/>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(Tamil Nadu)</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8375278"/>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499462"/>
                  </a:ext>
                </a:extLst>
              </a:tr>
            </a:tbl>
          </a:graphicData>
        </a:graphic>
      </p:graphicFrame>
    </p:spTree>
    <p:extLst>
      <p:ext uri="{BB962C8B-B14F-4D97-AF65-F5344CB8AC3E}">
        <p14:creationId xmlns:p14="http://schemas.microsoft.com/office/powerpoint/2010/main" val="279097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11105" y="391887"/>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b="1" dirty="0"/>
          </a:p>
          <a:p>
            <a:endParaRPr lang="en-IN" sz="2200" b="1" dirty="0"/>
          </a:p>
          <a:p>
            <a:endParaRPr lang="en-IN" sz="2200" b="1" dirty="0">
              <a:solidFill>
                <a:schemeClr val="tx1"/>
              </a:solidFill>
            </a:endParaRPr>
          </a:p>
          <a:p>
            <a:endParaRPr lang="en-IN" sz="2200" b="1" dirty="0">
              <a:solidFill>
                <a:schemeClr val="tx1"/>
              </a:solidFill>
            </a:endParaRPr>
          </a:p>
          <a:p>
            <a:endParaRPr lang="en-IN" sz="2200" b="1" dirty="0">
              <a:solidFill>
                <a:schemeClr val="tx1"/>
              </a:solidFill>
            </a:endParaRPr>
          </a:p>
          <a:p>
            <a:r>
              <a:rPr lang="en-IN" sz="2100" b="1" dirty="0">
                <a:solidFill>
                  <a:schemeClr val="tx1"/>
                </a:solidFill>
              </a:rPr>
              <a:t>Example 1- Plane:</a:t>
            </a:r>
            <a:r>
              <a:rPr lang="en-IN" sz="2100" dirty="0">
                <a:solidFill>
                  <a:schemeClr val="tx1"/>
                </a:solidFill>
              </a:rPr>
              <a:t> </a:t>
            </a:r>
            <a:r>
              <a:rPr lang="en-IN" sz="2100" b="1" dirty="0">
                <a:solidFill>
                  <a:schemeClr val="tx1"/>
                </a:solidFill>
              </a:rPr>
              <a:t>Mr. Ajay is travelling from Mumbai to Delhi by air. He purchases coffee and snacks while on the plane. The airline is registered in both Mumbai and Delhi.</a:t>
            </a:r>
            <a:r>
              <a:rPr lang="en-IN" sz="2100" dirty="0">
                <a:solidFill>
                  <a:schemeClr val="tx1"/>
                </a:solidFill>
              </a:rPr>
              <a:t> </a:t>
            </a:r>
          </a:p>
          <a:p>
            <a:r>
              <a:rPr lang="en-IN" sz="2100" dirty="0">
                <a:solidFill>
                  <a:schemeClr val="tx1"/>
                </a:solidFill>
              </a:rPr>
              <a:t>Place of supply: Mumbai GST: CGST &amp; SGST The food items were loaded into the plane at Mumbai. So, the place of supply becomes Mumbai. </a:t>
            </a:r>
          </a:p>
          <a:p>
            <a:endParaRPr lang="en-IN" sz="2100" dirty="0">
              <a:solidFill>
                <a:schemeClr val="tx1"/>
              </a:solidFill>
            </a:endParaRPr>
          </a:p>
          <a:p>
            <a:r>
              <a:rPr lang="en-IN" sz="2100" b="1" dirty="0">
                <a:solidFill>
                  <a:schemeClr val="tx1"/>
                </a:solidFill>
              </a:rPr>
              <a:t>Example 2- Plane: Business travel</a:t>
            </a:r>
            <a:r>
              <a:rPr lang="en-IN" sz="2100" dirty="0">
                <a:solidFill>
                  <a:schemeClr val="tx1"/>
                </a:solidFill>
              </a:rPr>
              <a:t> </a:t>
            </a:r>
            <a:r>
              <a:rPr lang="en-IN" sz="2100" b="1" dirty="0">
                <a:solidFill>
                  <a:schemeClr val="tx1"/>
                </a:solidFill>
              </a:rPr>
              <a:t>Mr. Ajay is travelling from Mumbai to Chennai by air on behalf of his company Ram Gopal and Sons (registered in Bangalore). In the plane he purchases lunch. The airline is registered in Mumbai &amp; Chennai.</a:t>
            </a:r>
            <a:r>
              <a:rPr lang="en-IN" sz="2100" dirty="0">
                <a:solidFill>
                  <a:schemeClr val="tx1"/>
                </a:solidFill>
              </a:rPr>
              <a:t> </a:t>
            </a:r>
          </a:p>
          <a:p>
            <a:r>
              <a:rPr lang="en-IN" sz="2100" dirty="0">
                <a:solidFill>
                  <a:schemeClr val="tx1"/>
                </a:solidFill>
              </a:rPr>
              <a:t>Place of supply: Mumbai GST: CGST &amp; SGST The food items were loaded into the plane at Mumbai. So, the place of supply becomes Mumbai. It does not matter where the buyer is registered.</a:t>
            </a: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dirty="0"/>
              <a:t>Place of Supply- Goods Supplied on a Vessel/Conveyance</a:t>
            </a:r>
          </a:p>
        </p:txBody>
      </p:sp>
      <p:sp>
        <p:nvSpPr>
          <p:cNvPr id="3" name="TextBox 2"/>
          <p:cNvSpPr txBox="1"/>
          <p:nvPr/>
        </p:nvSpPr>
        <p:spPr>
          <a:xfrm>
            <a:off x="485193" y="1184988"/>
            <a:ext cx="10543592" cy="738664"/>
          </a:xfrm>
          <a:prstGeom prst="rect">
            <a:avLst/>
          </a:prstGeom>
          <a:noFill/>
        </p:spPr>
        <p:txBody>
          <a:bodyPr wrap="square" rtlCol="0">
            <a:spAutoFit/>
          </a:bodyPr>
          <a:lstStyle/>
          <a:p>
            <a:r>
              <a:rPr lang="en-IN" sz="2400" b="1" dirty="0"/>
              <a:t> </a:t>
            </a:r>
            <a:endParaRPr lang="en-IN" sz="2400" dirty="0"/>
          </a:p>
          <a:p>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491554149"/>
              </p:ext>
            </p:extLst>
          </p:nvPr>
        </p:nvGraphicFramePr>
        <p:xfrm>
          <a:off x="1022065" y="1091683"/>
          <a:ext cx="9241608" cy="1110343"/>
        </p:xfrm>
        <a:graphic>
          <a:graphicData uri="http://schemas.openxmlformats.org/drawingml/2006/table">
            <a:tbl>
              <a:tblPr firstRow="1" firstCol="1" bandRow="1">
                <a:tableStyleId>{5C22544A-7EE6-4342-B048-85BDC9FD1C3A}</a:tableStyleId>
              </a:tblPr>
              <a:tblGrid>
                <a:gridCol w="4620804">
                  <a:extLst>
                    <a:ext uri="{9D8B030D-6E8A-4147-A177-3AD203B41FA5}">
                      <a16:colId xmlns:a16="http://schemas.microsoft.com/office/drawing/2014/main" val="261042720"/>
                    </a:ext>
                  </a:extLst>
                </a:gridCol>
                <a:gridCol w="4620804">
                  <a:extLst>
                    <a:ext uri="{9D8B030D-6E8A-4147-A177-3AD203B41FA5}">
                      <a16:colId xmlns:a16="http://schemas.microsoft.com/office/drawing/2014/main" val="73674750"/>
                    </a:ext>
                  </a:extLst>
                </a:gridCol>
              </a:tblGrid>
              <a:tr h="309673">
                <a:tc>
                  <a:txBody>
                    <a:bodyPr/>
                    <a:lstStyle/>
                    <a:p>
                      <a:pPr>
                        <a:spcAft>
                          <a:spcPts val="0"/>
                        </a:spcAft>
                      </a:pPr>
                      <a:r>
                        <a:rPr lang="en-IN" sz="1800" dirty="0">
                          <a:effectLst/>
                        </a:rPr>
                        <a:t>Supply Type</a:t>
                      </a:r>
                      <a:endParaRPr lang="en-IN" sz="18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a:effectLst/>
                        </a:rPr>
                        <a:t>Place of Supply</a:t>
                      </a:r>
                      <a:endParaRPr lang="en-IN" sz="18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0227413"/>
                  </a:ext>
                </a:extLst>
              </a:tr>
              <a:tr h="800670">
                <a:tc>
                  <a:txBody>
                    <a:bodyPr/>
                    <a:lstStyle/>
                    <a:p>
                      <a:pPr>
                        <a:spcAft>
                          <a:spcPts val="0"/>
                        </a:spcAft>
                      </a:pPr>
                      <a:r>
                        <a:rPr lang="en-IN" sz="1800" dirty="0">
                          <a:effectLst/>
                        </a:rPr>
                        <a:t>Goods are on board of a conveyance or vessel or train or aircraft or a motor vehicle</a:t>
                      </a:r>
                      <a:endParaRPr lang="en-IN" sz="18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dirty="0">
                          <a:effectLst/>
                        </a:rPr>
                        <a:t>Location at which such goods are taken on board.</a:t>
                      </a:r>
                      <a:endParaRPr lang="en-IN" sz="18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0164643"/>
                  </a:ext>
                </a:extLst>
              </a:tr>
            </a:tbl>
          </a:graphicData>
        </a:graphic>
      </p:graphicFrame>
    </p:spTree>
    <p:extLst>
      <p:ext uri="{BB962C8B-B14F-4D97-AF65-F5344CB8AC3E}">
        <p14:creationId xmlns:p14="http://schemas.microsoft.com/office/powerpoint/2010/main" val="240706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Example 1- </a:t>
            </a:r>
            <a:r>
              <a:rPr lang="en-IN" sz="2200" dirty="0">
                <a:solidFill>
                  <a:schemeClr val="tx1"/>
                </a:solidFill>
              </a:rPr>
              <a:t>Import </a:t>
            </a:r>
          </a:p>
          <a:p>
            <a:r>
              <a:rPr lang="en-IN" sz="2200" dirty="0">
                <a:solidFill>
                  <a:schemeClr val="tx1"/>
                </a:solidFill>
              </a:rPr>
              <a:t> Ms. Malini imports school bags from China for her shop (registered in Mumbai) </a:t>
            </a:r>
          </a:p>
          <a:p>
            <a:r>
              <a:rPr lang="en-IN" sz="2200" b="1" dirty="0">
                <a:solidFill>
                  <a:schemeClr val="tx1"/>
                </a:solidFill>
              </a:rPr>
              <a:t> Place of supply: Mumbai GST: IGST </a:t>
            </a:r>
            <a:endParaRPr lang="en-IN" sz="2200" dirty="0">
              <a:solidFill>
                <a:schemeClr val="tx1"/>
              </a:solidFill>
            </a:endParaRPr>
          </a:p>
          <a:p>
            <a:r>
              <a:rPr lang="en-IN" sz="2200" dirty="0">
                <a:solidFill>
                  <a:srgbClr val="FF0000"/>
                </a:solidFill>
              </a:rPr>
              <a:t> Example 2- </a:t>
            </a:r>
            <a:r>
              <a:rPr lang="en-IN" sz="2200" dirty="0">
                <a:solidFill>
                  <a:schemeClr val="tx1"/>
                </a:solidFill>
              </a:rPr>
              <a:t>Export </a:t>
            </a:r>
          </a:p>
          <a:p>
            <a:r>
              <a:rPr lang="en-IN" sz="2200" dirty="0">
                <a:solidFill>
                  <a:schemeClr val="tx1"/>
                </a:solidFill>
              </a:rPr>
              <a:t> Ms. Anita (Kolkata) exports Indian perfumes to UK </a:t>
            </a:r>
          </a:p>
          <a:p>
            <a:r>
              <a:rPr lang="en-IN" sz="2200" b="1" dirty="0">
                <a:solidFill>
                  <a:schemeClr val="tx1"/>
                </a:solidFill>
              </a:rPr>
              <a:t> Place of supply: Kolkata GST: Exempted</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Place of Supply – Imports and Exports</a:t>
            </a:r>
            <a:endParaRPr lang="en-IN" sz="3400" dirty="0"/>
          </a:p>
        </p:txBody>
      </p:sp>
      <p:sp>
        <p:nvSpPr>
          <p:cNvPr id="7" name="TextBox 6"/>
          <p:cNvSpPr txBox="1"/>
          <p:nvPr/>
        </p:nvSpPr>
        <p:spPr>
          <a:xfrm>
            <a:off x="718457" y="1352939"/>
            <a:ext cx="9797143" cy="1477328"/>
          </a:xfrm>
          <a:prstGeom prst="rect">
            <a:avLst/>
          </a:prstGeom>
          <a:noFill/>
        </p:spPr>
        <p:txBody>
          <a:bodyPr wrap="square" rtlCol="0">
            <a:spAutoFit/>
          </a:bodyPr>
          <a:lstStyle/>
          <a:p>
            <a:r>
              <a:rPr lang="en-IN" sz="2400" dirty="0"/>
              <a:t>The place of supply of goods:</a:t>
            </a:r>
          </a:p>
          <a:p>
            <a:pPr lvl="0"/>
            <a:r>
              <a:rPr lang="en-IN" sz="2400" dirty="0"/>
              <a:t>imported into India will be the location of the importer.</a:t>
            </a:r>
          </a:p>
          <a:p>
            <a:pPr lvl="0"/>
            <a:r>
              <a:rPr lang="en-IN" sz="2400" dirty="0"/>
              <a:t>exported from India shall be the location outside India.</a:t>
            </a:r>
          </a:p>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4067719994"/>
              </p:ext>
            </p:extLst>
          </p:nvPr>
        </p:nvGraphicFramePr>
        <p:xfrm>
          <a:off x="818068" y="2547981"/>
          <a:ext cx="9231000" cy="1370875"/>
        </p:xfrm>
        <a:graphic>
          <a:graphicData uri="http://schemas.openxmlformats.org/drawingml/2006/table">
            <a:tbl>
              <a:tblPr firstRow="1" firstCol="1" bandRow="1">
                <a:tableStyleId>{5C22544A-7EE6-4342-B048-85BDC9FD1C3A}</a:tableStyleId>
              </a:tblPr>
              <a:tblGrid>
                <a:gridCol w="3064287">
                  <a:extLst>
                    <a:ext uri="{9D8B030D-6E8A-4147-A177-3AD203B41FA5}">
                      <a16:colId xmlns:a16="http://schemas.microsoft.com/office/drawing/2014/main" val="2629966417"/>
                    </a:ext>
                  </a:extLst>
                </a:gridCol>
                <a:gridCol w="2795440">
                  <a:extLst>
                    <a:ext uri="{9D8B030D-6E8A-4147-A177-3AD203B41FA5}">
                      <a16:colId xmlns:a16="http://schemas.microsoft.com/office/drawing/2014/main" val="3021815845"/>
                    </a:ext>
                  </a:extLst>
                </a:gridCol>
                <a:gridCol w="3371273">
                  <a:extLst>
                    <a:ext uri="{9D8B030D-6E8A-4147-A177-3AD203B41FA5}">
                      <a16:colId xmlns:a16="http://schemas.microsoft.com/office/drawing/2014/main" val="4091440768"/>
                    </a:ext>
                  </a:extLst>
                </a:gridCol>
              </a:tblGrid>
              <a:tr h="306130">
                <a:tc>
                  <a:txBody>
                    <a:bodyPr/>
                    <a:lstStyle/>
                    <a:p>
                      <a:pPr>
                        <a:spcAft>
                          <a:spcPts val="0"/>
                        </a:spcAft>
                      </a:pPr>
                      <a:r>
                        <a:rPr lang="en-IN" sz="1800">
                          <a:effectLst/>
                        </a:rPr>
                        <a:t>Supply Type</a:t>
                      </a:r>
                      <a:endParaRPr lang="en-IN" sz="18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a:effectLst/>
                        </a:rPr>
                        <a:t>Place of Supply</a:t>
                      </a:r>
                      <a:endParaRPr lang="en-IN" sz="18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a:effectLst/>
                        </a:rPr>
                        <a:t>GST</a:t>
                      </a:r>
                      <a:endParaRPr lang="en-IN" sz="18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839667"/>
                  </a:ext>
                </a:extLst>
              </a:tr>
              <a:tr h="424149">
                <a:tc>
                  <a:txBody>
                    <a:bodyPr/>
                    <a:lstStyle/>
                    <a:p>
                      <a:pPr>
                        <a:lnSpc>
                          <a:spcPct val="107000"/>
                        </a:lnSpc>
                        <a:spcBef>
                          <a:spcPts val="750"/>
                        </a:spcBef>
                        <a:spcAft>
                          <a:spcPts val="750"/>
                        </a:spcAft>
                      </a:pPr>
                      <a:r>
                        <a:rPr lang="en-IN" sz="1800" dirty="0">
                          <a:effectLst/>
                        </a:rPr>
                        <a:t>Goods imported into India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a:effectLst/>
                        </a:rPr>
                        <a:t>Location of the importer</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a:effectLst/>
                        </a:rPr>
                        <a:t>Always IGST is charged for imports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932822"/>
                  </a:ext>
                </a:extLst>
              </a:tr>
              <a:tr h="640596">
                <a:tc>
                  <a:txBody>
                    <a:bodyPr/>
                    <a:lstStyle/>
                    <a:p>
                      <a:pPr>
                        <a:lnSpc>
                          <a:spcPct val="107000"/>
                        </a:lnSpc>
                        <a:spcBef>
                          <a:spcPts val="750"/>
                        </a:spcBef>
                        <a:spcAft>
                          <a:spcPts val="750"/>
                        </a:spcAft>
                      </a:pPr>
                      <a:r>
                        <a:rPr lang="en-IN" sz="1800">
                          <a:effectLst/>
                        </a:rPr>
                        <a:t>Exported from India</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a:effectLst/>
                        </a:rPr>
                        <a:t>Location outside India</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dirty="0">
                          <a:effectLst/>
                        </a:rPr>
                        <a:t>GST on exports are eligible for refund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5351474"/>
                  </a:ext>
                </a:extLst>
              </a:tr>
            </a:tbl>
          </a:graphicData>
        </a:graphic>
      </p:graphicFrame>
    </p:spTree>
    <p:extLst>
      <p:ext uri="{BB962C8B-B14F-4D97-AF65-F5344CB8AC3E}">
        <p14:creationId xmlns:p14="http://schemas.microsoft.com/office/powerpoint/2010/main" val="46133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570756"/>
          </a:xfrm>
          <a:prstGeom prst="rect">
            <a:avLst/>
          </a:prstGeom>
          <a:noFill/>
        </p:spPr>
        <p:txBody>
          <a:bodyPr wrap="square" rtlCol="0">
            <a:spAutoFit/>
          </a:bodyPr>
          <a:lstStyle/>
          <a:p>
            <a:pPr lvl="0"/>
            <a:r>
              <a:rPr lang="en-IN" sz="2000" dirty="0"/>
              <a:t>1.Value of supply of goods or services where the consideration is not wholly in money, </a:t>
            </a:r>
            <a:r>
              <a:rPr lang="en-IN" sz="2000" dirty="0">
                <a:solidFill>
                  <a:srgbClr val="C00000"/>
                </a:solidFill>
              </a:rPr>
              <a:t>the value of the supply shall, be the open market value of such supply:</a:t>
            </a:r>
          </a:p>
          <a:p>
            <a:pPr marL="400050" lvl="0" indent="-400050">
              <a:buFont typeface="+mj-lt"/>
              <a:buAutoNum type="romanLcPeriod"/>
            </a:pPr>
            <a:r>
              <a:rPr lang="en-IN" sz="2000" dirty="0"/>
              <a:t>if open market value is not available, be the sum total of consideration in money and any such further amount in money as is equivalent to the consideration not in money if such amount is known at the time of supply; </a:t>
            </a:r>
          </a:p>
          <a:p>
            <a:pPr marL="400050" lvl="0" indent="-400050">
              <a:buFont typeface="+mj-lt"/>
              <a:buAutoNum type="romanLcPeriod"/>
            </a:pPr>
            <a:r>
              <a:rPr lang="en-IN" sz="2000" dirty="0"/>
              <a:t>( if the value of supply is not determinable under clause (a) or clause (b), be the value of supply of goods or services or both of like kind and quality;</a:t>
            </a:r>
          </a:p>
          <a:p>
            <a:pPr marL="400050" lvl="0" indent="-400050">
              <a:buFont typeface="+mj-lt"/>
              <a:buAutoNum type="romanLcPeriod"/>
            </a:pPr>
            <a:r>
              <a:rPr lang="en-IN" sz="2000" dirty="0"/>
              <a:t>  if value is not determinable under clause (a) or clause (b) or clause (c), be the sum total of consideration in money.</a:t>
            </a:r>
          </a:p>
          <a:p>
            <a:r>
              <a:rPr lang="en-IN" sz="2000" dirty="0"/>
              <a:t>For Example: (i) Where a new phone is supplied for Rs. 20000 along with the exchange of an old phone and if the price of the new phone without exchange is Rs. 24000, the open market value of the new phone is Rs. 24000. </a:t>
            </a:r>
          </a:p>
          <a:p>
            <a:r>
              <a:rPr lang="en-IN" sz="2000" dirty="0"/>
              <a:t>(ii) Where a laptop is supplied for Rs. 40000 along with a barter of printer that is manufactured by the recipient and the value of the printer known at the time of supply is Rs. 4000 but the open market value of the laptop is not known, the value of the supply of laptop is Rs. 44000</a:t>
            </a:r>
          </a:p>
          <a:p>
            <a:endParaRPr lang="en-IN" dirty="0"/>
          </a:p>
          <a:p>
            <a:endParaRPr lang="en-IN" dirty="0"/>
          </a:p>
        </p:txBody>
      </p:sp>
    </p:spTree>
    <p:extLst>
      <p:ext uri="{BB962C8B-B14F-4D97-AF65-F5344CB8AC3E}">
        <p14:creationId xmlns:p14="http://schemas.microsoft.com/office/powerpoint/2010/main" val="189355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F9DC41-12E9-9A20-FB22-08D35D62AACE}"/>
              </a:ext>
            </a:extLst>
          </p:cNvPr>
          <p:cNvSpPr txBox="1"/>
          <p:nvPr/>
        </p:nvSpPr>
        <p:spPr>
          <a:xfrm>
            <a:off x="331598" y="442128"/>
            <a:ext cx="11646038" cy="6186309"/>
          </a:xfrm>
          <a:prstGeom prst="rect">
            <a:avLst/>
          </a:prstGeom>
          <a:noFill/>
        </p:spPr>
        <p:txBody>
          <a:bodyPr wrap="square">
            <a:spAutoFit/>
          </a:bodyPr>
          <a:lstStyle/>
          <a:p>
            <a:pPr>
              <a:buNone/>
            </a:pPr>
            <a:r>
              <a:rPr lang="en-US" b="1" dirty="0"/>
              <a:t>1. When consideration is not wholly in money</a:t>
            </a:r>
          </a:p>
          <a:p>
            <a:pPr>
              <a:buNone/>
            </a:pPr>
            <a:r>
              <a:rPr lang="en-US" dirty="0"/>
              <a:t>If a seller receives something </a:t>
            </a:r>
            <a:r>
              <a:rPr lang="en-US" b="1" dirty="0"/>
              <a:t>other than money</a:t>
            </a:r>
            <a:r>
              <a:rPr lang="en-US" dirty="0"/>
              <a:t> (e.g., exchange, barter, part-cash part-goods), the </a:t>
            </a:r>
            <a:r>
              <a:rPr lang="en-US" b="1" dirty="0"/>
              <a:t>value of supply</a:t>
            </a:r>
            <a:r>
              <a:rPr lang="en-US" dirty="0"/>
              <a:t> is determined in the following order:</a:t>
            </a:r>
          </a:p>
          <a:p>
            <a:pPr>
              <a:buNone/>
            </a:pPr>
            <a:r>
              <a:rPr lang="en-US" b="1" dirty="0"/>
              <a:t>(a) Open Market Value (OMV)</a:t>
            </a:r>
          </a:p>
          <a:p>
            <a:pPr>
              <a:buFont typeface="Arial" panose="020B0604020202020204" pitchFamily="34" charset="0"/>
              <a:buChar char="•"/>
            </a:pPr>
            <a:r>
              <a:rPr lang="en-US" dirty="0"/>
              <a:t>The </a:t>
            </a:r>
            <a:r>
              <a:rPr lang="en-US" b="1" dirty="0"/>
              <a:t>first preference</a:t>
            </a:r>
            <a:r>
              <a:rPr lang="en-US" dirty="0"/>
              <a:t> is to take the </a:t>
            </a:r>
            <a:r>
              <a:rPr lang="en-US" b="1" dirty="0"/>
              <a:t>Open Market Value</a:t>
            </a:r>
            <a:r>
              <a:rPr lang="en-US" dirty="0"/>
              <a:t> — the price that goods or services would fetch in an open market. </a:t>
            </a:r>
            <a:r>
              <a:rPr lang="en-US" i="1" dirty="0"/>
              <a:t>Example:</a:t>
            </a:r>
            <a:br>
              <a:rPr lang="en-US" dirty="0"/>
            </a:br>
            <a:r>
              <a:rPr lang="en-US" dirty="0"/>
              <a:t>A car is exchanged for a bike + ₹1,00,000.</a:t>
            </a:r>
            <a:br>
              <a:rPr lang="en-US" dirty="0"/>
            </a:br>
            <a:r>
              <a:rPr lang="en-US" dirty="0"/>
              <a:t>If similar cars sell for ₹10,00,000 in the market → </a:t>
            </a:r>
            <a:r>
              <a:rPr lang="en-US" b="1" dirty="0"/>
              <a:t>Value = ₹10,00,000</a:t>
            </a:r>
            <a:r>
              <a:rPr lang="en-US" dirty="0"/>
              <a:t>.</a:t>
            </a:r>
          </a:p>
          <a:p>
            <a:pPr>
              <a:buNone/>
            </a:pPr>
            <a:r>
              <a:rPr lang="en-US" b="1" dirty="0"/>
              <a:t>(b) If OMV not available</a:t>
            </a:r>
          </a:p>
          <a:p>
            <a:pPr>
              <a:buFont typeface="Arial" panose="020B0604020202020204" pitchFamily="34" charset="0"/>
              <a:buChar char="•"/>
            </a:pPr>
            <a:r>
              <a:rPr lang="en-US" dirty="0"/>
              <a:t>Value = </a:t>
            </a:r>
            <a:r>
              <a:rPr lang="en-US" b="1" dirty="0"/>
              <a:t>Money received + monetary equivalent of non-monetary consideration</a:t>
            </a:r>
            <a:r>
              <a:rPr lang="en-US" dirty="0"/>
              <a:t> (if known at the time of supply).</a:t>
            </a:r>
            <a:br>
              <a:rPr lang="en-US" dirty="0"/>
            </a:br>
            <a:r>
              <a:rPr lang="en-US" dirty="0"/>
              <a:t> </a:t>
            </a:r>
            <a:r>
              <a:rPr lang="en-US" i="1" dirty="0"/>
              <a:t>Example:</a:t>
            </a:r>
            <a:br>
              <a:rPr lang="en-US" dirty="0"/>
            </a:br>
            <a:r>
              <a:rPr lang="en-US" dirty="0"/>
              <a:t>A laptop is supplied in exchange for ₹40,000 + old desktop (worth ₹10,000).</a:t>
            </a:r>
            <a:br>
              <a:rPr lang="en-US" dirty="0"/>
            </a:br>
            <a:r>
              <a:rPr lang="en-US" dirty="0"/>
              <a:t>→ </a:t>
            </a:r>
            <a:r>
              <a:rPr lang="en-US" b="1" dirty="0"/>
              <a:t>Value = ₹50,000</a:t>
            </a:r>
            <a:endParaRPr lang="en-US" dirty="0"/>
          </a:p>
          <a:p>
            <a:pPr>
              <a:buNone/>
            </a:pPr>
            <a:r>
              <a:rPr lang="en-US" b="1" dirty="0"/>
              <a:t>(c) If still not determinable</a:t>
            </a:r>
          </a:p>
          <a:p>
            <a:pPr>
              <a:buFont typeface="Arial" panose="020B0604020202020204" pitchFamily="34" charset="0"/>
              <a:buChar char="•"/>
            </a:pPr>
            <a:r>
              <a:rPr lang="en-US" dirty="0"/>
              <a:t>Use the </a:t>
            </a:r>
            <a:r>
              <a:rPr lang="en-US" b="1" dirty="0"/>
              <a:t>value of supply of goods/services of like kind and quality</a:t>
            </a:r>
            <a:r>
              <a:rPr lang="en-US" dirty="0"/>
              <a:t> — i.e., goods or services similar in characteristics, quality, quantity, and reputation.</a:t>
            </a:r>
            <a:br>
              <a:rPr lang="en-US" dirty="0"/>
            </a:br>
            <a:r>
              <a:rPr lang="en-US" dirty="0"/>
              <a:t> </a:t>
            </a:r>
            <a:r>
              <a:rPr lang="en-US" i="1" dirty="0"/>
              <a:t>Example:</a:t>
            </a:r>
            <a:br>
              <a:rPr lang="en-US" dirty="0"/>
            </a:br>
            <a:r>
              <a:rPr lang="en-US" dirty="0"/>
              <a:t>If similar laptops sell for ₹52,000 → </a:t>
            </a:r>
            <a:r>
              <a:rPr lang="en-US" b="1" dirty="0"/>
              <a:t>Value = ₹52,000</a:t>
            </a:r>
            <a:endParaRPr lang="en-US" dirty="0"/>
          </a:p>
          <a:p>
            <a:pPr>
              <a:buNone/>
            </a:pPr>
            <a:r>
              <a:rPr lang="en-US" b="1" dirty="0"/>
              <a:t>(d) If none of the above works</a:t>
            </a:r>
          </a:p>
          <a:p>
            <a:pPr>
              <a:buFont typeface="Arial" panose="020B0604020202020204" pitchFamily="34" charset="0"/>
              <a:buChar char="•"/>
            </a:pPr>
            <a:r>
              <a:rPr lang="en-US" dirty="0"/>
              <a:t>Then, the </a:t>
            </a:r>
            <a:r>
              <a:rPr lang="en-US" b="1" dirty="0"/>
              <a:t>value = total consideration in money</a:t>
            </a:r>
            <a:r>
              <a:rPr lang="en-US" dirty="0"/>
              <a:t> (i.e., whatever money part is known).</a:t>
            </a:r>
            <a:br>
              <a:rPr lang="en-US" dirty="0"/>
            </a:br>
            <a:r>
              <a:rPr lang="en-US" dirty="0"/>
              <a:t> </a:t>
            </a:r>
            <a:r>
              <a:rPr lang="en-US" i="1" dirty="0"/>
              <a:t>Example:</a:t>
            </a:r>
            <a:br>
              <a:rPr lang="en-US" dirty="0"/>
            </a:br>
            <a:r>
              <a:rPr lang="en-US" dirty="0"/>
              <a:t>If only ₹40,000 (cash part) is known and no other reference value is available → </a:t>
            </a:r>
            <a:r>
              <a:rPr lang="en-US" b="1" dirty="0"/>
              <a:t>Value = ₹40,000</a:t>
            </a:r>
            <a:endParaRPr lang="en-US" dirty="0"/>
          </a:p>
        </p:txBody>
      </p:sp>
      <p:pic>
        <p:nvPicPr>
          <p:cNvPr id="8" name="Picture 7">
            <a:extLst>
              <a:ext uri="{FF2B5EF4-FFF2-40B4-BE49-F238E27FC236}">
                <a16:creationId xmlns:a16="http://schemas.microsoft.com/office/drawing/2014/main" id="{292377A1-1484-6D60-AA45-F469B4484190}"/>
              </a:ext>
            </a:extLst>
          </p:cNvPr>
          <p:cNvPicPr>
            <a:picLocks noChangeAspect="1"/>
          </p:cNvPicPr>
          <p:nvPr/>
        </p:nvPicPr>
        <p:blipFill>
          <a:blip r:embed="rId2"/>
          <a:stretch>
            <a:fillRect/>
          </a:stretch>
        </p:blipFill>
        <p:spPr>
          <a:xfrm>
            <a:off x="2987593" y="130629"/>
            <a:ext cx="8065707" cy="391886"/>
          </a:xfrm>
          <a:prstGeom prst="rect">
            <a:avLst/>
          </a:prstGeom>
        </p:spPr>
      </p:pic>
    </p:spTree>
    <p:extLst>
      <p:ext uri="{BB962C8B-B14F-4D97-AF65-F5344CB8AC3E}">
        <p14:creationId xmlns:p14="http://schemas.microsoft.com/office/powerpoint/2010/main" val="5387501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878532"/>
          </a:xfrm>
          <a:prstGeom prst="rect">
            <a:avLst/>
          </a:prstGeom>
          <a:noFill/>
        </p:spPr>
        <p:txBody>
          <a:bodyPr wrap="square" rtlCol="0">
            <a:spAutoFit/>
          </a:bodyPr>
          <a:lstStyle/>
          <a:p>
            <a:pPr lvl="0"/>
            <a:r>
              <a:rPr lang="en-IN" sz="2000" dirty="0">
                <a:solidFill>
                  <a:srgbClr val="FF0000"/>
                </a:solidFill>
              </a:rPr>
              <a:t>1.Value of supply of goods or services </a:t>
            </a:r>
            <a:r>
              <a:rPr lang="en-IN" sz="2000" dirty="0"/>
              <a:t>where the consideration is not wholly in money             </a:t>
            </a:r>
          </a:p>
          <a:p>
            <a:r>
              <a:rPr lang="en-IN" sz="2000" dirty="0"/>
              <a:t>Where the supply of goods or services is for a consideration not wholly in money, the value of the supply shall, be the open market value of such supply;</a:t>
            </a:r>
          </a:p>
          <a:p>
            <a:pPr marL="400050" lvl="0" indent="-400050">
              <a:buFont typeface="+mj-lt"/>
              <a:buAutoNum type="romanLcPeriod"/>
            </a:pPr>
            <a:r>
              <a:rPr lang="en-IN" sz="2000" dirty="0"/>
              <a:t>if open market value is not available, be the sum total of consideration in money and any such further amount in money as is equivalent to the consideration not in money if such amount is known at the time of supply; </a:t>
            </a:r>
          </a:p>
          <a:p>
            <a:pPr marL="400050" lvl="0" indent="-400050">
              <a:buFont typeface="+mj-lt"/>
              <a:buAutoNum type="romanLcPeriod"/>
            </a:pPr>
            <a:r>
              <a:rPr lang="en-IN" sz="2000" dirty="0"/>
              <a:t>( if the value of supply is not determinable under clause (a) or clause (b), be the value of supply of goods or services or both of like kind and quality;</a:t>
            </a:r>
          </a:p>
          <a:p>
            <a:pPr marL="400050" lvl="0" indent="-400050">
              <a:buFont typeface="+mj-lt"/>
              <a:buAutoNum type="romanLcPeriod"/>
            </a:pPr>
            <a:r>
              <a:rPr lang="en-IN" sz="2000" dirty="0"/>
              <a:t>  if value is not determinable under clause (a) or clause (b) or clause (c), be the sum total of consideration in money.</a:t>
            </a:r>
          </a:p>
          <a:p>
            <a:r>
              <a:rPr lang="en-IN" sz="2000" dirty="0"/>
              <a:t>For Example: (i) Where a new phone is supplied for Rs. 20000 along with the exchange of an old phone and if the price of the new phone without exchange is Rs. 24000, the open market value of the new phone is Rs. 24000. </a:t>
            </a:r>
          </a:p>
          <a:p>
            <a:r>
              <a:rPr lang="en-IN" sz="2000" dirty="0"/>
              <a:t>(ii) Where a laptop is supplied for Rs. 40000 along with a barter of printer that is manufactured by the recipient and the value of the printer known at the time of supply is Rs. 4000 but the open market value of the laptop is not known, the value of the supply of laptop is Rs. 44000</a:t>
            </a:r>
          </a:p>
          <a:p>
            <a:endParaRPr lang="en-IN" dirty="0"/>
          </a:p>
          <a:p>
            <a:endParaRPr lang="en-IN" dirty="0"/>
          </a:p>
        </p:txBody>
      </p:sp>
    </p:spTree>
    <p:extLst>
      <p:ext uri="{BB962C8B-B14F-4D97-AF65-F5344CB8AC3E}">
        <p14:creationId xmlns:p14="http://schemas.microsoft.com/office/powerpoint/2010/main" val="273539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447645"/>
          </a:xfrm>
          <a:prstGeom prst="rect">
            <a:avLst/>
          </a:prstGeom>
          <a:noFill/>
        </p:spPr>
        <p:txBody>
          <a:bodyPr wrap="square" rtlCol="0">
            <a:spAutoFit/>
          </a:bodyPr>
          <a:lstStyle/>
          <a:p>
            <a:r>
              <a:rPr lang="en-IN" sz="2400" dirty="0">
                <a:solidFill>
                  <a:srgbClr val="FF0000"/>
                </a:solidFill>
              </a:rPr>
              <a:t>2.Value of supply of goods or services </a:t>
            </a:r>
            <a:r>
              <a:rPr lang="en-IN" sz="2400" dirty="0"/>
              <a:t>or both between distinct or related persons, other than through an agent The value of the supply of goods or services or both between distinct persons as specified in sub-section (4) and (5) of section 25 or where the supplier and recipient are related, other than where the supply is made through an agent, shall,-</a:t>
            </a:r>
          </a:p>
          <a:p>
            <a:pPr lvl="0"/>
            <a:r>
              <a:rPr lang="en-IN" sz="2400" dirty="0"/>
              <a:t>be the open market value of such supply; </a:t>
            </a:r>
          </a:p>
          <a:p>
            <a:pPr lvl="0"/>
            <a:r>
              <a:rPr lang="en-IN" sz="2400" dirty="0"/>
              <a:t>if open market value is not available, be the value of supply of goods or services of like kind and quality;</a:t>
            </a:r>
          </a:p>
          <a:p>
            <a:pPr lvl="0"/>
            <a:r>
              <a:rPr lang="en-IN" sz="2400" dirty="0"/>
              <a:t>if value is not determinable under clause (a) or (b), be the value as determined by application of rule 4 or rule 5, in that order: </a:t>
            </a:r>
          </a:p>
          <a:p>
            <a:r>
              <a:rPr lang="en-IN" sz="2400" dirty="0"/>
              <a:t>Provided where the recipient is eligible for full input tax credit, the value declared in the invoice shall be deemed to be the open market value of goods or services.</a:t>
            </a:r>
          </a:p>
          <a:p>
            <a:endParaRPr lang="en-IN" dirty="0"/>
          </a:p>
          <a:p>
            <a:endParaRPr lang="en-IN" dirty="0"/>
          </a:p>
        </p:txBody>
      </p:sp>
    </p:spTree>
    <p:extLst>
      <p:ext uri="{BB962C8B-B14F-4D97-AF65-F5344CB8AC3E}">
        <p14:creationId xmlns:p14="http://schemas.microsoft.com/office/powerpoint/2010/main" val="94161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447645"/>
          </a:xfrm>
          <a:prstGeom prst="rect">
            <a:avLst/>
          </a:prstGeom>
          <a:noFill/>
        </p:spPr>
        <p:txBody>
          <a:bodyPr wrap="square" rtlCol="0">
            <a:spAutoFit/>
          </a:bodyPr>
          <a:lstStyle/>
          <a:p>
            <a:r>
              <a:rPr lang="en-IN" sz="2400" dirty="0">
                <a:solidFill>
                  <a:srgbClr val="FF0000"/>
                </a:solidFill>
              </a:rPr>
              <a:t>2.Value of supply of goods or services </a:t>
            </a:r>
            <a:r>
              <a:rPr lang="en-IN" sz="2400" dirty="0"/>
              <a:t>or both between distinct or related persons, other than through an agent The value of the supply of goods or services or both between distinct persons as specified in sub-section (4) and (5) of section 25 or where the supplier and recipient are related, other than where the supply is made through an agent, shall,-</a:t>
            </a:r>
          </a:p>
          <a:p>
            <a:pPr lvl="0"/>
            <a:r>
              <a:rPr lang="en-IN" sz="2400" dirty="0"/>
              <a:t>be the open market value of such supply; </a:t>
            </a:r>
          </a:p>
          <a:p>
            <a:pPr lvl="0"/>
            <a:r>
              <a:rPr lang="en-IN" sz="2400" dirty="0"/>
              <a:t>if open market value is not available, be the value of supply of goods or services of like kind and quality;</a:t>
            </a:r>
          </a:p>
          <a:p>
            <a:pPr lvl="0"/>
            <a:r>
              <a:rPr lang="en-IN" sz="2400" dirty="0"/>
              <a:t>if value is not determinable under clause (a) or (b), be the value as determined by application of rule 4 or rule 5, in that order: </a:t>
            </a:r>
          </a:p>
          <a:p>
            <a:r>
              <a:rPr lang="en-IN" sz="2400" dirty="0"/>
              <a:t>Provided where the recipient is eligible for full input tax credit, the value declared in the invoice shall be deemed to be the open market value of goods or services.</a:t>
            </a:r>
          </a:p>
          <a:p>
            <a:endParaRPr lang="en-IN" dirty="0"/>
          </a:p>
          <a:p>
            <a:endParaRPr lang="en-IN" dirty="0"/>
          </a:p>
        </p:txBody>
      </p:sp>
    </p:spTree>
    <p:extLst>
      <p:ext uri="{BB962C8B-B14F-4D97-AF65-F5344CB8AC3E}">
        <p14:creationId xmlns:p14="http://schemas.microsoft.com/office/powerpoint/2010/main" val="250473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816977"/>
          </a:xfrm>
          <a:prstGeom prst="rect">
            <a:avLst/>
          </a:prstGeom>
          <a:noFill/>
        </p:spPr>
        <p:txBody>
          <a:bodyPr wrap="square" rtlCol="0">
            <a:spAutoFit/>
          </a:bodyPr>
          <a:lstStyle/>
          <a:p>
            <a:r>
              <a:rPr lang="en-IN" sz="2400" dirty="0"/>
              <a:t>3.Value of supply of goods made or received through an agent The value of supply of goods between the principal and his agent shall,- be the open market value of the goods being supplied, or at the option of the supplier, be 90% of the price charged for the supply of goods of like kind and quality by the recipient to his customer not being a related person, where the goods are intended for further supply by the said recipient; </a:t>
            </a:r>
          </a:p>
          <a:p>
            <a:r>
              <a:rPr lang="en-IN" sz="2400" dirty="0">
                <a:solidFill>
                  <a:srgbClr val="FF0000"/>
                </a:solidFill>
              </a:rPr>
              <a:t>For Example:</a:t>
            </a:r>
          </a:p>
          <a:p>
            <a:r>
              <a:rPr lang="en-IN" sz="2400" dirty="0"/>
              <a:t>Where a principal supplies groundnut to his agent and the agent is supplying groundnuts of like kind and quality in subsequent supplies at a price of Rs. 5000 per quintal on the day of supply. Another independent supplier is supplying groundnuts of like kind and quality to the said agent at the price of Rs. 4550 per quintal. The value of the supply made by the principal shall be Rs. 4550 per quintal or where he exercises the option the value shall be 90% of the Rs. 5000 i.e. is Rs. 4500 per quintal.</a:t>
            </a:r>
          </a:p>
          <a:p>
            <a:endParaRPr lang="en-IN" dirty="0"/>
          </a:p>
          <a:p>
            <a:endParaRPr lang="en-IN" dirty="0"/>
          </a:p>
        </p:txBody>
      </p:sp>
    </p:spTree>
    <p:extLst>
      <p:ext uri="{BB962C8B-B14F-4D97-AF65-F5344CB8AC3E}">
        <p14:creationId xmlns:p14="http://schemas.microsoft.com/office/powerpoint/2010/main" val="326880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816977"/>
          </a:xfrm>
          <a:prstGeom prst="rect">
            <a:avLst/>
          </a:prstGeom>
          <a:noFill/>
        </p:spPr>
        <p:txBody>
          <a:bodyPr wrap="square" rtlCol="0">
            <a:spAutoFit/>
          </a:bodyPr>
          <a:lstStyle/>
          <a:p>
            <a:r>
              <a:rPr lang="en-IN" sz="2400" b="1" dirty="0"/>
              <a:t>4.Value of supply of goods or services or both based on cost</a:t>
            </a:r>
            <a:endParaRPr lang="en-IN" sz="2400" dirty="0"/>
          </a:p>
          <a:p>
            <a:r>
              <a:rPr lang="en-IN" sz="2400" dirty="0"/>
              <a:t>Where the value of a supply of goods or services or both is not determinable by any of the preceding rules, the value shall be one hundred and ten percent of the cost of production or manufacture or cost of acquisition of such goods or cost of provision of such services.</a:t>
            </a:r>
          </a:p>
          <a:p>
            <a:r>
              <a:rPr lang="en-IN" sz="2400" b="1" dirty="0"/>
              <a:t>5. Residual method for determination of value of supply of goods or services or both</a:t>
            </a:r>
            <a:endParaRPr lang="en-IN" sz="2400" dirty="0"/>
          </a:p>
          <a:p>
            <a:r>
              <a:rPr lang="en-IN" sz="2400" dirty="0"/>
              <a:t>Where the value of supply of goods or services or both cannot be determined under rules 1 to 4, the same shall be determined using reasonable means consistent with the principles and general provisions of section 15 and these rules. Provided that in case of supply of services, the supplier may opt for this rule, disregarding rule 4. This is a general residual rule, to be used as a last resort. This is again open ended and refers to principles and general provisions as per law and other rules.</a:t>
            </a:r>
          </a:p>
          <a:p>
            <a:endParaRPr lang="en-IN" dirty="0"/>
          </a:p>
          <a:p>
            <a:endParaRPr lang="en-IN" dirty="0"/>
          </a:p>
        </p:txBody>
      </p:sp>
    </p:spTree>
    <p:extLst>
      <p:ext uri="{BB962C8B-B14F-4D97-AF65-F5344CB8AC3E}">
        <p14:creationId xmlns:p14="http://schemas.microsoft.com/office/powerpoint/2010/main" val="241832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81B047-0F6D-89B6-7E62-C000052D4E6D}"/>
              </a:ext>
            </a:extLst>
          </p:cNvPr>
          <p:cNvSpPr>
            <a:spLocks noGrp="1"/>
          </p:cNvSpPr>
          <p:nvPr>
            <p:ph idx="1"/>
          </p:nvPr>
        </p:nvSpPr>
        <p:spPr>
          <a:xfrm>
            <a:off x="838200" y="462337"/>
            <a:ext cx="10515600" cy="4351338"/>
          </a:xfrm>
        </p:spPr>
        <p:txBody>
          <a:bodyPr/>
          <a:lstStyle/>
          <a:p>
            <a:pPr marL="0" indent="0">
              <a:buNone/>
            </a:pPr>
            <a:r>
              <a:rPr lang="en-US" b="1" dirty="0"/>
              <a:t>4. Value of Supply Based on Cost (Rule 30)</a:t>
            </a:r>
          </a:p>
          <a:p>
            <a:pPr marL="0" indent="0">
              <a:buNone/>
            </a:pPr>
            <a:r>
              <a:rPr lang="en-US" dirty="0"/>
              <a:t>When the value of supply cannot be determined using previous rules (like open market value, like kind, etc.),</a:t>
            </a:r>
          </a:p>
          <a:p>
            <a:pPr marL="0" indent="0">
              <a:buNone/>
            </a:pPr>
            <a:r>
              <a:rPr lang="en-US" dirty="0"/>
              <a:t>It is taken as 110% of the cost of production/acquisition/provision.</a:t>
            </a:r>
          </a:p>
          <a:p>
            <a:pPr marL="0" indent="0">
              <a:buNone/>
            </a:pPr>
            <a:r>
              <a:rPr lang="en-US" dirty="0"/>
              <a:t> Formula:𝑉𝑎𝑙𝑢𝑒=𝐶𝑜𝑠𝑡+10% of Cost</a:t>
            </a:r>
          </a:p>
          <a:p>
            <a:pPr marL="0" indent="0">
              <a:buNone/>
            </a:pPr>
            <a:r>
              <a:rPr lang="en-US" dirty="0" err="1"/>
              <a:t>Example:A</a:t>
            </a:r>
            <a:r>
              <a:rPr lang="en-US" dirty="0"/>
              <a:t> company manufactures goods at a cost of ₹50,000.There is no open market value or comparable supply.</a:t>
            </a:r>
          </a:p>
          <a:p>
            <a:pPr marL="0" indent="0">
              <a:buNone/>
            </a:pPr>
            <a:r>
              <a:rPr lang="en-US" dirty="0"/>
              <a:t>Value of supply = ₹50,000 + 10% = ₹55,000</a:t>
            </a:r>
          </a:p>
          <a:p>
            <a:pPr marL="0" indent="0">
              <a:buNone/>
            </a:pPr>
            <a:endParaRPr lang="en-IN" dirty="0"/>
          </a:p>
        </p:txBody>
      </p:sp>
    </p:spTree>
    <p:extLst>
      <p:ext uri="{BB962C8B-B14F-4D97-AF65-F5344CB8AC3E}">
        <p14:creationId xmlns:p14="http://schemas.microsoft.com/office/powerpoint/2010/main" val="21130779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B8E42-9AB2-5A7E-209F-CD9457E2A86C}"/>
              </a:ext>
            </a:extLst>
          </p:cNvPr>
          <p:cNvSpPr>
            <a:spLocks noGrp="1"/>
          </p:cNvSpPr>
          <p:nvPr>
            <p:ph type="title"/>
          </p:nvPr>
        </p:nvSpPr>
        <p:spPr/>
        <p:txBody>
          <a:bodyPr/>
          <a:lstStyle/>
          <a:p>
            <a:r>
              <a:rPr lang="en-US" dirty="0"/>
              <a:t>5. Residual Method (Rule 31)</a:t>
            </a:r>
            <a:endParaRPr lang="en-IN" dirty="0"/>
          </a:p>
        </p:txBody>
      </p:sp>
      <p:sp>
        <p:nvSpPr>
          <p:cNvPr id="3" name="Content Placeholder 2">
            <a:extLst>
              <a:ext uri="{FF2B5EF4-FFF2-40B4-BE49-F238E27FC236}">
                <a16:creationId xmlns:a16="http://schemas.microsoft.com/office/drawing/2014/main" id="{FC146885-2767-484F-8653-AD4AD69B4E20}"/>
              </a:ext>
            </a:extLst>
          </p:cNvPr>
          <p:cNvSpPr>
            <a:spLocks noGrp="1"/>
          </p:cNvSpPr>
          <p:nvPr>
            <p:ph idx="1"/>
          </p:nvPr>
        </p:nvSpPr>
        <p:spPr/>
        <p:txBody>
          <a:bodyPr>
            <a:normAutofit lnSpcReduction="10000"/>
          </a:bodyPr>
          <a:lstStyle/>
          <a:p>
            <a:pPr marL="0" indent="0" algn="just">
              <a:buNone/>
            </a:pPr>
            <a:r>
              <a:rPr lang="en-US" dirty="0"/>
              <a:t>If value still cannot be determined under Rules 1–4,</a:t>
            </a:r>
          </a:p>
          <a:p>
            <a:pPr marL="0" indent="0" algn="just">
              <a:buNone/>
            </a:pPr>
            <a:r>
              <a:rPr lang="en-US" dirty="0"/>
              <a:t>👉 It is determined using reasonable means consistent with GST principles.</a:t>
            </a:r>
          </a:p>
          <a:p>
            <a:pPr marL="0" indent="0" algn="just">
              <a:buNone/>
            </a:pPr>
            <a:r>
              <a:rPr lang="en-US" dirty="0"/>
              <a:t>This is a “last resort” rule — open-ended, allowing flexibility.</a:t>
            </a:r>
          </a:p>
          <a:p>
            <a:pPr marL="0" indent="0" algn="just">
              <a:buNone/>
            </a:pPr>
            <a:r>
              <a:rPr lang="en-US" dirty="0"/>
              <a:t>Example: A new customized software is developed, with no comparable price and unknown cost structure.</a:t>
            </a:r>
          </a:p>
          <a:p>
            <a:pPr marL="0" indent="0" algn="just">
              <a:buNone/>
            </a:pPr>
            <a:r>
              <a:rPr lang="en-US" dirty="0"/>
              <a:t>→ Value is determined reasonably by agreement between parties following Section 15 principles.</a:t>
            </a:r>
          </a:p>
          <a:p>
            <a:pPr marL="0" indent="0" algn="just">
              <a:buNone/>
            </a:pPr>
            <a:r>
              <a:rPr lang="en-US" dirty="0"/>
              <a:t>💡 For services, supplier may directly choose this rule instead of cost-based Rule 30.</a:t>
            </a:r>
            <a:endParaRPr lang="en-IN" dirty="0"/>
          </a:p>
        </p:txBody>
      </p:sp>
    </p:spTree>
    <p:extLst>
      <p:ext uri="{BB962C8B-B14F-4D97-AF65-F5344CB8AC3E}">
        <p14:creationId xmlns:p14="http://schemas.microsoft.com/office/powerpoint/2010/main" val="34675182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447645"/>
          </a:xfrm>
          <a:prstGeom prst="rect">
            <a:avLst/>
          </a:prstGeom>
          <a:noFill/>
        </p:spPr>
        <p:txBody>
          <a:bodyPr wrap="square" rtlCol="0">
            <a:spAutoFit/>
          </a:bodyPr>
          <a:lstStyle/>
          <a:p>
            <a:r>
              <a:rPr lang="en-IN" sz="2400" b="1" dirty="0"/>
              <a:t>6.Determination of value in respect of certain supplies</a:t>
            </a:r>
            <a:endParaRPr lang="en-IN" sz="2400" dirty="0"/>
          </a:p>
          <a:p>
            <a:br>
              <a:rPr lang="en-IN" sz="2400" b="1" dirty="0"/>
            </a:br>
            <a:r>
              <a:rPr lang="en-IN" sz="2400" dirty="0"/>
              <a:t>The value in respect of supplies specified below shall be determined in the manner provided hereinafter. Rule-32(2) Purchase/ Sale of Foreign Currency – The value of supply of services in relation to purchase or sale of foreign currency, including money changing, shall be determined by the supplier of service in the following manner:-</a:t>
            </a:r>
          </a:p>
          <a:p>
            <a:r>
              <a:rPr lang="en-IN" sz="2400" dirty="0"/>
              <a:t>(i) For a currency, when exchanged from, or to, Indian Rupees (INR), the value shall be equal to the difference in the buying rate or the selling rate, as the case may be, and the Reserve Bank of India (RBI) reference rate for that currency at that time, multiplied by the total units of currency.</a:t>
            </a:r>
          </a:p>
          <a:p>
            <a:r>
              <a:rPr lang="en-IN" sz="2400" dirty="0"/>
              <a:t> (ii) At the option of supplier of services, the value in relation to supply of foreign currency, including money changing, shall be deemed to be</a:t>
            </a:r>
          </a:p>
          <a:p>
            <a:endParaRPr lang="en-IN" dirty="0"/>
          </a:p>
          <a:p>
            <a:endParaRPr lang="en-IN" dirty="0"/>
          </a:p>
        </p:txBody>
      </p:sp>
    </p:spTree>
    <p:extLst>
      <p:ext uri="{BB962C8B-B14F-4D97-AF65-F5344CB8AC3E}">
        <p14:creationId xmlns:p14="http://schemas.microsoft.com/office/powerpoint/2010/main" val="309931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6063198"/>
          </a:xfrm>
          <a:prstGeom prst="rect">
            <a:avLst/>
          </a:prstGeom>
          <a:noFill/>
        </p:spPr>
        <p:txBody>
          <a:bodyPr wrap="square" rtlCol="0">
            <a:spAutoFit/>
          </a:bodyPr>
          <a:lstStyle/>
          <a:p>
            <a:pPr lvl="0"/>
            <a:r>
              <a:rPr lang="en-IN" sz="2200" dirty="0"/>
              <a:t>1 % of the gross amount of currency exchanged for an amount up to one lakh rupees, subject to a minimum amount of two hundred and fifty rupees; </a:t>
            </a:r>
          </a:p>
          <a:p>
            <a:pPr lvl="0"/>
            <a:r>
              <a:rPr lang="en-IN" sz="2200" dirty="0"/>
              <a:t>(ii) one thousand rupees(1,000) and half of a per cent (0.5%) of the gross amount of currency exchanged for an amount exceeding one lakh rupees and up to ten lakh rupees; and </a:t>
            </a:r>
          </a:p>
          <a:p>
            <a:pPr lvl="0"/>
            <a:r>
              <a:rPr lang="en-IN" sz="2200" dirty="0"/>
              <a:t>(iii) five thousand rupees (5,000) and one tenth of a per cent (0.10%) of the gross amount of currency exchanged for an amount exceeding ten lakh rupees, subject to maximum amount of sixty thousand rupees.</a:t>
            </a:r>
          </a:p>
          <a:p>
            <a:r>
              <a:rPr lang="en-IN" sz="2200" dirty="0"/>
              <a:t>7. Value of supply of services in case of pure agent Notwithstanding anything contained in these rules, the expenditure or costs incurred by the supplier as a pure agent of the recipient of supply of services shall be excluded from the value of supply, if all the following conditions are satisfied, namely: - </a:t>
            </a:r>
          </a:p>
          <a:p>
            <a:pPr marL="285750" lvl="0" indent="-285750">
              <a:buFont typeface="Arial" panose="020B0604020202020204" pitchFamily="34" charset="0"/>
              <a:buChar char="•"/>
            </a:pPr>
            <a:r>
              <a:rPr lang="en-IN" sz="2200" dirty="0"/>
              <a:t>the supplier acts as a pure agent of the recipient of the supply, when he makes payment to the third party for the services procured; </a:t>
            </a:r>
          </a:p>
          <a:p>
            <a:pPr marL="285750" lvl="0" indent="-285750">
              <a:buFont typeface="Arial" panose="020B0604020202020204" pitchFamily="34" charset="0"/>
              <a:buChar char="•"/>
            </a:pPr>
            <a:r>
              <a:rPr lang="en-IN" sz="2200" dirty="0"/>
              <a:t>the recipient of supply uses the services so procured by the supplier service provider in his capacity as pure agent of the recipient of supply; </a:t>
            </a:r>
          </a:p>
          <a:p>
            <a:endParaRPr lang="en-IN" dirty="0"/>
          </a:p>
          <a:p>
            <a:endParaRPr lang="en-IN" dirty="0"/>
          </a:p>
        </p:txBody>
      </p:sp>
    </p:spTree>
    <p:extLst>
      <p:ext uri="{BB962C8B-B14F-4D97-AF65-F5344CB8AC3E}">
        <p14:creationId xmlns:p14="http://schemas.microsoft.com/office/powerpoint/2010/main" val="6265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078313"/>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t>the recipient of supply is liable to make payment to the third party; the recipient of supply authorizes the supplier to make payment on his behalf;</a:t>
            </a:r>
          </a:p>
          <a:p>
            <a:pPr marL="342900" lvl="0" indent="-342900">
              <a:buFont typeface="Arial" panose="020B0604020202020204" pitchFamily="34" charset="0"/>
              <a:buChar char="•"/>
            </a:pPr>
            <a:r>
              <a:rPr lang="en-IN" sz="2400" dirty="0"/>
              <a:t>the recipient of supply knows that the services for which payment has been made by the supplier shall be provided by the third party; </a:t>
            </a:r>
          </a:p>
          <a:p>
            <a:pPr marL="342900" lvl="0" indent="-342900">
              <a:buFont typeface="Arial" panose="020B0604020202020204" pitchFamily="34" charset="0"/>
              <a:buChar char="•"/>
            </a:pPr>
            <a:r>
              <a:rPr lang="en-IN" sz="2400" dirty="0"/>
              <a:t>the payment made by the supplier on behalf of the recipient of supply has been separately indicated in the invoice issued by the supplier to the recipient of service; </a:t>
            </a:r>
          </a:p>
          <a:p>
            <a:pPr marL="342900" lvl="0" indent="-342900">
              <a:buFont typeface="Arial" panose="020B0604020202020204" pitchFamily="34" charset="0"/>
              <a:buChar char="•"/>
            </a:pPr>
            <a:r>
              <a:rPr lang="en-IN" sz="2400" dirty="0"/>
              <a:t>the supplier recovers from the recipient of supply only such amount as has been paid by him to the third party; and </a:t>
            </a:r>
          </a:p>
          <a:p>
            <a:pPr marL="342900" lvl="0" indent="-342900">
              <a:buFont typeface="Arial" panose="020B0604020202020204" pitchFamily="34" charset="0"/>
              <a:buChar char="•"/>
            </a:pPr>
            <a:r>
              <a:rPr lang="en-IN" sz="2400" dirty="0"/>
              <a:t>the services procured by the supplier from the third party as a pure agent of the recipient of supply are in addition to the supply he provides on his own account.</a:t>
            </a:r>
          </a:p>
          <a:p>
            <a:endParaRPr lang="en-IN" dirty="0"/>
          </a:p>
          <a:p>
            <a:endParaRPr lang="en-IN" dirty="0"/>
          </a:p>
        </p:txBody>
      </p:sp>
    </p:spTree>
    <p:extLst>
      <p:ext uri="{BB962C8B-B14F-4D97-AF65-F5344CB8AC3E}">
        <p14:creationId xmlns:p14="http://schemas.microsoft.com/office/powerpoint/2010/main" val="70897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2492990"/>
          </a:xfrm>
          <a:prstGeom prst="rect">
            <a:avLst/>
          </a:prstGeom>
          <a:noFill/>
        </p:spPr>
        <p:txBody>
          <a:bodyPr wrap="square" rtlCol="0">
            <a:spAutoFit/>
          </a:bodyPr>
          <a:lstStyle/>
          <a:p>
            <a:r>
              <a:rPr lang="en-IN" sz="2400" dirty="0"/>
              <a:t>8. Rate of exchange of currency, other than Indian rupees, for determination of value </a:t>
            </a:r>
          </a:p>
          <a:p>
            <a:r>
              <a:rPr lang="en-IN" sz="2400" dirty="0"/>
              <a:t>The rate of exchange for determination of value of taxable goods or services or both shall be the applicable reference rate for that currency as determined by the Reserve Bank of India on the date when point of taxation arises.</a:t>
            </a:r>
          </a:p>
          <a:p>
            <a:endParaRPr lang="en-IN" dirty="0"/>
          </a:p>
          <a:p>
            <a:endParaRPr lang="en-IN" dirty="0"/>
          </a:p>
        </p:txBody>
      </p:sp>
    </p:spTree>
    <p:extLst>
      <p:ext uri="{BB962C8B-B14F-4D97-AF65-F5344CB8AC3E}">
        <p14:creationId xmlns:p14="http://schemas.microsoft.com/office/powerpoint/2010/main" val="243114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691DE-A4AD-3EC5-7F92-D341285F9034}"/>
              </a:ext>
            </a:extLst>
          </p:cNvPr>
          <p:cNvSpPr>
            <a:spLocks noGrp="1"/>
          </p:cNvSpPr>
          <p:nvPr>
            <p:ph type="title"/>
          </p:nvPr>
        </p:nvSpPr>
        <p:spPr/>
        <p:txBody>
          <a:bodyPr/>
          <a:lstStyle/>
          <a:p>
            <a:r>
              <a:rPr lang="en-US" dirty="0"/>
              <a:t>6. Determination of Value for Certain Supplies (Rule 32)</a:t>
            </a:r>
            <a:endParaRPr lang="en-IN" dirty="0"/>
          </a:p>
        </p:txBody>
      </p:sp>
      <p:sp>
        <p:nvSpPr>
          <p:cNvPr id="3" name="Content Placeholder 2">
            <a:extLst>
              <a:ext uri="{FF2B5EF4-FFF2-40B4-BE49-F238E27FC236}">
                <a16:creationId xmlns:a16="http://schemas.microsoft.com/office/drawing/2014/main" id="{1814E3D3-67CA-80A6-063D-DA87C52C07AE}"/>
              </a:ext>
            </a:extLst>
          </p:cNvPr>
          <p:cNvSpPr>
            <a:spLocks noGrp="1"/>
          </p:cNvSpPr>
          <p:nvPr>
            <p:ph idx="1"/>
          </p:nvPr>
        </p:nvSpPr>
        <p:spPr/>
        <p:txBody>
          <a:bodyPr/>
          <a:lstStyle/>
          <a:p>
            <a:pPr marL="514350" indent="-514350" algn="just">
              <a:buAutoNum type="alphaLcParenBoth"/>
            </a:pPr>
            <a:r>
              <a:rPr lang="en-US" dirty="0"/>
              <a:t>Purchase/Sale of Foreign Currency (Money Changing Services)</a:t>
            </a:r>
          </a:p>
          <a:p>
            <a:pPr marL="0" indent="0" algn="just">
              <a:buNone/>
            </a:pPr>
            <a:r>
              <a:rPr lang="en-US" dirty="0"/>
              <a:t>Two Methods:</a:t>
            </a:r>
          </a:p>
          <a:p>
            <a:pPr marL="571500" indent="-571500" algn="just">
              <a:buAutoNum type="romanLcParenBoth"/>
            </a:pPr>
            <a:r>
              <a:rPr lang="en-US" b="1" dirty="0"/>
              <a:t>Standard Method </a:t>
            </a:r>
          </a:p>
          <a:p>
            <a:pPr marL="0" indent="0" algn="just">
              <a:buNone/>
            </a:pPr>
            <a:r>
              <a:rPr lang="en-US" dirty="0"/>
              <a:t>Value = (Difference between buying/selling rate and RBI reference rate) × (Total units of currency).</a:t>
            </a:r>
          </a:p>
          <a:p>
            <a:pPr marL="0" indent="0" algn="just">
              <a:buNone/>
            </a:pPr>
            <a:r>
              <a:rPr lang="en-US" dirty="0"/>
              <a:t> Example: Bank buys $1,000 at ₹83 per USD, RBI rate ₹83.20  →</a:t>
            </a:r>
          </a:p>
          <a:p>
            <a:pPr marL="0" indent="0" algn="just">
              <a:buNone/>
            </a:pPr>
            <a:r>
              <a:rPr lang="en-US" dirty="0"/>
              <a:t>Difference ₹0.20 × 1,000 = ₹200 → Value of service = ₹200.</a:t>
            </a:r>
          </a:p>
          <a:p>
            <a:pPr marL="0" indent="0" algn="just">
              <a:buNone/>
            </a:pPr>
            <a:r>
              <a:rPr lang="en-US" b="1" dirty="0"/>
              <a:t>(ii) Optional Slab Method</a:t>
            </a:r>
            <a:r>
              <a:rPr lang="en-US" dirty="0"/>
              <a:t> (for small traders)</a:t>
            </a:r>
            <a:endParaRPr lang="en-IN" dirty="0"/>
          </a:p>
        </p:txBody>
      </p:sp>
    </p:spTree>
    <p:extLst>
      <p:ext uri="{BB962C8B-B14F-4D97-AF65-F5344CB8AC3E}">
        <p14:creationId xmlns:p14="http://schemas.microsoft.com/office/powerpoint/2010/main" val="11813861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53480-FB69-37AB-E87E-6E2111A99504}"/>
              </a:ext>
            </a:extLst>
          </p:cNvPr>
          <p:cNvSpPr>
            <a:spLocks noGrp="1"/>
          </p:cNvSpPr>
          <p:nvPr>
            <p:ph idx="1"/>
          </p:nvPr>
        </p:nvSpPr>
        <p:spPr>
          <a:xfrm>
            <a:off x="721822" y="805323"/>
            <a:ext cx="10515600" cy="4351338"/>
          </a:xfrm>
        </p:spPr>
        <p:txBody>
          <a:bodyPr/>
          <a:lstStyle/>
          <a:p>
            <a:pPr marL="0" indent="0">
              <a:buNone/>
            </a:pPr>
            <a:r>
              <a:rPr lang="en-US" b="1" dirty="0"/>
              <a:t>(ii) Optional Slab Method</a:t>
            </a:r>
            <a:r>
              <a:rPr lang="en-US" dirty="0"/>
              <a:t> (for small traders)</a:t>
            </a:r>
          </a:p>
          <a:p>
            <a:pPr marL="0" indent="0">
              <a:buNone/>
            </a:pPr>
            <a:endParaRPr lang="en-IN" dirty="0"/>
          </a:p>
        </p:txBody>
      </p:sp>
      <p:graphicFrame>
        <p:nvGraphicFramePr>
          <p:cNvPr id="4" name="Table 3">
            <a:extLst>
              <a:ext uri="{FF2B5EF4-FFF2-40B4-BE49-F238E27FC236}">
                <a16:creationId xmlns:a16="http://schemas.microsoft.com/office/drawing/2014/main" id="{9D6FB606-DB42-8E24-1DD3-BB666EE9A79B}"/>
              </a:ext>
            </a:extLst>
          </p:cNvPr>
          <p:cNvGraphicFramePr>
            <a:graphicFrameLocks noGrp="1"/>
          </p:cNvGraphicFramePr>
          <p:nvPr>
            <p:extLst>
              <p:ext uri="{D42A27DB-BD31-4B8C-83A1-F6EECF244321}">
                <p14:modId xmlns:p14="http://schemas.microsoft.com/office/powerpoint/2010/main" val="3572678696"/>
              </p:ext>
            </p:extLst>
          </p:nvPr>
        </p:nvGraphicFramePr>
        <p:xfrm>
          <a:off x="937952" y="1701339"/>
          <a:ext cx="9958647" cy="2288872"/>
        </p:xfrm>
        <a:graphic>
          <a:graphicData uri="http://schemas.openxmlformats.org/drawingml/2006/table">
            <a:tbl>
              <a:tblPr/>
              <a:tblGrid>
                <a:gridCol w="4836941">
                  <a:extLst>
                    <a:ext uri="{9D8B030D-6E8A-4147-A177-3AD203B41FA5}">
                      <a16:colId xmlns:a16="http://schemas.microsoft.com/office/drawing/2014/main" val="905080249"/>
                    </a:ext>
                  </a:extLst>
                </a:gridCol>
                <a:gridCol w="5121706">
                  <a:extLst>
                    <a:ext uri="{9D8B030D-6E8A-4147-A177-3AD203B41FA5}">
                      <a16:colId xmlns:a16="http://schemas.microsoft.com/office/drawing/2014/main" val="3247933840"/>
                    </a:ext>
                  </a:extLst>
                </a:gridCol>
              </a:tblGrid>
              <a:tr h="572218">
                <a:tc>
                  <a:txBody>
                    <a:bodyPr/>
                    <a:lstStyle/>
                    <a:p>
                      <a:pPr>
                        <a:buNone/>
                      </a:pPr>
                      <a:r>
                        <a:rPr lang="en-IN" sz="2000"/>
                        <a:t>Amount Exchanged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Value of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0110382"/>
                  </a:ext>
                </a:extLst>
              </a:tr>
              <a:tr h="572218">
                <a:tc>
                  <a:txBody>
                    <a:bodyPr/>
                    <a:lstStyle/>
                    <a:p>
                      <a:pPr>
                        <a:buNone/>
                      </a:pPr>
                      <a:r>
                        <a:rPr lang="en-IN" sz="2000" dirty="0"/>
                        <a:t>Up to ₹1,00,000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1% of amount (min ₹250)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189797"/>
                  </a:ext>
                </a:extLst>
              </a:tr>
              <a:tr h="572218">
                <a:tc>
                  <a:txBody>
                    <a:bodyPr/>
                    <a:lstStyle/>
                    <a:p>
                      <a:pPr>
                        <a:buNone/>
                      </a:pPr>
                      <a:r>
                        <a:rPr lang="en-IN" sz="2000"/>
                        <a:t>₹1,00,000 – ₹10,00,000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₹1,000 + 0.5% of excess over ₹1,00,000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2345762"/>
                  </a:ext>
                </a:extLst>
              </a:tr>
              <a:tr h="572218">
                <a:tc>
                  <a:txBody>
                    <a:bodyPr/>
                    <a:lstStyle/>
                    <a:p>
                      <a:pPr>
                        <a:buNone/>
                      </a:pPr>
                      <a:r>
                        <a:rPr lang="en-IN" sz="2000" dirty="0"/>
                        <a:t>Above ₹10,00,000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₹5,000 + 0.1% of excess (max ₹60,000)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192153"/>
                  </a:ext>
                </a:extLst>
              </a:tr>
            </a:tbl>
          </a:graphicData>
        </a:graphic>
      </p:graphicFrame>
      <p:sp>
        <p:nvSpPr>
          <p:cNvPr id="6" name="TextBox 5">
            <a:extLst>
              <a:ext uri="{FF2B5EF4-FFF2-40B4-BE49-F238E27FC236}">
                <a16:creationId xmlns:a16="http://schemas.microsoft.com/office/drawing/2014/main" id="{08E9BAC5-DD46-7681-4252-05A69816B9AA}"/>
              </a:ext>
            </a:extLst>
          </p:cNvPr>
          <p:cNvSpPr txBox="1"/>
          <p:nvPr/>
        </p:nvSpPr>
        <p:spPr>
          <a:xfrm>
            <a:off x="937951" y="4556496"/>
            <a:ext cx="9958647" cy="1200329"/>
          </a:xfrm>
          <a:prstGeom prst="rect">
            <a:avLst/>
          </a:prstGeom>
          <a:noFill/>
        </p:spPr>
        <p:txBody>
          <a:bodyPr wrap="square">
            <a:spAutoFit/>
          </a:bodyPr>
          <a:lstStyle/>
          <a:p>
            <a:r>
              <a:rPr lang="en-US" sz="2400" dirty="0"/>
              <a:t>Example: </a:t>
            </a:r>
          </a:p>
          <a:p>
            <a:r>
              <a:rPr lang="en-US" sz="2400" dirty="0"/>
              <a:t>Exchange ₹8,00,000 → ₹1,000 + 0.5% × ₹7,00,000 = ₹1,000 + ₹3,500 = ₹4,500</a:t>
            </a:r>
          </a:p>
          <a:p>
            <a:r>
              <a:rPr lang="en-US" sz="2400" dirty="0"/>
              <a:t>✅ Value of service = ₹4,500.</a:t>
            </a:r>
            <a:endParaRPr lang="en-IN" sz="2400" dirty="0"/>
          </a:p>
        </p:txBody>
      </p:sp>
    </p:spTree>
    <p:extLst>
      <p:ext uri="{BB962C8B-B14F-4D97-AF65-F5344CB8AC3E}">
        <p14:creationId xmlns:p14="http://schemas.microsoft.com/office/powerpoint/2010/main" val="3509223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38FDA-71EC-B364-78AF-25EFE82A96FF}"/>
              </a:ext>
            </a:extLst>
          </p:cNvPr>
          <p:cNvSpPr>
            <a:spLocks noGrp="1"/>
          </p:cNvSpPr>
          <p:nvPr>
            <p:ph type="title"/>
          </p:nvPr>
        </p:nvSpPr>
        <p:spPr>
          <a:xfrm>
            <a:off x="838200" y="365125"/>
            <a:ext cx="10515600" cy="682279"/>
          </a:xfrm>
        </p:spPr>
        <p:txBody>
          <a:bodyPr>
            <a:normAutofit fontScale="90000"/>
          </a:bodyPr>
          <a:lstStyle/>
          <a:p>
            <a:r>
              <a:rPr lang="en-US" b="1" dirty="0"/>
              <a:t>7. Value of Supply of Services in Case of a Pure Agent (Rule 33)</a:t>
            </a:r>
            <a:endParaRPr lang="en-IN" dirty="0"/>
          </a:p>
        </p:txBody>
      </p:sp>
      <p:sp>
        <p:nvSpPr>
          <p:cNvPr id="3" name="Content Placeholder 2">
            <a:extLst>
              <a:ext uri="{FF2B5EF4-FFF2-40B4-BE49-F238E27FC236}">
                <a16:creationId xmlns:a16="http://schemas.microsoft.com/office/drawing/2014/main" id="{46E4D910-DE03-EE32-91B2-99E2CA076116}"/>
              </a:ext>
            </a:extLst>
          </p:cNvPr>
          <p:cNvSpPr>
            <a:spLocks noGrp="1"/>
          </p:cNvSpPr>
          <p:nvPr>
            <p:ph idx="1"/>
          </p:nvPr>
        </p:nvSpPr>
        <p:spPr>
          <a:xfrm>
            <a:off x="838200" y="1396538"/>
            <a:ext cx="10515600" cy="4780425"/>
          </a:xfrm>
        </p:spPr>
        <p:txBody>
          <a:bodyPr>
            <a:normAutofit fontScale="85000" lnSpcReduction="20000"/>
          </a:bodyPr>
          <a:lstStyle/>
          <a:p>
            <a:pPr marL="0" indent="0" algn="just">
              <a:buNone/>
            </a:pPr>
            <a:r>
              <a:rPr lang="en-US" dirty="0"/>
              <a:t>When a supplier pays on behalf of the recipient as a pure agent, those expenses are excluded from value of supply — if all conditions are met.</a:t>
            </a:r>
          </a:p>
          <a:p>
            <a:pPr marL="0" indent="0" algn="just">
              <a:buNone/>
            </a:pPr>
            <a:r>
              <a:rPr lang="en-US" dirty="0"/>
              <a:t> </a:t>
            </a:r>
            <a:r>
              <a:rPr lang="en-US" b="1" dirty="0"/>
              <a:t>Conditions: </a:t>
            </a:r>
          </a:p>
          <a:p>
            <a:pPr lvl="1" algn="just">
              <a:buFont typeface="Wingdings" panose="05000000000000000000" pitchFamily="2" charset="2"/>
              <a:buChar char="§"/>
            </a:pPr>
            <a:r>
              <a:rPr lang="en-US" dirty="0"/>
              <a:t>Supplier acts as pure agent for recipient.</a:t>
            </a:r>
          </a:p>
          <a:p>
            <a:pPr lvl="1" algn="just">
              <a:buFont typeface="Wingdings" panose="05000000000000000000" pitchFamily="2" charset="2"/>
              <a:buChar char="§"/>
            </a:pPr>
            <a:r>
              <a:rPr lang="en-US" dirty="0"/>
              <a:t>Recipient is actually liable to pay that amount.</a:t>
            </a:r>
          </a:p>
          <a:p>
            <a:pPr lvl="1" algn="just">
              <a:buFont typeface="Wingdings" panose="05000000000000000000" pitchFamily="2" charset="2"/>
              <a:buChar char="§"/>
            </a:pPr>
            <a:r>
              <a:rPr lang="en-US" dirty="0"/>
              <a:t>Recipient authorizes supplier to pay.</a:t>
            </a:r>
          </a:p>
          <a:p>
            <a:pPr lvl="1" algn="just">
              <a:buFont typeface="Wingdings" panose="05000000000000000000" pitchFamily="2" charset="2"/>
              <a:buChar char="§"/>
            </a:pPr>
            <a:r>
              <a:rPr lang="en-US" dirty="0"/>
              <a:t>Such payment is shown separately in invoice.</a:t>
            </a:r>
          </a:p>
          <a:p>
            <a:pPr lvl="1" algn="just">
              <a:buFont typeface="Wingdings" panose="05000000000000000000" pitchFamily="2" charset="2"/>
              <a:buChar char="§"/>
            </a:pPr>
            <a:r>
              <a:rPr lang="en-US" dirty="0"/>
              <a:t>Supplier recovers exactly what he paid, no markup.</a:t>
            </a:r>
          </a:p>
          <a:p>
            <a:pPr marL="0" indent="0" algn="just">
              <a:buNone/>
            </a:pPr>
            <a:r>
              <a:rPr lang="en-US" b="1" dirty="0"/>
              <a:t> </a:t>
            </a:r>
          </a:p>
          <a:p>
            <a:pPr marL="0" indent="0" algn="just">
              <a:buNone/>
            </a:pPr>
            <a:r>
              <a:rPr lang="en-US" b="1" dirty="0"/>
              <a:t>Example: </a:t>
            </a:r>
            <a:r>
              <a:rPr lang="en-US" dirty="0"/>
              <a:t>A CA firm files tax returns for a client and pays ₹5,000 government filing fees on client’s behalf.</a:t>
            </a:r>
          </a:p>
          <a:p>
            <a:pPr marL="0" indent="0" algn="just">
              <a:buNone/>
            </a:pPr>
            <a:r>
              <a:rPr lang="en-US" dirty="0"/>
              <a:t>It charges ₹10,000 for its own service.</a:t>
            </a:r>
          </a:p>
          <a:p>
            <a:pPr marL="0" indent="0" algn="just">
              <a:buNone/>
            </a:pPr>
            <a:r>
              <a:rPr lang="en-US" dirty="0"/>
              <a:t>Only ₹10,000 is taxable under GST;</a:t>
            </a:r>
          </a:p>
          <a:p>
            <a:pPr marL="0" indent="0" algn="just">
              <a:buNone/>
            </a:pPr>
            <a:r>
              <a:rPr lang="en-US" dirty="0"/>
              <a:t>₹5,000 (paid as pure agent) is excluded.</a:t>
            </a:r>
            <a:endParaRPr lang="en-IN" dirty="0"/>
          </a:p>
        </p:txBody>
      </p:sp>
    </p:spTree>
    <p:extLst>
      <p:ext uri="{BB962C8B-B14F-4D97-AF65-F5344CB8AC3E}">
        <p14:creationId xmlns:p14="http://schemas.microsoft.com/office/powerpoint/2010/main" val="1152262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EC4C-46F4-A845-1373-DB805F4A36E3}"/>
              </a:ext>
            </a:extLst>
          </p:cNvPr>
          <p:cNvSpPr>
            <a:spLocks noGrp="1"/>
          </p:cNvSpPr>
          <p:nvPr>
            <p:ph type="title"/>
          </p:nvPr>
        </p:nvSpPr>
        <p:spPr>
          <a:xfrm>
            <a:off x="838200" y="365126"/>
            <a:ext cx="10515600" cy="449522"/>
          </a:xfrm>
        </p:spPr>
        <p:txBody>
          <a:bodyPr>
            <a:normAutofit fontScale="90000"/>
          </a:bodyPr>
          <a:lstStyle/>
          <a:p>
            <a:r>
              <a:rPr lang="en-US" b="1" dirty="0"/>
              <a:t>8. Rate of Exchange of Currency (Rule 34</a:t>
            </a:r>
            <a:endParaRPr lang="en-IN" dirty="0"/>
          </a:p>
        </p:txBody>
      </p:sp>
      <p:sp>
        <p:nvSpPr>
          <p:cNvPr id="3" name="Content Placeholder 2">
            <a:extLst>
              <a:ext uri="{FF2B5EF4-FFF2-40B4-BE49-F238E27FC236}">
                <a16:creationId xmlns:a16="http://schemas.microsoft.com/office/drawing/2014/main" id="{59D974A5-659C-E056-925F-0D686046D2F1}"/>
              </a:ext>
            </a:extLst>
          </p:cNvPr>
          <p:cNvSpPr>
            <a:spLocks noGrp="1"/>
          </p:cNvSpPr>
          <p:nvPr>
            <p:ph idx="1"/>
          </p:nvPr>
        </p:nvSpPr>
        <p:spPr>
          <a:xfrm>
            <a:off x="838200" y="1014153"/>
            <a:ext cx="10515600" cy="5162810"/>
          </a:xfrm>
        </p:spPr>
        <p:txBody>
          <a:bodyPr/>
          <a:lstStyle/>
          <a:p>
            <a:pPr marL="0" indent="0" algn="just">
              <a:buNone/>
            </a:pPr>
            <a:r>
              <a:rPr lang="en-US" dirty="0"/>
              <a:t>For foreign currency transactions,</a:t>
            </a:r>
          </a:p>
          <a:p>
            <a:pPr marL="0" indent="0" algn="just">
              <a:buNone/>
            </a:pPr>
            <a:r>
              <a:rPr lang="en-US" dirty="0"/>
              <a:t>👉 the exchange rate used to determine value = RBI reference rate on the date when time of supply arises.</a:t>
            </a:r>
          </a:p>
          <a:p>
            <a:pPr marL="0" indent="0" algn="just">
              <a:buNone/>
            </a:pPr>
            <a:r>
              <a:rPr lang="en-US" dirty="0"/>
              <a:t>Example:</a:t>
            </a:r>
          </a:p>
          <a:p>
            <a:pPr marL="0" indent="0" algn="just">
              <a:buNone/>
            </a:pPr>
            <a:r>
              <a:rPr lang="en-US" dirty="0"/>
              <a:t>If goods imported on 5th May and RBI rate = ₹83.50 per USD,</a:t>
            </a:r>
          </a:p>
          <a:p>
            <a:pPr marL="0" indent="0" algn="just">
              <a:buNone/>
            </a:pPr>
            <a:r>
              <a:rPr lang="en-US" dirty="0"/>
              <a:t>→ that rate is used for GST valuation.</a:t>
            </a:r>
          </a:p>
          <a:p>
            <a:pPr marL="0" indent="0" algn="just">
              <a:buNone/>
            </a:pPr>
            <a:endParaRPr lang="en-IN" dirty="0"/>
          </a:p>
        </p:txBody>
      </p:sp>
      <p:graphicFrame>
        <p:nvGraphicFramePr>
          <p:cNvPr id="4" name="Table 3">
            <a:extLst>
              <a:ext uri="{FF2B5EF4-FFF2-40B4-BE49-F238E27FC236}">
                <a16:creationId xmlns:a16="http://schemas.microsoft.com/office/drawing/2014/main" id="{D9FECE67-CE1F-4F9A-0ABC-C06707EAFE65}"/>
              </a:ext>
            </a:extLst>
          </p:cNvPr>
          <p:cNvGraphicFramePr>
            <a:graphicFrameLocks noGrp="1"/>
          </p:cNvGraphicFramePr>
          <p:nvPr>
            <p:extLst>
              <p:ext uri="{D42A27DB-BD31-4B8C-83A1-F6EECF244321}">
                <p14:modId xmlns:p14="http://schemas.microsoft.com/office/powerpoint/2010/main" val="882254094"/>
              </p:ext>
            </p:extLst>
          </p:nvPr>
        </p:nvGraphicFramePr>
        <p:xfrm>
          <a:off x="978131" y="4248410"/>
          <a:ext cx="10515600" cy="2377440"/>
        </p:xfrm>
        <a:graphic>
          <a:graphicData uri="http://schemas.openxmlformats.org/drawingml/2006/table">
            <a:tbl>
              <a:tblPr/>
              <a:tblGrid>
                <a:gridCol w="1199804">
                  <a:extLst>
                    <a:ext uri="{9D8B030D-6E8A-4147-A177-3AD203B41FA5}">
                      <a16:colId xmlns:a16="http://schemas.microsoft.com/office/drawing/2014/main" val="473842102"/>
                    </a:ext>
                  </a:extLst>
                </a:gridCol>
                <a:gridCol w="2926080">
                  <a:extLst>
                    <a:ext uri="{9D8B030D-6E8A-4147-A177-3AD203B41FA5}">
                      <a16:colId xmlns:a16="http://schemas.microsoft.com/office/drawing/2014/main" val="1091761474"/>
                    </a:ext>
                  </a:extLst>
                </a:gridCol>
                <a:gridCol w="3760816">
                  <a:extLst>
                    <a:ext uri="{9D8B030D-6E8A-4147-A177-3AD203B41FA5}">
                      <a16:colId xmlns:a16="http://schemas.microsoft.com/office/drawing/2014/main" val="3466375313"/>
                    </a:ext>
                  </a:extLst>
                </a:gridCol>
                <a:gridCol w="2628900">
                  <a:extLst>
                    <a:ext uri="{9D8B030D-6E8A-4147-A177-3AD203B41FA5}">
                      <a16:colId xmlns:a16="http://schemas.microsoft.com/office/drawing/2014/main" val="1979399852"/>
                    </a:ext>
                  </a:extLst>
                </a:gridCol>
              </a:tblGrid>
              <a:tr h="0">
                <a:tc>
                  <a:txBody>
                    <a:bodyPr/>
                    <a:lstStyle/>
                    <a:p>
                      <a:pPr>
                        <a:buNone/>
                      </a:pPr>
                      <a:r>
                        <a:rPr lang="en-IN" sz="2000"/>
                        <a:t>Rule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Basis of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Method / Principle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Example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6266633"/>
                  </a:ext>
                </a:extLst>
              </a:tr>
              <a:tr h="0">
                <a:tc>
                  <a:txBody>
                    <a:bodyPr/>
                    <a:lstStyle/>
                    <a:p>
                      <a:pPr>
                        <a:buNone/>
                      </a:pPr>
                      <a:r>
                        <a:rPr lang="en-IN" sz="2000" b="1"/>
                        <a:t>30</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Cost-based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110% of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632244"/>
                  </a:ext>
                </a:extLst>
              </a:tr>
              <a:tr h="0">
                <a:tc>
                  <a:txBody>
                    <a:bodyPr/>
                    <a:lstStyle/>
                    <a:p>
                      <a:pPr>
                        <a:buNone/>
                      </a:pPr>
                      <a:r>
                        <a:rPr lang="en-IN" sz="2000" b="1"/>
                        <a:t>31</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Residual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Reasonable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As per fair estimate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1484512"/>
                  </a:ext>
                </a:extLst>
              </a:tr>
              <a:tr h="0">
                <a:tc>
                  <a:txBody>
                    <a:bodyPr/>
                    <a:lstStyle/>
                    <a:p>
                      <a:pPr>
                        <a:buNone/>
                      </a:pPr>
                      <a:r>
                        <a:rPr lang="en-IN" sz="2000" b="1"/>
                        <a:t>32</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Special 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e.g. Forex, ticketing, insurance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611739"/>
                  </a:ext>
                </a:extLst>
              </a:tr>
              <a:tr h="0">
                <a:tc>
                  <a:txBody>
                    <a:bodyPr/>
                    <a:lstStyle/>
                    <a:p>
                      <a:pPr>
                        <a:buNone/>
                      </a:pPr>
                      <a:r>
                        <a:rPr lang="en-IN" sz="2000" b="1"/>
                        <a:t>33</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Pure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Exclude reimbursed expenses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₹10,000 taxable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8403758"/>
                  </a:ext>
                </a:extLst>
              </a:tr>
              <a:tr h="0">
                <a:tc>
                  <a:txBody>
                    <a:bodyPr/>
                    <a:lstStyle/>
                    <a:p>
                      <a:pPr>
                        <a:buNone/>
                      </a:pPr>
                      <a:r>
                        <a:rPr lang="en-IN" sz="2000" b="1"/>
                        <a:t>34</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Currency Conversion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RBI rate on date of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₹83.50/USD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857912"/>
                  </a:ext>
                </a:extLst>
              </a:tr>
            </a:tbl>
          </a:graphicData>
        </a:graphic>
      </p:graphicFrame>
    </p:spTree>
    <p:extLst>
      <p:ext uri="{BB962C8B-B14F-4D97-AF65-F5344CB8AC3E}">
        <p14:creationId xmlns:p14="http://schemas.microsoft.com/office/powerpoint/2010/main" val="12312344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GST exemption</a:t>
            </a:r>
            <a:endParaRPr lang="en-IN" sz="2600" dirty="0"/>
          </a:p>
        </p:txBody>
      </p:sp>
      <p:sp>
        <p:nvSpPr>
          <p:cNvPr id="7" name="TextBox 6"/>
          <p:cNvSpPr txBox="1"/>
          <p:nvPr/>
        </p:nvSpPr>
        <p:spPr>
          <a:xfrm>
            <a:off x="655927" y="949657"/>
            <a:ext cx="9797143" cy="5078313"/>
          </a:xfrm>
          <a:prstGeom prst="rect">
            <a:avLst/>
          </a:prstGeom>
          <a:noFill/>
        </p:spPr>
        <p:txBody>
          <a:bodyPr wrap="square" rtlCol="0">
            <a:spAutoFit/>
          </a:bodyPr>
          <a:lstStyle/>
          <a:p>
            <a:pPr fontAlgn="base"/>
            <a:r>
              <a:rPr lang="en-IN" sz="2400" b="1" dirty="0"/>
              <a:t>What is a GST exemption?</a:t>
            </a:r>
          </a:p>
          <a:p>
            <a:pPr fontAlgn="base"/>
            <a:r>
              <a:rPr lang="en-IN" sz="2400" dirty="0"/>
              <a:t>Understanding the taxability of goods and services also includes knowing whether a good or service is exempted from GST registration. Upon knowing this, applicants can get clarity on several other factors. Essentially, the GST exemption limit for businesses depends on their annual aggregate turnover. </a:t>
            </a:r>
          </a:p>
          <a:p>
            <a:pPr fontAlgn="base"/>
            <a:r>
              <a:rPr lang="en-IN" sz="2400" dirty="0"/>
              <a:t>Previously, businesses with an annual turnover of up to Rs.20 lakhs did not need to register for GST. The amount was Rs.10 lakhs for North-eastern or hilly states like Meghalaya, Sikkim, Mizoram, Arunachal Pradesh, Nagaland, Himachal Pradesh, Manipur, Assam, Tripura, </a:t>
            </a:r>
            <a:r>
              <a:rPr lang="en-IN" sz="2400" dirty="0" err="1"/>
              <a:t>Uttarakhand</a:t>
            </a:r>
            <a:r>
              <a:rPr lang="en-IN" sz="2400" dirty="0"/>
              <a:t>, and Jammu &amp; Kashmir. </a:t>
            </a:r>
          </a:p>
          <a:p>
            <a:pPr fontAlgn="base"/>
            <a:r>
              <a:rPr lang="en-IN" sz="2400" dirty="0"/>
              <a:t>However, as per the GST council meeting on 10th January 2019, the values doubled for Micro, Small, and Medium Enterprises (MSMEs) in both cases. </a:t>
            </a:r>
          </a:p>
          <a:p>
            <a:endParaRPr lang="en-IN" dirty="0"/>
          </a:p>
          <a:p>
            <a:endParaRPr lang="en-IN" dirty="0"/>
          </a:p>
        </p:txBody>
      </p:sp>
    </p:spTree>
    <p:extLst>
      <p:ext uri="{BB962C8B-B14F-4D97-AF65-F5344CB8AC3E}">
        <p14:creationId xmlns:p14="http://schemas.microsoft.com/office/powerpoint/2010/main" val="415718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GST exemption</a:t>
            </a:r>
            <a:endParaRPr lang="en-IN" sz="2600" dirty="0"/>
          </a:p>
        </p:txBody>
      </p:sp>
      <p:sp>
        <p:nvSpPr>
          <p:cNvPr id="7" name="TextBox 6"/>
          <p:cNvSpPr txBox="1"/>
          <p:nvPr/>
        </p:nvSpPr>
        <p:spPr>
          <a:xfrm>
            <a:off x="655927" y="949657"/>
            <a:ext cx="9797143" cy="5078313"/>
          </a:xfrm>
          <a:prstGeom prst="rect">
            <a:avLst/>
          </a:prstGeom>
          <a:noFill/>
        </p:spPr>
        <p:txBody>
          <a:bodyPr wrap="square" rtlCol="0">
            <a:spAutoFit/>
          </a:bodyPr>
          <a:lstStyle/>
          <a:p>
            <a:pPr fontAlgn="base"/>
            <a:r>
              <a:rPr lang="en-IN" sz="2400" b="1" dirty="0"/>
              <a:t>What is a GST exemption?</a:t>
            </a:r>
          </a:p>
          <a:p>
            <a:pPr fontAlgn="base"/>
            <a:r>
              <a:rPr lang="en-IN" sz="2400" dirty="0"/>
              <a:t>Understanding the taxability of goods and services also includes knowing whether a good or service is exempted from GST registration. Upon knowing this, applicants can get clarity on several other factors. Essentially, the GST exemption limit for businesses depends on their annual aggregate turnover. </a:t>
            </a:r>
          </a:p>
          <a:p>
            <a:pPr fontAlgn="base"/>
            <a:r>
              <a:rPr lang="en-IN" sz="2400" dirty="0"/>
              <a:t>Previously, businesses with an annual turnover of up to Rs.20 lakhs did not need to register for GST. The amount was Rs.10 lakhs for North-eastern or hilly states like Meghalaya, Sikkim, Mizoram, Arunachal Pradesh, Nagaland, Himachal Pradesh, Manipur, Assam, Tripura, </a:t>
            </a:r>
            <a:r>
              <a:rPr lang="en-IN" sz="2400" dirty="0" err="1"/>
              <a:t>Uttarakhand</a:t>
            </a:r>
            <a:r>
              <a:rPr lang="en-IN" sz="2400" dirty="0"/>
              <a:t>, and Jammu &amp; Kashmir. </a:t>
            </a:r>
          </a:p>
          <a:p>
            <a:pPr fontAlgn="base"/>
            <a:r>
              <a:rPr lang="en-IN" sz="2400" dirty="0"/>
              <a:t> As per the GST council meeting on 10th January 2019, the values doubled for Micro, Small, and Medium Enterprises (MSMEs) in both cases. </a:t>
            </a:r>
          </a:p>
          <a:p>
            <a:endParaRPr lang="en-IN" dirty="0"/>
          </a:p>
          <a:p>
            <a:endParaRPr lang="en-IN" dirty="0"/>
          </a:p>
        </p:txBody>
      </p:sp>
    </p:spTree>
    <p:extLst>
      <p:ext uri="{BB962C8B-B14F-4D97-AF65-F5344CB8AC3E}">
        <p14:creationId xmlns:p14="http://schemas.microsoft.com/office/powerpoint/2010/main" val="240445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GST exemption</a:t>
            </a:r>
            <a:endParaRPr lang="en-IN" sz="2600" dirty="0"/>
          </a:p>
        </p:txBody>
      </p:sp>
      <p:sp>
        <p:nvSpPr>
          <p:cNvPr id="7" name="TextBox 6"/>
          <p:cNvSpPr txBox="1"/>
          <p:nvPr/>
        </p:nvSpPr>
        <p:spPr>
          <a:xfrm>
            <a:off x="655927" y="949657"/>
            <a:ext cx="9797143" cy="1015663"/>
          </a:xfrm>
          <a:prstGeom prst="rect">
            <a:avLst/>
          </a:prstGeom>
          <a:noFill/>
        </p:spPr>
        <p:txBody>
          <a:bodyPr wrap="square" rtlCol="0">
            <a:spAutoFit/>
          </a:bodyPr>
          <a:lstStyle/>
          <a:p>
            <a:pPr fontAlgn="base"/>
            <a:r>
              <a:rPr lang="en-IN" sz="2400" b="1" dirty="0"/>
              <a:t>What is an exempt supply under GST?</a:t>
            </a:r>
          </a:p>
          <a:p>
            <a:endParaRPr lang="en-IN" dirty="0"/>
          </a:p>
          <a:p>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478643545"/>
              </p:ext>
            </p:extLst>
          </p:nvPr>
        </p:nvGraphicFramePr>
        <p:xfrm>
          <a:off x="1567854" y="1763486"/>
          <a:ext cx="7651102" cy="2394936"/>
        </p:xfrm>
        <a:graphic>
          <a:graphicData uri="http://schemas.openxmlformats.org/drawingml/2006/table">
            <a:tbl>
              <a:tblPr firstRow="1" firstCol="1" bandRow="1">
                <a:tableStyleId>{5C22544A-7EE6-4342-B048-85BDC9FD1C3A}</a:tableStyleId>
              </a:tblPr>
              <a:tblGrid>
                <a:gridCol w="1557901">
                  <a:extLst>
                    <a:ext uri="{9D8B030D-6E8A-4147-A177-3AD203B41FA5}">
                      <a16:colId xmlns:a16="http://schemas.microsoft.com/office/drawing/2014/main" val="3824317450"/>
                    </a:ext>
                  </a:extLst>
                </a:gridCol>
                <a:gridCol w="6093201">
                  <a:extLst>
                    <a:ext uri="{9D8B030D-6E8A-4147-A177-3AD203B41FA5}">
                      <a16:colId xmlns:a16="http://schemas.microsoft.com/office/drawing/2014/main" val="4198717123"/>
                    </a:ext>
                  </a:extLst>
                </a:gridCol>
              </a:tblGrid>
              <a:tr h="268021">
                <a:tc>
                  <a:txBody>
                    <a:bodyPr/>
                    <a:lstStyle/>
                    <a:p>
                      <a:pPr fontAlgn="base">
                        <a:spcAft>
                          <a:spcPts val="0"/>
                        </a:spcAft>
                      </a:pPr>
                      <a:r>
                        <a:rPr lang="en-IN" sz="1800" dirty="0">
                          <a:effectLst/>
                        </a:rPr>
                        <a:t>Supplies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Aft>
                          <a:spcPts val="0"/>
                        </a:spcAft>
                      </a:pPr>
                      <a:r>
                        <a:rPr lang="en-IN" sz="1800">
                          <a:effectLst/>
                        </a:rPr>
                        <a:t>Meaning</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071832964"/>
                  </a:ext>
                </a:extLst>
              </a:tr>
              <a:tr h="326195">
                <a:tc>
                  <a:txBody>
                    <a:bodyPr/>
                    <a:lstStyle/>
                    <a:p>
                      <a:pPr fontAlgn="base">
                        <a:spcBef>
                          <a:spcPts val="375"/>
                        </a:spcBef>
                        <a:spcAft>
                          <a:spcPts val="375"/>
                        </a:spcAft>
                      </a:pPr>
                      <a:r>
                        <a:rPr lang="en-IN" sz="1800" dirty="0">
                          <a:effectLst/>
                        </a:rPr>
                        <a:t>Nil-rated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1800">
                          <a:effectLst/>
                        </a:rPr>
                        <a:t>Supplies that have 0% tax rate. Example: Salt.</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99806278"/>
                  </a:ext>
                </a:extLst>
              </a:tr>
              <a:tr h="571361">
                <a:tc>
                  <a:txBody>
                    <a:bodyPr/>
                    <a:lstStyle/>
                    <a:p>
                      <a:pPr fontAlgn="base">
                        <a:spcBef>
                          <a:spcPts val="375"/>
                        </a:spcBef>
                        <a:spcAft>
                          <a:spcPts val="375"/>
                        </a:spcAft>
                      </a:pPr>
                      <a:r>
                        <a:rPr lang="en-IN" sz="1800" dirty="0">
                          <a:effectLst/>
                        </a:rPr>
                        <a:t>Non-GST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1800">
                          <a:effectLst/>
                        </a:rPr>
                        <a:t>Ones that do not come under the purview of GST law include alcohol for human consumption.</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70691332"/>
                  </a:ext>
                </a:extLst>
              </a:tr>
              <a:tr h="418999">
                <a:tc>
                  <a:txBody>
                    <a:bodyPr/>
                    <a:lstStyle/>
                    <a:p>
                      <a:pPr fontAlgn="base">
                        <a:spcBef>
                          <a:spcPts val="375"/>
                        </a:spcBef>
                        <a:spcAft>
                          <a:spcPts val="375"/>
                        </a:spcAft>
                      </a:pPr>
                      <a:r>
                        <a:rPr lang="en-IN" sz="1800" dirty="0">
                          <a:effectLst/>
                        </a:rPr>
                        <a:t>Zero-rated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1800" dirty="0">
                          <a:effectLst/>
                        </a:rPr>
                        <a:t>Export supplies to SEZ (Special Economic Zone) developers.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24516516"/>
                  </a:ext>
                </a:extLst>
              </a:tr>
              <a:tr h="804061">
                <a:tc>
                  <a:txBody>
                    <a:bodyPr/>
                    <a:lstStyle/>
                    <a:p>
                      <a:pPr fontAlgn="base">
                        <a:spcBef>
                          <a:spcPts val="375"/>
                        </a:spcBef>
                        <a:spcAft>
                          <a:spcPts val="375"/>
                        </a:spcAft>
                      </a:pPr>
                      <a:r>
                        <a:rPr lang="en-IN" sz="1800">
                          <a:effectLst/>
                        </a:rPr>
                        <a:t>Exempt</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1800" dirty="0">
                          <a:effectLst/>
                        </a:rPr>
                        <a:t>Taxable supplies that do not attract GST. Curd, fruits are among some of the supplies.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19423013"/>
                  </a:ext>
                </a:extLst>
              </a:tr>
            </a:tbl>
          </a:graphicData>
        </a:graphic>
      </p:graphicFrame>
    </p:spTree>
    <p:extLst>
      <p:ext uri="{BB962C8B-B14F-4D97-AF65-F5344CB8AC3E}">
        <p14:creationId xmlns:p14="http://schemas.microsoft.com/office/powerpoint/2010/main" val="69627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81403"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1" dirty="0"/>
              <a:t>Types of exemption in GST</a:t>
            </a:r>
          </a:p>
        </p:txBody>
      </p:sp>
      <p:sp>
        <p:nvSpPr>
          <p:cNvPr id="7" name="TextBox 6"/>
          <p:cNvSpPr txBox="1"/>
          <p:nvPr/>
        </p:nvSpPr>
        <p:spPr>
          <a:xfrm>
            <a:off x="569476" y="949657"/>
            <a:ext cx="9797143" cy="3600986"/>
          </a:xfrm>
          <a:prstGeom prst="rect">
            <a:avLst/>
          </a:prstGeom>
          <a:noFill/>
        </p:spPr>
        <p:txBody>
          <a:bodyPr wrap="square" rtlCol="0">
            <a:spAutoFit/>
          </a:bodyPr>
          <a:lstStyle/>
          <a:p>
            <a:pPr marL="285750" lvl="0" indent="-285750" fontAlgn="base">
              <a:buFont typeface="Arial" panose="020B0604020202020204" pitchFamily="34" charset="0"/>
              <a:buChar char="•"/>
            </a:pPr>
            <a:r>
              <a:rPr lang="en-IN" sz="2400" dirty="0"/>
              <a:t>Absolute: Exemptions without any conditions are an absolute exemption. For example, services by the RBI.</a:t>
            </a:r>
          </a:p>
          <a:p>
            <a:pPr marL="285750" lvl="0" indent="-285750" fontAlgn="base">
              <a:buFont typeface="Arial" panose="020B0604020202020204" pitchFamily="34" charset="0"/>
              <a:buChar char="•"/>
            </a:pPr>
            <a:r>
              <a:rPr lang="en-IN" sz="2400" dirty="0"/>
              <a:t>Conditional: Certain conditions are applicable to some exemptions. Services by hotels, clubs, etc., with a statement of accommodation unit less than Rs.1000 per day, fall under a conditional exemption.</a:t>
            </a:r>
          </a:p>
          <a:p>
            <a:pPr marL="285750" lvl="0" indent="-285750" fontAlgn="base">
              <a:buFont typeface="Arial" panose="020B0604020202020204" pitchFamily="34" charset="0"/>
              <a:buChar char="•"/>
            </a:pPr>
            <a:r>
              <a:rPr lang="en-IN" sz="2400" dirty="0"/>
              <a:t>Partial: Unregistered persons supplying goods within states (intrastate) to a registered individual can enjoy tax exemption under reverse charge only if the aggregate value of a supply does not exceed Rs.5000 per day.</a:t>
            </a:r>
          </a:p>
          <a:p>
            <a:endParaRPr lang="en-IN" dirty="0"/>
          </a:p>
          <a:p>
            <a:endParaRPr lang="en-IN" dirty="0"/>
          </a:p>
        </p:txBody>
      </p:sp>
    </p:spTree>
    <p:extLst>
      <p:ext uri="{BB962C8B-B14F-4D97-AF65-F5344CB8AC3E}">
        <p14:creationId xmlns:p14="http://schemas.microsoft.com/office/powerpoint/2010/main" val="3702112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1" dirty="0"/>
              <a:t>GST exemption from registration</a:t>
            </a:r>
          </a:p>
        </p:txBody>
      </p:sp>
      <p:sp>
        <p:nvSpPr>
          <p:cNvPr id="7" name="TextBox 6"/>
          <p:cNvSpPr txBox="1"/>
          <p:nvPr/>
        </p:nvSpPr>
        <p:spPr>
          <a:xfrm>
            <a:off x="690774" y="1229576"/>
            <a:ext cx="9797143" cy="3231654"/>
          </a:xfrm>
          <a:prstGeom prst="rect">
            <a:avLst/>
          </a:prstGeom>
          <a:noFill/>
        </p:spPr>
        <p:txBody>
          <a:bodyPr wrap="square" rtlCol="0">
            <a:spAutoFit/>
          </a:bodyPr>
          <a:lstStyle/>
          <a:p>
            <a:pPr fontAlgn="base"/>
            <a:r>
              <a:rPr lang="en-IN" sz="2400" dirty="0"/>
              <a:t>The following category of taxpayers need not register for GST:</a:t>
            </a:r>
          </a:p>
          <a:p>
            <a:pPr marL="285750" lvl="0" indent="-285750" fontAlgn="base">
              <a:buFont typeface="Arial" panose="020B0604020202020204" pitchFamily="34" charset="0"/>
              <a:buChar char="•"/>
            </a:pPr>
            <a:r>
              <a:rPr lang="en-IN" sz="2400" dirty="0"/>
              <a:t>Individuals belonging to the threshold exemption limit.</a:t>
            </a:r>
          </a:p>
          <a:p>
            <a:pPr marL="285750" lvl="0" indent="-285750" fontAlgn="base">
              <a:buFont typeface="Arial" panose="020B0604020202020204" pitchFamily="34" charset="0"/>
              <a:buChar char="•"/>
            </a:pPr>
            <a:r>
              <a:rPr lang="en-IN" sz="2400" dirty="0"/>
              <a:t>Exempt suppliers of goods and services.</a:t>
            </a:r>
          </a:p>
          <a:p>
            <a:pPr marL="285750" lvl="0" indent="-285750" fontAlgn="base">
              <a:buFont typeface="Arial" panose="020B0604020202020204" pitchFamily="34" charset="0"/>
              <a:buChar char="•"/>
            </a:pPr>
            <a:r>
              <a:rPr lang="en-IN" sz="2400" dirty="0"/>
              <a:t>A person supplying non-GST goods and services.</a:t>
            </a:r>
          </a:p>
          <a:p>
            <a:pPr marL="285750" lvl="0" indent="-285750" fontAlgn="base">
              <a:buFont typeface="Arial" panose="020B0604020202020204" pitchFamily="34" charset="0"/>
              <a:buChar char="•"/>
            </a:pPr>
            <a:r>
              <a:rPr lang="en-IN" sz="2400" dirty="0"/>
              <a:t>Taxpayers engaging in activities other than the supply of goods or services.</a:t>
            </a:r>
          </a:p>
          <a:p>
            <a:pPr marL="285750" lvl="0" indent="-285750" fontAlgn="base">
              <a:buFont typeface="Arial" panose="020B0604020202020204" pitchFamily="34" charset="0"/>
              <a:buChar char="•"/>
            </a:pPr>
            <a:r>
              <a:rPr lang="en-IN" sz="2400" dirty="0"/>
              <a:t>Agriculturists.</a:t>
            </a:r>
          </a:p>
          <a:p>
            <a:pPr marL="285750" lvl="0" indent="-285750" fontAlgn="base">
              <a:buFont typeface="Arial" panose="020B0604020202020204" pitchFamily="34" charset="0"/>
              <a:buChar char="•"/>
            </a:pPr>
            <a:r>
              <a:rPr lang="en-IN" sz="2400" dirty="0"/>
              <a:t>Ones supplying goods covered under reverse charge.</a:t>
            </a:r>
          </a:p>
          <a:p>
            <a:endParaRPr lang="en-IN" dirty="0"/>
          </a:p>
          <a:p>
            <a:endParaRPr lang="en-IN" dirty="0"/>
          </a:p>
        </p:txBody>
      </p:sp>
    </p:spTree>
    <p:extLst>
      <p:ext uri="{BB962C8B-B14F-4D97-AF65-F5344CB8AC3E}">
        <p14:creationId xmlns:p14="http://schemas.microsoft.com/office/powerpoint/2010/main" val="325520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b="1" dirty="0"/>
              <a:t>Exempted goods under GST</a:t>
            </a:r>
          </a:p>
        </p:txBody>
      </p:sp>
      <p:sp>
        <p:nvSpPr>
          <p:cNvPr id="7" name="TextBox 6"/>
          <p:cNvSpPr txBox="1"/>
          <p:nvPr/>
        </p:nvSpPr>
        <p:spPr>
          <a:xfrm>
            <a:off x="690774" y="1229576"/>
            <a:ext cx="9797143" cy="4801314"/>
          </a:xfrm>
          <a:prstGeom prst="rect">
            <a:avLst/>
          </a:prstGeom>
          <a:noFill/>
        </p:spPr>
        <p:txBody>
          <a:bodyPr wrap="square" rtlCol="0">
            <a:spAutoFit/>
          </a:bodyPr>
          <a:lstStyle/>
          <a:p>
            <a:pPr fontAlgn="base"/>
            <a:r>
              <a:rPr lang="en-IN" sz="2400" dirty="0"/>
              <a:t>In the following section, you will find a list of the GST exempted goods in India:</a:t>
            </a:r>
          </a:p>
          <a:p>
            <a:pPr marL="342900" lvl="0" indent="-342900" fontAlgn="base">
              <a:buFont typeface="Arial" panose="020B0604020202020204" pitchFamily="34" charset="0"/>
              <a:buChar char="•"/>
            </a:pPr>
            <a:r>
              <a:rPr lang="en-IN" sz="2400" dirty="0"/>
              <a:t>Fresh and dry vegetables like potatoes, onions, and other leguminous vegetables.</a:t>
            </a:r>
          </a:p>
          <a:p>
            <a:pPr marL="342900" lvl="0" indent="-342900" fontAlgn="base">
              <a:buFont typeface="Arial" panose="020B0604020202020204" pitchFamily="34" charset="0"/>
              <a:buChar char="•"/>
            </a:pPr>
            <a:r>
              <a:rPr lang="en-IN" sz="2400" dirty="0"/>
              <a:t>Non-GST goods include fish, egg, fresh milk, etc.</a:t>
            </a:r>
          </a:p>
          <a:p>
            <a:pPr marL="342900" lvl="0" indent="-342900" fontAlgn="base">
              <a:buFont typeface="Arial" panose="020B0604020202020204" pitchFamily="34" charset="0"/>
              <a:buChar char="•"/>
            </a:pPr>
            <a:r>
              <a:rPr lang="en-IN" sz="2400" dirty="0"/>
              <a:t>Grapes, melons, ginger, garlic, unroasted coffee beans, green tea leaves that are not processed, and more.</a:t>
            </a:r>
          </a:p>
          <a:p>
            <a:pPr marL="342900" lvl="0" indent="-342900" fontAlgn="base">
              <a:buFont typeface="Arial" panose="020B0604020202020204" pitchFamily="34" charset="0"/>
              <a:buChar char="•"/>
            </a:pPr>
            <a:r>
              <a:rPr lang="en-IN" sz="2400" dirty="0"/>
              <a:t>Food items that are not put into branded containers like rice, hulled cereal grains, wheat, corn, etc.</a:t>
            </a:r>
          </a:p>
          <a:p>
            <a:pPr marL="342900" lvl="0" indent="-342900" fontAlgn="base">
              <a:buFont typeface="Arial" panose="020B0604020202020204" pitchFamily="34" charset="0"/>
              <a:buChar char="•"/>
            </a:pPr>
            <a:r>
              <a:rPr lang="en-IN" sz="2400" dirty="0"/>
              <a:t>Components like human blood.</a:t>
            </a:r>
          </a:p>
          <a:p>
            <a:pPr marL="342900" lvl="0" indent="-342900" fontAlgn="base">
              <a:buFont typeface="Arial" panose="020B0604020202020204" pitchFamily="34" charset="0"/>
              <a:buChar char="•"/>
            </a:pPr>
            <a:r>
              <a:rPr lang="en-IN" sz="2400" dirty="0"/>
              <a:t>Unspun jute fibres, raw silk, </a:t>
            </a:r>
            <a:r>
              <a:rPr lang="en-IN" sz="2400" dirty="0" err="1"/>
              <a:t>khadi</a:t>
            </a:r>
            <a:r>
              <a:rPr lang="en-IN" sz="2400" dirty="0"/>
              <a:t> fibre, etc.</a:t>
            </a:r>
          </a:p>
          <a:p>
            <a:pPr marL="342900" lvl="0" indent="-342900" fontAlgn="base">
              <a:buFont typeface="Arial" panose="020B0604020202020204" pitchFamily="34" charset="0"/>
              <a:buChar char="•"/>
            </a:pPr>
            <a:r>
              <a:rPr lang="en-IN" sz="2400" dirty="0"/>
              <a:t>Hearing aid manufacturing parts, chalks, slates, handloom, etc.</a:t>
            </a:r>
          </a:p>
          <a:p>
            <a:endParaRPr lang="en-IN" dirty="0"/>
          </a:p>
        </p:txBody>
      </p:sp>
    </p:spTree>
    <p:extLst>
      <p:ext uri="{BB962C8B-B14F-4D97-AF65-F5344CB8AC3E}">
        <p14:creationId xmlns:p14="http://schemas.microsoft.com/office/powerpoint/2010/main" val="184464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b="1" dirty="0"/>
              <a:t>Exempted services under GST</a:t>
            </a:r>
          </a:p>
        </p:txBody>
      </p:sp>
      <p:sp>
        <p:nvSpPr>
          <p:cNvPr id="7" name="TextBox 6"/>
          <p:cNvSpPr txBox="1"/>
          <p:nvPr/>
        </p:nvSpPr>
        <p:spPr>
          <a:xfrm>
            <a:off x="672113" y="995177"/>
            <a:ext cx="9797143" cy="5293757"/>
          </a:xfrm>
          <a:prstGeom prst="rect">
            <a:avLst/>
          </a:prstGeom>
          <a:noFill/>
        </p:spPr>
        <p:txBody>
          <a:bodyPr wrap="square" rtlCol="0">
            <a:spAutoFit/>
          </a:bodyPr>
          <a:lstStyle/>
          <a:p>
            <a:pPr fontAlgn="base"/>
            <a:r>
              <a:rPr lang="en-IN" sz="2000" dirty="0"/>
              <a:t>A number of services qualify for GST exemption. Here is a GST exemption list of services for your reference:</a:t>
            </a:r>
          </a:p>
          <a:p>
            <a:pPr lvl="0" fontAlgn="base"/>
            <a:r>
              <a:rPr lang="en-IN" sz="2000" dirty="0"/>
              <a:t>Agricultural services, including harvesting, packaging, warehouse, cultivation, supply, leasing of machinery, are essentially GST exempt services. An exception to these exempted services includes the rearing of horses.</a:t>
            </a:r>
          </a:p>
          <a:p>
            <a:pPr lvl="0" fontAlgn="base"/>
            <a:r>
              <a:rPr lang="en-IN" sz="2000" dirty="0"/>
              <a:t>Public transportation services, auto-rickshaws, metered cabs, metro, etc.</a:t>
            </a:r>
          </a:p>
          <a:p>
            <a:pPr lvl="0" fontAlgn="base"/>
            <a:r>
              <a:rPr lang="en-IN" sz="2000" dirty="0"/>
              <a:t>Transportation of agricultural products and goods outside of India.</a:t>
            </a:r>
          </a:p>
          <a:p>
            <a:pPr lvl="0" fontAlgn="base"/>
            <a:r>
              <a:rPr lang="en-IN" sz="2000" dirty="0"/>
              <a:t>Labour supply for farms.</a:t>
            </a:r>
          </a:p>
          <a:p>
            <a:pPr lvl="0" fontAlgn="base"/>
            <a:r>
              <a:rPr lang="en-IN" sz="2000" dirty="0"/>
              <a:t>Goods transportation where the charges are less than Rs.1500.</a:t>
            </a:r>
          </a:p>
          <a:p>
            <a:pPr lvl="0" fontAlgn="base"/>
            <a:r>
              <a:rPr lang="en-IN" sz="2000" dirty="0"/>
              <a:t>Services like retail packing, pre-conditioning, etc.</a:t>
            </a:r>
          </a:p>
          <a:p>
            <a:pPr lvl="0" fontAlgn="base"/>
            <a:r>
              <a:rPr lang="en-IN" sz="2000" dirty="0"/>
              <a:t>Foreign diplomatic and government services.</a:t>
            </a:r>
          </a:p>
          <a:p>
            <a:pPr lvl="0" fontAlgn="base"/>
            <a:r>
              <a:rPr lang="en-IN" sz="2000" dirty="0"/>
              <a:t>Healthcare and educational services like mid-day meal catering, VET clinics, paramedics, etc. Ambulance and charity services also qualify for exemption under GST.</a:t>
            </a:r>
          </a:p>
          <a:p>
            <a:pPr lvl="0" fontAlgn="base"/>
            <a:r>
              <a:rPr lang="en-IN" sz="2000" dirty="0"/>
              <a:t>Services offered by RBI, IRDAI, Central and State Government, NPS and more.</a:t>
            </a:r>
          </a:p>
          <a:p>
            <a:pPr lvl="0" fontAlgn="base"/>
            <a:r>
              <a:rPr lang="en-IN" sz="2000" dirty="0"/>
              <a:t>Banking services like Basic Saving Bank Deposit (BSBD) account operable under the Pradhan Mantri Jan-</a:t>
            </a:r>
            <a:r>
              <a:rPr lang="en-IN" sz="2000" dirty="0" err="1"/>
              <a:t>Dhan</a:t>
            </a:r>
            <a:r>
              <a:rPr lang="en-IN" sz="2000" dirty="0"/>
              <a:t> </a:t>
            </a:r>
            <a:r>
              <a:rPr lang="en-IN" sz="2000" dirty="0" err="1"/>
              <a:t>Yojana</a:t>
            </a:r>
            <a:r>
              <a:rPr lang="en-IN" sz="2000" dirty="0"/>
              <a:t> (PMJDY).</a:t>
            </a:r>
          </a:p>
          <a:p>
            <a:endParaRPr lang="en-IN" dirty="0"/>
          </a:p>
        </p:txBody>
      </p:sp>
    </p:spTree>
    <p:extLst>
      <p:ext uri="{BB962C8B-B14F-4D97-AF65-F5344CB8AC3E}">
        <p14:creationId xmlns:p14="http://schemas.microsoft.com/office/powerpoint/2010/main" val="396709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b="1" dirty="0"/>
              <a:t>Reasons for exemption under GST</a:t>
            </a:r>
            <a:endParaRPr lang="en-IN" sz="3400" dirty="0"/>
          </a:p>
        </p:txBody>
      </p:sp>
      <p:sp>
        <p:nvSpPr>
          <p:cNvPr id="7" name="TextBox 6"/>
          <p:cNvSpPr txBox="1"/>
          <p:nvPr/>
        </p:nvSpPr>
        <p:spPr>
          <a:xfrm>
            <a:off x="672113" y="995177"/>
            <a:ext cx="9797143" cy="5170646"/>
          </a:xfrm>
          <a:prstGeom prst="rect">
            <a:avLst/>
          </a:prstGeom>
          <a:noFill/>
        </p:spPr>
        <p:txBody>
          <a:bodyPr wrap="square" rtlCol="0">
            <a:spAutoFit/>
          </a:bodyPr>
          <a:lstStyle/>
          <a:p>
            <a:pPr fontAlgn="base"/>
            <a:r>
              <a:rPr lang="en-IN" sz="2400" dirty="0"/>
              <a:t>The government decides on exempting goods from registering under GST in the following cases:</a:t>
            </a:r>
          </a:p>
          <a:p>
            <a:pPr marL="342900" lvl="0" indent="-342900" fontAlgn="base">
              <a:buFont typeface="Arial" panose="020B0604020202020204" pitchFamily="34" charset="0"/>
              <a:buChar char="•"/>
            </a:pPr>
            <a:r>
              <a:rPr lang="en-IN" sz="2400" dirty="0"/>
              <a:t>In case the GST council recommends the exemption.</a:t>
            </a:r>
          </a:p>
          <a:p>
            <a:pPr marL="342900" lvl="0" indent="-342900" fontAlgn="base">
              <a:buFont typeface="Arial" panose="020B0604020202020204" pitchFamily="34" charset="0"/>
              <a:buChar char="•"/>
            </a:pPr>
            <a:r>
              <a:rPr lang="en-IN" sz="2400" dirty="0"/>
              <a:t>The government might find certain exemptions from GST registration to be beneficial for the public.</a:t>
            </a:r>
          </a:p>
          <a:p>
            <a:pPr marL="342900" lvl="0" indent="-342900" fontAlgn="base">
              <a:buFont typeface="Arial" panose="020B0604020202020204" pitchFamily="34" charset="0"/>
              <a:buChar char="•"/>
            </a:pPr>
            <a:r>
              <a:rPr lang="en-IN" sz="2400" dirty="0"/>
              <a:t>Under exceptional or unforeseen situations, the government might grant exemption by special order.</a:t>
            </a:r>
          </a:p>
          <a:p>
            <a:pPr marL="342900" lvl="0" indent="-342900" fontAlgn="base">
              <a:buFont typeface="Arial" panose="020B0604020202020204" pitchFamily="34" charset="0"/>
              <a:buChar char="•"/>
            </a:pPr>
            <a:r>
              <a:rPr lang="en-IN" sz="2400" dirty="0"/>
              <a:t>Upon providing official notification, one can supply specific goods under a full exemption.</a:t>
            </a:r>
          </a:p>
          <a:p>
            <a:pPr marL="342900" indent="-342900" fontAlgn="base">
              <a:buFont typeface="Arial" panose="020B0604020202020204" pitchFamily="34" charset="0"/>
              <a:buChar char="•"/>
            </a:pPr>
            <a:r>
              <a:rPr lang="en-IN" sz="2400" dirty="0"/>
              <a:t>Therefore, from the points mentioned above, it is evident that several sectors can qualify for a GST exemption provided they fulfil some prerequisites. Knowing those </a:t>
            </a:r>
            <a:r>
              <a:rPr lang="en-IN" sz="2400" dirty="0" err="1"/>
              <a:t>criterias</a:t>
            </a:r>
            <a:r>
              <a:rPr lang="en-IN" sz="2400" dirty="0"/>
              <a:t> in detail will help a taxpayer to register under GST without any hassle.</a:t>
            </a:r>
          </a:p>
          <a:p>
            <a:endParaRPr lang="en-IN" dirty="0"/>
          </a:p>
        </p:txBody>
      </p:sp>
    </p:spTree>
    <p:extLst>
      <p:ext uri="{BB962C8B-B14F-4D97-AF65-F5344CB8AC3E}">
        <p14:creationId xmlns:p14="http://schemas.microsoft.com/office/powerpoint/2010/main" val="336734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800" b="1" dirty="0"/>
              <a:t>GST exemption for start-ups and small businesses</a:t>
            </a:r>
          </a:p>
        </p:txBody>
      </p:sp>
      <p:sp>
        <p:nvSpPr>
          <p:cNvPr id="7" name="TextBox 6"/>
          <p:cNvSpPr txBox="1"/>
          <p:nvPr/>
        </p:nvSpPr>
        <p:spPr>
          <a:xfrm>
            <a:off x="672113" y="995177"/>
            <a:ext cx="9797143" cy="5539978"/>
          </a:xfrm>
          <a:prstGeom prst="rect">
            <a:avLst/>
          </a:prstGeom>
          <a:noFill/>
        </p:spPr>
        <p:txBody>
          <a:bodyPr wrap="square" rtlCol="0">
            <a:spAutoFit/>
          </a:bodyPr>
          <a:lstStyle/>
          <a:p>
            <a:pPr fontAlgn="base"/>
            <a:r>
              <a:rPr lang="en-IN" sz="2400" dirty="0"/>
              <a:t>Individuals aspiring to start a business can benefit greatly from the latest regulations of the GST scheme. Here are a few pointers to keep in mind regarding GST exemption for start-ups.</a:t>
            </a:r>
          </a:p>
          <a:p>
            <a:pPr marL="285750" lvl="0" indent="-285750" fontAlgn="base">
              <a:buFont typeface="Arial" panose="020B0604020202020204" pitchFamily="34" charset="0"/>
              <a:buChar char="•"/>
            </a:pPr>
            <a:r>
              <a:rPr lang="en-IN" sz="2400" dirty="0"/>
              <a:t>Any business with a turnover of less than Rs.40 lakhs is recognised as a GST-exempt business.</a:t>
            </a:r>
          </a:p>
          <a:p>
            <a:pPr marL="285750" lvl="0" indent="-285750" fontAlgn="base">
              <a:buFont typeface="Arial" panose="020B0604020202020204" pitchFamily="34" charset="0"/>
              <a:buChar char="•"/>
            </a:pPr>
            <a:r>
              <a:rPr lang="en-IN" sz="2400" dirty="0"/>
              <a:t>Businesses that have a lower annual aggregate turnover than Rs.1.5 crores can avail of a composition scheme under GST. The scheme allows individuals to pay taxes at a fixed rate depending on the turnover amount. The rate may vary between 1-6%.</a:t>
            </a:r>
          </a:p>
          <a:p>
            <a:pPr marL="285750" lvl="0" indent="-285750" fontAlgn="base">
              <a:buFont typeface="Arial" panose="020B0604020202020204" pitchFamily="34" charset="0"/>
              <a:buChar char="•"/>
            </a:pPr>
            <a:r>
              <a:rPr lang="en-IN" sz="2400" dirty="0"/>
              <a:t>Also, small businesses are exempted from e-invoicing under GST. However, businesses with a turnover of more than Rs.50 crores have to apply for e-invoicing mandatorily.</a:t>
            </a:r>
          </a:p>
          <a:p>
            <a:pPr marL="285750" lvl="0" indent="-285750" fontAlgn="base">
              <a:buFont typeface="Arial" panose="020B0604020202020204" pitchFamily="34" charset="0"/>
              <a:buChar char="•"/>
            </a:pPr>
            <a:r>
              <a:rPr lang="en-IN" sz="2400" dirty="0"/>
              <a:t>Small businesses with an income below Rs.5 crores can opt for a quarterly filing system.</a:t>
            </a:r>
          </a:p>
          <a:p>
            <a:endParaRPr lang="en-IN" dirty="0"/>
          </a:p>
        </p:txBody>
      </p:sp>
    </p:spTree>
    <p:extLst>
      <p:ext uri="{BB962C8B-B14F-4D97-AF65-F5344CB8AC3E}">
        <p14:creationId xmlns:p14="http://schemas.microsoft.com/office/powerpoint/2010/main" val="65139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800" b="1" dirty="0"/>
              <a:t>GST exemption for start-ups and small businesses</a:t>
            </a:r>
          </a:p>
        </p:txBody>
      </p:sp>
      <p:sp>
        <p:nvSpPr>
          <p:cNvPr id="7" name="TextBox 6"/>
          <p:cNvSpPr txBox="1"/>
          <p:nvPr/>
        </p:nvSpPr>
        <p:spPr>
          <a:xfrm>
            <a:off x="672113" y="995177"/>
            <a:ext cx="9797143" cy="5539978"/>
          </a:xfrm>
          <a:prstGeom prst="rect">
            <a:avLst/>
          </a:prstGeom>
          <a:noFill/>
        </p:spPr>
        <p:txBody>
          <a:bodyPr wrap="square" rtlCol="0">
            <a:spAutoFit/>
          </a:bodyPr>
          <a:lstStyle/>
          <a:p>
            <a:pPr fontAlgn="base"/>
            <a:r>
              <a:rPr lang="en-IN" sz="2400" dirty="0"/>
              <a:t>Individuals aspiring to start a business can benefit greatly from the latest regulations of the GST scheme. Here are a few pointers to keep in mind regarding GST exemption for start-ups.</a:t>
            </a:r>
          </a:p>
          <a:p>
            <a:pPr marL="285750" lvl="0" indent="-285750" fontAlgn="base">
              <a:buFont typeface="Arial" panose="020B0604020202020204" pitchFamily="34" charset="0"/>
              <a:buChar char="•"/>
            </a:pPr>
            <a:r>
              <a:rPr lang="en-IN" sz="2400" dirty="0"/>
              <a:t>Any business with a turnover of less than Rs.40 lakhs is recognised as a GST-exempt business.</a:t>
            </a:r>
          </a:p>
          <a:p>
            <a:pPr marL="285750" lvl="0" indent="-285750" fontAlgn="base">
              <a:buFont typeface="Arial" panose="020B0604020202020204" pitchFamily="34" charset="0"/>
              <a:buChar char="•"/>
            </a:pPr>
            <a:r>
              <a:rPr lang="en-IN" sz="2400" dirty="0"/>
              <a:t>Businesses that have a lower annual aggregate turnover than Rs.1.5 crores can avail of a composition scheme under GST. The scheme allows individuals to pay taxes at a fixed rate depending on the turnover amount. The rate may vary between 1-6%.</a:t>
            </a:r>
          </a:p>
          <a:p>
            <a:pPr marL="285750" lvl="0" indent="-285750" fontAlgn="base">
              <a:buFont typeface="Arial" panose="020B0604020202020204" pitchFamily="34" charset="0"/>
              <a:buChar char="•"/>
            </a:pPr>
            <a:r>
              <a:rPr lang="en-IN" sz="2400" dirty="0"/>
              <a:t>Also, small businesses are exempted from e-invoicing under GST. However, businesses with a turnover of more than Rs.50 crores have to apply for e-invoicing mandatorily.</a:t>
            </a:r>
          </a:p>
          <a:p>
            <a:pPr marL="285750" lvl="0" indent="-285750" fontAlgn="base">
              <a:buFont typeface="Arial" panose="020B0604020202020204" pitchFamily="34" charset="0"/>
              <a:buChar char="•"/>
            </a:pPr>
            <a:r>
              <a:rPr lang="en-IN" sz="2400" dirty="0"/>
              <a:t>Small businesses with an income below Rs.5 crores can opt for a quarterly filing system.</a:t>
            </a:r>
          </a:p>
          <a:p>
            <a:endParaRPr lang="en-IN" dirty="0"/>
          </a:p>
        </p:txBody>
      </p:sp>
    </p:spTree>
    <p:extLst>
      <p:ext uri="{BB962C8B-B14F-4D97-AF65-F5344CB8AC3E}">
        <p14:creationId xmlns:p14="http://schemas.microsoft.com/office/powerpoint/2010/main" val="140138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
        <p:nvSpPr>
          <p:cNvPr id="7" name="TextBox 6"/>
          <p:cNvSpPr txBox="1"/>
          <p:nvPr/>
        </p:nvSpPr>
        <p:spPr>
          <a:xfrm>
            <a:off x="672113" y="995177"/>
            <a:ext cx="9797143" cy="4062651"/>
          </a:xfrm>
          <a:prstGeom prst="rect">
            <a:avLst/>
          </a:prstGeom>
          <a:noFill/>
        </p:spPr>
        <p:txBody>
          <a:bodyPr wrap="square" rtlCol="0">
            <a:spAutoFit/>
          </a:bodyPr>
          <a:lstStyle/>
          <a:p>
            <a:r>
              <a:rPr lang="en-IN" sz="2400" dirty="0"/>
              <a:t>Composition Scheme is a simple and easy scheme under GST for taxpayers. Small taxpayers can get rid of tedious GST formalities and pay GST at a fixed rate of turnover. This scheme can be opted by any taxpayer whose turnover is less than Rs. 1.5 crore*.</a:t>
            </a:r>
          </a:p>
          <a:p>
            <a:r>
              <a:rPr lang="en-IN" sz="2400" dirty="0"/>
              <a:t>Who cannot opt for Composition Scheme</a:t>
            </a:r>
          </a:p>
          <a:p>
            <a:r>
              <a:rPr lang="en-IN" sz="2400" dirty="0"/>
              <a:t>The following people cannot opt for the scheme-</a:t>
            </a:r>
          </a:p>
          <a:p>
            <a:pPr lvl="0"/>
            <a:r>
              <a:rPr lang="en-IN" sz="2400" dirty="0"/>
              <a:t>Manufacturer of ice cream, pan masala, or tobacco</a:t>
            </a:r>
          </a:p>
          <a:p>
            <a:pPr lvl="0"/>
            <a:r>
              <a:rPr lang="en-IN" sz="2400" dirty="0"/>
              <a:t>A person making inter-state supplies</a:t>
            </a:r>
          </a:p>
          <a:p>
            <a:pPr lvl="0"/>
            <a:r>
              <a:rPr lang="en-IN" sz="2400" dirty="0"/>
              <a:t>A casual taxable person or a non-resident taxable person</a:t>
            </a:r>
          </a:p>
          <a:p>
            <a:pPr lvl="0"/>
            <a:r>
              <a:rPr lang="en-IN" sz="2400" dirty="0"/>
              <a:t>Businesses which supply goods through an e-commerce operator</a:t>
            </a:r>
          </a:p>
          <a:p>
            <a:endParaRPr lang="en-IN" dirty="0"/>
          </a:p>
        </p:txBody>
      </p:sp>
    </p:spTree>
    <p:extLst>
      <p:ext uri="{BB962C8B-B14F-4D97-AF65-F5344CB8AC3E}">
        <p14:creationId xmlns:p14="http://schemas.microsoft.com/office/powerpoint/2010/main" val="657935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
        <p:nvSpPr>
          <p:cNvPr id="7" name="TextBox 6"/>
          <p:cNvSpPr txBox="1"/>
          <p:nvPr/>
        </p:nvSpPr>
        <p:spPr>
          <a:xfrm>
            <a:off x="672113" y="995177"/>
            <a:ext cx="9797143" cy="5816977"/>
          </a:xfrm>
          <a:prstGeom prst="rect">
            <a:avLst/>
          </a:prstGeom>
          <a:noFill/>
        </p:spPr>
        <p:txBody>
          <a:bodyPr wrap="square" rtlCol="0">
            <a:spAutoFit/>
          </a:bodyPr>
          <a:lstStyle/>
          <a:p>
            <a:r>
              <a:rPr lang="en-IN" sz="2100" dirty="0"/>
              <a:t>What are the conditions for availing Composition Scheme?</a:t>
            </a:r>
          </a:p>
          <a:p>
            <a:r>
              <a:rPr lang="en-IN" sz="2100" dirty="0"/>
              <a:t>The following </a:t>
            </a:r>
            <a:r>
              <a:rPr lang="en-IN" sz="2100" dirty="0">
                <a:solidFill>
                  <a:srgbClr val="FF0000"/>
                </a:solidFill>
              </a:rPr>
              <a:t>conditions</a:t>
            </a:r>
            <a:r>
              <a:rPr lang="en-IN" sz="2100" dirty="0"/>
              <a:t> must be satisfied in order to opt for composition scheme:</a:t>
            </a:r>
          </a:p>
          <a:p>
            <a:pPr marL="285750" lvl="0" indent="-285750">
              <a:buFont typeface="Arial" panose="020B0604020202020204" pitchFamily="34" charset="0"/>
              <a:buChar char="•"/>
            </a:pPr>
            <a:r>
              <a:rPr lang="en-IN" sz="2100" dirty="0"/>
              <a:t>No Input Tax Credit can be claimed by a dealer opting for composition scheme</a:t>
            </a:r>
          </a:p>
          <a:p>
            <a:pPr marL="285750" lvl="0" indent="-285750">
              <a:buFont typeface="Arial" panose="020B0604020202020204" pitchFamily="34" charset="0"/>
              <a:buChar char="•"/>
            </a:pPr>
            <a:r>
              <a:rPr lang="en-IN" sz="2100" dirty="0"/>
              <a:t>The dealer cannot supply goods not taxable under GST such as alcohol.</a:t>
            </a:r>
          </a:p>
          <a:p>
            <a:pPr marL="285750" lvl="0" indent="-285750">
              <a:buFont typeface="Arial" panose="020B0604020202020204" pitchFamily="34" charset="0"/>
              <a:buChar char="•"/>
            </a:pPr>
            <a:r>
              <a:rPr lang="en-IN" sz="2100" dirty="0"/>
              <a:t>The taxpayer has to pay tax at normal rates for transactions under the Reverse Charge Mechanism</a:t>
            </a:r>
          </a:p>
          <a:p>
            <a:pPr marL="285750" lvl="0" indent="-285750">
              <a:buFont typeface="Arial" panose="020B0604020202020204" pitchFamily="34" charset="0"/>
              <a:buChar char="•"/>
            </a:pPr>
            <a:r>
              <a:rPr lang="en-IN" sz="2100" dirty="0"/>
              <a:t>If a taxable person has different segments of businesses (such as textile, electronic accessories, groceries, etc.) under the same PAN, they must register all such businesses under the scheme collectively or opt out of the scheme.</a:t>
            </a:r>
          </a:p>
          <a:p>
            <a:pPr marL="285750" lvl="0" indent="-285750">
              <a:buFont typeface="Arial" panose="020B0604020202020204" pitchFamily="34" charset="0"/>
              <a:buChar char="•"/>
            </a:pPr>
            <a:r>
              <a:rPr lang="en-IN" sz="2100" dirty="0"/>
              <a:t>The taxpayer has to mention the words ‘composition taxable person’ on every notice or signboard displayed prominently at their place of business.</a:t>
            </a:r>
          </a:p>
          <a:p>
            <a:pPr marL="285750" lvl="0" indent="-285750">
              <a:buFont typeface="Arial" panose="020B0604020202020204" pitchFamily="34" charset="0"/>
              <a:buChar char="•"/>
            </a:pPr>
            <a:r>
              <a:rPr lang="en-IN" sz="2100" dirty="0"/>
              <a:t>The taxpayer has to mention the words ‘composition taxable person’ on every bill of supply issued by him.</a:t>
            </a:r>
          </a:p>
          <a:p>
            <a:pPr marL="285750" lvl="0" indent="-285750">
              <a:buFont typeface="Arial" panose="020B0604020202020204" pitchFamily="34" charset="0"/>
              <a:buChar char="•"/>
            </a:pPr>
            <a:r>
              <a:rPr lang="en-IN" sz="2100" dirty="0"/>
              <a:t>As per the CGST (Amendment) Act, 2018, a manufacturer or trader can now also supply services to an extent of ten percent of turnover, or Rs.5 lakhs, whichever is higher. This amendment will be applicable from the 1st of Feb, 2019.</a:t>
            </a:r>
          </a:p>
          <a:p>
            <a:pPr lvl="0"/>
            <a:endParaRPr lang="en-IN" dirty="0"/>
          </a:p>
          <a:p>
            <a:endParaRPr lang="en-IN" dirty="0"/>
          </a:p>
        </p:txBody>
      </p:sp>
    </p:spTree>
    <p:extLst>
      <p:ext uri="{BB962C8B-B14F-4D97-AF65-F5344CB8AC3E}">
        <p14:creationId xmlns:p14="http://schemas.microsoft.com/office/powerpoint/2010/main" val="185733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sz="2200" dirty="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
        <p:nvSpPr>
          <p:cNvPr id="7" name="TextBox 6"/>
          <p:cNvSpPr txBox="1"/>
          <p:nvPr/>
        </p:nvSpPr>
        <p:spPr>
          <a:xfrm>
            <a:off x="672113" y="995177"/>
            <a:ext cx="9797143" cy="646331"/>
          </a:xfrm>
          <a:prstGeom prst="rect">
            <a:avLst/>
          </a:prstGeom>
          <a:noFill/>
        </p:spPr>
        <p:txBody>
          <a:bodyPr wrap="square" rtlCol="0">
            <a:spAutoFit/>
          </a:bodyPr>
          <a:lstStyle/>
          <a:p>
            <a:pPr lvl="0"/>
            <a:endParaRPr lang="en-IN" dirty="0"/>
          </a:p>
          <a:p>
            <a:endParaRPr lang="en-IN" dirty="0"/>
          </a:p>
        </p:txBody>
      </p:sp>
      <p:pic>
        <p:nvPicPr>
          <p:cNvPr id="6" name="Picture 5" descr="https://2.bp.blogspot.com/-hTfLI3sSLgY/W6Cg82eMo2I/AAAAAAAAE6g/2RBsEUCuo6MC_7gUEHrY2X9iIP4QXJqwACLcBGAs/s1600/Composition%2BLevy%2BScheme%2Bin%2BGST.png"/>
          <p:cNvPicPr/>
          <p:nvPr/>
        </p:nvPicPr>
        <p:blipFill>
          <a:blip r:embed="rId3">
            <a:extLst>
              <a:ext uri="{28A0092B-C50C-407E-A947-70E740481C1C}">
                <a14:useLocalDpi xmlns:a14="http://schemas.microsoft.com/office/drawing/2010/main" val="0"/>
              </a:ext>
            </a:extLst>
          </a:blip>
          <a:srcRect/>
          <a:stretch>
            <a:fillRect/>
          </a:stretch>
        </p:blipFill>
        <p:spPr bwMode="auto">
          <a:xfrm>
            <a:off x="1567543" y="1147665"/>
            <a:ext cx="7188789" cy="3680875"/>
          </a:xfrm>
          <a:prstGeom prst="rect">
            <a:avLst/>
          </a:prstGeom>
          <a:noFill/>
          <a:ln>
            <a:noFill/>
          </a:ln>
        </p:spPr>
      </p:pic>
    </p:spTree>
    <p:extLst>
      <p:ext uri="{BB962C8B-B14F-4D97-AF65-F5344CB8AC3E}">
        <p14:creationId xmlns:p14="http://schemas.microsoft.com/office/powerpoint/2010/main" val="21141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2400" dirty="0">
                <a:solidFill>
                  <a:schemeClr val="tx1"/>
                </a:solidFill>
              </a:rPr>
              <a:t>What are the advantages of Composition Scheme?</a:t>
            </a:r>
          </a:p>
          <a:p>
            <a:r>
              <a:rPr lang="en-IN" sz="2400" dirty="0">
                <a:solidFill>
                  <a:schemeClr val="tx1"/>
                </a:solidFill>
              </a:rPr>
              <a:t>The following are the </a:t>
            </a:r>
            <a:r>
              <a:rPr lang="en-IN" sz="2400" dirty="0">
                <a:solidFill>
                  <a:srgbClr val="FF0000"/>
                </a:solidFill>
              </a:rPr>
              <a:t>advantages</a:t>
            </a:r>
            <a:r>
              <a:rPr lang="en-IN" sz="2400" dirty="0">
                <a:solidFill>
                  <a:schemeClr val="tx1"/>
                </a:solidFill>
              </a:rPr>
              <a:t> of registering under composition scheme:</a:t>
            </a:r>
          </a:p>
          <a:p>
            <a:pPr lvl="0"/>
            <a:r>
              <a:rPr lang="en-IN" sz="2400" dirty="0">
                <a:solidFill>
                  <a:schemeClr val="tx1"/>
                </a:solidFill>
              </a:rPr>
              <a:t>Lesser compliance (returns, maintaining books of record, issuance of invoices)</a:t>
            </a:r>
          </a:p>
          <a:p>
            <a:pPr lvl="0"/>
            <a:r>
              <a:rPr lang="en-IN" sz="2400" dirty="0">
                <a:solidFill>
                  <a:schemeClr val="tx1"/>
                </a:solidFill>
              </a:rPr>
              <a:t>Limited tax liability</a:t>
            </a:r>
          </a:p>
          <a:p>
            <a:pPr lvl="0"/>
            <a:r>
              <a:rPr lang="en-IN" sz="2400" dirty="0">
                <a:solidFill>
                  <a:schemeClr val="tx1"/>
                </a:solidFill>
              </a:rPr>
              <a:t>High liquidity as taxes are at a lower rate</a:t>
            </a:r>
          </a:p>
          <a:p>
            <a:r>
              <a:rPr lang="en-IN" sz="2400" dirty="0">
                <a:solidFill>
                  <a:schemeClr val="tx1"/>
                </a:solidFill>
              </a:rPr>
              <a:t>What are the disadvantages of Composition Scheme?</a:t>
            </a:r>
          </a:p>
          <a:p>
            <a:r>
              <a:rPr lang="en-IN" sz="2400" dirty="0">
                <a:solidFill>
                  <a:srgbClr val="FF0000"/>
                </a:solidFill>
              </a:rPr>
              <a:t> Disadvantages </a:t>
            </a:r>
            <a:r>
              <a:rPr lang="en-IN" sz="2400" dirty="0">
                <a:solidFill>
                  <a:schemeClr val="tx1"/>
                </a:solidFill>
              </a:rPr>
              <a:t>of registering under GST composition scheme:</a:t>
            </a:r>
          </a:p>
          <a:p>
            <a:pPr lvl="0"/>
            <a:r>
              <a:rPr lang="en-IN" sz="2400" dirty="0">
                <a:solidFill>
                  <a:schemeClr val="tx1"/>
                </a:solidFill>
              </a:rPr>
              <a:t>A limited territory of business. The dealer is barred from carrying out inter-state transactions</a:t>
            </a:r>
          </a:p>
          <a:p>
            <a:pPr lvl="0"/>
            <a:r>
              <a:rPr lang="en-IN" sz="2400" dirty="0">
                <a:solidFill>
                  <a:schemeClr val="tx1"/>
                </a:solidFill>
              </a:rPr>
              <a:t>No Input Tax Credit available to composition dealers</a:t>
            </a:r>
          </a:p>
          <a:p>
            <a:pPr lvl="0"/>
            <a:r>
              <a:rPr lang="en-IN" sz="2400" dirty="0">
                <a:solidFill>
                  <a:schemeClr val="tx1"/>
                </a:solidFill>
              </a:rPr>
              <a:t>The taxpayer will not be eligible to supply non-taxable goods under GST such as alcohol and goods through an e-commerce portal.</a:t>
            </a:r>
          </a:p>
          <a:p>
            <a:r>
              <a:rPr lang="en-IN" dirty="0"/>
              <a:t> </a:t>
            </a: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
        <p:nvSpPr>
          <p:cNvPr id="7" name="TextBox 6"/>
          <p:cNvSpPr txBox="1"/>
          <p:nvPr/>
        </p:nvSpPr>
        <p:spPr>
          <a:xfrm>
            <a:off x="672113" y="995177"/>
            <a:ext cx="9797143" cy="646331"/>
          </a:xfrm>
          <a:prstGeom prst="rect">
            <a:avLst/>
          </a:prstGeom>
          <a:noFill/>
        </p:spPr>
        <p:txBody>
          <a:bodyPr wrap="square" rtlCol="0">
            <a:spAutoFit/>
          </a:bodyPr>
          <a:lstStyle/>
          <a:p>
            <a:pPr lvl="0"/>
            <a:endParaRPr lang="en-IN" dirty="0"/>
          </a:p>
          <a:p>
            <a:endParaRPr lang="en-IN" dirty="0"/>
          </a:p>
        </p:txBody>
      </p:sp>
    </p:spTree>
    <p:extLst>
      <p:ext uri="{BB962C8B-B14F-4D97-AF65-F5344CB8AC3E}">
        <p14:creationId xmlns:p14="http://schemas.microsoft.com/office/powerpoint/2010/main" val="353093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3974</TotalTime>
  <Words>10568</Words>
  <Application>Microsoft Office PowerPoint</Application>
  <PresentationFormat>Widescreen</PresentationFormat>
  <Paragraphs>1752</Paragraphs>
  <Slides>101</Slides>
  <Notes>29</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101</vt:i4>
      </vt:variant>
    </vt:vector>
  </HeadingPairs>
  <TitlesOfParts>
    <vt:vector size="107" baseType="lpstr">
      <vt:lpstr>Arial</vt:lpstr>
      <vt:lpstr>Calibri</vt:lpstr>
      <vt:lpstr>Calibri Light</vt:lpstr>
      <vt:lpstr>Times New Roman</vt:lpstr>
      <vt:lpstr>Wingdings</vt:lpstr>
      <vt:lpstr>Office Theme</vt:lpstr>
      <vt:lpstr>PowerPoint Presentation</vt:lpstr>
      <vt:lpstr>1. Constitutional Framework before GST</vt:lpstr>
      <vt:lpstr>2. Concept of VAT (Value Added Tax)</vt:lpstr>
      <vt:lpstr>3. Defects in Indirect Taxes before GST</vt:lpstr>
      <vt:lpstr>PowerPoint Presentation</vt:lpstr>
      <vt:lpstr>4. Rationale for GST</vt:lpstr>
      <vt:lpstr>5. Structure of GST</vt:lpstr>
      <vt:lpstr>6. GST Council</vt:lpstr>
      <vt:lpstr>7. GST Network (GSTN)</vt:lpstr>
      <vt:lpstr>8. State Compensation Mechanism</vt:lpstr>
      <vt:lpstr>9. Registration under GST</vt:lpstr>
      <vt:lpstr>10. GST Framework Overview (Infographic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 of Supply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Residual Method (Rule 31)</vt:lpstr>
      <vt:lpstr>PowerPoint Presentation</vt:lpstr>
      <vt:lpstr>PowerPoint Presentation</vt:lpstr>
      <vt:lpstr>PowerPoint Presentation</vt:lpstr>
      <vt:lpstr>PowerPoint Presentation</vt:lpstr>
      <vt:lpstr>6. Determination of Value for Certain Supplies (Rule 32)</vt:lpstr>
      <vt:lpstr>PowerPoint Presentation</vt:lpstr>
      <vt:lpstr>7. Value of Supply of Services in Case of a Pure Agent (Rule 33)</vt:lpstr>
      <vt:lpstr>8. Rate of Exchange of Currency (Rule 34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I need to learn about finance..     I am very good in my own area of       specialization”</dc:title>
  <dc:creator>admin</dc:creator>
  <cp:lastModifiedBy>Meeta Gandhi</cp:lastModifiedBy>
  <cp:revision>148</cp:revision>
  <dcterms:created xsi:type="dcterms:W3CDTF">2021-02-07T05:18:22Z</dcterms:created>
  <dcterms:modified xsi:type="dcterms:W3CDTF">2025-11-03T08:39:26Z</dcterms:modified>
</cp:coreProperties>
</file>